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6"/>
  </p:notesMasterIdLst>
  <p:sldIdLst>
    <p:sldId id="266" r:id="rId2"/>
    <p:sldId id="260" r:id="rId3"/>
    <p:sldId id="261" r:id="rId4"/>
    <p:sldId id="257" r:id="rId5"/>
    <p:sldId id="259" r:id="rId6"/>
    <p:sldId id="262" r:id="rId7"/>
    <p:sldId id="263" r:id="rId8"/>
    <p:sldId id="269" r:id="rId9"/>
    <p:sldId id="271" r:id="rId10"/>
    <p:sldId id="270" r:id="rId11"/>
    <p:sldId id="264" r:id="rId12"/>
    <p:sldId id="265" r:id="rId13"/>
    <p:sldId id="267" r:id="rId14"/>
    <p:sldId id="268" r:id="rId15"/>
  </p:sldIdLst>
  <p:sldSz cx="9144000" cy="6858000" type="screen4x3"/>
  <p:notesSz cx="6858000" cy="9144000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2DA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634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Relationship Id="rId4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38623-0D62-476B-A42A-E97F93A35ACE}" type="datetimeFigureOut">
              <a:rPr lang="zh-CN" altLang="en-US" smtClean="0"/>
              <a:t>2023/6/17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2E3225-159B-45BF-9B5B-3F950BA3CCD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8784D-92B6-46A5-9506-F1C6D3C38008}" type="datetime1">
              <a:rPr lang="zh-CN" altLang="en-US" smtClean="0"/>
              <a:t>2023/6/17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66C6-BA04-47D2-9636-226FE0115C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EFD7-68F9-468D-9A7C-8948EB164F4B}" type="datetime1">
              <a:rPr lang="zh-CN" altLang="en-US" smtClean="0"/>
              <a:t>2023/6/17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7086600" y="6460301"/>
            <a:ext cx="2057400" cy="365125"/>
          </a:xfrm>
        </p:spPr>
        <p:txBody>
          <a:bodyPr/>
          <a:lstStyle>
            <a:lvl1pPr>
              <a:defRPr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B1466C6-BA04-47D2-9636-226FE0115C0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860961" y="647596"/>
            <a:ext cx="7635834" cy="87320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70C0"/>
          </a:solidFill>
          <a:ln w="9525">
            <a:solidFill>
              <a:srgbClr val="0070C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0" y="18203"/>
            <a:ext cx="807523" cy="8075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A2E0-5B5C-4DC2-85A3-22F7FAD9C19F}" type="datetime1">
              <a:rPr lang="zh-CN" altLang="en-US" smtClean="0"/>
              <a:t>2023/6/17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66C6-BA04-47D2-9636-226FE0115C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fld id="{2252FD80-A086-468E-8C35-7CAC92DF7149}" type="datetime1">
              <a:rPr lang="zh-CN" altLang="en-US" smtClean="0"/>
              <a:t>2023/6/17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4842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fld id="{6B1466C6-BA04-47D2-9636-226FE0115C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9.emf"/><Relationship Id="rId4" Type="http://schemas.openxmlformats.org/officeDocument/2006/relationships/image" Target="../media/image6.emf"/><Relationship Id="rId9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2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9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0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41839" y="1570771"/>
            <a:ext cx="7772400" cy="2387600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测验 参考答案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时间 ：</a:t>
            </a:r>
            <a:r>
              <a:rPr lang="en-US" altLang="zh-CN" dirty="0" smtClean="0"/>
              <a:t>2</a:t>
            </a:r>
            <a:r>
              <a:rPr lang="zh-CN" altLang="en-US" dirty="0" smtClean="0"/>
              <a:t>小时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66C6-BA04-47D2-9636-226FE0115C0B}" type="slidenum">
              <a:rPr lang="zh-CN" altLang="en-US" smtClean="0"/>
              <a:t>2</a:t>
            </a:fld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6937989"/>
              </p:ext>
            </p:extLst>
          </p:nvPr>
        </p:nvGraphicFramePr>
        <p:xfrm>
          <a:off x="771648" y="648799"/>
          <a:ext cx="7112509" cy="5687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1" name="CS ChemDraw Drawing" r:id="rId3" imgW="5347751" imgH="4276423" progId="ChemDraw.Document.6.0">
                  <p:embed/>
                </p:oleObj>
              </mc:Choice>
              <mc:Fallback>
                <p:oleObj name="CS ChemDraw Drawing" r:id="rId3" imgW="5347751" imgH="4276423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1648" y="648799"/>
                        <a:ext cx="7112509" cy="56876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66C6-BA04-47D2-9636-226FE0115C0B}" type="slidenum">
              <a:rPr lang="zh-CN" altLang="en-US" smtClean="0"/>
              <a:t>3</a:t>
            </a:fld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092932" y="3165597"/>
          <a:ext cx="5776912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6" name="CS ChemDraw Drawing" r:id="rId3" imgW="6289040" imgH="902970" progId="ChemDraw.Document.6.0">
                  <p:embed/>
                </p:oleObj>
              </mc:Choice>
              <mc:Fallback>
                <p:oleObj name="CS ChemDraw Drawing" r:id="rId3" imgW="6289040" imgH="902970" progId="ChemDraw.Document.6.0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932" y="3165597"/>
                        <a:ext cx="5776912" cy="822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898036" y="4153633"/>
          <a:ext cx="7343724" cy="2440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7" name="CS ChemDraw Drawing" r:id="rId5" imgW="9010015" imgH="2999740" progId="ChemDraw.Document.6.0">
                  <p:embed/>
                </p:oleObj>
              </mc:Choice>
              <mc:Fallback>
                <p:oleObj name="CS ChemDraw Drawing" r:id="rId5" imgW="9010015" imgH="2999740" progId="ChemDraw.Document.6.0">
                  <p:embed/>
                  <p:pic>
                    <p:nvPicPr>
                      <p:cNvPr id="0" name="图片 1854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98036" y="4153633"/>
                        <a:ext cx="7343724" cy="24405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3659927"/>
              </p:ext>
            </p:extLst>
          </p:nvPr>
        </p:nvGraphicFramePr>
        <p:xfrm>
          <a:off x="1092932" y="188179"/>
          <a:ext cx="5489972" cy="2977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8" name="CS ChemDraw Drawing" r:id="rId7" imgW="4574977" imgH="2481182" progId="ChemDraw.Document.6.0">
                  <p:embed/>
                </p:oleObj>
              </mc:Choice>
              <mc:Fallback>
                <p:oleObj name="CS ChemDraw Drawing" r:id="rId7" imgW="4574977" imgH="248118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92932" y="188179"/>
                        <a:ext cx="5489972" cy="29774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66C6-BA04-47D2-9636-226FE0115C0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310054" y="32531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91408" y="170570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723292" y="931983"/>
            <a:ext cx="98527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811559" y="186418"/>
          <a:ext cx="6553200" cy="2649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7" name="CS ChemDraw Drawing" r:id="rId3" imgW="7605395" imgH="3077845" progId="ChemDraw.Document.6.0">
                  <p:embed/>
                </p:oleObj>
              </mc:Choice>
              <mc:Fallback>
                <p:oleObj name="CS ChemDraw Drawing" r:id="rId3" imgW="7605395" imgH="3077845" progId="ChemDraw.Document.6.0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559" y="186418"/>
                        <a:ext cx="6553200" cy="26495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703385" y="60666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811559" y="2779646"/>
          <a:ext cx="6028256" cy="1839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8" name="CS ChemDraw Drawing" r:id="rId5" imgW="7794625" imgH="2386330" progId="ChemDraw.Document.6.0">
                  <p:embed/>
                </p:oleObj>
              </mc:Choice>
              <mc:Fallback>
                <p:oleObj name="CS ChemDraw Drawing" r:id="rId5" imgW="7794625" imgH="2386330" progId="ChemDraw.Document.6.0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559" y="2779646"/>
                        <a:ext cx="6028256" cy="18393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-79131" y="20979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858792" y="4829545"/>
          <a:ext cx="6133123" cy="864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9" name="CS ChemDraw Drawing" r:id="rId7" imgW="6869430" imgH="981075" progId="ChemDraw.Document.6.0">
                  <p:embed/>
                </p:oleObj>
              </mc:Choice>
              <mc:Fallback>
                <p:oleObj name="CS ChemDraw Drawing" r:id="rId7" imgW="6869430" imgH="981075" progId="ChemDraw.Document.6.0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792" y="4829545"/>
                        <a:ext cx="6133123" cy="8644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213339" y="573258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811559" y="5661109"/>
          <a:ext cx="6337910" cy="858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60" name="CS ChemDraw Drawing" r:id="rId9" imgW="7226300" imgH="992505" progId="ChemDraw.Document.6.0">
                  <p:embed/>
                </p:oleObj>
              </mc:Choice>
              <mc:Fallback>
                <p:oleObj name="CS ChemDraw Drawing" r:id="rId9" imgW="7226300" imgH="992505" progId="ChemDraw.Document.6.0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559" y="5661109"/>
                        <a:ext cx="6337910" cy="8587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9519" y="10135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zh-CN" sz="3200" b="1" dirty="0"/>
              <a:t>用简单的化学方法鉴别下列各组化合物</a:t>
            </a:r>
            <a:endParaRPr lang="zh-CN" altLang="en-US" sz="32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66C6-BA04-47D2-9636-226FE0115C0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87641" y="1188731"/>
            <a:ext cx="998057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889466" y="1107850"/>
          <a:ext cx="7076365" cy="2073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7" name="CS ChemDraw Drawing" r:id="rId3" imgW="8597900" imgH="1981200" progId="ChemDraw.Document.6.0">
                  <p:embed/>
                </p:oleObj>
              </mc:Choice>
              <mc:Fallback>
                <p:oleObj name="CS ChemDraw Drawing" r:id="rId3" imgW="8597900" imgH="1981200" progId="ChemDraw.Document.6.0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466" y="1107850"/>
                        <a:ext cx="7076365" cy="20735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87640" y="348853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54702" y="3454633"/>
          <a:ext cx="5672483" cy="1789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8" name="CS ChemDraw Drawing" r:id="rId5" imgW="4914900" imgH="1562100" progId="ChemDraw.Document.6.0">
                  <p:embed/>
                </p:oleObj>
              </mc:Choice>
              <mc:Fallback>
                <p:oleObj name="CS ChemDraw Drawing" r:id="rId5" imgW="4914900" imgH="1562100" progId="ChemDraw.Document.6.0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702" y="3454633"/>
                        <a:ext cx="5672483" cy="17895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标题 1"/>
          <p:cNvSpPr txBox="1"/>
          <p:nvPr/>
        </p:nvSpPr>
        <p:spPr>
          <a:xfrm>
            <a:off x="4206385" y="2303532"/>
            <a:ext cx="438882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endParaRPr lang="zh-CN" altLang="en-US" sz="3200" dirty="0"/>
          </a:p>
        </p:txBody>
      </p:sp>
      <p:sp>
        <p:nvSpPr>
          <p:cNvPr id="9" name="文本框 8"/>
          <p:cNvSpPr txBox="1"/>
          <p:nvPr/>
        </p:nvSpPr>
        <p:spPr>
          <a:xfrm>
            <a:off x="4629881" y="2181056"/>
            <a:ext cx="39653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0000FF"/>
                </a:solidFill>
              </a:rPr>
              <a:t>铁离子，碘仿实验，</a:t>
            </a:r>
            <a:r>
              <a:rPr lang="zh-CN" altLang="en-US" sz="3200" dirty="0">
                <a:solidFill>
                  <a:srgbClr val="0000FF"/>
                </a:solidFill>
              </a:rPr>
              <a:t>高</a:t>
            </a:r>
            <a:r>
              <a:rPr lang="zh-CN" altLang="en-US" sz="3200" dirty="0" smtClean="0">
                <a:solidFill>
                  <a:srgbClr val="0000FF"/>
                </a:solidFill>
              </a:rPr>
              <a:t>碘酸，卢卡斯试剂</a:t>
            </a:r>
            <a:endParaRPr lang="zh-CN" altLang="en-US" sz="3200" dirty="0">
              <a:solidFill>
                <a:srgbClr val="0000FF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490943" y="5319885"/>
            <a:ext cx="50607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0000FF"/>
                </a:solidFill>
              </a:rPr>
              <a:t>银离子，碘仿实验，</a:t>
            </a:r>
            <a:endParaRPr lang="en-US" altLang="zh-CN" sz="3200" dirty="0" smtClean="0">
              <a:solidFill>
                <a:srgbClr val="0000FF"/>
              </a:solidFill>
            </a:endParaRPr>
          </a:p>
          <a:p>
            <a:r>
              <a:rPr lang="zh-CN" altLang="en-US" sz="3200" dirty="0" smtClean="0">
                <a:solidFill>
                  <a:srgbClr val="0000FF"/>
                </a:solidFill>
              </a:rPr>
              <a:t>亚硫酸氢钠，卢卡斯试剂</a:t>
            </a:r>
            <a:endParaRPr lang="zh-CN" altLang="en-US" sz="32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66C6-BA04-47D2-9636-226FE0115C0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3200" b="1" dirty="0"/>
              <a:t>用简单的化学方法鉴别下列各组化合物</a:t>
            </a:r>
            <a:endParaRPr lang="zh-CN" altLang="en-US" sz="3200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823181" y="1690689"/>
          <a:ext cx="6594604" cy="3843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9" name="CS ChemDraw Drawing" r:id="rId3" imgW="6356350" imgH="3467735" progId="ChemDraw.Document.6.0">
                  <p:embed/>
                </p:oleObj>
              </mc:Choice>
              <mc:Fallback>
                <p:oleObj name="CS ChemDraw Drawing" r:id="rId3" imgW="6356350" imgH="3467735" progId="ChemDraw.Document.6.0">
                  <p:embed/>
                  <p:pic>
                    <p:nvPicPr>
                      <p:cNvPr id="0" name="图片 205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3181" y="1690689"/>
                        <a:ext cx="6594604" cy="38434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840896" y="2700577"/>
            <a:ext cx="3965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0000FF"/>
                </a:solidFill>
              </a:rPr>
              <a:t>银离子，液溴</a:t>
            </a:r>
            <a:endParaRPr lang="zh-CN" altLang="en-US" sz="3200" dirty="0">
              <a:solidFill>
                <a:srgbClr val="0000FF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28466" y="4682235"/>
            <a:ext cx="39653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0000FF"/>
                </a:solidFill>
              </a:rPr>
              <a:t>兴斯堡反应，</a:t>
            </a:r>
            <a:endParaRPr lang="en-US" altLang="zh-CN" sz="3200" dirty="0" smtClean="0">
              <a:solidFill>
                <a:srgbClr val="0000FF"/>
              </a:solidFill>
            </a:endParaRPr>
          </a:p>
          <a:p>
            <a:r>
              <a:rPr lang="zh-CN" altLang="en-US" sz="3200" dirty="0" smtClean="0">
                <a:solidFill>
                  <a:srgbClr val="0000FF"/>
                </a:solidFill>
              </a:rPr>
              <a:t>亚硝酸钠</a:t>
            </a:r>
            <a:endParaRPr lang="zh-CN" altLang="en-US" sz="32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7104" y="83772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zh-CN" sz="3200" b="1" dirty="0"/>
              <a:t>机理题</a:t>
            </a:r>
            <a:endParaRPr lang="zh-CN" altLang="en-US" sz="32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66C6-BA04-47D2-9636-226FE0115C0B}" type="slidenum">
              <a:rPr lang="zh-CN" altLang="en-US" smtClean="0"/>
              <a:t>7</a:t>
            </a:fld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15463" y="1575475"/>
          <a:ext cx="7086083" cy="552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2" name="CS ChemDraw Drawing" r:id="rId3" imgW="7175500" imgH="571500" progId="ChemDraw.Document.6.0">
                  <p:embed/>
                </p:oleObj>
              </mc:Choice>
              <mc:Fallback>
                <p:oleObj name="CS ChemDraw Drawing" r:id="rId3" imgW="7175500" imgH="571500" progId="ChemDraw.Document.6.0">
                  <p:embed/>
                  <p:pic>
                    <p:nvPicPr>
                      <p:cNvPr id="0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463" y="1575475"/>
                        <a:ext cx="7086083" cy="5528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67104" y="2742835"/>
          <a:ext cx="7596187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3" name="CS ChemDraw Drawing" r:id="rId5" imgW="8408035" imgH="758190" progId="ChemDraw.Document.6.0">
                  <p:embed/>
                </p:oleObj>
              </mc:Choice>
              <mc:Fallback>
                <p:oleObj name="CS ChemDraw Drawing" r:id="rId5" imgW="8408035" imgH="758190" progId="ChemDraw.Document.6.0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104" y="2742835"/>
                        <a:ext cx="7596187" cy="679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888023" y="140933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888023" y="228563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804996" y="5184201"/>
            <a:ext cx="3965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0000FF"/>
                </a:solidFill>
              </a:rPr>
              <a:t>见课件</a:t>
            </a:r>
            <a:endParaRPr lang="zh-CN" altLang="en-US" sz="3200" dirty="0">
              <a:solidFill>
                <a:srgbClr val="0000FF"/>
              </a:solidFill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15463" y="3879485"/>
          <a:ext cx="4616239" cy="1036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4" name="CS ChemDraw Drawing" r:id="rId7" imgW="4404995" imgH="992505" progId="ChemDraw.Document.6.0">
                  <p:embed/>
                </p:oleObj>
              </mc:Choice>
              <mc:Fallback>
                <p:oleObj name="CS ChemDraw Drawing" r:id="rId7" imgW="4404995" imgH="992505" progId="ChemDraw.Document.6.0">
                  <p:embed/>
                  <p:pic>
                    <p:nvPicPr>
                      <p:cNvPr id="0" name="图片 215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5463" y="3879485"/>
                        <a:ext cx="4616239" cy="10361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66C6-BA04-47D2-9636-226FE0115C0B}" type="slidenum">
              <a:rPr lang="zh-CN" altLang="en-US" smtClean="0"/>
              <a:t>8</a:t>
            </a:fld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367691" y="853953"/>
          <a:ext cx="6999159" cy="4650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4" name="CS ChemDraw Drawing" r:id="rId3" imgW="4728210" imgH="3144520" progId="ChemDraw.Document.6.0">
                  <p:embed/>
                </p:oleObj>
              </mc:Choice>
              <mc:Fallback>
                <p:oleObj name="CS ChemDraw Drawing" r:id="rId3" imgW="4728210" imgH="3144520" progId="ChemDraw.Document.6.0">
                  <p:embed/>
                  <p:pic>
                    <p:nvPicPr>
                      <p:cNvPr id="0" name="图片 2662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67691" y="853953"/>
                        <a:ext cx="6999159" cy="46500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66C6-BA04-47D2-9636-226FE0115C0B}" type="slidenum">
              <a:rPr lang="zh-CN" altLang="en-US" smtClean="0"/>
              <a:t>9</a:t>
            </a:fld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28772" y="1646726"/>
          <a:ext cx="7597775" cy="2994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0" name="CS ChemDraw Drawing" r:id="rId3" imgW="8408035" imgH="3322955" progId="ChemDraw.Document.6.0">
                  <p:embed/>
                </p:oleObj>
              </mc:Choice>
              <mc:Fallback>
                <p:oleObj name="CS ChemDraw Drawing" r:id="rId3" imgW="8408035" imgH="3322955" progId="ChemDraw.Document.6.0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772" y="1646726"/>
                        <a:ext cx="7597775" cy="29940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66C6-BA04-47D2-9636-226FE0115C0B}" type="slidenum">
              <a:rPr lang="zh-CN" altLang="en-US" smtClean="0"/>
              <a:t>10</a:t>
            </a:fld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139824" y="1568084"/>
          <a:ext cx="6859025" cy="3417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7" name="CS ChemDraw Drawing" r:id="rId3" imgW="5173980" imgH="2576195" progId="ChemDraw.Document.6.0">
                  <p:embed/>
                </p:oleObj>
              </mc:Choice>
              <mc:Fallback>
                <p:oleObj name="CS ChemDraw Drawing" r:id="rId3" imgW="5173980" imgH="2576195" progId="ChemDraw.Document.6.0">
                  <p:embed/>
                  <p:pic>
                    <p:nvPicPr>
                      <p:cNvPr id="0" name="图片 2765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39824" y="1568084"/>
                        <a:ext cx="6859025" cy="34171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666750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zh-CN" sz="2000" b="1" dirty="0"/>
              <a:t>转化题</a:t>
            </a:r>
            <a:endParaRPr lang="zh-CN" altLang="en-US" sz="20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66C6-BA04-47D2-9636-226FE0115C0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92368" y="2312376"/>
            <a:ext cx="995236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773271" y="596412"/>
          <a:ext cx="7341870" cy="563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5" name="CS ChemDraw Drawing" r:id="rId3" imgW="8263255" imgH="6334125" progId="ChemDraw.Document.6.0">
                  <p:embed/>
                </p:oleObj>
              </mc:Choice>
              <mc:Fallback>
                <p:oleObj name="CS ChemDraw Drawing" r:id="rId3" imgW="8263255" imgH="6334125" progId="ChemDraw.Document.6.0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271" y="596412"/>
                        <a:ext cx="7341870" cy="5632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8841" y="44425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zh-CN" sz="3200" b="1" dirty="0"/>
              <a:t>合成题</a:t>
            </a:r>
            <a:r>
              <a:rPr lang="zh-CN" altLang="zh-CN" sz="3200" b="1" dirty="0" smtClean="0"/>
              <a:t>：</a:t>
            </a:r>
            <a:r>
              <a:rPr lang="en-US" altLang="zh-CN" sz="3200" b="1" dirty="0" smtClean="0"/>
              <a:t/>
            </a:r>
            <a:br>
              <a:rPr lang="en-US" altLang="zh-CN" sz="3200" b="1" dirty="0" smtClean="0"/>
            </a:br>
            <a:endParaRPr lang="zh-CN" altLang="en-US" sz="32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66C6-BA04-47D2-9636-226FE0115C0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186961" y="2171699"/>
            <a:ext cx="100228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101480" y="444256"/>
          <a:ext cx="6465703" cy="583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9" name="CS ChemDraw Drawing" r:id="rId3" imgW="7326630" imgH="6601460" progId="ChemDraw.Document.6.0">
                  <p:embed/>
                </p:oleObj>
              </mc:Choice>
              <mc:Fallback>
                <p:oleObj name="CS ChemDraw Drawing" r:id="rId3" imgW="7326630" imgH="6601460" progId="ChemDraw.Document.6.0">
                  <p:embed/>
                  <p:pic>
                    <p:nvPicPr>
                      <p:cNvPr id="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1480" y="444256"/>
                        <a:ext cx="6465703" cy="58340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1595" y="206864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zh-CN" sz="3200" b="1" dirty="0"/>
              <a:t>合成</a:t>
            </a:r>
            <a:r>
              <a:rPr lang="zh-CN" altLang="zh-CN" sz="3200" b="1" dirty="0" smtClean="0"/>
              <a:t>题</a:t>
            </a:r>
            <a:endParaRPr lang="zh-CN" altLang="en-US" sz="32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66C6-BA04-47D2-9636-226FE0115C0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186961" y="2171699"/>
            <a:ext cx="100228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61595" y="1380881"/>
          <a:ext cx="8332787" cy="429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4" name="CS ChemDraw Drawing" r:id="rId3" imgW="8530590" imgH="4393565" progId="ChemDraw.Document.6.0">
                  <p:embed/>
                </p:oleObj>
              </mc:Choice>
              <mc:Fallback>
                <p:oleObj name="CS ChemDraw Drawing" r:id="rId3" imgW="8530590" imgH="4393565" progId="ChemDraw.Document.6.0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595" y="1380881"/>
                        <a:ext cx="8332787" cy="4295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9857" y="567349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zh-CN" sz="3200" b="1" dirty="0"/>
              <a:t>合成</a:t>
            </a:r>
            <a:r>
              <a:rPr lang="zh-CN" altLang="zh-CN" sz="3200" b="1" dirty="0" smtClean="0"/>
              <a:t>题</a:t>
            </a:r>
            <a:endParaRPr lang="zh-CN" altLang="en-US" sz="32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66C6-BA04-47D2-9636-226FE0115C0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186961" y="2171699"/>
            <a:ext cx="100228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19857" y="2496205"/>
          <a:ext cx="8150225" cy="117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8" name="CS ChemDraw Drawing" r:id="rId3" imgW="8341360" imgH="1204595" progId="ChemDraw.Document.6.0">
                  <p:embed/>
                </p:oleObj>
              </mc:Choice>
              <mc:Fallback>
                <p:oleObj name="CS ChemDraw Drawing" r:id="rId3" imgW="8341360" imgH="1204595" progId="ChemDraw.Document.6.0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857" y="2496205"/>
                        <a:ext cx="8150225" cy="11763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d635ec99-e506-40c4-b619-250cf332eeed"/>
  <p:tag name="COMMONDATA" val="eyJoZGlkIjoiNTZjN2Q2NTZiMGY4MDMxYThiNDlmY2EwNzIyNDI1YjU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91</Words>
  <Application>Microsoft Office PowerPoint</Application>
  <PresentationFormat>全屏显示(4:3)</PresentationFormat>
  <Paragraphs>28</Paragraphs>
  <Slides>14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等线</vt:lpstr>
      <vt:lpstr>黑体</vt:lpstr>
      <vt:lpstr>Arial</vt:lpstr>
      <vt:lpstr>Calibri</vt:lpstr>
      <vt:lpstr>Office 主题​​</vt:lpstr>
      <vt:lpstr>CS ChemDraw Drawing</vt:lpstr>
      <vt:lpstr>测验 参考答案  时间 ：2小时</vt:lpstr>
      <vt:lpstr>PowerPoint 演示文稿</vt:lpstr>
      <vt:lpstr>PowerPoint 演示文稿</vt:lpstr>
      <vt:lpstr>PowerPoint 演示文稿</vt:lpstr>
      <vt:lpstr>用简单的化学方法鉴别下列各组化合物</vt:lpstr>
      <vt:lpstr>用简单的化学方法鉴别下列各组化合物</vt:lpstr>
      <vt:lpstr>机理题</vt:lpstr>
      <vt:lpstr>PowerPoint 演示文稿</vt:lpstr>
      <vt:lpstr>PowerPoint 演示文稿</vt:lpstr>
      <vt:lpstr>PowerPoint 演示文稿</vt:lpstr>
      <vt:lpstr>转化题</vt:lpstr>
      <vt:lpstr>合成题： </vt:lpstr>
      <vt:lpstr>合成题</vt:lpstr>
      <vt:lpstr>合成题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Radical Reactions</dc:title>
  <dc:creator>Hong Zhang</dc:creator>
  <cp:lastModifiedBy>liwanhu</cp:lastModifiedBy>
  <cp:revision>687</cp:revision>
  <dcterms:created xsi:type="dcterms:W3CDTF">2018-08-01T08:19:00Z</dcterms:created>
  <dcterms:modified xsi:type="dcterms:W3CDTF">2023-06-17T07:19:29Z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15606D0726754325B668A4425EC2B747_12</vt:lpwstr>
  </property>
</Properties>
</file>