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</p:sldMasterIdLst>
  <p:notesMasterIdLst>
    <p:notesMasterId r:id="rId10"/>
  </p:notesMasterIdLst>
  <p:sldIdLst>
    <p:sldId id="260" r:id="rId2"/>
    <p:sldId id="261" r:id="rId3"/>
    <p:sldId id="257" r:id="rId4"/>
    <p:sldId id="259" r:id="rId5"/>
    <p:sldId id="262" r:id="rId6"/>
    <p:sldId id="263" r:id="rId7"/>
    <p:sldId id="264" r:id="rId8"/>
    <p:sldId id="265" r:id="rId9"/>
  </p:sldIdLst>
  <p:sldSz cx="9144000" cy="6858000" type="screen4x3"/>
  <p:notesSz cx="6858000" cy="9144000"/>
  <p:custDataLst>
    <p:tags r:id="rId11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2D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7" d="100"/>
          <a:sy n="87" d="100"/>
        </p:scale>
        <p:origin x="1358" y="77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image" Target="../media/image3.emf"/></Relationships>
</file>

<file path=ppt/drawings/_rels/vmlDrawing3.v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image" Target="../media/image6.emf"/><Relationship Id="rId4" Type="http://schemas.openxmlformats.org/officeDocument/2006/relationships/image" Target="../media/image9.emf"/></Relationships>
</file>

<file path=ppt/drawings/_rels/vmlDrawing4.vml.rels><?xml version="1.0" encoding="UTF-8" standalone="yes"?>
<Relationships xmlns="http://schemas.openxmlformats.org/package/2006/relationships"><Relationship Id="rId2" Type="http://schemas.openxmlformats.org/officeDocument/2006/relationships/image" Target="../media/image11.emf"/><Relationship Id="rId1" Type="http://schemas.openxmlformats.org/officeDocument/2006/relationships/image" Target="../media/image10.e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emf"/></Relationships>
</file>

<file path=ppt/drawings/_rels/vmlDrawing6.v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image" Target="../media/image13.emf"/></Relationships>
</file>

<file path=ppt/drawings/_rels/vmlDrawing7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16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FB38623-0D62-476B-A42A-E97F93A35ACE}" type="datetimeFigureOut">
              <a:rPr lang="zh-CN" altLang="en-US" smtClean="0"/>
              <a:t>2023/6/15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2E3225-159B-45BF-9B5B-3F950BA3CCD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68784D-92B6-46A5-9506-F1C6D3C38008}" type="datetime1">
              <a:rPr lang="zh-CN" altLang="en-US" smtClean="0"/>
              <a:t>2023/6/15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DEFD7-68F9-468D-9A7C-8948EB164F4B}" type="datetime1">
              <a:rPr lang="zh-CN" altLang="en-US" smtClean="0"/>
              <a:t>2023/6/15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7086600" y="6460301"/>
            <a:ext cx="2057400" cy="365125"/>
          </a:xfrm>
        </p:spPr>
        <p:txBody>
          <a:bodyPr/>
          <a:lstStyle>
            <a:lvl1pPr>
              <a:defRPr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0" name="AutoShape 5"/>
          <p:cNvSpPr>
            <a:spLocks noChangeArrowheads="1"/>
          </p:cNvSpPr>
          <p:nvPr userDrawn="1"/>
        </p:nvSpPr>
        <p:spPr bwMode="auto">
          <a:xfrm>
            <a:off x="860961" y="647596"/>
            <a:ext cx="7635834" cy="87320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0 w 1000"/>
              <a:gd name="T19" fmla="*/ 0 h 1000"/>
              <a:gd name="T20" fmla="*/ 1000 w 1000"/>
              <a:gd name="T21" fmla="*/ 1000 h 10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rgbClr val="0070C0"/>
          </a:solidFill>
          <a:ln w="9525">
            <a:solidFill>
              <a:srgbClr val="0070C0"/>
            </a:solidFill>
            <a:round/>
          </a:ln>
        </p:spPr>
        <p:txBody>
          <a:bodyPr/>
          <a:lstStyle/>
          <a:p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50" y="18203"/>
            <a:ext cx="807523" cy="80752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9BA2E0-5B5C-4DC2-85A3-22F7FAD9C19F}" type="datetime1">
              <a:rPr lang="zh-CN" altLang="en-US" smtClean="0"/>
              <a:t>2023/6/15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2252FD80-A086-468E-8C35-7CAC92DF7149}" type="datetime1">
              <a:rPr lang="zh-CN" altLang="en-US" smtClean="0"/>
              <a:t>2023/6/15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086600" y="644842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>
                    <a:lumMod val="50000"/>
                  </a:schemeClr>
                </a:solidFill>
                <a:latin typeface="Arial" panose="020B0604020202020204" pitchFamily="34" charset="0"/>
                <a:ea typeface="黑体" panose="02010609060101010101" pitchFamily="49" charset="-122"/>
                <a:cs typeface="Arial" panose="020B0604020202020204" pitchFamily="34" charset="0"/>
              </a:defRPr>
            </a:lvl1pPr>
          </a:lstStyle>
          <a:p>
            <a:fld id="{6B1466C6-BA04-47D2-9636-226FE0115C0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黑体" panose="02010609060101010101" pitchFamily="49" charset="-122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2.emf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3" Type="http://schemas.openxmlformats.org/officeDocument/2006/relationships/oleObject" Target="../embeddings/oleObject2.bin"/><Relationship Id="rId7" Type="http://schemas.openxmlformats.org/officeDocument/2006/relationships/oleObject" Target="../embeddings/oleObject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4.emf"/><Relationship Id="rId5" Type="http://schemas.openxmlformats.org/officeDocument/2006/relationships/oleObject" Target="../embeddings/oleObject3.bin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emf"/><Relationship Id="rId3" Type="http://schemas.openxmlformats.org/officeDocument/2006/relationships/oleObject" Target="../embeddings/oleObject5.bin"/><Relationship Id="rId7" Type="http://schemas.openxmlformats.org/officeDocument/2006/relationships/oleObject" Target="../embeddings/oleObject7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7.emf"/><Relationship Id="rId5" Type="http://schemas.openxmlformats.org/officeDocument/2006/relationships/oleObject" Target="../embeddings/oleObject6.bin"/><Relationship Id="rId10" Type="http://schemas.openxmlformats.org/officeDocument/2006/relationships/image" Target="../media/image9.emf"/><Relationship Id="rId4" Type="http://schemas.openxmlformats.org/officeDocument/2006/relationships/image" Target="../media/image6.emf"/><Relationship Id="rId9" Type="http://schemas.openxmlformats.org/officeDocument/2006/relationships/oleObject" Target="../embeddings/oleObject8.bin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1.emf"/><Relationship Id="rId5" Type="http://schemas.openxmlformats.org/officeDocument/2006/relationships/oleObject" Target="../embeddings/oleObject10.bin"/><Relationship Id="rId4" Type="http://schemas.openxmlformats.org/officeDocument/2006/relationships/image" Target="../media/image10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1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2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6.vml"/><Relationship Id="rId6" Type="http://schemas.openxmlformats.org/officeDocument/2006/relationships/image" Target="../media/image14.emf"/><Relationship Id="rId5" Type="http://schemas.openxmlformats.org/officeDocument/2006/relationships/oleObject" Target="../embeddings/oleObject13.bin"/><Relationship Id="rId4" Type="http://schemas.openxmlformats.org/officeDocument/2006/relationships/image" Target="../media/image13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4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7.vml"/><Relationship Id="rId4" Type="http://schemas.openxmlformats.org/officeDocument/2006/relationships/image" Target="../media/image15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5.bin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8.vml"/><Relationship Id="rId4" Type="http://schemas.openxmlformats.org/officeDocument/2006/relationships/image" Target="../media/image1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1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817441" y="709978"/>
          <a:ext cx="7760170" cy="53039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7" name="CS ChemDraw Drawing" r:id="rId3" imgW="8943340" imgH="6122035" progId="ChemDraw.Document.6.0">
                  <p:embed/>
                </p:oleObj>
              </mc:Choice>
              <mc:Fallback>
                <p:oleObj name="CS ChemDraw Drawing" r:id="rId3" imgW="8943340" imgH="6122035" progId="ChemDraw.Document.6.0">
                  <p:embed/>
                  <p:pic>
                    <p:nvPicPr>
                      <p:cNvPr id="0" name="图片 17420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17441" y="709978"/>
                        <a:ext cx="7760170" cy="53039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2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1083945" y="254000"/>
          <a:ext cx="5728970" cy="30981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7" name="CS ChemDraw Drawing" r:id="rId3" imgW="6489700" imgH="3512820" progId="ChemDraw.Document.6.0">
                  <p:embed/>
                </p:oleObj>
              </mc:Choice>
              <mc:Fallback>
                <p:oleObj name="CS ChemDraw Drawing" r:id="rId3" imgW="6489700" imgH="3512820" progId="ChemDraw.Document.6.0">
                  <p:embed/>
                  <p:pic>
                    <p:nvPicPr>
                      <p:cNvPr id="0" name="图片 18466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83945" y="254000"/>
                        <a:ext cx="5728970" cy="30981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84139" y="3427717"/>
          <a:ext cx="4316778" cy="8629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8" name="CS ChemDraw Drawing" r:id="rId5" imgW="4279900" imgH="863600" progId="ChemDraw.Document.6.0">
                  <p:embed/>
                </p:oleObj>
              </mc:Choice>
              <mc:Fallback>
                <p:oleObj name="CS ChemDraw Drawing" r:id="rId5" imgW="4279900" imgH="863600" progId="ChemDraw.Document.6.0">
                  <p:embed/>
                  <p:pic>
                    <p:nvPicPr>
                      <p:cNvPr id="0" name="对象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84139" y="3427717"/>
                        <a:ext cx="4316778" cy="86292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/>
          <p:cNvGraphicFramePr>
            <a:graphicFrameLocks noChangeAspect="1"/>
          </p:cNvGraphicFramePr>
          <p:nvPr/>
        </p:nvGraphicFramePr>
        <p:xfrm>
          <a:off x="1084139" y="4290645"/>
          <a:ext cx="7511985" cy="20610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8479" name="CS ChemDraw Drawing" r:id="rId7" imgW="8496935" imgH="2341880" progId="ChemDraw.Document.6.0">
                  <p:embed/>
                </p:oleObj>
              </mc:Choice>
              <mc:Fallback>
                <p:oleObj name="CS ChemDraw Drawing" r:id="rId7" imgW="8496935" imgH="2341880" progId="ChemDraw.Document.6.0">
                  <p:embed/>
                  <p:pic>
                    <p:nvPicPr>
                      <p:cNvPr id="0" name="图片 18468"/>
                      <p:cNvPicPr/>
                      <p:nvPr/>
                    </p:nvPicPr>
                    <p:blipFill>
                      <a:blip r:embed="rId8"/>
                      <a:stretch>
                        <a:fillRect/>
                      </a:stretch>
                    </p:blipFill>
                    <p:spPr>
                      <a:xfrm>
                        <a:off x="1084139" y="4290645"/>
                        <a:ext cx="7511985" cy="206106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3</a:t>
            </a:fld>
            <a:endParaRPr lang="zh-CN" altLang="en-US"/>
          </a:p>
        </p:txBody>
      </p:sp>
      <p:sp>
        <p:nvSpPr>
          <p:cNvPr id="6" name="Rectangle 2"/>
          <p:cNvSpPr>
            <a:spLocks noChangeArrowheads="1"/>
          </p:cNvSpPr>
          <p:nvPr/>
        </p:nvSpPr>
        <p:spPr bwMode="auto">
          <a:xfrm>
            <a:off x="1310054" y="32531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91408" y="1705707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10" name="Rectangle 8"/>
          <p:cNvSpPr>
            <a:spLocks noChangeArrowheads="1"/>
          </p:cNvSpPr>
          <p:nvPr/>
        </p:nvSpPr>
        <p:spPr bwMode="auto">
          <a:xfrm>
            <a:off x="1723292" y="931983"/>
            <a:ext cx="985278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1" name="对象 10"/>
          <p:cNvGraphicFramePr>
            <a:graphicFrameLocks noChangeAspect="1"/>
          </p:cNvGraphicFramePr>
          <p:nvPr/>
        </p:nvGraphicFramePr>
        <p:xfrm>
          <a:off x="1176831" y="199890"/>
          <a:ext cx="5219700" cy="26104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1" name="CS ChemDraw Drawing" r:id="rId3" imgW="6066155" imgH="3033395" progId="ChemDraw.Document.6.0">
                  <p:embed/>
                </p:oleObj>
              </mc:Choice>
              <mc:Fallback>
                <p:oleObj name="CS ChemDraw Drawing" r:id="rId3" imgW="6066155" imgH="3033395" progId="ChemDraw.Document.6.0">
                  <p:embed/>
                  <p:pic>
                    <p:nvPicPr>
                      <p:cNvPr id="0" name="对象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6831" y="199890"/>
                        <a:ext cx="5219700" cy="261048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0"/>
          <p:cNvSpPr>
            <a:spLocks noChangeArrowheads="1"/>
          </p:cNvSpPr>
          <p:nvPr/>
        </p:nvSpPr>
        <p:spPr bwMode="auto">
          <a:xfrm>
            <a:off x="703385" y="606669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3" name="对象 12"/>
          <p:cNvGraphicFramePr>
            <a:graphicFrameLocks noChangeAspect="1"/>
          </p:cNvGraphicFramePr>
          <p:nvPr/>
        </p:nvGraphicFramePr>
        <p:xfrm>
          <a:off x="1172213" y="2915721"/>
          <a:ext cx="5485765" cy="1995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2" name="CS ChemDraw Drawing" r:id="rId5" imgW="6501130" imgH="2374900" progId="ChemDraw.Document.6.0">
                  <p:embed/>
                </p:oleObj>
              </mc:Choice>
              <mc:Fallback>
                <p:oleObj name="CS ChemDraw Drawing" r:id="rId5" imgW="6501130" imgH="2374900" progId="ChemDraw.Document.6.0">
                  <p:embed/>
                  <p:pic>
                    <p:nvPicPr>
                      <p:cNvPr id="0" name="对象 1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2213" y="2915721"/>
                        <a:ext cx="5485765" cy="199580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12"/>
          <p:cNvSpPr>
            <a:spLocks noChangeArrowheads="1"/>
          </p:cNvSpPr>
          <p:nvPr/>
        </p:nvSpPr>
        <p:spPr bwMode="auto">
          <a:xfrm>
            <a:off x="-79131" y="20979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5" name="对象 14"/>
          <p:cNvGraphicFramePr>
            <a:graphicFrameLocks noChangeAspect="1"/>
          </p:cNvGraphicFramePr>
          <p:nvPr/>
        </p:nvGraphicFramePr>
        <p:xfrm>
          <a:off x="1171922" y="5016745"/>
          <a:ext cx="5832475" cy="581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3" name="CS ChemDraw Drawing" r:id="rId7" imgW="5909945" imgH="601980" progId="ChemDraw.Document.6.0">
                  <p:embed/>
                </p:oleObj>
              </mc:Choice>
              <mc:Fallback>
                <p:oleObj name="CS ChemDraw Drawing" r:id="rId7" imgW="5909945" imgH="601980" progId="ChemDraw.Document.6.0">
                  <p:embed/>
                  <p:pic>
                    <p:nvPicPr>
                      <p:cNvPr id="0" name="对象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922" y="5016745"/>
                        <a:ext cx="5832475" cy="58102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14"/>
          <p:cNvSpPr>
            <a:spLocks noChangeArrowheads="1"/>
          </p:cNvSpPr>
          <p:nvPr/>
        </p:nvSpPr>
        <p:spPr bwMode="auto">
          <a:xfrm>
            <a:off x="1213339" y="5732585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17" name="对象 16"/>
          <p:cNvGraphicFramePr>
            <a:graphicFrameLocks noChangeAspect="1"/>
          </p:cNvGraphicFramePr>
          <p:nvPr/>
        </p:nvGraphicFramePr>
        <p:xfrm>
          <a:off x="1171922" y="5783328"/>
          <a:ext cx="5209055" cy="5539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6454" name="CS ChemDraw Drawing" r:id="rId9" imgW="4889500" imgH="533400" progId="ChemDraw.Document.6.0">
                  <p:embed/>
                </p:oleObj>
              </mc:Choice>
              <mc:Fallback>
                <p:oleObj name="CS ChemDraw Drawing" r:id="rId9" imgW="4889500" imgH="533400" progId="ChemDraw.Document.6.0">
                  <p:embed/>
                  <p:pic>
                    <p:nvPicPr>
                      <p:cNvPr id="0" name="对象 1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71922" y="5783328"/>
                        <a:ext cx="5209055" cy="5539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49519" y="101356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用简单的化学方法鉴别下列各组化合物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4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87641" y="1188731"/>
            <a:ext cx="998057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87640" y="1188731"/>
          <a:ext cx="8065499" cy="236336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7" name="CS ChemDraw Drawing" r:id="rId3" imgW="8597900" imgH="1981200" progId="ChemDraw.Document.6.0">
                  <p:embed/>
                </p:oleObj>
              </mc:Choice>
              <mc:Fallback>
                <p:oleObj name="CS ChemDraw Drawing" r:id="rId3" imgW="8597900" imgH="1981200" progId="ChemDraw.Document.6.0">
                  <p:embed/>
                  <p:pic>
                    <p:nvPicPr>
                      <p:cNvPr id="0" name="对象 1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40" y="1188731"/>
                        <a:ext cx="8065499" cy="236336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587640" y="348853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587640" y="4016668"/>
          <a:ext cx="5672483" cy="178950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9488" name="CS ChemDraw Drawing" r:id="rId5" imgW="4914900" imgH="1562100" progId="ChemDraw.Document.6.0">
                  <p:embed/>
                </p:oleObj>
              </mc:Choice>
              <mc:Fallback>
                <p:oleObj name="CS ChemDraw Drawing" r:id="rId5" imgW="4914900" imgH="1562100" progId="ChemDraw.Document.6.0">
                  <p:embed/>
                  <p:pic>
                    <p:nvPicPr>
                      <p:cNvPr id="0" name="对象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40" y="4016668"/>
                        <a:ext cx="5672483" cy="1789504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5</a:t>
            </a:fld>
            <a:endParaRPr lang="zh-CN" altLang="en-US"/>
          </a:p>
        </p:txBody>
      </p:sp>
      <p:sp>
        <p:nvSpPr>
          <p:cNvPr id="4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zh-CN" sz="3200" b="1" dirty="0"/>
              <a:t>用简单的化学方法鉴别下列各组化合物</a:t>
            </a:r>
            <a:endParaRPr lang="zh-CN" altLang="en-US" sz="3200" dirty="0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25403" y="1933086"/>
          <a:ext cx="6594604" cy="384346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495" name="CS ChemDraw Drawing" r:id="rId3" imgW="6356350" imgH="3467735" progId="ChemDraw.Document.6.0">
                  <p:embed/>
                </p:oleObj>
              </mc:Choice>
              <mc:Fallback>
                <p:oleObj name="CS ChemDraw Drawing" r:id="rId3" imgW="6356350" imgH="3467735" progId="ChemDraw.Document.6.0">
                  <p:embed/>
                  <p:pic>
                    <p:nvPicPr>
                      <p:cNvPr id="0" name="图片 20488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025403" y="1933086"/>
                        <a:ext cx="6594604" cy="384346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67104" y="83772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机理题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6</a:t>
            </a:fld>
            <a:endParaRPr lang="zh-CN" altLang="en-US"/>
          </a:p>
        </p:txBody>
      </p:sp>
      <p:graphicFrame>
        <p:nvGraphicFramePr>
          <p:cNvPr id="4" name="对象 3"/>
          <p:cNvGraphicFramePr>
            <a:graphicFrameLocks noChangeAspect="1"/>
          </p:cNvGraphicFramePr>
          <p:nvPr/>
        </p:nvGraphicFramePr>
        <p:xfrm>
          <a:off x="615463" y="1575475"/>
          <a:ext cx="7086083" cy="55281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7" name="CS ChemDraw Drawing" r:id="rId3" imgW="7175500" imgH="571500" progId="ChemDraw.Document.6.0">
                  <p:embed/>
                </p:oleObj>
              </mc:Choice>
              <mc:Fallback>
                <p:oleObj name="CS ChemDraw Drawing" r:id="rId3" imgW="7175500" imgH="571500" progId="ChemDraw.Document.6.0">
                  <p:embed/>
                  <p:pic>
                    <p:nvPicPr>
                      <p:cNvPr id="0" name="对象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63" y="1575475"/>
                        <a:ext cx="7086083" cy="552815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567750" y="2900180"/>
          <a:ext cx="7886054" cy="170594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528" name="CS ChemDraw Drawing" r:id="rId5" imgW="7950200" imgH="1727200" progId="ChemDraw.Document.6.0">
                  <p:embed/>
                </p:oleObj>
              </mc:Choice>
              <mc:Fallback>
                <p:oleObj name="CS ChemDraw Drawing" r:id="rId5" imgW="7950200" imgH="1727200" progId="ChemDraw.Document.6.0">
                  <p:embed/>
                  <p:pic>
                    <p:nvPicPr>
                      <p:cNvPr id="0" name="对象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750" y="2900180"/>
                        <a:ext cx="7886054" cy="170594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Rectangle 3"/>
          <p:cNvSpPr>
            <a:spLocks noChangeArrowheads="1"/>
          </p:cNvSpPr>
          <p:nvPr/>
        </p:nvSpPr>
        <p:spPr bwMode="auto">
          <a:xfrm>
            <a:off x="888023" y="14093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888023" y="2285635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 b="1" dirty="0"/>
              <a:t>转化题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7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492368" y="2312376"/>
            <a:ext cx="995236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488315" y="2314575"/>
          <a:ext cx="7875905" cy="22377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541" name="CS ChemDraw Drawing" r:id="rId3" imgW="7493635" imgH="2141220" progId="ChemDraw.Document.6.0">
                  <p:embed/>
                </p:oleObj>
              </mc:Choice>
              <mc:Fallback>
                <p:oleObj name="CS ChemDraw Drawing" r:id="rId3" imgW="7493635" imgH="2141220" progId="ChemDraw.Document.6.0">
                  <p:embed/>
                  <p:pic>
                    <p:nvPicPr>
                      <p:cNvPr id="0" name="对象 1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8315" y="2314575"/>
                        <a:ext cx="7875905" cy="223774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19857" y="567349"/>
            <a:ext cx="7886700" cy="1325563"/>
          </a:xfrm>
        </p:spPr>
        <p:txBody>
          <a:bodyPr>
            <a:normAutofit/>
          </a:bodyPr>
          <a:lstStyle/>
          <a:p>
            <a:r>
              <a:rPr lang="zh-CN" altLang="zh-CN" sz="3200" b="1" dirty="0"/>
              <a:t>合成题：以</a:t>
            </a:r>
            <a:r>
              <a:rPr lang="en-US" altLang="zh-CN" sz="3200" b="1" dirty="0" smtClean="0"/>
              <a:t>C2</a:t>
            </a:r>
            <a:r>
              <a:rPr lang="zh-CN" altLang="en-US" sz="3200" b="1" dirty="0" smtClean="0"/>
              <a:t>及</a:t>
            </a:r>
            <a:r>
              <a:rPr lang="zh-CN" altLang="zh-CN" sz="3200" b="1" dirty="0" smtClean="0"/>
              <a:t>以下</a:t>
            </a:r>
            <a:r>
              <a:rPr lang="zh-CN" altLang="en-US" sz="3200" b="1" dirty="0" smtClean="0"/>
              <a:t>、</a:t>
            </a:r>
            <a:r>
              <a:rPr lang="zh-CN" altLang="zh-CN" sz="3200" b="1" dirty="0" smtClean="0"/>
              <a:t>苯</a:t>
            </a:r>
            <a:r>
              <a:rPr lang="zh-CN" altLang="en-US" sz="3200" b="1" dirty="0" smtClean="0"/>
              <a:t>为原料</a:t>
            </a:r>
            <a:endParaRPr lang="zh-CN" altLang="en-US" sz="3200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1466C6-BA04-47D2-9636-226FE0115C0B}" type="slidenum">
              <a:rPr lang="zh-CN" altLang="en-US" smtClean="0"/>
              <a:t>8</a:t>
            </a:fld>
            <a:endParaRPr lang="zh-CN" altLang="en-US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1186961" y="2171699"/>
            <a:ext cx="1002286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5" name="对象 4"/>
          <p:cNvGraphicFramePr>
            <a:graphicFrameLocks noChangeAspect="1"/>
          </p:cNvGraphicFramePr>
          <p:nvPr/>
        </p:nvGraphicFramePr>
        <p:xfrm>
          <a:off x="1011115" y="2250901"/>
          <a:ext cx="6519134" cy="258493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3565" name="CS ChemDraw Drawing" r:id="rId3" imgW="6096000" imgH="2413000" progId="ChemDraw.Document.6.0">
                  <p:embed/>
                </p:oleObj>
              </mc:Choice>
              <mc:Fallback>
                <p:oleObj name="CS ChemDraw Drawing" r:id="rId3" imgW="6096000" imgH="2413000" progId="ChemDraw.Document.6.0">
                  <p:embed/>
                  <p:pic>
                    <p:nvPicPr>
                      <p:cNvPr id="0" name="对象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11115" y="2250901"/>
                        <a:ext cx="6519134" cy="258493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3d9b5b43-a820-481e-a376-da0f24644a0d"/>
  <p:tag name="COMMONDATA" val="eyJoZGlkIjoiNTZjN2Q2NTZiMGY4MDMxYThiNDlmY2EwNzIyNDI1YjUifQ=="/>
</p:tagLst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43</Words>
  <Application>Microsoft Office PowerPoint</Application>
  <PresentationFormat>全屏显示(4:3)</PresentationFormat>
  <Paragraphs>13</Paragraphs>
  <Slides>8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4" baseType="lpstr">
      <vt:lpstr>等线</vt:lpstr>
      <vt:lpstr>黑体</vt:lpstr>
      <vt:lpstr>Arial</vt:lpstr>
      <vt:lpstr>Calibri</vt:lpstr>
      <vt:lpstr>Office 主题​​</vt:lpstr>
      <vt:lpstr>CS ChemDraw Drawing</vt:lpstr>
      <vt:lpstr>PowerPoint 演示文稿</vt:lpstr>
      <vt:lpstr>PowerPoint 演示文稿</vt:lpstr>
      <vt:lpstr>PowerPoint 演示文稿</vt:lpstr>
      <vt:lpstr>用简单的化学方法鉴别下列各组化合物</vt:lpstr>
      <vt:lpstr>用简单的化学方法鉴别下列各组化合物</vt:lpstr>
      <vt:lpstr>机理题</vt:lpstr>
      <vt:lpstr>转化题</vt:lpstr>
      <vt:lpstr>合成题：以C2及以下、苯为原料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Radical Reactions</dc:title>
  <dc:creator>Hong Zhang</dc:creator>
  <cp:lastModifiedBy>liwanhu</cp:lastModifiedBy>
  <cp:revision>668</cp:revision>
  <dcterms:created xsi:type="dcterms:W3CDTF">2018-08-01T08:19:00Z</dcterms:created>
  <dcterms:modified xsi:type="dcterms:W3CDTF">2023-06-15T04:13:59Z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2052-11.1.0.14309</vt:lpwstr>
  </property>
  <property fmtid="{D5CDD505-2E9C-101B-9397-08002B2CF9AE}" pid="3" name="ICV">
    <vt:lpwstr>AD28FBAFAB624E5EAE6F214FF246BE16_12</vt:lpwstr>
  </property>
</Properties>
</file>