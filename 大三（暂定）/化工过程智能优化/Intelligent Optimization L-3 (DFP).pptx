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7" r:id="rId2"/>
    <p:sldMasterId id="2147483699" r:id="rId3"/>
  </p:sldMasterIdLst>
  <p:notesMasterIdLst>
    <p:notesMasterId r:id="rId30"/>
  </p:notesMasterIdLst>
  <p:sldIdLst>
    <p:sldId id="438" r:id="rId4"/>
    <p:sldId id="606" r:id="rId5"/>
    <p:sldId id="607" r:id="rId6"/>
    <p:sldId id="608" r:id="rId7"/>
    <p:sldId id="609" r:id="rId8"/>
    <p:sldId id="610" r:id="rId9"/>
    <p:sldId id="611" r:id="rId10"/>
    <p:sldId id="612" r:id="rId11"/>
    <p:sldId id="613" r:id="rId12"/>
    <p:sldId id="614" r:id="rId13"/>
    <p:sldId id="615" r:id="rId14"/>
    <p:sldId id="616" r:id="rId15"/>
    <p:sldId id="617" r:id="rId16"/>
    <p:sldId id="618" r:id="rId17"/>
    <p:sldId id="619" r:id="rId18"/>
    <p:sldId id="621" r:id="rId19"/>
    <p:sldId id="620" r:id="rId20"/>
    <p:sldId id="622" r:id="rId21"/>
    <p:sldId id="623" r:id="rId22"/>
    <p:sldId id="625" r:id="rId23"/>
    <p:sldId id="626" r:id="rId24"/>
    <p:sldId id="627" r:id="rId25"/>
    <p:sldId id="628" r:id="rId26"/>
    <p:sldId id="630" r:id="rId27"/>
    <p:sldId id="631" r:id="rId28"/>
    <p:sldId id="632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0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72B4A-4CF9-4B71-8C46-269A6E9966B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53742-4ACC-403D-91EB-EAD1D5A53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639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D9ADC2-BF61-4E41-B4B3-FF2C2C08894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627188" y="1039813"/>
            <a:ext cx="3683000" cy="2762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4379913"/>
            <a:ext cx="5086350" cy="4146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580" tIns="45290" rIns="90580" bIns="4529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50993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16952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16933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31578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19987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0079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97360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9511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77619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56991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65036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2614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55911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02628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63263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68643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51979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77314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8024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8182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91318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74326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08562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06247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1222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38151" y="5472113"/>
            <a:ext cx="8258175" cy="4699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F91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38151" y="315915"/>
            <a:ext cx="8259763" cy="936625"/>
          </a:xfrm>
          <a:prstGeom prst="rect">
            <a:avLst/>
          </a:prstGeom>
          <a:gradFill rotWithShape="0">
            <a:gsLst>
              <a:gs pos="0">
                <a:srgbClr val="81B7F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01613"/>
            <a:ext cx="7772400" cy="1143000"/>
          </a:xfrm>
        </p:spPr>
        <p:txBody>
          <a:bodyPr/>
          <a:lstStyle>
            <a:lvl1pPr>
              <a:defRPr sz="33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918076" y="2344738"/>
            <a:ext cx="4043363" cy="2260600"/>
          </a:xfrm>
        </p:spPr>
        <p:txBody>
          <a:bodyPr/>
          <a:lstStyle>
            <a:lvl1pPr marL="0" indent="0">
              <a:spcBef>
                <a:spcPct val="0"/>
              </a:spcBef>
              <a:buFont typeface="Symbol" panose="05050102010706020507" pitchFamily="18" charset="2"/>
              <a:buNone/>
              <a:defRPr i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noProof="0" dirty="0"/>
              <a:t>Click to edit Master </a:t>
            </a:r>
          </a:p>
          <a:p>
            <a:pPr lvl="0"/>
            <a:r>
              <a:rPr lang="en-US" altLang="zh-CN" noProof="0" dirty="0"/>
              <a:t>subtitle style</a:t>
            </a:r>
          </a:p>
          <a:p>
            <a:pPr lvl="0"/>
            <a:endParaRPr lang="en-US" altLang="zh-CN" noProof="0" dirty="0"/>
          </a:p>
          <a:p>
            <a:pPr lvl="0"/>
            <a:r>
              <a:rPr lang="en-US" altLang="zh-CN" noProof="0" dirty="0"/>
              <a:t>2019/7/30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6096000"/>
            <a:ext cx="650240" cy="650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0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387344-AB9B-4603-98A5-FF68E70200D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7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8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2813" y="1524000"/>
            <a:ext cx="3535362" cy="4343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0576" y="1524000"/>
            <a:ext cx="3535363" cy="4343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0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4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93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3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2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5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34139" y="304800"/>
            <a:ext cx="1908175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06439" y="304800"/>
            <a:ext cx="5575300" cy="5562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52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439" y="304800"/>
            <a:ext cx="7635875" cy="908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814" y="1524000"/>
            <a:ext cx="7223125" cy="4343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87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06439" y="304800"/>
            <a:ext cx="7635875" cy="5562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39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439" y="304800"/>
            <a:ext cx="7635875" cy="908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12814" y="1524000"/>
            <a:ext cx="7223125" cy="4343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96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CC290E-87B6-40B1-BD44-D9ED4F45F4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6096000"/>
            <a:ext cx="650240" cy="6502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397547B-43D4-40BA-9085-9E492A63D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46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94387344-AB9B-4603-98A5-FF68E70200D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497126-1EF5-40C2-A9A3-AD38822C6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84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46D65F-28E0-4C8C-88C7-C3FB4C200A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03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9829AA-FF2D-4111-8A61-9F5BDB2692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70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46E4B24-3D53-48A3-86FB-7B2B47D7A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35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73F4A2-6C4B-44D8-8DA5-4A0BFF96CA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86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B9C8EF-25BA-4A34-953E-5A0577CF1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59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8B73D2-DE64-4A4F-B11F-E79BC0E66E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79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333856-17AF-4708-B5EE-59C5F9E7EB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809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1E2204-9FE9-4BD8-9229-F1F4846BCB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80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2B9F03-455A-4F66-B2C0-C5E284DF1A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556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38150" y="5472113"/>
            <a:ext cx="8258175" cy="4699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F91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38150" y="315913"/>
            <a:ext cx="8259763" cy="936625"/>
          </a:xfrm>
          <a:prstGeom prst="rect">
            <a:avLst/>
          </a:prstGeom>
          <a:gradFill rotWithShape="0">
            <a:gsLst>
              <a:gs pos="0">
                <a:srgbClr val="81B7F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01613"/>
            <a:ext cx="7772400" cy="1143000"/>
          </a:xfrm>
        </p:spPr>
        <p:txBody>
          <a:bodyPr/>
          <a:lstStyle>
            <a:lvl1pPr>
              <a:defRPr sz="33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918075" y="2344738"/>
            <a:ext cx="4043363" cy="2260600"/>
          </a:xfrm>
        </p:spPr>
        <p:txBody>
          <a:bodyPr/>
          <a:lstStyle>
            <a:lvl1pPr marL="0" indent="0">
              <a:spcBef>
                <a:spcPct val="0"/>
              </a:spcBef>
              <a:buFont typeface="Symbol" panose="05050102010706020507" pitchFamily="18" charset="2"/>
              <a:buNone/>
              <a:defRPr i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noProof="0" dirty="0"/>
              <a:t>Click to edit Master </a:t>
            </a:r>
          </a:p>
          <a:p>
            <a:pPr lvl="0"/>
            <a:r>
              <a:rPr lang="en-US" altLang="zh-CN" noProof="0" dirty="0"/>
              <a:t>subtitle style</a:t>
            </a:r>
          </a:p>
          <a:p>
            <a:pPr lvl="0"/>
            <a:endParaRPr lang="en-US" altLang="zh-CN" noProof="0" dirty="0"/>
          </a:p>
          <a:p>
            <a:pPr lvl="0"/>
            <a:r>
              <a:rPr lang="en-US" altLang="zh-CN" noProof="0" dirty="0"/>
              <a:t>2019/7/30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000"/>
            <a:ext cx="650240" cy="650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982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387344-AB9B-4603-98A5-FF68E70200D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619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544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2813" y="1524000"/>
            <a:ext cx="3535362" cy="4343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0575" y="1524000"/>
            <a:ext cx="3535363" cy="4343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024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780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17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458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318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1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922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34138" y="304800"/>
            <a:ext cx="1908175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06438" y="304800"/>
            <a:ext cx="5575300" cy="5562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42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438" y="304800"/>
            <a:ext cx="7635875" cy="908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813" y="1524000"/>
            <a:ext cx="7223125" cy="4343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671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06438" y="304800"/>
            <a:ext cx="7635875" cy="5562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060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438" y="304800"/>
            <a:ext cx="7635875" cy="908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12813" y="1524000"/>
            <a:ext cx="7223125" cy="4343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2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65126" y="244477"/>
            <a:ext cx="8410575" cy="74613"/>
          </a:xfrm>
          <a:prstGeom prst="rect">
            <a:avLst/>
          </a:prstGeom>
          <a:gradFill rotWithShape="0">
            <a:gsLst>
              <a:gs pos="0">
                <a:srgbClr val="81B7F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06439" y="304800"/>
            <a:ext cx="7635875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927" tIns="38889" rIns="75927" bIns="388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4" y="1524000"/>
            <a:ext cx="722312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927" tIns="38889" rIns="75927" bIns="388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66714" y="6335715"/>
            <a:ext cx="8408987" cy="793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F91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3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/>
  <p:txStyles>
    <p:titleStyle>
      <a:lvl1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000099"/>
          </a:solidFill>
          <a:latin typeface="+mj-lt"/>
          <a:ea typeface="+mj-ea"/>
          <a:cs typeface="+mj-cs"/>
        </a:defRPr>
      </a:lvl1pPr>
      <a:lvl2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2pPr>
      <a:lvl3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3pPr>
      <a:lvl4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4pPr>
      <a:lvl5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5pPr>
      <a:lvl6pPr marL="4572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6pPr>
      <a:lvl7pPr marL="9144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7pPr>
      <a:lvl8pPr marL="13716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8pPr>
      <a:lvl9pPr marL="18288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9pPr>
    </p:titleStyle>
    <p:bodyStyle>
      <a:lvl1pPr marL="285750" indent="-285750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90000"/>
        <a:buFont typeface="Symbol" panose="05050102010706020507" pitchFamily="18" charset="2"/>
        <a:buChar char="·"/>
        <a:defRPr sz="2400" b="1" kern="1200">
          <a:solidFill>
            <a:schemeClr val="folHlink"/>
          </a:solidFill>
          <a:latin typeface="+mn-lt"/>
          <a:ea typeface="+mn-ea"/>
          <a:cs typeface="+mn-cs"/>
        </a:defRPr>
      </a:lvl1pPr>
      <a:lvl2pPr marL="595313" indent="-195263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100000"/>
        <a:buFont typeface="Symbol" panose="05050102010706020507" pitchFamily="18" charset="2"/>
        <a:buChar char="-"/>
        <a:defRPr sz="22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896938" indent="-187325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2100" kern="1200">
          <a:solidFill>
            <a:schemeClr val="folHlink"/>
          </a:solidFill>
          <a:latin typeface="+mn-lt"/>
          <a:ea typeface="+mn-ea"/>
          <a:cs typeface="+mn-cs"/>
        </a:defRPr>
      </a:lvl3pPr>
      <a:lvl4pPr marL="1200150" indent="-188913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1900" kern="1200">
          <a:solidFill>
            <a:schemeClr val="folHlink"/>
          </a:solidFill>
          <a:latin typeface="+mn-lt"/>
          <a:ea typeface="+mn-ea"/>
          <a:cs typeface="+mn-cs"/>
        </a:defRPr>
      </a:lvl4pPr>
      <a:lvl5pPr marL="1506538" indent="-192088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1900" kern="1200">
          <a:solidFill>
            <a:schemeClr val="folHlink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F3BA781-1028-4FC5-9677-4638BE8D4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1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9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65125" y="244475"/>
            <a:ext cx="8410575" cy="74613"/>
          </a:xfrm>
          <a:prstGeom prst="rect">
            <a:avLst/>
          </a:prstGeom>
          <a:gradFill rotWithShape="0">
            <a:gsLst>
              <a:gs pos="0">
                <a:srgbClr val="81B7F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06438" y="304800"/>
            <a:ext cx="7635875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927" tIns="38889" rIns="75927" bIns="388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1524000"/>
            <a:ext cx="722312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927" tIns="38889" rIns="75927" bIns="388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66713" y="6335713"/>
            <a:ext cx="8408987" cy="793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F91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‹#›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6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hf hdr="0" ftr="0"/>
  <p:txStyles>
    <p:titleStyle>
      <a:lvl1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000099"/>
          </a:solidFill>
          <a:latin typeface="+mj-lt"/>
          <a:ea typeface="+mj-ea"/>
          <a:cs typeface="+mj-cs"/>
        </a:defRPr>
      </a:lvl1pPr>
      <a:lvl2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2pPr>
      <a:lvl3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3pPr>
      <a:lvl4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4pPr>
      <a:lvl5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5pPr>
      <a:lvl6pPr marL="4572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6pPr>
      <a:lvl7pPr marL="9144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7pPr>
      <a:lvl8pPr marL="13716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8pPr>
      <a:lvl9pPr marL="18288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9pPr>
    </p:titleStyle>
    <p:bodyStyle>
      <a:lvl1pPr marL="285750" indent="-285750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90000"/>
        <a:buFont typeface="Symbol" panose="05050102010706020507" pitchFamily="18" charset="2"/>
        <a:buChar char="·"/>
        <a:defRPr sz="2400" b="1" kern="1200">
          <a:solidFill>
            <a:schemeClr val="folHlink"/>
          </a:solidFill>
          <a:latin typeface="+mn-lt"/>
          <a:ea typeface="+mn-ea"/>
          <a:cs typeface="+mn-cs"/>
        </a:defRPr>
      </a:lvl1pPr>
      <a:lvl2pPr marL="595313" indent="-195263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100000"/>
        <a:buFont typeface="Symbol" panose="05050102010706020507" pitchFamily="18" charset="2"/>
        <a:buChar char="-"/>
        <a:defRPr sz="22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896938" indent="-187325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2100" kern="1200">
          <a:solidFill>
            <a:schemeClr val="folHlink"/>
          </a:solidFill>
          <a:latin typeface="+mn-lt"/>
          <a:ea typeface="+mn-ea"/>
          <a:cs typeface="+mn-cs"/>
        </a:defRPr>
      </a:lvl3pPr>
      <a:lvl4pPr marL="1200150" indent="-188913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1900" kern="1200">
          <a:solidFill>
            <a:schemeClr val="folHlink"/>
          </a:solidFill>
          <a:latin typeface="+mn-lt"/>
          <a:ea typeface="+mn-ea"/>
          <a:cs typeface="+mn-cs"/>
        </a:defRPr>
      </a:lvl4pPr>
      <a:lvl5pPr marL="1506538" indent="-192088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1900" kern="1200">
          <a:solidFill>
            <a:schemeClr val="folHlink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hyperlink" Target="mailto:cezhouh@xmu.edu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258" name="Picture 1026" descr="sq_glob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75" y="1339850"/>
            <a:ext cx="3986213" cy="398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2259" name="Rectangle 102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Intelligent Optimization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 Chemical Engineering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864190" y="2438400"/>
            <a:ext cx="4043363" cy="1785938"/>
          </a:xfrm>
        </p:spPr>
        <p:txBody>
          <a:bodyPr/>
          <a:lstStyle/>
          <a:p>
            <a:pPr algn="ctr">
              <a:spcBef>
                <a:spcPts val="6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Hua Zhou</a:t>
            </a:r>
          </a:p>
          <a:p>
            <a:pPr>
              <a:spcBef>
                <a:spcPts val="6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hlinkClick r:id="rId4"/>
              </a:rPr>
              <a:t>cezhouh@xmu.edu.cn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spcBef>
                <a:spcPts val="600"/>
              </a:spcBef>
            </a:pPr>
            <a:fld id="{52176BCB-EC55-4402-A00C-2F8CEE2E060D}" type="datetime1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pPr algn="ctr">
                <a:spcBef>
                  <a:spcPts val="600"/>
                </a:spcBef>
              </a:pPr>
              <a:t>10/30/2024</a:t>
            </a:fld>
            <a:endParaRPr lang="zh-CN" altLang="en-US" dirty="0"/>
          </a:p>
        </p:txBody>
      </p:sp>
      <p:sp>
        <p:nvSpPr>
          <p:cNvPr id="352260" name="Line 1028"/>
          <p:cNvSpPr>
            <a:spLocks noChangeShapeType="1"/>
          </p:cNvSpPr>
          <p:nvPr/>
        </p:nvSpPr>
        <p:spPr bwMode="auto">
          <a:xfrm>
            <a:off x="4533900" y="3335338"/>
            <a:ext cx="3646488" cy="0"/>
          </a:xfrm>
          <a:prstGeom prst="line">
            <a:avLst/>
          </a:prstGeom>
          <a:noFill/>
          <a:ln w="20955">
            <a:solidFill>
              <a:srgbClr val="9698A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</p:txBody>
      </p:sp>
      <p:sp>
        <p:nvSpPr>
          <p:cNvPr id="352261" name="Text Box 1029"/>
          <p:cNvSpPr txBox="1">
            <a:spLocks noChangeArrowheads="1"/>
          </p:cNvSpPr>
          <p:nvPr/>
        </p:nvSpPr>
        <p:spPr bwMode="auto">
          <a:xfrm>
            <a:off x="2785861" y="5538377"/>
            <a:ext cx="47692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College of Chemistry &amp; Chemical Engineering</a:t>
            </a:r>
          </a:p>
        </p:txBody>
      </p:sp>
      <p:sp>
        <p:nvSpPr>
          <p:cNvPr id="352262" name="Rectangle 1030"/>
          <p:cNvSpPr>
            <a:spLocks noChangeArrowheads="1"/>
          </p:cNvSpPr>
          <p:nvPr/>
        </p:nvSpPr>
        <p:spPr bwMode="auto">
          <a:xfrm>
            <a:off x="4529138" y="2254250"/>
            <a:ext cx="4043362" cy="226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5927" tIns="38889" rIns="75927" bIns="38889"/>
          <a:lstStyle>
            <a:lvl1pPr defTabSz="758825">
              <a:buClr>
                <a:srgbClr val="000099"/>
              </a:buClr>
              <a:buSzPct val="90000"/>
              <a:buFont typeface="Symbol" panose="05050102010706020507" pitchFamily="18" charset="2"/>
              <a:defRPr sz="2400" b="1" i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400050" algn="ctr" defTabSz="758825">
              <a:spcBef>
                <a:spcPct val="20000"/>
              </a:spcBef>
              <a:buClr>
                <a:srgbClr val="000099"/>
              </a:buClr>
              <a:buSzPct val="100000"/>
              <a:buFont typeface="Symbol" panose="05050102010706020507" pitchFamily="18" charset="2"/>
              <a:defRPr sz="2200">
                <a:solidFill>
                  <a:schemeClr val="folHlink"/>
                </a:solidFill>
                <a:latin typeface="Arial" panose="020B0604020202020204" pitchFamily="34" charset="0"/>
              </a:defRPr>
            </a:lvl2pPr>
            <a:lvl3pPr marL="709613" algn="ctr" defTabSz="758825">
              <a:spcBef>
                <a:spcPct val="20000"/>
              </a:spcBef>
              <a:buClr>
                <a:srgbClr val="000099"/>
              </a:buClr>
              <a:buSzPct val="75000"/>
              <a:buFont typeface="Symbol" panose="05050102010706020507" pitchFamily="18" charset="2"/>
              <a:defRPr sz="2100">
                <a:solidFill>
                  <a:schemeClr val="folHlink"/>
                </a:solidFill>
                <a:latin typeface="Arial" panose="020B0604020202020204" pitchFamily="34" charset="0"/>
              </a:defRPr>
            </a:lvl3pPr>
            <a:lvl4pPr marL="1011238" algn="ctr" defTabSz="758825">
              <a:spcBef>
                <a:spcPct val="20000"/>
              </a:spcBef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1314450" algn="ctr" defTabSz="758825">
              <a:spcBef>
                <a:spcPct val="20000"/>
              </a:spcBef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5pPr>
            <a:lvl6pPr marL="17716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6pPr>
            <a:lvl7pPr marL="22288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7pPr>
            <a:lvl8pPr marL="26860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8pPr>
            <a:lvl9pPr marL="31432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7588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90000"/>
              <a:buFont typeface="Symbol" panose="05050102010706020507" pitchFamily="18" charset="2"/>
              <a:buNone/>
              <a:tabLst/>
              <a:defRPr/>
            </a:pP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87C4709-4F4E-460E-919D-5F716A1D5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925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变尺度法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Davidon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Fletcher Powell, DFP)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Newton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法及阻尼优点：收敛</a:t>
                </a:r>
                <a:r>
                  <a:rPr lang="zh-CN" altLang="en-US" sz="2600" dirty="0">
                    <a:latin typeface="+mj-lt"/>
                  </a:rPr>
                  <a:t>速度快</a:t>
                </a:r>
                <a:endParaRPr lang="en-US" altLang="zh-CN" sz="260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sz="2600" dirty="0">
                    <a:latin typeface="+mj-lt"/>
                  </a:rPr>
                  <a:t>        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缺点：需求解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Hessian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矩阵的逆矩阵，计算量大，且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Hessian</a:t>
                </a:r>
                <a:r>
                  <a:rPr lang="zh-CN" alt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矩阵需非奇异，否则迭代进行不下去。</a:t>
                </a:r>
                <a:endParaRPr lang="en-US" altLang="zh-CN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0,0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sSubSup>
                                      <m:sSubSup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d>
                                      <m:d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非奇异</m:t>
                      </m:r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/>
                  <a:t>搜索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zh-CN" altLang="en-US" b="0" dirty="0"/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b="0" dirty="0"/>
                  <a:t>，无法产生新迭代点</a:t>
                </a:r>
                <a:endParaRPr lang="en-US" altLang="zh-CN" b="0" dirty="0"/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200" t="-1780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01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 smtClean="0">
                    <a:latin typeface="+mj-ea"/>
                  </a:rPr>
                  <a:t> 变尺度法基本思想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+mj-ea"/>
                  </a:rPr>
                  <a:t>        </a:t>
                </a:r>
                <a:r>
                  <a:rPr lang="zh-CN" altLang="en-US" b="0" dirty="0">
                    <a:latin typeface="+mj-ea"/>
                  </a:rPr>
                  <a:t>目标函数非二次函数时，牛顿方向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中的逆矩阵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在不同的迭代点不同，造成计算量大。变尺度法基本思想是构造一系列不含二阶偏导数的尺度矩阵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b="0" dirty="0">
                    <a:latin typeface="+mj-ea"/>
                  </a:rPr>
                  <a:t>来近似牛顿法中一系列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Hessian</a:t>
                </a:r>
                <a:r>
                  <a:rPr lang="zh-CN" altLang="en-US" b="0" dirty="0">
                    <a:latin typeface="+mj-ea"/>
                  </a:rPr>
                  <a:t>矩阵的逆矩阵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=1,2,⋯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。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+mj-ea"/>
                  </a:rPr>
                  <a:t>        </a:t>
                </a:r>
                <a:r>
                  <a:rPr lang="zh-CN" altLang="en-US" b="0" dirty="0">
                    <a:latin typeface="+mj-ea"/>
                  </a:rPr>
                  <a:t>因此牛顿方向变为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相应的阻尼牛顿法迭代公式变为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构造尺度矩阵：</a:t>
                </a:r>
                <a:endParaRPr lang="en-US" altLang="zh-CN" b="0" dirty="0">
                  <a:latin typeface="+mj-ea"/>
                </a:endParaRPr>
              </a:p>
              <a:p>
                <a:pPr marL="457200" indent="-457200" algn="just">
                  <a:spcAft>
                    <a:spcPts val="0"/>
                  </a:spcAft>
                  <a:buAutoNum type="arabicParenBoth"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为一对称正定矩阵，一般常令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457200" indent="-457200" algn="just">
                  <a:spcAft>
                    <a:spcPts val="0"/>
                  </a:spcAft>
                  <a:buAutoNum type="arabicParenBoth"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修正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，再到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为校正矩阵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dirty="0">
                    <a:latin typeface="+mj-lt"/>
                  </a:rPr>
                  <a:t>        </a:t>
                </a:r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00" t="-1780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E6EBBFB1-DC69-41DE-BDAF-4B402BC6A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04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77500" lnSpcReduction="2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变尺度法校正矩阵的确定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+mj-ea"/>
                  </a:rPr>
                  <a:t>          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为确定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，首先观察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Hessian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矩阵和梯度之间的关系。假设第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k+1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次迭代时，给定了点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处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Taylor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展开函数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到二阶项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600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由上式可得函数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的梯度为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若取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，则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又若矩阵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的逆存在，则有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867" t="-1978" r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83F4F809-497E-44BA-B36C-CDA17C7E8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71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92500" lnSpcReduction="2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变尺度法校正矩阵的确定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+mj-ea"/>
                  </a:rPr>
                  <a:t>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∗∗∗</m:t>
                        </m:r>
                      </m:e>
                    </m:d>
                  </m:oMath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记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因此式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(***)</a:t>
                </a:r>
                <a:r>
                  <a:rPr lang="zh-CN" altLang="en-US" b="0" dirty="0">
                    <a:latin typeface="+mj-ea"/>
                  </a:rPr>
                  <a:t>可变为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𝑯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作为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𝑯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的近似，则有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或者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latin typeface="+mj-ea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称为“拟牛顿”条件，满足该条件的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无穷多，如何确定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？</a:t>
                </a: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200" t="-2572" r="-1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72DA0391-9DC1-4DF8-A1B9-D26F9BA0F1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70000" lnSpcReduction="2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变尺度法校正矩阵的确定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称“拟牛顿”条件，满足该条件的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无穷多，如何确定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？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:r>
                  <a:rPr lang="zh-CN" altLang="en-US" b="0" dirty="0"/>
                  <a:t>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有具体形式：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为</a:t>
                </a:r>
                <a:r>
                  <a:rPr lang="en-US" altLang="zh-CN" b="0" dirty="0">
                    <a:latin typeface="+mj-ea"/>
                  </a:rPr>
                  <a:t>n</a:t>
                </a:r>
                <a:r>
                  <a:rPr lang="zh-CN" altLang="en-US" b="0" dirty="0">
                    <a:latin typeface="+mj-ea"/>
                  </a:rPr>
                  <a:t>维向量，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+mj-ea"/>
                  </a:rPr>
                  <a:t>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+mj-ea"/>
                  </a:rPr>
                  <a:t>为待定常数。此时，校正矩阵为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根据拟牛顿条件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须满足式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，故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或者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满足这一方程的待定向量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有无穷多种，假设选取如下的式子计算</a:t>
                </a: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667" t="-1879" b="-1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61D6C4FA-3C88-458A-BBC8-AAB8E7F8EC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65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925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变尺度法校正矩阵的确定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ea"/>
                  </a:rPr>
                  <a:t>满足这一方程待定向量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ea"/>
                  </a:rPr>
                  <a:t>有无穷多种，假设选取如下的式子计算</a:t>
                </a:r>
                <a:endParaRPr lang="en-US" altLang="zh-CN" b="0" dirty="0">
                  <a:latin typeface="+mj-ea"/>
                </a:endParaRPr>
              </a:p>
              <a:p>
                <a:pPr marL="0" indent="0" algn="ctr">
                  <a:spcAft>
                    <a:spcPts val="0"/>
                  </a:spcAft>
                  <a:buNone/>
                </a:pPr>
                <a:r>
                  <a:rPr lang="en-US" altLang="zh-C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b="0" dirty="0">
                  <a:latin typeface="+mj-lt"/>
                </a:endParaRPr>
              </a:p>
              <a:p>
                <a:pPr marL="0" indent="0" algn="ctr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lt"/>
                  </a:rPr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lt"/>
                  </a:rPr>
                  <a:t>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+mj-lt"/>
                  </a:rPr>
                  <a:t>都不是数量，不妨取</a:t>
                </a:r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dirty="0">
                    <a:latin typeface="+mj-lt"/>
                  </a:rPr>
                  <a:t>这样就可以同时确定</a:t>
                </a:r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200" t="-1583" r="-1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CB336310-5EEA-49CA-8A12-D84F03300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92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925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变尺度法校正矩阵的确定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dirty="0">
                  <a:latin typeface="+mj-lt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代入下式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得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zh-CN" alt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𝑯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上式即为</a:t>
                </a: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DFP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变尺度法的校正公式。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200" t="-1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A9684DCB-02CC-4E43-A075-766813661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12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/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变尺度法迭代方向和迭代公式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选定初始点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，迭代矩阵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，搜索方向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即为负梯度方向，后续的搜索方向依次为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=0,1,2,⋯</m:t>
                          </m:r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由递推公式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得到。下一个迭代点由</a:t>
                </a:r>
                <a:endParaRPr lang="en-US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=0,1,2,⋯</m:t>
                          </m:r>
                        </m:e>
                      </m:d>
                    </m:oMath>
                  </m:oMathPara>
                </a14:m>
                <a:endParaRPr lang="en-US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结合一维搜索确定。</a:t>
                </a: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333" t="-1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241AAE18-91B6-48C8-95A2-E6737425F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63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62500" lnSpcReduction="2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变尺度法迭代方向和迭代公式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lnSpc>
                    <a:spcPct val="17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dirty="0">
                    <a:latin typeface="+mj-ea"/>
                  </a:rPr>
                  <a:t>        </a:t>
                </a:r>
                <a:r>
                  <a:rPr lang="zh-CN" altLang="en-US" b="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变尺度法也称为拟牛顿法，既保留牛顿法收敛速度快的优点，又免去目标函数</a:t>
                </a:r>
                <a:r>
                  <a:rPr lang="en-US" altLang="zh-CN" b="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Hessian</a:t>
                </a:r>
                <a:r>
                  <a:rPr lang="zh-CN" altLang="en-US" b="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矩阵及其逆阵的计算。变尺度法初始矩阵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为单位矩阵，迭代第一步采用负梯度方向，后续尺度矩阵由递推公式依次形成。形成的各尺度矩阵为对称正定矩阵，因此说明</a:t>
                </a:r>
                <a:endParaRPr lang="en-US" altLang="zh-CN" b="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将目标函数</a:t>
                </a: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Tailor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处展开得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d>
                      <m:dPr>
                        <m:ctrlP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70000"/>
                  </a:lnSpc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b="0" i="0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𝛻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kern="100" smtClean="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b="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为下降方向，这就可以确保每次迭代均能使得目标函数值有所改善。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533" t="-1780" r="-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04B50CD0-C087-4355-9278-77E84DE0A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03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变尺度法迭代方向和迭代公式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+mj-ea"/>
                  </a:rPr>
                  <a:t>        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不是极小点时，校正公式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后两项分母不会出现零，其原因为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b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而最优步长搜索时要求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故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00" t="-2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0C3C7EBE-2970-4CA0-93F3-1D78FF691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16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变尺度法迭代方向和迭代公式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+mj-ea"/>
                  </a:rPr>
                  <a:t>       </a:t>
                </a:r>
                <a:r>
                  <a:rPr lang="zh-CN" altLang="en-US" b="0" dirty="0">
                    <a:latin typeface="+mj-ea"/>
                  </a:rPr>
                  <a:t>又因为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=0,1,2,⋯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j-ea"/>
                  </a:rPr>
                  <a:t>，故</a:t>
                </a:r>
                <a:endParaRPr lang="en-US" altLang="zh-CN" b="0" dirty="0">
                  <a:latin typeface="+mj-ea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:r>
                  <a:rPr lang="en-US" altLang="zh-CN" b="0" dirty="0">
                    <a:latin typeface="+mj-ea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b="0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因为前面假设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不是极小点，那么</a:t>
                </a:r>
                <a14:m>
                  <m:oMath xmlns:m="http://schemas.openxmlformats.org/officeDocument/2006/math">
                    <m:r>
                      <a:rPr lang="en-US" altLang="zh-CN" b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，又因为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正定，且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，则必有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b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递推公式中第二项的分母中由于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acc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正定，也可得出上述结论。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00" t="-2275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1372A95C-DD04-4764-A4F4-17E37F5EE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09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DFP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变尺度法求解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−2,4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−2, 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−12, 6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12, </m:t>
                              </m:r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2+12</m:t>
                                </m:r>
                                <m:sSub>
                                  <m:sSubPr>
                                    <m:ctrlP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4−6</m:t>
                                </m:r>
                                <m:sSub>
                                  <m:sSubPr>
                                    <m:ctrlP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一维搜索步长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−2+12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4−6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−2+12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4−6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−2+12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00" t="-2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A7D8D020-1ECD-49B1-817F-E3DDA9C4F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96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925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DFP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变尺度法求解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−2,4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−2+12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4−6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kern="100" smtClean="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−2+12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4−6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−2+12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36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−2+12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−6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4−6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+144</m:t>
                      </m:r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−60−24=0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17</m:t>
                          </m:r>
                        </m:den>
                      </m:f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=0.294118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2+12</m:t>
                                </m:r>
                                <m:sSub>
                                  <m:sSubPr>
                                    <m:ctrlP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4−6</m:t>
                                </m:r>
                                <m:sSub>
                                  <m:sSubPr>
                                    <m:ctrlP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−2, 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.352941</m:t>
                                    </m:r>
                                  </m:e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0.705882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200" t="-1780" b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9653E81A-FD09-47CC-9327-F77E95B44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87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70000" lnSpcReduction="2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DFP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变尺度法求解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600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6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sz="26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6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−2,4</m:t>
                              </m:r>
                            </m:e>
                          </m:d>
                        </m:e>
                        <m:sup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6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sz="260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6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6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6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6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:r>
                  <a:rPr lang="en-US" altLang="zh-CN" sz="29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2+12</m:t>
                                </m:r>
                                <m:sSub>
                                  <m:sSubPr>
                                    <m:ctrlP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4−6</m:t>
                                </m:r>
                                <m:sSub>
                                  <m:sSubPr>
                                    <m:ctrlP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−2, </m:t>
                              </m:r>
                              <m:sSub>
                                <m:sSubPr>
                                  <m:ctrlP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9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9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CN" sz="29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.352941</m:t>
                                    </m:r>
                                  </m:e>
                                  <m:e>
                                    <m:r>
                                      <a:rPr lang="en-US" altLang="zh-CN" sz="29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0.705882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3.529411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−1.764706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9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9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.352941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0.705882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.352941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−5.294118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:r>
                  <a:rPr lang="zh-CN" altLang="en-US" sz="29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利用校正公式</a:t>
                </a:r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667" t="-2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C1EA01EF-CB80-42E9-ACC3-2DC11FA68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23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92500" lnSpcReduction="2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4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DFP</a:t>
                </a:r>
                <a:r>
                  <a:rPr lang="zh-CN" altLang="en-US" sz="24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变尺度法求解</a:t>
                </a:r>
                <a:endParaRPr lang="en-US" altLang="zh-CN" sz="24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3.529411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−1.764706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0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0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.352941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−5.294118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3.529411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−1.764706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3.529411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−1.764706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3.529411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−1.764706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2.352941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−5.294118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2.352941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−5.294118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2.352941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−5.294118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2.352941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−5.294118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2.352941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−5.294118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.390466</m:t>
                                </m:r>
                              </m:e>
                              <m:e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0.244422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0.244422</m:t>
                                </m:r>
                              </m:e>
                              <m:e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0.903651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00" t="-27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C6A63908-2E94-4CF9-9435-1A0332E242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18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/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:r>
                  <a:rPr lang="en-US" altLang="zh-CN" sz="24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DFP</a:t>
                </a:r>
                <a:r>
                  <a:rPr lang="zh-CN" altLang="en-US" sz="24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变尺度法求解</a:t>
                </a:r>
                <a:endParaRPr lang="en-US" altLang="zh-CN" sz="24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4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.352941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0.705882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.390466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0.244422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0.244422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0.903651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4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.390466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0.244422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0.244422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0.903651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.352941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0.705882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−0.3103</m:t>
                                </m:r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−0.72408</m:t>
                                </m:r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−0.310330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−0.724082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.529411−0.310330</m:t>
                                </m:r>
                                <m:sSub>
                                  <m:sSubPr>
                                    <m:ctrl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2.235294−0.724082</m:t>
                                </m:r>
                                <m:sSub>
                                  <m:sSubPr>
                                    <m:ctrl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133" t="-1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9649DBCC-F6A5-4CBF-89A1-41E036AC2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5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DFP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变尺度法求解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−2,4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.529411−0.310330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2.235294−0.724082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.529411−0.310330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2.235294−0.724082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.529411−0.310330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2.235294−0.724082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.529411−0.310330</m:t>
                                  </m:r>
                                  <m:sSub>
                                    <m:sSubPr>
                                      <m:ctrlP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3∗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−0.310330</m:t>
                          </m:r>
                        </m:e>
                      </m:d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.529411−0.310330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0.724082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2.235294−0.724082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+0.310330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2.235294−0.724082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0.724082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.529411−0.310330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∗0.310330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00" t="-2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9F02CA05-F189-401A-A755-DAB328586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5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algn="just">
                  <a:spcAft>
                    <a:spcPts val="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latin typeface="+mj-ea"/>
                  </a:rPr>
                  <a:t> </a:t>
                </a:r>
                <a:r>
                  <a:rPr lang="en-US" altLang="zh-CN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DFP</a:t>
                </a:r>
                <a:r>
                  <a:rPr lang="zh-CN" altLang="en-US" dirty="0">
                    <a:latin typeface="+mj-ea"/>
                  </a:rPr>
                  <a:t>变尺度法</a:t>
                </a:r>
                <a:endParaRPr lang="en-US" altLang="zh-CN" dirty="0">
                  <a:latin typeface="+mj-ea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1: DFP</a:t>
                </a: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变尺度法求解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−2,4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−1.4239+0.2889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−1.6185+0.5243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0.6937−0.2247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1.1074−0.2247</m:t>
                          </m:r>
                          <m:sSub>
                            <m:sSub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+0.6207=0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−0.6206+0.3638</m:t>
                      </m:r>
                      <m:sSub>
                        <m:sSub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6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=1.7060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.529411−0.310330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2.235294−0.724082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.0000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1.0000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Therefore, the optimal point is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And the optimal value of the objective function is -1. 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00" t="-2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88403EF3-FCEB-4DD6-80B3-A51095833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96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 Exercise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+2, −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4, −2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2+2</m:t>
                                </m:r>
                                <m:sSub>
                                  <m:sSubPr>
                                    <m:ctrlP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一维搜索步长</a:t>
                </a: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−4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−4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2+2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2+2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−4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d>
                                <m:dPr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2+2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333" t="-1583" r="-2267" b="-13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A7D8D020-1ECD-49B1-817F-E3DDA9C4F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92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  <m:sSub>
                            <m:sSub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2+2</m:t>
                          </m:r>
                          <m:sSub>
                            <m:sSub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2+2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  <m:sSub>
                            <m:sSub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−4</m:t>
                      </m:r>
                      <m:d>
                        <m:d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2+2</m:t>
                          </m:r>
                          <m:sSub>
                            <m:sSub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28</m:t>
                      </m:r>
                      <m:sSubSup>
                        <m:sSub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−20</m:t>
                      </m:r>
                      <m:sSub>
                        <m:sSub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0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5/7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2+2</m:t>
                                </m:r>
                                <m:sSub>
                                  <m:sSubPr>
                                    <m:ctrlP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2−20/7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2+10/7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+2, −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/7</m:t>
                                    </m:r>
                                  </m:e>
                                  <m:e>
                                    <m:r>
                                      <a:rPr lang="en-US" altLang="zh-CN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26/7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200" t="-1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9653E81A-FD09-47CC-9327-F77E95B44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24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92500"/>
              </a:bodyPr>
              <a:lstStyle/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32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32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32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−6/7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24/7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32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−22/7</m:t>
                                    </m:r>
                                  </m:e>
                                  <m:e>
                                    <m:r>
                                      <a:rPr lang="en-US" altLang="zh-CN" sz="32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26/7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32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4, −2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−6/7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−20/7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10/7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9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9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−50/7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38</m:t>
                                </m:r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:r>
                  <a:rPr lang="zh-CN" altLang="en-US" sz="29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利用校正公式</a:t>
                </a:r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267" t="-1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C1EA01EF-CB80-42E9-ACC3-2DC11FA68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16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4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2:</a:t>
                </a: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−20/7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10/7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sz="20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0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−50/7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38</m:t>
                                </m:r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−20/7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10/7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−20/7</m:t>
                                    </m:r>
                                  </m:e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10/7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−20/7</m:t>
                                    </m:r>
                                  </m:e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10/7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−50/7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38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/7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−50/7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38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/7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−50/7</m:t>
                                    </m:r>
                                  </m:e>
                                  <m:e>
                                    <m:r>
                                      <a:rPr lang="en-US" altLang="zh-CN" sz="24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38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/7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−50/7</m:t>
                                    </m:r>
                                  </m:e>
                                  <m:e>
                                    <m:r>
                                      <a:rPr lang="en-US" altLang="zh-CN" sz="24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38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/7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b="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−50/7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38</m:t>
                                    </m:r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/7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</m:t>
                                </m:r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60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</m:t>
                                </m:r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</m:t>
                                </m:r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368</m:t>
                                </m:r>
                              </m:e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</m:t>
                                </m:r>
                                <m:r>
                                  <a:rPr lang="en-US" altLang="zh-CN" sz="24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7063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0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26</m:t>
                                </m:r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b="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0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0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0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0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0.6560</m:t>
                                </m:r>
                              </m:e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0.3368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0.3368</m:t>
                                </m:r>
                              </m:e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0.7063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−22/7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26/7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0.8106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−1.5650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0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−6/7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0.8106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−1.5650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6/7+</m:t>
                                </m:r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0.8106</m:t>
                                </m:r>
                                <m:sSub>
                                  <m:sSubPr>
                                    <m:ctrlP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24/7</m:t>
                                </m:r>
                                <m:r>
                                  <a:rPr lang="en-US" altLang="zh-CN" sz="20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−1.5650</m:t>
                                </m:r>
                                <m:sSub>
                                  <m:sSubPr>
                                    <m:ctrlP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C6A63908-2E94-4CF9-9435-1A0332E242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62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2:</a:t>
                </a: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zh-CN" altLang="en-US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一维搜索步长</a:t>
                </a:r>
                <a:endParaRPr lang="en-US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8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8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6/7+0.8106</m:t>
                                </m:r>
                                <m:sSub>
                                  <m:sSubPr>
                                    <m:ctrlP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24/7−1.5650</m:t>
                                </m:r>
                                <m:sSub>
                                  <m:sSubPr>
                                    <m:ctrlP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0" i="1" kern="1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6/7+0.8106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6/7+0.8106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24/7−1.5650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24/7−1.5650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kern="10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6/7+0.8106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d>
                                <m:dPr>
                                  <m:ctrlP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24/7−1.5650</m:t>
                                  </m:r>
                                  <m:sSub>
                                    <m:sSubPr>
                                      <m:ctrlP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=0.9555</m:t>
                      </m:r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−0.8571+0.8432</m:t>
                                </m:r>
                                <m:sSub>
                                  <m:sSubPr>
                                    <m:ctrlP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3.4286−1.4460</m:t>
                                </m:r>
                                <m:sSub>
                                  <m:sSubPr>
                                    <m:ctrlP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−0.0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826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1.9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332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kern="10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−4.1811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2.0158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333" t="-1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9F02CA05-F189-401A-A755-DAB328586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02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85000" lnSpcReduction="10000"/>
              </a:bodyPr>
              <a:lstStyle/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32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−0.0826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1.9332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32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−6/7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24/7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−22/7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26/7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32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32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−4.1811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2.0158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−0.0826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1.9332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−6/7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24/7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0.7745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−1.4354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9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9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−4.1811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2.0158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4/7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32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−1.0382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1.4128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:r>
                  <a:rPr lang="zh-CN" altLang="en-US" sz="29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利用校正公式</a:t>
                </a:r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9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9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r>
                        <a:rPr lang="en-US" altLang="zh-CN" sz="29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9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9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900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9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9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9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1067" t="-1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C1EA01EF-CB80-42E9-ACC3-2DC11FA68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92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solidFill>
                <a:schemeClr val="bg1"/>
              </a:solidFill>
            </p:spPr>
            <p:txBody>
              <a:bodyPr>
                <a:normAutofit fontScale="625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400" b="0" kern="100" dirty="0"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Case 2:</a:t>
                </a:r>
              </a:p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9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0.7745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−1.4354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sz="2900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9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−1.0382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−1.4128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3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6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6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6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6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6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6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altLang="zh-CN" sz="2600" b="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6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6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600" b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2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sz="2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zh-CN" altLang="en-US" sz="26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600" b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2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altLang="zh-CN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0.6560</m:t>
                                </m:r>
                              </m:e>
                              <m:e>
                                <m:r>
                                  <a:rPr lang="en-US" altLang="zh-CN" sz="2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0.3368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0.3368</m:t>
                                </m:r>
                              </m:e>
                              <m:e>
                                <m:r>
                                  <a:rPr lang="en-US" altLang="zh-CN" sz="2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0.7063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6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0.7745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−1.4354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0.7745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−1.4354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0.7745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−1.4354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−1.0382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−1.4128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en-US" altLang="zh-CN" sz="26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0.6560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0.3368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0.3368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0.7063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−1.0382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−1.4128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b="0" i="1" kern="100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−1.0382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−1.4128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0.6560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0.3368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0.3368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0.7063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−1.0382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−1.4128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b="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0.6560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0.3368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0.3368</m:t>
                                    </m:r>
                                  </m:e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0.7063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−1.0382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−1.4128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r>
                        <a:rPr lang="en-US" altLang="zh-CN" sz="26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</m:t>
                                </m:r>
                                <m:r>
                                  <a:rPr lang="en-US" altLang="zh-CN" sz="260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  <m:r>
                                  <a:rPr lang="en-US" altLang="zh-CN" sz="26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151</m:t>
                                </m:r>
                              </m:e>
                              <m:e>
                                <m:r>
                                  <a:rPr lang="en-US" altLang="zh-CN" sz="26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−1.0737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−1.0737</m:t>
                                </m:r>
                              </m:e>
                              <m:e>
                                <m:r>
                                  <a:rPr lang="en-US" altLang="zh-CN" sz="26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1.8050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3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900" b="0" i="0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b="1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−4.1811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2.0158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29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29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</m:acc>
                        </m:e>
                        <m:sup>
                          <m:r>
                            <a:rPr lang="en-US" altLang="zh-CN" sz="2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b="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𝛻</m:t>
                      </m:r>
                      <m:r>
                        <a:rPr lang="en-US" altLang="zh-CN" sz="29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9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9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0.7151</m:t>
                                </m:r>
                              </m:e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−1.0737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−1.0737</m:t>
                                </m:r>
                              </m:e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1.8050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−4.1811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2.0158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5.1543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−8.1278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900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5000"/>
                  </a:lnSpc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b="1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−0.0826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1.9332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9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5.1543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−8.1278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9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9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−0.0826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5.1543</m:t>
                                </m:r>
                                <m:sSub>
                                  <m:sSubPr>
                                    <m:ctrlPr>
                                      <a:rPr lang="en-US" altLang="zh-CN" sz="29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9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1.9332</m:t>
                                </m:r>
                                <m:r>
                                  <a:rPr lang="en-US" altLang="zh-CN" sz="29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−8.1278</m:t>
                                </m:r>
                                <m:sSub>
                                  <m:sSubPr>
                                    <m:ctrlPr>
                                      <a:rPr lang="en-US" altLang="zh-CN" sz="29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9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9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0" kern="100" dirty="0"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3393"/>
                <a:ext cx="9144000" cy="6164609"/>
              </a:xfrm>
              <a:blipFill>
                <a:blip r:embed="rId3"/>
                <a:stretch>
                  <a:fillRect l="-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C6A63908-2E94-4CF9-9435-1A0332E242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396" y="0"/>
            <a:ext cx="8523214" cy="719257"/>
          </a:xfrm>
        </p:spPr>
        <p:txBody>
          <a:bodyPr>
            <a:no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Optimization algorithm for </a:t>
            </a:r>
            <a:r>
              <a:rPr lang="en-US" altLang="zh-CN" sz="36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multi-variables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15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8">
      <a:dk1>
        <a:srgbClr val="000000"/>
      </a:dk1>
      <a:lt1>
        <a:srgbClr val="FFFFFF"/>
      </a:lt1>
      <a:dk2>
        <a:srgbClr val="000099"/>
      </a:dk2>
      <a:lt2>
        <a:srgbClr val="000000"/>
      </a:lt2>
      <a:accent1>
        <a:srgbClr val="CCECFF"/>
      </a:accent1>
      <a:accent2>
        <a:srgbClr val="FE9B03"/>
      </a:accent2>
      <a:accent3>
        <a:srgbClr val="FFFFFF"/>
      </a:accent3>
      <a:accent4>
        <a:srgbClr val="000000"/>
      </a:accent4>
      <a:accent5>
        <a:srgbClr val="E2F4FF"/>
      </a:accent5>
      <a:accent6>
        <a:srgbClr val="E68C02"/>
      </a:accent6>
      <a:hlink>
        <a:srgbClr val="114FFB"/>
      </a:hlink>
      <a:folHlink>
        <a:srgbClr val="232323"/>
      </a:folHlink>
    </a:clrScheme>
    <a:fontScheme name="1_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0000"/>
        </a:dk1>
        <a:lt1>
          <a:srgbClr val="FFFFFF"/>
        </a:lt1>
        <a:dk2>
          <a:srgbClr val="000099"/>
        </a:dk2>
        <a:lt2>
          <a:srgbClr val="000000"/>
        </a:lt2>
        <a:accent1>
          <a:srgbClr val="CCECFF"/>
        </a:accent1>
        <a:accent2>
          <a:srgbClr val="FE9B03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68C02"/>
        </a:accent6>
        <a:hlink>
          <a:srgbClr val="114FFB"/>
        </a:hlink>
        <a:folHlink>
          <a:srgbClr val="23232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efault Design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Default Design">
  <a:themeElements>
    <a:clrScheme name="1_Default Design 8">
      <a:dk1>
        <a:srgbClr val="000000"/>
      </a:dk1>
      <a:lt1>
        <a:srgbClr val="FFFFFF"/>
      </a:lt1>
      <a:dk2>
        <a:srgbClr val="000099"/>
      </a:dk2>
      <a:lt2>
        <a:srgbClr val="000000"/>
      </a:lt2>
      <a:accent1>
        <a:srgbClr val="CCECFF"/>
      </a:accent1>
      <a:accent2>
        <a:srgbClr val="FE9B03"/>
      </a:accent2>
      <a:accent3>
        <a:srgbClr val="FFFFFF"/>
      </a:accent3>
      <a:accent4>
        <a:srgbClr val="000000"/>
      </a:accent4>
      <a:accent5>
        <a:srgbClr val="E2F4FF"/>
      </a:accent5>
      <a:accent6>
        <a:srgbClr val="E68C02"/>
      </a:accent6>
      <a:hlink>
        <a:srgbClr val="114FFB"/>
      </a:hlink>
      <a:folHlink>
        <a:srgbClr val="232323"/>
      </a:folHlink>
    </a:clrScheme>
    <a:fontScheme name="1_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0000"/>
        </a:dk1>
        <a:lt1>
          <a:srgbClr val="FFFFFF"/>
        </a:lt1>
        <a:dk2>
          <a:srgbClr val="000099"/>
        </a:dk2>
        <a:lt2>
          <a:srgbClr val="000000"/>
        </a:lt2>
        <a:accent1>
          <a:srgbClr val="CCECFF"/>
        </a:accent1>
        <a:accent2>
          <a:srgbClr val="FE9B03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68C02"/>
        </a:accent6>
        <a:hlink>
          <a:srgbClr val="114FFB"/>
        </a:hlink>
        <a:folHlink>
          <a:srgbClr val="23232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8683</Words>
  <Application>Microsoft Office PowerPoint</Application>
  <PresentationFormat>全屏显示(4:3)</PresentationFormat>
  <Paragraphs>299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等线</vt:lpstr>
      <vt:lpstr>等线 Light</vt:lpstr>
      <vt:lpstr>宋体</vt:lpstr>
      <vt:lpstr>Arial</vt:lpstr>
      <vt:lpstr>Berlin Sans FB</vt:lpstr>
      <vt:lpstr>Calibri</vt:lpstr>
      <vt:lpstr>Calibri Light</vt:lpstr>
      <vt:lpstr>Cambria Math</vt:lpstr>
      <vt:lpstr>Symbol</vt:lpstr>
      <vt:lpstr>Times New Roman</vt:lpstr>
      <vt:lpstr>Wingdings</vt:lpstr>
      <vt:lpstr>1_Default Design</vt:lpstr>
      <vt:lpstr>2_Default Design</vt:lpstr>
      <vt:lpstr>3_Default Design</vt:lpstr>
      <vt:lpstr>Intelligent Optimization in Chemical Engineering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  <vt:lpstr>Optimization algorithm for multi-variables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algorithm for multivariables</dc:title>
  <dc:creator>chou</dc:creator>
  <cp:lastModifiedBy>win10-s</cp:lastModifiedBy>
  <cp:revision>25</cp:revision>
  <dcterms:created xsi:type="dcterms:W3CDTF">2024-10-26T03:04:10Z</dcterms:created>
  <dcterms:modified xsi:type="dcterms:W3CDTF">2024-10-30T09:31:36Z</dcterms:modified>
</cp:coreProperties>
</file>