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438" r:id="rId2"/>
    <p:sldId id="440" r:id="rId3"/>
    <p:sldId id="588" r:id="rId4"/>
    <p:sldId id="589" r:id="rId5"/>
    <p:sldId id="590" r:id="rId6"/>
    <p:sldId id="591" r:id="rId7"/>
    <p:sldId id="592" r:id="rId8"/>
    <p:sldId id="593" r:id="rId9"/>
    <p:sldId id="594" r:id="rId10"/>
    <p:sldId id="595" r:id="rId11"/>
    <p:sldId id="596" r:id="rId12"/>
    <p:sldId id="597" r:id="rId13"/>
    <p:sldId id="598" r:id="rId14"/>
    <p:sldId id="599" r:id="rId15"/>
    <p:sldId id="600" r:id="rId16"/>
    <p:sldId id="601" r:id="rId17"/>
    <p:sldId id="602" r:id="rId18"/>
    <p:sldId id="603" r:id="rId19"/>
    <p:sldId id="604" r:id="rId20"/>
    <p:sldId id="605" r:id="rId21"/>
    <p:sldId id="606" r:id="rId22"/>
    <p:sldId id="607" r:id="rId23"/>
    <p:sldId id="608" r:id="rId24"/>
    <p:sldId id="609" r:id="rId25"/>
    <p:sldId id="610" r:id="rId26"/>
    <p:sldId id="611" r:id="rId27"/>
    <p:sldId id="612" r:id="rId28"/>
    <p:sldId id="613" r:id="rId29"/>
    <p:sldId id="614" r:id="rId30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Berlin Sans FB" panose="020E0602020502020306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2">
          <p15:clr>
            <a:srgbClr val="A4A3A4"/>
          </p15:clr>
        </p15:guide>
        <p15:guide id="2" pos="39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TLUser" initials="" lastIdx="1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CC66"/>
    <a:srgbClr val="FFA7A7"/>
    <a:srgbClr val="00CC66"/>
    <a:srgbClr val="3399FF"/>
    <a:srgbClr val="00CC99"/>
    <a:srgbClr val="FFFF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6750" autoAdjust="0"/>
  </p:normalViewPr>
  <p:slideViewPr>
    <p:cSldViewPr>
      <p:cViewPr varScale="1">
        <p:scale>
          <a:sx n="114" d="100"/>
          <a:sy n="114" d="100"/>
        </p:scale>
        <p:origin x="1632" y="96"/>
      </p:cViewPr>
      <p:guideLst>
        <p:guide orient="horz" pos="1632"/>
        <p:guide pos="39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13470"/>
    </p:cViewPr>
  </p:sorterViewPr>
  <p:notesViewPr>
    <p:cSldViewPr>
      <p:cViewPr varScale="1">
        <p:scale>
          <a:sx n="87" d="100"/>
          <a:sy n="87" d="100"/>
        </p:scale>
        <p:origin x="3822" y="72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1" cy="4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t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148" y="1"/>
            <a:ext cx="2945971" cy="4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079"/>
            <a:ext cx="2945971" cy="4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b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148" y="9429079"/>
            <a:ext cx="2945971" cy="4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1B1C15B1-F44C-4710-AD60-4A92BFA162BF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1" cy="4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t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148" y="1"/>
            <a:ext cx="2945971" cy="4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2950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79" y="4716250"/>
            <a:ext cx="5437518" cy="4468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079"/>
            <a:ext cx="2945971" cy="4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b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148" y="9429079"/>
            <a:ext cx="2945971" cy="4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1" tIns="46151" rIns="92301" bIns="46151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736413A6-4F60-47B1-A55C-58A8940BFB9A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D9ADC2-BF61-4E41-B4B3-FF2C2C088943}" type="slidenum">
              <a:rPr lang="en-US" altLang="zh-CN"/>
              <a:pPr/>
              <a:t>1</a:t>
            </a:fld>
            <a:endParaRPr lang="en-US" altLang="zh-CN" dirty="0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417638" y="1119188"/>
            <a:ext cx="3965575" cy="29749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5734" y="4716249"/>
            <a:ext cx="4986207" cy="446496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580" tIns="45290" rIns="90580" bIns="4529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2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3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751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893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66534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5083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67729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8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64610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9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15460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10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75941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ABB64-8532-453C-9A1E-FB64621C591E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11276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55798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35618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2372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10174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2681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4288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6903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7779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8252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542764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861071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60604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3138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317039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188906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7540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9353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223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4ABB64-8532-453C-9A1E-FB64621C59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223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66553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38150" y="5472113"/>
            <a:ext cx="8258175" cy="4699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F91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438150" y="315913"/>
            <a:ext cx="8259763" cy="936625"/>
          </a:xfrm>
          <a:prstGeom prst="rect">
            <a:avLst/>
          </a:prstGeom>
          <a:gradFill rotWithShape="0">
            <a:gsLst>
              <a:gs pos="0">
                <a:srgbClr val="81B7F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201613"/>
            <a:ext cx="7772400" cy="1143000"/>
          </a:xfrm>
        </p:spPr>
        <p:txBody>
          <a:bodyPr/>
          <a:lstStyle>
            <a:lvl1pPr>
              <a:defRPr sz="33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918075" y="2344738"/>
            <a:ext cx="4043363" cy="2260600"/>
          </a:xfrm>
        </p:spPr>
        <p:txBody>
          <a:bodyPr/>
          <a:lstStyle>
            <a:lvl1pPr marL="0" indent="0">
              <a:spcBef>
                <a:spcPct val="0"/>
              </a:spcBef>
              <a:buFont typeface="Symbol" panose="05050102010706020507" pitchFamily="18" charset="2"/>
              <a:buNone/>
              <a:defRPr i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zh-CN" noProof="0" dirty="0"/>
              <a:t>Click to edit Master </a:t>
            </a:r>
          </a:p>
          <a:p>
            <a:pPr lvl="0"/>
            <a:r>
              <a:rPr lang="en-US" altLang="zh-CN" noProof="0" dirty="0"/>
              <a:t>subtitle style</a:t>
            </a:r>
          </a:p>
          <a:p>
            <a:pPr lvl="0"/>
            <a:endParaRPr lang="en-US" altLang="zh-CN" noProof="0" dirty="0"/>
          </a:p>
          <a:p>
            <a:pPr lvl="0"/>
            <a:r>
              <a:rPr lang="en-US" altLang="zh-CN" noProof="0" dirty="0"/>
              <a:t>2019/7/30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096000"/>
            <a:ext cx="650240" cy="6502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387344-AB9B-4603-98A5-FF68E70200D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4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2813" y="1524000"/>
            <a:ext cx="3535362" cy="4343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0575" y="1524000"/>
            <a:ext cx="3535363" cy="4343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24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52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5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34138" y="304800"/>
            <a:ext cx="1908175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06438" y="304800"/>
            <a:ext cx="5575300" cy="5562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28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438" y="304800"/>
            <a:ext cx="7635875" cy="908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813" y="1524000"/>
            <a:ext cx="7223125" cy="4343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119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06438" y="304800"/>
            <a:ext cx="7635875" cy="5562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64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438" y="304800"/>
            <a:ext cx="7635875" cy="908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12813" y="1524000"/>
            <a:ext cx="7223125" cy="4343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7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06438" y="304800"/>
            <a:ext cx="7635875" cy="9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927" tIns="38889" rIns="75927" bIns="388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1524000"/>
            <a:ext cx="722312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927" tIns="38889" rIns="75927" bIns="388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66713" y="6335713"/>
            <a:ext cx="8408987" cy="793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F91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r>
              <a:rPr lang="en-US" altLang="zh-CN" dirty="0"/>
              <a:t>‹#›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5" r="13433"/>
          <a:stretch/>
        </p:blipFill>
        <p:spPr>
          <a:xfrm>
            <a:off x="8458200" y="102498"/>
            <a:ext cx="670561" cy="6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hdr="0" ftr="0"/>
  <p:txStyles>
    <p:titleStyle>
      <a:lvl1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000099"/>
          </a:solidFill>
          <a:latin typeface="+mj-lt"/>
          <a:ea typeface="+mj-ea"/>
          <a:cs typeface="+mj-cs"/>
        </a:defRPr>
      </a:lvl1pPr>
      <a:lvl2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2pPr>
      <a:lvl3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3pPr>
      <a:lvl4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4pPr>
      <a:lvl5pPr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5pPr>
      <a:lvl6pPr marL="4572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6pPr>
      <a:lvl7pPr marL="9144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7pPr>
      <a:lvl8pPr marL="13716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8pPr>
      <a:lvl9pPr marL="1828800" algn="ctr" defTabSz="758825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0099"/>
          </a:solidFill>
          <a:latin typeface="Times New Roman" panose="02020603050405020304" pitchFamily="18" charset="0"/>
        </a:defRPr>
      </a:lvl9pPr>
    </p:titleStyle>
    <p:bodyStyle>
      <a:lvl1pPr marL="285750" indent="-285750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90000"/>
        <a:buFont typeface="Symbol" panose="05050102010706020507" pitchFamily="18" charset="2"/>
        <a:buChar char="·"/>
        <a:defRPr sz="2400" b="1" kern="1200">
          <a:solidFill>
            <a:schemeClr val="folHlink"/>
          </a:solidFill>
          <a:latin typeface="+mn-lt"/>
          <a:ea typeface="+mn-ea"/>
          <a:cs typeface="+mn-cs"/>
        </a:defRPr>
      </a:lvl1pPr>
      <a:lvl2pPr marL="595313" indent="-195263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100000"/>
        <a:buFont typeface="Symbol" panose="05050102010706020507" pitchFamily="18" charset="2"/>
        <a:buChar char="-"/>
        <a:defRPr sz="2200" kern="1200">
          <a:solidFill>
            <a:schemeClr val="folHlink"/>
          </a:solidFill>
          <a:latin typeface="+mn-lt"/>
          <a:ea typeface="+mn-ea"/>
          <a:cs typeface="+mn-cs"/>
        </a:defRPr>
      </a:lvl2pPr>
      <a:lvl3pPr marL="896938" indent="-187325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2100" kern="1200">
          <a:solidFill>
            <a:schemeClr val="folHlink"/>
          </a:solidFill>
          <a:latin typeface="+mn-lt"/>
          <a:ea typeface="+mn-ea"/>
          <a:cs typeface="+mn-cs"/>
        </a:defRPr>
      </a:lvl3pPr>
      <a:lvl4pPr marL="1200150" indent="-188913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1900" kern="1200">
          <a:solidFill>
            <a:schemeClr val="folHlink"/>
          </a:solidFill>
          <a:latin typeface="+mn-lt"/>
          <a:ea typeface="+mn-ea"/>
          <a:cs typeface="+mn-cs"/>
        </a:defRPr>
      </a:lvl4pPr>
      <a:lvl5pPr marL="1506538" indent="-192088" algn="l" defTabSz="758825" rtl="0" fontAlgn="base">
        <a:spcBef>
          <a:spcPct val="20000"/>
        </a:spcBef>
        <a:spcAft>
          <a:spcPct val="0"/>
        </a:spcAft>
        <a:buClr>
          <a:srgbClr val="000099"/>
        </a:buClr>
        <a:buSzPct val="75000"/>
        <a:buFont typeface="Symbol" panose="05050102010706020507" pitchFamily="18" charset="2"/>
        <a:buChar char="·"/>
        <a:defRPr sz="1900" kern="1200">
          <a:solidFill>
            <a:schemeClr val="folHlink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cezhouh@xmu.edu.c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258" name="Picture 1026" descr="sq_glob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75" y="1339850"/>
            <a:ext cx="3986213" cy="398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2259" name="Rectangle 102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Intelligent Optimization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 Chemical Engineering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864190" y="2438400"/>
            <a:ext cx="4043363" cy="1785938"/>
          </a:xfrm>
        </p:spPr>
        <p:txBody>
          <a:bodyPr/>
          <a:lstStyle/>
          <a:p>
            <a:pPr algn="ctr">
              <a:spcBef>
                <a:spcPts val="6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Hua Zhou</a:t>
            </a:r>
          </a:p>
          <a:p>
            <a:pPr>
              <a:spcBef>
                <a:spcPts val="60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hlinkClick r:id="rId4"/>
              </a:rPr>
              <a:t>cezhouh@xmu.edu.cn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spcBef>
                <a:spcPts val="600"/>
              </a:spcBef>
            </a:pPr>
            <a:fld id="{52176BCB-EC55-4402-A00C-2F8CEE2E060D}" type="datetime1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pPr algn="ctr">
                <a:spcBef>
                  <a:spcPts val="600"/>
                </a:spcBef>
              </a:pPr>
              <a:t>11/20/2024</a:t>
            </a:fld>
            <a:endParaRPr lang="zh-CN" altLang="en-US" dirty="0"/>
          </a:p>
        </p:txBody>
      </p:sp>
      <p:sp>
        <p:nvSpPr>
          <p:cNvPr id="352260" name="Line 1028"/>
          <p:cNvSpPr>
            <a:spLocks noChangeShapeType="1"/>
          </p:cNvSpPr>
          <p:nvPr/>
        </p:nvSpPr>
        <p:spPr bwMode="auto">
          <a:xfrm>
            <a:off x="4533900" y="3335338"/>
            <a:ext cx="3646488" cy="0"/>
          </a:xfrm>
          <a:prstGeom prst="line">
            <a:avLst/>
          </a:prstGeom>
          <a:noFill/>
          <a:ln w="20955">
            <a:solidFill>
              <a:srgbClr val="9698A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1" name="Text Box 1029"/>
          <p:cNvSpPr txBox="1">
            <a:spLocks noChangeArrowheads="1"/>
          </p:cNvSpPr>
          <p:nvPr/>
        </p:nvSpPr>
        <p:spPr bwMode="auto">
          <a:xfrm>
            <a:off x="2785861" y="5538377"/>
            <a:ext cx="47692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College of Chemistry &amp; Chemical Engineering</a:t>
            </a:r>
          </a:p>
        </p:txBody>
      </p:sp>
      <p:sp>
        <p:nvSpPr>
          <p:cNvPr id="352262" name="Rectangle 1030"/>
          <p:cNvSpPr>
            <a:spLocks noChangeArrowheads="1"/>
          </p:cNvSpPr>
          <p:nvPr/>
        </p:nvSpPr>
        <p:spPr bwMode="auto">
          <a:xfrm>
            <a:off x="4529138" y="2254250"/>
            <a:ext cx="4043362" cy="226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5927" tIns="38889" rIns="75927" bIns="38889"/>
          <a:lstStyle>
            <a:lvl1pPr defTabSz="758825">
              <a:buClr>
                <a:srgbClr val="000099"/>
              </a:buClr>
              <a:buSzPct val="90000"/>
              <a:buFont typeface="Symbol" panose="05050102010706020507" pitchFamily="18" charset="2"/>
              <a:defRPr sz="2400" b="1" i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400050" algn="ctr" defTabSz="758825">
              <a:spcBef>
                <a:spcPct val="20000"/>
              </a:spcBef>
              <a:buClr>
                <a:srgbClr val="000099"/>
              </a:buClr>
              <a:buSzPct val="100000"/>
              <a:buFont typeface="Symbol" panose="05050102010706020507" pitchFamily="18" charset="2"/>
              <a:defRPr sz="2200">
                <a:solidFill>
                  <a:schemeClr val="folHlink"/>
                </a:solidFill>
                <a:latin typeface="Arial" panose="020B0604020202020204" pitchFamily="34" charset="0"/>
              </a:defRPr>
            </a:lvl2pPr>
            <a:lvl3pPr marL="709613" algn="ctr" defTabSz="758825">
              <a:spcBef>
                <a:spcPct val="20000"/>
              </a:spcBef>
              <a:buClr>
                <a:srgbClr val="000099"/>
              </a:buClr>
              <a:buSzPct val="75000"/>
              <a:buFont typeface="Symbol" panose="05050102010706020507" pitchFamily="18" charset="2"/>
              <a:defRPr sz="2100">
                <a:solidFill>
                  <a:schemeClr val="folHlink"/>
                </a:solidFill>
                <a:latin typeface="Arial" panose="020B0604020202020204" pitchFamily="34" charset="0"/>
              </a:defRPr>
            </a:lvl3pPr>
            <a:lvl4pPr marL="1011238" algn="ctr" defTabSz="758825">
              <a:spcBef>
                <a:spcPct val="20000"/>
              </a:spcBef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4pPr>
            <a:lvl5pPr marL="1314450" algn="ctr" defTabSz="758825">
              <a:spcBef>
                <a:spcPct val="20000"/>
              </a:spcBef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5pPr>
            <a:lvl6pPr marL="1771650" algn="ctr" defTabSz="758825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6pPr>
            <a:lvl7pPr marL="2228850" algn="ctr" defTabSz="758825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7pPr>
            <a:lvl8pPr marL="2686050" algn="ctr" defTabSz="758825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8pPr>
            <a:lvl9pPr marL="3143250" algn="ctr" defTabSz="758825" fontAlgn="base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Symbol" panose="05050102010706020507" pitchFamily="18" charset="2"/>
              <a:defRPr sz="1900">
                <a:solidFill>
                  <a:schemeClr val="folHlink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i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9144000" cy="523875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Case 1</a:t>
                </a:r>
              </a:p>
              <a:p>
                <a:pPr marL="400050" lvl="1" indent="0">
                  <a:lnSpc>
                    <a:spcPct val="150000"/>
                  </a:lnSpc>
                  <a:buNone/>
                </a:pPr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利用吉利兰关联图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拟合得到数学模型</a:t>
                </a:r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图</a:t>
                </a:r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横坐标为自变量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，纵坐标为因变量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关联图上</a:t>
                </a:r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取若干个点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，每一个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均有一个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与之对应，数据如表所示。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9144000" cy="5238750"/>
              </a:xfrm>
              <a:blipFill>
                <a:blip r:embed="rId3"/>
                <a:stretch>
                  <a:fillRect t="-1513" r="-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E3AE1675-99CF-4AE0-BA60-504A1F03B4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6104190"/>
                  </p:ext>
                </p:extLst>
              </p:nvPr>
            </p:nvGraphicFramePr>
            <p:xfrm>
              <a:off x="688961" y="3368040"/>
              <a:ext cx="8208962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67819">
                      <a:extLst>
                        <a:ext uri="{9D8B030D-6E8A-4147-A177-3AD203B41FA5}">
                          <a16:colId xmlns:a16="http://schemas.microsoft.com/office/drawing/2014/main" val="2155426626"/>
                        </a:ext>
                      </a:extLst>
                    </a:gridCol>
                    <a:gridCol w="1367819">
                      <a:extLst>
                        <a:ext uri="{9D8B030D-6E8A-4147-A177-3AD203B41FA5}">
                          <a16:colId xmlns:a16="http://schemas.microsoft.com/office/drawing/2014/main" val="3437075587"/>
                        </a:ext>
                      </a:extLst>
                    </a:gridCol>
                    <a:gridCol w="1368843">
                      <a:extLst>
                        <a:ext uri="{9D8B030D-6E8A-4147-A177-3AD203B41FA5}">
                          <a16:colId xmlns:a16="http://schemas.microsoft.com/office/drawing/2014/main" val="4079639601"/>
                        </a:ext>
                      </a:extLst>
                    </a:gridCol>
                    <a:gridCol w="1367819">
                      <a:extLst>
                        <a:ext uri="{9D8B030D-6E8A-4147-A177-3AD203B41FA5}">
                          <a16:colId xmlns:a16="http://schemas.microsoft.com/office/drawing/2014/main" val="1869535961"/>
                        </a:ext>
                      </a:extLst>
                    </a:gridCol>
                    <a:gridCol w="1367819">
                      <a:extLst>
                        <a:ext uri="{9D8B030D-6E8A-4147-A177-3AD203B41FA5}">
                          <a16:colId xmlns:a16="http://schemas.microsoft.com/office/drawing/2014/main" val="409321070"/>
                        </a:ext>
                      </a:extLst>
                    </a:gridCol>
                    <a:gridCol w="1368843">
                      <a:extLst>
                        <a:ext uri="{9D8B030D-6E8A-4147-A177-3AD203B41FA5}">
                          <a16:colId xmlns:a16="http://schemas.microsoft.com/office/drawing/2014/main" val="84566533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850140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928079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80476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95062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14353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5992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E3AE1675-99CF-4AE0-BA60-504A1F03B4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6104190"/>
                  </p:ext>
                </p:extLst>
              </p:nvPr>
            </p:nvGraphicFramePr>
            <p:xfrm>
              <a:off x="688961" y="3368040"/>
              <a:ext cx="8208962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67819">
                      <a:extLst>
                        <a:ext uri="{9D8B030D-6E8A-4147-A177-3AD203B41FA5}">
                          <a16:colId xmlns:a16="http://schemas.microsoft.com/office/drawing/2014/main" val="2155426626"/>
                        </a:ext>
                      </a:extLst>
                    </a:gridCol>
                    <a:gridCol w="1367819">
                      <a:extLst>
                        <a:ext uri="{9D8B030D-6E8A-4147-A177-3AD203B41FA5}">
                          <a16:colId xmlns:a16="http://schemas.microsoft.com/office/drawing/2014/main" val="3437075587"/>
                        </a:ext>
                      </a:extLst>
                    </a:gridCol>
                    <a:gridCol w="1368843">
                      <a:extLst>
                        <a:ext uri="{9D8B030D-6E8A-4147-A177-3AD203B41FA5}">
                          <a16:colId xmlns:a16="http://schemas.microsoft.com/office/drawing/2014/main" val="4079639601"/>
                        </a:ext>
                      </a:extLst>
                    </a:gridCol>
                    <a:gridCol w="1367819">
                      <a:extLst>
                        <a:ext uri="{9D8B030D-6E8A-4147-A177-3AD203B41FA5}">
                          <a16:colId xmlns:a16="http://schemas.microsoft.com/office/drawing/2014/main" val="1869535961"/>
                        </a:ext>
                      </a:extLst>
                    </a:gridCol>
                    <a:gridCol w="1367819">
                      <a:extLst>
                        <a:ext uri="{9D8B030D-6E8A-4147-A177-3AD203B41FA5}">
                          <a16:colId xmlns:a16="http://schemas.microsoft.com/office/drawing/2014/main" val="409321070"/>
                        </a:ext>
                      </a:extLst>
                    </a:gridCol>
                    <a:gridCol w="1368843">
                      <a:extLst>
                        <a:ext uri="{9D8B030D-6E8A-4147-A177-3AD203B41FA5}">
                          <a16:colId xmlns:a16="http://schemas.microsoft.com/office/drawing/2014/main" val="84566533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667" r="-501786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9556" t="-1667" r="-399556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9556" t="-1667" r="-299556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893" t="-1667" r="-200893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893" t="-1667" r="-100893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8667" t="-1667" r="-444" b="-5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0140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9280795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80476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950623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614353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59925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4343399" cy="4343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Case 1</a:t>
                </a:r>
              </a:p>
              <a:p>
                <a:pPr marL="0" indent="0">
                  <a:buNone/>
                </a:pPr>
                <a:r>
                  <a:rPr lang="en-US" altLang="zh-CN" b="0" dirty="0">
                    <a:latin typeface="+mj-ea"/>
                    <a:ea typeface="+mj-ea"/>
                  </a:rPr>
                  <a:t>Gilliland</a:t>
                </a:r>
                <a:r>
                  <a:rPr lang="zh-CN" altLang="zh-CN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关联图曲线的数学函数模型为幂函数形式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CN" altLang="zh-CN" dirty="0"/>
              </a:p>
              <a:p>
                <a:pPr marL="0" indent="0" algn="just">
                  <a:buNone/>
                </a:pPr>
                <a:r>
                  <a:rPr lang="zh-CN" altLang="zh-CN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=1,2,⋯,10</m:t>
                        </m:r>
                      </m:e>
                    </m:d>
                  </m:oMath>
                </a14:m>
                <a:r>
                  <a:rPr lang="zh-CN" altLang="zh-CN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代入上式，则有计算值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d>
                      <m:d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=1,2,⋯,10</m:t>
                        </m:r>
                      </m:e>
                    </m:d>
                  </m:oMath>
                </a14:m>
                <a:r>
                  <a:rPr lang="zh-CN" altLang="zh-CN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与之对应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𝑏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zh-CN" dirty="0"/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4343399" cy="4343400"/>
              </a:xfrm>
              <a:blipFill>
                <a:blip r:embed="rId3"/>
                <a:stretch>
                  <a:fillRect l="-2528" t="-1823" r="-26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F8C5B8-445A-4E52-A04C-C10A7CDC8A0F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2" t="8577" r="17439" b="5658"/>
          <a:stretch/>
        </p:blipFill>
        <p:spPr>
          <a:xfrm>
            <a:off x="4343399" y="762000"/>
            <a:ext cx="4800601" cy="365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A756A32-503B-4BC6-BB14-85F8C5B48D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4194" y="4959350"/>
                <a:ext cx="9144000" cy="1517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75927" tIns="38889" rIns="75927" bIns="38889" numCol="1" anchor="t" anchorCtr="0" compatLnSpc="1">
                <a:prstTxWarp prst="textNoShape">
                  <a:avLst/>
                </a:prstTxWarp>
              </a:bodyPr>
              <a:lstStyle>
                <a:lvl1pPr marL="285750" indent="-285750" algn="l" defTabSz="758825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90000"/>
                  <a:buFont typeface="Symbol" panose="05050102010706020507" pitchFamily="18" charset="2"/>
                  <a:buChar char="·"/>
                  <a:defRPr sz="2400" b="1" kern="1200">
                    <a:solidFill>
                      <a:schemeClr val="folHlink"/>
                    </a:solidFill>
                    <a:latin typeface="+mn-lt"/>
                    <a:ea typeface="+mn-ea"/>
                    <a:cs typeface="+mn-cs"/>
                  </a:defRPr>
                </a:lvl1pPr>
                <a:lvl2pPr marL="595313" indent="-195263" algn="l" defTabSz="758825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Symbol" panose="05050102010706020507" pitchFamily="18" charset="2"/>
                  <a:buChar char="-"/>
                  <a:defRPr sz="2200" kern="1200">
                    <a:solidFill>
                      <a:schemeClr val="folHlink"/>
                    </a:solidFill>
                    <a:latin typeface="+mn-lt"/>
                    <a:ea typeface="+mn-ea"/>
                    <a:cs typeface="+mn-cs"/>
                  </a:defRPr>
                </a:lvl2pPr>
                <a:lvl3pPr marL="896938" indent="-187325" algn="l" defTabSz="758825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5000"/>
                  <a:buFont typeface="Symbol" panose="05050102010706020507" pitchFamily="18" charset="2"/>
                  <a:buChar char="·"/>
                  <a:defRPr sz="2100" kern="1200">
                    <a:solidFill>
                      <a:schemeClr val="folHlink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88913" algn="l" defTabSz="758825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5000"/>
                  <a:buFont typeface="Symbol" panose="05050102010706020507" pitchFamily="18" charset="2"/>
                  <a:buChar char="·"/>
                  <a:defRPr sz="1900" kern="1200">
                    <a:solidFill>
                      <a:schemeClr val="folHlink"/>
                    </a:solidFill>
                    <a:latin typeface="+mn-lt"/>
                    <a:ea typeface="+mn-ea"/>
                    <a:cs typeface="+mn-cs"/>
                  </a:defRPr>
                </a:lvl4pPr>
                <a:lvl5pPr marL="1506538" indent="-192088" algn="l" defTabSz="758825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5000"/>
                  <a:buFont typeface="Symbol" panose="05050102010706020507" pitchFamily="18" charset="2"/>
                  <a:buChar char="·"/>
                  <a:defRPr sz="1900" kern="1200">
                    <a:solidFill>
                      <a:schemeClr val="folHlink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确定参数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可得到相应的模型，为了确保拟合的函数即数学模型能更好的反映实验数据，设计一个平方和函数来评价该拟合函数，即将计算值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=1,2,⋯,10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与实验值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=1,2,⋯,10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相减的平方和作为评价指标，即</a:t>
                </a:r>
                <a:endParaRPr lang="zh-CN" altLang="zh-CN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Font typeface="Symbol" panose="05050102010706020507" pitchFamily="18" charset="2"/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A756A32-503B-4BC6-BB14-85F8C5B48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4194" y="4959350"/>
                <a:ext cx="9144000" cy="1517650"/>
              </a:xfrm>
              <a:prstGeom prst="rect">
                <a:avLst/>
              </a:prstGeom>
              <a:blipFill>
                <a:blip r:embed="rId5"/>
                <a:stretch>
                  <a:fillRect l="-1200" t="-4016" r="-2867" b="-108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60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609600"/>
                <a:ext cx="8991600" cy="6248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Case 1</a:t>
                </a:r>
              </a:p>
              <a:p>
                <a:pPr marL="40005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p>
                                  </m:sSubSup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10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 algn="just">
                  <a:lnSpc>
                    <a:spcPct val="150000"/>
                  </a:lnSpc>
                  <a:buNone/>
                </a:pPr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式中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=1,2,⋯,10</m:t>
                        </m:r>
                      </m:e>
                    </m:d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已知，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为待定参数，</a:t>
                </a:r>
                <a:r>
                  <a:rPr lang="zh-CN" altLang="en-US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其</a:t>
                </a:r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值不同所对应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zh-CN" altLang="en-US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不同，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实际上为三个变量的函数，可记为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，参数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时满足</a:t>
                </a:r>
                <a:endParaRPr lang="zh-CN" altLang="zh-CN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  <m:r>
                                        <a:rPr lang="en-US" altLang="zh-CN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150000"/>
                  </a:lnSpc>
                  <a:buNone/>
                </a:pPr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时，可认为所得到的数学模型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sSup>
                          <m:sSup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与实验数据拟合</a:t>
                </a:r>
                <a:r>
                  <a:rPr lang="zh-CN" altLang="en-US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效果</a:t>
                </a:r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最好。</a:t>
                </a:r>
                <a:endParaRPr lang="zh-CN" altLang="zh-CN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609600"/>
                <a:ext cx="8991600" cy="6248400"/>
              </a:xfrm>
              <a:blipFill>
                <a:blip r:embed="rId3"/>
                <a:stretch>
                  <a:fillRect t="-1268" r="-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741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Case 2</a:t>
                </a:r>
              </a:p>
              <a:p>
                <a:pPr marL="400050" lvl="1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某等温积分反应器的反应动力学实验测得某化学反应方程式为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box>
                        <m:box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→"/>
                              <m:vertJc m:val="bot"/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CN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groupChr>
                        </m:e>
                      </m:box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CN" altLang="zh-CN" sz="22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=0,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，因此描述反应器出口反应物浓度的变化方程只需</a:t>
                </a:r>
                <a:r>
                  <a:rPr lang="en-US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个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1800" dirty="0"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上述方程中自变量为</a:t>
                </a:r>
                <a14:m>
                  <m:oMath xmlns:m="http://schemas.openxmlformats.org/officeDocument/2006/math"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，因变量为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为待定参数。由实验测得的实验数据见下表</a:t>
                </a:r>
                <a:endParaRPr lang="en-US" altLang="zh-CN" sz="22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  <a:blipFill>
                <a:blip r:embed="rId3"/>
                <a:stretch>
                  <a:fillRect l="-1067" t="-1268" r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617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Case 2</a:t>
                </a: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=15</m:t>
                    </m:r>
                  </m:oMath>
                </a14:m>
                <a:r>
                  <a:rPr lang="zh-CN" altLang="zh-CN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时，重复实验测得数据如下</a:t>
                </a: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  <a:blipFill>
                <a:blip r:embed="rId3"/>
                <a:stretch>
                  <a:fillRect t="-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E596739-B058-4682-8174-343042BEE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3087381"/>
                  </p:ext>
                </p:extLst>
              </p:nvPr>
            </p:nvGraphicFramePr>
            <p:xfrm>
              <a:off x="152400" y="1143000"/>
              <a:ext cx="8839200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04634">
                      <a:extLst>
                        <a:ext uri="{9D8B030D-6E8A-4147-A177-3AD203B41FA5}">
                          <a16:colId xmlns:a16="http://schemas.microsoft.com/office/drawing/2014/main" val="649131274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368067073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2912708860"/>
                        </a:ext>
                      </a:extLst>
                    </a:gridCol>
                    <a:gridCol w="1105698">
                      <a:extLst>
                        <a:ext uri="{9D8B030D-6E8A-4147-A177-3AD203B41FA5}">
                          <a16:colId xmlns:a16="http://schemas.microsoft.com/office/drawing/2014/main" val="3354957666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745341534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2179596122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2348677870"/>
                        </a:ext>
                      </a:extLst>
                    </a:gridCol>
                    <a:gridCol w="1105698">
                      <a:extLst>
                        <a:ext uri="{9D8B030D-6E8A-4147-A177-3AD203B41FA5}">
                          <a16:colId xmlns:a16="http://schemas.microsoft.com/office/drawing/2014/main" val="94401907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811410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0.137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0.571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60633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0.840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0.155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80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0.502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522842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0.679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0.327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0.006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0.385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5757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0.503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0.426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0.145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55078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0.425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0.477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74639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E596739-B058-4682-8174-343042BEE3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3087381"/>
                  </p:ext>
                </p:extLst>
              </p:nvPr>
            </p:nvGraphicFramePr>
            <p:xfrm>
              <a:off x="152400" y="1143000"/>
              <a:ext cx="8839200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04634">
                      <a:extLst>
                        <a:ext uri="{9D8B030D-6E8A-4147-A177-3AD203B41FA5}">
                          <a16:colId xmlns:a16="http://schemas.microsoft.com/office/drawing/2014/main" val="649131274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368067073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2912708860"/>
                        </a:ext>
                      </a:extLst>
                    </a:gridCol>
                    <a:gridCol w="1105698">
                      <a:extLst>
                        <a:ext uri="{9D8B030D-6E8A-4147-A177-3AD203B41FA5}">
                          <a16:colId xmlns:a16="http://schemas.microsoft.com/office/drawing/2014/main" val="3354957666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745341534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2179596122"/>
                        </a:ext>
                      </a:extLst>
                    </a:gridCol>
                    <a:gridCol w="1104634">
                      <a:extLst>
                        <a:ext uri="{9D8B030D-6E8A-4147-A177-3AD203B41FA5}">
                          <a16:colId xmlns:a16="http://schemas.microsoft.com/office/drawing/2014/main" val="2348677870"/>
                        </a:ext>
                      </a:extLst>
                    </a:gridCol>
                    <a:gridCol w="1105698">
                      <a:extLst>
                        <a:ext uri="{9D8B030D-6E8A-4147-A177-3AD203B41FA5}">
                          <a16:colId xmlns:a16="http://schemas.microsoft.com/office/drawing/2014/main" val="94401907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667" r="-702210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667" r="-602210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8901" t="-1667" r="-498901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552" t="-1667" r="-401657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552" t="-1667" r="-301657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0552" t="-1667" r="-201657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7253" t="-1667" r="-100549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1105" t="-1667" r="-1105" b="-5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114102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0.137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0.571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60633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0.840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0.155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80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0.502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522842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0.679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0.327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0.006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0.385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5757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0.503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0.426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0.145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5507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0.425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0.477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74639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8C41E170-9DBC-4A84-A6E5-44EE04A4AB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2985593"/>
                  </p:ext>
                </p:extLst>
              </p:nvPr>
            </p:nvGraphicFramePr>
            <p:xfrm>
              <a:off x="2133600" y="4038600"/>
              <a:ext cx="5638800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78394">
                      <a:extLst>
                        <a:ext uri="{9D8B030D-6E8A-4147-A177-3AD203B41FA5}">
                          <a16:colId xmlns:a16="http://schemas.microsoft.com/office/drawing/2014/main" val="2662532555"/>
                        </a:ext>
                      </a:extLst>
                    </a:gridCol>
                    <a:gridCol w="1880203">
                      <a:extLst>
                        <a:ext uri="{9D8B030D-6E8A-4147-A177-3AD203B41FA5}">
                          <a16:colId xmlns:a16="http://schemas.microsoft.com/office/drawing/2014/main" val="1212107070"/>
                        </a:ext>
                      </a:extLst>
                    </a:gridCol>
                    <a:gridCol w="1880203">
                      <a:extLst>
                        <a:ext uri="{9D8B030D-6E8A-4147-A177-3AD203B41FA5}">
                          <a16:colId xmlns:a16="http://schemas.microsoft.com/office/drawing/2014/main" val="1520036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659930"/>
                      </a:ext>
                    </a:extLst>
                  </a:tr>
                  <a:tr h="0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0.476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0.442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093657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0.488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0.419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79466398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0.548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0.426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284028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0.495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0.409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18689104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0.508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0.432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11134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8C41E170-9DBC-4A84-A6E5-44EE04A4AB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2985593"/>
                  </p:ext>
                </p:extLst>
              </p:nvPr>
            </p:nvGraphicFramePr>
            <p:xfrm>
              <a:off x="2133600" y="4038600"/>
              <a:ext cx="5638800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78394">
                      <a:extLst>
                        <a:ext uri="{9D8B030D-6E8A-4147-A177-3AD203B41FA5}">
                          <a16:colId xmlns:a16="http://schemas.microsoft.com/office/drawing/2014/main" val="2662532555"/>
                        </a:ext>
                      </a:extLst>
                    </a:gridCol>
                    <a:gridCol w="1880203">
                      <a:extLst>
                        <a:ext uri="{9D8B030D-6E8A-4147-A177-3AD203B41FA5}">
                          <a16:colId xmlns:a16="http://schemas.microsoft.com/office/drawing/2014/main" val="1212107070"/>
                        </a:ext>
                      </a:extLst>
                    </a:gridCol>
                    <a:gridCol w="1880203">
                      <a:extLst>
                        <a:ext uri="{9D8B030D-6E8A-4147-A177-3AD203B41FA5}">
                          <a16:colId xmlns:a16="http://schemas.microsoft.com/office/drawing/2014/main" val="15200364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667" r="-200974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676" t="-1667" r="-100324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325" t="-1667" r="-649" b="-5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59930"/>
                      </a:ext>
                    </a:extLst>
                  </a:tr>
                  <a:tr h="365760">
                    <a:tc rowSpan="5"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0.476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0.442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093657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0.488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0.419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79466398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0.548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0.426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2840289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0.495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0.409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18689104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0.508</a:t>
                          </a:r>
                          <a:endParaRPr lang="zh-CN" sz="24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0.432</a:t>
                          </a:r>
                          <a:endParaRPr lang="zh-CN" sz="24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11134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872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Case 2</a:t>
                </a:r>
              </a:p>
              <a:p>
                <a:pPr marL="0" indent="0" algn="just"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该问题数学模型已给定，将实验值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代入给定的模型，即可算得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𝐴𝑖</m:t>
                        </m:r>
                      </m:sub>
                      <m:sup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𝐵𝑖</m:t>
                        </m:r>
                      </m:sub>
                      <m:sup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endParaRPr lang="zh-CN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22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22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⋮                                             ⋮                      </m:t>
                      </m:r>
                    </m:oMath>
                  </m:oMathPara>
                </a14:m>
                <a:endParaRPr lang="zh-CN" altLang="zh-CN" sz="22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9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sub>
                          </m:sSub>
                        </m:sup>
                      </m:s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9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22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若将计算的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𝐴𝑖</m:t>
                        </m:r>
                      </m:sub>
                      <m:sup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bSup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Sup>
                      <m:sSubSup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𝐵𝑖</m:t>
                        </m:r>
                      </m:sub>
                      <m:sup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与实验数据的残差平方和分别记为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，则可得到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9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𝐴𝑖</m:t>
                                      </m:r>
                                    </m:sub>
                                    <m:sup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p>
                                  </m:sSubSup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𝐴𝑖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9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𝐴𝑖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zh-CN" sz="22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9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𝐵𝑖</m:t>
                                      </m:r>
                                    </m:sub>
                                    <m:sup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p>
                                  </m:sSubSup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𝐵𝑖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9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d>
                                    <m:d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𝐵𝑖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zh-CN" sz="22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  <a:blipFill>
                <a:blip r:embed="rId3"/>
                <a:stretch>
                  <a:fillRect l="-1067" t="-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5491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Case 2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类似</a:t>
                </a:r>
                <a:r>
                  <a:rPr lang="en-US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Case 1</a:t>
                </a: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采取如下指标对拟合结果进行评价来确定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，即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𝐴𝑖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𝐴𝑖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CN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zh-CN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zh-CN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𝐵𝑖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𝐵𝑖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CN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由于反应速率常数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非独立，因此可将上述</a:t>
                </a:r>
                <a:r>
                  <a:rPr lang="en-US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式合并，即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2200" b="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200" b="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2200" b="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200" b="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200" b="0" i="1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b="0" i="1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200" b="0" i="1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zh-CN" sz="2200" b="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CN" altLang="zh-CN" sz="2200" b="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CN" sz="2200" b="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𝐴𝑖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200" b="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altLang="zh-CN" sz="2200" b="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200" b="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200" b="0" i="1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b="0" i="1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200" b="0" i="1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zh-CN" sz="2200" b="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CN" altLang="zh-CN" sz="2200" b="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CN" sz="2200" b="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𝐵𝑖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200" b="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2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  <a:blipFill>
                <a:blip r:embed="rId3"/>
                <a:stretch>
                  <a:fillRect l="-1067" t="-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558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Case 2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为确保模型对各观察值的残差效应与实验误差一致，合并后的目标函数各项需适当加以权重，根据实验重复测得的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数据的误差分析，取目标函数中第一项的权重值为</a:t>
                </a:r>
                <a:r>
                  <a:rPr lang="en-US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1.0</a:t>
                </a: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，第二项的权重值为</a:t>
                </a:r>
                <a:r>
                  <a:rPr lang="en-US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4.9</a:t>
                </a: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，则加权后的目标函数为</a:t>
                </a:r>
                <a:endParaRPr lang="en-US" altLang="zh-CN" sz="2200" b="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240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CN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𝐴𝑖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+4.9×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9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CN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CN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𝐵𝑖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24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由此得到满足目标函数值的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确定相应的模型。有关</a:t>
                </a:r>
                <a:r>
                  <a:rPr lang="zh-CN" altLang="zh-CN" sz="2200" b="0" dirty="0">
                    <a:solidFill>
                      <a:srgbClr val="FF0000"/>
                    </a:solidFill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模型差分检验、误差分析得到权重值</a:t>
                </a: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不在本课程的讨论之列，因此不做进一步讨论，有兴趣的同学可以查阅相关文献或资料。</a:t>
                </a:r>
                <a:endParaRPr lang="en-US" altLang="zh-CN" sz="22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  <a:blipFill>
                <a:blip r:embed="rId3"/>
                <a:stretch>
                  <a:fillRect l="-1067" t="-1268" r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913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</a:t>
                </a:r>
                <a:r>
                  <a:rPr lang="zh-CN" altLang="en-US" dirty="0">
                    <a:latin typeface="+mj-lt"/>
                    <a:ea typeface="+mj-ea"/>
                  </a:rPr>
                  <a:t>平方和形式的函数</a:t>
                </a:r>
                <a:endParaRPr lang="en-US" altLang="zh-CN" dirty="0">
                  <a:latin typeface="+mj-lt"/>
                  <a:ea typeface="+mj-ea"/>
                </a:endParaRPr>
              </a:p>
              <a:p>
                <a:pPr indent="0" algn="just"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若不考虑具体待定参数</a:t>
                </a:r>
                <a14:m>
                  <m:oMath xmlns:m="http://schemas.openxmlformats.org/officeDocument/2006/math"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的物理意义，将待优化的变量</a:t>
                </a:r>
                <a:r>
                  <a:rPr lang="zh-CN" altLang="en-US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视为</a:t>
                </a:r>
                <a14:m>
                  <m:oMath xmlns:m="http://schemas.openxmlformats.org/officeDocument/2006/math"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zh-CN" sz="22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，则此类问题的数学模型一般形式为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其中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是一个向量，每个向量的元为一个残差函数。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=1,2,⋯,</m:t>
                        </m:r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维函数的具体表达形式，例如</a:t>
                </a:r>
                <a:r>
                  <a:rPr lang="en-US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Case 1</a:t>
                </a: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中</a:t>
                </a:r>
                <a14:m>
                  <m:oMath xmlns:m="http://schemas.openxmlformats.org/officeDocument/2006/math"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sSubSup>
                      <m:sSubSup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bSup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Case 2</a:t>
                </a: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2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2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𝐴𝑖</m:t>
                        </m:r>
                      </m:sub>
                    </m:sSub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及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2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2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2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2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22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2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2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2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2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𝐵𝑖</m:t>
                        </m:r>
                      </m:sub>
                    </m:sSub>
                  </m:oMath>
                </a14:m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。平方和形式的目标函数在曲线拟合和实验数据处理中经常遇到。此外，有时也可将非线性方程组如</a:t>
                </a:r>
                <a:endParaRPr lang="en-US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⋮</m:t>
                      </m:r>
                    </m:oMath>
                  </m:oMathPara>
                </a14:m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  <a:blipFill>
                <a:blip r:embed="rId3"/>
                <a:stretch>
                  <a:fillRect l="-1067" t="-1659" r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828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</p:spPr>
            <p:txBody>
              <a:bodyPr/>
              <a:lstStyle/>
              <a:p>
                <a:pPr lvl="1">
                  <a:lnSpc>
                    <a:spcPct val="9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+mj-lt"/>
                    <a:ea typeface="+mj-ea"/>
                  </a:rPr>
                  <a:t>  </a:t>
                </a:r>
                <a:r>
                  <a:rPr lang="zh-CN" altLang="en-US" dirty="0">
                    <a:latin typeface="+mj-lt"/>
                    <a:ea typeface="+mj-ea"/>
                  </a:rPr>
                  <a:t>平方和形式的函数</a:t>
                </a:r>
                <a:endParaRPr lang="en-US" altLang="zh-CN" dirty="0">
                  <a:latin typeface="+mj-lt"/>
                  <a:ea typeface="+mj-ea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zh-CN" altLang="en-US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转化为</a:t>
                </a:r>
                <a:endParaRPr lang="en-US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并求极小，当满足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sz="1800" b="0" i="1" kern="100" smtClean="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b="0" i="0" kern="100" smtClean="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18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8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18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的最优解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2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zh-CN" sz="22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22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zh-CN" altLang="zh-CN" sz="22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22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,⋯,</m:t>
                            </m:r>
                            <m:sSubSup>
                              <m:sSubSupPr>
                                <m:ctrlPr>
                                  <a:rPr lang="zh-CN" altLang="zh-CN" sz="2200" b="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2200" b="0" i="1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就是原方程组的解，其中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=1,2,⋯,</m:t>
                    </m:r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。如果向量函数</a:t>
                </a:r>
                <a14:m>
                  <m:oMath xmlns:m="http://schemas.openxmlformats.org/officeDocument/2006/math"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中的分量均为线性函数，则称该优化问题为线性最小二乘问题，否则称为非线性最小二乘，该问题所对应的最优解为最小二乘解。由于平方和形式目标函数的特殊性，可采用各函数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的一阶导数来近似</a:t>
                </a:r>
                <a14:m>
                  <m:oMath xmlns:m="http://schemas.openxmlformats.org/officeDocument/2006/math">
                    <m:r>
                      <a:rPr lang="en-US" altLang="zh-CN" sz="22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zh-CN" altLang="zh-CN" sz="22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2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的二阶导数，由此使得牛顿法用于此类函数的求解具有更简单的形式，即所谓的高斯</a:t>
                </a:r>
                <a:r>
                  <a:rPr lang="en-US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牛顿法</a:t>
                </a:r>
                <a:r>
                  <a:rPr lang="en-US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(Gauss-Newton Method)</a:t>
                </a:r>
                <a:r>
                  <a:rPr lang="zh-CN" altLang="zh-CN" sz="22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，也就是常说的最小二乘法。</a:t>
                </a:r>
                <a:endParaRPr lang="zh-CN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indent="0" algn="just">
                  <a:buNone/>
                </a:pPr>
                <a:endParaRPr lang="en-US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9600"/>
                <a:ext cx="9144000" cy="6248400"/>
              </a:xfrm>
              <a:blipFill>
                <a:blip r:embed="rId3"/>
                <a:stretch>
                  <a:fillRect l="-1067" t="-1659" r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9080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最小二乘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dirty="0">
                <a:ea typeface="宋体" panose="02010600030101010101" pitchFamily="2" charset="-122"/>
              </a:rPr>
              <a:t>高斯牛顿法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2482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zh-CN" altLang="zh-CN" sz="20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zh-CN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zh-CN" altLang="zh-CN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=1,2,⋯,</m:t>
                        </m:r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zh-CN" sz="20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在某点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2000" b="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的一阶偏导容易求得，且将其一阶偏导写成如下形式：</a:t>
                </a:r>
                <a:endParaRPr lang="zh-CN" altLang="zh-CN" sz="20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𝑱</m:t>
                          </m:r>
                        </m:e>
                        <m:sup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2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000" b="1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2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000" b="1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2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000" b="1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2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000" b="1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0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0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⋮ 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zh-CN" alt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𝜕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  <m:d>
                                                  <m:dPr>
                                                    <m:ctrlPr>
                                                      <a:rPr lang="zh-CN" alt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p>
                                                      <m:sSupPr>
                                                        <m:ctrlPr>
                                                          <a:rPr lang="zh-CN" altLang="zh-CN" sz="2000" i="1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</m:ctrlPr>
                                                      </m:sSupPr>
                                                      <m:e>
                                                        <m:r>
                                                          <a:rPr lang="en-US" altLang="zh-CN" sz="2000" b="1" i="1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等线" panose="02010600030101010101" pitchFamily="2" charset="-122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  <m:t>𝒙</m:t>
                                                        </m:r>
                                                      </m:e>
                                                      <m:sup>
                                                        <m:r>
                                                          <a:rPr lang="en-US" altLang="zh-CN" sz="2000" i="1" kern="10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等线" panose="02010600030101010101" pitchFamily="2" charset="-122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p>
                                                    </m:sSup>
                                                  </m:e>
                                                </m:d>
                                              </m:num>
                                              <m:den>
                                                <m:r>
                                                  <a:rPr lang="en-US" alt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𝜕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 kern="10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0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⋮  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zh-CN" alt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𝑘𝑛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20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𝑙𝑖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为函数</a:t>
                </a:r>
                <a14:m>
                  <m:oMath xmlns:m="http://schemas.openxmlformats.org/officeDocument/2006/math">
                    <m:r>
                      <a:rPr lang="en-US" altLang="zh-CN" sz="20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zh-CN" altLang="zh-CN" sz="20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处的</a:t>
                </a:r>
                <a:r>
                  <a:rPr lang="en-US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Jacobin</a:t>
                </a:r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矩阵，为一个</a:t>
                </a:r>
                <a14:m>
                  <m:oMath xmlns:m="http://schemas.openxmlformats.org/officeDocument/2006/math">
                    <m:r>
                      <a:rPr lang="en-US" altLang="zh-CN" sz="20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0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0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矩阵。由于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0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zh-CN" sz="20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zh-CN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zh-CN" sz="20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f>
                            <m:f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d>
                        <m:dPr>
                          <m:ctrlPr>
                            <a:rPr lang="zh-CN" altLang="zh-CN" sz="20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=1,2,⋯,</m:t>
                          </m:r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zh-CN" sz="20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并结合上述</a:t>
                </a:r>
                <a:r>
                  <a:rPr lang="en-US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Jacobin</a:t>
                </a:r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矩阵，则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en-US" altLang="zh-CN" sz="20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zh-CN" altLang="zh-CN" sz="20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sSup>
                        <m:sSupPr>
                          <m:ctrlPr>
                            <a:rPr lang="zh-CN" altLang="zh-CN" sz="20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sz="20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0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0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zh-CN" altLang="zh-CN" sz="20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0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0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20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为第</a:t>
                </a:r>
                <a14:m>
                  <m:oMath xmlns:m="http://schemas.openxmlformats.org/officeDocument/2006/math">
                    <m:r>
                      <a:rPr lang="en-US" altLang="zh-CN" sz="20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次迭代得到的近似极小点，为迭代得到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，将函数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zh-CN" sz="20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zh-CN" altLang="zh-CN" sz="20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=1,2,⋯,</m:t>
                        </m:r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处用</a:t>
                </a:r>
                <a:r>
                  <a:rPr lang="en-US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Taylor</a:t>
                </a:r>
                <a:r>
                  <a:rPr lang="zh-CN" altLang="zh-CN" sz="20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展开，取到一阶项有</a:t>
                </a:r>
                <a:endParaRPr lang="en-US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 l="-867" t="-488" r="-3200" b="-6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4888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200" b="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200" b="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200" b="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𝑜</m:t>
                      </m:r>
                      <m:d>
                        <m:dPr>
                          <m:begChr m:val="‖"/>
                          <m:endChr m:val="‖"/>
                          <m:ctrlPr>
                            <a:rPr lang="zh-CN" altLang="zh-CN" sz="2200" b="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200" b="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CN" altLang="zh-CN" sz="2200" b="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200" b="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取近似函数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sz="22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2200" b="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则目标函数的近似式为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acc>
                      <m:d>
                        <m:d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200" b="1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zh-CN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zh-CN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22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200" b="1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2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zh-CN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zh-CN" sz="22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0" algn="just">
                  <a:buNone/>
                </a:pPr>
                <a:endParaRPr lang="en-US" altLang="zh-CN" sz="2200" b="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22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为了更好理解此目标函数，假设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𝑘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=2,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𝑛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=3</m:t>
                    </m:r>
                  </m:oMath>
                </a14:m>
                <a:r>
                  <a:rPr lang="zh-CN" altLang="en-US" sz="22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200" b="1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𝒇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200" b="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200" b="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a:rPr lang="en-US" altLang="zh-CN" sz="2200" b="1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𝒙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zh-CN" altLang="en-US" sz="22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2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则有</a:t>
                </a:r>
                <a:endParaRPr lang="en-US" altLang="zh-CN" sz="22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CN" altLang="zh-CN" sz="22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acc>
                      <m:d>
                        <m:dPr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a:rPr lang="en-US" altLang="zh-CN" sz="22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22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1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200" b="1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22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zh-CN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2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2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zh-CN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22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200" b="1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2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zh-CN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zh-CN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22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altLang="zh-CN" sz="22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zh-CN" sz="22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2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 l="-1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7245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CN" altLang="zh-CN" sz="16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acc>
                      <m:d>
                        <m:dPr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1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b="1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1600" b="1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16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1600" b="1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16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zh-CN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acc>
                            <m:accPr>
                              <m:chr m:val="̃"/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f>
                        <m:fPr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f>
                        <m:fPr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1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b="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6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d>
                      <m:f>
                        <m:fPr>
                          <m:ctrlPr>
                            <a:rPr lang="zh-CN" altLang="zh-CN" sz="16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600" b="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600" b="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kern="100" smtClean="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600" i="1" kern="1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i="1" kern="1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d>
                      <m:f>
                        <m:fPr>
                          <m:ctrlPr>
                            <a:rPr lang="zh-CN" altLang="zh-CN" sz="16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00" b="0" i="1" kern="100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6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600" b="0" i="1" kern="1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zh-CN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1600" b="1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16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  <m:f>
                            <m:f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𝑙𝑖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16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  <m:sSubSup>
                            <m:sSubSup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1600" i="1" kern="10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6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sSubSup>
                                <m:sSubSupPr>
                                  <m:ctrlPr>
                                    <a:rPr lang="zh-CN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sz="16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zh-CN" altLang="zh-CN" sz="16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6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6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zh-CN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𝑙𝑖</m:t>
                                      </m:r>
                                    </m:sub>
                                    <m:sup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zh-CN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16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16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16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6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6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zh-CN" alt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6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16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6235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acc>
                            <m:accPr>
                              <m:chr m:val="̃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sSubSup>
                                <m:sSubSup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𝑙𝑖</m:t>
                                      </m:r>
                                    </m:sub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000" i="1" kern="1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acc>
                            <m:accPr>
                              <m:chr m:val="̃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kern="100" smtClean="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sSubSup>
                                <m:sSubSup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0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zh-CN" sz="2000" b="0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𝑙𝑖</m:t>
                                      </m:r>
                                    </m:sub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000" i="1" kern="1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acc>
                            <m:accPr>
                              <m:chr m:val="̃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kern="100" smtClean="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sSubSup>
                                <m:sSubSupPr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CN" sz="20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sz="20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zh-CN" altLang="zh-CN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zh-CN" sz="2000" b="0" i="1" kern="100" smtClean="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𝑙𝑖</m:t>
                                      </m:r>
                                    </m:sub>
                                    <m:sup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zh-CN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∇</m:t>
                      </m:r>
                      <m:acc>
                        <m:accPr>
                          <m:chr m:val="̃"/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acc>
                      <m:d>
                        <m:d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4772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∇</m:t>
                      </m:r>
                      <m:acc>
                        <m:accPr>
                          <m:chr m:val="̃"/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acc>
                      <m:d>
                        <m:d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20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𝑙𝑖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zh-CN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algn="just"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5537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20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zh-CN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2000" b="1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f>
                            <m:fPr>
                              <m:ctrlPr>
                                <a:rPr lang="zh-CN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f>
                            <m:fPr>
                              <m:ctrlPr>
                                <a:rPr lang="zh-CN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+2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1800" b="1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0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6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1800" b="1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0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20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20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1094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f>
                            <m:fPr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f>
                            <m:fPr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+2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+2</m:t>
                      </m:r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̃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f>
                            <m:fPr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18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+2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solidFill>
                                                <a:srgbClr val="FF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f>
                            <m:fPr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+2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13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+2</m:t>
                      </m:r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23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2000" b="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20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2454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2000" b="0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zh-CN" sz="1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</m:acc>
                    <m:d>
                      <m:dPr>
                        <m:ctrlPr>
                          <a:rPr lang="zh-CN" altLang="zh-CN" sz="1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zh-CN" sz="2000" b="0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是一个二次函数</a:t>
                </a:r>
                <a:r>
                  <a:rPr lang="zh-CN" altLang="en-US" sz="2000" b="0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，由上述展开可得出高维的普适性结果</a:t>
                </a:r>
                <a:endParaRPr lang="en-US" altLang="zh-CN" sz="2000" b="0" kern="1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∇</m:t>
                      </m:r>
                      <m:acc>
                        <m:accPr>
                          <m:chr m:val="̃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acc>
                      <m:d>
                        <m:d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zh-CN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zh-CN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zh-CN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800" b="1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zh-CN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𝜕</m:t>
                                                </m:r>
                                                <m:acc>
                                                  <m:accPr>
                                                    <m:chr m:val="̃"/>
                                                    <m:ctrlPr>
                                                      <a:rPr lang="zh-CN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𝑍</m:t>
                                                    </m:r>
                                                  </m:e>
                                                </m:acc>
                                                <m:d>
                                                  <m:dPr>
                                                    <m:ctrlPr>
                                                      <a:rPr lang="zh-CN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1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</m:d>
                                              </m:num>
                                              <m:den>
                                                <m:r>
                                                  <a:rPr lang="en-US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𝜕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1800" b="1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zh-CN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𝑙𝑖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zh-CN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zh-CN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bSup>
                                              <m:sSubSup>
                                                <m:sSubSupPr>
                                                  <m:ctrlPr>
                                                    <a:rPr lang="zh-CN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𝑙𝑖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zh-CN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zh-CN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zh-CN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p>
                                                  </m:sSubSup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nary>
                                              <m:naryPr>
                                                <m:chr m:val="∑"/>
                                                <m:limLoc m:val="undOvr"/>
                                                <m:ctrlPr>
                                                  <a:rPr lang="zh-CN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=1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𝑙</m:t>
                                                    </m:r>
                                                  </m:sub>
                                                </m:sSub>
                                                <m:d>
                                                  <m:dPr>
                                                    <m:ctrlPr>
                                                      <a:rPr lang="zh-CN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p>
                                                      <m:sSupPr>
                                                        <m:ctrlPr>
                                                          <a:rPr lang="zh-CN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pPr>
                                                      <m:e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𝒙</m:t>
                                                        </m:r>
                                                      </m:e>
                                                      <m:sup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p>
                                                    </m:sSup>
                                                  </m:e>
                                                </m:d>
                                                <m:sSubSup>
                                                  <m:sSubSupPr>
                                                    <m:ctrlPr>
                                                      <a:rPr lang="zh-CN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𝑙𝑛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nary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nary>
                                              <m:naryPr>
                                                <m:chr m:val="∑"/>
                                                <m:limLoc m:val="undOvr"/>
                                                <m:ctrlPr>
                                                  <a:rPr lang="zh-CN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=1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  <m:e>
                                                <m:nary>
                                                  <m:naryPr>
                                                    <m:chr m:val="∑"/>
                                                    <m:limLoc m:val="undOvr"/>
                                                    <m:ctrlPr>
                                                      <a:rPr lang="zh-CN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naryPr>
                                                  <m:sub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=1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p>
                                                  <m:e>
                                                    <m:sSubSup>
                                                      <m:sSubSupPr>
                                                        <m:ctrlPr>
                                                          <a:rPr lang="zh-CN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𝑙𝑛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p>
                                                    </m:sSubSup>
                                                    <m:sSubSup>
                                                      <m:sSubSupPr>
                                                        <m:ctrlPr>
                                                          <a:rPr lang="zh-CN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p>
                                                    </m:sSubSup>
                                                    <m:d>
                                                      <m:dPr>
                                                        <m:ctrlPr>
                                                          <a:rPr lang="zh-CN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zh-CN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𝑥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𝑖</m:t>
                                                            </m:r>
                                                          </m:sub>
                                                        </m:sSub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</m:t>
                                                        </m:r>
                                                        <m:sSubSup>
                                                          <m:sSubSupPr>
                                                            <m:ctrlPr>
                                                              <a:rPr lang="zh-CN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SupPr>
                                                          <m:e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𝑥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𝑖</m:t>
                                                            </m:r>
                                                          </m:sub>
                                                          <m:sup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𝑘</m:t>
                                                            </m:r>
                                                          </m:sup>
                                                        </m:sSubSup>
                                                      </m:e>
                                                    </m:d>
                                                  </m:e>
                                                </m:nary>
                                              </m:e>
                                            </m:nary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b="0" kern="1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8760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∇</m:t>
                      </m:r>
                      <m:acc>
                        <m:accPr>
                          <m:chr m:val="̃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acc>
                      <m:d>
                        <m:d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b="1" i="1" smtClean="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b="0" i="1" smtClean="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̃"/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zh-CN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zh-CN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𝑍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zh-CN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1800" b="1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等线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zh-CN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𝜕</m:t>
                                                </m:r>
                                                <m:acc>
                                                  <m:accPr>
                                                    <m:chr m:val="̃"/>
                                                    <m:ctrlPr>
                                                      <a:rPr lang="zh-CN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𝑍</m:t>
                                                    </m:r>
                                                  </m:e>
                                                </m:acc>
                                                <m:d>
                                                  <m:dPr>
                                                    <m:ctrlPr>
                                                      <a:rPr lang="zh-CN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1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</m:d>
                                              </m:num>
                                              <m:den>
                                                <m:r>
                                                  <a:rPr lang="en-US" altLang="zh-CN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等线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𝜕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8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等线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1800" b="1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sSubSup>
                                      <m:sSubSup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zh-CN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𝑙𝑖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bSup>
                                        <m:d>
                                          <m:dPr>
                                            <m:ctrlPr>
                                              <a:rPr lang="zh-CN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zh-CN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zh-CN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bSup>
                                              <m:sSubSup>
                                                <m:sSubSupPr>
                                                  <m:ctrlPr>
                                                    <a:rPr lang="zh-CN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𝑙𝑖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zh-CN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zh-CN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altLang="zh-CN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zh-CN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en-US" altLang="zh-CN" sz="1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p>
                                                  </m:sSubSup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nary>
                                              <m:naryPr>
                                                <m:chr m:val="∑"/>
                                                <m:limLoc m:val="undOvr"/>
                                                <m:ctrlPr>
                                                  <a:rPr lang="zh-CN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=1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𝑓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𝑙</m:t>
                                                    </m:r>
                                                  </m:sub>
                                                </m:sSub>
                                                <m:d>
                                                  <m:dPr>
                                                    <m:ctrlPr>
                                                      <a:rPr lang="zh-CN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p>
                                                      <m:sSupPr>
                                                        <m:ctrlPr>
                                                          <a:rPr lang="zh-CN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pPr>
                                                      <m:e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𝒙</m:t>
                                                        </m:r>
                                                      </m:e>
                                                      <m:sup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p>
                                                    </m:sSup>
                                                  </m:e>
                                                </m:d>
                                                <m:sSubSup>
                                                  <m:sSubSupPr>
                                                    <m:ctrlPr>
                                                      <a:rPr lang="zh-CN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𝑙𝑛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nary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nary>
                                              <m:naryPr>
                                                <m:chr m:val="∑"/>
                                                <m:limLoc m:val="undOvr"/>
                                                <m:ctrlPr>
                                                  <a:rPr lang="zh-CN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=1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p>
                                              <m:e>
                                                <m:nary>
                                                  <m:naryPr>
                                                    <m:chr m:val="∑"/>
                                                    <m:limLoc m:val="undOvr"/>
                                                    <m:ctrlPr>
                                                      <a:rPr lang="zh-CN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naryPr>
                                                  <m:sub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=1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altLang="zh-CN" sz="1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p>
                                                  <m:e>
                                                    <m:sSubSup>
                                                      <m:sSubSupPr>
                                                        <m:ctrlPr>
                                                          <a:rPr lang="zh-CN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𝑙𝑛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p>
                                                    </m:sSubSup>
                                                    <m:sSubSup>
                                                      <m:sSubSupPr>
                                                        <m:ctrlPr>
                                                          <a:rPr lang="zh-CN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𝑗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𝑙𝑖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p>
                                                    </m:sSubSup>
                                                    <m:d>
                                                      <m:dPr>
                                                        <m:ctrlPr>
                                                          <a:rPr lang="zh-CN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zh-CN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𝑥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𝑖</m:t>
                                                            </m:r>
                                                          </m:sub>
                                                        </m:sSub>
                                                        <m:r>
                                                          <a:rPr lang="en-US" altLang="zh-CN" sz="18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</m:t>
                                                        </m:r>
                                                        <m:sSubSup>
                                                          <m:sSubSupPr>
                                                            <m:ctrlPr>
                                                              <a:rPr lang="zh-CN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SupPr>
                                                          <m:e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𝑥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𝑖</m:t>
                                                            </m:r>
                                                          </m:sub>
                                                          <m:sup>
                                                            <m:r>
                                                              <a:rPr lang="en-US" altLang="zh-CN" sz="18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𝑘</m:t>
                                                            </m:r>
                                                          </m:sup>
                                                        </m:sSubSup>
                                                      </m:e>
                                                    </m:d>
                                                  </m:e>
                                                </m:nary>
                                              </m:e>
                                            </m:nary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b="0" kern="1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d>
                        <m:d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b="1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𝑯</m:t>
                      </m:r>
                      <m:d>
                        <m:d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8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m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8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ln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nary>
                                    </m:e>
                                  </m:m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r>
                                        <a:rPr lang="en-US" altLang="zh-CN" sz="1800" i="1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nary>
                                  <m:naryPr>
                                    <m:chr m:val="∑"/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𝑙𝑛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𝑙𝑛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0218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zh-CN" altLang="en-US" sz="2000" b="0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根据</a:t>
                </a:r>
                <a:r>
                  <a:rPr lang="en-US" altLang="zh-CN" sz="2000" b="0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Jacobin</a:t>
                </a:r>
                <a:r>
                  <a:rPr lang="zh-CN" altLang="en-US" sz="2000" b="0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矩阵的定义，上式可以写成</a:t>
                </a:r>
                <a:endParaRPr lang="en-US" altLang="zh-CN" sz="2000" b="0" kern="1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̃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𝑯</m:t>
                      </m:r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800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m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sz="1800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ln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nary>
                                    </m:e>
                                  </m:m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zh-CN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  <m:sSubSup>
                                            <m:sSubSupPr>
                                              <m:ctrlPr>
                                                <a:rPr lang="zh-CN" altLang="zh-CN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nary>
                                  <m:naryPr>
                                    <m:chr m:val="∑"/>
                                    <m:ctrlPr>
                                      <a:rPr lang="zh-CN" altLang="zh-C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𝑙𝑛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zh-CN" altLang="zh-C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𝑙𝑛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</m:m>
                        </m:e>
                      </m:d>
                      <m:r>
                        <a:rPr lang="en-US" altLang="zh-CN" sz="1800" b="1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𝑱</m:t>
                          </m:r>
                        </m:e>
                        <m:sup>
                          <m:r>
                            <a:rPr lang="en-US" altLang="zh-CN" sz="1800" b="0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zh-CN" sz="1800" b="0" kern="1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若矩阵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逆阵存在，并以此矩阵来近似函数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处的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Hessian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矩阵，并连同下述式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代入下述式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即可得到高斯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牛顿迭代公式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(3)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∇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=2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𝑱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800" b="1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                                          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#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𝑯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∇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800" b="1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                               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zh-CN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1800" b="1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𝑱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𝑱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𝑱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800" b="1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                 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改写上式得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𝑱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𝑱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 l="-867" t="-683" r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55455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</p:spPr>
            <p:txBody>
              <a:bodyPr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𝑱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𝑱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或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𝑱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=−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𝑱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𝑭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800" b="1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           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这是一个以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sSubSup>
                                <m:sSub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sSubSup>
                                <m:sSub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,⋯,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sSubSup>
                                <m:sSub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个变量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个线性方程所构成的方程组，一般称为法方程。若法方程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(4)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的系数矩阵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𝐽</m:t>
                                </m:r>
                              </m:e>
                              <m:sup>
                                <m:r>
                                  <a:rPr lang="en-US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非奇异，则采用高斯消去法或主元高斯消去法可以求解得到唯一解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，由此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也可以唯一确定，即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18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与前述的牛顿法一样，对高斯牛顿法进行修正，首先令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8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𝑱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仅作为第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次搜索的一个搜索方向，这样由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来确定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。其中搜索步长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应满足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b="0" dirty="0">
                  <a:latin typeface="华光楷体_CNKI" panose="02000500000000000000" pitchFamily="2" charset="-122"/>
                  <a:ea typeface="华光楷体_CNKI" panose="02000500000000000000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248400"/>
              </a:xfrm>
              <a:blipFill>
                <a:blip r:embed="rId3"/>
                <a:stretch>
                  <a:fillRect l="-733" r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7698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533400"/>
                <a:ext cx="9144000" cy="63246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高斯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牛顿法计算步骤归纳如下：</a:t>
                </a:r>
              </a:p>
              <a:p>
                <a:pPr marL="0" indent="0" algn="just">
                  <a:buNone/>
                </a:pP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(1) 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给定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800" b="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ε</m:t>
                    </m:r>
                    <m:r>
                      <a:rPr lang="en-US" altLang="zh-CN" sz="1800" b="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800" b="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k</m:t>
                    </m:r>
                    <m:r>
                      <a:rPr lang="en-US" altLang="zh-CN" sz="1800" b="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zh-CN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(2) 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=1,2,⋯,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得向量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(3) 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=1,2,⋯,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=1,2,⋯,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求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𝑙𝑗</m:t>
                          </m:r>
                        </m:sub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从而得到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𝑱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sSubSup>
                                  <m:sSubSup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𝑚𝑛</m:t>
                                    </m:r>
                                  </m:sub>
                                  <m:sup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(4) 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解法方程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𝑱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𝑱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altLang="zh-CN" sz="18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，并使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Δ</m:t>
                    </m:r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sz="1800" b="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(5)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18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满足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p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sz="1800" b="1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b="1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CN" sz="18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b="1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</m:e>
                              <m:sup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(6) 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，输出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，停止计算，否则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，转入步骤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 algn="just">
                  <a:buNone/>
                </a:pP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b="0" dirty="0">
                  <a:latin typeface="华光楷体_CNKI" panose="02000500000000000000" pitchFamily="2" charset="-122"/>
                  <a:ea typeface="华光楷体_CNKI" panose="02000500000000000000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33400"/>
                <a:ext cx="9144000" cy="6324600"/>
              </a:xfrm>
              <a:blipFill>
                <a:blip r:embed="rId3"/>
                <a:stretch>
                  <a:fillRect l="-733" t="-675" r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最小二乘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zh-CN" altLang="en-US" sz="2800" dirty="0">
                <a:ea typeface="宋体" panose="02010600030101010101" pitchFamily="2" charset="-122"/>
              </a:rPr>
              <a:t>高斯牛顿法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2989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pPr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距离极小点不远时，高斯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牛顿法求解非线性最小二乘问题非常有效。但若矩阵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𝐽</m:t>
                                    </m:r>
                                  </m:e>
                                  <m:sup>
                                    <m:r>
                                      <a:rPr lang="en-US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奇异或近似奇异时，法方程无法求解，迭代难以得到新的搜索点。为克服这一缺点，马夸特对法方程进行改造，其主要思想就是加大矩阵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𝐽</m:t>
                                    </m:r>
                                  </m:e>
                                  <m:sup>
                                    <m:r>
                                      <a:rPr lang="en-US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主对角元素的值，即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1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𝑱</m:t>
                                      </m:r>
                                    </m:e>
                                    <m:sup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𝑱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18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上式中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为单位矩阵，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称为阻尼因子。改造后法方程的系数矩阵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800" b="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𝐽</m:t>
                                    </m:r>
                                  </m:e>
                                  <m:sup>
                                    <m:r>
                                      <a:rPr lang="en-US" altLang="zh-CN" sz="1800" b="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为一正定矩阵，则其逆一定存在，那么法方程一定有解。因此，马夸特法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(Marquardt method)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的搜索方向为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8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800" b="1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𝑱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𝑱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上式中若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时即为高斯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牛顿方向。当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足够大时，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方向逐渐趋向于负梯度方向，负梯度方向即为某点的最速下降方向，但从全局看收敛速度非常缓慢，不是一个理想方向，而高斯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牛顿方向从全局看是收敛速度很快的方向。因此，保持目标函数下降的情况下，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值应尽可能小，使得搜索方向靠近高斯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牛顿方向，加快收敛速度。由此可看出马夸特法的关键是合理选取阻尼因子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既要保持目标函数下降，又要使得收敛速度加快。马夸特法有时也称为阻尼最小二乘法。阻尼因子的选取有多种方法，介绍一种简单易行方法，即一边迭代一边调整阻尼因子，阻尼因子过大则缩小，过小则放大。</a:t>
                </a:r>
              </a:p>
              <a:p>
                <a:pPr marL="0" indent="0" algn="just">
                  <a:buNone/>
                </a:pP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2000" b="0" dirty="0">
                  <a:latin typeface="华光楷体_CNKI" panose="02000500000000000000" pitchFamily="2" charset="-122"/>
                  <a:ea typeface="华光楷体_CNKI" panose="02000500000000000000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  <a:blipFill>
                <a:blip r:embed="rId3"/>
                <a:stretch>
                  <a:fillRect l="-733" t="-692" r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马夸特法</a:t>
            </a:r>
            <a:r>
              <a:rPr lang="en-US" altLang="zh-CN" sz="2800" dirty="0">
                <a:ea typeface="宋体" panose="02010600030101010101" pitchFamily="2" charset="-122"/>
              </a:rPr>
              <a:t>(Marquardt method)</a:t>
            </a:r>
          </a:p>
        </p:txBody>
      </p:sp>
    </p:spTree>
    <p:extLst>
      <p:ext uri="{BB962C8B-B14F-4D97-AF65-F5344CB8AC3E}">
        <p14:creationId xmlns:p14="http://schemas.microsoft.com/office/powerpoint/2010/main" val="2786186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pPr marL="0" indent="0" algn="just">
                  <a:lnSpc>
                    <a:spcPct val="200000"/>
                  </a:lnSpc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选取初始阻尼因子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（如取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=0.1 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𝑜𝑟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0.01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）和一个大于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的整数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（比如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=2,5,10⋯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）。令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为第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k-1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次迭代的阻尼因子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值，第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次迭代时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计算出马夸特搜索方向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，然后再求出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。此时若目标函数值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即为此次迭代的阻尼因子值；若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，此时需加大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值，即可让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再计算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，若仍有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，则继续加大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值，即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⋯, </m:t>
                    </m:r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p>
                    </m:sSup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，直到找到一个最小的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成立为止。由于当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=0→+∞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→−</m:t>
                    </m:r>
                    <m:r>
                      <m:rPr>
                        <m:sty m:val="p"/>
                      </m:rPr>
                      <a:rPr lang="en-US" altLang="zh-CN" sz="1800" b="0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∇</m:t>
                    </m:r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，因此总可找到上述最小的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  <a:blipFill>
                <a:blip r:embed="rId3"/>
                <a:stretch>
                  <a:fillRect l="-733" r="-3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马夸特法</a:t>
            </a:r>
            <a:r>
              <a:rPr lang="en-US" altLang="zh-CN" sz="2800" dirty="0">
                <a:ea typeface="宋体" panose="02010600030101010101" pitchFamily="2" charset="-122"/>
              </a:rPr>
              <a:t>(Marquardt method)</a:t>
            </a:r>
          </a:p>
        </p:txBody>
      </p:sp>
    </p:spTree>
    <p:extLst>
      <p:ext uri="{BB962C8B-B14F-4D97-AF65-F5344CB8AC3E}">
        <p14:creationId xmlns:p14="http://schemas.microsoft.com/office/powerpoint/2010/main" val="3324757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Case</a:t>
                </a: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吉利兰关联图数据如表所示</a:t>
                </a: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函数关系</a:t>
                </a: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p>
                          <m:sSub>
                            <m:sSub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则目标函数为</a:t>
                </a: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Sup>
                                            <m:sSubSupPr>
                                              <m:ctrlPr>
                                                <a:rPr lang="zh-CN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等线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sSub>
                                                <m:sSubPr>
                                                  <m:ctrlPr>
                                                    <a:rPr lang="zh-CN" altLang="zh-CN" sz="18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8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800" i="1" kern="10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等线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3</m:t>
                                                  </m:r>
                                                </m:sub>
                                              </m:sSub>
                                            </m:sup>
                                          </m:sSubSup>
                                        </m:e>
                                      </m:d>
                                      <m:r>
                                        <a:rPr lang="en-US" altLang="zh-CN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等线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等线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的梯度</a:t>
                </a: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p>
                                </m:sSubSup>
                                <m:func>
                                  <m:func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zh-CN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  <a:blipFill>
                <a:blip r:embed="rId3"/>
                <a:stretch>
                  <a:fillRect l="-1200" t="-988" b="-1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马夸特法</a:t>
            </a:r>
            <a:r>
              <a:rPr lang="en-US" altLang="zh-CN" sz="2800" dirty="0">
                <a:ea typeface="宋体" panose="02010600030101010101" pitchFamily="2" charset="-122"/>
              </a:rPr>
              <a:t>(Marquardt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79E870C-7771-41B7-A54D-8173A0379D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5853399"/>
                  </p:ext>
                </p:extLst>
              </p:nvPr>
            </p:nvGraphicFramePr>
            <p:xfrm>
              <a:off x="1066800" y="1594468"/>
              <a:ext cx="6096636" cy="146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15852">
                      <a:extLst>
                        <a:ext uri="{9D8B030D-6E8A-4147-A177-3AD203B41FA5}">
                          <a16:colId xmlns:a16="http://schemas.microsoft.com/office/drawing/2014/main" val="77772898"/>
                        </a:ext>
                      </a:extLst>
                    </a:gridCol>
                    <a:gridCol w="1015852">
                      <a:extLst>
                        <a:ext uri="{9D8B030D-6E8A-4147-A177-3AD203B41FA5}">
                          <a16:colId xmlns:a16="http://schemas.microsoft.com/office/drawing/2014/main" val="37760363"/>
                        </a:ext>
                      </a:extLst>
                    </a:gridCol>
                    <a:gridCol w="1016614">
                      <a:extLst>
                        <a:ext uri="{9D8B030D-6E8A-4147-A177-3AD203B41FA5}">
                          <a16:colId xmlns:a16="http://schemas.microsoft.com/office/drawing/2014/main" val="1219427970"/>
                        </a:ext>
                      </a:extLst>
                    </a:gridCol>
                    <a:gridCol w="1015852">
                      <a:extLst>
                        <a:ext uri="{9D8B030D-6E8A-4147-A177-3AD203B41FA5}">
                          <a16:colId xmlns:a16="http://schemas.microsoft.com/office/drawing/2014/main" val="1463461611"/>
                        </a:ext>
                      </a:extLst>
                    </a:gridCol>
                    <a:gridCol w="1015852">
                      <a:extLst>
                        <a:ext uri="{9D8B030D-6E8A-4147-A177-3AD203B41FA5}">
                          <a16:colId xmlns:a16="http://schemas.microsoft.com/office/drawing/2014/main" val="2659226839"/>
                        </a:ext>
                      </a:extLst>
                    </a:gridCol>
                    <a:gridCol w="1016614">
                      <a:extLst>
                        <a:ext uri="{9D8B030D-6E8A-4147-A177-3AD203B41FA5}">
                          <a16:colId xmlns:a16="http://schemas.microsoft.com/office/drawing/2014/main" val="4749075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995470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0.69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0.37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65597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0.21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831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0.62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866848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0.9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0.16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48835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16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6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0.45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1.0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sz="16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0861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79E870C-7771-41B7-A54D-8173A0379D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5853399"/>
                  </p:ext>
                </p:extLst>
              </p:nvPr>
            </p:nvGraphicFramePr>
            <p:xfrm>
              <a:off x="1066800" y="1594468"/>
              <a:ext cx="6096636" cy="146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15852">
                      <a:extLst>
                        <a:ext uri="{9D8B030D-6E8A-4147-A177-3AD203B41FA5}">
                          <a16:colId xmlns:a16="http://schemas.microsoft.com/office/drawing/2014/main" val="77772898"/>
                        </a:ext>
                      </a:extLst>
                    </a:gridCol>
                    <a:gridCol w="1015852">
                      <a:extLst>
                        <a:ext uri="{9D8B030D-6E8A-4147-A177-3AD203B41FA5}">
                          <a16:colId xmlns:a16="http://schemas.microsoft.com/office/drawing/2014/main" val="37760363"/>
                        </a:ext>
                      </a:extLst>
                    </a:gridCol>
                    <a:gridCol w="1016614">
                      <a:extLst>
                        <a:ext uri="{9D8B030D-6E8A-4147-A177-3AD203B41FA5}">
                          <a16:colId xmlns:a16="http://schemas.microsoft.com/office/drawing/2014/main" val="1219427970"/>
                        </a:ext>
                      </a:extLst>
                    </a:gridCol>
                    <a:gridCol w="1015852">
                      <a:extLst>
                        <a:ext uri="{9D8B030D-6E8A-4147-A177-3AD203B41FA5}">
                          <a16:colId xmlns:a16="http://schemas.microsoft.com/office/drawing/2014/main" val="1463461611"/>
                        </a:ext>
                      </a:extLst>
                    </a:gridCol>
                    <a:gridCol w="1015852">
                      <a:extLst>
                        <a:ext uri="{9D8B030D-6E8A-4147-A177-3AD203B41FA5}">
                          <a16:colId xmlns:a16="http://schemas.microsoft.com/office/drawing/2014/main" val="2659226839"/>
                        </a:ext>
                      </a:extLst>
                    </a:gridCol>
                    <a:gridCol w="1016614">
                      <a:extLst>
                        <a:ext uri="{9D8B030D-6E8A-4147-A177-3AD203B41FA5}">
                          <a16:colId xmlns:a16="http://schemas.microsoft.com/office/drawing/2014/main" val="474907500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500" r="-500000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500" r="-400000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500" r="-300000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807" t="-2500" r="-201807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401" t="-2500" r="-100599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401" t="-2500" r="-599" b="-5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954708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0.69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0.37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655976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0.67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0.21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8315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0.62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8668485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0.54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0.9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0.16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488351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CN" sz="16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zh-CN" sz="16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0.45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1.0</a:t>
                          </a:r>
                          <a:endParaRPr lang="zh-CN" sz="16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</a:t>
                          </a:r>
                          <a:endParaRPr lang="zh-CN" sz="16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0861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18348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Case</a:t>
                </a:r>
              </a:p>
              <a:p>
                <a:pPr marL="0" indent="0" algn="just">
                  <a:buNone/>
                </a:pPr>
                <a:r>
                  <a:rPr lang="zh-CN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=0.01, </m:t>
                    </m:r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=2.0, </m:t>
                    </m:r>
                    <m:sSup>
                      <m:sSupPr>
                        <m:ctrlPr>
                          <a:rPr lang="zh-CN" altLang="zh-CN" sz="1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1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0.6,−0.4, 0.3</m:t>
                            </m:r>
                          </m:e>
                        </m:d>
                      </m:e>
                      <m:sup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，目标函数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=0.1864</m:t>
                    </m:r>
                  </m:oMath>
                </a14:m>
                <a:r>
                  <a:rPr lang="zh-CN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b="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点处</a:t>
                </a:r>
                <a:r>
                  <a:rPr lang="en-US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Jacobin</a:t>
                </a:r>
                <a:r>
                  <a:rPr lang="zh-CN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矩阵为</a:t>
                </a: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𝑱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0.2512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0.4627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0.3092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0.4839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0.3807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0.4902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0.5012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0.4616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0.6170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0.3972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0.6908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0.3356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0.7597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0.2784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0.8123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0.2252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0.9689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0.0408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0.0000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0.0000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−0.1905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−0.1937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−0.1723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−0.1405</m:t>
                              </m:r>
                            </m: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−0.0968</m:t>
                              </m:r>
                            </m: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−0.0487</m:t>
                              </m:r>
                            </m: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0.0861</m:t>
                              </m:r>
                            </m: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0.0351</m:t>
                              </m:r>
                            </m: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0.0524</m:t>
                              </m:r>
                            </m:e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0.2000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  <a:blipFill>
                <a:blip r:embed="rId3"/>
                <a:stretch>
                  <a:fillRect l="-1200" t="-988" r="-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马夸特法</a:t>
            </a:r>
            <a:r>
              <a:rPr lang="en-US" altLang="zh-CN" sz="2800" dirty="0">
                <a:ea typeface="宋体" panose="02010600030101010101" pitchFamily="2" charset="-122"/>
              </a:rPr>
              <a:t>(Marquardt method)</a:t>
            </a:r>
          </a:p>
        </p:txBody>
      </p:sp>
    </p:spTree>
    <p:extLst>
      <p:ext uri="{BB962C8B-B14F-4D97-AF65-F5344CB8AC3E}">
        <p14:creationId xmlns:p14="http://schemas.microsoft.com/office/powerpoint/2010/main" val="288710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Case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𝑱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𝑭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0.4688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−0.0073</m:t>
                                    </m:r>
                                  </m:e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0.3520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3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𝑱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𝑱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6.2970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3.1757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6.2970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4.5968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1.5968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3.1757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1.5968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1.3020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𝑱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1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𝑱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800" b="1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𝑰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10.01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6.2970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3.1757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6.2970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4.6068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1.6068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3.1757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1.5968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1.3020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得到法方程为</a:t>
                </a: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10.01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6.2970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3.1757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6.2970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4.6068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1.6068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3.1757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1.5968</m:t>
                                </m:r>
                              </m:e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1.3020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800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800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800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zh-CN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 kern="100"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0.4688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−0.0073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0.3520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zh-CN" sz="1800" b="1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0.1434−0.2946 0.2796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18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1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0.7434−0.6946 0.5796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目标函数值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=0.0263&lt;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1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完成一次迭代，由于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800" b="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d>
                      <m:dPr>
                        <m:ctrlPr>
                          <a:rPr lang="zh-CN" altLang="zh-CN" sz="1400" b="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1400" b="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b="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需要</a:t>
                </a:r>
                <a:r>
                  <a:rPr lang="zh-CN" altLang="zh-CN" sz="1800" b="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进行第二次迭代</a:t>
                </a: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  <a:blipFill>
                <a:blip r:embed="rId3"/>
                <a:stretch>
                  <a:fillRect l="-1200" t="-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马夸特法</a:t>
            </a:r>
            <a:r>
              <a:rPr lang="en-US" altLang="zh-CN" sz="2800" dirty="0">
                <a:ea typeface="宋体" panose="02010600030101010101" pitchFamily="2" charset="-122"/>
              </a:rPr>
              <a:t>(Marquardt method)</a:t>
            </a:r>
          </a:p>
        </p:txBody>
      </p:sp>
    </p:spTree>
    <p:extLst>
      <p:ext uri="{BB962C8B-B14F-4D97-AF65-F5344CB8AC3E}">
        <p14:creationId xmlns:p14="http://schemas.microsoft.com/office/powerpoint/2010/main" val="728156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53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Ex</a:t>
                </a: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化工流体管路实验中摩擦阻力系数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和雷诺数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𝑅𝑒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的实验数据如下标，已知阻力系数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和雷诺数</a:t>
                </a:r>
                <a14:m>
                  <m:oMath xmlns:m="http://schemas.openxmlformats.org/officeDocument/2006/math">
                    <m:r>
                      <a:rPr lang="en-US" altLang="zh-CN" sz="1800" b="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𝑅𝑒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之间的函数关系为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zh-CN" altLang="zh-CN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𝑅𝑒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8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zh-CN" altLang="zh-CN" sz="180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尝试</a:t>
                </a:r>
              </a:p>
              <a:p>
                <a:pPr marL="0" indent="0" algn="just">
                  <a:buNone/>
                </a:pP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(1) 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建立该非线性最小二乘问题的数学模型；</a:t>
                </a:r>
              </a:p>
              <a:p>
                <a:pPr marL="0" indent="0" algn="just">
                  <a:buNone/>
                </a:pP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(2) 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假设模型求解初始点为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800" b="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kern="100" smtClean="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0.5,−0.1,0.001</m:t>
                            </m:r>
                          </m:e>
                        </m:d>
                      </m:e>
                      <m:sup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，阻尼因子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=0.1</m:t>
                    </m:r>
                  </m:oMath>
                </a14:m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，利用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MATLAB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编程实现</a:t>
                </a:r>
                <a:r>
                  <a:rPr lang="en-US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Marquardt</a:t>
                </a:r>
                <a:r>
                  <a:rPr lang="zh-CN" altLang="zh-CN" sz="1800" b="0" kern="100" dirty="0">
                    <a:effectLst/>
                    <a:latin typeface="华光楷体_CNKI" panose="02000500000000000000" pitchFamily="2" charset="-122"/>
                    <a:ea typeface="华光楷体_CNKI" panose="02000500000000000000" pitchFamily="2" charset="-122"/>
                    <a:cs typeface="Times New Roman" panose="02020603050405020304" pitchFamily="18" charset="0"/>
                  </a:rPr>
                  <a:t>算法对该问题的求解。</a:t>
                </a: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b="0" kern="100" dirty="0">
                  <a:effectLst/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zh-CN" altLang="zh-CN" sz="1800" b="0" kern="100" dirty="0">
                  <a:latin typeface="华光楷体_CNKI" panose="02000500000000000000" pitchFamily="2" charset="-122"/>
                  <a:ea typeface="华光楷体_CNKI" panose="02000500000000000000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553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85800"/>
                <a:ext cx="9144000" cy="6172200"/>
              </a:xfrm>
              <a:blipFill>
                <a:blip r:embed="rId3"/>
                <a:stretch>
                  <a:fillRect l="-1200" t="-988" r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7635875" cy="762000"/>
          </a:xfrm>
        </p:spPr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马夸特法</a:t>
            </a:r>
            <a:r>
              <a:rPr lang="en-US" altLang="zh-CN" sz="2800" dirty="0">
                <a:ea typeface="宋体" panose="02010600030101010101" pitchFamily="2" charset="-122"/>
              </a:rPr>
              <a:t>(Marquardt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6CF5C729-DA8B-4BAC-97EC-66A3CA5F78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2832118"/>
                  </p:ext>
                </p:extLst>
              </p:nvPr>
            </p:nvGraphicFramePr>
            <p:xfrm>
              <a:off x="1752600" y="4114800"/>
              <a:ext cx="624840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62100">
                      <a:extLst>
                        <a:ext uri="{9D8B030D-6E8A-4147-A177-3AD203B41FA5}">
                          <a16:colId xmlns:a16="http://schemas.microsoft.com/office/drawing/2014/main" val="2463304750"/>
                        </a:ext>
                      </a:extLst>
                    </a:gridCol>
                    <a:gridCol w="1562100">
                      <a:extLst>
                        <a:ext uri="{9D8B030D-6E8A-4147-A177-3AD203B41FA5}">
                          <a16:colId xmlns:a16="http://schemas.microsoft.com/office/drawing/2014/main" val="499921062"/>
                        </a:ext>
                      </a:extLst>
                    </a:gridCol>
                    <a:gridCol w="1562100">
                      <a:extLst>
                        <a:ext uri="{9D8B030D-6E8A-4147-A177-3AD203B41FA5}">
                          <a16:colId xmlns:a16="http://schemas.microsoft.com/office/drawing/2014/main" val="3702444532"/>
                        </a:ext>
                      </a:extLst>
                    </a:gridCol>
                    <a:gridCol w="1562100">
                      <a:extLst>
                        <a:ext uri="{9D8B030D-6E8A-4147-A177-3AD203B41FA5}">
                          <a16:colId xmlns:a16="http://schemas.microsoft.com/office/drawing/2014/main" val="78983425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𝑅𝑒</m:t>
                                </m:r>
                              </m:oMath>
                            </m:oMathPara>
                          </a14:m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𝑅𝑒</m:t>
                                </m:r>
                              </m:oMath>
                            </m:oMathPara>
                          </a14:m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10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795913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4658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0.0399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10350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0.0339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96169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5820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0.0386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11050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0.0341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47182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6525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0.0368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11820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0.0323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379228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7400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0.0362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12850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0.0324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05377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9045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0.0349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13840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0.0321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548381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6CF5C729-DA8B-4BAC-97EC-66A3CA5F78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2832118"/>
                  </p:ext>
                </p:extLst>
              </p:nvPr>
            </p:nvGraphicFramePr>
            <p:xfrm>
              <a:off x="1752600" y="4114800"/>
              <a:ext cx="6248400" cy="182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62100">
                      <a:extLst>
                        <a:ext uri="{9D8B030D-6E8A-4147-A177-3AD203B41FA5}">
                          <a16:colId xmlns:a16="http://schemas.microsoft.com/office/drawing/2014/main" val="2463304750"/>
                        </a:ext>
                      </a:extLst>
                    </a:gridCol>
                    <a:gridCol w="1562100">
                      <a:extLst>
                        <a:ext uri="{9D8B030D-6E8A-4147-A177-3AD203B41FA5}">
                          <a16:colId xmlns:a16="http://schemas.microsoft.com/office/drawing/2014/main" val="499921062"/>
                        </a:ext>
                      </a:extLst>
                    </a:gridCol>
                    <a:gridCol w="1562100">
                      <a:extLst>
                        <a:ext uri="{9D8B030D-6E8A-4147-A177-3AD203B41FA5}">
                          <a16:colId xmlns:a16="http://schemas.microsoft.com/office/drawing/2014/main" val="3702444532"/>
                        </a:ext>
                      </a:extLst>
                    </a:gridCol>
                    <a:gridCol w="1562100">
                      <a:extLst>
                        <a:ext uri="{9D8B030D-6E8A-4147-A177-3AD203B41FA5}">
                          <a16:colId xmlns:a16="http://schemas.microsoft.com/office/drawing/2014/main" val="789834258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00" r="-299611" b="-54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91" t="-4000" r="-200781" b="-54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9611" t="-4000" r="-100000" b="-54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781" t="-4000" r="-391" b="-54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959139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4658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0.0399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10350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0.0339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96169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5820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0.0386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11050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0.0341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0471821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6525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0.0368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11820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0.0323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937922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7400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0.0362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12850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0.0324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053772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9045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0.0349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13840</a:t>
                          </a:r>
                          <a:endParaRPr lang="zh-CN" sz="2000" kern="1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dbl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a:t>0.0321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548381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48138786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8">
      <a:dk1>
        <a:srgbClr val="000000"/>
      </a:dk1>
      <a:lt1>
        <a:srgbClr val="FFFFFF"/>
      </a:lt1>
      <a:dk2>
        <a:srgbClr val="000099"/>
      </a:dk2>
      <a:lt2>
        <a:srgbClr val="000000"/>
      </a:lt2>
      <a:accent1>
        <a:srgbClr val="CCECFF"/>
      </a:accent1>
      <a:accent2>
        <a:srgbClr val="FE9B03"/>
      </a:accent2>
      <a:accent3>
        <a:srgbClr val="FFFFFF"/>
      </a:accent3>
      <a:accent4>
        <a:srgbClr val="000000"/>
      </a:accent4>
      <a:accent5>
        <a:srgbClr val="E2F4FF"/>
      </a:accent5>
      <a:accent6>
        <a:srgbClr val="E68C02"/>
      </a:accent6>
      <a:hlink>
        <a:srgbClr val="114FFB"/>
      </a:hlink>
      <a:folHlink>
        <a:srgbClr val="232323"/>
      </a:folHlink>
    </a:clrScheme>
    <a:fontScheme name="1_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0000"/>
        </a:dk1>
        <a:lt1>
          <a:srgbClr val="FFFFFF"/>
        </a:lt1>
        <a:dk2>
          <a:srgbClr val="000099"/>
        </a:dk2>
        <a:lt2>
          <a:srgbClr val="000000"/>
        </a:lt2>
        <a:accent1>
          <a:srgbClr val="CCECFF"/>
        </a:accent1>
        <a:accent2>
          <a:srgbClr val="FE9B03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68C02"/>
        </a:accent6>
        <a:hlink>
          <a:srgbClr val="114FFB"/>
        </a:hlink>
        <a:folHlink>
          <a:srgbClr val="23232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60741</TotalTime>
  <Words>2746</Words>
  <Application>Microsoft Office PowerPoint</Application>
  <PresentationFormat>全屏显示(4:3)</PresentationFormat>
  <Paragraphs>504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等线</vt:lpstr>
      <vt:lpstr>华光楷体_CNKI</vt:lpstr>
      <vt:lpstr>华文楷体</vt:lpstr>
      <vt:lpstr>Arial</vt:lpstr>
      <vt:lpstr>Berlin Sans FB</vt:lpstr>
      <vt:lpstr>Cambria Math</vt:lpstr>
      <vt:lpstr>Symbol</vt:lpstr>
      <vt:lpstr>Times New Roman</vt:lpstr>
      <vt:lpstr>Wingdings</vt:lpstr>
      <vt:lpstr>1_Default Design</vt:lpstr>
      <vt:lpstr>Intelligent Optimization in Chemical Engineering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最小二乘(高斯牛顿法)</vt:lpstr>
      <vt:lpstr>马夸特法(Marquardt method)</vt:lpstr>
      <vt:lpstr>马夸特法(Marquardt method)</vt:lpstr>
      <vt:lpstr>马夸特法(Marquardt method)</vt:lpstr>
      <vt:lpstr>马夸特法(Marquardt method)</vt:lpstr>
      <vt:lpstr>马夸特法(Marquardt method)</vt:lpstr>
      <vt:lpstr>马夸特法(Marquardt method)</vt:lpstr>
    </vt:vector>
  </TitlesOfParts>
  <Company>NETL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Julianne Klara</dc:creator>
  <cp:lastModifiedBy>chou</cp:lastModifiedBy>
  <cp:revision>963</cp:revision>
  <cp:lastPrinted>2022-10-16T08:18:30Z</cp:lastPrinted>
  <dcterms:created xsi:type="dcterms:W3CDTF">2004-11-23T14:10:40Z</dcterms:created>
  <dcterms:modified xsi:type="dcterms:W3CDTF">2024-11-20T07:25:34Z</dcterms:modified>
</cp:coreProperties>
</file>