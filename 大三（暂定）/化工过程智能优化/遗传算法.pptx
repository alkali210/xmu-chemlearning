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71" r:id="rId8"/>
    <p:sldId id="272" r:id="rId9"/>
    <p:sldId id="273" r:id="rId10"/>
    <p:sldId id="274" r:id="rId11"/>
    <p:sldId id="275" r:id="rId12"/>
    <p:sldId id="264" r:id="rId13"/>
    <p:sldId id="265" r:id="rId14"/>
    <p:sldId id="266" r:id="rId15"/>
    <p:sldId id="267" r:id="rId16"/>
    <p:sldId id="268" r:id="rId17"/>
    <p:sldId id="276" r:id="rId18"/>
    <p:sldId id="277" r:id="rId19"/>
    <p:sldId id="278" r:id="rId20"/>
    <p:sldId id="279" r:id="rId21"/>
    <p:sldId id="280" r:id="rId22"/>
    <p:sldId id="281" r:id="rId23"/>
    <p:sldId id="282" r:id="rId24"/>
    <p:sldId id="283" r:id="rId25"/>
    <p:sldId id="284" r:id="rId26"/>
    <p:sldId id="286" r:id="rId27"/>
    <p:sldId id="285" r:id="rId28"/>
    <p:sldId id="287" r:id="rId29"/>
    <p:sldId id="288" r:id="rId30"/>
    <p:sldId id="289" r:id="rId31"/>
    <p:sldId id="290" r:id="rId32"/>
    <p:sldId id="291"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08" autoAdjust="0"/>
    <p:restoredTop sz="94660"/>
  </p:normalViewPr>
  <p:slideViewPr>
    <p:cSldViewPr snapToGrid="0">
      <p:cViewPr varScale="1">
        <p:scale>
          <a:sx n="60" d="100"/>
          <a:sy n="60" d="100"/>
        </p:scale>
        <p:origin x="90" y="1242"/>
      </p:cViewPr>
      <p:guideLst/>
    </p:cSldViewPr>
  </p:slideViewPr>
  <p:notesTextViewPr>
    <p:cViewPr>
      <p:scale>
        <a:sx n="1" d="1"/>
        <a:sy n="1" d="1"/>
      </p:scale>
      <p:origin x="0" y="0"/>
    </p:cViewPr>
  </p:notesTextViewPr>
  <p:sorterViewPr>
    <p:cViewPr>
      <p:scale>
        <a:sx n="100" d="100"/>
        <a:sy n="100" d="100"/>
      </p:scale>
      <p:origin x="0" y="-20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dirty="0">
                <a:latin typeface="微软雅黑" panose="020B0503020204020204" pitchFamily="34" charset="-122"/>
                <a:ea typeface="微软雅黑" panose="020B0503020204020204" pitchFamily="34" charset="-122"/>
              </a:rPr>
              <a:t>轮盘赌</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pie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20F-479D-9B43-10F0C9CCE13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20F-479D-9B43-10F0C9CCE13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20F-479D-9B43-10F0C9CCE13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20F-479D-9B43-10F0C9CCE13C}"/>
              </c:ext>
            </c:extLst>
          </c:dPt>
          <c:cat>
            <c:strRef>
              <c:f>Sheet1!$A$2:$A$5</c:f>
              <c:strCache>
                <c:ptCount val="4"/>
                <c:pt idx="0">
                  <c:v>s1</c:v>
                </c:pt>
                <c:pt idx="1">
                  <c:v>s2</c:v>
                </c:pt>
                <c:pt idx="2">
                  <c:v>s3</c:v>
                </c:pt>
                <c:pt idx="3">
                  <c:v>s4</c:v>
                </c:pt>
              </c:strCache>
            </c:strRef>
          </c:cat>
          <c:val>
            <c:numRef>
              <c:f>Sheet1!$B$2:$B$5</c:f>
              <c:numCache>
                <c:formatCode>General</c:formatCode>
                <c:ptCount val="4"/>
                <c:pt idx="0">
                  <c:v>0.14000000000000001</c:v>
                </c:pt>
                <c:pt idx="1">
                  <c:v>0.49</c:v>
                </c:pt>
                <c:pt idx="2">
                  <c:v>0.06</c:v>
                </c:pt>
                <c:pt idx="3">
                  <c:v>0.31</c:v>
                </c:pt>
              </c:numCache>
            </c:numRef>
          </c:val>
          <c:extLst>
            <c:ext xmlns:c16="http://schemas.microsoft.com/office/drawing/2014/chart" uri="{C3380CC4-5D6E-409C-BE32-E72D297353CC}">
              <c16:uniqueId val="{00000000-C318-4BE3-B625-BE6DB7EE49C9}"/>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0.49671</cdr:x>
      <cdr:y>0.57225</cdr:y>
    </cdr:from>
    <cdr:to>
      <cdr:x>0.58104</cdr:x>
      <cdr:y>0.60479</cdr:y>
    </cdr:to>
    <cdr:sp macro="" textlink="">
      <cdr:nvSpPr>
        <cdr:cNvPr id="2" name="箭头: 下 1">
          <a:extLst xmlns:a="http://schemas.openxmlformats.org/drawingml/2006/main">
            <a:ext uri="{FF2B5EF4-FFF2-40B4-BE49-F238E27FC236}">
              <a16:creationId xmlns:a16="http://schemas.microsoft.com/office/drawing/2014/main" id="{6E318908-D6E0-4F60-A281-136948FEDB80}"/>
            </a:ext>
          </a:extLst>
        </cdr:cNvPr>
        <cdr:cNvSpPr/>
      </cdr:nvSpPr>
      <cdr:spPr>
        <a:xfrm xmlns:a="http://schemas.openxmlformats.org/drawingml/2006/main" rot="18760504" flipH="1">
          <a:off x="1667359" y="1195054"/>
          <a:ext cx="73451" cy="266700"/>
        </a:xfrm>
        <a:prstGeom xmlns:a="http://schemas.openxmlformats.org/drawingml/2006/main" prst="downArrow">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zh-CN"/>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4F706-F9C4-40C0-8562-E1F8D9E02724}" type="datetimeFigureOut">
              <a:rPr lang="zh-CN" altLang="en-US" smtClean="0"/>
              <a:t>2024/12/7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68025D-A18A-4B82-853C-C608C78CF840}" type="slidenum">
              <a:rPr lang="zh-CN" altLang="en-US" smtClean="0"/>
              <a:t>‹#›</a:t>
            </a:fld>
            <a:endParaRPr lang="zh-CN" altLang="en-US"/>
          </a:p>
        </p:txBody>
      </p:sp>
    </p:spTree>
    <p:extLst>
      <p:ext uri="{BB962C8B-B14F-4D97-AF65-F5344CB8AC3E}">
        <p14:creationId xmlns:p14="http://schemas.microsoft.com/office/powerpoint/2010/main" val="2797595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100BEE-1260-484F-8F6E-3932792FD45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423D6A2-738C-47D7-80BE-F30BB4363E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32CCE8E-269D-44B4-AA1D-C7E1AD25EA2E}"/>
              </a:ext>
            </a:extLst>
          </p:cNvPr>
          <p:cNvSpPr>
            <a:spLocks noGrp="1"/>
          </p:cNvSpPr>
          <p:nvPr>
            <p:ph type="dt" sz="half" idx="10"/>
          </p:nvPr>
        </p:nvSpPr>
        <p:spPr/>
        <p:txBody>
          <a:bodyPr/>
          <a:lstStyle/>
          <a:p>
            <a:fld id="{7288B403-6323-4E21-BCFD-810CF856B6C2}" type="datetime1">
              <a:rPr lang="zh-CN" altLang="en-US" smtClean="0"/>
              <a:t>2024/12/7</a:t>
            </a:fld>
            <a:endParaRPr lang="zh-CN" altLang="en-US"/>
          </a:p>
        </p:txBody>
      </p:sp>
      <p:sp>
        <p:nvSpPr>
          <p:cNvPr id="5" name="页脚占位符 4">
            <a:extLst>
              <a:ext uri="{FF2B5EF4-FFF2-40B4-BE49-F238E27FC236}">
                <a16:creationId xmlns:a16="http://schemas.microsoft.com/office/drawing/2014/main" id="{25066B8A-10F0-4219-B6A4-6FDEAE159E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2B65EB-92AC-4021-BE43-ABE0462A2CDC}"/>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2468227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CF66A0C-7FED-4F3B-8197-7737CD5C086E}"/>
              </a:ext>
            </a:extLst>
          </p:cNvPr>
          <p:cNvSpPr>
            <a:spLocks noGrp="1"/>
          </p:cNvSpPr>
          <p:nvPr>
            <p:ph type="dt" sz="half" idx="10"/>
          </p:nvPr>
        </p:nvSpPr>
        <p:spPr/>
        <p:txBody>
          <a:bodyPr/>
          <a:lstStyle/>
          <a:p>
            <a:fld id="{D1331924-5638-4799-8D0A-328710FDDC5E}" type="datetime1">
              <a:rPr lang="zh-CN" altLang="en-US" smtClean="0"/>
              <a:t>2024/12/7</a:t>
            </a:fld>
            <a:endParaRPr lang="zh-CN" altLang="en-US"/>
          </a:p>
        </p:txBody>
      </p:sp>
      <p:sp>
        <p:nvSpPr>
          <p:cNvPr id="3" name="页脚占位符 2">
            <a:extLst>
              <a:ext uri="{FF2B5EF4-FFF2-40B4-BE49-F238E27FC236}">
                <a16:creationId xmlns:a16="http://schemas.microsoft.com/office/drawing/2014/main" id="{B35FA578-D23A-4C5D-91BF-7B69C2A1041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DEE952B-8026-43ED-A73B-4104A77E7A5D}"/>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919730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BD32FE-A10C-434C-92A3-70F244C130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BB9E29E-B943-4690-9314-46B049433D11}"/>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5300C62-3BE7-4476-A244-F847857DB9AE}"/>
              </a:ext>
            </a:extLst>
          </p:cNvPr>
          <p:cNvSpPr>
            <a:spLocks noGrp="1"/>
          </p:cNvSpPr>
          <p:nvPr>
            <p:ph type="dt" sz="half" idx="10"/>
          </p:nvPr>
        </p:nvSpPr>
        <p:spPr/>
        <p:txBody>
          <a:bodyPr/>
          <a:lstStyle/>
          <a:p>
            <a:fld id="{9A466D5B-BF70-4066-8E99-1AA27FB2B455}" type="datetime1">
              <a:rPr lang="zh-CN" altLang="en-US" smtClean="0"/>
              <a:t>2024/12/7</a:t>
            </a:fld>
            <a:endParaRPr lang="zh-CN" altLang="en-US"/>
          </a:p>
        </p:txBody>
      </p:sp>
      <p:sp>
        <p:nvSpPr>
          <p:cNvPr id="5" name="页脚占位符 4">
            <a:extLst>
              <a:ext uri="{FF2B5EF4-FFF2-40B4-BE49-F238E27FC236}">
                <a16:creationId xmlns:a16="http://schemas.microsoft.com/office/drawing/2014/main" id="{D344B1AD-E9F0-4401-8DF6-E57F4CC6A14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C7D377-5A7F-4E75-965E-59A6908BCA59}"/>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4269707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9DA0EE-195E-404F-B0D9-072ADEBD8FD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6525386-F6A5-4AE4-A764-6E4A69DDE0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48C06920-4020-445C-8C0C-B798E44A9A9D}"/>
              </a:ext>
            </a:extLst>
          </p:cNvPr>
          <p:cNvSpPr>
            <a:spLocks noGrp="1"/>
          </p:cNvSpPr>
          <p:nvPr>
            <p:ph type="dt" sz="half" idx="10"/>
          </p:nvPr>
        </p:nvSpPr>
        <p:spPr/>
        <p:txBody>
          <a:bodyPr/>
          <a:lstStyle/>
          <a:p>
            <a:fld id="{3B781B2E-8DF9-4BE6-90C4-6B81ACC00958}" type="datetime1">
              <a:rPr lang="zh-CN" altLang="en-US" smtClean="0"/>
              <a:t>2024/12/7</a:t>
            </a:fld>
            <a:endParaRPr lang="zh-CN" altLang="en-US"/>
          </a:p>
        </p:txBody>
      </p:sp>
      <p:sp>
        <p:nvSpPr>
          <p:cNvPr id="5" name="页脚占位符 4">
            <a:extLst>
              <a:ext uri="{FF2B5EF4-FFF2-40B4-BE49-F238E27FC236}">
                <a16:creationId xmlns:a16="http://schemas.microsoft.com/office/drawing/2014/main" id="{A73FA112-A2A3-4CB7-87DA-8D0D1FD9ECD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3415CF-798C-4591-8B5E-05E47F35F43E}"/>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2477042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9E9A93-E0A2-4F9C-B186-9FC8D8C409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6A32A6B-7202-43F7-A77E-95778C59FD88}"/>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0884FF83-2CC1-4D99-A649-1A44D1ADCDAD}"/>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086D078-5DE6-47DC-9B62-C4EC226673C3}"/>
              </a:ext>
            </a:extLst>
          </p:cNvPr>
          <p:cNvSpPr>
            <a:spLocks noGrp="1"/>
          </p:cNvSpPr>
          <p:nvPr>
            <p:ph type="dt" sz="half" idx="10"/>
          </p:nvPr>
        </p:nvSpPr>
        <p:spPr/>
        <p:txBody>
          <a:bodyPr/>
          <a:lstStyle/>
          <a:p>
            <a:fld id="{12A08D32-96DA-4051-8F0F-768DE00787A3}" type="datetime1">
              <a:rPr lang="zh-CN" altLang="en-US" smtClean="0"/>
              <a:t>2024/12/7</a:t>
            </a:fld>
            <a:endParaRPr lang="zh-CN" altLang="en-US"/>
          </a:p>
        </p:txBody>
      </p:sp>
      <p:sp>
        <p:nvSpPr>
          <p:cNvPr id="6" name="页脚占位符 5">
            <a:extLst>
              <a:ext uri="{FF2B5EF4-FFF2-40B4-BE49-F238E27FC236}">
                <a16:creationId xmlns:a16="http://schemas.microsoft.com/office/drawing/2014/main" id="{4E43AC1B-B7DE-4386-806F-2440B416AAC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09F2978-5900-48E5-9CB5-88624F88E047}"/>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3534118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BE8E18-B5EC-48D6-9040-70432D1516A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08DBE49-E185-48EB-9C5E-44E9BF1C75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2986D7DA-396B-4BDC-AB42-786EE379257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FE58D039-474A-4EF6-AD4A-406CE182F4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78D9571-C015-4672-A20F-5FD1B4882E99}"/>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5DE5F7EA-7EC3-4B71-AC85-456578CA81BF}"/>
              </a:ext>
            </a:extLst>
          </p:cNvPr>
          <p:cNvSpPr>
            <a:spLocks noGrp="1"/>
          </p:cNvSpPr>
          <p:nvPr>
            <p:ph type="dt" sz="half" idx="10"/>
          </p:nvPr>
        </p:nvSpPr>
        <p:spPr/>
        <p:txBody>
          <a:bodyPr/>
          <a:lstStyle/>
          <a:p>
            <a:fld id="{AF4A252A-F74E-4885-9C20-F17C61741E64}" type="datetime1">
              <a:rPr lang="zh-CN" altLang="en-US" smtClean="0"/>
              <a:t>2024/12/7</a:t>
            </a:fld>
            <a:endParaRPr lang="zh-CN" altLang="en-US"/>
          </a:p>
        </p:txBody>
      </p:sp>
      <p:sp>
        <p:nvSpPr>
          <p:cNvPr id="8" name="页脚占位符 7">
            <a:extLst>
              <a:ext uri="{FF2B5EF4-FFF2-40B4-BE49-F238E27FC236}">
                <a16:creationId xmlns:a16="http://schemas.microsoft.com/office/drawing/2014/main" id="{7DCAF2B0-37D4-4583-8C80-65F12BD26A7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CB93AE9-526A-4BB8-8536-B881A68A4D2D}"/>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3549238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EF7E75-5DD3-49D0-8397-BD31E0D670B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696B0D2-364A-4996-9626-061D357BB934}"/>
              </a:ext>
            </a:extLst>
          </p:cNvPr>
          <p:cNvSpPr>
            <a:spLocks noGrp="1"/>
          </p:cNvSpPr>
          <p:nvPr>
            <p:ph type="dt" sz="half" idx="10"/>
          </p:nvPr>
        </p:nvSpPr>
        <p:spPr/>
        <p:txBody>
          <a:bodyPr/>
          <a:lstStyle/>
          <a:p>
            <a:fld id="{4BF6799D-6A77-4560-AFD3-0EB7D73BAA43}" type="datetime1">
              <a:rPr lang="zh-CN" altLang="en-US" smtClean="0"/>
              <a:t>2024/12/7</a:t>
            </a:fld>
            <a:endParaRPr lang="zh-CN" altLang="en-US"/>
          </a:p>
        </p:txBody>
      </p:sp>
      <p:sp>
        <p:nvSpPr>
          <p:cNvPr id="4" name="页脚占位符 3">
            <a:extLst>
              <a:ext uri="{FF2B5EF4-FFF2-40B4-BE49-F238E27FC236}">
                <a16:creationId xmlns:a16="http://schemas.microsoft.com/office/drawing/2014/main" id="{BA3D1BE3-3558-4694-A51A-7207D49CC71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5CF050A-ACA1-4D75-8741-2D8E4A53A381}"/>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46136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35CC48-6A91-4086-8148-ED0897FEBD5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0660465-3D74-4A40-97EB-6755E1A99D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24D61F1-4439-44AF-9127-DAAF8A91B7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FD4F0AD2-6886-48C6-817B-80BEAA50A3A6}"/>
              </a:ext>
            </a:extLst>
          </p:cNvPr>
          <p:cNvSpPr>
            <a:spLocks noGrp="1"/>
          </p:cNvSpPr>
          <p:nvPr>
            <p:ph type="dt" sz="half" idx="10"/>
          </p:nvPr>
        </p:nvSpPr>
        <p:spPr/>
        <p:txBody>
          <a:bodyPr/>
          <a:lstStyle/>
          <a:p>
            <a:fld id="{A67F873B-95DA-4080-9811-003932112DC4}" type="datetime1">
              <a:rPr lang="zh-CN" altLang="en-US" smtClean="0"/>
              <a:t>2024/12/7</a:t>
            </a:fld>
            <a:endParaRPr lang="zh-CN" altLang="en-US"/>
          </a:p>
        </p:txBody>
      </p:sp>
      <p:sp>
        <p:nvSpPr>
          <p:cNvPr id="6" name="页脚占位符 5">
            <a:extLst>
              <a:ext uri="{FF2B5EF4-FFF2-40B4-BE49-F238E27FC236}">
                <a16:creationId xmlns:a16="http://schemas.microsoft.com/office/drawing/2014/main" id="{A11646BB-9105-4D3C-B436-E9C7B408A0D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90E2371-9167-40A1-9534-EC988862E7B4}"/>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586424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8C6054-FB63-4951-9724-1048368A818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EF84D0-F281-4F64-B3C1-8CD825A117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A6D4D60-8838-4B1B-AC43-9995CC167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89030ED-1D5A-451A-89A5-8D116B3D69CE}"/>
              </a:ext>
            </a:extLst>
          </p:cNvPr>
          <p:cNvSpPr>
            <a:spLocks noGrp="1"/>
          </p:cNvSpPr>
          <p:nvPr>
            <p:ph type="dt" sz="half" idx="10"/>
          </p:nvPr>
        </p:nvSpPr>
        <p:spPr/>
        <p:txBody>
          <a:bodyPr/>
          <a:lstStyle/>
          <a:p>
            <a:fld id="{7ED6ADF4-48DE-4A92-9F4A-D239E4E0AA89}" type="datetime1">
              <a:rPr lang="zh-CN" altLang="en-US" smtClean="0"/>
              <a:t>2024/12/7</a:t>
            </a:fld>
            <a:endParaRPr lang="zh-CN" altLang="en-US"/>
          </a:p>
        </p:txBody>
      </p:sp>
      <p:sp>
        <p:nvSpPr>
          <p:cNvPr id="6" name="页脚占位符 5">
            <a:extLst>
              <a:ext uri="{FF2B5EF4-FFF2-40B4-BE49-F238E27FC236}">
                <a16:creationId xmlns:a16="http://schemas.microsoft.com/office/drawing/2014/main" id="{82CD1994-ECD8-49A2-B5A4-23D1D5D953B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7F9DE58-D832-47D0-BF9F-B9BBEE18C203}"/>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2447744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CF6D8-A2DF-44E0-8CA0-03FC31E202F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6104CA5-0997-48FE-B24A-BC9255BC143C}"/>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EBD1A1C-8368-45CD-99BE-1559D2D3C7DF}"/>
              </a:ext>
            </a:extLst>
          </p:cNvPr>
          <p:cNvSpPr>
            <a:spLocks noGrp="1"/>
          </p:cNvSpPr>
          <p:nvPr>
            <p:ph type="dt" sz="half" idx="10"/>
          </p:nvPr>
        </p:nvSpPr>
        <p:spPr/>
        <p:txBody>
          <a:bodyPr/>
          <a:lstStyle/>
          <a:p>
            <a:fld id="{BD712FE2-EF67-4CA8-A64B-E72DF6B30D68}" type="datetime1">
              <a:rPr lang="zh-CN" altLang="en-US" smtClean="0"/>
              <a:t>2024/12/7</a:t>
            </a:fld>
            <a:endParaRPr lang="zh-CN" altLang="en-US"/>
          </a:p>
        </p:txBody>
      </p:sp>
      <p:sp>
        <p:nvSpPr>
          <p:cNvPr id="5" name="页脚占位符 4">
            <a:extLst>
              <a:ext uri="{FF2B5EF4-FFF2-40B4-BE49-F238E27FC236}">
                <a16:creationId xmlns:a16="http://schemas.microsoft.com/office/drawing/2014/main" id="{AC1BDBBE-56E9-44BA-9DDD-268CCA802E9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3EF4EA-62DA-48D8-9888-66333F958641}"/>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2751611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413946D-279D-41F0-A172-D15BED56D1A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792DA8C-7B40-42FC-B533-694E8E7747CE}"/>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9B9B92E-B642-4581-A26D-BB2D4C26B6D7}"/>
              </a:ext>
            </a:extLst>
          </p:cNvPr>
          <p:cNvSpPr>
            <a:spLocks noGrp="1"/>
          </p:cNvSpPr>
          <p:nvPr>
            <p:ph type="dt" sz="half" idx="10"/>
          </p:nvPr>
        </p:nvSpPr>
        <p:spPr/>
        <p:txBody>
          <a:bodyPr/>
          <a:lstStyle/>
          <a:p>
            <a:fld id="{E5E96E01-A591-4611-95CE-BF5E6061A40B}" type="datetime1">
              <a:rPr lang="zh-CN" altLang="en-US" smtClean="0"/>
              <a:t>2024/12/7</a:t>
            </a:fld>
            <a:endParaRPr lang="zh-CN" altLang="en-US"/>
          </a:p>
        </p:txBody>
      </p:sp>
      <p:sp>
        <p:nvSpPr>
          <p:cNvPr id="5" name="页脚占位符 4">
            <a:extLst>
              <a:ext uri="{FF2B5EF4-FFF2-40B4-BE49-F238E27FC236}">
                <a16:creationId xmlns:a16="http://schemas.microsoft.com/office/drawing/2014/main" id="{AB8A4E68-108D-4BF1-B7C1-59764E398B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F0F5261-C33C-45F8-9822-F34CFEEA140F}"/>
              </a:ext>
            </a:extLst>
          </p:cNvPr>
          <p:cNvSpPr>
            <a:spLocks noGrp="1"/>
          </p:cNvSpPr>
          <p:nvPr>
            <p:ph type="sldNum" sz="quarter" idx="12"/>
          </p:nvPr>
        </p:nvSpPr>
        <p:spPr/>
        <p:txBody>
          <a:body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762341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F38DB69-A6C5-4526-820A-E6E2BBADBD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5CE4A3D-4613-469C-9F21-BAECA0310D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418BFE3-9275-4003-A530-3C79730149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60D3DE-88F3-461C-9786-59347EB14D3B}" type="datetime1">
              <a:rPr lang="zh-CN" altLang="en-US" smtClean="0"/>
              <a:t>2024/12/7</a:t>
            </a:fld>
            <a:endParaRPr lang="zh-CN" altLang="en-US"/>
          </a:p>
        </p:txBody>
      </p:sp>
      <p:sp>
        <p:nvSpPr>
          <p:cNvPr id="5" name="页脚占位符 4">
            <a:extLst>
              <a:ext uri="{FF2B5EF4-FFF2-40B4-BE49-F238E27FC236}">
                <a16:creationId xmlns:a16="http://schemas.microsoft.com/office/drawing/2014/main" id="{481C4B23-7AA7-48B7-9B31-4707F5F8CD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6DDC715-8F30-4BB2-AE57-D908A2FB42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F00559-2011-4BAE-98C0-93470F977BD5}" type="slidenum">
              <a:rPr lang="zh-CN" altLang="en-US" smtClean="0"/>
              <a:t>‹#›</a:t>
            </a:fld>
            <a:endParaRPr lang="zh-CN" altLang="en-US"/>
          </a:p>
        </p:txBody>
      </p:sp>
    </p:spTree>
    <p:extLst>
      <p:ext uri="{BB962C8B-B14F-4D97-AF65-F5344CB8AC3E}">
        <p14:creationId xmlns:p14="http://schemas.microsoft.com/office/powerpoint/2010/main" val="208580496"/>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6C7B04A-7BF7-4154-8D46-513109576869}"/>
              </a:ext>
            </a:extLst>
          </p:cNvPr>
          <p:cNvSpPr txBox="1"/>
          <p:nvPr/>
        </p:nvSpPr>
        <p:spPr>
          <a:xfrm>
            <a:off x="295564" y="295564"/>
            <a:ext cx="3946236" cy="707886"/>
          </a:xfrm>
          <a:prstGeom prst="rect">
            <a:avLst/>
          </a:prstGeom>
          <a:noFill/>
        </p:spPr>
        <p:txBody>
          <a:bodyPr wrap="square" rtlCol="0">
            <a:spAutoFit/>
          </a:bodyPr>
          <a:lstStyle/>
          <a:p>
            <a:r>
              <a:rPr lang="en-US" altLang="zh-CN" sz="4000" dirty="0">
                <a:latin typeface="华文隶书" panose="02010800040101010101" pitchFamily="2" charset="-122"/>
                <a:ea typeface="华文隶书" panose="02010800040101010101" pitchFamily="2" charset="-122"/>
              </a:rPr>
              <a:t>《</a:t>
            </a:r>
            <a:r>
              <a:rPr lang="zh-CN" altLang="en-US" sz="4000" dirty="0">
                <a:latin typeface="华文隶书" panose="02010800040101010101" pitchFamily="2" charset="-122"/>
                <a:ea typeface="华文隶书" panose="02010800040101010101" pitchFamily="2" charset="-122"/>
              </a:rPr>
              <a:t>智能优化</a:t>
            </a:r>
            <a:r>
              <a:rPr lang="en-US" altLang="zh-CN" sz="4000" dirty="0">
                <a:latin typeface="华文隶书" panose="02010800040101010101" pitchFamily="2" charset="-122"/>
                <a:ea typeface="华文隶书" panose="02010800040101010101" pitchFamily="2" charset="-122"/>
              </a:rPr>
              <a:t>》</a:t>
            </a:r>
            <a:endParaRPr lang="zh-CN" altLang="en-US" sz="4000" dirty="0">
              <a:latin typeface="华文隶书" panose="02010800040101010101" pitchFamily="2" charset="-122"/>
              <a:ea typeface="华文隶书" panose="02010800040101010101" pitchFamily="2" charset="-122"/>
            </a:endParaRPr>
          </a:p>
        </p:txBody>
      </p:sp>
      <p:grpSp>
        <p:nvGrpSpPr>
          <p:cNvPr id="11" name="组合 10">
            <a:extLst>
              <a:ext uri="{FF2B5EF4-FFF2-40B4-BE49-F238E27FC236}">
                <a16:creationId xmlns:a16="http://schemas.microsoft.com/office/drawing/2014/main" id="{308678EC-AABD-49F0-800C-54D7736D01AC}"/>
              </a:ext>
            </a:extLst>
          </p:cNvPr>
          <p:cNvGrpSpPr/>
          <p:nvPr/>
        </p:nvGrpSpPr>
        <p:grpSpPr>
          <a:xfrm>
            <a:off x="1043709" y="2159237"/>
            <a:ext cx="10104582" cy="745601"/>
            <a:chOff x="1043709" y="1490369"/>
            <a:chExt cx="10104582" cy="745601"/>
          </a:xfrm>
        </p:grpSpPr>
        <p:grpSp>
          <p:nvGrpSpPr>
            <p:cNvPr id="8" name="组合 7">
              <a:extLst>
                <a:ext uri="{FF2B5EF4-FFF2-40B4-BE49-F238E27FC236}">
                  <a16:creationId xmlns:a16="http://schemas.microsoft.com/office/drawing/2014/main" id="{082AE667-6163-4234-9561-9587A8AEE517}"/>
                </a:ext>
              </a:extLst>
            </p:cNvPr>
            <p:cNvGrpSpPr/>
            <p:nvPr/>
          </p:nvGrpSpPr>
          <p:grpSpPr>
            <a:xfrm>
              <a:off x="1043709" y="2139371"/>
              <a:ext cx="10104582" cy="96599"/>
              <a:chOff x="665018" y="1502062"/>
              <a:chExt cx="10104582" cy="96599"/>
            </a:xfrm>
          </p:grpSpPr>
          <p:sp>
            <p:nvSpPr>
              <p:cNvPr id="5" name="矩形 4">
                <a:extLst>
                  <a:ext uri="{FF2B5EF4-FFF2-40B4-BE49-F238E27FC236}">
                    <a16:creationId xmlns:a16="http://schemas.microsoft.com/office/drawing/2014/main" id="{756F60A0-3862-43C9-A4A1-6038F775D4ED}"/>
                  </a:ext>
                </a:extLst>
              </p:cNvPr>
              <p:cNvSpPr/>
              <p:nvPr/>
            </p:nvSpPr>
            <p:spPr>
              <a:xfrm>
                <a:off x="665018" y="1506297"/>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6948F382-DE96-49E2-87DA-080FC2B7076E}"/>
                  </a:ext>
                </a:extLst>
              </p:cNvPr>
              <p:cNvCxnSpPr>
                <a:cxnSpLocks/>
              </p:cNvCxnSpPr>
              <p:nvPr/>
            </p:nvCxnSpPr>
            <p:spPr>
              <a:xfrm flipV="1">
                <a:off x="849745" y="1502062"/>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D661CBAD-1B45-4FCD-935E-4D621BEBBF97}"/>
                </a:ext>
              </a:extLst>
            </p:cNvPr>
            <p:cNvSpPr txBox="1"/>
            <p:nvPr/>
          </p:nvSpPr>
          <p:spPr>
            <a:xfrm>
              <a:off x="1228436" y="1490369"/>
              <a:ext cx="9809019" cy="707886"/>
            </a:xfrm>
            <a:prstGeom prst="rect">
              <a:avLst/>
            </a:prstGeom>
            <a:noFill/>
          </p:spPr>
          <p:txBody>
            <a:bodyPr wrap="square" rtlCol="0">
              <a:spAutoFit/>
            </a:bodyPr>
            <a:lstStyle/>
            <a:p>
              <a:r>
                <a:rPr lang="zh-CN" altLang="en-US" sz="4000" dirty="0">
                  <a:latin typeface="华文隶书" panose="02010800040101010101" pitchFamily="2" charset="-122"/>
                  <a:ea typeface="华文隶书" panose="02010800040101010101" pitchFamily="2" charset="-122"/>
                </a:rPr>
                <a:t>智 能 优 化 算 法</a:t>
              </a:r>
              <a:r>
                <a:rPr lang="en-US" altLang="zh-CN" sz="4000" dirty="0">
                  <a:latin typeface="华文隶书" panose="02010800040101010101" pitchFamily="2" charset="-122"/>
                  <a:ea typeface="华文隶书" panose="02010800040101010101" pitchFamily="2" charset="-122"/>
                </a:rPr>
                <a:t>:              </a:t>
              </a:r>
              <a:r>
                <a:rPr lang="zh-CN" altLang="en-US" sz="4000" dirty="0">
                  <a:latin typeface="华文隶书" panose="02010800040101010101" pitchFamily="2" charset="-122"/>
                  <a:ea typeface="华文隶书" panose="02010800040101010101" pitchFamily="2" charset="-122"/>
                </a:rPr>
                <a:t>遗 传 算 法</a:t>
              </a:r>
            </a:p>
          </p:txBody>
        </p:sp>
      </p:grpSp>
      <p:sp>
        <p:nvSpPr>
          <p:cNvPr id="10" name="文本框 9">
            <a:extLst>
              <a:ext uri="{FF2B5EF4-FFF2-40B4-BE49-F238E27FC236}">
                <a16:creationId xmlns:a16="http://schemas.microsoft.com/office/drawing/2014/main" id="{52C6724E-864A-4D1B-BF26-2816461B2FC3}"/>
              </a:ext>
            </a:extLst>
          </p:cNvPr>
          <p:cNvSpPr txBox="1"/>
          <p:nvPr/>
        </p:nvSpPr>
        <p:spPr>
          <a:xfrm>
            <a:off x="4812587" y="4233639"/>
            <a:ext cx="2751552"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主讲人：陈 某</a:t>
            </a:r>
          </a:p>
        </p:txBody>
      </p:sp>
      <p:pic>
        <p:nvPicPr>
          <p:cNvPr id="15" name="图片 14">
            <a:extLst>
              <a:ext uri="{FF2B5EF4-FFF2-40B4-BE49-F238E27FC236}">
                <a16:creationId xmlns:a16="http://schemas.microsoft.com/office/drawing/2014/main" id="{40F3F4FE-4755-47E1-9100-B69331F67B70}"/>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10842470" y="127866"/>
            <a:ext cx="1053966" cy="1049000"/>
          </a:xfrm>
          <a:prstGeom prst="rect">
            <a:avLst/>
          </a:prstGeom>
        </p:spPr>
      </p:pic>
      <p:sp>
        <p:nvSpPr>
          <p:cNvPr id="16" name="灯片编号占位符 15">
            <a:extLst>
              <a:ext uri="{FF2B5EF4-FFF2-40B4-BE49-F238E27FC236}">
                <a16:creationId xmlns:a16="http://schemas.microsoft.com/office/drawing/2014/main" id="{660D8AC1-2D1D-4549-8F89-97C67E195DF3}"/>
              </a:ext>
            </a:extLst>
          </p:cNvPr>
          <p:cNvSpPr>
            <a:spLocks noGrp="1"/>
          </p:cNvSpPr>
          <p:nvPr>
            <p:ph type="sldNum" sz="quarter" idx="12"/>
          </p:nvPr>
        </p:nvSpPr>
        <p:spPr/>
        <p:txBody>
          <a:bodyPr/>
          <a:lstStyle/>
          <a:p>
            <a:fld id="{C7F00559-2011-4BAE-98C0-93470F977BD5}" type="slidenum">
              <a:rPr lang="zh-CN" altLang="en-US" smtClean="0"/>
              <a:t>1</a:t>
            </a:fld>
            <a:endParaRPr lang="zh-CN" altLang="en-US"/>
          </a:p>
        </p:txBody>
      </p:sp>
    </p:spTree>
    <p:extLst>
      <p:ext uri="{BB962C8B-B14F-4D97-AF65-F5344CB8AC3E}">
        <p14:creationId xmlns:p14="http://schemas.microsoft.com/office/powerpoint/2010/main" val="1019304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智能优化算法</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15498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优化问题的本质：在可行域内找到一个能够使得目标函数最优的点，本质上就是一个找最优点的过程。</a:t>
            </a:r>
            <a:endParaRPr lang="en-US" altLang="zh-CN" sz="2400" dirty="0">
              <a:latin typeface="宋体" panose="02010600030101010101" pitchFamily="2" charset="-122"/>
              <a:ea typeface="宋体" panose="02010600030101010101" pitchFamily="2" charset="-122"/>
            </a:endParaRPr>
          </a:p>
          <a:p>
            <a:pPr marL="285750" indent="-28575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优化问题分类</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凸优化问题：仅存在一个极点，且该极点就是最优解</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非凸优化问题：存在多个极点，而最优解是众极点中的某一个</a:t>
            </a:r>
            <a:endParaRPr lang="en-US" altLang="zh-CN" sz="2400" dirty="0">
              <a:latin typeface="宋体" panose="02010600030101010101" pitchFamily="2" charset="-122"/>
              <a:ea typeface="宋体" panose="02010600030101010101" pitchFamily="2" charset="-122"/>
            </a:endParaRPr>
          </a:p>
          <a:p>
            <a:pPr marL="342900" lvl="1" indent="-34290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优化问题的求解思路</a:t>
            </a:r>
            <a:endParaRPr lang="en-US" altLang="zh-CN" sz="2400" dirty="0">
              <a:latin typeface="宋体" panose="02010600030101010101" pitchFamily="2" charset="-122"/>
              <a:ea typeface="宋体" panose="02010600030101010101" pitchFamily="2" charset="-122"/>
            </a:endParaRPr>
          </a:p>
          <a:p>
            <a:pPr marL="800100" lvl="2"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对于低维且简单的凸优化问题，通常可以采用直接求解的方式得到最优解的解析解。</a:t>
            </a:r>
            <a:endParaRPr lang="en-US" altLang="zh-CN" sz="2400" dirty="0">
              <a:latin typeface="宋体" panose="02010600030101010101" pitchFamily="2" charset="-122"/>
              <a:ea typeface="宋体" panose="02010600030101010101" pitchFamily="2" charset="-122"/>
            </a:endParaRPr>
          </a:p>
          <a:p>
            <a:pPr marL="800100" lvl="2"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但是对于高维并且难以求解的优化问题，通常只能使用逼近的方式得到最优解的近似解，例如梯度下降法，牛顿法等。但该类方法通常存在一个问题</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不能很好的求解非凸优化问题。</a:t>
            </a:r>
            <a:endParaRPr lang="en-US" altLang="zh-CN" sz="2400" dirty="0">
              <a:latin typeface="宋体" panose="02010600030101010101" pitchFamily="2" charset="-122"/>
              <a:ea typeface="宋体" panose="02010600030101010101" pitchFamily="2" charset="-122"/>
            </a:endParaRP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3758340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智能优化算法</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3785652"/>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为什么像梯度下降法、牛顿法等算法很难求解非凸优化问题？</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逼近法求解均需要给定一个初始解，而初始解的位置不一定能够达到最优峰。</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所有单纯的逼近法都是“盲目”的，只能走到某座山的山顶，但并不能知道这座山本身是不是最高的山。</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总结的说，利用该类方法来解决非凸优化问题是看运气的，不稳定的，对于极点越多的优化问题，其一次解决的概率就越小。</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endParaRPr lang="en-US" altLang="zh-CN" sz="2400" dirty="0">
              <a:latin typeface="宋体" panose="02010600030101010101" pitchFamily="2" charset="-122"/>
              <a:ea typeface="宋体" panose="02010600030101010101" pitchFamily="2" charset="-122"/>
            </a:endParaRPr>
          </a:p>
          <a:p>
            <a:pPr marL="0" lvl="1" indent="-34290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如何提高搜寻到最优解的可能？</a:t>
            </a:r>
            <a:endParaRPr lang="en-US" altLang="zh-CN" sz="2400" dirty="0">
              <a:latin typeface="宋体" panose="02010600030101010101" pitchFamily="2" charset="-122"/>
              <a:ea typeface="宋体" panose="02010600030101010101" pitchFamily="2" charset="-122"/>
            </a:endParaRPr>
          </a:p>
          <a:p>
            <a:pPr marL="0" lvl="1" indent="-34290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如何减少搜索最优解所需要的次数</a:t>
            </a:r>
            <a:r>
              <a:rPr lang="en-US" altLang="zh-CN" sz="2400" dirty="0">
                <a:latin typeface="宋体" panose="02010600030101010101" pitchFamily="2" charset="-122"/>
                <a:ea typeface="宋体" panose="02010600030101010101" pitchFamily="2" charset="-122"/>
              </a:rPr>
              <a:t>?</a:t>
            </a: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3</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1078557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Effect transition="in" filter="fade">
                                      <p:cBhvr>
                                        <p:cTn id="7" dur="500"/>
                                        <p:tgtEl>
                                          <p:spTgt spid="1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2" end="2"/>
                                            </p:txEl>
                                          </p:spTgt>
                                        </p:tgtEl>
                                        <p:attrNameLst>
                                          <p:attrName>style.visibility</p:attrName>
                                        </p:attrNameLst>
                                      </p:cBhvr>
                                      <p:to>
                                        <p:strVal val="visible"/>
                                      </p:to>
                                    </p:set>
                                    <p:animEffect transition="in" filter="fade">
                                      <p:cBhvr>
                                        <p:cTn id="12" dur="500"/>
                                        <p:tgtEl>
                                          <p:spTgt spid="1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xEl>
                                              <p:pRg st="3" end="3"/>
                                            </p:txEl>
                                          </p:spTgt>
                                        </p:tgtEl>
                                        <p:attrNameLst>
                                          <p:attrName>style.visibility</p:attrName>
                                        </p:attrNameLst>
                                      </p:cBhvr>
                                      <p:to>
                                        <p:strVal val="visible"/>
                                      </p:to>
                                    </p:set>
                                    <p:animEffect transition="in" filter="fade">
                                      <p:cBhvr>
                                        <p:cTn id="17" dur="500"/>
                                        <p:tgtEl>
                                          <p:spTgt spid="1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xEl>
                                              <p:pRg st="5" end="5"/>
                                            </p:txEl>
                                          </p:spTgt>
                                        </p:tgtEl>
                                        <p:attrNameLst>
                                          <p:attrName>style.visibility</p:attrName>
                                        </p:attrNameLst>
                                      </p:cBhvr>
                                      <p:to>
                                        <p:strVal val="visible"/>
                                      </p:to>
                                    </p:set>
                                    <p:animEffect transition="in" filter="fade">
                                      <p:cBhvr>
                                        <p:cTn id="22" dur="500"/>
                                        <p:tgtEl>
                                          <p:spTgt spid="1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xEl>
                                              <p:pRg st="6" end="6"/>
                                            </p:txEl>
                                          </p:spTgt>
                                        </p:tgtEl>
                                        <p:attrNameLst>
                                          <p:attrName>style.visibility</p:attrName>
                                        </p:attrNameLst>
                                      </p:cBhvr>
                                      <p:to>
                                        <p:strVal val="visible"/>
                                      </p:to>
                                    </p:set>
                                    <p:animEffect transition="in" filter="fade">
                                      <p:cBhvr>
                                        <p:cTn id="27" dur="500"/>
                                        <p:tgtEl>
                                          <p:spTgt spid="1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智能优化算法</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15498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采取多次随机取初始点的方法，增加搜寻到最优解的可能。</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在可行域内均匀得随机取点，类似于将原本的可行域划分为多个小可行域，分别搜索解。该随机的方法，在概率上增大了单次搜索得到最优解的可能性。</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但是，由于随机性的存在，以及目标函数极点分布的不可知性，该方法并不能保证单次搜索一定得到最优解。</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可以通过增加随机初始点的数量来提高单次搜索到最优解的成功率，但无节制得增加初始点的数量也会增加计算量，造成算力的浪费。</a:t>
            </a:r>
            <a:endParaRPr lang="en-US" altLang="zh-CN" sz="2400" dirty="0">
              <a:latin typeface="宋体" panose="02010600030101010101" pitchFamily="2" charset="-122"/>
              <a:ea typeface="宋体" panose="02010600030101010101" pitchFamily="2" charset="-122"/>
            </a:endParaRPr>
          </a:p>
          <a:p>
            <a:pPr marL="342900" lvl="1" indent="-342900">
              <a:buClr>
                <a:schemeClr val="accent1">
                  <a:lumMod val="75000"/>
                </a:schemeClr>
              </a:buClr>
              <a:buFont typeface="Wingdings" panose="05000000000000000000" pitchFamily="2" charset="2"/>
              <a:buChar char="p"/>
            </a:pPr>
            <a:endParaRPr lang="en-US" altLang="zh-CN" sz="2400" dirty="0">
              <a:latin typeface="宋体" panose="02010600030101010101" pitchFamily="2" charset="-122"/>
              <a:ea typeface="宋体" panose="02010600030101010101" pitchFamily="2" charset="-122"/>
            </a:endParaRPr>
          </a:p>
          <a:p>
            <a:pPr marL="342900" lvl="1" indent="-34290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增加了随机性后的算法，虽然增加了单次求解的概率，但本质上还是盲目的，对于高度非凸的优化问题仍然不是很好的方法。</a:t>
            </a:r>
            <a:endParaRPr lang="en-US" altLang="zh-CN" sz="2400" dirty="0">
              <a:latin typeface="宋体" panose="02010600030101010101" pitchFamily="2" charset="-122"/>
              <a:ea typeface="宋体" panose="02010600030101010101" pitchFamily="2" charset="-122"/>
            </a:endParaRP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4</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1528232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智能优化算法</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524315"/>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智能优化算法又称为现代启发式算法，是一种具有全局优化性能、通用性强、且适合于并行处理的算法。这种算法一般具有严密的理论依据，而不是单纯凭借专家经验，理论上可以在一定的时间内找到最优解或近似最优解。</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智能优化算法的种类</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遗传算法</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(Genetic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Algorithm,GA</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模拟退火算法</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(Simulated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Annealing,SA</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禁忌搜索算法</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Tabu</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Search,TS</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marL="800100" lvl="1" indent="-342900">
              <a:buClr>
                <a:schemeClr val="accent1">
                  <a:lumMod val="75000"/>
                </a:schemeClr>
              </a:buClr>
              <a:buFont typeface="Wingdings" panose="05000000000000000000" pitchFamily="2" charset="2"/>
              <a:buChar char="n"/>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marL="0" lvl="1" indent="-34290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智能优化算法的特点：都是从任一解出发，按照某种机制，以一定的概率在整个求解空间中搜索最优解。由于它们可以把搜索空间扩展到整个问题空间，因而具有全局优化性能。</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5</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1246157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遗传算法的背景</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15498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遗传算法</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(Genetic Algorithm</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是模拟生物在自然环境中的遗传和进化的过程而形成的自适应全局优化搜索算法。</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遗传算法借鉴了达尔文的进化论和孟德尔的遗传学说。其本质是一种</a:t>
            </a:r>
            <a:r>
              <a:rPr lang="zh-CN" altLang="en-US" sz="2400"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并行、高效、全局搜索</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方法，它能在搜索过程中自动获取和积累有关搜索空间的知识，并自适应地控制搜索过程以求得最优解。遗传算法操作使用“适者生存”的原则，在潜在的解决方案群中逐次产生一个近似最优的方案。在遗传算法的每一代中，根据个体在问题域中的</a:t>
            </a:r>
            <a:r>
              <a:rPr lang="zh-CN" altLang="en-US" sz="2400"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适应值</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和从自然遗传学中借鉴来的</a:t>
            </a:r>
            <a:r>
              <a:rPr lang="zh-CN" altLang="en-US" sz="2400"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再造方法</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进行个体选择，产生一个新的近似解。这个过程导致种群中个体的进化，得到的新个体比原个体更能适应环境，就像自然界中的改造一样。</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6</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497367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遗传算法的基本概念</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15498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个体与种群</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个体就是模拟生物个体而对问题中的对象</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一般就是问题的解</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的一种称呼，一个个体也就是搜索空间中的一个点。</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种群就是模拟生物种群而由若干个体组成的群体，它一般是整个搜索空间的一个很小的子集。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适应度与适应度函数</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适应度</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(fitness)</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就是借鉴生物个体对环境的适应程度，而对问题中的个体对象所设计的表征其优劣的一种测度。</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适应度函数</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(fitness function)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就是问题中的全体个体与其适应度之间的一个对应关系。它一般是一个实值函数。该函数就是遗传算法中指导搜索的评价函数。</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7</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4060489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遗传算法的基本概念</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15498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染色体与基因</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染色体就是问题中个体的某种字符串形式的编码表示。字符串中的字符也就称为基因。</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例如：</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个体</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(9)</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其对应的染色体用二进制表示就为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(1001)</a:t>
            </a:r>
          </a:p>
          <a:p>
            <a:pPr lvl="1">
              <a:buClr>
                <a:schemeClr val="accent1">
                  <a:lumMod val="75000"/>
                </a:schemeClr>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个体</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(2,5,6)</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其其对应的染色体用二进制表示就为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(010,101,110)</a:t>
            </a:r>
          </a:p>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遗传操作：亦称为遗传算子，就是关于染色体的运算。遗传算法中有三种遗传操作：</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选择</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交叉</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变异</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8</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479991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遗传算法的基本概念</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3151055"/>
              </a:xfrm>
              <a:prstGeom prst="rect">
                <a:avLst/>
              </a:prstGeom>
              <a:noFill/>
            </p:spPr>
            <p:txBody>
              <a:bodyPr wrap="square" rtlCol="0">
                <a:spAutoFit/>
              </a:bodyPr>
              <a:lstStyle/>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选择</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复制：通常的做法，对于一个规模为</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的种群</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S</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，按每个染色体</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𝑆</m:t>
                    </m:r>
                    <m:r>
                      <a:rPr lang="zh-CN" altLang="en-US" sz="2400" i="1">
                        <a:latin typeface="Cambria Math" panose="02040503050406030204" pitchFamily="18" charset="0"/>
                        <a:ea typeface="Cambria Math" panose="02040503050406030204" pitchFamily="18" charset="0"/>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选择你概率</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𝑃</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r>
                      <a:rPr lang="zh-CN" altLang="en-US" sz="2400" i="1">
                        <a:latin typeface="Cambria Math" panose="02040503050406030204" pitchFamily="18" charset="0"/>
                        <a:ea typeface="宋体" panose="02010600030101010101" pitchFamily="2" charset="-122"/>
                        <a:cs typeface="Times New Roman" panose="02020603050405020304" pitchFamily="18" charset="0"/>
                      </a:rPr>
                      <m:t>所</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决定的选中机会，分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次从</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中随机选定</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个染色体，并进行复制。</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此处的选择概率</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的计算公式为：</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𝑖</m:t>
                              </m:r>
                            </m:sub>
                          </m:sSub>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f>
                        <m:f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num>
                        <m:den>
                          <m:nary>
                            <m:naryPr>
                              <m:chr m:val="∑"/>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𝑗</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𝑁</m:t>
                              </m:r>
                            </m:sup>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e>
                          </m:nary>
                        </m:den>
                      </m:f>
                    </m:oMath>
                  </m:oMathPara>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根据选择概率的定义，可以发现，适应度函数最好是满足在可行域内均大于零。选择的方式则是通过轮盘赌来确定。</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3151055"/>
              </a:xfrm>
              <a:prstGeom prst="rect">
                <a:avLst/>
              </a:prstGeom>
              <a:blipFill>
                <a:blip r:embed="rId2"/>
                <a:stretch>
                  <a:fillRect t="-2128" r="-784" b="-2901"/>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9</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922850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遗传算法的基本概念</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1938992"/>
              </a:xfrm>
              <a:prstGeom prst="rect">
                <a:avLst/>
              </a:prstGeom>
              <a:noFill/>
            </p:spPr>
            <p:txBody>
              <a:bodyPr wrap="square" rtlCol="0">
                <a:spAutoFit/>
              </a:bodyPr>
              <a:lstStyle/>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交叉：就是互换两个染色体某些位上的基因。</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例如，设染色体</a:t>
                </a:r>
                <a14:m>
                  <m:oMath xmlns:m="http://schemas.openxmlformats.org/officeDocument/2006/math">
                    <m:sSub>
                      <m:sSubPr>
                        <m:ctrlP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 01001011</m:t>
                    </m:r>
                  </m:oMath>
                </a14:m>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
                      <m:sSubPr>
                        <m:ctrlP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 = 10010101</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，交换后四位基因，即</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Sup>
                      <m:sSubSupPr>
                        <m:ctrlP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 01000101</m:t>
                    </m:r>
                  </m:oMath>
                </a14:m>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ea typeface="宋体" panose="02010600030101010101" pitchFamily="2" charset="-122"/>
                    <a:cs typeface="Times New Roman" panose="02020603050405020304" pitchFamily="18" charset="0"/>
                  </a:rPr>
                  <a:t> </a:t>
                </a:r>
                <a14:m>
                  <m:oMath xmlns:m="http://schemas.openxmlformats.org/officeDocument/2006/math">
                    <m:sSubSup>
                      <m:sSubSup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 10011011</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14:m>
                  <m:oMath xmlns:m="http://schemas.openxmlformats.org/officeDocument/2006/math">
                    <m:sSubSup>
                      <m:sSubSup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可以认为是原染色体的子代。</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1938992"/>
              </a:xfrm>
              <a:prstGeom prst="rect">
                <a:avLst/>
              </a:prstGeom>
              <a:blipFill>
                <a:blip r:embed="rId2"/>
                <a:stretch>
                  <a:fillRect t="-3459" r="-3920" b="-5346"/>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10</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grpSp>
        <p:nvGrpSpPr>
          <p:cNvPr id="14" name="组合 13">
            <a:extLst>
              <a:ext uri="{FF2B5EF4-FFF2-40B4-BE49-F238E27FC236}">
                <a16:creationId xmlns:a16="http://schemas.microsoft.com/office/drawing/2014/main" id="{4E1D3223-DC9D-42DA-9338-931A08EF7819}"/>
              </a:ext>
            </a:extLst>
          </p:cNvPr>
          <p:cNvGrpSpPr/>
          <p:nvPr/>
        </p:nvGrpSpPr>
        <p:grpSpPr>
          <a:xfrm>
            <a:off x="4080243" y="3629900"/>
            <a:ext cx="4216239" cy="2160000"/>
            <a:chOff x="1416130" y="2556661"/>
            <a:chExt cx="4216239" cy="2160000"/>
          </a:xfrm>
        </p:grpSpPr>
        <p:sp>
          <p:nvSpPr>
            <p:cNvPr id="15" name="矩形 14">
              <a:extLst>
                <a:ext uri="{FF2B5EF4-FFF2-40B4-BE49-F238E27FC236}">
                  <a16:creationId xmlns:a16="http://schemas.microsoft.com/office/drawing/2014/main" id="{C483D5F8-E676-4DC4-B75A-5C2D017404FA}"/>
                </a:ext>
              </a:extLst>
            </p:cNvPr>
            <p:cNvSpPr/>
            <p:nvPr/>
          </p:nvSpPr>
          <p:spPr>
            <a:xfrm>
              <a:off x="1416130" y="255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2ECFDCEA-994F-436C-B160-5800301DC570}"/>
                </a:ext>
              </a:extLst>
            </p:cNvPr>
            <p:cNvSpPr/>
            <p:nvPr/>
          </p:nvSpPr>
          <p:spPr>
            <a:xfrm>
              <a:off x="1416130" y="291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19C2C091-AFB4-48CA-8912-D9BF2709105C}"/>
                </a:ext>
              </a:extLst>
            </p:cNvPr>
            <p:cNvSpPr/>
            <p:nvPr/>
          </p:nvSpPr>
          <p:spPr>
            <a:xfrm>
              <a:off x="1416130" y="327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095FD2C7-D8C4-4A41-941C-EF6469D096F2}"/>
                </a:ext>
              </a:extLst>
            </p:cNvPr>
            <p:cNvSpPr/>
            <p:nvPr/>
          </p:nvSpPr>
          <p:spPr>
            <a:xfrm>
              <a:off x="1416130" y="3636661"/>
              <a:ext cx="360000" cy="36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06DF377E-4B36-4ECA-86C5-E7345E2AF45D}"/>
                </a:ext>
              </a:extLst>
            </p:cNvPr>
            <p:cNvSpPr/>
            <p:nvPr/>
          </p:nvSpPr>
          <p:spPr>
            <a:xfrm>
              <a:off x="1416130" y="3990359"/>
              <a:ext cx="360000" cy="36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B</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0D4B719B-DFB4-402D-950F-E5C359260EEB}"/>
                </a:ext>
              </a:extLst>
            </p:cNvPr>
            <p:cNvSpPr/>
            <p:nvPr/>
          </p:nvSpPr>
          <p:spPr>
            <a:xfrm>
              <a:off x="1416130" y="4350359"/>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BC7E2845-92FE-4366-AD16-42E51582F91E}"/>
                </a:ext>
              </a:extLst>
            </p:cNvPr>
            <p:cNvSpPr/>
            <p:nvPr/>
          </p:nvSpPr>
          <p:spPr>
            <a:xfrm>
              <a:off x="2231470" y="255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A058D0B9-2748-42EC-9189-7485D8C60DDE}"/>
                </a:ext>
              </a:extLst>
            </p:cNvPr>
            <p:cNvSpPr/>
            <p:nvPr/>
          </p:nvSpPr>
          <p:spPr>
            <a:xfrm>
              <a:off x="2231470" y="291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6530C903-9857-4550-BE5B-8BDD659EC2D1}"/>
                </a:ext>
              </a:extLst>
            </p:cNvPr>
            <p:cNvSpPr/>
            <p:nvPr/>
          </p:nvSpPr>
          <p:spPr>
            <a:xfrm>
              <a:off x="2231470" y="327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27C5F783-4362-42C5-879C-3ACB2D7589B5}"/>
                </a:ext>
              </a:extLst>
            </p:cNvPr>
            <p:cNvSpPr/>
            <p:nvPr/>
          </p:nvSpPr>
          <p:spPr>
            <a:xfrm>
              <a:off x="2231470" y="3636661"/>
              <a:ext cx="360000" cy="36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C</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id="{6302962D-4ACB-4076-BCAB-344065D15538}"/>
                </a:ext>
              </a:extLst>
            </p:cNvPr>
            <p:cNvSpPr/>
            <p:nvPr/>
          </p:nvSpPr>
          <p:spPr>
            <a:xfrm>
              <a:off x="2231470" y="3990359"/>
              <a:ext cx="360000" cy="36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D</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F8478962-2552-457C-9E13-30707F9B5CEF}"/>
                </a:ext>
              </a:extLst>
            </p:cNvPr>
            <p:cNvSpPr/>
            <p:nvPr/>
          </p:nvSpPr>
          <p:spPr>
            <a:xfrm>
              <a:off x="2231470" y="4350359"/>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箭头连接符 30">
              <a:extLst>
                <a:ext uri="{FF2B5EF4-FFF2-40B4-BE49-F238E27FC236}">
                  <a16:creationId xmlns:a16="http://schemas.microsoft.com/office/drawing/2014/main" id="{D4589338-15FF-4D5F-A91E-D6A4E6B9830F}"/>
                </a:ext>
              </a:extLst>
            </p:cNvPr>
            <p:cNvCxnSpPr/>
            <p:nvPr/>
          </p:nvCxnSpPr>
          <p:spPr>
            <a:xfrm>
              <a:off x="2933700" y="3573780"/>
              <a:ext cx="1181100" cy="0"/>
            </a:xfrm>
            <a:prstGeom prst="straightConnector1">
              <a:avLst/>
            </a:prstGeom>
            <a:ln w="254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8969A4E0-2B79-4612-979A-773CDC4F6397}"/>
                </a:ext>
              </a:extLst>
            </p:cNvPr>
            <p:cNvSpPr/>
            <p:nvPr/>
          </p:nvSpPr>
          <p:spPr>
            <a:xfrm>
              <a:off x="3201084" y="3191157"/>
              <a:ext cx="646331" cy="369332"/>
            </a:xfrm>
            <a:prstGeom prst="rect">
              <a:avLst/>
            </a:prstGeom>
            <a:ln>
              <a:noFill/>
            </a:ln>
          </p:spPr>
          <p:txBody>
            <a:bodyPr wrap="none">
              <a:spAutoFit/>
            </a:bodyPr>
            <a:lstStyle/>
            <a:p>
              <a:r>
                <a:rPr lang="zh-CN" altLang="en-US" dirty="0">
                  <a:latin typeface="宋体" panose="02010600030101010101" pitchFamily="2" charset="-122"/>
                  <a:ea typeface="宋体" panose="02010600030101010101" pitchFamily="2" charset="-122"/>
                </a:rPr>
                <a:t>交叉</a:t>
              </a:r>
              <a:endParaRPr lang="zh-CN" altLang="en-US" dirty="0"/>
            </a:p>
          </p:txBody>
        </p:sp>
        <p:sp>
          <p:nvSpPr>
            <p:cNvPr id="33" name="矩形 32">
              <a:extLst>
                <a:ext uri="{FF2B5EF4-FFF2-40B4-BE49-F238E27FC236}">
                  <a16:creationId xmlns:a16="http://schemas.microsoft.com/office/drawing/2014/main" id="{3302AFE1-4700-40A3-9995-CA77EBF47DB7}"/>
                </a:ext>
              </a:extLst>
            </p:cNvPr>
            <p:cNvSpPr/>
            <p:nvPr/>
          </p:nvSpPr>
          <p:spPr>
            <a:xfrm>
              <a:off x="4457029" y="256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AAB2F7C0-9098-4813-94A2-96AA5B2D97FE}"/>
                </a:ext>
              </a:extLst>
            </p:cNvPr>
            <p:cNvSpPr/>
            <p:nvPr/>
          </p:nvSpPr>
          <p:spPr>
            <a:xfrm>
              <a:off x="4457029" y="292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9BC4344E-0AFE-488E-9B33-892EB899E061}"/>
                </a:ext>
              </a:extLst>
            </p:cNvPr>
            <p:cNvSpPr/>
            <p:nvPr/>
          </p:nvSpPr>
          <p:spPr>
            <a:xfrm>
              <a:off x="4457029" y="328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C2CD62BD-00DC-43EE-8E1C-11FEC8533C63}"/>
                </a:ext>
              </a:extLst>
            </p:cNvPr>
            <p:cNvSpPr/>
            <p:nvPr/>
          </p:nvSpPr>
          <p:spPr>
            <a:xfrm>
              <a:off x="4457029" y="3642963"/>
              <a:ext cx="360000" cy="36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C</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ADD6C961-D7E5-4A44-A778-56E7A6721127}"/>
                </a:ext>
              </a:extLst>
            </p:cNvPr>
            <p:cNvSpPr/>
            <p:nvPr/>
          </p:nvSpPr>
          <p:spPr>
            <a:xfrm>
              <a:off x="4457029" y="3996661"/>
              <a:ext cx="360000" cy="36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D</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矩形 37">
              <a:extLst>
                <a:ext uri="{FF2B5EF4-FFF2-40B4-BE49-F238E27FC236}">
                  <a16:creationId xmlns:a16="http://schemas.microsoft.com/office/drawing/2014/main" id="{327018D2-78E2-4C8A-81C2-978D4C392C3C}"/>
                </a:ext>
              </a:extLst>
            </p:cNvPr>
            <p:cNvSpPr/>
            <p:nvPr/>
          </p:nvSpPr>
          <p:spPr>
            <a:xfrm>
              <a:off x="4457029" y="435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F57272E9-80FF-4B70-A1E7-AFA48FAC40D2}"/>
                </a:ext>
              </a:extLst>
            </p:cNvPr>
            <p:cNvSpPr/>
            <p:nvPr/>
          </p:nvSpPr>
          <p:spPr>
            <a:xfrm>
              <a:off x="5272369" y="256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88DDA92A-FAB8-469A-BC37-78EC2AD4A8DD}"/>
                </a:ext>
              </a:extLst>
            </p:cNvPr>
            <p:cNvSpPr/>
            <p:nvPr/>
          </p:nvSpPr>
          <p:spPr>
            <a:xfrm>
              <a:off x="5272369" y="292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F17036E0-92AE-406A-AC63-69736AF5A35C}"/>
                </a:ext>
              </a:extLst>
            </p:cNvPr>
            <p:cNvSpPr/>
            <p:nvPr/>
          </p:nvSpPr>
          <p:spPr>
            <a:xfrm>
              <a:off x="5272369" y="328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3868D9DB-EF50-49F9-BE6C-83CD1B1E8E82}"/>
                </a:ext>
              </a:extLst>
            </p:cNvPr>
            <p:cNvSpPr/>
            <p:nvPr/>
          </p:nvSpPr>
          <p:spPr>
            <a:xfrm>
              <a:off x="5272369" y="3642963"/>
              <a:ext cx="360000" cy="36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43" name="矩形 42">
              <a:extLst>
                <a:ext uri="{FF2B5EF4-FFF2-40B4-BE49-F238E27FC236}">
                  <a16:creationId xmlns:a16="http://schemas.microsoft.com/office/drawing/2014/main" id="{EF203A7E-2ABF-4B4B-A809-D71F99CA09E1}"/>
                </a:ext>
              </a:extLst>
            </p:cNvPr>
            <p:cNvSpPr/>
            <p:nvPr/>
          </p:nvSpPr>
          <p:spPr>
            <a:xfrm>
              <a:off x="5272369" y="3996661"/>
              <a:ext cx="360000" cy="36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B</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44" name="矩形 43">
              <a:extLst>
                <a:ext uri="{FF2B5EF4-FFF2-40B4-BE49-F238E27FC236}">
                  <a16:creationId xmlns:a16="http://schemas.microsoft.com/office/drawing/2014/main" id="{C7A41E0C-4B54-4247-BA9F-E8A50C5D4A5A}"/>
                </a:ext>
              </a:extLst>
            </p:cNvPr>
            <p:cNvSpPr/>
            <p:nvPr/>
          </p:nvSpPr>
          <p:spPr>
            <a:xfrm>
              <a:off x="5272369" y="435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102430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遗传算法的基本概念</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1569660"/>
              </a:xfrm>
              <a:prstGeom prst="rect">
                <a:avLst/>
              </a:prstGeom>
              <a:noFill/>
            </p:spPr>
            <p:txBody>
              <a:bodyPr wrap="square" rtlCol="0">
                <a:spAutoFit/>
              </a:bodyPr>
              <a:lstStyle/>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变异：就是改变染色体某些位上的基因</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例如，设染色体</a:t>
                </a:r>
                <a14:m>
                  <m:oMath xmlns:m="http://schemas.openxmlformats.org/officeDocument/2006/math">
                    <m:sSub>
                      <m:sSubPr>
                        <m:ctrlP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11001101</m:t>
                    </m:r>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，将其第三位上的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变为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，即</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Sup>
                      <m:sSubSupPr>
                        <m:ctrlP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11101101</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14:m>
                  <m:oMath xmlns:m="http://schemas.openxmlformats.org/officeDocument/2006/math">
                    <m:sSubSup>
                      <m:sSubSup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sup>
                    </m:sSubSup>
                    <m:r>
                      <a:rPr lang="zh-CN" altLang="en-US" sz="2400" i="1" dirty="0">
                        <a:latin typeface="Cambria Math" panose="02040503050406030204" pitchFamily="18" charset="0"/>
                        <a:ea typeface="宋体" panose="02010600030101010101" pitchFamily="2" charset="-122"/>
                        <a:cs typeface="Times New Roman" panose="02020603050405020304" pitchFamily="18" charset="0"/>
                      </a:rPr>
                      <m:t>也</m:t>
                    </m:r>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可以认为是原染色体的子代。</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1569660"/>
              </a:xfrm>
              <a:prstGeom prst="rect">
                <a:avLst/>
              </a:prstGeom>
              <a:blipFill>
                <a:blip r:embed="rId2"/>
                <a:stretch>
                  <a:fillRect t="-4264" b="-6589"/>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11</a:t>
            </a:fld>
            <a:endParaRPr lang="zh-CN" altLang="en-US"/>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grpSp>
        <p:nvGrpSpPr>
          <p:cNvPr id="45" name="组合 44">
            <a:extLst>
              <a:ext uri="{FF2B5EF4-FFF2-40B4-BE49-F238E27FC236}">
                <a16:creationId xmlns:a16="http://schemas.microsoft.com/office/drawing/2014/main" id="{767111A8-F381-41D7-9787-4B673CF8DB14}"/>
              </a:ext>
            </a:extLst>
          </p:cNvPr>
          <p:cNvGrpSpPr/>
          <p:nvPr/>
        </p:nvGrpSpPr>
        <p:grpSpPr>
          <a:xfrm>
            <a:off x="4080243" y="3528020"/>
            <a:ext cx="4216239" cy="2160000"/>
            <a:chOff x="1416130" y="2556661"/>
            <a:chExt cx="4216239" cy="2160000"/>
          </a:xfrm>
        </p:grpSpPr>
        <p:sp>
          <p:nvSpPr>
            <p:cNvPr id="46" name="矩形 45">
              <a:extLst>
                <a:ext uri="{FF2B5EF4-FFF2-40B4-BE49-F238E27FC236}">
                  <a16:creationId xmlns:a16="http://schemas.microsoft.com/office/drawing/2014/main" id="{33472945-1809-4EDC-9658-CB33B0F01F74}"/>
                </a:ext>
              </a:extLst>
            </p:cNvPr>
            <p:cNvSpPr/>
            <p:nvPr/>
          </p:nvSpPr>
          <p:spPr>
            <a:xfrm>
              <a:off x="1416130" y="255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A668FEB8-87B4-4AFA-9E29-94193BD3C389}"/>
                </a:ext>
              </a:extLst>
            </p:cNvPr>
            <p:cNvSpPr/>
            <p:nvPr/>
          </p:nvSpPr>
          <p:spPr>
            <a:xfrm>
              <a:off x="1416130" y="291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47ADC555-DF4A-4A05-8C7F-F833DC40BF5B}"/>
                </a:ext>
              </a:extLst>
            </p:cNvPr>
            <p:cNvSpPr/>
            <p:nvPr/>
          </p:nvSpPr>
          <p:spPr>
            <a:xfrm>
              <a:off x="1416130" y="327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63958850-2401-4D59-84D9-A03FAA92A976}"/>
                </a:ext>
              </a:extLst>
            </p:cNvPr>
            <p:cNvSpPr/>
            <p:nvPr/>
          </p:nvSpPr>
          <p:spPr>
            <a:xfrm>
              <a:off x="1416130" y="363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50" name="矩形 49">
              <a:extLst>
                <a:ext uri="{FF2B5EF4-FFF2-40B4-BE49-F238E27FC236}">
                  <a16:creationId xmlns:a16="http://schemas.microsoft.com/office/drawing/2014/main" id="{F48AA17B-98B1-4E19-BDD7-35F824CAD510}"/>
                </a:ext>
              </a:extLst>
            </p:cNvPr>
            <p:cNvSpPr/>
            <p:nvPr/>
          </p:nvSpPr>
          <p:spPr>
            <a:xfrm>
              <a:off x="1416130" y="3990359"/>
              <a:ext cx="360000" cy="3600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51" name="矩形 50">
              <a:extLst>
                <a:ext uri="{FF2B5EF4-FFF2-40B4-BE49-F238E27FC236}">
                  <a16:creationId xmlns:a16="http://schemas.microsoft.com/office/drawing/2014/main" id="{1BF28EDD-F47B-4F0C-909A-AB457DB1F20A}"/>
                </a:ext>
              </a:extLst>
            </p:cNvPr>
            <p:cNvSpPr/>
            <p:nvPr/>
          </p:nvSpPr>
          <p:spPr>
            <a:xfrm>
              <a:off x="1416130" y="4350359"/>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511D6ABF-5A08-45DB-8A77-BCF2D4727530}"/>
                </a:ext>
              </a:extLst>
            </p:cNvPr>
            <p:cNvSpPr/>
            <p:nvPr/>
          </p:nvSpPr>
          <p:spPr>
            <a:xfrm>
              <a:off x="2231470" y="255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1B29ECC0-8C5B-4249-B020-14A3ACC6E5CE}"/>
                </a:ext>
              </a:extLst>
            </p:cNvPr>
            <p:cNvSpPr/>
            <p:nvPr/>
          </p:nvSpPr>
          <p:spPr>
            <a:xfrm>
              <a:off x="2231470" y="291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3A8ED91E-1E55-45B1-A38C-CDD62BADAA45}"/>
                </a:ext>
              </a:extLst>
            </p:cNvPr>
            <p:cNvSpPr/>
            <p:nvPr/>
          </p:nvSpPr>
          <p:spPr>
            <a:xfrm>
              <a:off x="2231470" y="327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8B8161C4-0B2E-40D7-8C82-0034644466E9}"/>
                </a:ext>
              </a:extLst>
            </p:cNvPr>
            <p:cNvSpPr/>
            <p:nvPr/>
          </p:nvSpPr>
          <p:spPr>
            <a:xfrm>
              <a:off x="2231470" y="3636661"/>
              <a:ext cx="360000" cy="3600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B</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56" name="矩形 55">
              <a:extLst>
                <a:ext uri="{FF2B5EF4-FFF2-40B4-BE49-F238E27FC236}">
                  <a16:creationId xmlns:a16="http://schemas.microsoft.com/office/drawing/2014/main" id="{7718BD1D-63AA-45C8-A60D-679811A196E0}"/>
                </a:ext>
              </a:extLst>
            </p:cNvPr>
            <p:cNvSpPr/>
            <p:nvPr/>
          </p:nvSpPr>
          <p:spPr>
            <a:xfrm>
              <a:off x="2231470" y="3990359"/>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E57D8731-EED3-4D8B-8951-BF93E15A23C1}"/>
                </a:ext>
              </a:extLst>
            </p:cNvPr>
            <p:cNvSpPr/>
            <p:nvPr/>
          </p:nvSpPr>
          <p:spPr>
            <a:xfrm>
              <a:off x="2231470" y="4350359"/>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箭头连接符 57">
              <a:extLst>
                <a:ext uri="{FF2B5EF4-FFF2-40B4-BE49-F238E27FC236}">
                  <a16:creationId xmlns:a16="http://schemas.microsoft.com/office/drawing/2014/main" id="{23398B83-ECB5-4C8B-BA7E-66AF5A88276B}"/>
                </a:ext>
              </a:extLst>
            </p:cNvPr>
            <p:cNvCxnSpPr/>
            <p:nvPr/>
          </p:nvCxnSpPr>
          <p:spPr>
            <a:xfrm>
              <a:off x="2933700" y="3573780"/>
              <a:ext cx="1181100" cy="0"/>
            </a:xfrm>
            <a:prstGeom prst="straightConnector1">
              <a:avLst/>
            </a:prstGeom>
            <a:ln w="254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29443A75-C2E8-43A3-8F74-399DA37748CC}"/>
                </a:ext>
              </a:extLst>
            </p:cNvPr>
            <p:cNvSpPr/>
            <p:nvPr/>
          </p:nvSpPr>
          <p:spPr>
            <a:xfrm>
              <a:off x="3201084" y="3191157"/>
              <a:ext cx="646331" cy="369332"/>
            </a:xfrm>
            <a:prstGeom prst="rect">
              <a:avLst/>
            </a:prstGeom>
            <a:ln>
              <a:noFill/>
            </a:ln>
          </p:spPr>
          <p:txBody>
            <a:bodyPr wrap="none">
              <a:spAutoFit/>
            </a:bodyPr>
            <a:lstStyle/>
            <a:p>
              <a:r>
                <a:rPr lang="zh-CN" altLang="en-US" dirty="0">
                  <a:latin typeface="宋体" panose="02010600030101010101" pitchFamily="2" charset="-122"/>
                  <a:ea typeface="宋体" panose="02010600030101010101" pitchFamily="2" charset="-122"/>
                </a:rPr>
                <a:t>变异</a:t>
              </a:r>
              <a:endParaRPr lang="zh-CN" altLang="en-US" dirty="0"/>
            </a:p>
          </p:txBody>
        </p:sp>
        <p:sp>
          <p:nvSpPr>
            <p:cNvPr id="60" name="矩形 59">
              <a:extLst>
                <a:ext uri="{FF2B5EF4-FFF2-40B4-BE49-F238E27FC236}">
                  <a16:creationId xmlns:a16="http://schemas.microsoft.com/office/drawing/2014/main" id="{61E832B3-990C-49D3-8372-EC63CA2BA445}"/>
                </a:ext>
              </a:extLst>
            </p:cNvPr>
            <p:cNvSpPr/>
            <p:nvPr/>
          </p:nvSpPr>
          <p:spPr>
            <a:xfrm>
              <a:off x="4457029" y="256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04FC9D61-E5AB-4503-A704-FA321B237EEC}"/>
                </a:ext>
              </a:extLst>
            </p:cNvPr>
            <p:cNvSpPr/>
            <p:nvPr/>
          </p:nvSpPr>
          <p:spPr>
            <a:xfrm>
              <a:off x="4457029" y="292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5AFDB316-4E1B-4760-9E2D-11B2BAAE8CB3}"/>
                </a:ext>
              </a:extLst>
            </p:cNvPr>
            <p:cNvSpPr/>
            <p:nvPr/>
          </p:nvSpPr>
          <p:spPr>
            <a:xfrm>
              <a:off x="4457029" y="328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a:extLst>
                <a:ext uri="{FF2B5EF4-FFF2-40B4-BE49-F238E27FC236}">
                  <a16:creationId xmlns:a16="http://schemas.microsoft.com/office/drawing/2014/main" id="{F6D227A0-9BF3-4D80-BFDF-E52376EFA23A}"/>
                </a:ext>
              </a:extLst>
            </p:cNvPr>
            <p:cNvSpPr/>
            <p:nvPr/>
          </p:nvSpPr>
          <p:spPr>
            <a:xfrm>
              <a:off x="4457029" y="364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64" name="矩形 63">
              <a:extLst>
                <a:ext uri="{FF2B5EF4-FFF2-40B4-BE49-F238E27FC236}">
                  <a16:creationId xmlns:a16="http://schemas.microsoft.com/office/drawing/2014/main" id="{87076B22-6BC9-4005-9AF7-FEE0FF7838AE}"/>
                </a:ext>
              </a:extLst>
            </p:cNvPr>
            <p:cNvSpPr/>
            <p:nvPr/>
          </p:nvSpPr>
          <p:spPr>
            <a:xfrm>
              <a:off x="4457029" y="3996661"/>
              <a:ext cx="360000" cy="3600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G</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65" name="矩形 64">
              <a:extLst>
                <a:ext uri="{FF2B5EF4-FFF2-40B4-BE49-F238E27FC236}">
                  <a16:creationId xmlns:a16="http://schemas.microsoft.com/office/drawing/2014/main" id="{0500AEC6-5257-491B-8355-9B5A54875C1C}"/>
                </a:ext>
              </a:extLst>
            </p:cNvPr>
            <p:cNvSpPr/>
            <p:nvPr/>
          </p:nvSpPr>
          <p:spPr>
            <a:xfrm>
              <a:off x="4457029" y="435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EBC3A77E-C0C3-4F25-89C0-4F871159B5F2}"/>
                </a:ext>
              </a:extLst>
            </p:cNvPr>
            <p:cNvSpPr/>
            <p:nvPr/>
          </p:nvSpPr>
          <p:spPr>
            <a:xfrm>
              <a:off x="5272369" y="256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2CA3DE32-DB96-4D41-A1D2-C0C29AC39B6E}"/>
                </a:ext>
              </a:extLst>
            </p:cNvPr>
            <p:cNvSpPr/>
            <p:nvPr/>
          </p:nvSpPr>
          <p:spPr>
            <a:xfrm>
              <a:off x="5272369" y="292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DBE47CEC-39FF-4AA2-8907-31FB264530B0}"/>
                </a:ext>
              </a:extLst>
            </p:cNvPr>
            <p:cNvSpPr/>
            <p:nvPr/>
          </p:nvSpPr>
          <p:spPr>
            <a:xfrm>
              <a:off x="5272369" y="3282963"/>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a:extLst>
                <a:ext uri="{FF2B5EF4-FFF2-40B4-BE49-F238E27FC236}">
                  <a16:creationId xmlns:a16="http://schemas.microsoft.com/office/drawing/2014/main" id="{706D8F29-F71E-4488-8191-AFB98D03964C}"/>
                </a:ext>
              </a:extLst>
            </p:cNvPr>
            <p:cNvSpPr/>
            <p:nvPr/>
          </p:nvSpPr>
          <p:spPr>
            <a:xfrm>
              <a:off x="5272369" y="3642963"/>
              <a:ext cx="360000" cy="3600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E</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70" name="矩形 69">
              <a:extLst>
                <a:ext uri="{FF2B5EF4-FFF2-40B4-BE49-F238E27FC236}">
                  <a16:creationId xmlns:a16="http://schemas.microsoft.com/office/drawing/2014/main" id="{20B1942D-E969-496B-BE3D-95340DD0B5AD}"/>
                </a:ext>
              </a:extLst>
            </p:cNvPr>
            <p:cNvSpPr/>
            <p:nvPr/>
          </p:nvSpPr>
          <p:spPr>
            <a:xfrm>
              <a:off x="5272369" y="399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71" name="矩形 70">
              <a:extLst>
                <a:ext uri="{FF2B5EF4-FFF2-40B4-BE49-F238E27FC236}">
                  <a16:creationId xmlns:a16="http://schemas.microsoft.com/office/drawing/2014/main" id="{F7BBE2E9-618F-4EF9-AE20-5DBE8C411135}"/>
                </a:ext>
              </a:extLst>
            </p:cNvPr>
            <p:cNvSpPr/>
            <p:nvPr/>
          </p:nvSpPr>
          <p:spPr>
            <a:xfrm>
              <a:off x="5272369" y="4356661"/>
              <a:ext cx="360000" cy="3600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11127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二进制编码的原理</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84985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二进制编码：用一个</a:t>
                </a:r>
                <a:r>
                  <a:rPr lang="zh-CN" altLang="en-US" sz="2400" dirty="0">
                    <a:solidFill>
                      <a:schemeClr val="accent1"/>
                    </a:solidFill>
                    <a:latin typeface="宋体" panose="02010600030101010101" pitchFamily="2" charset="-122"/>
                    <a:ea typeface="宋体" panose="02010600030101010101" pitchFamily="2" charset="-122"/>
                  </a:rPr>
                  <a:t>二进制串</a:t>
                </a:r>
                <a:r>
                  <a:rPr lang="zh-CN" altLang="en-US" sz="2400" dirty="0">
                    <a:latin typeface="宋体" panose="02010600030101010101" pitchFamily="2" charset="-122"/>
                    <a:ea typeface="宋体" panose="02010600030101010101" pitchFamily="2" charset="-122"/>
                  </a:rPr>
                  <a:t>表示一个十进制数值。</a:t>
                </a:r>
                <a:endParaRPr lang="en-US" altLang="zh-CN" sz="2400" dirty="0">
                  <a:latin typeface="宋体" panose="02010600030101010101" pitchFamily="2" charset="-122"/>
                  <a:ea typeface="宋体" panose="02010600030101010101" pitchFamily="2" charset="-122"/>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本质上二进制就是通过排列组合能够达到的不同编码个数，来表示有限个十进制数值。就如同给某个数字取外号一样。</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二进制编码过程需要注意的几个点：</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1257300" lvl="2" indent="-342900">
                  <a:buClr>
                    <a:schemeClr val="accent1">
                      <a:lumMod val="75000"/>
                    </a:schemeClr>
                  </a:buClr>
                  <a:buFont typeface="Times New Roman" panose="02020603050405020304" pitchFamily="18" charset="0"/>
                  <a:buChar cha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需要给定数值的区间范围</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1257300" lvl="2" indent="-342900">
                  <a:buClr>
                    <a:schemeClr val="accent1">
                      <a:lumMod val="75000"/>
                    </a:schemeClr>
                  </a:buClr>
                  <a:buFont typeface="Times New Roman" panose="02020603050405020304" pitchFamily="18" charset="0"/>
                  <a:buChar cha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需要给定小数精度，即两个数值间的间隔</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1257300" lvl="2" indent="-342900">
                  <a:buClr>
                    <a:schemeClr val="accent1">
                      <a:lumMod val="75000"/>
                    </a:schemeClr>
                  </a:buClr>
                  <a:buFont typeface="Times New Roman" panose="02020603050405020304" pitchFamily="18" charset="0"/>
                  <a:buChar cha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进行编码：为每个数值分配一个独一无二的二进制串</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lvl="2" indent="-34290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数学上一般规定二进制数和十进制数间的转化规则如下</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对于任意二进制数</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不区分小数位和整数位</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marL="0" lvl="2">
                  <a:buClr>
                    <a:schemeClr val="accent1">
                      <a:lumMod val="75000"/>
                    </a:schemeClr>
                  </a:buClr>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𝑛</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𝑛</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0</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=0 </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𝑜𝑟</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 1,</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𝑖</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=0,1,2,…,</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𝑛</m:t>
                      </m:r>
                    </m:oMath>
                  </m:oMathPara>
                </a14:m>
                <a:endParaRPr lang="en-US" altLang="zh-CN" sz="2000" b="0" dirty="0">
                  <a:latin typeface="Times New Roman" panose="02020603050405020304" pitchFamily="18" charset="0"/>
                  <a:ea typeface="宋体" panose="02010600030101010101" pitchFamily="2" charset="-122"/>
                  <a:cs typeface="Times New Roman" panose="02020603050405020304" pitchFamily="18" charset="0"/>
                </a:endParaRPr>
              </a:p>
              <a:p>
                <a:pPr marL="0" lvl="2">
                  <a:buClr>
                    <a:schemeClr val="accent1">
                      <a:lumMod val="75000"/>
                    </a:schemeClr>
                  </a:buCl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其对应的十进制数为</a:t>
                </a:r>
                <a:endParaRPr lang="en-US" altLang="zh-CN" sz="2400" i="1" dirty="0">
                  <a:latin typeface="Cambria Math" panose="02040503050406030204" pitchFamily="18" charset="0"/>
                  <a:ea typeface="宋体" panose="02010600030101010101" pitchFamily="2" charset="-122"/>
                  <a:cs typeface="Times New Roman" panose="02020603050405020304" pitchFamily="18" charset="0"/>
                </a:endParaRPr>
              </a:p>
              <a:p>
                <a:pPr marL="0" lvl="2">
                  <a:buClr>
                    <a:schemeClr val="accent1">
                      <a:lumMod val="75000"/>
                    </a:schemeClr>
                  </a:buClr>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𝐷</m:t>
                      </m:r>
                      <m:r>
                        <m:rPr>
                          <m:sty m:val="p"/>
                        </m:rPr>
                        <a:rPr lang="en-US" altLang="zh-CN" i="1">
                          <a:latin typeface="Cambria Math" panose="02040503050406030204" pitchFamily="18" charset="0"/>
                          <a:ea typeface="宋体" panose="02010600030101010101" pitchFamily="2" charset="-122"/>
                          <a:cs typeface="Times New Roman" panose="02020603050405020304" pitchFamily="18" charset="0"/>
                        </a:rPr>
                        <m:t>ec</m:t>
                      </m:r>
                      <m:r>
                        <a:rPr lang="en-US" altLang="zh-CN" i="1">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i="1">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=0</m:t>
                          </m:r>
                        </m:sub>
                        <m:sup>
                          <m:r>
                            <a:rPr lang="en-US" altLang="zh-CN" i="1">
                              <a:latin typeface="Cambria Math" panose="02040503050406030204" pitchFamily="18" charset="0"/>
                              <a:ea typeface="宋体" panose="02010600030101010101" pitchFamily="2" charset="-122"/>
                              <a:cs typeface="Times New Roman" panose="02020603050405020304" pitchFamily="18" charset="0"/>
                            </a:rPr>
                            <m:t>𝑛</m:t>
                          </m:r>
                        </m:sup>
                        <m:e>
                          <m:sSup>
                            <m:sSup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2</m:t>
                              </m:r>
                            </m:e>
                            <m:sup>
                              <m:r>
                                <a:rPr lang="en-US" altLang="zh-CN" i="1">
                                  <a:latin typeface="Cambria Math" panose="02040503050406030204" pitchFamily="18" charset="0"/>
                                  <a:ea typeface="宋体" panose="02010600030101010101" pitchFamily="2" charset="-122"/>
                                  <a:cs typeface="Times New Roman" panose="02020603050405020304" pitchFamily="18" charset="0"/>
                                </a:rPr>
                                <m:t>𝑖</m:t>
                              </m:r>
                            </m:sup>
                          </m:sSup>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a:latin typeface="Cambria Math" panose="02040503050406030204" pitchFamily="18" charset="0"/>
                                  <a:ea typeface="宋体" panose="02010600030101010101" pitchFamily="2" charset="-122"/>
                                  <a:cs typeface="Times New Roman" panose="02020603050405020304" pitchFamily="18" charset="0"/>
                                </a:rPr>
                                <m:t>𝑖</m:t>
                              </m:r>
                            </m:sub>
                          </m:sSub>
                        </m:e>
                      </m:nary>
                    </m:oMath>
                  </m:oMathPara>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4849854"/>
              </a:xfrm>
              <a:prstGeom prst="rect">
                <a:avLst/>
              </a:prstGeom>
              <a:blipFill>
                <a:blip r:embed="rId2"/>
                <a:stretch>
                  <a:fillRect l="-784" t="-1005"/>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12</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1034949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二进制编码的原理</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524315"/>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二进制编码的特点</a:t>
            </a: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不论编码的长度，只能表示有限个十进制值，本质上是不连续的</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长度为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的二进制编码，能表示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个十进制值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二进制编码的个数并不能很好契合十进制的域。</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例如要表示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[0,10]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区域内的整数，仅需要</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个编码，如果使用二进制进行表示，则需要编码长度为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。但实际上长度为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的二进制编码能够表示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16</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个不同的数值，这就导致有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个额外的编码是无效的。</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由于二进制编码中仅有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的数值，因此就能够利用二进制的这一特性使用逻辑运算，即与或非运算。</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二进制编码并不等同于传统意义上的二进制数，其本质是利用不同的编码来表示特定范围内的不同数值。仅当二进制编码取二进制数的用法时，才能利用二进制数和十进制数的转化关系和某些特点。</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13</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612596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二进制编码的原理</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2999796"/>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二进制编码的长度的选取</a:t>
                </a:r>
              </a:p>
              <a:p>
                <a:pPr lvl="1">
                  <a:buClr>
                    <a:schemeClr val="accent1">
                      <a:lumMod val="75000"/>
                    </a:schemeClr>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要想实现每个数值都能分配一个独一无二的串，那么串所表示的数值个数就要大于等于这个数值解的个数。</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例如，区间范围为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[0,10]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，所需精度为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1e-5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，则编码长度</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需要满足</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f>
                      <m:f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10</m:t>
                        </m:r>
                      </m:num>
                      <m:den>
                        <m:sSup>
                          <m:sSup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e>
                          <m:sup>
                            <m:r>
                              <m:rPr>
                                <m:sty m:val="p"/>
                              </m:rPr>
                              <a:rPr lang="en-US" altLang="zh-CN" sz="2400" i="1">
                                <a:latin typeface="Cambria Math" panose="02040503050406030204" pitchFamily="18" charset="0"/>
                                <a:ea typeface="宋体" panose="02010600030101010101" pitchFamily="2" charset="-122"/>
                                <a:cs typeface="Times New Roman" panose="02020603050405020304" pitchFamily="18" charset="0"/>
                              </a:rPr>
                              <m:t>n</m:t>
                            </m:r>
                          </m:sup>
                        </m:s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den>
                    </m:f>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−5</m:t>
                        </m:r>
                      </m:sup>
                    </m:sSup>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𝑛</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≥20</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如果采用的是二进制数转化十进制数的转化规则，为了尽量不造成编码的浪费，一般编码长度</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取满足要求的最小值。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2999796"/>
              </a:xfrm>
              <a:prstGeom prst="rect">
                <a:avLst/>
              </a:prstGeom>
              <a:blipFill>
                <a:blip r:embed="rId2"/>
                <a:stretch>
                  <a:fillRect l="-784" t="-1626" r="-784" b="-3862"/>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14</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867776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二进制编码的原理</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15498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二进制编码的解码：所谓解码，就是将二进制编码反推计算出对应十进制数值的过程。</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对于能够直接满足二进制数和十进制数转换规则的编码，可以直接采取该规则进行转化。例如，编码用于表示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[0,10]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区间内精度为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1e-5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的所有数字，就可以直接利用二进制转十进制的编码规则。</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但是对于不满足区间下限为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的区间，则需要通过变化后才能用二进制转化规则进行转化。例如，对于区间</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𝑎</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𝑚</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,10]</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。此时将区间</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𝑎</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转化为</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𝑎</m:t>
                    </m:r>
                    <m: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𝑚</m:t>
                        </m:r>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𝑚</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𝑏</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𝑚</m:t>
                    </m:r>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r>
                      <a:rPr lang="zh-CN" altLang="en-US" sz="2400" i="1" smtClean="0">
                        <a:latin typeface="Cambria Math" panose="02040503050406030204" pitchFamily="18" charset="0"/>
                        <a:ea typeface="宋体" panose="02010600030101010101" pitchFamily="2" charset="-122"/>
                        <a:cs typeface="Times New Roman" panose="02020603050405020304" pitchFamily="18" charset="0"/>
                      </a:rPr>
                      <m:t>构造</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的新区间</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𝑏</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能够利用二进制十进制转化规则，间接的就能利用</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𝑏</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区间表示</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𝑎</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区间，从而实现解码。</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endParaRPr lang="en-US" altLang="zh-CN" sz="2400" dirty="0">
                  <a:latin typeface="宋体" panose="02010600030101010101" pitchFamily="2" charset="-122"/>
                  <a:ea typeface="宋体" panose="02010600030101010101" pitchFamily="2" charset="-122"/>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4154984"/>
              </a:xfrm>
              <a:prstGeom prst="rect">
                <a:avLst/>
              </a:prstGeom>
              <a:blipFill>
                <a:blip r:embed="rId2"/>
                <a:stretch>
                  <a:fillRect l="-784" t="-1173"/>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15</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29176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二进制编码的原理</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585486"/>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二进制编码的解码：所谓解码，就是将二进制编码反推计算出对应十进制数值的过程。</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不利用二进制十进制数字转化规则的二进制解码方法：</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2">
                  <a:buClr>
                    <a:schemeClr val="accent1">
                      <a:lumMod val="75000"/>
                    </a:schemeClr>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前面所讲的方法是通过精度设定寻找编码长度，并且不根据编码长度修正精度，该方法会造成编码的浪费。换一个思路，如果根据编码长度修正精度，则可以避免编码的浪费。</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2">
                  <a:buClr>
                    <a:schemeClr val="accent1">
                      <a:lumMod val="75000"/>
                    </a:schemeClr>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做如下定义：</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2">
                  <a:buClr>
                    <a:schemeClr val="accent1">
                      <a:lumMod val="75000"/>
                    </a:schemeClr>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一般的，区间范围为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，区间长度为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，二进制编码长度为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，区间间隔为</a:t>
                </a:r>
                <a14:m>
                  <m:oMath xmlns:m="http://schemas.openxmlformats.org/officeDocument/2006/math">
                    <m:r>
                      <m:rPr>
                        <m:sty m:val="p"/>
                      </m:rPr>
                      <a:rPr lang="en-US" altLang="zh-CN" sz="2400" b="0" i="0" smtClean="0">
                        <a:latin typeface="Cambria Math" panose="02040503050406030204" pitchFamily="18" charset="0"/>
                        <a:ea typeface="宋体" panose="02010600030101010101" pitchFamily="2" charset="-122"/>
                        <a:cs typeface="Times New Roman" panose="02020603050405020304" pitchFamily="18" charset="0"/>
                      </a:rPr>
                      <m:t>T</m:t>
                    </m:r>
                    <m:r>
                      <a:rPr lang="en-US" altLang="zh-CN" sz="2400" b="0" i="0" smtClean="0">
                        <a:latin typeface="Cambria Math" panose="02040503050406030204" pitchFamily="18" charset="0"/>
                        <a:ea typeface="宋体" panose="02010600030101010101" pitchFamily="2" charset="-122"/>
                        <a:cs typeface="Times New Roman" panose="02020603050405020304" pitchFamily="18" charset="0"/>
                      </a:rPr>
                      <m:t>= </m:t>
                    </m:r>
                    <m:f>
                      <m:f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fPr>
                      <m:num>
                        <m:r>
                          <m:rPr>
                            <m:sty m:val="p"/>
                          </m:rPr>
                          <a:rPr lang="en-US" altLang="zh-CN" sz="2400" b="0" i="0" smtClean="0">
                            <a:latin typeface="Cambria Math" panose="02040503050406030204" pitchFamily="18" charset="0"/>
                            <a:ea typeface="宋体" panose="02010600030101010101" pitchFamily="2" charset="-122"/>
                            <a:cs typeface="Times New Roman" panose="02020603050405020304" pitchFamily="18" charset="0"/>
                          </a:rPr>
                          <m:t>L</m:t>
                        </m:r>
                      </m:num>
                      <m:den>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0" smtClean="0">
                                <a:latin typeface="Cambria Math" panose="02040503050406030204" pitchFamily="18" charset="0"/>
                                <a:ea typeface="宋体" panose="02010600030101010101" pitchFamily="2" charset="-122"/>
                                <a:cs typeface="Times New Roman" panose="02020603050405020304" pitchFamily="18" charset="0"/>
                              </a:rPr>
                              <m:t>2</m:t>
                            </m:r>
                          </m:e>
                          <m:sup>
                            <m:r>
                              <m:rPr>
                                <m:sty m:val="p"/>
                              </m:rPr>
                              <a:rPr lang="en-US" altLang="zh-CN" sz="2400" i="0">
                                <a:latin typeface="Cambria Math" panose="02040503050406030204" pitchFamily="18" charset="0"/>
                                <a:ea typeface="宋体" panose="02010600030101010101" pitchFamily="2" charset="-122"/>
                                <a:cs typeface="Times New Roman" panose="02020603050405020304" pitchFamily="18" charset="0"/>
                              </a:rPr>
                              <m:t>n</m:t>
                            </m:r>
                          </m:sup>
                        </m:sSup>
                      </m:den>
                    </m:f>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，那么二进制的解码值为：</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2">
                  <a:buClr>
                    <a:schemeClr val="accent1">
                      <a:lumMod val="75000"/>
                    </a:schemeClr>
                  </a:buClr>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𝑋</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𝑎</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2400" b="0" i="0" smtClean="0">
                          <a:latin typeface="Cambria Math" panose="02040503050406030204" pitchFamily="18" charset="0"/>
                          <a:ea typeface="宋体" panose="02010600030101010101" pitchFamily="2" charset="-122"/>
                          <a:cs typeface="Times New Roman" panose="02020603050405020304" pitchFamily="18" charset="0"/>
                        </a:rPr>
                        <m:t>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sub>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𝑛</m:t>
                          </m:r>
                        </m:sup>
                        <m:e>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sup>
                          </m:sSup>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sub>
                          </m:sSub>
                        </m:e>
                      </m:nary>
                    </m:oMath>
                  </m:oMathPara>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4585486"/>
              </a:xfrm>
              <a:prstGeom prst="rect">
                <a:avLst/>
              </a:prstGeom>
              <a:blipFill>
                <a:blip r:embed="rId2"/>
                <a:stretch>
                  <a:fillRect l="-784" t="-1064"/>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16</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2032017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遗传算法的原理</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61665"/>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遗传算法的基本过程</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17</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grpSp>
        <p:nvGrpSpPr>
          <p:cNvPr id="36" name="组合 35">
            <a:extLst>
              <a:ext uri="{FF2B5EF4-FFF2-40B4-BE49-F238E27FC236}">
                <a16:creationId xmlns:a16="http://schemas.microsoft.com/office/drawing/2014/main" id="{2430C176-FDD3-44A7-8C8A-AF9F9B656852}"/>
              </a:ext>
            </a:extLst>
          </p:cNvPr>
          <p:cNvGrpSpPr/>
          <p:nvPr/>
        </p:nvGrpSpPr>
        <p:grpSpPr>
          <a:xfrm>
            <a:off x="5085937" y="1411412"/>
            <a:ext cx="4698671" cy="4740989"/>
            <a:chOff x="5025901" y="1443477"/>
            <a:chExt cx="4698671" cy="4740989"/>
          </a:xfrm>
        </p:grpSpPr>
        <p:sp>
          <p:nvSpPr>
            <p:cNvPr id="2" name="流程图: 过程 1">
              <a:extLst>
                <a:ext uri="{FF2B5EF4-FFF2-40B4-BE49-F238E27FC236}">
                  <a16:creationId xmlns:a16="http://schemas.microsoft.com/office/drawing/2014/main" id="{3B5B5520-596C-41E7-86C1-FAFB15CB16FF}"/>
                </a:ext>
              </a:extLst>
            </p:cNvPr>
            <p:cNvSpPr/>
            <p:nvPr/>
          </p:nvSpPr>
          <p:spPr>
            <a:xfrm>
              <a:off x="5141610" y="1443477"/>
              <a:ext cx="2177954" cy="4616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生成初始种群</a:t>
              </a:r>
            </a:p>
          </p:txBody>
        </p:sp>
        <p:sp>
          <p:nvSpPr>
            <p:cNvPr id="14" name="流程图: 过程 13">
              <a:extLst>
                <a:ext uri="{FF2B5EF4-FFF2-40B4-BE49-F238E27FC236}">
                  <a16:creationId xmlns:a16="http://schemas.microsoft.com/office/drawing/2014/main" id="{94130ACE-0EE4-4EA8-A512-B637708B7DA2}"/>
                </a:ext>
              </a:extLst>
            </p:cNvPr>
            <p:cNvSpPr/>
            <p:nvPr/>
          </p:nvSpPr>
          <p:spPr>
            <a:xfrm>
              <a:off x="5141610" y="2097536"/>
              <a:ext cx="2177954" cy="4616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计算适应度</a:t>
              </a:r>
            </a:p>
          </p:txBody>
        </p:sp>
        <p:sp>
          <p:nvSpPr>
            <p:cNvPr id="3" name="流程图: 决策 2">
              <a:extLst>
                <a:ext uri="{FF2B5EF4-FFF2-40B4-BE49-F238E27FC236}">
                  <a16:creationId xmlns:a16="http://schemas.microsoft.com/office/drawing/2014/main" id="{7BB641A7-8024-49A8-AD3E-C5124B21ADA0}"/>
                </a:ext>
              </a:extLst>
            </p:cNvPr>
            <p:cNvSpPr/>
            <p:nvPr/>
          </p:nvSpPr>
          <p:spPr>
            <a:xfrm>
              <a:off x="5025901" y="2762444"/>
              <a:ext cx="2409372" cy="80091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终止？</a:t>
              </a:r>
            </a:p>
          </p:txBody>
        </p:sp>
        <p:sp>
          <p:nvSpPr>
            <p:cNvPr id="15" name="流程图: 过程 14">
              <a:extLst>
                <a:ext uri="{FF2B5EF4-FFF2-40B4-BE49-F238E27FC236}">
                  <a16:creationId xmlns:a16="http://schemas.microsoft.com/office/drawing/2014/main" id="{F3DA1DF9-F127-4E9F-ABDF-FB12A25AF15F}"/>
                </a:ext>
              </a:extLst>
            </p:cNvPr>
            <p:cNvSpPr/>
            <p:nvPr/>
          </p:nvSpPr>
          <p:spPr>
            <a:xfrm>
              <a:off x="5141610" y="3766657"/>
              <a:ext cx="2177954" cy="4616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选择</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复制</a:t>
              </a:r>
            </a:p>
          </p:txBody>
        </p:sp>
        <p:sp>
          <p:nvSpPr>
            <p:cNvPr id="16" name="流程图: 过程 15">
              <a:extLst>
                <a:ext uri="{FF2B5EF4-FFF2-40B4-BE49-F238E27FC236}">
                  <a16:creationId xmlns:a16="http://schemas.microsoft.com/office/drawing/2014/main" id="{C84B16D0-A9C0-4450-8653-DC0814F8EF8D}"/>
                </a:ext>
              </a:extLst>
            </p:cNvPr>
            <p:cNvSpPr/>
            <p:nvPr/>
          </p:nvSpPr>
          <p:spPr>
            <a:xfrm>
              <a:off x="5141610" y="4418725"/>
              <a:ext cx="2177954" cy="4616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交叉</a:t>
              </a:r>
            </a:p>
          </p:txBody>
        </p:sp>
        <p:sp>
          <p:nvSpPr>
            <p:cNvPr id="18" name="流程图: 过程 17">
              <a:extLst>
                <a:ext uri="{FF2B5EF4-FFF2-40B4-BE49-F238E27FC236}">
                  <a16:creationId xmlns:a16="http://schemas.microsoft.com/office/drawing/2014/main" id="{698E1C6C-45B2-4CDB-A223-8B03C1A5C895}"/>
                </a:ext>
              </a:extLst>
            </p:cNvPr>
            <p:cNvSpPr/>
            <p:nvPr/>
          </p:nvSpPr>
          <p:spPr>
            <a:xfrm>
              <a:off x="5141610" y="5070793"/>
              <a:ext cx="2177954" cy="4616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变异</a:t>
              </a:r>
            </a:p>
          </p:txBody>
        </p:sp>
        <p:sp>
          <p:nvSpPr>
            <p:cNvPr id="19" name="流程图: 过程 18">
              <a:extLst>
                <a:ext uri="{FF2B5EF4-FFF2-40B4-BE49-F238E27FC236}">
                  <a16:creationId xmlns:a16="http://schemas.microsoft.com/office/drawing/2014/main" id="{A2A51A39-6834-45B1-A558-9EF9D9FEDB7C}"/>
                </a:ext>
              </a:extLst>
            </p:cNvPr>
            <p:cNvSpPr/>
            <p:nvPr/>
          </p:nvSpPr>
          <p:spPr>
            <a:xfrm>
              <a:off x="5141610" y="5722861"/>
              <a:ext cx="2177954" cy="4616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生成新一代种群</a:t>
              </a:r>
            </a:p>
          </p:txBody>
        </p:sp>
        <p:sp>
          <p:nvSpPr>
            <p:cNvPr id="4" name="流程图: 终止 3">
              <a:extLst>
                <a:ext uri="{FF2B5EF4-FFF2-40B4-BE49-F238E27FC236}">
                  <a16:creationId xmlns:a16="http://schemas.microsoft.com/office/drawing/2014/main" id="{6894A25D-0C89-4FD5-AB1D-29D00A6845AE}"/>
                </a:ext>
              </a:extLst>
            </p:cNvPr>
            <p:cNvSpPr/>
            <p:nvPr/>
          </p:nvSpPr>
          <p:spPr>
            <a:xfrm>
              <a:off x="8392886" y="2917653"/>
              <a:ext cx="1331686" cy="461662"/>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结束</a:t>
              </a:r>
            </a:p>
          </p:txBody>
        </p:sp>
        <p:cxnSp>
          <p:nvCxnSpPr>
            <p:cNvPr id="6" name="直接箭头连接符 5">
              <a:extLst>
                <a:ext uri="{FF2B5EF4-FFF2-40B4-BE49-F238E27FC236}">
                  <a16:creationId xmlns:a16="http://schemas.microsoft.com/office/drawing/2014/main" id="{759F32C2-965F-426B-934C-9452B7385486}"/>
                </a:ext>
              </a:extLst>
            </p:cNvPr>
            <p:cNvCxnSpPr>
              <a:stCxn id="2" idx="2"/>
              <a:endCxn id="14" idx="0"/>
            </p:cNvCxnSpPr>
            <p:nvPr/>
          </p:nvCxnSpPr>
          <p:spPr>
            <a:xfrm>
              <a:off x="6230587" y="1905082"/>
              <a:ext cx="0" cy="192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32C8C8A8-2607-4AE0-9C83-8C3B7F11630B}"/>
                </a:ext>
              </a:extLst>
            </p:cNvPr>
            <p:cNvCxnSpPr>
              <a:stCxn id="14" idx="2"/>
              <a:endCxn id="3" idx="0"/>
            </p:cNvCxnSpPr>
            <p:nvPr/>
          </p:nvCxnSpPr>
          <p:spPr>
            <a:xfrm>
              <a:off x="6230587" y="2559141"/>
              <a:ext cx="0" cy="203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84D9311A-FEE6-485F-AADE-552A845818EB}"/>
                </a:ext>
              </a:extLst>
            </p:cNvPr>
            <p:cNvCxnSpPr>
              <a:stCxn id="3" idx="2"/>
              <a:endCxn id="15" idx="0"/>
            </p:cNvCxnSpPr>
            <p:nvPr/>
          </p:nvCxnSpPr>
          <p:spPr>
            <a:xfrm>
              <a:off x="6230587" y="3563354"/>
              <a:ext cx="0" cy="203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D8ADC311-2902-486E-907B-C179F311C177}"/>
                </a:ext>
              </a:extLst>
            </p:cNvPr>
            <p:cNvCxnSpPr>
              <a:stCxn id="15" idx="2"/>
              <a:endCxn id="16" idx="0"/>
            </p:cNvCxnSpPr>
            <p:nvPr/>
          </p:nvCxnSpPr>
          <p:spPr>
            <a:xfrm>
              <a:off x="6230587" y="4228262"/>
              <a:ext cx="0" cy="190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B7394BEE-6FE3-41C2-A9B0-E0071FBFE750}"/>
                </a:ext>
              </a:extLst>
            </p:cNvPr>
            <p:cNvCxnSpPr>
              <a:stCxn id="16" idx="2"/>
              <a:endCxn id="18" idx="0"/>
            </p:cNvCxnSpPr>
            <p:nvPr/>
          </p:nvCxnSpPr>
          <p:spPr>
            <a:xfrm>
              <a:off x="6230587" y="4880330"/>
              <a:ext cx="0" cy="190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87CB140A-00D4-4448-9B9D-3AB00361FC33}"/>
                </a:ext>
              </a:extLst>
            </p:cNvPr>
            <p:cNvCxnSpPr>
              <a:stCxn id="18" idx="2"/>
              <a:endCxn id="19" idx="0"/>
            </p:cNvCxnSpPr>
            <p:nvPr/>
          </p:nvCxnSpPr>
          <p:spPr>
            <a:xfrm>
              <a:off x="6230587" y="5532398"/>
              <a:ext cx="0" cy="190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8A2A0E29-33B3-4588-A880-AFE1B3476581}"/>
                </a:ext>
              </a:extLst>
            </p:cNvPr>
            <p:cNvCxnSpPr>
              <a:stCxn id="3" idx="3"/>
              <a:endCxn id="4" idx="1"/>
            </p:cNvCxnSpPr>
            <p:nvPr/>
          </p:nvCxnSpPr>
          <p:spPr>
            <a:xfrm flipV="1">
              <a:off x="7435273" y="3148484"/>
              <a:ext cx="957613" cy="14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FFD4281D-7FE0-473C-AD0D-8621E0DC5245}"/>
                </a:ext>
              </a:extLst>
            </p:cNvPr>
            <p:cNvCxnSpPr>
              <a:stCxn id="19" idx="1"/>
              <a:endCxn id="14" idx="1"/>
            </p:cNvCxnSpPr>
            <p:nvPr/>
          </p:nvCxnSpPr>
          <p:spPr>
            <a:xfrm rot="10800000">
              <a:off x="5141610" y="2328340"/>
              <a:ext cx="12700" cy="3625325"/>
            </a:xfrm>
            <a:prstGeom prst="bentConnector3">
              <a:avLst>
                <a:gd name="adj1" fmla="val 5685717"/>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68646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遗传算法的原理</a:t>
            </a:r>
          </a:p>
        </p:txBody>
      </p:sp>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230832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设定终止的条件：由于不设定出口，算法将一直进行，没有最终的输出。所以需要人为设定终止条件。</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设定种群繁殖代数，或者说迭代计算次数。</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根据适应度的变化程度来定义，当最大适应度的变化小于某一人为设定值时，可认为种群已经完成了进化过程，此时的最大适应度即为最优值。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18</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2">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1879802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算法分析</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2677656"/>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算法中的一些控制参数</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种群规模</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适中即可，具体根据可行域大小</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最大换代数</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交叉率：参与交叉运算的染色体个数占全体染色体总数的比例，记为</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𝑃</m:t>
                        </m:r>
                      </m:e>
                      <m:sub>
                        <m:r>
                          <m:rPr>
                            <m:sty m:val="p"/>
                          </m:rPr>
                          <a:rPr lang="en-US" altLang="zh-CN" sz="2400" i="1">
                            <a:latin typeface="Cambria Math" panose="02040503050406030204" pitchFamily="18" charset="0"/>
                            <a:ea typeface="宋体" panose="02010600030101010101" pitchFamily="2" charset="-122"/>
                            <a:cs typeface="Times New Roman" panose="02020603050405020304" pitchFamily="18" charset="0"/>
                          </a:rPr>
                          <m:t>c</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取值范围一般位</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0.4~0.99</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变异率：是指发生变异的基因位数所占全体染色体的基因总位数的比例，记为</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𝑚</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取值范围一般位</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0.0001~0.1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2677656"/>
              </a:xfrm>
              <a:prstGeom prst="rect">
                <a:avLst/>
              </a:prstGeom>
              <a:blipFill>
                <a:blip r:embed="rId2"/>
                <a:stretch>
                  <a:fillRect l="-784" t="-2506" b="-4556"/>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19</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2144535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算法分析</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15498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遗传算法的基本步骤</a:t>
                </a: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在搜索空间</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上定义一个适应度函数</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，给定种群规模</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，交叉率</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e>
                      <m:sub>
                        <m:r>
                          <m:rPr>
                            <m:sty m:val="p"/>
                          </m:rPr>
                          <a:rPr lang="en-US" altLang="zh-CN" sz="2400" i="1">
                            <a:latin typeface="Cambria Math" panose="02040503050406030204" pitchFamily="18" charset="0"/>
                            <a:ea typeface="宋体" panose="02010600030101010101" pitchFamily="2" charset="-122"/>
                            <a:cs typeface="Times New Roman" panose="02020603050405020304" pitchFamily="18" charset="0"/>
                          </a:rPr>
                          <m:t>c</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和变异率</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𝑚</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代数</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随机产生</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个个体</a:t>
                </a:r>
                <a14:m>
                  <m:oMath xmlns:m="http://schemas.openxmlformats.org/officeDocument/2006/math">
                    <m:sSub>
                      <m:sSub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𝑁</m:t>
                        </m:r>
                      </m:sub>
                    </m:sSub>
                    <m:r>
                      <a:rPr lang="zh-CN" altLang="en-US" sz="2400" i="1" dirty="0" smtClean="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组成初始总群</a:t>
                </a:r>
                <a14:m>
                  <m:oMath xmlns:m="http://schemas.openxmlformats.org/officeDocument/2006/math">
                    <m:r>
                      <m:rPr>
                        <m:sty m:val="p"/>
                      </m:rPr>
                      <a:rPr lang="en-US" altLang="zh-CN" sz="2400" b="0" i="0" dirty="0" smtClean="0">
                        <a:latin typeface="Cambria Math" panose="02040503050406030204" pitchFamily="18" charset="0"/>
                        <a:ea typeface="宋体" panose="02010600030101010101" pitchFamily="2" charset="-122"/>
                        <a:cs typeface="Times New Roman" panose="02020603050405020304" pitchFamily="18" charset="0"/>
                      </a:rPr>
                      <m:t>S</m:t>
                    </m:r>
                    <m:r>
                      <a:rPr lang="en-US" altLang="zh-CN" sz="2400" b="0" i="0" dirty="0" smtClean="0">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dirty="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𝑁</m:t>
                            </m:r>
                          </m:sub>
                        </m:sSub>
                      </m:e>
                    </m:d>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置代数计数器</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𝑡</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S</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中每个个体的适应度</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若终止条件奥祖，则取</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中适应度最大的个体作为所求结果，算法结束；</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按选择概率</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r>
                      <a:rPr lang="zh-CN" altLang="en-US" sz="2400" i="1">
                        <a:latin typeface="Cambria Math" panose="02040503050406030204" pitchFamily="18" charset="0"/>
                        <a:ea typeface="宋体" panose="02010600030101010101" pitchFamily="2" charset="-122"/>
                        <a:cs typeface="Times New Roman" panose="02020603050405020304" pitchFamily="18" charset="0"/>
                      </a:rPr>
                      <m:t>所</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决定的选中机会，每次从</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𝑆</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中随机选定</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个个体并将其染色体复制，共进行</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𝑁</m:t>
                    </m:r>
                    <m:r>
                      <a:rPr lang="zh-CN" altLang="en-US" sz="2400" i="1">
                        <a:latin typeface="Cambria Math" panose="02040503050406030204" pitchFamily="18" charset="0"/>
                        <a:ea typeface="宋体" panose="02010600030101010101" pitchFamily="2" charset="-122"/>
                        <a:cs typeface="Times New Roman" panose="02020603050405020304" pitchFamily="18" charset="0"/>
                      </a:rPr>
                      <m:t>次</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，然后将复制所得的</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𝑁</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个染色体组成群体</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4154984"/>
              </a:xfrm>
              <a:prstGeom prst="rect">
                <a:avLst/>
              </a:prstGeom>
              <a:blipFill>
                <a:blip r:embed="rId2"/>
                <a:stretch>
                  <a:fillRect l="-784" t="-1613" b="-1906"/>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20</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416231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算法分析</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230832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遗传算法的基本步骤</a:t>
                </a: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按交叉率</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𝑐</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所</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决定参加交叉的染色体数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𝑐</m:t>
                    </m:r>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r>
                      <a:rPr lang="zh-CN" altLang="en-US" sz="2400" i="1" smtClean="0">
                        <a:latin typeface="Cambria Math" panose="02040503050406030204" pitchFamily="18" charset="0"/>
                        <a:ea typeface="宋体" panose="02010600030101010101" pitchFamily="2" charset="-122"/>
                        <a:cs typeface="Times New Roman" panose="02020603050405020304" pitchFamily="18" charset="0"/>
                      </a:rPr>
                      <m:t>从</m:t>
                    </m:r>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中</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随机确定</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𝑐</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个染色体，配对进行交叉操作，并用产生的新染色体代替原染色体，得群体</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按变异率</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𝑚</m:t>
                        </m:r>
                      </m:sub>
                    </m:sSub>
                  </m:oMath>
                </a14:m>
                <a:r>
                  <a:rPr lang="zh-CN" altLang="en-US" sz="2400">
                    <a:latin typeface="Times New Roman" panose="02020603050405020304" pitchFamily="18" charset="0"/>
                    <a:ea typeface="宋体" panose="02010600030101010101" pitchFamily="2" charset="-122"/>
                    <a:cs typeface="Times New Roman" panose="02020603050405020304" pitchFamily="18" charset="0"/>
                  </a:rPr>
                  <a:t>所决定的变异</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次数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𝑚</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，从</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中随机确定</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𝑚</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个染色体，分别进行变异操作，并用产生的染色体代替原染色体，得群体</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将群体</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作为新一代种群，即用</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代替</a:t>
                </a:r>
                <a14:m>
                  <m:oMath xmlns:m="http://schemas.openxmlformats.org/officeDocument/2006/math">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𝑆</m:t>
                    </m:r>
                  </m:oMath>
                </a14:m>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ea typeface="宋体" panose="02010600030101010101" pitchFamily="2" charset="-122"/>
                    <a:cs typeface="Times New Roman" panose="02020603050405020304" pitchFamily="18" charset="0"/>
                  </a:rPr>
                  <a:t> </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𝑡</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𝑡</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oMath>
                </a14:m>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转到第三步。</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2308324"/>
              </a:xfrm>
              <a:prstGeom prst="rect">
                <a:avLst/>
              </a:prstGeom>
              <a:blipFill>
                <a:blip r:embed="rId2"/>
                <a:stretch>
                  <a:fillRect l="-784" t="-2902" r="-3920" b="-5013"/>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21</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3325280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3874843"/>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设定种群规模，确定染色体长度，编码染色体，产生初始种群。</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将种群规模设定为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位二进制编码染色体；取下列个体组成初始种群</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=13</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01101</m:t>
                        </m:r>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=24</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11000</m:t>
                        </m:r>
                      </m:e>
                    </m:d>
                  </m:oMath>
                </a14:m>
                <a:br>
                  <a:rPr lang="en-US" altLang="zh-CN" sz="2400" b="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=8</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01000</m:t>
                        </m:r>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=19(10011)</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定义适应度函数</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取适应度函数：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𝑓</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计算各代种群中的各个体的适应度，并对其染色体进行遗传操作，直到适应度最高的个体出现为止。</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3874843"/>
              </a:xfrm>
              <a:prstGeom prst="rect">
                <a:avLst/>
              </a:prstGeom>
              <a:blipFill>
                <a:blip r:embed="rId2"/>
                <a:stretch>
                  <a:fillRect l="-784" t="-1730"/>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22</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264303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438203"/>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首先计算种群</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中各个体的适应度：</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𝑓</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13</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=169</m:t>
                    </m:r>
                  </m:oMath>
                </a14:m>
                <a:br>
                  <a:rPr lang="en-US" altLang="zh-CN" sz="2400" b="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𝑓</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24</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=576</m:t>
                    </m:r>
                  </m:oMath>
                </a14:m>
                <a:br>
                  <a:rPr lang="en-US" altLang="zh-CN" sz="2400" b="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𝑓</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8</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=64</m:t>
                    </m:r>
                  </m:oMath>
                </a14:m>
                <a:br>
                  <a:rPr lang="en-US" altLang="zh-CN" sz="2400" b="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𝑓</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19</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=361</m:t>
                    </m:r>
                  </m:oMath>
                </a14:m>
                <a:endParaRPr lang="en-US" altLang="zh-CN" sz="2400" b="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再计算种群</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中各个体的选择概率：</a:t>
                </a:r>
                <a:r>
                  <a:rPr lang="en-US" altLang="zh-CN" sz="2400" dirty="0">
                    <a:ea typeface="宋体" panose="02010600030101010101" pitchFamily="2" charset="-122"/>
                    <a:cs typeface="Times New Roman" panose="02020603050405020304" pitchFamily="18" charset="0"/>
                  </a:rPr>
                  <a:t> </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𝑖</m:t>
                            </m:r>
                          </m:sub>
                        </m:sSub>
                      </m:e>
                    </m:d>
                    <m:r>
                      <a:rPr lang="en-US" altLang="zh-CN" sz="2400" i="1">
                        <a:latin typeface="Cambria Math" panose="02040503050406030204" pitchFamily="18" charset="0"/>
                        <a:ea typeface="宋体" panose="02010600030101010101" pitchFamily="2" charset="-122"/>
                        <a:cs typeface="Times New Roman" panose="02020603050405020304" pitchFamily="18" charset="0"/>
                      </a:rPr>
                      <m:t>= </m:t>
                    </m:r>
                    <m:f>
                      <m:f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400" i="1">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num>
                      <m:den>
                        <m:nary>
                          <m:naryPr>
                            <m:chr m:val="∑"/>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400" i="1">
                                <a:latin typeface="Cambria Math" panose="02040503050406030204" pitchFamily="18" charset="0"/>
                                <a:ea typeface="宋体" panose="02010600030101010101" pitchFamily="2" charset="-122"/>
                                <a:cs typeface="Times New Roman" panose="02020603050405020304" pitchFamily="18" charset="0"/>
                              </a:rPr>
                              <m:t>𝑗</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𝑁</m:t>
                            </m:r>
                          </m:sup>
                          <m:e>
                            <m:r>
                              <a:rPr lang="en-US" altLang="zh-CN" sz="2400" i="1">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e>
                        </m:nary>
                      </m:den>
                    </m:f>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13</m:t>
                        </m:r>
                      </m:e>
                    </m:d>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=0.14</m:t>
                    </m:r>
                  </m:oMath>
                </a14:m>
                <a:br>
                  <a:rPr lang="en-US" altLang="zh-CN" sz="2400" b="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24</m:t>
                        </m:r>
                      </m:e>
                    </m:d>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49</m:t>
                    </m:r>
                  </m:oMath>
                </a14:m>
                <a:br>
                  <a:rPr lang="en-US" altLang="zh-CN" sz="2400" b="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e>
                    </m:d>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8</m:t>
                        </m:r>
                      </m:e>
                    </m:d>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06</m:t>
                    </m:r>
                  </m:oMath>
                </a14:m>
                <a:br>
                  <a:rPr lang="en-US" altLang="zh-CN" sz="2400" b="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e>
                    </m:d>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9</m:t>
                        </m:r>
                      </m:e>
                    </m:d>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31</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4438203"/>
              </a:xfrm>
              <a:prstGeom prst="rect">
                <a:avLst/>
              </a:prstGeom>
              <a:blipFill>
                <a:blip r:embed="rId2"/>
                <a:stretch>
                  <a:fillRect l="-784" t="-1511"/>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23</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277747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3755131"/>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接下来进行轮盘赌，选择出用于复制的个体</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轮盘赌主要通过以下过程实现：</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①在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区间内产生一个均匀分布的随机数</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𝑟</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②若</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𝑟</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𝑞</m:t>
                        </m:r>
                      </m:e>
                      <m:sub>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zh-CN" altLang="en-US" sz="2400" i="1">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则染色体</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被</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选中。</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③若</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𝑞</m:t>
                        </m:r>
                      </m:e>
                      <m:sub>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𝑘</m:t>
                        </m:r>
                      </m:sub>
                    </m:sSub>
                    <m:d>
                      <m:dPr>
                        <m:ctrlP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2≤</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𝑁</m:t>
                        </m:r>
                      </m:e>
                    </m:d>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400" i="1">
                        <a:latin typeface="Cambria Math" panose="02040503050406030204" pitchFamily="18" charset="0"/>
                        <a:ea typeface="Cambria Math" panose="02040503050406030204" pitchFamily="18" charset="0"/>
                        <a:cs typeface="Times New Roman" panose="02020603050405020304" pitchFamily="18" charset="0"/>
                      </a:rPr>
                      <m:t>则</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染色体</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zh-CN" altLang="en-US" sz="2400" i="1" smtClean="0">
                        <a:latin typeface="Cambria Math" panose="02040503050406030204" pitchFamily="18" charset="0"/>
                        <a:ea typeface="宋体" panose="02010600030101010101" pitchFamily="2" charset="-122"/>
                        <a:cs typeface="Times New Roman" panose="02020603050405020304" pitchFamily="18" charset="0"/>
                      </a:rPr>
                      <m:t>被</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选中。其中</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称为</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染色体</a:t>
                </a:r>
                <a14:m>
                  <m:oMath xmlns:m="http://schemas.openxmlformats.org/officeDocument/2006/math">
                    <m:sSub>
                      <m:sSubPr>
                        <m:ctrlP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𝑖</m:t>
                    </m:r>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=1,2,…,</m:t>
                    </m:r>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𝑛</m:t>
                    </m:r>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m:t>
                    </m:r>
                    <m:r>
                      <a:rPr lang="zh-CN" altLang="en-US" sz="2400" i="1" dirty="0">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积累概率，其计算公式为</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nary>
                      <m:naryPr>
                        <m:chr m:val="∑"/>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𝑗</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𝑖</m:t>
                        </m:r>
                      </m:sup>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𝑃</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e>
                    </m:nary>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3755131"/>
              </a:xfrm>
              <a:prstGeom prst="rect">
                <a:avLst/>
              </a:prstGeom>
              <a:blipFill>
                <a:blip r:embed="rId2"/>
                <a:stretch>
                  <a:fillRect l="-784" t="-1786" r="-121"/>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24</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graphicFrame>
        <p:nvGraphicFramePr>
          <p:cNvPr id="14" name="图表 13">
            <a:extLst>
              <a:ext uri="{FF2B5EF4-FFF2-40B4-BE49-F238E27FC236}">
                <a16:creationId xmlns:a16="http://schemas.microsoft.com/office/drawing/2014/main" id="{7988CB2E-AA5C-4F35-9011-A502D1392733}"/>
              </a:ext>
            </a:extLst>
          </p:cNvPr>
          <p:cNvGraphicFramePr/>
          <p:nvPr>
            <p:extLst>
              <p:ext uri="{D42A27DB-BD31-4B8C-83A1-F6EECF244321}">
                <p14:modId xmlns:p14="http://schemas.microsoft.com/office/powerpoint/2010/main" val="2533980750"/>
              </p:ext>
            </p:extLst>
          </p:nvPr>
        </p:nvGraphicFramePr>
        <p:xfrm>
          <a:off x="8610600" y="3957265"/>
          <a:ext cx="3162300" cy="225721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21555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1938992"/>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选择</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从区间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中产生</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个随机数如下：</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=0.450126,</m:t>
                    </m:r>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=0.110347</m:t>
                    </m:r>
                  </m:oMath>
                </a14:m>
                <a:br>
                  <a:rPr lang="en-US" altLang="zh-CN" sz="2400" b="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=0.572496,</m:t>
                    </m:r>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=0.98503</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1938992"/>
              </a:xfrm>
              <a:prstGeom prst="rect">
                <a:avLst/>
              </a:prstGeom>
              <a:blipFill>
                <a:blip r:embed="rId2"/>
                <a:stretch>
                  <a:fillRect l="-784" t="-3459"/>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25</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mc:AlternateContent xmlns:mc="http://schemas.openxmlformats.org/markup-compatibility/2006">
        <mc:Choice xmlns:a14="http://schemas.microsoft.com/office/drawing/2010/main" Requires="a14">
          <p:graphicFrame>
            <p:nvGraphicFramePr>
              <p:cNvPr id="4" name="表格 3">
                <a:extLst>
                  <a:ext uri="{FF2B5EF4-FFF2-40B4-BE49-F238E27FC236}">
                    <a16:creationId xmlns:a16="http://schemas.microsoft.com/office/drawing/2014/main" id="{CA3F0E9D-B764-49AC-961A-2A847A6CB281}"/>
                  </a:ext>
                </a:extLst>
              </p:cNvPr>
              <p:cNvGraphicFramePr>
                <a:graphicFrameLocks noGrp="1"/>
              </p:cNvGraphicFramePr>
              <p:nvPr>
                <p:extLst>
                  <p:ext uri="{D42A27DB-BD31-4B8C-83A1-F6EECF244321}">
                    <p14:modId xmlns:p14="http://schemas.microsoft.com/office/powerpoint/2010/main" val="557687898"/>
                  </p:ext>
                </p:extLst>
              </p:nvPr>
            </p:nvGraphicFramePr>
            <p:xfrm>
              <a:off x="1980045" y="3561880"/>
              <a:ext cx="8128000" cy="2286000"/>
            </p:xfrm>
            <a:graphic>
              <a:graphicData uri="http://schemas.openxmlformats.org/drawingml/2006/table">
                <a:tbl>
                  <a:tblPr firstRow="1" bandRow="1">
                    <a:tableStyleId>{5C22544A-7EE6-4342-B048-85BDC9FD1C3A}</a:tableStyleId>
                  </a:tblPr>
                  <a:tblGrid>
                    <a:gridCol w="1799772">
                      <a:extLst>
                        <a:ext uri="{9D8B030D-6E8A-4147-A177-3AD203B41FA5}">
                          <a16:colId xmlns:a16="http://schemas.microsoft.com/office/drawing/2014/main" val="3172096840"/>
                        </a:ext>
                      </a:extLst>
                    </a:gridCol>
                    <a:gridCol w="1451428">
                      <a:extLst>
                        <a:ext uri="{9D8B030D-6E8A-4147-A177-3AD203B41FA5}">
                          <a16:colId xmlns:a16="http://schemas.microsoft.com/office/drawing/2014/main" val="4234447558"/>
                        </a:ext>
                      </a:extLst>
                    </a:gridCol>
                    <a:gridCol w="1625600">
                      <a:extLst>
                        <a:ext uri="{9D8B030D-6E8A-4147-A177-3AD203B41FA5}">
                          <a16:colId xmlns:a16="http://schemas.microsoft.com/office/drawing/2014/main" val="2882535917"/>
                        </a:ext>
                      </a:extLst>
                    </a:gridCol>
                    <a:gridCol w="1625600">
                      <a:extLst>
                        <a:ext uri="{9D8B030D-6E8A-4147-A177-3AD203B41FA5}">
                          <a16:colId xmlns:a16="http://schemas.microsoft.com/office/drawing/2014/main" val="2365442691"/>
                        </a:ext>
                      </a:extLst>
                    </a:gridCol>
                    <a:gridCol w="1625600">
                      <a:extLst>
                        <a:ext uri="{9D8B030D-6E8A-4147-A177-3AD203B41FA5}">
                          <a16:colId xmlns:a16="http://schemas.microsoft.com/office/drawing/2014/main" val="2593148916"/>
                        </a:ext>
                      </a:extLst>
                    </a:gridCol>
                  </a:tblGrid>
                  <a:tr h="0">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染色体</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适应度</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选择概率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累积概率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选中次数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68242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=01101</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169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573350923"/>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=11000</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576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0.63</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416221052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=01000</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64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0.06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0.69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2684652752"/>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=10011</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361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431916"/>
                      </a:ext>
                    </a:extLst>
                  </a:tr>
                </a:tbl>
              </a:graphicData>
            </a:graphic>
          </p:graphicFrame>
        </mc:Choice>
        <mc:Fallback>
          <p:graphicFrame>
            <p:nvGraphicFramePr>
              <p:cNvPr id="4" name="表格 3">
                <a:extLst>
                  <a:ext uri="{FF2B5EF4-FFF2-40B4-BE49-F238E27FC236}">
                    <a16:creationId xmlns:a16="http://schemas.microsoft.com/office/drawing/2014/main" id="{CA3F0E9D-B764-49AC-961A-2A847A6CB281}"/>
                  </a:ext>
                </a:extLst>
              </p:cNvPr>
              <p:cNvGraphicFramePr>
                <a:graphicFrameLocks noGrp="1"/>
              </p:cNvGraphicFramePr>
              <p:nvPr>
                <p:extLst>
                  <p:ext uri="{D42A27DB-BD31-4B8C-83A1-F6EECF244321}">
                    <p14:modId xmlns:p14="http://schemas.microsoft.com/office/powerpoint/2010/main" val="557687898"/>
                  </p:ext>
                </p:extLst>
              </p:nvPr>
            </p:nvGraphicFramePr>
            <p:xfrm>
              <a:off x="1980045" y="3561880"/>
              <a:ext cx="8128000" cy="2286000"/>
            </p:xfrm>
            <a:graphic>
              <a:graphicData uri="http://schemas.openxmlformats.org/drawingml/2006/table">
                <a:tbl>
                  <a:tblPr firstRow="1" bandRow="1">
                    <a:tableStyleId>{5C22544A-7EE6-4342-B048-85BDC9FD1C3A}</a:tableStyleId>
                  </a:tblPr>
                  <a:tblGrid>
                    <a:gridCol w="1799772">
                      <a:extLst>
                        <a:ext uri="{9D8B030D-6E8A-4147-A177-3AD203B41FA5}">
                          <a16:colId xmlns:a16="http://schemas.microsoft.com/office/drawing/2014/main" val="3172096840"/>
                        </a:ext>
                      </a:extLst>
                    </a:gridCol>
                    <a:gridCol w="1451428">
                      <a:extLst>
                        <a:ext uri="{9D8B030D-6E8A-4147-A177-3AD203B41FA5}">
                          <a16:colId xmlns:a16="http://schemas.microsoft.com/office/drawing/2014/main" val="4234447558"/>
                        </a:ext>
                      </a:extLst>
                    </a:gridCol>
                    <a:gridCol w="1625600">
                      <a:extLst>
                        <a:ext uri="{9D8B030D-6E8A-4147-A177-3AD203B41FA5}">
                          <a16:colId xmlns:a16="http://schemas.microsoft.com/office/drawing/2014/main" val="2882535917"/>
                        </a:ext>
                      </a:extLst>
                    </a:gridCol>
                    <a:gridCol w="1625600">
                      <a:extLst>
                        <a:ext uri="{9D8B030D-6E8A-4147-A177-3AD203B41FA5}">
                          <a16:colId xmlns:a16="http://schemas.microsoft.com/office/drawing/2014/main" val="2365442691"/>
                        </a:ext>
                      </a:extLst>
                    </a:gridCol>
                    <a:gridCol w="1625600">
                      <a:extLst>
                        <a:ext uri="{9D8B030D-6E8A-4147-A177-3AD203B41FA5}">
                          <a16:colId xmlns:a16="http://schemas.microsoft.com/office/drawing/2014/main" val="2593148916"/>
                        </a:ext>
                      </a:extLst>
                    </a:gridCol>
                  </a:tblGrid>
                  <a:tr h="457200">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染色体</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适应度</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选择概率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累积概率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选中次数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682425"/>
                      </a:ext>
                    </a:extLst>
                  </a:tr>
                  <a:tr h="457200">
                    <a:tc>
                      <a:txBody>
                        <a:bodyPr/>
                        <a:lstStyle/>
                        <a:p>
                          <a:endParaRPr lang="zh-CN"/>
                        </a:p>
                      </a:txBody>
                      <a:tcPr>
                        <a:lnT w="12700" cap="flat" cmpd="sng" algn="ctr">
                          <a:solidFill>
                            <a:schemeClr val="tx1"/>
                          </a:solidFill>
                          <a:prstDash val="solid"/>
                          <a:round/>
                          <a:headEnd type="none" w="med" len="med"/>
                          <a:tailEnd type="none" w="med" len="med"/>
                        </a:lnT>
                        <a:blipFill>
                          <a:blip r:embed="rId4"/>
                          <a:stretch>
                            <a:fillRect l="-338" t="-114667" r="-351689" b="-330667"/>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169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573350923"/>
                      </a:ext>
                    </a:extLst>
                  </a:tr>
                  <a:tr h="457200">
                    <a:tc>
                      <a:txBody>
                        <a:bodyPr/>
                        <a:lstStyle/>
                        <a:p>
                          <a:endParaRPr lang="zh-CN"/>
                        </a:p>
                      </a:txBody>
                      <a:tcPr>
                        <a:blipFill>
                          <a:blip r:embed="rId4"/>
                          <a:stretch>
                            <a:fillRect l="-338" t="-211842" r="-351689" b="-226316"/>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576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0.63</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4162210520"/>
                      </a:ext>
                    </a:extLst>
                  </a:tr>
                  <a:tr h="457200">
                    <a:tc>
                      <a:txBody>
                        <a:bodyPr/>
                        <a:lstStyle/>
                        <a:p>
                          <a:endParaRPr lang="zh-CN"/>
                        </a:p>
                      </a:txBody>
                      <a:tcPr>
                        <a:blipFill>
                          <a:blip r:embed="rId4"/>
                          <a:stretch>
                            <a:fillRect l="-338" t="-316000" r="-351689" b="-129333"/>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64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0.06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0.69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2684652752"/>
                      </a:ext>
                    </a:extLst>
                  </a:tr>
                  <a:tr h="457200">
                    <a:tc>
                      <a:txBody>
                        <a:bodyPr/>
                        <a:lstStyle/>
                        <a:p>
                          <a:endParaRPr lang="zh-CN"/>
                        </a:p>
                      </a:txBody>
                      <a:tcPr>
                        <a:lnB w="12700" cap="flat" cmpd="sng" algn="ctr">
                          <a:solidFill>
                            <a:schemeClr val="tx1"/>
                          </a:solidFill>
                          <a:prstDash val="solid"/>
                          <a:round/>
                          <a:headEnd type="none" w="med" len="med"/>
                          <a:tailEnd type="none" w="med" len="med"/>
                        </a:lnB>
                        <a:blipFill>
                          <a:blip r:embed="rId4"/>
                          <a:stretch>
                            <a:fillRect l="-338" t="-416000" r="-351689" b="-29333"/>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361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431916"/>
                      </a:ext>
                    </a:extLst>
                  </a:tr>
                </a:tbl>
              </a:graphicData>
            </a:graphic>
          </p:graphicFrame>
        </mc:Fallback>
      </mc:AlternateContent>
    </p:spTree>
    <p:extLst>
      <p:ext uri="{BB962C8B-B14F-4D97-AF65-F5344CB8AC3E}">
        <p14:creationId xmlns:p14="http://schemas.microsoft.com/office/powerpoint/2010/main" val="3580702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1938992"/>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选择</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复制后的种群为：</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11000(24)</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01101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13</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i="1" dirty="0">
                    <a:latin typeface="Cambria Math" panose="020405030504060302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=11000(24),</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19</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1938992"/>
              </a:xfrm>
              <a:prstGeom prst="rect">
                <a:avLst/>
              </a:prstGeom>
              <a:blipFill>
                <a:blip r:embed="rId2"/>
                <a:stretch>
                  <a:fillRect l="-784" t="-3459" b="-3774"/>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26</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mc:AlternateContent xmlns:mc="http://schemas.openxmlformats.org/markup-compatibility/2006">
        <mc:Choice xmlns:a14="http://schemas.microsoft.com/office/drawing/2010/main" Requires="a14">
          <p:graphicFrame>
            <p:nvGraphicFramePr>
              <p:cNvPr id="4" name="表格 3">
                <a:extLst>
                  <a:ext uri="{FF2B5EF4-FFF2-40B4-BE49-F238E27FC236}">
                    <a16:creationId xmlns:a16="http://schemas.microsoft.com/office/drawing/2014/main" id="{CA3F0E9D-B764-49AC-961A-2A847A6CB281}"/>
                  </a:ext>
                </a:extLst>
              </p:cNvPr>
              <p:cNvGraphicFramePr>
                <a:graphicFrameLocks noGrp="1"/>
              </p:cNvGraphicFramePr>
              <p:nvPr/>
            </p:nvGraphicFramePr>
            <p:xfrm>
              <a:off x="1980045" y="3561880"/>
              <a:ext cx="8128000" cy="2286000"/>
            </p:xfrm>
            <a:graphic>
              <a:graphicData uri="http://schemas.openxmlformats.org/drawingml/2006/table">
                <a:tbl>
                  <a:tblPr firstRow="1" bandRow="1">
                    <a:tableStyleId>{5C22544A-7EE6-4342-B048-85BDC9FD1C3A}</a:tableStyleId>
                  </a:tblPr>
                  <a:tblGrid>
                    <a:gridCol w="1799772">
                      <a:extLst>
                        <a:ext uri="{9D8B030D-6E8A-4147-A177-3AD203B41FA5}">
                          <a16:colId xmlns:a16="http://schemas.microsoft.com/office/drawing/2014/main" val="3172096840"/>
                        </a:ext>
                      </a:extLst>
                    </a:gridCol>
                    <a:gridCol w="1451428">
                      <a:extLst>
                        <a:ext uri="{9D8B030D-6E8A-4147-A177-3AD203B41FA5}">
                          <a16:colId xmlns:a16="http://schemas.microsoft.com/office/drawing/2014/main" val="4234447558"/>
                        </a:ext>
                      </a:extLst>
                    </a:gridCol>
                    <a:gridCol w="1625600">
                      <a:extLst>
                        <a:ext uri="{9D8B030D-6E8A-4147-A177-3AD203B41FA5}">
                          <a16:colId xmlns:a16="http://schemas.microsoft.com/office/drawing/2014/main" val="2882535917"/>
                        </a:ext>
                      </a:extLst>
                    </a:gridCol>
                    <a:gridCol w="1625600">
                      <a:extLst>
                        <a:ext uri="{9D8B030D-6E8A-4147-A177-3AD203B41FA5}">
                          <a16:colId xmlns:a16="http://schemas.microsoft.com/office/drawing/2014/main" val="2365442691"/>
                        </a:ext>
                      </a:extLst>
                    </a:gridCol>
                    <a:gridCol w="1625600">
                      <a:extLst>
                        <a:ext uri="{9D8B030D-6E8A-4147-A177-3AD203B41FA5}">
                          <a16:colId xmlns:a16="http://schemas.microsoft.com/office/drawing/2014/main" val="2593148916"/>
                        </a:ext>
                      </a:extLst>
                    </a:gridCol>
                  </a:tblGrid>
                  <a:tr h="0">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染色体</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适应度</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选择概率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累积概率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选中次数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68242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=01101</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169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573350923"/>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=11000</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576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0.63</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416221052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=01000</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64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0.06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0.69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2684652752"/>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=10011</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361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431916"/>
                      </a:ext>
                    </a:extLst>
                  </a:tr>
                </a:tbl>
              </a:graphicData>
            </a:graphic>
          </p:graphicFrame>
        </mc:Choice>
        <mc:Fallback>
          <p:graphicFrame>
            <p:nvGraphicFramePr>
              <p:cNvPr id="4" name="表格 3">
                <a:extLst>
                  <a:ext uri="{FF2B5EF4-FFF2-40B4-BE49-F238E27FC236}">
                    <a16:creationId xmlns:a16="http://schemas.microsoft.com/office/drawing/2014/main" id="{CA3F0E9D-B764-49AC-961A-2A847A6CB281}"/>
                  </a:ext>
                </a:extLst>
              </p:cNvPr>
              <p:cNvGraphicFramePr>
                <a:graphicFrameLocks noGrp="1"/>
              </p:cNvGraphicFramePr>
              <p:nvPr/>
            </p:nvGraphicFramePr>
            <p:xfrm>
              <a:off x="1980045" y="3561880"/>
              <a:ext cx="8128000" cy="2286000"/>
            </p:xfrm>
            <a:graphic>
              <a:graphicData uri="http://schemas.openxmlformats.org/drawingml/2006/table">
                <a:tbl>
                  <a:tblPr firstRow="1" bandRow="1">
                    <a:tableStyleId>{5C22544A-7EE6-4342-B048-85BDC9FD1C3A}</a:tableStyleId>
                  </a:tblPr>
                  <a:tblGrid>
                    <a:gridCol w="1799772">
                      <a:extLst>
                        <a:ext uri="{9D8B030D-6E8A-4147-A177-3AD203B41FA5}">
                          <a16:colId xmlns:a16="http://schemas.microsoft.com/office/drawing/2014/main" val="3172096840"/>
                        </a:ext>
                      </a:extLst>
                    </a:gridCol>
                    <a:gridCol w="1451428">
                      <a:extLst>
                        <a:ext uri="{9D8B030D-6E8A-4147-A177-3AD203B41FA5}">
                          <a16:colId xmlns:a16="http://schemas.microsoft.com/office/drawing/2014/main" val="4234447558"/>
                        </a:ext>
                      </a:extLst>
                    </a:gridCol>
                    <a:gridCol w="1625600">
                      <a:extLst>
                        <a:ext uri="{9D8B030D-6E8A-4147-A177-3AD203B41FA5}">
                          <a16:colId xmlns:a16="http://schemas.microsoft.com/office/drawing/2014/main" val="2882535917"/>
                        </a:ext>
                      </a:extLst>
                    </a:gridCol>
                    <a:gridCol w="1625600">
                      <a:extLst>
                        <a:ext uri="{9D8B030D-6E8A-4147-A177-3AD203B41FA5}">
                          <a16:colId xmlns:a16="http://schemas.microsoft.com/office/drawing/2014/main" val="2365442691"/>
                        </a:ext>
                      </a:extLst>
                    </a:gridCol>
                    <a:gridCol w="1625600">
                      <a:extLst>
                        <a:ext uri="{9D8B030D-6E8A-4147-A177-3AD203B41FA5}">
                          <a16:colId xmlns:a16="http://schemas.microsoft.com/office/drawing/2014/main" val="2593148916"/>
                        </a:ext>
                      </a:extLst>
                    </a:gridCol>
                  </a:tblGrid>
                  <a:tr h="457200">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染色体</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适应度</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选择概率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累积概率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选中次数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682425"/>
                      </a:ext>
                    </a:extLst>
                  </a:tr>
                  <a:tr h="457200">
                    <a:tc>
                      <a:txBody>
                        <a:bodyPr/>
                        <a:lstStyle/>
                        <a:p>
                          <a:endParaRPr lang="zh-CN"/>
                        </a:p>
                      </a:txBody>
                      <a:tcPr>
                        <a:lnT w="12700" cap="flat" cmpd="sng" algn="ctr">
                          <a:solidFill>
                            <a:schemeClr val="tx1"/>
                          </a:solidFill>
                          <a:prstDash val="solid"/>
                          <a:round/>
                          <a:headEnd type="none" w="med" len="med"/>
                          <a:tailEnd type="none" w="med" len="med"/>
                        </a:lnT>
                        <a:blipFill>
                          <a:blip r:embed="rId4"/>
                          <a:stretch>
                            <a:fillRect l="-338" t="-114667" r="-351689" b="-330667"/>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169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573350923"/>
                      </a:ext>
                    </a:extLst>
                  </a:tr>
                  <a:tr h="457200">
                    <a:tc>
                      <a:txBody>
                        <a:bodyPr/>
                        <a:lstStyle/>
                        <a:p>
                          <a:endParaRPr lang="zh-CN"/>
                        </a:p>
                      </a:txBody>
                      <a:tcPr>
                        <a:blipFill>
                          <a:blip r:embed="rId4"/>
                          <a:stretch>
                            <a:fillRect l="-338" t="-211842" r="-351689" b="-226316"/>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576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0.63</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4162210520"/>
                      </a:ext>
                    </a:extLst>
                  </a:tr>
                  <a:tr h="457200">
                    <a:tc>
                      <a:txBody>
                        <a:bodyPr/>
                        <a:lstStyle/>
                        <a:p>
                          <a:endParaRPr lang="zh-CN"/>
                        </a:p>
                      </a:txBody>
                      <a:tcPr>
                        <a:blipFill>
                          <a:blip r:embed="rId4"/>
                          <a:stretch>
                            <a:fillRect l="-338" t="-316000" r="-351689" b="-129333"/>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64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0.06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0.69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2684652752"/>
                      </a:ext>
                    </a:extLst>
                  </a:tr>
                  <a:tr h="457200">
                    <a:tc>
                      <a:txBody>
                        <a:bodyPr/>
                        <a:lstStyle/>
                        <a:p>
                          <a:endParaRPr lang="zh-CN"/>
                        </a:p>
                      </a:txBody>
                      <a:tcPr>
                        <a:lnB w="12700" cap="flat" cmpd="sng" algn="ctr">
                          <a:solidFill>
                            <a:schemeClr val="tx1"/>
                          </a:solidFill>
                          <a:prstDash val="solid"/>
                          <a:round/>
                          <a:headEnd type="none" w="med" len="med"/>
                          <a:tailEnd type="none" w="med" len="med"/>
                        </a:lnB>
                        <a:blipFill>
                          <a:blip r:embed="rId4"/>
                          <a:stretch>
                            <a:fillRect l="-338" t="-416000" r="-351689" b="-29333"/>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361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431916"/>
                      </a:ext>
                    </a:extLst>
                  </a:tr>
                </a:tbl>
              </a:graphicData>
            </a:graphic>
          </p:graphicFrame>
        </mc:Fallback>
      </mc:AlternateContent>
    </p:spTree>
    <p:extLst>
      <p:ext uri="{BB962C8B-B14F-4D97-AF65-F5344CB8AC3E}">
        <p14:creationId xmlns:p14="http://schemas.microsoft.com/office/powerpoint/2010/main" val="576783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524315"/>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交叉</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设交叉率</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𝑐</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=100%</m:t>
                    </m:r>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即</a:t>
                </a:r>
                <a14:m>
                  <m:oMath xmlns:m="http://schemas.openxmlformats.org/officeDocument/2006/math">
                    <m:sSub>
                      <m:sSubPr>
                        <m:ctrlP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dirty="0" smtClean="0">
                            <a:latin typeface="Cambria Math" panose="02040503050406030204" pitchFamily="18" charset="0"/>
                            <a:ea typeface="宋体" panose="02010600030101010101" pitchFamily="2" charset="-122"/>
                            <a:cs typeface="Times New Roman" panose="02020603050405020304" pitchFamily="18" charset="0"/>
                          </a:rPr>
                          <m:t>1</m:t>
                        </m:r>
                      </m:sub>
                    </m:sSub>
                    <m:r>
                      <a:rPr lang="zh-CN" altLang="en-US" sz="2400" i="1" dirty="0">
                        <a:latin typeface="Cambria Math" panose="02040503050406030204" pitchFamily="18" charset="0"/>
                        <a:ea typeface="宋体" panose="02010600030101010101" pitchFamily="2" charset="-122"/>
                        <a:cs typeface="Times New Roman" panose="02020603050405020304" pitchFamily="18" charset="0"/>
                      </a:rPr>
                      <m:t>中</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的全体染色体都参加交叉运算。</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设</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与</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配对，</a:t>
                </a:r>
                <a:r>
                  <a:rPr lang="en-US" altLang="zh-CN" sz="2400" dirty="0">
                    <a:ea typeface="宋体" panose="02010600030101010101" pitchFamily="2" charset="-122"/>
                    <a:cs typeface="Times New Roman" panose="02020603050405020304" pitchFamily="18" charset="0"/>
                  </a:rPr>
                  <a:t> </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与</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zh-CN" altLang="en-US" sz="2400" i="1">
                        <a:latin typeface="Cambria Math" panose="02040503050406030204" pitchFamily="18" charset="0"/>
                        <a:ea typeface="宋体" panose="02010600030101010101" pitchFamily="2" charset="-122"/>
                        <a:cs typeface="Times New Roman" panose="02020603050405020304" pitchFamily="18" charset="0"/>
                      </a:rPr>
                      <m:t>配对</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。分别交换后两位基因，得新染色体：</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11001(25)</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01100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12</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110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7</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16</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变异</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设变异率为</a:t>
                </a:r>
                <a14:m>
                  <m:oMath xmlns:m="http://schemas.openxmlformats.org/officeDocument/2006/math">
                    <m:sSub>
                      <m:sSub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=0.001</m:t>
                    </m:r>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这样，群体</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中</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共有</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5</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×4×0.001=0</m:t>
                    </m:r>
                    <m:r>
                      <a:rPr lang="en-US" altLang="zh-CN" sz="2400" b="0" i="0" smtClean="0">
                        <a:latin typeface="Cambria Math" panose="02040503050406030204" pitchFamily="18" charset="0"/>
                        <a:ea typeface="Cambria Math" panose="02040503050406030204" pitchFamily="18" charset="0"/>
                        <a:cs typeface="Times New Roman" panose="02020603050405020304" pitchFamily="18" charset="0"/>
                      </a:rPr>
                      <m:t>.02</m:t>
                    </m:r>
                  </m:oMath>
                </a14:m>
                <a:br>
                  <a:rPr lang="en-US" altLang="zh-CN" sz="2400" b="0" dirty="0">
                    <a:latin typeface="Times New Roman" panose="02020603050405020304" pitchFamily="18" charset="0"/>
                    <a:ea typeface="Cambria Math" panose="02040503050406030204" pitchFamily="18" charset="0"/>
                    <a:cs typeface="Times New Roman" panose="02020603050405020304" pitchFamily="18" charset="0"/>
                  </a:rPr>
                </a:br>
                <a:r>
                  <a:rPr lang="zh-CN" altLang="en-US" sz="2400" b="0" dirty="0">
                    <a:latin typeface="Times New Roman" panose="02020603050405020304" pitchFamily="18" charset="0"/>
                    <a:ea typeface="Cambria Math" panose="02040503050406030204" pitchFamily="18" charset="0"/>
                    <a:cs typeface="Times New Roman" panose="02020603050405020304" pitchFamily="18" charset="0"/>
                  </a:rPr>
                  <a:t>位基因可以变异。</a:t>
                </a:r>
                <a:br>
                  <a:rPr lang="en-US" altLang="zh-CN" sz="2400" b="0" dirty="0">
                    <a:latin typeface="Times New Roman" panose="02020603050405020304" pitchFamily="18" charset="0"/>
                    <a:ea typeface="Cambria Math" panose="02040503050406030204" pitchFamily="18" charset="0"/>
                    <a:cs typeface="Times New Roman" panose="02020603050405020304" pitchFamily="18" charset="0"/>
                  </a:rPr>
                </a:br>
                <a:r>
                  <a:rPr lang="en-US" altLang="zh-CN" sz="2400" b="0" dirty="0">
                    <a:latin typeface="Times New Roman" panose="02020603050405020304" pitchFamily="18" charset="0"/>
                    <a:ea typeface="Cambria Math" panose="02040503050406030204" pitchFamily="18" charset="0"/>
                    <a:cs typeface="Times New Roman" panose="02020603050405020304" pitchFamily="18" charset="0"/>
                  </a:rPr>
                  <a:t>0.02</a:t>
                </a:r>
                <a:r>
                  <a:rPr lang="zh-CN" altLang="en-US" sz="2400" b="0" dirty="0">
                    <a:latin typeface="Times New Roman" panose="02020603050405020304" pitchFamily="18" charset="0"/>
                    <a:ea typeface="Cambria Math" panose="02040503050406030204" pitchFamily="18" charset="0"/>
                    <a:cs typeface="Times New Roman" panose="02020603050405020304" pitchFamily="18" charset="0"/>
                  </a:rPr>
                  <a:t>显然不足</a:t>
                </a:r>
                <a:r>
                  <a:rPr lang="en-US" altLang="zh-CN" sz="2400" b="0" dirty="0">
                    <a:latin typeface="Times New Roman" panose="02020603050405020304" pitchFamily="18" charset="0"/>
                    <a:ea typeface="Cambria Math" panose="02040503050406030204" pitchFamily="18" charset="0"/>
                    <a:cs typeface="Times New Roman" panose="02020603050405020304" pitchFamily="18" charset="0"/>
                  </a:rPr>
                  <a:t>1</a:t>
                </a:r>
                <a:r>
                  <a:rPr lang="zh-CN" altLang="en-US" sz="2400" b="0" dirty="0">
                    <a:latin typeface="Times New Roman" panose="02020603050405020304" pitchFamily="18" charset="0"/>
                    <a:ea typeface="Cambria Math" panose="02040503050406030204" pitchFamily="18" charset="0"/>
                    <a:cs typeface="Times New Roman" panose="02020603050405020304" pitchFamily="18" charset="0"/>
                  </a:rPr>
                  <a:t>位，所以本轮遗传操作不进行变异</a:t>
                </a:r>
                <a:r>
                  <a:rPr lang="zh-CN" altLang="en-US" sz="2400" dirty="0">
                    <a:latin typeface="Times New Roman" panose="02020603050405020304" pitchFamily="18" charset="0"/>
                    <a:ea typeface="Cambria Math" panose="02040503050406030204" pitchFamily="18" charset="0"/>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4524315"/>
              </a:xfrm>
              <a:prstGeom prst="rect">
                <a:avLst/>
              </a:prstGeom>
              <a:blipFill>
                <a:blip r:embed="rId2"/>
                <a:stretch>
                  <a:fillRect l="-784" t="-1482" b="-2291"/>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27</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2027311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2308324"/>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于是，得到第二代种群</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11001(25)</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01100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12</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110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7</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16</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由于没达到最大适应度，继续种群的演化</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首先复制，同样是轮盘赌</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此处省略随机数的选取，直接给出结果</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2308324"/>
              </a:xfrm>
              <a:prstGeom prst="rect">
                <a:avLst/>
              </a:prstGeom>
              <a:blipFill>
                <a:blip r:embed="rId2"/>
                <a:stretch>
                  <a:fillRect l="-784" t="-2902" b="-5277"/>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28</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mc:AlternateContent xmlns:mc="http://schemas.openxmlformats.org/markup-compatibility/2006">
        <mc:Choice xmlns:a14="http://schemas.microsoft.com/office/drawing/2010/main" Requires="a14">
          <p:graphicFrame>
            <p:nvGraphicFramePr>
              <p:cNvPr id="14" name="表格 13">
                <a:extLst>
                  <a:ext uri="{FF2B5EF4-FFF2-40B4-BE49-F238E27FC236}">
                    <a16:creationId xmlns:a16="http://schemas.microsoft.com/office/drawing/2014/main" id="{86BBA9B8-8420-451F-8AF3-DA48E2580A65}"/>
                  </a:ext>
                </a:extLst>
              </p:cNvPr>
              <p:cNvGraphicFramePr>
                <a:graphicFrameLocks noGrp="1"/>
              </p:cNvGraphicFramePr>
              <p:nvPr>
                <p:extLst>
                  <p:ext uri="{D42A27DB-BD31-4B8C-83A1-F6EECF244321}">
                    <p14:modId xmlns:p14="http://schemas.microsoft.com/office/powerpoint/2010/main" val="3923893098"/>
                  </p:ext>
                </p:extLst>
              </p:nvPr>
            </p:nvGraphicFramePr>
            <p:xfrm>
              <a:off x="1980045" y="3815391"/>
              <a:ext cx="8128000" cy="2286000"/>
            </p:xfrm>
            <a:graphic>
              <a:graphicData uri="http://schemas.openxmlformats.org/drawingml/2006/table">
                <a:tbl>
                  <a:tblPr firstRow="1" bandRow="1">
                    <a:tableStyleId>{5C22544A-7EE6-4342-B048-85BDC9FD1C3A}</a:tableStyleId>
                  </a:tblPr>
                  <a:tblGrid>
                    <a:gridCol w="1799772">
                      <a:extLst>
                        <a:ext uri="{9D8B030D-6E8A-4147-A177-3AD203B41FA5}">
                          <a16:colId xmlns:a16="http://schemas.microsoft.com/office/drawing/2014/main" val="3172096840"/>
                        </a:ext>
                      </a:extLst>
                    </a:gridCol>
                    <a:gridCol w="1451428">
                      <a:extLst>
                        <a:ext uri="{9D8B030D-6E8A-4147-A177-3AD203B41FA5}">
                          <a16:colId xmlns:a16="http://schemas.microsoft.com/office/drawing/2014/main" val="4234447558"/>
                        </a:ext>
                      </a:extLst>
                    </a:gridCol>
                    <a:gridCol w="1625600">
                      <a:extLst>
                        <a:ext uri="{9D8B030D-6E8A-4147-A177-3AD203B41FA5}">
                          <a16:colId xmlns:a16="http://schemas.microsoft.com/office/drawing/2014/main" val="2882535917"/>
                        </a:ext>
                      </a:extLst>
                    </a:gridCol>
                    <a:gridCol w="1625600">
                      <a:extLst>
                        <a:ext uri="{9D8B030D-6E8A-4147-A177-3AD203B41FA5}">
                          <a16:colId xmlns:a16="http://schemas.microsoft.com/office/drawing/2014/main" val="2365442691"/>
                        </a:ext>
                      </a:extLst>
                    </a:gridCol>
                    <a:gridCol w="1625600">
                      <a:extLst>
                        <a:ext uri="{9D8B030D-6E8A-4147-A177-3AD203B41FA5}">
                          <a16:colId xmlns:a16="http://schemas.microsoft.com/office/drawing/2014/main" val="2593148916"/>
                        </a:ext>
                      </a:extLst>
                    </a:gridCol>
                  </a:tblGrid>
                  <a:tr h="0">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染色体</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适应度</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选择概率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累积概率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选中次数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68242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=11001</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625</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573350923"/>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=01100</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144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0.08</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416221052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=11011</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729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0.85</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2684652752"/>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=10000</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256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0.15</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431916"/>
                      </a:ext>
                    </a:extLst>
                  </a:tr>
                </a:tbl>
              </a:graphicData>
            </a:graphic>
          </p:graphicFrame>
        </mc:Choice>
        <mc:Fallback>
          <p:graphicFrame>
            <p:nvGraphicFramePr>
              <p:cNvPr id="14" name="表格 13">
                <a:extLst>
                  <a:ext uri="{FF2B5EF4-FFF2-40B4-BE49-F238E27FC236}">
                    <a16:creationId xmlns:a16="http://schemas.microsoft.com/office/drawing/2014/main" id="{86BBA9B8-8420-451F-8AF3-DA48E2580A65}"/>
                  </a:ext>
                </a:extLst>
              </p:cNvPr>
              <p:cNvGraphicFramePr>
                <a:graphicFrameLocks noGrp="1"/>
              </p:cNvGraphicFramePr>
              <p:nvPr>
                <p:extLst>
                  <p:ext uri="{D42A27DB-BD31-4B8C-83A1-F6EECF244321}">
                    <p14:modId xmlns:p14="http://schemas.microsoft.com/office/powerpoint/2010/main" val="3923893098"/>
                  </p:ext>
                </p:extLst>
              </p:nvPr>
            </p:nvGraphicFramePr>
            <p:xfrm>
              <a:off x="1980045" y="3815391"/>
              <a:ext cx="8128000" cy="2286000"/>
            </p:xfrm>
            <a:graphic>
              <a:graphicData uri="http://schemas.openxmlformats.org/drawingml/2006/table">
                <a:tbl>
                  <a:tblPr firstRow="1" bandRow="1">
                    <a:tableStyleId>{5C22544A-7EE6-4342-B048-85BDC9FD1C3A}</a:tableStyleId>
                  </a:tblPr>
                  <a:tblGrid>
                    <a:gridCol w="1799772">
                      <a:extLst>
                        <a:ext uri="{9D8B030D-6E8A-4147-A177-3AD203B41FA5}">
                          <a16:colId xmlns:a16="http://schemas.microsoft.com/office/drawing/2014/main" val="3172096840"/>
                        </a:ext>
                      </a:extLst>
                    </a:gridCol>
                    <a:gridCol w="1451428">
                      <a:extLst>
                        <a:ext uri="{9D8B030D-6E8A-4147-A177-3AD203B41FA5}">
                          <a16:colId xmlns:a16="http://schemas.microsoft.com/office/drawing/2014/main" val="4234447558"/>
                        </a:ext>
                      </a:extLst>
                    </a:gridCol>
                    <a:gridCol w="1625600">
                      <a:extLst>
                        <a:ext uri="{9D8B030D-6E8A-4147-A177-3AD203B41FA5}">
                          <a16:colId xmlns:a16="http://schemas.microsoft.com/office/drawing/2014/main" val="2882535917"/>
                        </a:ext>
                      </a:extLst>
                    </a:gridCol>
                    <a:gridCol w="1625600">
                      <a:extLst>
                        <a:ext uri="{9D8B030D-6E8A-4147-A177-3AD203B41FA5}">
                          <a16:colId xmlns:a16="http://schemas.microsoft.com/office/drawing/2014/main" val="2365442691"/>
                        </a:ext>
                      </a:extLst>
                    </a:gridCol>
                    <a:gridCol w="1625600">
                      <a:extLst>
                        <a:ext uri="{9D8B030D-6E8A-4147-A177-3AD203B41FA5}">
                          <a16:colId xmlns:a16="http://schemas.microsoft.com/office/drawing/2014/main" val="2593148916"/>
                        </a:ext>
                      </a:extLst>
                    </a:gridCol>
                  </a:tblGrid>
                  <a:tr h="457200">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染色体</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适应度</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选择概率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累积概率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选中次数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682425"/>
                      </a:ext>
                    </a:extLst>
                  </a:tr>
                  <a:tr h="457200">
                    <a:tc>
                      <a:txBody>
                        <a:bodyPr/>
                        <a:lstStyle/>
                        <a:p>
                          <a:endParaRPr lang="zh-CN"/>
                        </a:p>
                      </a:txBody>
                      <a:tcPr>
                        <a:lnT w="12700" cap="flat" cmpd="sng" algn="ctr">
                          <a:solidFill>
                            <a:schemeClr val="tx1"/>
                          </a:solidFill>
                          <a:prstDash val="solid"/>
                          <a:round/>
                          <a:headEnd type="none" w="med" len="med"/>
                          <a:tailEnd type="none" w="med" len="med"/>
                        </a:lnT>
                        <a:blipFill>
                          <a:blip r:embed="rId4"/>
                          <a:stretch>
                            <a:fillRect l="-338" t="-113333" r="-351689" b="-332000"/>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625</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573350923"/>
                      </a:ext>
                    </a:extLst>
                  </a:tr>
                  <a:tr h="457200">
                    <a:tc>
                      <a:txBody>
                        <a:bodyPr/>
                        <a:lstStyle/>
                        <a:p>
                          <a:endParaRPr lang="zh-CN"/>
                        </a:p>
                      </a:txBody>
                      <a:tcPr>
                        <a:blipFill>
                          <a:blip r:embed="rId4"/>
                          <a:stretch>
                            <a:fillRect l="-338" t="-210526" r="-351689" b="-227632"/>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144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0.08</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4162210520"/>
                      </a:ext>
                    </a:extLst>
                  </a:tr>
                  <a:tr h="457200">
                    <a:tc>
                      <a:txBody>
                        <a:bodyPr/>
                        <a:lstStyle/>
                        <a:p>
                          <a:endParaRPr lang="zh-CN"/>
                        </a:p>
                      </a:txBody>
                      <a:tcPr>
                        <a:blipFill>
                          <a:blip r:embed="rId4"/>
                          <a:stretch>
                            <a:fillRect l="-338" t="-314667" r="-351689" b="-130667"/>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729</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0.85</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2684652752"/>
                      </a:ext>
                    </a:extLst>
                  </a:tr>
                  <a:tr h="457200">
                    <a:tc>
                      <a:txBody>
                        <a:bodyPr/>
                        <a:lstStyle/>
                        <a:p>
                          <a:endParaRPr lang="zh-CN"/>
                        </a:p>
                      </a:txBody>
                      <a:tcPr>
                        <a:lnB w="12700" cap="flat" cmpd="sng" algn="ctr">
                          <a:solidFill>
                            <a:schemeClr val="tx1"/>
                          </a:solidFill>
                          <a:prstDash val="solid"/>
                          <a:round/>
                          <a:headEnd type="none" w="med" len="med"/>
                          <a:tailEnd type="none" w="med" len="med"/>
                        </a:lnB>
                        <a:blipFill>
                          <a:blip r:embed="rId4"/>
                          <a:stretch>
                            <a:fillRect l="-338" t="-414667" r="-351689" b="-30667"/>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256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0.15</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431916"/>
                      </a:ext>
                    </a:extLst>
                  </a:tr>
                </a:tbl>
              </a:graphicData>
            </a:graphic>
          </p:graphicFrame>
        </mc:Fallback>
      </mc:AlternateContent>
    </p:spTree>
    <p:extLst>
      <p:ext uri="{BB962C8B-B14F-4D97-AF65-F5344CB8AC3E}">
        <p14:creationId xmlns:p14="http://schemas.microsoft.com/office/powerpoint/2010/main" val="1343020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893647"/>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复制后的结果为：</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=1100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5</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=0110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i="1" dirty="0">
                    <a:latin typeface="Cambria Math" panose="020405030504060302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=1100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7</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=100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6</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做交叉运算，让</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与</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配对，</a:t>
                </a:r>
                <a:r>
                  <a:rPr lang="en-US" altLang="zh-CN" sz="2400" dirty="0">
                    <a:ea typeface="宋体" panose="02010600030101010101" pitchFamily="2" charset="-122"/>
                    <a:cs typeface="Times New Roman" panose="02020603050405020304" pitchFamily="18" charset="0"/>
                  </a:rPr>
                  <a:t> </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与</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zh-CN" altLang="en-US" sz="2400" i="1">
                        <a:latin typeface="Cambria Math" panose="02040503050406030204" pitchFamily="18" charset="0"/>
                        <a:ea typeface="宋体" panose="02010600030101010101" pitchFamily="2" charset="-122"/>
                        <a:cs typeface="Times New Roman" panose="02020603050405020304" pitchFamily="18" charset="0"/>
                      </a:rPr>
                      <m:t>配对</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分别交换后三位基因，得</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1100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8</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01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9</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=110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9</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这一轮仍然不会发生变异。</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于是，得到第三代种群</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r>
                      <a:rPr lang="zh-CN" altLang="en-US" sz="2400" i="1" smtClean="0">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28</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01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9</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=110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9</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4893647"/>
              </a:xfrm>
              <a:prstGeom prst="rect">
                <a:avLst/>
              </a:prstGeom>
              <a:blipFill>
                <a:blip r:embed="rId2"/>
                <a:stretch>
                  <a:fillRect l="-784" t="-1370"/>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29</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523643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3416320"/>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于是，得到第三代种群</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r>
                      <a:rPr lang="zh-CN" altLang="en-US" sz="2400" i="1" smtClean="0">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28</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01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9</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=110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9</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由于没达到最大适应度，继续种群的演化</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首先复制，同样是轮盘赌</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此处省略随机数的选取，直接给出结果</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marL="800100" lvl="1" indent="-342900">
                  <a:buClr>
                    <a:schemeClr val="accent1">
                      <a:lumMod val="75000"/>
                    </a:schemeClr>
                  </a:buClr>
                  <a:buFont typeface="Wingdings" panose="05000000000000000000" pitchFamily="2" charset="2"/>
                  <a:buChar char="n"/>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3416320"/>
              </a:xfrm>
              <a:prstGeom prst="rect">
                <a:avLst/>
              </a:prstGeom>
              <a:blipFill>
                <a:blip r:embed="rId2"/>
                <a:stretch>
                  <a:fillRect l="-784" t="-1961"/>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30</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mc:AlternateContent xmlns:mc="http://schemas.openxmlformats.org/markup-compatibility/2006">
        <mc:Choice xmlns:a14="http://schemas.microsoft.com/office/drawing/2010/main" Requires="a14">
          <p:graphicFrame>
            <p:nvGraphicFramePr>
              <p:cNvPr id="14" name="表格 13">
                <a:extLst>
                  <a:ext uri="{FF2B5EF4-FFF2-40B4-BE49-F238E27FC236}">
                    <a16:creationId xmlns:a16="http://schemas.microsoft.com/office/drawing/2014/main" id="{61053D18-D9E9-4B35-9B37-D22AEBDB7D2E}"/>
                  </a:ext>
                </a:extLst>
              </p:cNvPr>
              <p:cNvGraphicFramePr>
                <a:graphicFrameLocks noGrp="1"/>
              </p:cNvGraphicFramePr>
              <p:nvPr>
                <p:extLst>
                  <p:ext uri="{D42A27DB-BD31-4B8C-83A1-F6EECF244321}">
                    <p14:modId xmlns:p14="http://schemas.microsoft.com/office/powerpoint/2010/main" val="3979423801"/>
                  </p:ext>
                </p:extLst>
              </p:nvPr>
            </p:nvGraphicFramePr>
            <p:xfrm>
              <a:off x="1980045" y="3815391"/>
              <a:ext cx="8128000" cy="2286000"/>
            </p:xfrm>
            <a:graphic>
              <a:graphicData uri="http://schemas.openxmlformats.org/drawingml/2006/table">
                <a:tbl>
                  <a:tblPr firstRow="1" bandRow="1">
                    <a:tableStyleId>{5C22544A-7EE6-4342-B048-85BDC9FD1C3A}</a:tableStyleId>
                  </a:tblPr>
                  <a:tblGrid>
                    <a:gridCol w="1799772">
                      <a:extLst>
                        <a:ext uri="{9D8B030D-6E8A-4147-A177-3AD203B41FA5}">
                          <a16:colId xmlns:a16="http://schemas.microsoft.com/office/drawing/2014/main" val="3172096840"/>
                        </a:ext>
                      </a:extLst>
                    </a:gridCol>
                    <a:gridCol w="1451428">
                      <a:extLst>
                        <a:ext uri="{9D8B030D-6E8A-4147-A177-3AD203B41FA5}">
                          <a16:colId xmlns:a16="http://schemas.microsoft.com/office/drawing/2014/main" val="4234447558"/>
                        </a:ext>
                      </a:extLst>
                    </a:gridCol>
                    <a:gridCol w="1625600">
                      <a:extLst>
                        <a:ext uri="{9D8B030D-6E8A-4147-A177-3AD203B41FA5}">
                          <a16:colId xmlns:a16="http://schemas.microsoft.com/office/drawing/2014/main" val="2882535917"/>
                        </a:ext>
                      </a:extLst>
                    </a:gridCol>
                    <a:gridCol w="1625600">
                      <a:extLst>
                        <a:ext uri="{9D8B030D-6E8A-4147-A177-3AD203B41FA5}">
                          <a16:colId xmlns:a16="http://schemas.microsoft.com/office/drawing/2014/main" val="2365442691"/>
                        </a:ext>
                      </a:extLst>
                    </a:gridCol>
                    <a:gridCol w="1625600">
                      <a:extLst>
                        <a:ext uri="{9D8B030D-6E8A-4147-A177-3AD203B41FA5}">
                          <a16:colId xmlns:a16="http://schemas.microsoft.com/office/drawing/2014/main" val="2593148916"/>
                        </a:ext>
                      </a:extLst>
                    </a:gridCol>
                  </a:tblGrid>
                  <a:tr h="0">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染色体</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适应度</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选择概率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累积概率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选中次数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68242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=11100</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784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573350923"/>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=01001</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0.04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0.48</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416221052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=11000</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576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0.32</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0.80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2684652752"/>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=10011</m:t>
                                </m:r>
                              </m:oMath>
                            </m:oMathPara>
                          </a14:m>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361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431916"/>
                      </a:ext>
                    </a:extLst>
                  </a:tr>
                </a:tbl>
              </a:graphicData>
            </a:graphic>
          </p:graphicFrame>
        </mc:Choice>
        <mc:Fallback>
          <p:graphicFrame>
            <p:nvGraphicFramePr>
              <p:cNvPr id="14" name="表格 13">
                <a:extLst>
                  <a:ext uri="{FF2B5EF4-FFF2-40B4-BE49-F238E27FC236}">
                    <a16:creationId xmlns:a16="http://schemas.microsoft.com/office/drawing/2014/main" id="{61053D18-D9E9-4B35-9B37-D22AEBDB7D2E}"/>
                  </a:ext>
                </a:extLst>
              </p:cNvPr>
              <p:cNvGraphicFramePr>
                <a:graphicFrameLocks noGrp="1"/>
              </p:cNvGraphicFramePr>
              <p:nvPr>
                <p:extLst>
                  <p:ext uri="{D42A27DB-BD31-4B8C-83A1-F6EECF244321}">
                    <p14:modId xmlns:p14="http://schemas.microsoft.com/office/powerpoint/2010/main" val="3979423801"/>
                  </p:ext>
                </p:extLst>
              </p:nvPr>
            </p:nvGraphicFramePr>
            <p:xfrm>
              <a:off x="1980045" y="3815391"/>
              <a:ext cx="8128000" cy="2286000"/>
            </p:xfrm>
            <a:graphic>
              <a:graphicData uri="http://schemas.openxmlformats.org/drawingml/2006/table">
                <a:tbl>
                  <a:tblPr firstRow="1" bandRow="1">
                    <a:tableStyleId>{5C22544A-7EE6-4342-B048-85BDC9FD1C3A}</a:tableStyleId>
                  </a:tblPr>
                  <a:tblGrid>
                    <a:gridCol w="1799772">
                      <a:extLst>
                        <a:ext uri="{9D8B030D-6E8A-4147-A177-3AD203B41FA5}">
                          <a16:colId xmlns:a16="http://schemas.microsoft.com/office/drawing/2014/main" val="3172096840"/>
                        </a:ext>
                      </a:extLst>
                    </a:gridCol>
                    <a:gridCol w="1451428">
                      <a:extLst>
                        <a:ext uri="{9D8B030D-6E8A-4147-A177-3AD203B41FA5}">
                          <a16:colId xmlns:a16="http://schemas.microsoft.com/office/drawing/2014/main" val="4234447558"/>
                        </a:ext>
                      </a:extLst>
                    </a:gridCol>
                    <a:gridCol w="1625600">
                      <a:extLst>
                        <a:ext uri="{9D8B030D-6E8A-4147-A177-3AD203B41FA5}">
                          <a16:colId xmlns:a16="http://schemas.microsoft.com/office/drawing/2014/main" val="2882535917"/>
                        </a:ext>
                      </a:extLst>
                    </a:gridCol>
                    <a:gridCol w="1625600">
                      <a:extLst>
                        <a:ext uri="{9D8B030D-6E8A-4147-A177-3AD203B41FA5}">
                          <a16:colId xmlns:a16="http://schemas.microsoft.com/office/drawing/2014/main" val="2365442691"/>
                        </a:ext>
                      </a:extLst>
                    </a:gridCol>
                    <a:gridCol w="1625600">
                      <a:extLst>
                        <a:ext uri="{9D8B030D-6E8A-4147-A177-3AD203B41FA5}">
                          <a16:colId xmlns:a16="http://schemas.microsoft.com/office/drawing/2014/main" val="2593148916"/>
                        </a:ext>
                      </a:extLst>
                    </a:gridCol>
                  </a:tblGrid>
                  <a:tr h="457200">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染色体</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适应度</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选择概率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累积概率</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选中次数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682425"/>
                      </a:ext>
                    </a:extLst>
                  </a:tr>
                  <a:tr h="457200">
                    <a:tc>
                      <a:txBody>
                        <a:bodyPr/>
                        <a:lstStyle/>
                        <a:p>
                          <a:endParaRPr lang="zh-CN"/>
                        </a:p>
                      </a:txBody>
                      <a:tcPr>
                        <a:lnT w="12700" cap="flat" cmpd="sng" algn="ctr">
                          <a:solidFill>
                            <a:schemeClr val="tx1"/>
                          </a:solidFill>
                          <a:prstDash val="solid"/>
                          <a:round/>
                          <a:headEnd type="none" w="med" len="med"/>
                          <a:tailEnd type="none" w="med" len="med"/>
                        </a:lnT>
                        <a:blipFill>
                          <a:blip r:embed="rId4"/>
                          <a:stretch>
                            <a:fillRect l="-338" t="-113333" r="-351689" b="-332000"/>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784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573350923"/>
                      </a:ext>
                    </a:extLst>
                  </a:tr>
                  <a:tr h="457200">
                    <a:tc>
                      <a:txBody>
                        <a:bodyPr/>
                        <a:lstStyle/>
                        <a:p>
                          <a:endParaRPr lang="zh-CN"/>
                        </a:p>
                      </a:txBody>
                      <a:tcPr>
                        <a:blipFill>
                          <a:blip r:embed="rId4"/>
                          <a:stretch>
                            <a:fillRect l="-338" t="-210526" r="-351689" b="-227632"/>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0.04</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0.48</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4162210520"/>
                      </a:ext>
                    </a:extLst>
                  </a:tr>
                  <a:tr h="457200">
                    <a:tc>
                      <a:txBody>
                        <a:bodyPr/>
                        <a:lstStyle/>
                        <a:p>
                          <a:endParaRPr lang="zh-CN"/>
                        </a:p>
                      </a:txBody>
                      <a:tcPr>
                        <a:blipFill>
                          <a:blip r:embed="rId4"/>
                          <a:stretch>
                            <a:fillRect l="-338" t="-314667" r="-351689" b="-130667"/>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576</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0.32</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0.80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oFill/>
                      </a:tcPr>
                    </a:tc>
                    <a:extLst>
                      <a:ext uri="{0D108BD9-81ED-4DB2-BD59-A6C34878D82A}">
                        <a16:rowId xmlns:a16="http://schemas.microsoft.com/office/drawing/2014/main" val="2684652752"/>
                      </a:ext>
                    </a:extLst>
                  </a:tr>
                  <a:tr h="457200">
                    <a:tc>
                      <a:txBody>
                        <a:bodyPr/>
                        <a:lstStyle/>
                        <a:p>
                          <a:endParaRPr lang="zh-CN"/>
                        </a:p>
                      </a:txBody>
                      <a:tcPr>
                        <a:lnB w="12700" cap="flat" cmpd="sng" algn="ctr">
                          <a:solidFill>
                            <a:schemeClr val="tx1"/>
                          </a:solidFill>
                          <a:prstDash val="solid"/>
                          <a:round/>
                          <a:headEnd type="none" w="med" len="med"/>
                          <a:tailEnd type="none" w="med" len="med"/>
                        </a:lnB>
                        <a:blipFill>
                          <a:blip r:embed="rId4"/>
                          <a:stretch>
                            <a:fillRect l="-338" t="-414667" r="-351689" b="-30667"/>
                          </a:stretch>
                        </a:blip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361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4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431916"/>
                      </a:ext>
                    </a:extLst>
                  </a:tr>
                </a:tbl>
              </a:graphicData>
            </a:graphic>
          </p:graphicFrame>
        </mc:Fallback>
      </mc:AlternateContent>
    </p:spTree>
    <p:extLst>
      <p:ext uri="{BB962C8B-B14F-4D97-AF65-F5344CB8AC3E}">
        <p14:creationId xmlns:p14="http://schemas.microsoft.com/office/powerpoint/2010/main" val="2286197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4524315"/>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这一轮得选择</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复制结果为：</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8</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28</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i="1" dirty="0">
                    <a:latin typeface="Cambria Math" panose="020405030504060302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=1100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=100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9</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做交叉运算，让</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与</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配对，</a:t>
                </a:r>
                <a:r>
                  <a:rPr lang="en-US" altLang="zh-CN" sz="2400" dirty="0">
                    <a:ea typeface="宋体" panose="02010600030101010101" pitchFamily="2" charset="-122"/>
                    <a:cs typeface="Times New Roman" panose="02020603050405020304" pitchFamily="18" charset="0"/>
                  </a:rPr>
                  <a:t> </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与</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zh-CN" altLang="en-US" sz="2400" i="1">
                        <a:latin typeface="Cambria Math" panose="02040503050406030204" pitchFamily="18" charset="0"/>
                        <a:ea typeface="宋体" panose="02010600030101010101" pitchFamily="2" charset="-122"/>
                        <a:cs typeface="Times New Roman" panose="02020603050405020304" pitchFamily="18" charset="0"/>
                      </a:rPr>
                      <m:t>配对</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分别交换后两位基因，得</a:t>
                </a:r>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32</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11100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28</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=110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00 </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i="1">
                        <a:latin typeface="Cambria Math" panose="02040503050406030204" pitchFamily="18" charset="0"/>
                        <a:ea typeface="宋体" panose="02010600030101010101" pitchFamily="2" charset="-122"/>
                        <a:cs typeface="Times New Roman" panose="02020603050405020304" pitchFamily="18" charset="0"/>
                      </a:rPr>
                      <m:t>=100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smtClean="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6</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这一轮仍然不会发生变异。</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于是，得到第四代种群</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11100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28</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=110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=100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6</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4524315"/>
              </a:xfrm>
              <a:prstGeom prst="rect">
                <a:avLst/>
              </a:prstGeom>
              <a:blipFill>
                <a:blip r:embed="rId2"/>
                <a:stretch>
                  <a:fillRect l="-784" t="-1482"/>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31</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31670443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69BD71D-BE69-4916-9480-116AAB280849}"/>
              </a:ext>
            </a:extLst>
          </p:cNvPr>
          <p:cNvSpPr/>
          <p:nvPr/>
        </p:nvSpPr>
        <p:spPr>
          <a:xfrm>
            <a:off x="1043709" y="1209196"/>
            <a:ext cx="6391564" cy="9236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AD5E1178-68AC-41B5-93C5-B54A3FB13F7E}"/>
              </a:ext>
            </a:extLst>
          </p:cNvPr>
          <p:cNvCxnSpPr>
            <a:cxnSpLocks/>
          </p:cNvCxnSpPr>
          <p:nvPr/>
        </p:nvCxnSpPr>
        <p:spPr>
          <a:xfrm flipV="1">
            <a:off x="1228436" y="1220740"/>
            <a:ext cx="9919855"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51AE5E6-EE1D-4186-A276-DB742CB833D0}"/>
              </a:ext>
            </a:extLst>
          </p:cNvPr>
          <p:cNvCxnSpPr>
            <a:cxnSpLocks/>
          </p:cNvCxnSpPr>
          <p:nvPr/>
        </p:nvCxnSpPr>
        <p:spPr>
          <a:xfrm>
            <a:off x="939800" y="6343073"/>
            <a:ext cx="10208490"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B868F26-9560-43BB-BAF4-FEA7CB1C0384}"/>
              </a:ext>
            </a:extLst>
          </p:cNvPr>
          <p:cNvSpPr txBox="1"/>
          <p:nvPr/>
        </p:nvSpPr>
        <p:spPr>
          <a:xfrm>
            <a:off x="1049867" y="690615"/>
            <a:ext cx="9809019" cy="584775"/>
          </a:xfrm>
          <a:prstGeom prst="rect">
            <a:avLst/>
          </a:prstGeom>
          <a:noFill/>
        </p:spPr>
        <p:txBody>
          <a:bodyPr wrap="square" rtlCol="0">
            <a:spAutoFit/>
          </a:bodyPr>
          <a:lstStyle/>
          <a:p>
            <a:r>
              <a:rPr lang="zh-CN" altLang="en-US" sz="3200" dirty="0">
                <a:latin typeface="华文隶书" panose="02010800040101010101" pitchFamily="2" charset="-122"/>
                <a:ea typeface="华文隶书" panose="02010800040101010101" pitchFamily="2" charset="-122"/>
              </a:rPr>
              <a:t>遗传算法</a:t>
            </a:r>
            <a:r>
              <a:rPr lang="en-US" altLang="zh-CN" sz="3200" dirty="0">
                <a:latin typeface="华文隶书" panose="02010800040101010101" pitchFamily="2" charset="-122"/>
                <a:ea typeface="华文隶书" panose="02010800040101010101" pitchFamily="2" charset="-122"/>
              </a:rPr>
              <a:t>——</a:t>
            </a:r>
            <a:r>
              <a:rPr lang="zh-CN" altLang="en-US" sz="3200" dirty="0">
                <a:latin typeface="华文隶书" panose="02010800040101010101" pitchFamily="2" charset="-122"/>
                <a:ea typeface="华文隶书" panose="02010800040101010101" pitchFamily="2" charset="-122"/>
              </a:rPr>
              <a:t>简单案例</a:t>
            </a: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B090DAE-AA40-4B83-A429-43590E609C9C}"/>
                  </a:ext>
                </a:extLst>
              </p:cNvPr>
              <p:cNvSpPr txBox="1"/>
              <p:nvPr/>
            </p:nvSpPr>
            <p:spPr>
              <a:xfrm>
                <a:off x="1043709" y="1507067"/>
                <a:ext cx="10104581" cy="2677656"/>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利用遗传算法求解区间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[0,31]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上的二次函数</a:t>
                </a: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zh-CN" altLang="en-US" sz="2400" i="1">
                        <a:latin typeface="Cambria Math" panose="02040503050406030204" pitchFamily="18" charset="0"/>
                        <a:ea typeface="宋体" panose="02010600030101010101" pitchFamily="2" charset="-122"/>
                        <a:cs typeface="Times New Roman" panose="02020603050405020304" pitchFamily="18" charset="0"/>
                      </a:rPr>
                      <m:t>的</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最大值。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于是，得到第四代种群</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4</m:t>
                        </m:r>
                      </m:sub>
                    </m:sSub>
                    <m:r>
                      <a:rPr lang="zh-CN" altLang="en-US"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31</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11100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28</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br>
                  <a:rPr lang="en-US" altLang="zh-CN" sz="2400" dirty="0">
                    <a:latin typeface="Times New Roman" panose="02020603050405020304" pitchFamily="18" charset="0"/>
                    <a:ea typeface="宋体" panose="02010600030101010101" pitchFamily="2" charset="-122"/>
                    <a:cs typeface="Times New Roman" panose="02020603050405020304" pitchFamily="18" charset="0"/>
                  </a:rPr>
                </a:b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=110</m:t>
                    </m:r>
                    <m:r>
                      <a:rPr lang="en-US" altLang="zh-CN" sz="2400" i="1">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=100</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00</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6</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buClr>
                    <a:schemeClr val="accent1">
                      <a:lumMod val="75000"/>
                    </a:schemeClr>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显然，在这一代种群中已经出现了适应度最高的染色体</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𝑠</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=111</m:t>
                    </m:r>
                    <m:r>
                      <a:rPr lang="en-US" altLang="zh-CN" sz="2400" i="1">
                        <a:latin typeface="Cambria Math" panose="02040503050406030204" pitchFamily="18" charset="0"/>
                        <a:ea typeface="宋体" panose="02010600030101010101" pitchFamily="2" charset="-122"/>
                        <a:cs typeface="Times New Roman" panose="02020603050405020304" pitchFamily="18" charset="0"/>
                      </a:rPr>
                      <m:t>11</m:t>
                    </m:r>
                    <m:r>
                      <a:rPr lang="zh-CN" altLang="en-US" sz="2400" i="1" smtClean="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a:latin typeface="Times New Roman" panose="02020603050405020304" pitchFamily="18" charset="0"/>
                    <a:ea typeface="宋体" panose="02010600030101010101" pitchFamily="2" charset="-122"/>
                    <a:cs typeface="Times New Roman" panose="02020603050405020304" pitchFamily="18" charset="0"/>
                  </a:rPr>
                  <a:t>所以此时可以终止种群的演化。</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buClr>
                    <a:schemeClr val="accent1">
                      <a:lumMod val="75000"/>
                    </a:schemeClr>
                  </a:buClr>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B090DAE-AA40-4B83-A429-43590E609C9C}"/>
                  </a:ext>
                </a:extLst>
              </p:cNvPr>
              <p:cNvSpPr txBox="1">
                <a:spLocks noRot="1" noChangeAspect="1" noMove="1" noResize="1" noEditPoints="1" noAdjustHandles="1" noChangeArrowheads="1" noChangeShapeType="1" noTextEdit="1"/>
              </p:cNvSpPr>
              <p:nvPr/>
            </p:nvSpPr>
            <p:spPr>
              <a:xfrm>
                <a:off x="1043709" y="1507067"/>
                <a:ext cx="10104581" cy="2677656"/>
              </a:xfrm>
              <a:prstGeom prst="rect">
                <a:avLst/>
              </a:prstGeom>
              <a:blipFill>
                <a:blip r:embed="rId2"/>
                <a:stretch>
                  <a:fillRect l="-784" t="-2506"/>
                </a:stretch>
              </a:blipFill>
            </p:spPr>
            <p:txBody>
              <a:bodyPr/>
              <a:lstStyle/>
              <a:p>
                <a:r>
                  <a:rPr lang="zh-CN" altLang="en-US">
                    <a:noFill/>
                  </a:rPr>
                  <a:t> </a:t>
                </a:r>
              </a:p>
            </p:txBody>
          </p:sp>
        </mc:Fallback>
      </mc:AlternateContent>
      <p:sp>
        <p:nvSpPr>
          <p:cNvPr id="21" name="灯片编号占位符 20">
            <a:extLst>
              <a:ext uri="{FF2B5EF4-FFF2-40B4-BE49-F238E27FC236}">
                <a16:creationId xmlns:a16="http://schemas.microsoft.com/office/drawing/2014/main" id="{6F6C1F52-415F-436A-AEF0-3384766F7AE0}"/>
              </a:ext>
            </a:extLst>
          </p:cNvPr>
          <p:cNvSpPr>
            <a:spLocks noGrp="1"/>
          </p:cNvSpPr>
          <p:nvPr>
            <p:ph type="sldNum" sz="quarter" idx="12"/>
          </p:nvPr>
        </p:nvSpPr>
        <p:spPr/>
        <p:txBody>
          <a:bodyPr/>
          <a:lstStyle/>
          <a:p>
            <a:fld id="{C7F00559-2011-4BAE-98C0-93470F977BD5}" type="slidenum">
              <a:rPr lang="zh-CN" altLang="en-US" smtClean="0"/>
              <a:t>32</a:t>
            </a:fld>
            <a:endParaRPr lang="zh-CN" altLang="en-US" dirty="0"/>
          </a:p>
        </p:txBody>
      </p:sp>
      <p:pic>
        <p:nvPicPr>
          <p:cNvPr id="22" name="图片 21">
            <a:extLst>
              <a:ext uri="{FF2B5EF4-FFF2-40B4-BE49-F238E27FC236}">
                <a16:creationId xmlns:a16="http://schemas.microsoft.com/office/drawing/2014/main" id="{44EC40F7-E6F5-4E4D-AB6A-6F603E043FC3}"/>
              </a:ext>
            </a:extLst>
          </p:cNvPr>
          <p:cNvPicPr>
            <a:picLocks noChangeAspect="1"/>
          </p:cNvPicPr>
          <p:nvPr/>
        </p:nvPicPr>
        <p:blipFill rotWithShape="1">
          <a:blip r:embed="rId3">
            <a:extLst>
              <a:ext uri="{28A0092B-C50C-407E-A947-70E740481C1C}">
                <a14:useLocalDpi xmlns:a14="http://schemas.microsoft.com/office/drawing/2010/main" val="0"/>
              </a:ext>
            </a:extLst>
          </a:blip>
          <a:srcRect r="84685"/>
          <a:stretch/>
        </p:blipFill>
        <p:spPr>
          <a:xfrm>
            <a:off x="921846" y="6394644"/>
            <a:ext cx="407421" cy="405502"/>
          </a:xfrm>
          <a:prstGeom prst="rect">
            <a:avLst/>
          </a:prstGeom>
        </p:spPr>
      </p:pic>
      <p:sp>
        <p:nvSpPr>
          <p:cNvPr id="23" name="矩形 22">
            <a:extLst>
              <a:ext uri="{FF2B5EF4-FFF2-40B4-BE49-F238E27FC236}">
                <a16:creationId xmlns:a16="http://schemas.microsoft.com/office/drawing/2014/main" id="{13F427CC-43F1-4C45-8B59-8D8A37AAA54F}"/>
              </a:ext>
            </a:extLst>
          </p:cNvPr>
          <p:cNvSpPr/>
          <p:nvPr/>
        </p:nvSpPr>
        <p:spPr>
          <a:xfrm>
            <a:off x="1329267" y="6458895"/>
            <a:ext cx="3185487" cy="276999"/>
          </a:xfrm>
          <a:prstGeom prst="rect">
            <a:avLst/>
          </a:prstGeom>
        </p:spPr>
        <p:txBody>
          <a:bodyPr wrap="none">
            <a:spAutoFit/>
          </a:bodyPr>
          <a:lstStyle/>
          <a:p>
            <a:r>
              <a:rPr lang="zh-CN" altLang="en-US" sz="1200" dirty="0">
                <a:latin typeface="宋体" panose="02010600030101010101" pitchFamily="2" charset="-122"/>
                <a:ea typeface="宋体" panose="02010600030101010101" pitchFamily="2" charset="-122"/>
              </a:rPr>
              <a:t>化学工程与生物工程系本科生</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智能优化</a:t>
            </a:r>
            <a:r>
              <a:rPr lang="en-US" altLang="zh-CN" sz="1200" dirty="0">
                <a:latin typeface="宋体" panose="02010600030101010101" pitchFamily="2" charset="-122"/>
                <a:ea typeface="宋体" panose="02010600030101010101" pitchFamily="2" charset="-122"/>
              </a:rPr>
              <a:t>》</a:t>
            </a:r>
            <a:endParaRPr lang="zh-CN" altLang="en-US" sz="1200" dirty="0"/>
          </a:p>
        </p:txBody>
      </p:sp>
    </p:spTree>
    <p:extLst>
      <p:ext uri="{BB962C8B-B14F-4D97-AF65-F5344CB8AC3E}">
        <p14:creationId xmlns:p14="http://schemas.microsoft.com/office/powerpoint/2010/main" val="191050702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1374</TotalTime>
  <Words>2840</Words>
  <Application>Microsoft Office PowerPoint</Application>
  <PresentationFormat>宽屏</PresentationFormat>
  <Paragraphs>361</Paragraphs>
  <Slides>32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等线</vt:lpstr>
      <vt:lpstr>等线 Light</vt:lpstr>
      <vt:lpstr>华文隶书</vt:lpstr>
      <vt:lpstr>宋体</vt:lpstr>
      <vt:lpstr>微软雅黑</vt:lpstr>
      <vt:lpstr>Arial</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lemon water</dc:creator>
  <cp:lastModifiedBy>lemon water</cp:lastModifiedBy>
  <cp:revision>291</cp:revision>
  <dcterms:created xsi:type="dcterms:W3CDTF">2024-11-18T07:06:09Z</dcterms:created>
  <dcterms:modified xsi:type="dcterms:W3CDTF">2024-12-07T14:58:47Z</dcterms:modified>
</cp:coreProperties>
</file>