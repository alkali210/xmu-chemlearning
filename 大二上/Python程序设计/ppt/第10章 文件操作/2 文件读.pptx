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1" r:id="rId2"/>
    <p:sldId id="348" r:id="rId3"/>
    <p:sldId id="350" r:id="rId4"/>
    <p:sldId id="372" r:id="rId5"/>
    <p:sldId id="351" r:id="rId6"/>
    <p:sldId id="352" r:id="rId7"/>
    <p:sldId id="353" r:id="rId8"/>
    <p:sldId id="354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794"/>
    <a:srgbClr val="17385F"/>
    <a:srgbClr val="0033CC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1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1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7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98799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5698066"/>
          </a:xfrm>
        </p:spPr>
        <p:txBody>
          <a:bodyPr/>
          <a:lstStyle>
            <a:lvl1pPr>
              <a:lnSpc>
                <a:spcPts val="2800"/>
              </a:lnSpc>
              <a:defRPr/>
            </a:lvl1pPr>
            <a:lvl2pPr>
              <a:lnSpc>
                <a:spcPts val="2800"/>
              </a:lnSpc>
              <a:defRPr sz="1800" b="1"/>
            </a:lvl2pPr>
            <a:lvl3pPr>
              <a:lnSpc>
                <a:spcPts val="2800"/>
              </a:lnSpc>
              <a:defRPr/>
            </a:lvl3pPr>
            <a:lvl4pPr>
              <a:lnSpc>
                <a:spcPts val="2800"/>
              </a:lnSpc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854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0913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46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366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320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70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6905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1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4762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0889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317623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494868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9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13" name="Rectangle 25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4572000" y="647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chemeClr val="hlink"/>
                </a:solidFill>
                <a:latin typeface="+mn-lt"/>
                <a:ea typeface="굴림" pitchFamily="50" charset="-127"/>
              </a:defRPr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ko-KR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38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213" indent="-214313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9.1.2  </a:t>
            </a:r>
            <a:r>
              <a:rPr lang="zh-CN" altLang="en-US">
                <a:sym typeface="+mn-ea"/>
              </a:rPr>
              <a:t>文件对象属性与常用方法</a:t>
            </a:r>
            <a:endParaRPr lang="zh-CN" altLang="en-US"/>
          </a:p>
        </p:txBody>
      </p:sp>
      <p:graphicFrame>
        <p:nvGraphicFramePr>
          <p:cNvPr id="5" name="Table -1"/>
          <p:cNvGraphicFramePr/>
          <p:nvPr>
            <p:extLst>
              <p:ext uri="{D42A27DB-BD31-4B8C-83A1-F6EECF244321}">
                <p14:modId xmlns:p14="http://schemas.microsoft.com/office/powerpoint/2010/main" val="1095504415"/>
              </p:ext>
            </p:extLst>
          </p:nvPr>
        </p:nvGraphicFramePr>
        <p:xfrm>
          <a:off x="306532" y="983073"/>
          <a:ext cx="8318780" cy="2022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9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1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read([size])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从文本文件中读取</a:t>
                      </a:r>
                      <a:r>
                        <a:rPr lang="en-US" altLang="zh-CN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size</a:t>
                      </a: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个</a:t>
                      </a:r>
                      <a:r>
                        <a:rPr lang="zh-CN" altLang="en-US" sz="1600" b="0" u="none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字符</a:t>
                      </a: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Python 3.x</a:t>
                      </a: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）的内容作为结果返回，</a:t>
                      </a:r>
                      <a:r>
                        <a:rPr lang="zh-CN" altLang="en-US" sz="1600" b="0" u="none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如果省略</a:t>
                      </a:r>
                      <a:r>
                        <a:rPr lang="en-US" altLang="zh-CN" sz="1600" b="0" u="none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size</a:t>
                      </a:r>
                      <a:r>
                        <a:rPr lang="zh-CN" altLang="en-US" sz="1600" b="0" u="none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则表示读取所有内容</a:t>
                      </a:r>
                    </a:p>
                  </a:txBody>
                  <a:tcPr marL="27144" marR="0" marT="0" marB="1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readline()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从</a:t>
                      </a:r>
                      <a:r>
                        <a:rPr lang="zh-CN" altLang="en-US" sz="1600" b="0" u="none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文本文件</a:t>
                      </a: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中读取一行内容作为结果返回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readlines()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把</a:t>
                      </a: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文本文件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中的每行文本作为一个字符串存入列表中，返回该列表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C4B8AF5-5335-4177-BE0D-C65E8786048D}"/>
              </a:ext>
            </a:extLst>
          </p:cNvPr>
          <p:cNvSpPr/>
          <p:nvPr/>
        </p:nvSpPr>
        <p:spPr>
          <a:xfrm>
            <a:off x="1332384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C073EC-A5FA-4B6C-9ABA-73CD55FECA94}"/>
              </a:ext>
            </a:extLst>
          </p:cNvPr>
          <p:cNvSpPr/>
          <p:nvPr/>
        </p:nvSpPr>
        <p:spPr>
          <a:xfrm>
            <a:off x="1523033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B00D2B-F16E-4CCD-B9ED-DCF1ED7B2134}"/>
              </a:ext>
            </a:extLst>
          </p:cNvPr>
          <p:cNvSpPr/>
          <p:nvPr/>
        </p:nvSpPr>
        <p:spPr>
          <a:xfrm>
            <a:off x="1713682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A7429B-20BA-4DDA-A626-597F406524E3}"/>
              </a:ext>
            </a:extLst>
          </p:cNvPr>
          <p:cNvSpPr/>
          <p:nvPr/>
        </p:nvSpPr>
        <p:spPr>
          <a:xfrm>
            <a:off x="1907704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BF6AD4-7BEA-4426-9999-5928052EC1FC}"/>
              </a:ext>
            </a:extLst>
          </p:cNvPr>
          <p:cNvSpPr/>
          <p:nvPr/>
        </p:nvSpPr>
        <p:spPr>
          <a:xfrm>
            <a:off x="2098353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CD3D1F-91E4-4CCC-BED9-EBA1F63E8048}"/>
              </a:ext>
            </a:extLst>
          </p:cNvPr>
          <p:cNvSpPr/>
          <p:nvPr/>
        </p:nvSpPr>
        <p:spPr>
          <a:xfrm>
            <a:off x="2289002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93F5CC-2FCD-499B-B847-0FFD4E71C560}"/>
              </a:ext>
            </a:extLst>
          </p:cNvPr>
          <p:cNvSpPr/>
          <p:nvPr/>
        </p:nvSpPr>
        <p:spPr>
          <a:xfrm>
            <a:off x="2486577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64E43F-6A87-4A4B-82B4-74739BE53F58}"/>
              </a:ext>
            </a:extLst>
          </p:cNvPr>
          <p:cNvSpPr/>
          <p:nvPr/>
        </p:nvSpPr>
        <p:spPr>
          <a:xfrm>
            <a:off x="2677226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3DD8F90-848D-4C21-9DFF-B9118E9D33C2}"/>
              </a:ext>
            </a:extLst>
          </p:cNvPr>
          <p:cNvSpPr/>
          <p:nvPr/>
        </p:nvSpPr>
        <p:spPr>
          <a:xfrm>
            <a:off x="2867875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0666D0-93C6-42E3-A221-6B3A57143569}"/>
              </a:ext>
            </a:extLst>
          </p:cNvPr>
          <p:cNvSpPr/>
          <p:nvPr/>
        </p:nvSpPr>
        <p:spPr>
          <a:xfrm>
            <a:off x="3060494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C4FFEEE-5550-42FE-B383-B646B7B583FD}"/>
              </a:ext>
            </a:extLst>
          </p:cNvPr>
          <p:cNvSpPr/>
          <p:nvPr/>
        </p:nvSpPr>
        <p:spPr>
          <a:xfrm>
            <a:off x="3251143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7997EF-418F-4A5B-B4E4-6515786B4E65}"/>
              </a:ext>
            </a:extLst>
          </p:cNvPr>
          <p:cNvSpPr/>
          <p:nvPr/>
        </p:nvSpPr>
        <p:spPr>
          <a:xfrm>
            <a:off x="3441792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0B62F8-AE6F-4C85-8A8E-008F85C82797}"/>
              </a:ext>
            </a:extLst>
          </p:cNvPr>
          <p:cNvSpPr/>
          <p:nvPr/>
        </p:nvSpPr>
        <p:spPr>
          <a:xfrm>
            <a:off x="3629455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2DE7C2-4FD6-4F2A-9103-A4577BB89F15}"/>
              </a:ext>
            </a:extLst>
          </p:cNvPr>
          <p:cNvSpPr/>
          <p:nvPr/>
        </p:nvSpPr>
        <p:spPr>
          <a:xfrm>
            <a:off x="3820104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67FB9AF-65A4-4686-A807-D2B3C8663BB5}"/>
              </a:ext>
            </a:extLst>
          </p:cNvPr>
          <p:cNvSpPr/>
          <p:nvPr/>
        </p:nvSpPr>
        <p:spPr>
          <a:xfrm>
            <a:off x="4010753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B05267E-F736-4E70-AD0C-9B49DD4F8B20}"/>
              </a:ext>
            </a:extLst>
          </p:cNvPr>
          <p:cNvSpPr/>
          <p:nvPr/>
        </p:nvSpPr>
        <p:spPr>
          <a:xfrm>
            <a:off x="4204775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737AC42-0F51-49CC-96E7-F477EE853E5C}"/>
              </a:ext>
            </a:extLst>
          </p:cNvPr>
          <p:cNvSpPr/>
          <p:nvPr/>
        </p:nvSpPr>
        <p:spPr>
          <a:xfrm>
            <a:off x="4395424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A6A802-8EBE-4FC0-8DE0-04C872E5C051}"/>
              </a:ext>
            </a:extLst>
          </p:cNvPr>
          <p:cNvSpPr/>
          <p:nvPr/>
        </p:nvSpPr>
        <p:spPr>
          <a:xfrm>
            <a:off x="4586073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55B400F-D90D-43CE-8609-B6A211D77480}"/>
              </a:ext>
            </a:extLst>
          </p:cNvPr>
          <p:cNvSpPr/>
          <p:nvPr/>
        </p:nvSpPr>
        <p:spPr>
          <a:xfrm>
            <a:off x="4775259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6B25543-0ED9-4603-B1DC-AFD4829DA8E4}"/>
              </a:ext>
            </a:extLst>
          </p:cNvPr>
          <p:cNvSpPr/>
          <p:nvPr/>
        </p:nvSpPr>
        <p:spPr>
          <a:xfrm>
            <a:off x="4965908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C1782B-E739-4D06-95D0-37F152FABDBC}"/>
              </a:ext>
            </a:extLst>
          </p:cNvPr>
          <p:cNvSpPr/>
          <p:nvPr/>
        </p:nvSpPr>
        <p:spPr>
          <a:xfrm>
            <a:off x="5156557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1A5B19-EE8F-4DB4-AED6-D4A6A38601AD}"/>
              </a:ext>
            </a:extLst>
          </p:cNvPr>
          <p:cNvSpPr/>
          <p:nvPr/>
        </p:nvSpPr>
        <p:spPr>
          <a:xfrm>
            <a:off x="5340787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CB74BF3-D661-4072-8F44-EA9AF24503A0}"/>
              </a:ext>
            </a:extLst>
          </p:cNvPr>
          <p:cNvSpPr/>
          <p:nvPr/>
        </p:nvSpPr>
        <p:spPr>
          <a:xfrm>
            <a:off x="5531436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41A591D-DB47-4620-B9BD-35B4F76C7CA9}"/>
              </a:ext>
            </a:extLst>
          </p:cNvPr>
          <p:cNvSpPr/>
          <p:nvPr/>
        </p:nvSpPr>
        <p:spPr>
          <a:xfrm>
            <a:off x="5722085" y="4077072"/>
            <a:ext cx="190649" cy="3600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B18BC77-67EA-4FBE-88D0-74082DB11837}"/>
              </a:ext>
            </a:extLst>
          </p:cNvPr>
          <p:cNvCxnSpPr/>
          <p:nvPr/>
        </p:nvCxnSpPr>
        <p:spPr bwMode="auto">
          <a:xfrm flipV="1">
            <a:off x="1403648" y="4509120"/>
            <a:ext cx="0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B84B0DF-7238-4573-A833-ABB41C8A3C84}"/>
              </a:ext>
            </a:extLst>
          </p:cNvPr>
          <p:cNvCxnSpPr/>
          <p:nvPr/>
        </p:nvCxnSpPr>
        <p:spPr bwMode="auto">
          <a:xfrm flipV="1">
            <a:off x="6012160" y="4437112"/>
            <a:ext cx="0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8396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9512" y="1268760"/>
            <a:ext cx="8136904" cy="1616637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</a:t>
            </a:r>
            <a:r>
              <a:rPr lang="en-US" altLang="zh-CN" dirty="0"/>
              <a:t>read()</a:t>
            </a:r>
            <a:r>
              <a:rPr lang="zh-CN" altLang="en-US" dirty="0"/>
              <a:t>方法</a:t>
            </a:r>
          </a:p>
          <a:p>
            <a:pPr marL="0" indent="0">
              <a:buNone/>
            </a:pPr>
            <a:r>
              <a:rPr lang="zh-CN" altLang="en-US" dirty="0"/>
              <a:t>　　　　</a:t>
            </a:r>
            <a:r>
              <a:rPr lang="zh-CN" altLang="en-US" dirty="0">
                <a:solidFill>
                  <a:srgbClr val="C00000"/>
                </a:solidFill>
              </a:rPr>
              <a:t>变量</a:t>
            </a:r>
            <a:r>
              <a:rPr lang="en-US" altLang="zh-CN" dirty="0">
                <a:solidFill>
                  <a:srgbClr val="C00000"/>
                </a:solidFill>
              </a:rPr>
              <a:t>=</a:t>
            </a:r>
            <a:r>
              <a:rPr lang="zh-CN" altLang="en-US" dirty="0">
                <a:solidFill>
                  <a:srgbClr val="C00000"/>
                </a:solidFill>
              </a:rPr>
              <a:t>文件对象</a:t>
            </a:r>
            <a:r>
              <a:rPr lang="en-US" altLang="zh-CN" dirty="0">
                <a:solidFill>
                  <a:srgbClr val="C00000"/>
                </a:solidFill>
              </a:rPr>
              <a:t>.read()</a:t>
            </a:r>
          </a:p>
          <a:p>
            <a:pPr marL="0" indent="0">
              <a:buNone/>
            </a:pPr>
            <a:r>
              <a:rPr lang="zh-CN" altLang="en-US" dirty="0"/>
              <a:t>　　功能：读取从当前位置直到文件末尾的内容，并作为</a:t>
            </a:r>
            <a:r>
              <a:rPr lang="zh-CN" altLang="en-US" dirty="0">
                <a:solidFill>
                  <a:schemeClr val="accent6"/>
                </a:solidFill>
              </a:rPr>
              <a:t>字符串</a:t>
            </a:r>
            <a:r>
              <a:rPr lang="zh-CN" altLang="en-US" dirty="0"/>
              <a:t>返回，赋给变量。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45794"/>
                </a:solidFill>
              </a:rPr>
              <a:t>10.3  </a:t>
            </a:r>
            <a:r>
              <a:rPr lang="zh-CN" altLang="zh-CN">
                <a:solidFill>
                  <a:srgbClr val="245794"/>
                </a:solidFill>
              </a:rPr>
              <a:t>文本文件的</a:t>
            </a:r>
            <a:r>
              <a:rPr lang="zh-CN" altLang="en-US">
                <a:solidFill>
                  <a:srgbClr val="245794"/>
                </a:solidFill>
              </a:rPr>
              <a:t>读</a:t>
            </a:r>
            <a:endParaRPr lang="zh-CN" altLang="zh-CN" dirty="0">
              <a:solidFill>
                <a:srgbClr val="245794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512" y="3003108"/>
            <a:ext cx="8136904" cy="1938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</a:pP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2. read()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方法带有参数 ：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文件对象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.read(count)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　　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功能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读取从文件当前位置开始的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count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个字符，并作为字符串返回，赋给变量。如果文件结束，就读取到文件结束为止。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2998E3-C80F-4DF6-9388-FF2CD06A7CC1}"/>
              </a:ext>
            </a:extLst>
          </p:cNvPr>
          <p:cNvSpPr txBox="1"/>
          <p:nvPr/>
        </p:nvSpPr>
        <p:spPr>
          <a:xfrm>
            <a:off x="179512" y="5252986"/>
            <a:ext cx="5472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dirty="0" err="1"/>
              <a:t>infile</a:t>
            </a:r>
            <a:r>
              <a:rPr lang="en-US" altLang="zh-CN" dirty="0"/>
              <a:t> = open(‘a.txt’, ‘r’)</a:t>
            </a:r>
          </a:p>
          <a:p>
            <a:r>
              <a:rPr lang="en-US" altLang="zh-CN" dirty="0"/>
              <a:t>&gt;&gt;&gt;</a:t>
            </a:r>
            <a:r>
              <a:rPr lang="en-US" altLang="zh-CN" dirty="0" err="1"/>
              <a:t>infile.read</a:t>
            </a:r>
            <a:r>
              <a:rPr lang="en-US" altLang="zh-CN" dirty="0"/>
              <a:t>(2)</a:t>
            </a:r>
          </a:p>
          <a:p>
            <a:r>
              <a:rPr lang="en-US" altLang="zh-CN" sz="1800" dirty="0"/>
              <a:t>'</a:t>
            </a:r>
            <a:r>
              <a:rPr lang="en-US" altLang="zh-CN" dirty="0" err="1"/>
              <a:t>Py</a:t>
            </a:r>
            <a:r>
              <a:rPr lang="en-US" altLang="zh-CN" dirty="0"/>
              <a:t>’</a:t>
            </a:r>
          </a:p>
          <a:p>
            <a:r>
              <a:rPr lang="en-US" altLang="zh-CN" dirty="0"/>
              <a:t>&gt;&gt;&gt;</a:t>
            </a:r>
            <a:r>
              <a:rPr lang="en-US" altLang="zh-CN" dirty="0" err="1"/>
              <a:t>infile.read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'</a:t>
            </a:r>
            <a:r>
              <a:rPr lang="en-US" altLang="zh-CN" sz="1800" dirty="0"/>
              <a:t>thon is very useful.</a:t>
            </a:r>
            <a:r>
              <a:rPr lang="en-US" altLang="zh-CN" sz="1800" b="1" dirty="0">
                <a:solidFill>
                  <a:srgbClr val="0070C0"/>
                </a:solidFill>
              </a:rPr>
              <a:t>\n\n</a:t>
            </a:r>
            <a:r>
              <a:rPr lang="en-US" altLang="zh-CN" sz="1800" dirty="0"/>
              <a:t>'</a:t>
            </a:r>
            <a:endParaRPr lang="en-US" altLang="zh-CN" sz="1800" b="1" dirty="0">
              <a:solidFill>
                <a:srgbClr val="0070C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ACC2FD-B1CE-45E4-B5D6-07193D3ECC40}"/>
              </a:ext>
            </a:extLst>
          </p:cNvPr>
          <p:cNvSpPr/>
          <p:nvPr/>
        </p:nvSpPr>
        <p:spPr>
          <a:xfrm>
            <a:off x="5436096" y="431759"/>
            <a:ext cx="3168352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Python is very useful.</a:t>
            </a:r>
            <a:r>
              <a:rPr lang="en-US" altLang="zh-CN" sz="2000" b="1" dirty="0">
                <a:solidFill>
                  <a:srgbClr val="0070C0"/>
                </a:solidFill>
              </a:rPr>
              <a:t>\n</a:t>
            </a:r>
          </a:p>
          <a:p>
            <a:r>
              <a:rPr lang="en-US" altLang="zh-CN" sz="2000" b="1" dirty="0">
                <a:solidFill>
                  <a:srgbClr val="0070C0"/>
                </a:solidFill>
              </a:rPr>
              <a:t>\n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BDFEEB-2909-4882-93CE-51953CBC4283}"/>
              </a:ext>
            </a:extLst>
          </p:cNvPr>
          <p:cNvSpPr txBox="1"/>
          <p:nvPr/>
        </p:nvSpPr>
        <p:spPr>
          <a:xfrm>
            <a:off x="5364088" y="6242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a.txt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66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392089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/>
              <a:t>．</a:t>
            </a:r>
            <a:r>
              <a:rPr lang="en-US" altLang="zh-CN" dirty="0" err="1"/>
              <a:t>readline</a:t>
            </a:r>
            <a:r>
              <a:rPr lang="en-US" altLang="zh-CN" dirty="0"/>
              <a:t>()</a:t>
            </a:r>
            <a:r>
              <a:rPr lang="zh-CN" altLang="en-US" dirty="0"/>
              <a:t>方法：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　　</a:t>
            </a:r>
            <a:r>
              <a:rPr lang="zh-CN" altLang="en-US" dirty="0">
                <a:solidFill>
                  <a:srgbClr val="C00000"/>
                </a:solidFill>
              </a:rPr>
              <a:t>变量</a:t>
            </a:r>
            <a:r>
              <a:rPr lang="en-US" altLang="zh-CN" dirty="0">
                <a:solidFill>
                  <a:srgbClr val="C00000"/>
                </a:solidFill>
              </a:rPr>
              <a:t>=</a:t>
            </a:r>
            <a:r>
              <a:rPr lang="zh-CN" altLang="en-US" dirty="0">
                <a:solidFill>
                  <a:srgbClr val="C00000"/>
                </a:solidFill>
              </a:rPr>
              <a:t>文件对象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readline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</a:p>
          <a:p>
            <a:pPr marL="0" indent="0">
              <a:buNone/>
            </a:pPr>
            <a:r>
              <a:rPr lang="zh-CN" altLang="en-US" dirty="0"/>
              <a:t>　　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功能：</a:t>
            </a:r>
            <a:endParaRPr lang="en-US" altLang="zh-CN" dirty="0"/>
          </a:p>
          <a:p>
            <a:pPr lvl="1" indent="214313">
              <a:lnSpc>
                <a:spcPct val="150000"/>
              </a:lnSpc>
            </a:pPr>
            <a:r>
              <a:rPr lang="zh-CN" altLang="en-US" dirty="0"/>
              <a:t>读取</a:t>
            </a:r>
            <a:r>
              <a:rPr lang="zh-CN" altLang="en-US" dirty="0">
                <a:solidFill>
                  <a:srgbClr val="FF0000"/>
                </a:solidFill>
              </a:rPr>
              <a:t>从当前位置到行末（即下一个换行符）</a:t>
            </a:r>
            <a:r>
              <a:rPr lang="zh-CN" altLang="en-US" dirty="0"/>
              <a:t>的所有字符，并作为</a:t>
            </a:r>
            <a:r>
              <a:rPr lang="zh-CN" altLang="en-US" dirty="0">
                <a:solidFill>
                  <a:srgbClr val="FF0000"/>
                </a:solidFill>
              </a:rPr>
              <a:t>字符串返回</a:t>
            </a:r>
            <a:r>
              <a:rPr lang="zh-CN" altLang="en-US" dirty="0"/>
              <a:t>，赋给变量。</a:t>
            </a:r>
            <a:endParaRPr lang="en-US" altLang="zh-CN" dirty="0"/>
          </a:p>
          <a:p>
            <a:pPr lvl="1" indent="214313">
              <a:lnSpc>
                <a:spcPct val="150000"/>
              </a:lnSpc>
            </a:pPr>
            <a:r>
              <a:rPr lang="zh-CN" altLang="en-US" dirty="0"/>
              <a:t>通常用此方法来读取文件的当前行，包括</a:t>
            </a:r>
            <a:r>
              <a:rPr lang="zh-CN" altLang="en-US" dirty="0">
                <a:solidFill>
                  <a:srgbClr val="C00000"/>
                </a:solidFill>
              </a:rPr>
              <a:t>行结束符</a:t>
            </a:r>
            <a:r>
              <a:rPr lang="en-US" altLang="zh-CN" dirty="0">
                <a:solidFill>
                  <a:srgbClr val="C00000"/>
                </a:solidFill>
              </a:rPr>
              <a:t>('\n')</a:t>
            </a:r>
            <a:r>
              <a:rPr lang="zh-CN" altLang="en-US" dirty="0"/>
              <a:t>。如果当前处于文件末尾，则返回空串。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3569" y="127686"/>
            <a:ext cx="3168351" cy="609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351D48-E018-4E7A-9C9A-13C45245F319}"/>
              </a:ext>
            </a:extLst>
          </p:cNvPr>
          <p:cNvSpPr/>
          <p:nvPr/>
        </p:nvSpPr>
        <p:spPr>
          <a:xfrm>
            <a:off x="971600" y="4669105"/>
            <a:ext cx="316835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/>
              <a:t>Python is very useful.</a:t>
            </a:r>
            <a:r>
              <a:rPr lang="en-US" altLang="zh-CN" sz="2000" b="1">
                <a:solidFill>
                  <a:srgbClr val="0070C0"/>
                </a:solidFill>
              </a:rPr>
              <a:t>\n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F7D62E-D24B-4ED1-B8AC-50EC0A063885}"/>
              </a:ext>
            </a:extLst>
          </p:cNvPr>
          <p:cNvSpPr/>
          <p:nvPr/>
        </p:nvSpPr>
        <p:spPr>
          <a:xfrm>
            <a:off x="971600" y="5729190"/>
            <a:ext cx="468052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Programming in Python is very easy.</a:t>
            </a:r>
            <a:r>
              <a:rPr lang="en-US" altLang="zh-CN" sz="2000" b="1" dirty="0">
                <a:solidFill>
                  <a:srgbClr val="0070C0"/>
                </a:solidFill>
                <a:latin typeface="+mj-ea"/>
                <a:ea typeface="+mj-ea"/>
              </a:rPr>
              <a:t>\n</a:t>
            </a:r>
            <a:endParaRPr lang="zh-CN" altLang="en-US" sz="20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CC5853A-AE65-4314-AE2B-C2756ECB7553}"/>
              </a:ext>
            </a:extLst>
          </p:cNvPr>
          <p:cNvCxnSpPr/>
          <p:nvPr/>
        </p:nvCxnSpPr>
        <p:spPr bwMode="auto">
          <a:xfrm flipV="1">
            <a:off x="1115616" y="4993141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741F027-B823-4654-B3F3-E8597F42252D}"/>
              </a:ext>
            </a:extLst>
          </p:cNvPr>
          <p:cNvCxnSpPr/>
          <p:nvPr/>
        </p:nvCxnSpPr>
        <p:spPr bwMode="auto">
          <a:xfrm flipV="1">
            <a:off x="1268016" y="4993141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3C8DB8A-797D-4DD5-8535-10BDE6C70D59}"/>
              </a:ext>
            </a:extLst>
          </p:cNvPr>
          <p:cNvCxnSpPr/>
          <p:nvPr/>
        </p:nvCxnSpPr>
        <p:spPr bwMode="auto">
          <a:xfrm flipV="1">
            <a:off x="1403648" y="4993141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1CF9525-0635-4E8B-AD46-D9555314B00C}"/>
              </a:ext>
            </a:extLst>
          </p:cNvPr>
          <p:cNvCxnSpPr/>
          <p:nvPr/>
        </p:nvCxnSpPr>
        <p:spPr bwMode="auto">
          <a:xfrm flipV="1">
            <a:off x="3563888" y="4982631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3E4FF5-2FC0-437E-A2D3-DE4692A04EBF}"/>
              </a:ext>
            </a:extLst>
          </p:cNvPr>
          <p:cNvCxnSpPr/>
          <p:nvPr/>
        </p:nvCxnSpPr>
        <p:spPr bwMode="auto">
          <a:xfrm flipV="1">
            <a:off x="1123970" y="6093296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9E9E8FE-6920-4CF6-9D58-3CC413C57592}"/>
              </a:ext>
            </a:extLst>
          </p:cNvPr>
          <p:cNvSpPr txBox="1"/>
          <p:nvPr/>
        </p:nvSpPr>
        <p:spPr>
          <a:xfrm>
            <a:off x="4299037" y="887185"/>
            <a:ext cx="4608512" cy="203132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dirty="0" err="1"/>
              <a:t>infile</a:t>
            </a:r>
            <a:r>
              <a:rPr lang="en-US" altLang="zh-CN" dirty="0"/>
              <a:t> = open(‘a.txt’, ‘r’)</a:t>
            </a:r>
          </a:p>
          <a:p>
            <a:r>
              <a:rPr lang="en-US" altLang="zh-CN" dirty="0"/>
              <a:t>&gt;&gt;&gt;</a:t>
            </a:r>
            <a:r>
              <a:rPr lang="en-US" altLang="zh-CN" dirty="0" err="1"/>
              <a:t>infile.readline</a:t>
            </a:r>
            <a:r>
              <a:rPr lang="en-US" altLang="zh-CN" dirty="0"/>
              <a:t>()</a:t>
            </a:r>
          </a:p>
          <a:p>
            <a:r>
              <a:rPr lang="en-US" altLang="zh-CN" sz="1800" dirty="0"/>
              <a:t>'</a:t>
            </a:r>
            <a:r>
              <a:rPr lang="en-US" altLang="zh-CN" dirty="0"/>
              <a:t>Python is very useful.\n'</a:t>
            </a:r>
          </a:p>
          <a:p>
            <a:r>
              <a:rPr lang="en-US" altLang="zh-CN" dirty="0"/>
              <a:t>&gt;&gt;&gt;</a:t>
            </a:r>
            <a:r>
              <a:rPr lang="en-US" altLang="zh-CN" dirty="0" err="1"/>
              <a:t>infile.readline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'\n’</a:t>
            </a:r>
          </a:p>
          <a:p>
            <a:r>
              <a:rPr lang="en-US" altLang="zh-CN" dirty="0"/>
              <a:t>&gt;&gt;&gt;</a:t>
            </a:r>
            <a:r>
              <a:rPr lang="en-US" altLang="zh-CN" dirty="0" err="1"/>
              <a:t>infile.readline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''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AC25454-610E-489C-8EDC-339FB08118D6}"/>
              </a:ext>
            </a:extLst>
          </p:cNvPr>
          <p:cNvCxnSpPr/>
          <p:nvPr/>
        </p:nvCxnSpPr>
        <p:spPr bwMode="auto">
          <a:xfrm flipH="1">
            <a:off x="6300192" y="2137243"/>
            <a:ext cx="720080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EDB559D-9593-4265-8205-F00A5A99EC77}"/>
              </a:ext>
            </a:extLst>
          </p:cNvPr>
          <p:cNvSpPr txBox="1"/>
          <p:nvPr/>
        </p:nvSpPr>
        <p:spPr>
          <a:xfrm>
            <a:off x="7020272" y="1814077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已经读到文件尾，返回空串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01175E-CDB1-4AAA-9620-DB0712B09EFC}"/>
              </a:ext>
            </a:extLst>
          </p:cNvPr>
          <p:cNvSpPr/>
          <p:nvPr/>
        </p:nvSpPr>
        <p:spPr>
          <a:xfrm>
            <a:off x="5508104" y="102022"/>
            <a:ext cx="3168352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/>
              <a:t>Python is very useful.</a:t>
            </a:r>
            <a:r>
              <a:rPr lang="en-US" altLang="zh-CN" sz="2000" b="1" dirty="0">
                <a:solidFill>
                  <a:srgbClr val="0070C0"/>
                </a:solidFill>
              </a:rPr>
              <a:t>\n</a:t>
            </a:r>
          </a:p>
          <a:p>
            <a:r>
              <a:rPr lang="en-US" altLang="zh-CN" sz="2000" b="1" dirty="0">
                <a:solidFill>
                  <a:srgbClr val="0070C0"/>
                </a:solidFill>
              </a:rPr>
              <a:t>\n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51002C-06F4-49E5-8FC7-BC721FD71346}"/>
              </a:ext>
            </a:extLst>
          </p:cNvPr>
          <p:cNvSpPr txBox="1"/>
          <p:nvPr/>
        </p:nvSpPr>
        <p:spPr>
          <a:xfrm>
            <a:off x="4868583" y="6315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a.txt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24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79512" y="836712"/>
            <a:ext cx="8780896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557213" indent="-214313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n"/>
              <a:defRPr sz="18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57250" indent="-171450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200150" indent="-171450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1543050" indent="-171450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kern="0"/>
              <a:t>例</a:t>
            </a:r>
            <a:r>
              <a:rPr lang="en-US" altLang="zh-CN" kern="0"/>
              <a:t>10-2  </a:t>
            </a:r>
            <a:r>
              <a:rPr lang="zh-CN" altLang="en-US" kern="0"/>
              <a:t>已经建立文本文件</a:t>
            </a:r>
            <a:r>
              <a:rPr lang="en-US" altLang="zh-CN" kern="0"/>
              <a:t>data.txt</a:t>
            </a:r>
            <a:r>
              <a:rPr lang="zh-CN" altLang="en-US" kern="0"/>
              <a:t>，统计文件中元音字母出现的次数。用</a:t>
            </a:r>
            <a:r>
              <a:rPr lang="en-US" altLang="zh-CN" kern="0"/>
              <a:t>readline()</a:t>
            </a:r>
            <a:r>
              <a:rPr lang="zh-CN" altLang="en-US" kern="0"/>
              <a:t>方法实现。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kern="0"/>
              <a:t>分析：</a:t>
            </a:r>
            <a:endParaRPr lang="en-US" altLang="zh-CN" kern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kern="0"/>
              <a:t>逐行读取文件，得到一个字符串</a:t>
            </a:r>
            <a:endParaRPr lang="en-US" altLang="zh-CN" sz="1800" kern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kern="0"/>
              <a:t>然后遍历字符串，统计元音字母的个数。</a:t>
            </a:r>
            <a:endParaRPr lang="en-US" altLang="zh-CN" sz="1800" kern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kern="0"/>
              <a:t>当文件读取完毕，得到一个空串，控制循环结束。</a:t>
            </a:r>
          </a:p>
          <a:p>
            <a:endParaRPr lang="zh-CN" altLang="en-US" kern="0" dirty="0"/>
          </a:p>
        </p:txBody>
      </p:sp>
      <p:sp>
        <p:nvSpPr>
          <p:cNvPr id="6" name="矩形 5"/>
          <p:cNvSpPr/>
          <p:nvPr/>
        </p:nvSpPr>
        <p:spPr>
          <a:xfrm>
            <a:off x="1907704" y="3284984"/>
            <a:ext cx="316835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/>
              <a:t>Python is very useful.</a:t>
            </a:r>
            <a:r>
              <a:rPr lang="en-US" altLang="zh-CN" sz="2000" b="1">
                <a:solidFill>
                  <a:srgbClr val="0070C0"/>
                </a:solidFill>
              </a:rPr>
              <a:t>\n</a:t>
            </a:r>
          </a:p>
        </p:txBody>
      </p:sp>
      <p:sp>
        <p:nvSpPr>
          <p:cNvPr id="7" name="矩形 6"/>
          <p:cNvSpPr/>
          <p:nvPr/>
        </p:nvSpPr>
        <p:spPr>
          <a:xfrm>
            <a:off x="1907704" y="4581128"/>
            <a:ext cx="468052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/>
              <a:t>Programming in Python is very easy.</a:t>
            </a:r>
            <a:r>
              <a:rPr lang="en-US" altLang="zh-CN" sz="2000" b="1">
                <a:solidFill>
                  <a:srgbClr val="0070C0"/>
                </a:solidFill>
                <a:latin typeface="+mj-ea"/>
                <a:ea typeface="+mj-ea"/>
              </a:rPr>
              <a:t>\n</a:t>
            </a:r>
            <a:endParaRPr lang="zh-CN" altLang="en-US" sz="2000" b="1">
              <a:solidFill>
                <a:srgbClr val="0070C0"/>
              </a:solidFill>
              <a:latin typeface="+mj-ea"/>
              <a:ea typeface="+mj-ea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V="1">
            <a:off x="2051720" y="3609020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/>
          <p:nvPr/>
        </p:nvCxnSpPr>
        <p:spPr bwMode="auto">
          <a:xfrm flipV="1">
            <a:off x="2204120" y="3609020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/>
          <p:nvPr/>
        </p:nvCxnSpPr>
        <p:spPr bwMode="auto">
          <a:xfrm flipV="1">
            <a:off x="2339752" y="3609020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 flipV="1">
            <a:off x="4499992" y="3598510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箭头连接符 15"/>
          <p:cNvCxnSpPr/>
          <p:nvPr/>
        </p:nvCxnSpPr>
        <p:spPr bwMode="auto">
          <a:xfrm flipV="1">
            <a:off x="2051720" y="4941168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/>
          <p:nvPr/>
        </p:nvCxnSpPr>
        <p:spPr bwMode="auto">
          <a:xfrm flipV="1">
            <a:off x="2204120" y="4941168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箭头连接符 17"/>
          <p:cNvCxnSpPr/>
          <p:nvPr/>
        </p:nvCxnSpPr>
        <p:spPr bwMode="auto">
          <a:xfrm flipV="1">
            <a:off x="6156176" y="4981238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矩形 18"/>
          <p:cNvSpPr/>
          <p:nvPr/>
        </p:nvSpPr>
        <p:spPr>
          <a:xfrm>
            <a:off x="1907704" y="5722746"/>
            <a:ext cx="2304256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/>
              <a:t>文件尾，返回空串</a:t>
            </a:r>
          </a:p>
        </p:txBody>
      </p:sp>
      <p:cxnSp>
        <p:nvCxnSpPr>
          <p:cNvPr id="20" name="直接箭头连接符 19"/>
          <p:cNvCxnSpPr/>
          <p:nvPr/>
        </p:nvCxnSpPr>
        <p:spPr bwMode="auto">
          <a:xfrm flipV="1">
            <a:off x="2034633" y="6093296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521" y="1269027"/>
            <a:ext cx="3590727" cy="1582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364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584" y="3501008"/>
            <a:ext cx="4104456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9512" y="812606"/>
            <a:ext cx="86044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程序如下：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latin typeface="Consolas" panose="020B0609020204030204" pitchFamily="49" charset="0"/>
              </a:rPr>
              <a:t>infile</a:t>
            </a:r>
            <a:r>
              <a:rPr lang="en-US" altLang="zh-CN" sz="2000" b="1" dirty="0">
                <a:latin typeface="Consolas" panose="020B0609020204030204" pitchFamily="49" charset="0"/>
              </a:rPr>
              <a:t>=open("</a:t>
            </a:r>
            <a:r>
              <a:rPr lang="en-US" altLang="zh-CN" sz="2000" b="1" dirty="0" err="1">
                <a:latin typeface="Consolas" panose="020B0609020204030204" pitchFamily="49" charset="0"/>
              </a:rPr>
              <a:t>data.txt","r</a:t>
            </a:r>
            <a:r>
              <a:rPr lang="en-US" altLang="zh-CN" sz="2000" b="1">
                <a:latin typeface="Consolas" panose="020B0609020204030204" pitchFamily="49" charset="0"/>
              </a:rPr>
              <a:t>")      </a:t>
            </a:r>
            <a:r>
              <a:rPr lang="en-US" altLang="zh-CN" sz="2000" b="1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打开文件，准备输出文本文件</a:t>
            </a:r>
            <a:endParaRPr lang="en-US" altLang="zh-CN" sz="2000" b="1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s=</a:t>
            </a:r>
            <a:r>
              <a:rPr lang="en-US" altLang="zh-CN" sz="2000" b="1" dirty="0" err="1">
                <a:latin typeface="Consolas" panose="020B0609020204030204" pitchFamily="49" charset="0"/>
              </a:rPr>
              <a:t>infile.readline</a:t>
            </a:r>
            <a:r>
              <a:rPr lang="en-US" altLang="zh-CN" sz="2000" b="1">
                <a:latin typeface="Consolas" panose="020B0609020204030204" pitchFamily="49" charset="0"/>
              </a:rPr>
              <a:t>()</a:t>
            </a:r>
            <a:r>
              <a:rPr lang="en-US" altLang="zh-CN" sz="2000" b="1">
                <a:solidFill>
                  <a:srgbClr val="7030A0"/>
                </a:solidFill>
                <a:latin typeface="Consolas" panose="020B0609020204030204" pitchFamily="49" charset="0"/>
              </a:rPr>
              <a:t>              </a:t>
            </a:r>
            <a:r>
              <a:rPr lang="en-US" altLang="zh-CN" sz="2000" b="1">
                <a:solidFill>
                  <a:schemeClr val="accent2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读取一行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n=0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while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</a:rPr>
              <a:t>!=''</a:t>
            </a:r>
            <a:r>
              <a:rPr lang="en-US" altLang="zh-CN" sz="2000" b="1">
                <a:latin typeface="Consolas" panose="020B0609020204030204" pitchFamily="49" charset="0"/>
              </a:rPr>
              <a:t>:                      </a:t>
            </a:r>
            <a:r>
              <a:rPr lang="en-US" altLang="zh-CN" sz="2000" b="1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还没有读完时继续循环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latin typeface="Consolas" panose="020B0609020204030204" pitchFamily="49" charset="0"/>
              </a:rPr>
              <a:t>print(s[:-1</a:t>
            </a:r>
            <a:r>
              <a:rPr lang="en-US" altLang="zh-CN" sz="2000" b="1">
                <a:latin typeface="Consolas" panose="020B0609020204030204" pitchFamily="49" charset="0"/>
              </a:rPr>
              <a:t>])                 </a:t>
            </a:r>
            <a:r>
              <a:rPr lang="en-US" altLang="zh-CN" sz="2000" b="1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显示文件内容，切片去掉</a:t>
            </a: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’\n’</a:t>
            </a:r>
            <a:endParaRPr lang="zh-CN" altLang="en-US" sz="2000" b="1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latin typeface="Consolas" panose="020B0609020204030204" pitchFamily="49" charset="0"/>
              </a:rPr>
              <a:t>for c in s</a:t>
            </a:r>
            <a:r>
              <a:rPr lang="en-US" altLang="zh-CN" sz="2000" b="1">
                <a:latin typeface="Consolas" panose="020B0609020204030204" pitchFamily="49" charset="0"/>
              </a:rPr>
              <a:t>:</a:t>
            </a:r>
            <a:r>
              <a:rPr lang="en-US" altLang="zh-CN" sz="2000" b="1">
                <a:solidFill>
                  <a:srgbClr val="7030A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altLang="zh-CN" sz="2000" b="1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遍历读取的字符串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b="1" dirty="0">
                <a:latin typeface="Consolas" panose="020B0609020204030204" pitchFamily="49" charset="0"/>
              </a:rPr>
              <a:t>if c in '</a:t>
            </a:r>
            <a:r>
              <a:rPr lang="en-US" altLang="zh-CN" sz="2000" b="1" dirty="0" err="1">
                <a:latin typeface="Consolas" panose="020B0609020204030204" pitchFamily="49" charset="0"/>
              </a:rPr>
              <a:t>aeiouAEIOU</a:t>
            </a:r>
            <a:r>
              <a:rPr lang="en-US" altLang="zh-CN" sz="2000" b="1" dirty="0">
                <a:latin typeface="Consolas" panose="020B0609020204030204" pitchFamily="49" charset="0"/>
              </a:rPr>
              <a:t>':n+=1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s=</a:t>
            </a:r>
            <a:r>
              <a:rPr lang="en-US" altLang="zh-CN" sz="2000" b="1" dirty="0" err="1">
                <a:latin typeface="Consolas" panose="020B0609020204030204" pitchFamily="49" charset="0"/>
              </a:rPr>
              <a:t>infile.readline</a:t>
            </a:r>
            <a:r>
              <a:rPr lang="en-US" altLang="zh-CN" sz="2000" b="1">
                <a:latin typeface="Consolas" panose="020B0609020204030204" pitchFamily="49" charset="0"/>
              </a:rPr>
              <a:t>()           </a:t>
            </a:r>
            <a:r>
              <a:rPr lang="en-US" altLang="zh-CN" sz="2000" b="1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读取下一行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print(n)</a:t>
            </a:r>
          </a:p>
          <a:p>
            <a:pPr>
              <a:lnSpc>
                <a:spcPct val="150000"/>
              </a:lnSpc>
            </a:pPr>
            <a:r>
              <a:rPr lang="en-US" altLang="zh-CN" sz="2000" b="1" err="1">
                <a:latin typeface="Consolas" panose="020B0609020204030204" pitchFamily="49" charset="0"/>
              </a:rPr>
              <a:t>infile.close</a:t>
            </a:r>
            <a:r>
              <a:rPr lang="en-US" altLang="zh-CN" sz="2000" b="1">
                <a:latin typeface="Consolas" panose="020B0609020204030204" pitchFamily="49" charset="0"/>
              </a:rPr>
              <a:t>()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11960" y="537321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程序运行结果如下：</a:t>
            </a:r>
          </a:p>
          <a:p>
            <a:r>
              <a:rPr lang="en-US" altLang="zh-CN" b="1">
                <a:solidFill>
                  <a:schemeClr val="accent2"/>
                </a:solidFill>
                <a:latin typeface="Consolas" panose="020B0609020204030204" pitchFamily="49" charset="0"/>
              </a:rPr>
              <a:t>Python is very useful.</a:t>
            </a:r>
          </a:p>
          <a:p>
            <a:r>
              <a:rPr lang="en-US" altLang="zh-CN" b="1">
                <a:solidFill>
                  <a:schemeClr val="accent2"/>
                </a:solidFill>
                <a:latin typeface="Consolas" panose="020B0609020204030204" pitchFamily="49" charset="0"/>
              </a:rPr>
              <a:t>Programming in Python is very easy.</a:t>
            </a:r>
          </a:p>
          <a:p>
            <a:r>
              <a:rPr lang="en-US" altLang="zh-CN" b="1">
                <a:solidFill>
                  <a:schemeClr val="accent2"/>
                </a:solidFill>
                <a:latin typeface="Consolas" panose="020B0609020204030204" pitchFamily="49" charset="0"/>
              </a:rPr>
              <a:t>15</a:t>
            </a:r>
            <a:endParaRPr lang="en-US" altLang="zh-CN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2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836712"/>
            <a:ext cx="8967163" cy="2480733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4</a:t>
            </a:r>
            <a:r>
              <a:rPr lang="zh-CN" altLang="en-US"/>
              <a:t>．</a:t>
            </a:r>
            <a:r>
              <a:rPr lang="en-US" altLang="zh-CN" dirty="0" err="1"/>
              <a:t>readlines</a:t>
            </a:r>
            <a:r>
              <a:rPr lang="en-US" altLang="zh-CN" dirty="0"/>
              <a:t>()</a:t>
            </a:r>
            <a:r>
              <a:rPr lang="zh-CN" altLang="en-US" dirty="0"/>
              <a:t>方法</a:t>
            </a:r>
          </a:p>
          <a:p>
            <a:pPr marL="0" indent="0">
              <a:buNone/>
            </a:pPr>
            <a:r>
              <a:rPr lang="zh-CN" altLang="en-US" dirty="0"/>
              <a:t>　　</a:t>
            </a:r>
            <a:r>
              <a:rPr lang="zh-CN" altLang="en-US" dirty="0">
                <a:solidFill>
                  <a:srgbClr val="C00000"/>
                </a:solidFill>
              </a:rPr>
              <a:t>变量</a:t>
            </a:r>
            <a:r>
              <a:rPr lang="en-US" altLang="zh-CN" dirty="0">
                <a:solidFill>
                  <a:srgbClr val="C00000"/>
                </a:solidFill>
              </a:rPr>
              <a:t>=</a:t>
            </a:r>
            <a:r>
              <a:rPr lang="zh-CN" altLang="en-US" dirty="0">
                <a:solidFill>
                  <a:srgbClr val="C00000"/>
                </a:solidFill>
              </a:rPr>
              <a:t>文件对象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readlines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</a:p>
          <a:p>
            <a:pPr marL="0" indent="0">
              <a:buNone/>
            </a:pPr>
            <a:r>
              <a:rPr lang="zh-CN" altLang="en-US" dirty="0"/>
              <a:t>　</a:t>
            </a:r>
            <a:r>
              <a:rPr lang="zh-CN" altLang="en-US"/>
              <a:t>　功能</a:t>
            </a:r>
            <a:r>
              <a:rPr lang="en-US" altLang="zh-CN"/>
              <a:t>:</a:t>
            </a:r>
          </a:p>
          <a:p>
            <a:pPr lvl="1"/>
            <a:r>
              <a:rPr lang="zh-CN" altLang="en-US"/>
              <a:t>读取</a:t>
            </a:r>
            <a:r>
              <a:rPr lang="zh-CN" altLang="en-US" dirty="0"/>
              <a:t>从当前位置直到文件末尾的所有行，并将这些行构成</a:t>
            </a:r>
            <a:r>
              <a:rPr lang="zh-CN" altLang="en-US" dirty="0">
                <a:solidFill>
                  <a:schemeClr val="accent2"/>
                </a:solidFill>
              </a:rPr>
              <a:t>列表</a:t>
            </a:r>
            <a:r>
              <a:rPr lang="zh-CN" altLang="en-US" dirty="0"/>
              <a:t>返回，赋给</a:t>
            </a:r>
            <a:r>
              <a:rPr lang="zh-CN" altLang="en-US"/>
              <a:t>变量。</a:t>
            </a:r>
            <a:endParaRPr lang="en-US" altLang="zh-CN"/>
          </a:p>
          <a:p>
            <a:pPr lvl="1"/>
            <a:r>
              <a:rPr lang="zh-CN" altLang="en-US"/>
              <a:t>列表</a:t>
            </a:r>
            <a:r>
              <a:rPr lang="zh-CN" altLang="en-US" dirty="0"/>
              <a:t>中的元素即每一行构成的</a:t>
            </a:r>
            <a:r>
              <a:rPr lang="zh-CN" altLang="en-US"/>
              <a:t>字符串。</a:t>
            </a:r>
            <a:endParaRPr lang="en-US" altLang="zh-CN"/>
          </a:p>
          <a:p>
            <a:pPr lvl="1"/>
            <a:r>
              <a:rPr lang="zh-CN" altLang="en-US"/>
              <a:t>如果</a:t>
            </a:r>
            <a:r>
              <a:rPr lang="zh-CN" altLang="en-US" dirty="0"/>
              <a:t>当前处于文件末尾，则返回空</a:t>
            </a:r>
            <a:r>
              <a:rPr lang="zh-CN" altLang="en-US"/>
              <a:t>列表。</a:t>
            </a:r>
            <a:endParaRPr lang="zh-CN" altLang="en-US" sz="1800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1043" y="3573016"/>
            <a:ext cx="88204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>
                <a:latin typeface="+mn-ea"/>
              </a:rPr>
              <a:t>例如：</a:t>
            </a:r>
            <a:endParaRPr lang="en-US" altLang="zh-CN" sz="200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&gt;&gt;&gt;</a:t>
            </a:r>
            <a:r>
              <a:rPr lang="en-US" altLang="zh-CN" sz="2000" b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f=open(‘data.txt’,’r’)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+mn-ea"/>
              </a:rPr>
              <a:t>&gt;&gt;&gt;</a:t>
            </a:r>
            <a:r>
              <a:rPr lang="en-US" altLang="zh-CN" sz="2000" b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f.readlines()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[‘Python is very useful.\n’,’Programming in Python is very easy.\n’]</a:t>
            </a:r>
            <a:endParaRPr lang="zh-CN" altLang="en-US" sz="2000" b="1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01535"/>
            <a:ext cx="3590727" cy="1582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489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212069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</a:t>
            </a:r>
            <a:r>
              <a:rPr lang="en-US" altLang="zh-CN" dirty="0"/>
              <a:t>10-3  </a:t>
            </a:r>
            <a:r>
              <a:rPr lang="zh-CN" altLang="en-US" dirty="0"/>
              <a:t>已经建立文本文件</a:t>
            </a:r>
            <a:r>
              <a:rPr lang="en-US" altLang="zh-CN" dirty="0"/>
              <a:t>data.txt</a:t>
            </a:r>
            <a:r>
              <a:rPr lang="zh-CN" altLang="en-US" dirty="0"/>
              <a:t>，统计文件中元音字母出现的次数。用</a:t>
            </a:r>
            <a:r>
              <a:rPr lang="en-US" altLang="zh-CN" dirty="0" err="1"/>
              <a:t>readlines</a:t>
            </a:r>
            <a:r>
              <a:rPr lang="en-US" altLang="zh-CN" dirty="0"/>
              <a:t>()</a:t>
            </a:r>
            <a:r>
              <a:rPr lang="zh-CN" altLang="en-US" dirty="0"/>
              <a:t>方法实现。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/>
              <a:t>分析：</a:t>
            </a:r>
            <a:endParaRPr lang="en-US" altLang="zh-CN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读取</a:t>
            </a:r>
            <a:r>
              <a:rPr lang="zh-CN" altLang="en-US" dirty="0"/>
              <a:t>文件所有行，得到一个字符</a:t>
            </a:r>
            <a:r>
              <a:rPr lang="zh-CN" altLang="en-US"/>
              <a:t>串列表</a:t>
            </a:r>
            <a:endParaRPr lang="en-US" altLang="zh-CN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然后</a:t>
            </a:r>
            <a:r>
              <a:rPr lang="zh-CN" altLang="en-US" dirty="0"/>
              <a:t>遍历列表，统计元音字母的个数。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23528" y="4473116"/>
            <a:ext cx="316835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/>
              <a:t>Python is very useful.</a:t>
            </a:r>
            <a:r>
              <a:rPr lang="en-US" altLang="zh-CN" sz="2000" b="1">
                <a:solidFill>
                  <a:srgbClr val="0070C0"/>
                </a:solidFill>
              </a:rPr>
              <a:t>\n</a:t>
            </a:r>
          </a:p>
        </p:txBody>
      </p:sp>
      <p:sp>
        <p:nvSpPr>
          <p:cNvPr id="5" name="矩形 4"/>
          <p:cNvSpPr/>
          <p:nvPr/>
        </p:nvSpPr>
        <p:spPr>
          <a:xfrm>
            <a:off x="3779912" y="4473116"/>
            <a:ext cx="468052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/>
              <a:t>Programming in Python is very easy.</a:t>
            </a:r>
            <a:r>
              <a:rPr lang="en-US" altLang="zh-CN" sz="2000" b="1">
                <a:solidFill>
                  <a:srgbClr val="0070C0"/>
                </a:solidFill>
                <a:latin typeface="+mj-ea"/>
                <a:ea typeface="+mj-ea"/>
              </a:rPr>
              <a:t>\n</a:t>
            </a:r>
            <a:endParaRPr lang="zh-CN" altLang="en-US" sz="2000" b="1">
              <a:solidFill>
                <a:srgbClr val="0070C0"/>
              </a:solidFill>
              <a:latin typeface="+mj-ea"/>
              <a:ea typeface="+mj-ea"/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 flipV="1">
            <a:off x="467544" y="4797152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/>
          <p:cNvCxnSpPr/>
          <p:nvPr/>
        </p:nvCxnSpPr>
        <p:spPr bwMode="auto">
          <a:xfrm flipV="1">
            <a:off x="619944" y="4797152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/>
          <p:cNvCxnSpPr/>
          <p:nvPr/>
        </p:nvCxnSpPr>
        <p:spPr bwMode="auto">
          <a:xfrm flipV="1">
            <a:off x="755576" y="4797152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/>
          <p:cNvCxnSpPr/>
          <p:nvPr/>
        </p:nvCxnSpPr>
        <p:spPr bwMode="auto">
          <a:xfrm flipV="1">
            <a:off x="2915816" y="4786642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/>
          <p:nvPr/>
        </p:nvCxnSpPr>
        <p:spPr bwMode="auto">
          <a:xfrm flipV="1">
            <a:off x="3923928" y="4833156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/>
          <p:nvPr/>
        </p:nvCxnSpPr>
        <p:spPr bwMode="auto">
          <a:xfrm flipV="1">
            <a:off x="4076328" y="4833156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/>
          <p:nvPr/>
        </p:nvCxnSpPr>
        <p:spPr bwMode="auto">
          <a:xfrm flipV="1">
            <a:off x="8028384" y="4873226"/>
            <a:ext cx="0" cy="6120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矩形 14"/>
          <p:cNvSpPr/>
          <p:nvPr/>
        </p:nvSpPr>
        <p:spPr>
          <a:xfrm>
            <a:off x="323528" y="3213267"/>
            <a:ext cx="8427611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+mj-ea"/>
                <a:ea typeface="+mj-ea"/>
              </a:rPr>
              <a:t>[‘Python is very useful.\n’,’Programming in Python is very easy.\n’]</a:t>
            </a:r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 flipV="1">
            <a:off x="755576" y="3645024"/>
            <a:ext cx="0" cy="6120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 flipV="1">
            <a:off x="3779912" y="3573016"/>
            <a:ext cx="0" cy="6120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41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55576" y="3501008"/>
            <a:ext cx="4320480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9512" y="980728"/>
            <a:ext cx="8780896" cy="569806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程序如下：</a:t>
            </a:r>
          </a:p>
          <a:p>
            <a:pPr marL="0" indent="0">
              <a:buNone/>
            </a:pP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infile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=open("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data.txt","r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")    	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打开文件，准备输出文本文件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ls=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infile.readlines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() 		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读取各行，得到一个列表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n=0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for s in ls:                   	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遍历列表</a:t>
            </a:r>
          </a:p>
          <a:p>
            <a:pPr marL="0" indent="0">
              <a:buNone/>
            </a:pP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print(s[:-1]) 			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显示文件内容</a:t>
            </a:r>
          </a:p>
          <a:p>
            <a:pPr marL="0" indent="0">
              <a:buNone/>
            </a:pP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for c in s:    		</a:t>
            </a:r>
            <a:r>
              <a:rPr lang="en-US" altLang="zh-CN" kern="120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遍历列表的字符串元素</a:t>
            </a:r>
          </a:p>
          <a:p>
            <a:pPr marL="0" indent="0">
              <a:buNone/>
            </a:pP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        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if c in '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aeiouAEIOU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':n+=1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print(n)</a:t>
            </a:r>
          </a:p>
          <a:p>
            <a:pPr marL="0" indent="0">
              <a:buNone/>
            </a:pP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infile.close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()</a:t>
            </a:r>
            <a:endParaRPr lang="zh-CN" altLang="en-US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buNone/>
            </a:pPr>
            <a:r>
              <a:rPr lang="zh-CN" altLang="en-US" dirty="0"/>
              <a:t>程序运行结果如下：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Python is very useful.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Programming in Python is very easy.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15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-99392"/>
            <a:ext cx="3590727" cy="1582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550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08D67D16-F09F-4120-9902-8B6E13640965}" vid="{F004A0D0-0AA1-407E-8AAF-2472C67E5E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2504</TotalTime>
  <Words>837</Words>
  <Application>Microsoft Office PowerPoint</Application>
  <PresentationFormat>全屏显示(4:3)</PresentationFormat>
  <Paragraphs>97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黑体</vt:lpstr>
      <vt:lpstr>微软雅黑</vt:lpstr>
      <vt:lpstr>Arial</vt:lpstr>
      <vt:lpstr>Consolas</vt:lpstr>
      <vt:lpstr>Courier New</vt:lpstr>
      <vt:lpstr>Verdana</vt:lpstr>
      <vt:lpstr>Wingdings</vt:lpstr>
      <vt:lpstr>主题1</vt:lpstr>
      <vt:lpstr>9.1.2  文件对象属性与常用方法</vt:lpstr>
      <vt:lpstr>10.3  文本文件的读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72</cp:revision>
  <dcterms:created xsi:type="dcterms:W3CDTF">2016-08-25T03:48:37Z</dcterms:created>
  <dcterms:modified xsi:type="dcterms:W3CDTF">2024-12-17T05:59:27Z</dcterms:modified>
</cp:coreProperties>
</file>