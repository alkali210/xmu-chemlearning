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9" r:id="rId2"/>
    <p:sldId id="257" r:id="rId3"/>
    <p:sldId id="330" r:id="rId4"/>
    <p:sldId id="332" r:id="rId5"/>
    <p:sldId id="333" r:id="rId6"/>
    <p:sldId id="334" r:id="rId7"/>
    <p:sldId id="343" r:id="rId8"/>
    <p:sldId id="342" r:id="rId9"/>
    <p:sldId id="335" r:id="rId10"/>
    <p:sldId id="336" r:id="rId11"/>
    <p:sldId id="345" r:id="rId12"/>
    <p:sldId id="316" r:id="rId13"/>
    <p:sldId id="337" r:id="rId14"/>
    <p:sldId id="338" r:id="rId15"/>
    <p:sldId id="349" r:id="rId16"/>
    <p:sldId id="339" r:id="rId17"/>
    <p:sldId id="344" r:id="rId18"/>
    <p:sldId id="350" r:id="rId19"/>
    <p:sldId id="348" r:id="rId20"/>
    <p:sldId id="346" r:id="rId21"/>
    <p:sldId id="347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794"/>
    <a:srgbClr val="17385F"/>
    <a:srgbClr val="0033CC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98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41" name="AutoShape 2405"/>
          <p:cNvSpPr>
            <a:spLocks noChangeArrowheads="1"/>
          </p:cNvSpPr>
          <p:nvPr/>
        </p:nvSpPr>
        <p:spPr bwMode="gray">
          <a:xfrm>
            <a:off x="0" y="1752600"/>
            <a:ext cx="9144000" cy="2514600"/>
          </a:xfrm>
          <a:prstGeom prst="flowChartDocument">
            <a:avLst/>
          </a:prstGeom>
          <a:ln>
            <a:noFill/>
          </a:ln>
          <a:effectLst>
            <a:glow rad="63500">
              <a:schemeClr val="accent2">
                <a:alpha val="45000"/>
                <a:satMod val="12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40" name="AutoShape 2404"/>
          <p:cNvSpPr>
            <a:spLocks noChangeArrowheads="1"/>
          </p:cNvSpPr>
          <p:nvPr/>
        </p:nvSpPr>
        <p:spPr bwMode="gray">
          <a:xfrm>
            <a:off x="0" y="304800"/>
            <a:ext cx="9144000" cy="2209800"/>
          </a:xfrm>
          <a:prstGeom prst="flowChartDocumen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1" name="AutoShape 2395"/>
          <p:cNvSpPr>
            <a:spLocks noChangeArrowheads="1"/>
          </p:cNvSpPr>
          <p:nvPr/>
        </p:nvSpPr>
        <p:spPr bwMode="gray">
          <a:xfrm>
            <a:off x="0" y="0"/>
            <a:ext cx="9144000" cy="2057400"/>
          </a:xfrm>
          <a:prstGeom prst="flowChartDocument">
            <a:avLst/>
          </a:prstGeom>
          <a:gradFill rotWithShape="0">
            <a:gsLst>
              <a:gs pos="0">
                <a:schemeClr val="accent2"/>
              </a:gs>
              <a:gs pos="100000">
                <a:schemeClr val="hlink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81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0" name="Oval 2394"/>
          <p:cNvSpPr>
            <a:spLocks noChangeArrowheads="1"/>
          </p:cNvSpPr>
          <p:nvPr/>
        </p:nvSpPr>
        <p:spPr bwMode="gray">
          <a:xfrm>
            <a:off x="722313" y="1752600"/>
            <a:ext cx="552450" cy="508000"/>
          </a:xfrm>
          <a:prstGeom prst="ellipse">
            <a:avLst/>
          </a:prstGeom>
          <a:gradFill rotWithShape="0">
            <a:gsLst>
              <a:gs pos="0">
                <a:srgbClr val="86B9FF"/>
              </a:gs>
              <a:gs pos="12000">
                <a:schemeClr val="hlink">
                  <a:alpha val="53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4" name="Oval 2398"/>
          <p:cNvSpPr>
            <a:spLocks noChangeArrowheads="1"/>
          </p:cNvSpPr>
          <p:nvPr/>
        </p:nvSpPr>
        <p:spPr bwMode="gray">
          <a:xfrm>
            <a:off x="2971800" y="1773239"/>
            <a:ext cx="230188" cy="207963"/>
          </a:xfrm>
          <a:prstGeom prst="ellipse">
            <a:avLst/>
          </a:prstGeom>
          <a:gradFill rotWithShape="0">
            <a:gsLst>
              <a:gs pos="27000">
                <a:schemeClr val="hlink">
                  <a:alpha val="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67935" name="Oval 2399"/>
          <p:cNvSpPr>
            <a:spLocks noChangeArrowheads="1"/>
          </p:cNvSpPr>
          <p:nvPr/>
        </p:nvSpPr>
        <p:spPr bwMode="gray">
          <a:xfrm>
            <a:off x="2247901" y="2271713"/>
            <a:ext cx="538163" cy="495300"/>
          </a:xfrm>
          <a:prstGeom prst="ellipse">
            <a:avLst/>
          </a:prstGeom>
          <a:gradFill rotWithShape="0">
            <a:gsLst>
              <a:gs pos="13000">
                <a:schemeClr val="hlink">
                  <a:alpha val="58000"/>
                </a:schemeClr>
              </a:gs>
              <a:gs pos="100000">
                <a:schemeClr val="accent2"/>
              </a:gs>
            </a:gsLst>
            <a:path path="rect">
              <a:fillToRect r="100000" b="100000"/>
            </a:path>
          </a:gra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  <p:sp>
        <p:nvSpPr>
          <p:cNvPr id="15" name="Rectangle 536"/>
          <p:cNvSpPr txBox="1">
            <a:spLocks noChangeArrowheads="1"/>
          </p:cNvSpPr>
          <p:nvPr/>
        </p:nvSpPr>
        <p:spPr bwMode="black">
          <a:xfrm>
            <a:off x="2247901" y="4405858"/>
            <a:ext cx="5295379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endParaRPr lang="en-US" altLang="ko-KR" sz="3600" dirty="0"/>
          </a:p>
        </p:txBody>
      </p:sp>
      <p:sp>
        <p:nvSpPr>
          <p:cNvPr id="16" name="Rectangle 536"/>
          <p:cNvSpPr txBox="1">
            <a:spLocks noChangeArrowheads="1"/>
          </p:cNvSpPr>
          <p:nvPr/>
        </p:nvSpPr>
        <p:spPr bwMode="black">
          <a:xfrm>
            <a:off x="2067137" y="4234408"/>
            <a:ext cx="5009728" cy="1123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tx1"/>
                </a:solidFill>
                <a:latin typeface="微软雅黑" pitchFamily="34" charset="-122"/>
                <a:ea typeface="굴림" pitchFamily="50" charset="-127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/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542586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6837" y="948267"/>
            <a:ext cx="8780896" cy="5698066"/>
          </a:xfrm>
        </p:spPr>
        <p:txBody>
          <a:bodyPr/>
          <a:lstStyle>
            <a:lvl1pPr>
              <a:lnSpc>
                <a:spcPts val="2800"/>
              </a:lnSpc>
              <a:defRPr/>
            </a:lvl1pPr>
            <a:lvl2pPr>
              <a:lnSpc>
                <a:spcPts val="2800"/>
              </a:lnSpc>
              <a:defRPr sz="1800" b="1"/>
            </a:lvl2pPr>
            <a:lvl3pPr>
              <a:lnSpc>
                <a:spcPts val="2800"/>
              </a:lnSpc>
              <a:defRPr/>
            </a:lvl3pPr>
            <a:lvl4pPr>
              <a:lnSpc>
                <a:spcPts val="2800"/>
              </a:lnSpc>
              <a:defRPr/>
            </a:lvl4pPr>
            <a:lvl5pPr>
              <a:lnSpc>
                <a:spcPts val="2800"/>
              </a:lnSpc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29000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3211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4152900" cy="49530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7718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8" y="114498"/>
            <a:ext cx="8229600" cy="63832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1777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569" y="115329"/>
            <a:ext cx="7444736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87623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462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2066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574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230733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943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9436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3557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单击图标添加图表</a:t>
            </a:r>
          </a:p>
        </p:txBody>
      </p:sp>
    </p:spTree>
    <p:extLst>
      <p:ext uri="{BB962C8B-B14F-4D97-AF65-F5344CB8AC3E}">
        <p14:creationId xmlns:p14="http://schemas.microsoft.com/office/powerpoint/2010/main" val="4317369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675" y="127686"/>
            <a:ext cx="7772400" cy="6096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81000" y="1143000"/>
            <a:ext cx="84582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11485793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8" name="Rectangle 536"/>
          <p:cNvSpPr>
            <a:spLocks noGrp="1" noChangeArrowheads="1"/>
          </p:cNvSpPr>
          <p:nvPr>
            <p:ph type="ctrTitle" sz="quarter"/>
          </p:nvPr>
        </p:nvSpPr>
        <p:spPr bwMode="black">
          <a:xfrm>
            <a:off x="210344" y="2519363"/>
            <a:ext cx="8723313" cy="1123950"/>
          </a:xfrm>
        </p:spPr>
        <p:txBody>
          <a:bodyPr/>
          <a:lstStyle>
            <a:lvl1pPr algn="ctr">
              <a:defRPr sz="360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875328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E3673CA0-868D-4EE4-97C8-B8815C447DE6}" type="datetimeFigureOut">
              <a:rPr lang="zh-CN" altLang="en-US" smtClean="0"/>
              <a:t>2024/12/22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38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4" name="Rectangle 246"/>
          <p:cNvSpPr>
            <a:spLocks noChangeArrowheads="1"/>
          </p:cNvSpPr>
          <p:nvPr/>
        </p:nvSpPr>
        <p:spPr bwMode="gray">
          <a:xfrm>
            <a:off x="0" y="0"/>
            <a:ext cx="9144000" cy="838200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21176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2310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4582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 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12313" name="Rectangle 25"/>
          <p:cNvSpPr>
            <a:spLocks noGrp="1" noChangeArrowheads="1"/>
          </p:cNvSpPr>
          <p:nvPr>
            <p:ph type="sldNum" sz="quarter" idx="4"/>
          </p:nvPr>
        </p:nvSpPr>
        <p:spPr bwMode="ltGray">
          <a:xfrm>
            <a:off x="4572000" y="6477000"/>
            <a:ext cx="533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0" b="1">
                <a:solidFill>
                  <a:schemeClr val="hlink"/>
                </a:solidFill>
                <a:latin typeface="+mn-lt"/>
                <a:ea typeface="굴림" pitchFamily="50" charset="-127"/>
              </a:defRPr>
            </a:lvl1pPr>
          </a:lstStyle>
          <a:p>
            <a:fld id="{CF00B2EB-ABB7-41F5-A8C2-C05D23AA509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309" name="Rectangle 21"/>
          <p:cNvSpPr>
            <a:spLocks noGrp="1" noChangeArrowheads="1"/>
          </p:cNvSpPr>
          <p:nvPr>
            <p:ph type="title"/>
          </p:nvPr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ko-KR"/>
          </a:p>
        </p:txBody>
      </p:sp>
      <p:pic>
        <p:nvPicPr>
          <p:cNvPr id="12548" name="Picture 260" descr="http://astroleaks.lamost.org/wp-content/uploads/2012/03/Logo_Python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632464" cy="632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43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itchFamily="34" charset="-122"/>
          <a:ea typeface="微软雅黑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</a:defRPr>
      </a:lvl9pPr>
    </p:titleStyle>
    <p:bodyStyle>
      <a:lvl1pPr marL="257175" indent="-257175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000" b="1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557213" indent="-214313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2pPr>
      <a:lvl3pPr marL="8572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微软雅黑" pitchFamily="34" charset="-122"/>
          <a:ea typeface="微软雅黑" pitchFamily="34" charset="-122"/>
        </a:defRPr>
      </a:lvl3pPr>
      <a:lvl4pPr marL="12001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4pPr>
      <a:lvl5pPr marL="1543050" indent="-171450" algn="l" rtl="0" eaLnBrk="1" fontAlgn="base" hangingPunct="1">
        <a:lnSpc>
          <a:spcPts val="2800"/>
        </a:lnSpc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600">
          <a:solidFill>
            <a:schemeClr val="tx1"/>
          </a:solidFill>
          <a:latin typeface="微软雅黑" pitchFamily="34" charset="-122"/>
          <a:ea typeface="微软雅黑" pitchFamily="34" charset="-122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1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CN" altLang="zh-CN" dirty="0">
                <a:solidFill>
                  <a:srgbClr val="245794"/>
                </a:solidFill>
              </a:rPr>
              <a:t>第</a:t>
            </a:r>
            <a:r>
              <a:rPr lang="en-US" altLang="zh-CN" dirty="0">
                <a:solidFill>
                  <a:srgbClr val="245794"/>
                </a:solidFill>
              </a:rPr>
              <a:t>11</a:t>
            </a:r>
            <a:r>
              <a:rPr lang="zh-CN" altLang="zh-CN" dirty="0">
                <a:solidFill>
                  <a:srgbClr val="245794"/>
                </a:solidFill>
              </a:rPr>
              <a:t>章</a:t>
            </a:r>
            <a:r>
              <a:rPr lang="en-US" altLang="zh-CN" dirty="0">
                <a:solidFill>
                  <a:srgbClr val="245794"/>
                </a:solidFill>
              </a:rPr>
              <a:t>  </a:t>
            </a:r>
            <a:r>
              <a:rPr lang="zh-CN" altLang="zh-CN" dirty="0">
                <a:solidFill>
                  <a:srgbClr val="245794"/>
                </a:solidFill>
              </a:rPr>
              <a:t>异常处理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0294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31723" y="1363415"/>
            <a:ext cx="724067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/>
              <a:t>本章内容</a:t>
            </a:r>
          </a:p>
        </p:txBody>
      </p:sp>
      <p:sp>
        <p:nvSpPr>
          <p:cNvPr id="6" name="矩形 5"/>
          <p:cNvSpPr/>
          <p:nvPr/>
        </p:nvSpPr>
        <p:spPr>
          <a:xfrm>
            <a:off x="931723" y="2521233"/>
            <a:ext cx="7819306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zh-CN" sz="3600" b="1" dirty="0"/>
              <a:t>异常处理</a:t>
            </a:r>
            <a:r>
              <a:rPr lang="zh-CN" altLang="en-US" sz="3600" b="1" dirty="0"/>
              <a:t>概述</a:t>
            </a:r>
            <a:endParaRPr lang="en-US" altLang="zh-CN" sz="3600" b="1" dirty="0"/>
          </a:p>
          <a:p>
            <a:pPr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en-US" sz="3600" b="1" dirty="0"/>
              <a:t>捕获和</a:t>
            </a:r>
            <a:r>
              <a:rPr lang="zh-CN" altLang="zh-CN" sz="3600" b="1" dirty="0"/>
              <a:t>处理异常</a:t>
            </a:r>
            <a:endParaRPr lang="en-US" altLang="zh-CN" sz="3600" b="1" dirty="0"/>
          </a:p>
          <a:p>
            <a:pPr indent="-540000">
              <a:lnSpc>
                <a:spcPts val="5000"/>
              </a:lnSpc>
              <a:buClr>
                <a:srgbClr val="7030A0"/>
              </a:buClr>
              <a:buSzPct val="60000"/>
              <a:buFont typeface="Wingdings" pitchFamily="2" charset="2"/>
              <a:buChar char=""/>
            </a:pPr>
            <a:r>
              <a:rPr lang="zh-CN" altLang="en-US" sz="3600" b="1"/>
              <a:t>断言处理</a:t>
            </a:r>
            <a:endParaRPr lang="en-US" altLang="zh-CN" sz="3600" b="1" dirty="0"/>
          </a:p>
        </p:txBody>
      </p:sp>
    </p:spTree>
    <p:extLst>
      <p:ext uri="{BB962C8B-B14F-4D97-AF65-F5344CB8AC3E}">
        <p14:creationId xmlns:p14="http://schemas.microsoft.com/office/powerpoint/2010/main" val="1622790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程序中的错误通常分为语法错误、运行错误和逻辑错误。</a:t>
            </a:r>
            <a:endParaRPr lang="en-US" altLang="zh-CN" dirty="0"/>
          </a:p>
          <a:p>
            <a:r>
              <a:rPr lang="zh-CN" altLang="zh-CN" dirty="0"/>
              <a:t>在程序中，对各种可预见的异常情况进行处理称为异常处理（</a:t>
            </a:r>
            <a:r>
              <a:rPr lang="en-US" altLang="zh-CN" dirty="0"/>
              <a:t>exception handling</a:t>
            </a:r>
            <a:r>
              <a:rPr lang="zh-CN" altLang="zh-CN"/>
              <a:t>）。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45794"/>
                </a:solidFill>
              </a:rPr>
              <a:t>11.1  </a:t>
            </a:r>
            <a:r>
              <a:rPr lang="zh-CN" altLang="zh-CN" dirty="0">
                <a:solidFill>
                  <a:srgbClr val="245794"/>
                </a:solidFill>
              </a:rPr>
              <a:t>异常处理概述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67544" y="2492896"/>
            <a:ext cx="80648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11-1  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整除程序的简单异常处理方法。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 main():</a:t>
            </a:r>
            <a:endParaRPr lang="zh-CN" altLang="zh-CN" sz="2000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0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eval</a:t>
            </a: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(input())</a:t>
            </a:r>
            <a:endParaRPr lang="zh-CN" altLang="zh-CN" sz="2000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    if b==0:</a:t>
            </a:r>
            <a:endParaRPr lang="zh-CN" altLang="zh-CN" sz="2000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print("Divide 0!")</a:t>
            </a:r>
            <a:endParaRPr lang="zh-CN" altLang="zh-CN" sz="2000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    else:</a:t>
            </a:r>
            <a:endParaRPr lang="zh-CN" altLang="zh-CN" sz="2000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s=a/b</a:t>
            </a:r>
            <a:endParaRPr lang="zh-CN" altLang="zh-CN" sz="2000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print(s)</a:t>
            </a:r>
            <a:endParaRPr lang="zh-CN" altLang="zh-CN" sz="2000" b="1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solidFill>
                  <a:srgbClr val="7030A0"/>
                </a:solidFill>
                <a:latin typeface="Consolas" panose="020B0609020204030204" pitchFamily="49" charset="0"/>
              </a:rPr>
              <a:t>main()</a:t>
            </a:r>
            <a:endParaRPr lang="zh-CN" altLang="zh-CN" sz="2000" b="1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739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948267"/>
            <a:ext cx="4755203" cy="1472621"/>
          </a:xfrm>
        </p:spPr>
        <p:txBody>
          <a:bodyPr/>
          <a:lstStyle/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/>
              <a:t>1</a:t>
            </a:r>
            <a:r>
              <a:rPr lang="zh-CN" altLang="zh-CN" dirty="0"/>
              <a:t>．最简单形式的异常处理</a:t>
            </a:r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dirty="0"/>
              <a:t>try-except</a:t>
            </a:r>
            <a:r>
              <a:rPr lang="zh-CN" altLang="zh-CN" dirty="0"/>
              <a:t>语句最简单</a:t>
            </a:r>
            <a:r>
              <a:rPr lang="zh-CN" altLang="zh-CN"/>
              <a:t>的形式：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11.2.2  </a:t>
            </a:r>
            <a:r>
              <a:rPr lang="zh-CN" altLang="zh-CN"/>
              <a:t>使用</a:t>
            </a:r>
            <a:r>
              <a:rPr lang="en-US" altLang="zh-CN"/>
              <a:t>try-except</a:t>
            </a:r>
            <a:r>
              <a:rPr lang="zh-CN" altLang="zh-CN"/>
              <a:t>语句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95536" y="3068960"/>
            <a:ext cx="7992888" cy="2927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zh-CN" altLang="zh-CN"/>
              <a:t>其异常处理过程是：</a:t>
            </a:r>
            <a:endParaRPr lang="en-US" altLang="zh-CN"/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Arial" panose="020B0604020202020204" pitchFamily="34" charset="0"/>
              <a:buChar char="•"/>
            </a:pPr>
            <a:r>
              <a:rPr lang="zh-CN" altLang="zh-CN"/>
              <a:t>执行</a:t>
            </a:r>
            <a:r>
              <a:rPr lang="en-US" altLang="zh-CN"/>
              <a:t>try</a:t>
            </a:r>
            <a:r>
              <a:rPr lang="zh-CN" altLang="zh-CN"/>
              <a:t>后面的语句块，如果执行正常，语句块执行结束后转向执行</a:t>
            </a:r>
            <a:r>
              <a:rPr lang="en-US" altLang="zh-CN"/>
              <a:t>try-except</a:t>
            </a:r>
            <a:r>
              <a:rPr lang="zh-CN" altLang="zh-CN"/>
              <a:t>语句的下一条语句；</a:t>
            </a:r>
            <a:endParaRPr lang="en-US" altLang="zh-CN"/>
          </a:p>
          <a:p>
            <a:pPr marL="285750" indent="-285750"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  <a:buFont typeface="Arial" panose="020B0604020202020204" pitchFamily="34" charset="0"/>
              <a:buChar char="•"/>
            </a:pPr>
            <a:r>
              <a:rPr lang="zh-CN" altLang="zh-CN"/>
              <a:t>如果引发异常，则转向异常处理语句块，执行结束后转向</a:t>
            </a:r>
            <a:r>
              <a:rPr lang="en-US" altLang="zh-CN"/>
              <a:t>try-except</a:t>
            </a:r>
            <a:r>
              <a:rPr lang="zh-CN" altLang="zh-CN"/>
              <a:t>语句的下一条语句。</a:t>
            </a:r>
          </a:p>
        </p:txBody>
      </p:sp>
      <p:sp>
        <p:nvSpPr>
          <p:cNvPr id="5" name="矩形 4"/>
          <p:cNvSpPr/>
          <p:nvPr/>
        </p:nvSpPr>
        <p:spPr>
          <a:xfrm>
            <a:off x="4644008" y="953576"/>
            <a:ext cx="3096344" cy="15542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0070C0"/>
                </a:solidFill>
                <a:latin typeface="+mj-ea"/>
                <a:ea typeface="+mj-ea"/>
              </a:rPr>
              <a:t>try:</a:t>
            </a:r>
            <a:endParaRPr lang="zh-CN" altLang="zh-CN" sz="2000" b="1">
              <a:solidFill>
                <a:srgbClr val="0070C0"/>
              </a:solidFill>
              <a:latin typeface="+mj-ea"/>
              <a:ea typeface="+mj-ea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0070C0"/>
                </a:solidFill>
                <a:latin typeface="+mj-ea"/>
                <a:ea typeface="+mj-ea"/>
              </a:rPr>
              <a:t>	</a:t>
            </a:r>
            <a:r>
              <a:rPr lang="zh-CN" altLang="zh-CN" sz="2000" b="1">
                <a:solidFill>
                  <a:srgbClr val="0070C0"/>
                </a:solidFill>
                <a:latin typeface="+mj-ea"/>
                <a:ea typeface="+mj-ea"/>
              </a:rPr>
              <a:t>语句块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0070C0"/>
                </a:solidFill>
                <a:latin typeface="+mj-ea"/>
                <a:ea typeface="+mj-ea"/>
              </a:rPr>
              <a:t>except</a:t>
            </a:r>
            <a:r>
              <a:rPr lang="zh-CN" altLang="zh-CN" sz="2000" b="1">
                <a:solidFill>
                  <a:srgbClr val="0070C0"/>
                </a:solidFill>
                <a:latin typeface="+mj-ea"/>
                <a:ea typeface="+mj-ea"/>
              </a:rPr>
              <a:t>：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0070C0"/>
                </a:solidFill>
                <a:latin typeface="+mj-ea"/>
                <a:ea typeface="+mj-ea"/>
              </a:rPr>
              <a:t>	</a:t>
            </a:r>
            <a:r>
              <a:rPr lang="zh-CN" altLang="zh-CN" sz="2000" b="1">
                <a:solidFill>
                  <a:srgbClr val="0070C0"/>
                </a:solidFill>
                <a:latin typeface="+mj-ea"/>
                <a:ea typeface="+mj-ea"/>
              </a:rPr>
              <a:t>异常处理语句块</a:t>
            </a:r>
            <a:endParaRPr lang="en-US" altLang="zh-CN" sz="2000" b="1" dirty="0">
              <a:solidFill>
                <a:srgbClr val="0070C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75460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76837" y="948267"/>
            <a:ext cx="5115243" cy="464509"/>
          </a:xfrm>
        </p:spPr>
        <p:txBody>
          <a:bodyPr/>
          <a:lstStyle/>
          <a:p>
            <a:pPr>
              <a:buSzPct val="60000"/>
            </a:pPr>
            <a:r>
              <a:rPr lang="zh-CN" altLang="zh-CN" dirty="0"/>
              <a:t>例</a:t>
            </a:r>
            <a:r>
              <a:rPr lang="en-US" altLang="zh-CN" dirty="0"/>
              <a:t>11-2  </a:t>
            </a:r>
            <a:r>
              <a:rPr lang="zh-CN" altLang="zh-CN" dirty="0"/>
              <a:t>整除程序的异常处理。程序</a:t>
            </a:r>
            <a:r>
              <a:rPr lang="zh-CN" altLang="zh-CN"/>
              <a:t>如下：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508104" y="2132856"/>
            <a:ext cx="2880320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/>
              <a:t>程序运行结果如下：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2,3↙</a:t>
            </a:r>
            <a:r>
              <a:rPr lang="zh-CN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（第</a:t>
            </a:r>
            <a:r>
              <a:rPr lang="en-US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1</a:t>
            </a:r>
            <a:r>
              <a:rPr lang="zh-CN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次运行）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0.6666666666666666</a:t>
            </a:r>
            <a:endParaRPr lang="zh-CN" altLang="zh-CN" b="1" u="sng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endParaRPr lang="en-US" altLang="zh-CN" b="1" u="sng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2,0↙</a:t>
            </a:r>
            <a:r>
              <a:rPr lang="zh-CN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（第</a:t>
            </a:r>
            <a:r>
              <a:rPr lang="en-US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  <a:r>
              <a:rPr lang="zh-CN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次运行）</a:t>
            </a: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 u="sng">
                <a:solidFill>
                  <a:srgbClr val="0070C0"/>
                </a:solidFill>
                <a:latin typeface="Consolas" panose="020B0609020204030204" pitchFamily="49" charset="0"/>
              </a:rPr>
              <a:t>Divide 0!</a:t>
            </a:r>
            <a:endParaRPr lang="zh-CN" altLang="zh-CN" b="1" u="sng" dirty="0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8785" y="1444536"/>
            <a:ext cx="3816424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600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+mj-ea"/>
                <a:ea typeface="+mj-ea"/>
              </a:rPr>
              <a:t>def main():</a:t>
            </a:r>
            <a:endParaRPr lang="zh-CN" altLang="zh-CN" sz="2000">
              <a:latin typeface="+mj-ea"/>
              <a:ea typeface="+mj-ea"/>
            </a:endParaRPr>
          </a:p>
          <a:p>
            <a:pPr marL="21600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+mj-ea"/>
                <a:ea typeface="+mj-ea"/>
              </a:rPr>
              <a:t>    a,b=eval(input())</a:t>
            </a:r>
            <a:endParaRPr lang="zh-CN" altLang="zh-CN" sz="2000">
              <a:latin typeface="+mj-ea"/>
              <a:ea typeface="+mj-ea"/>
            </a:endParaRPr>
          </a:p>
          <a:p>
            <a:pPr marL="21600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+mj-ea"/>
                <a:ea typeface="+mj-ea"/>
              </a:rPr>
              <a:t>    </a:t>
            </a:r>
            <a:endParaRPr lang="zh-CN" altLang="zh-CN" sz="2000">
              <a:solidFill>
                <a:srgbClr val="FF0000"/>
              </a:solidFill>
              <a:latin typeface="+mj-ea"/>
              <a:ea typeface="+mj-ea"/>
            </a:endParaRPr>
          </a:p>
          <a:p>
            <a:pPr marL="21600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+mj-ea"/>
                <a:ea typeface="+mj-ea"/>
              </a:rPr>
              <a:t>        s=a/b</a:t>
            </a:r>
            <a:endParaRPr lang="zh-CN" altLang="zh-CN" sz="2000">
              <a:latin typeface="+mj-ea"/>
              <a:ea typeface="+mj-ea"/>
            </a:endParaRPr>
          </a:p>
          <a:p>
            <a:pPr marL="21600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+mj-ea"/>
                <a:ea typeface="+mj-ea"/>
              </a:rPr>
              <a:t>        print(s)</a:t>
            </a:r>
          </a:p>
          <a:p>
            <a:pPr marL="21600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endParaRPr lang="zh-CN" altLang="zh-CN" sz="2000">
              <a:latin typeface="+mj-ea"/>
              <a:ea typeface="+mj-ea"/>
            </a:endParaRPr>
          </a:p>
          <a:p>
            <a:pPr marL="21600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+mj-ea"/>
                <a:ea typeface="+mj-ea"/>
              </a:rPr>
              <a:t>    </a:t>
            </a:r>
            <a:endParaRPr lang="zh-CN" altLang="zh-CN" sz="2000">
              <a:solidFill>
                <a:srgbClr val="FF0000"/>
              </a:solidFill>
              <a:latin typeface="+mj-ea"/>
              <a:ea typeface="+mj-ea"/>
            </a:endParaRPr>
          </a:p>
          <a:p>
            <a:pPr marL="21600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+mj-ea"/>
                <a:ea typeface="+mj-ea"/>
              </a:rPr>
              <a:t>        </a:t>
            </a:r>
            <a:endParaRPr lang="zh-CN" altLang="zh-CN" sz="2000">
              <a:latin typeface="+mj-ea"/>
              <a:ea typeface="+mj-ea"/>
            </a:endParaRPr>
          </a:p>
          <a:p>
            <a:pPr marL="21600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sz="2000">
                <a:latin typeface="+mj-ea"/>
                <a:ea typeface="+mj-ea"/>
              </a:rPr>
              <a:t>main()</a:t>
            </a:r>
            <a:endParaRPr lang="zh-CN" altLang="zh-CN" sz="2000" dirty="0"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43608" y="2708920"/>
            <a:ext cx="54732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+mj-ea"/>
              </a:rPr>
              <a:t>try: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71600" y="4221088"/>
            <a:ext cx="96821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+mj-ea"/>
              </a:rPr>
              <a:t>except: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403648" y="4869160"/>
            <a:ext cx="2040943" cy="4589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>
                <a:latin typeface="+mj-ea"/>
              </a:rPr>
              <a:t>print("Divide 0!")</a:t>
            </a:r>
          </a:p>
        </p:txBody>
      </p:sp>
    </p:spTree>
    <p:extLst>
      <p:ext uri="{BB962C8B-B14F-4D97-AF65-F5344CB8AC3E}">
        <p14:creationId xmlns:p14="http://schemas.microsoft.com/office/powerpoint/2010/main" val="3193945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475656" y="908720"/>
            <a:ext cx="4395163" cy="5698066"/>
          </a:xfrm>
        </p:spPr>
        <p:txBody>
          <a:bodyPr/>
          <a:lstStyle/>
          <a:p>
            <a:pPr marL="0" indent="0">
              <a:lnSpc>
                <a:spcPts val="3200"/>
              </a:lnSpc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zh-CN" altLang="zh-CN"/>
              <a:t>一般</a:t>
            </a:r>
            <a:r>
              <a:rPr lang="zh-CN" altLang="zh-CN" dirty="0"/>
              <a:t>格式如下</a:t>
            </a:r>
            <a:r>
              <a:rPr lang="en-US" altLang="zh-CN" dirty="0"/>
              <a:t>:</a:t>
            </a:r>
            <a:endParaRPr lang="zh-CN" altLang="zh-CN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try:</a:t>
            </a:r>
            <a:endParaRPr lang="zh-CN" altLang="zh-CN" kern="1200" dirty="0">
              <a:solidFill>
                <a:srgbClr val="0070C0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   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语句块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except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异常类型</a:t>
            </a: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1[ as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错误描述</a:t>
            </a: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]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   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异常处理语句块</a:t>
            </a: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1</a:t>
            </a:r>
            <a:endParaRPr lang="zh-CN" altLang="zh-CN" kern="1200" dirty="0">
              <a:solidFill>
                <a:srgbClr val="0070C0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……</a:t>
            </a:r>
            <a:endParaRPr lang="zh-CN" altLang="zh-CN" kern="1200" dirty="0">
              <a:solidFill>
                <a:srgbClr val="0070C0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except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异常类型</a:t>
            </a: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n[ as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错误描述</a:t>
            </a: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]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   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异常处理语句块</a:t>
            </a: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n</a:t>
            </a:r>
            <a:endParaRPr lang="zh-CN" altLang="zh-CN" kern="1200" dirty="0">
              <a:solidFill>
                <a:srgbClr val="0070C0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except:</a:t>
            </a:r>
            <a:endParaRPr lang="zh-CN" altLang="zh-CN" kern="1200" dirty="0">
              <a:solidFill>
                <a:srgbClr val="0070C0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   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默认异常处理语句块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else:</a:t>
            </a:r>
            <a:endParaRPr lang="zh-CN" altLang="zh-CN" kern="1200" dirty="0">
              <a:solidFill>
                <a:srgbClr val="0070C0"/>
              </a:solidFill>
              <a:latin typeface="Consolas" panose="020B0609020204030204" pitchFamily="49" charset="0"/>
              <a:ea typeface="+mn-ea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    </a:t>
            </a:r>
            <a:r>
              <a:rPr lang="zh-CN" altLang="zh-CN" kern="120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语句块</a:t>
            </a:r>
            <a:endParaRPr lang="zh-CN" altLang="zh-CN" kern="1200" dirty="0">
              <a:solidFill>
                <a:srgbClr val="0070C0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zh-CN"/>
              <a:t>分类异常处理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176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 altLang="zh-CN"/>
              <a:t>分类异常处理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051720" y="707942"/>
            <a:ext cx="496855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>
                <a:latin typeface="Consolas" panose="020B0609020204030204" pitchFamily="49" charset="0"/>
              </a:rPr>
              <a:t>a,b=eval(input</a:t>
            </a:r>
            <a:r>
              <a:rPr lang="en-US" altLang="zh-CN" sz="2000" b="1" dirty="0">
                <a:latin typeface="Consolas" panose="020B0609020204030204" pitchFamily="49" charset="0"/>
              </a:rPr>
              <a:t>())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Consolas" panose="020B06090202040302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Consolas" panose="020B0609020204030204" pitchFamily="49" charset="0"/>
              </a:rPr>
              <a:t>    s=a/b</a:t>
            </a:r>
            <a:endParaRPr lang="en-US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Consolas" panose="020B0609020204030204" pitchFamily="49" charset="0"/>
              </a:rPr>
              <a:t>    print(s)</a:t>
            </a:r>
          </a:p>
          <a:p>
            <a:pPr>
              <a:lnSpc>
                <a:spcPct val="150000"/>
              </a:lnSpc>
            </a:pPr>
            <a:endParaRPr lang="en-US" altLang="zh-CN" sz="2000" b="1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Consolas" panose="020B0609020204030204" pitchFamily="49" charset="0"/>
              </a:rPr>
              <a:t>    print</a:t>
            </a:r>
            <a:r>
              <a:rPr lang="en-US" altLang="zh-CN" sz="2000" b="1" dirty="0">
                <a:latin typeface="Consolas" panose="020B0609020204030204" pitchFamily="49" charset="0"/>
              </a:rPr>
              <a:t>('</a:t>
            </a:r>
            <a:r>
              <a:rPr lang="zh-CN" altLang="en-US" sz="2000" b="1" dirty="0">
                <a:latin typeface="Consolas" panose="020B0609020204030204" pitchFamily="49" charset="0"/>
              </a:rPr>
              <a:t>数据类型错</a:t>
            </a:r>
            <a:r>
              <a:rPr lang="en-US" altLang="zh-CN" sz="2000" b="1" dirty="0">
                <a:latin typeface="Consolas" panose="020B0609020204030204" pitchFamily="49" charset="0"/>
              </a:rPr>
              <a:t>!')</a:t>
            </a:r>
          </a:p>
          <a:p>
            <a:pPr>
              <a:lnSpc>
                <a:spcPct val="150000"/>
              </a:lnSpc>
            </a:pPr>
            <a:endParaRPr lang="en-US" altLang="zh-CN" sz="2000" b="1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Consolas" panose="020B0609020204030204" pitchFamily="49" charset="0"/>
              </a:rPr>
              <a:t>    print</a:t>
            </a:r>
            <a:r>
              <a:rPr lang="en-US" altLang="zh-CN" sz="2000" b="1" dirty="0">
                <a:latin typeface="Consolas" panose="020B0609020204030204" pitchFamily="49" charset="0"/>
              </a:rPr>
              <a:t>('</a:t>
            </a:r>
            <a:r>
              <a:rPr lang="zh-CN" altLang="en-US" sz="2000" b="1" dirty="0">
                <a:latin typeface="Consolas" panose="020B0609020204030204" pitchFamily="49" charset="0"/>
              </a:rPr>
              <a:t>除数为</a:t>
            </a:r>
            <a:r>
              <a:rPr lang="en-US" altLang="zh-CN" sz="2000" b="1" dirty="0">
                <a:latin typeface="Consolas" panose="020B0609020204030204" pitchFamily="49" charset="0"/>
              </a:rPr>
              <a:t>0</a:t>
            </a:r>
            <a:r>
              <a:rPr lang="zh-CN" altLang="en-US" sz="2000" b="1" dirty="0">
                <a:latin typeface="Consolas" panose="020B0609020204030204" pitchFamily="49" charset="0"/>
              </a:rPr>
              <a:t>错</a:t>
            </a:r>
            <a:r>
              <a:rPr lang="en-US" altLang="zh-CN" sz="2000" b="1" dirty="0">
                <a:latin typeface="Consolas" panose="020B0609020204030204" pitchFamily="49" charset="0"/>
              </a:rPr>
              <a:t>!',e)</a:t>
            </a:r>
          </a:p>
          <a:p>
            <a:pPr>
              <a:lnSpc>
                <a:spcPct val="150000"/>
              </a:lnSpc>
            </a:pPr>
            <a:endParaRPr lang="en-US" altLang="zh-CN" sz="2000" b="1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Consolas" panose="020B0609020204030204" pitchFamily="49" charset="0"/>
              </a:rPr>
              <a:t>    print</a:t>
            </a:r>
            <a:r>
              <a:rPr lang="en-US" altLang="zh-CN" sz="2000" b="1" dirty="0">
                <a:latin typeface="Consolas" panose="020B0609020204030204" pitchFamily="49" charset="0"/>
              </a:rPr>
              <a:t>('</a:t>
            </a:r>
            <a:r>
              <a:rPr lang="zh-CN" altLang="en-US" sz="2000" b="1" dirty="0">
                <a:latin typeface="Consolas" panose="020B0609020204030204" pitchFamily="49" charset="0"/>
              </a:rPr>
              <a:t>发生异常</a:t>
            </a:r>
            <a:r>
              <a:rPr lang="en-US" altLang="zh-CN" sz="2000" b="1" dirty="0">
                <a:latin typeface="Consolas" panose="020B0609020204030204" pitchFamily="49" charset="0"/>
              </a:rPr>
              <a:t>!')</a:t>
            </a:r>
          </a:p>
          <a:p>
            <a:pPr>
              <a:lnSpc>
                <a:spcPct val="150000"/>
              </a:lnSpc>
            </a:pPr>
            <a:endParaRPr lang="en-US" altLang="zh-CN" sz="2000" b="1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Consolas" panose="020B0609020204030204" pitchFamily="49" charset="0"/>
              </a:rPr>
              <a:t>    print</a:t>
            </a:r>
            <a:r>
              <a:rPr lang="en-US" altLang="zh-CN" sz="2000" b="1" dirty="0">
                <a:latin typeface="Consolas" panose="020B0609020204030204" pitchFamily="49" charset="0"/>
              </a:rPr>
              <a:t>('</a:t>
            </a:r>
            <a:r>
              <a:rPr lang="zh-CN" altLang="en-US" sz="2000" b="1" dirty="0">
                <a:latin typeface="Consolas" panose="020B0609020204030204" pitchFamily="49" charset="0"/>
              </a:rPr>
              <a:t>程序执行</a:t>
            </a:r>
            <a:r>
              <a:rPr lang="zh-CN" altLang="en-US" sz="2000" b="1">
                <a:latin typeface="Consolas" panose="020B0609020204030204" pitchFamily="49" charset="0"/>
              </a:rPr>
              <a:t>正确</a:t>
            </a:r>
            <a:r>
              <a:rPr lang="en-US" altLang="zh-CN" sz="2000" b="1">
                <a:latin typeface="Consolas" panose="020B0609020204030204" pitchFamily="49" charset="0"/>
              </a:rPr>
              <a:t>!')</a:t>
            </a:r>
            <a:endParaRPr lang="en-US" altLang="zh-CN" sz="2000" b="1" dirty="0"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23728" y="1268760"/>
            <a:ext cx="691215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Consolas" panose="020B0609020204030204" pitchFamily="49" charset="0"/>
              </a:rPr>
              <a:t>try:</a:t>
            </a:r>
            <a:endParaRPr lang="en-US" altLang="zh-CN" b="1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23728" y="2564904"/>
            <a:ext cx="2337499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Consolas" panose="020B0609020204030204" pitchFamily="49" charset="0"/>
              </a:rPr>
              <a:t>except 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CN" b="1">
                <a:latin typeface="Consolas" panose="020B0609020204030204" pitchFamily="49" charset="0"/>
              </a:rPr>
              <a:t>:</a:t>
            </a:r>
            <a:endParaRPr lang="en-US" altLang="zh-CN" b="1" dirty="0">
              <a:latin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051720" y="3509993"/>
            <a:ext cx="3983783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Consolas" panose="020B0609020204030204" pitchFamily="49" charset="0"/>
              </a:rPr>
              <a:t>except </a:t>
            </a:r>
            <a:r>
              <a:rPr lang="en-US" altLang="zh-CN" b="1">
                <a:solidFill>
                  <a:srgbClr val="FF0000"/>
                </a:solidFill>
                <a:latin typeface="Consolas" panose="020B0609020204030204" pitchFamily="49" charset="0"/>
              </a:rPr>
              <a:t>ZeroDivisionError</a:t>
            </a:r>
            <a:r>
              <a:rPr lang="en-US" altLang="zh-CN" b="1">
                <a:latin typeface="Consolas" panose="020B0609020204030204" pitchFamily="49" charset="0"/>
              </a:rPr>
              <a:t> as e:</a:t>
            </a:r>
            <a:endParaRPr lang="en-US" altLang="zh-CN" b="1" dirty="0">
              <a:latin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89304" y="4417292"/>
            <a:ext cx="1071127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Consolas" panose="020B0609020204030204" pitchFamily="49" charset="0"/>
              </a:rPr>
              <a:t>except:</a:t>
            </a:r>
            <a:endParaRPr lang="en-US" altLang="zh-CN" b="1" dirty="0">
              <a:latin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67208" y="5378772"/>
            <a:ext cx="817853" cy="5078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>
                <a:latin typeface="Consolas" panose="020B0609020204030204" pitchFamily="49" charset="0"/>
              </a:rPr>
              <a:t>else:</a:t>
            </a:r>
            <a:endParaRPr lang="en-US" altLang="zh-CN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89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 txBox="1">
            <a:spLocks/>
          </p:cNvSpPr>
          <p:nvPr/>
        </p:nvSpPr>
        <p:spPr>
          <a:xfrm>
            <a:off x="176837" y="948267"/>
            <a:ext cx="8780896" cy="5698066"/>
          </a:xfrm>
          <a:prstGeom prst="rect">
            <a:avLst/>
          </a:prstGeom>
        </p:spPr>
        <p:txBody>
          <a:bodyPr/>
          <a:lstStyle>
            <a:lvl1pPr marL="257175" indent="-257175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itchFamily="2" charset="2"/>
              <a:buChar char="v"/>
              <a:defRPr sz="20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557213" indent="-214313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2pPr>
            <a:lvl3pPr marL="857250" indent="-171450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3pPr>
            <a:lvl4pPr marL="1200150" indent="-171450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4pPr>
            <a:lvl5pPr marL="1543050" indent="-171450" algn="l" rtl="0" eaLnBrk="1" fontAlgn="base" hangingPunct="1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6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SzPct val="60000"/>
            </a:pPr>
            <a:r>
              <a:rPr lang="zh-CN" altLang="zh-CN" kern="0" dirty="0"/>
              <a:t>例</a:t>
            </a:r>
            <a:r>
              <a:rPr lang="en-US" altLang="zh-CN" kern="0" dirty="0"/>
              <a:t>11-23 </a:t>
            </a:r>
            <a:r>
              <a:rPr lang="zh-CN" altLang="zh-CN" kern="0" dirty="0"/>
              <a:t>整除程序的</a:t>
            </a:r>
            <a:r>
              <a:rPr lang="zh-CN" altLang="en-US" kern="0" dirty="0"/>
              <a:t>分类</a:t>
            </a:r>
            <a:r>
              <a:rPr lang="zh-CN" altLang="zh-CN" kern="0" dirty="0"/>
              <a:t>异常处理。程序如下：</a:t>
            </a:r>
            <a:endParaRPr lang="en-US" altLang="zh-CN" kern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 err="1">
                <a:solidFill>
                  <a:srgbClr val="7030A0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main():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rgbClr val="7030A0"/>
                </a:solidFill>
                <a:latin typeface="Consolas" panose="020B0609020204030204" pitchFamily="49" charset="0"/>
              </a:rPr>
              <a:t>a,b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=</a:t>
            </a:r>
            <a:r>
              <a:rPr lang="en-US" altLang="zh-CN" dirty="0" err="1">
                <a:solidFill>
                  <a:srgbClr val="7030A0"/>
                </a:solidFill>
                <a:latin typeface="Consolas" panose="020B0609020204030204" pitchFamily="49" charset="0"/>
              </a:rPr>
              <a:t>eval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(input())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try: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    s=a/b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    print(s)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except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    print('</a:t>
            </a: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数据类型错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!')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except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ZeroDivisionError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as 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    print('</a:t>
            </a: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除数为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错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!',e)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except: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    print('</a:t>
            </a: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发生异常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!')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else: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        print('</a:t>
            </a: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程序执行正确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!')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main()</a:t>
            </a:r>
            <a:endParaRPr lang="zh-CN" altLang="en-US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endParaRPr lang="zh-CN" altLang="en-US" kern="0" dirty="0"/>
          </a:p>
        </p:txBody>
      </p:sp>
      <p:sp>
        <p:nvSpPr>
          <p:cNvPr id="3" name="文本框 2"/>
          <p:cNvSpPr txBox="1"/>
          <p:nvPr/>
        </p:nvSpPr>
        <p:spPr>
          <a:xfrm>
            <a:off x="5364088" y="3429000"/>
            <a:ext cx="3593645" cy="28469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kern="0" dirty="0"/>
              <a:t>程序运行结果如下：</a:t>
            </a:r>
            <a:endParaRPr lang="en-US" altLang="zh-CN" kern="0" dirty="0"/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2,’a’↙</a:t>
            </a:r>
            <a:r>
              <a:rPr lang="zh-CN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（第</a:t>
            </a:r>
            <a:r>
              <a:rPr lang="en-US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1</a:t>
            </a:r>
            <a:r>
              <a:rPr lang="zh-CN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次运行）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数据类型错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!</a:t>
            </a:r>
            <a:r>
              <a:rPr lang="en-US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2,0↙</a:t>
            </a:r>
            <a:r>
              <a:rPr lang="zh-CN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（第</a:t>
            </a:r>
            <a:r>
              <a:rPr lang="en-US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2</a:t>
            </a:r>
            <a:r>
              <a:rPr lang="zh-CN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次运行）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除数为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0</a:t>
            </a: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错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! division by zero</a:t>
            </a:r>
            <a:endParaRPr lang="zh-CN" altLang="zh-CN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2,3↙</a:t>
            </a:r>
            <a:r>
              <a:rPr lang="zh-CN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（第</a:t>
            </a:r>
            <a:r>
              <a:rPr lang="en-US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3</a:t>
            </a:r>
            <a:r>
              <a:rPr lang="zh-CN" altLang="zh-CN" u="sng" dirty="0">
                <a:solidFill>
                  <a:srgbClr val="7030A0"/>
                </a:solidFill>
                <a:latin typeface="Consolas" panose="020B0609020204030204" pitchFamily="49" charset="0"/>
              </a:rPr>
              <a:t>次运行）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0.6666666666666666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dirty="0">
                <a:solidFill>
                  <a:srgbClr val="7030A0"/>
                </a:solidFill>
                <a:latin typeface="Consolas" panose="020B0609020204030204" pitchFamily="49" charset="0"/>
              </a:rPr>
              <a:t>程序执行正确</a:t>
            </a:r>
            <a:r>
              <a:rPr lang="en-US" altLang="zh-CN" dirty="0">
                <a:solidFill>
                  <a:srgbClr val="7030A0"/>
                </a:solidFill>
                <a:latin typeface="Consolas" panose="020B0609020204030204" pitchFamily="49" charset="0"/>
              </a:rPr>
              <a:t>!</a:t>
            </a:r>
            <a:endParaRPr lang="zh-CN" altLang="zh-CN" u="sng" dirty="0">
              <a:solidFill>
                <a:srgbClr val="7030A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47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55576" y="3429000"/>
            <a:ext cx="4752528" cy="18722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zh-CN" altLang="zh-CN"/>
              <a:t>异常处理</a:t>
            </a:r>
            <a:r>
              <a:rPr lang="zh-CN" altLang="zh-CN" dirty="0"/>
              <a:t>可以嵌套。如果外层</a:t>
            </a:r>
            <a:r>
              <a:rPr lang="en-US" altLang="zh-CN" dirty="0"/>
              <a:t>try</a:t>
            </a:r>
            <a:r>
              <a:rPr lang="zh-CN" altLang="zh-CN" dirty="0"/>
              <a:t>子句中的语句块引发异常，程序将直接跳转到外层</a:t>
            </a:r>
            <a:r>
              <a:rPr lang="en-US" altLang="zh-CN" dirty="0"/>
              <a:t>try</a:t>
            </a:r>
            <a:r>
              <a:rPr lang="zh-CN" altLang="zh-CN" dirty="0"/>
              <a:t>对应的</a:t>
            </a:r>
            <a:r>
              <a:rPr lang="en-US" altLang="zh-CN" dirty="0"/>
              <a:t>except</a:t>
            </a:r>
            <a:r>
              <a:rPr lang="zh-CN" altLang="zh-CN" dirty="0"/>
              <a:t>子句，而内部的</a:t>
            </a:r>
            <a:r>
              <a:rPr lang="en-US" altLang="zh-CN" dirty="0"/>
              <a:t>try</a:t>
            </a:r>
            <a:r>
              <a:rPr lang="zh-CN" altLang="zh-CN" dirty="0"/>
              <a:t>子句将不会被执行。</a:t>
            </a:r>
            <a:endParaRPr lang="en-US" altLang="zh-CN" dirty="0"/>
          </a:p>
          <a:p>
            <a:pPr marL="0"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zh-CN" altLang="zh-CN" dirty="0"/>
              <a:t>例</a:t>
            </a:r>
            <a:r>
              <a:rPr lang="en-US" altLang="zh-CN" dirty="0"/>
              <a:t>11-4  </a:t>
            </a:r>
            <a:r>
              <a:rPr lang="zh-CN" altLang="zh-CN" dirty="0"/>
              <a:t>异常处理嵌套示例。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try: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    s="Python"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    s=s+4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    try: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        print(s[0]+s[1])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        print(s[0]-s[1])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    except </a:t>
            </a:r>
            <a:r>
              <a:rPr lang="en-US" altLang="zh-CN" kern="1200" dirty="0" err="1">
                <a:latin typeface="Consolas" panose="020B0609020204030204" pitchFamily="49" charset="0"/>
              </a:rPr>
              <a:t>TypeError</a:t>
            </a:r>
            <a:r>
              <a:rPr lang="en-US" altLang="zh-CN" kern="1200" dirty="0">
                <a:latin typeface="Consolas" panose="020B06090202040302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        print("</a:t>
            </a:r>
            <a:r>
              <a:rPr lang="zh-CN" altLang="en-US" kern="1200" dirty="0">
                <a:latin typeface="Consolas" panose="020B0609020204030204" pitchFamily="49" charset="0"/>
              </a:rPr>
              <a:t>字符串不支持减法运算</a:t>
            </a:r>
            <a:r>
              <a:rPr lang="en-US" altLang="zh-CN" kern="1200" dirty="0">
                <a:latin typeface="Consolas" panose="020B0609020204030204" pitchFamily="49" charset="0"/>
              </a:rPr>
              <a:t>")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except: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kern="1200" dirty="0">
                <a:latin typeface="Consolas" panose="020B0609020204030204" pitchFamily="49" charset="0"/>
              </a:rPr>
              <a:t>    print("</a:t>
            </a:r>
            <a:r>
              <a:rPr lang="zh-CN" altLang="en-US" kern="1200" dirty="0">
                <a:latin typeface="Consolas" panose="020B0609020204030204" pitchFamily="49" charset="0"/>
              </a:rPr>
              <a:t>产生异常</a:t>
            </a:r>
            <a:r>
              <a:rPr lang="en-US" altLang="zh-CN" kern="1200" dirty="0">
                <a:latin typeface="Consolas" panose="020B0609020204030204" pitchFamily="49" charset="0"/>
              </a:rPr>
              <a:t>!")</a:t>
            </a:r>
            <a:endParaRPr lang="zh-CN" altLang="en-US" kern="1200" dirty="0">
              <a:latin typeface="Consolas" panose="020B0609020204030204" pitchFamily="49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3</a:t>
            </a:r>
            <a:r>
              <a:rPr lang="zh-CN" altLang="zh-CN">
                <a:solidFill>
                  <a:srgbClr val="245794"/>
                </a:solidFill>
              </a:rPr>
              <a:t> ．</a:t>
            </a:r>
            <a:r>
              <a:rPr lang="zh-CN" altLang="zh-CN"/>
              <a:t>异常处理的嵌套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499992" y="2420888"/>
            <a:ext cx="3744416" cy="646331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字符串不能与整数相加，引发异常</a:t>
            </a:r>
          </a:p>
        </p:txBody>
      </p:sp>
      <p:cxnSp>
        <p:nvCxnSpPr>
          <p:cNvPr id="7" name="直接箭头连接符 6"/>
          <p:cNvCxnSpPr>
            <a:stCxn id="5" idx="1"/>
          </p:cNvCxnSpPr>
          <p:nvPr/>
        </p:nvCxnSpPr>
        <p:spPr bwMode="auto">
          <a:xfrm flipH="1">
            <a:off x="1619672" y="2744054"/>
            <a:ext cx="2880320" cy="4689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" name="文本框 7"/>
          <p:cNvSpPr txBox="1"/>
          <p:nvPr/>
        </p:nvSpPr>
        <p:spPr>
          <a:xfrm>
            <a:off x="6086843" y="5301208"/>
            <a:ext cx="2376264" cy="7232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kern="0" dirty="0"/>
              <a:t>程序运行结果</a:t>
            </a:r>
            <a:r>
              <a:rPr lang="zh-CN" altLang="zh-CN" kern="0"/>
              <a:t>如下：</a:t>
            </a:r>
            <a:endParaRPr lang="en-US" altLang="zh-CN" kern="0"/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b="1" kern="0">
                <a:solidFill>
                  <a:srgbClr val="00B0F0"/>
                </a:solidFill>
              </a:rPr>
              <a:t>产生异常</a:t>
            </a:r>
            <a:endParaRPr lang="en-US" altLang="zh-CN" b="1" kern="0" dirty="0">
              <a:solidFill>
                <a:srgbClr val="00B0F0"/>
              </a:solidFill>
            </a:endParaRPr>
          </a:p>
        </p:txBody>
      </p:sp>
      <p:cxnSp>
        <p:nvCxnSpPr>
          <p:cNvPr id="10" name="曲线连接符 9"/>
          <p:cNvCxnSpPr/>
          <p:nvPr/>
        </p:nvCxnSpPr>
        <p:spPr bwMode="auto">
          <a:xfrm rot="5400000">
            <a:off x="-612576" y="4077072"/>
            <a:ext cx="2232248" cy="504056"/>
          </a:xfrm>
          <a:prstGeom prst="curvedConnector3">
            <a:avLst>
              <a:gd name="adj1" fmla="val 1072"/>
            </a:avLst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0814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11.2.3  </a:t>
            </a:r>
            <a:r>
              <a:rPr lang="zh-CN" altLang="zh-CN" dirty="0"/>
              <a:t>使用</a:t>
            </a:r>
            <a:r>
              <a:rPr lang="en-US" altLang="zh-CN" dirty="0"/>
              <a:t>try-finally</a:t>
            </a:r>
            <a:r>
              <a:rPr lang="zh-CN" altLang="zh-CN" dirty="0"/>
              <a:t>语句</a:t>
            </a:r>
            <a:endParaRPr lang="en-US" altLang="zh-CN" dirty="0"/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dirty="0"/>
              <a:t>finally</a:t>
            </a:r>
            <a:r>
              <a:rPr lang="zh-CN" altLang="zh-CN" dirty="0"/>
              <a:t>子句是指无论是否发生异常都将执行相应的语句块。语句格式如下：</a:t>
            </a:r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try:</a:t>
            </a:r>
            <a:endParaRPr lang="zh-CN" altLang="zh-CN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	&lt;</a:t>
            </a:r>
            <a:r>
              <a:rPr lang="zh-CN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语句块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&gt;</a:t>
            </a:r>
            <a:endParaRPr lang="zh-CN" altLang="zh-CN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FF0000"/>
                </a:solidFill>
                <a:latin typeface="Consolas" panose="020B0609020204030204" pitchFamily="49" charset="0"/>
                <a:ea typeface="+mn-ea"/>
              </a:rPr>
              <a:t>finally:</a:t>
            </a:r>
            <a:endParaRPr lang="zh-CN" altLang="zh-CN" kern="1200" dirty="0">
              <a:solidFill>
                <a:srgbClr val="FF0000"/>
              </a:solidFill>
              <a:latin typeface="Consolas" panose="020B0609020204030204" pitchFamily="49" charset="0"/>
              <a:ea typeface="+mn-ea"/>
            </a:endParaRPr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	&lt;</a:t>
            </a:r>
            <a:r>
              <a:rPr lang="zh-CN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语句块</a:t>
            </a:r>
            <a:r>
              <a:rPr lang="en-US" altLang="zh-CN" kern="1200" dirty="0">
                <a:solidFill>
                  <a:schemeClr val="accent2"/>
                </a:solidFill>
                <a:latin typeface="Consolas" panose="020B0609020204030204" pitchFamily="49" charset="0"/>
                <a:ea typeface="+mn-ea"/>
              </a:rPr>
              <a:t>&gt;</a:t>
            </a:r>
            <a:endParaRPr lang="zh-CN" altLang="zh-CN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  <a:p>
            <a:endParaRPr lang="zh-CN" altLang="zh-CN" dirty="0">
              <a:solidFill>
                <a:srgbClr val="245794"/>
              </a:solidFill>
            </a:endParaRPr>
          </a:p>
          <a:p>
            <a:endParaRPr lang="zh-CN" altLang="en-US" kern="1200" dirty="0">
              <a:solidFill>
                <a:schemeClr val="accent2"/>
              </a:solidFill>
              <a:latin typeface="Consolas" panose="020B0609020204030204" pitchFamily="49" charset="0"/>
              <a:ea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634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阅读题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052736"/>
            <a:ext cx="5616624" cy="466220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try: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x =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(input('please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input:'))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/>
              <a:t>    print(5/x)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except 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ZeroDivisionError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/0 ')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except: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('input 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 integer between 1 and 100 ')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print('else')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finally: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print(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'final')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24128" y="771916"/>
            <a:ext cx="2160240" cy="178510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>
                <a:solidFill>
                  <a:srgbClr val="0070C0"/>
                </a:solidFill>
                <a:latin typeface="Consolas" panose="020B0609020204030204" pitchFamily="49" charset="0"/>
              </a:rPr>
              <a:t>2↙</a:t>
            </a:r>
            <a:endParaRPr lang="zh-CN" altLang="zh-CN" b="1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程序运行结果如下：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>
                <a:latin typeface="Consolas" panose="020B0609020204030204" pitchFamily="49" charset="0"/>
              </a:rPr>
              <a:t>2.5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>
                <a:latin typeface="Consolas" panose="020B0609020204030204" pitchFamily="49" charset="0"/>
              </a:rPr>
              <a:t>else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>
                <a:latin typeface="Consolas" panose="020B0609020204030204" pitchFamily="49" charset="0"/>
              </a:rPr>
              <a:t>final</a:t>
            </a:r>
          </a:p>
        </p:txBody>
      </p:sp>
      <p:sp>
        <p:nvSpPr>
          <p:cNvPr id="5" name="矩形 4"/>
          <p:cNvSpPr/>
          <p:nvPr/>
        </p:nvSpPr>
        <p:spPr>
          <a:xfrm>
            <a:off x="5752792" y="2794125"/>
            <a:ext cx="2160240" cy="143116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>
                <a:solidFill>
                  <a:srgbClr val="0070C0"/>
                </a:solidFill>
                <a:latin typeface="Consolas" panose="020B0609020204030204" pitchFamily="49" charset="0"/>
              </a:rPr>
              <a:t>0↙</a:t>
            </a:r>
            <a:endParaRPr lang="zh-CN" altLang="zh-CN" b="1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程序运行结果如下：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/0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>
                <a:latin typeface="Consolas" panose="020B0609020204030204" pitchFamily="49" charset="0"/>
              </a:rPr>
              <a:t>final</a:t>
            </a:r>
          </a:p>
        </p:txBody>
      </p:sp>
      <p:sp>
        <p:nvSpPr>
          <p:cNvPr id="6" name="矩形 5"/>
          <p:cNvSpPr/>
          <p:nvPr/>
        </p:nvSpPr>
        <p:spPr>
          <a:xfrm>
            <a:off x="4788024" y="4376754"/>
            <a:ext cx="4248472" cy="143116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>
                <a:solidFill>
                  <a:srgbClr val="0070C0"/>
                </a:solidFill>
                <a:latin typeface="Consolas" panose="020B0609020204030204" pitchFamily="49" charset="0"/>
              </a:rPr>
              <a:t>a↙</a:t>
            </a:r>
            <a:endParaRPr lang="zh-CN" altLang="zh-CN" b="1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程序运行结果如下：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input an integer between 1 and 100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>
                <a:latin typeface="Consolas" panose="020B0609020204030204" pitchFamily="49" charset="0"/>
              </a:rPr>
              <a:t>final</a:t>
            </a:r>
          </a:p>
        </p:txBody>
      </p:sp>
    </p:spTree>
    <p:extLst>
      <p:ext uri="{BB962C8B-B14F-4D97-AF65-F5344CB8AC3E}">
        <p14:creationId xmlns:p14="http://schemas.microsoft.com/office/powerpoint/2010/main" val="278788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1520" y="1772816"/>
            <a:ext cx="3024336" cy="24617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sz="2000" b="1">
                <a:latin typeface="微软雅黑" pitchFamily="34" charset="-122"/>
                <a:ea typeface="微软雅黑" pitchFamily="34" charset="-122"/>
              </a:rPr>
              <a:t>分析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：当对文件进行操作时，不管是否发生异常，都希望关闭文件，这是可以使用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finally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子句来完成。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707904" y="1124744"/>
            <a:ext cx="5190238" cy="51212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try: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    </a:t>
            </a:r>
            <a:r>
              <a:rPr lang="en-US" altLang="zh-CN" sz="2000" b="1" dirty="0" err="1">
                <a:latin typeface="Consolas" panose="020B0609020204030204" pitchFamily="49" charset="0"/>
                <a:ea typeface="微软雅黑" pitchFamily="34" charset="-122"/>
              </a:rPr>
              <a:t>fh</a:t>
            </a: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=open("</a:t>
            </a:r>
            <a:r>
              <a:rPr lang="en-US" altLang="zh-CN" sz="2000" b="1" dirty="0" err="1">
                <a:latin typeface="Consolas" panose="020B0609020204030204" pitchFamily="49" charset="0"/>
                <a:ea typeface="微软雅黑" pitchFamily="34" charset="-122"/>
              </a:rPr>
              <a:t>test.txt","w</a:t>
            </a: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")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    while True: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        s=input()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        if </a:t>
            </a:r>
            <a:r>
              <a:rPr lang="en-US" altLang="zh-CN" sz="2000" b="1" dirty="0" err="1">
                <a:latin typeface="Consolas" panose="020B0609020204030204" pitchFamily="49" charset="0"/>
                <a:ea typeface="微软雅黑" pitchFamily="34" charset="-122"/>
              </a:rPr>
              <a:t>s.upper</a:t>
            </a: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()=="</a:t>
            </a:r>
            <a:r>
              <a:rPr lang="en-US" altLang="zh-CN" sz="2000" b="1" dirty="0" err="1">
                <a:latin typeface="Consolas" panose="020B0609020204030204" pitchFamily="49" charset="0"/>
                <a:ea typeface="微软雅黑" pitchFamily="34" charset="-122"/>
              </a:rPr>
              <a:t>Q":break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        </a:t>
            </a:r>
            <a:r>
              <a:rPr lang="en-US" altLang="zh-CN" sz="2000" b="1" dirty="0" err="1">
                <a:latin typeface="Consolas" panose="020B0609020204030204" pitchFamily="49" charset="0"/>
                <a:ea typeface="微软雅黑" pitchFamily="34" charset="-122"/>
              </a:rPr>
              <a:t>fh.write</a:t>
            </a: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(s+"\n")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except </a:t>
            </a:r>
            <a:r>
              <a:rPr lang="en-US" altLang="zh-CN" sz="2000" b="1" dirty="0" err="1">
                <a:latin typeface="Consolas" panose="020B0609020204030204" pitchFamily="49" charset="0"/>
                <a:ea typeface="微软雅黑" pitchFamily="34" charset="-122"/>
              </a:rPr>
              <a:t>KeyboardInterrupt</a:t>
            </a: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: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    print("</a:t>
            </a:r>
            <a:r>
              <a:rPr lang="zh-CN" altLang="zh-CN" sz="2000" b="1" dirty="0">
                <a:latin typeface="Consolas" panose="020B0609020204030204" pitchFamily="49" charset="0"/>
                <a:ea typeface="微软雅黑" pitchFamily="34" charset="-122"/>
              </a:rPr>
              <a:t>按</a:t>
            </a:r>
            <a:r>
              <a:rPr lang="en-US" altLang="zh-CN" sz="2000" b="1" dirty="0" err="1">
                <a:latin typeface="Consolas" panose="020B0609020204030204" pitchFamily="49" charset="0"/>
                <a:ea typeface="微软雅黑" pitchFamily="34" charset="-122"/>
              </a:rPr>
              <a:t>Ctrl+C</a:t>
            </a:r>
            <a:r>
              <a:rPr lang="zh-CN" altLang="zh-CN" sz="2000" b="1" dirty="0">
                <a:latin typeface="Consolas" panose="020B0609020204030204" pitchFamily="49" charset="0"/>
                <a:ea typeface="微软雅黑" pitchFamily="34" charset="-122"/>
              </a:rPr>
              <a:t>时程序终止</a:t>
            </a: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!")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  <a:ea typeface="微软雅黑" pitchFamily="34" charset="-122"/>
              </a:rPr>
              <a:t>finally:</a:t>
            </a:r>
            <a:endParaRPr lang="zh-CN" altLang="zh-CN" sz="2000" b="1" dirty="0">
              <a:solidFill>
                <a:srgbClr val="FF0000"/>
              </a:solidFill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    print("</a:t>
            </a:r>
            <a:r>
              <a:rPr lang="zh-CN" altLang="zh-CN" sz="2000" b="1" dirty="0">
                <a:latin typeface="Consolas" panose="020B0609020204030204" pitchFamily="49" charset="0"/>
                <a:ea typeface="微软雅黑" pitchFamily="34" charset="-122"/>
              </a:rPr>
              <a:t>正常关闭文件！</a:t>
            </a: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")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    </a:t>
            </a:r>
            <a:r>
              <a:rPr lang="en-US" altLang="zh-CN" sz="2000" b="1" dirty="0" err="1">
                <a:latin typeface="Consolas" panose="020B0609020204030204" pitchFamily="49" charset="0"/>
                <a:ea typeface="微软雅黑" pitchFamily="34" charset="-122"/>
              </a:rPr>
              <a:t>fh.close</a:t>
            </a:r>
            <a:r>
              <a:rPr lang="en-US" altLang="zh-CN" sz="2000" b="1" dirty="0">
                <a:latin typeface="Consolas" panose="020B0609020204030204" pitchFamily="49" charset="0"/>
                <a:ea typeface="微软雅黑" pitchFamily="34" charset="-122"/>
              </a:rPr>
              <a:t>()</a:t>
            </a:r>
            <a:endParaRPr lang="zh-CN" altLang="zh-CN" sz="2000" b="1" dirty="0">
              <a:latin typeface="Consolas" panose="020B0609020204030204" pitchFamily="49" charset="0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83568" y="82550"/>
            <a:ext cx="81369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11-5  </a:t>
            </a:r>
            <a:r>
              <a:rPr lang="zh-CN" altLang="zh-CN" b="1">
                <a:latin typeface="微软雅黑" pitchFamily="34" charset="-122"/>
                <a:ea typeface="微软雅黑" pitchFamily="34" charset="-122"/>
              </a:rPr>
              <a:t>将输入的字符串写入到文件中，直至按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Q</a:t>
            </a:r>
            <a:r>
              <a:rPr lang="zh-CN" altLang="zh-CN" b="1">
                <a:latin typeface="微软雅黑" pitchFamily="34" charset="-122"/>
                <a:ea typeface="微软雅黑" pitchFamily="34" charset="-122"/>
              </a:rPr>
              <a:t>键结束。如果按</a:t>
            </a:r>
            <a:r>
              <a:rPr lang="en-US" altLang="zh-CN" b="1">
                <a:latin typeface="微软雅黑" pitchFamily="34" charset="-122"/>
                <a:ea typeface="微软雅黑" pitchFamily="34" charset="-122"/>
              </a:rPr>
              <a:t>Ctrl+C</a:t>
            </a:r>
            <a:r>
              <a:rPr lang="zh-CN" altLang="zh-CN" b="1">
                <a:latin typeface="微软雅黑" pitchFamily="34" charset="-122"/>
                <a:ea typeface="微软雅黑" pitchFamily="34" charset="-122"/>
              </a:rPr>
              <a:t>键，则终止程序运行，最后要保证打开的文件能正常关闭。</a:t>
            </a:r>
            <a:endParaRPr lang="en-US" altLang="zh-CN" b="1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576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kern="1200" dirty="0"/>
              <a:t>使用</a:t>
            </a:r>
            <a:r>
              <a:rPr lang="en-US" altLang="zh-CN" kern="1200" dirty="0"/>
              <a:t>assert</a:t>
            </a:r>
            <a:r>
              <a:rPr lang="zh-CN" altLang="zh-CN" kern="1200" dirty="0"/>
              <a:t>（断言）语句可以声明断言，其格式如下</a:t>
            </a:r>
            <a:r>
              <a:rPr lang="en-US" altLang="zh-CN" kern="1200" dirty="0"/>
              <a:t>:</a:t>
            </a:r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assert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逻辑表达式</a:t>
            </a:r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assert 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逻辑表达式</a:t>
            </a:r>
            <a:r>
              <a:rPr lang="en-US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,</a:t>
            </a:r>
            <a:r>
              <a:rPr lang="zh-CN" altLang="zh-CN" kern="1200" dirty="0">
                <a:solidFill>
                  <a:srgbClr val="0070C0"/>
                </a:solidFill>
                <a:latin typeface="Consolas" panose="020B0609020204030204" pitchFamily="49" charset="0"/>
                <a:ea typeface="+mn-ea"/>
              </a:rPr>
              <a:t>字符串表达式</a:t>
            </a:r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r>
              <a:rPr lang="en-US" altLang="zh-CN" kern="1200" dirty="0"/>
              <a:t>assert</a:t>
            </a:r>
            <a:r>
              <a:rPr lang="zh-CN" altLang="zh-CN" kern="1200" dirty="0"/>
              <a:t>语句有</a:t>
            </a:r>
            <a:r>
              <a:rPr lang="en-US" altLang="zh-CN" kern="1200" dirty="0"/>
              <a:t>1</a:t>
            </a:r>
            <a:r>
              <a:rPr lang="zh-CN" altLang="zh-CN" kern="1200" dirty="0"/>
              <a:t>个或</a:t>
            </a:r>
            <a:r>
              <a:rPr lang="en-US" altLang="zh-CN" kern="1200" dirty="0"/>
              <a:t>2</a:t>
            </a:r>
            <a:r>
              <a:rPr lang="zh-CN" altLang="zh-CN" kern="1200" dirty="0"/>
              <a:t>个</a:t>
            </a:r>
            <a:r>
              <a:rPr lang="zh-CN" altLang="zh-CN" kern="1200"/>
              <a:t>参数。</a:t>
            </a:r>
            <a:endParaRPr lang="en-US" altLang="zh-CN" kern="1200"/>
          </a:p>
          <a:p>
            <a:pPr marL="600075" indent="-342900"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kern="1200"/>
              <a:t>第</a:t>
            </a:r>
            <a:r>
              <a:rPr lang="en-US" altLang="zh-CN" kern="1200" dirty="0"/>
              <a:t>1</a:t>
            </a:r>
            <a:r>
              <a:rPr lang="zh-CN" altLang="zh-CN" kern="1200" dirty="0"/>
              <a:t>个参数是一个逻辑值，如果该值为</a:t>
            </a:r>
            <a:r>
              <a:rPr lang="en-US" altLang="zh-CN" kern="1200" dirty="0">
                <a:solidFill>
                  <a:srgbClr val="FF0000"/>
                </a:solidFill>
              </a:rPr>
              <a:t>True</a:t>
            </a:r>
            <a:r>
              <a:rPr lang="zh-CN" altLang="zh-CN" kern="1200" dirty="0"/>
              <a:t>，则什么都不</a:t>
            </a:r>
            <a:r>
              <a:rPr lang="zh-CN" altLang="zh-CN" kern="1200"/>
              <a:t>做。</a:t>
            </a:r>
            <a:endParaRPr lang="en-US" altLang="zh-CN" kern="1200"/>
          </a:p>
          <a:p>
            <a:pPr marL="600075" indent="-342900"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kern="1200"/>
              <a:t>如果</a:t>
            </a:r>
            <a:r>
              <a:rPr lang="zh-CN" altLang="zh-CN" kern="1200" dirty="0"/>
              <a:t>该值为</a:t>
            </a:r>
            <a:r>
              <a:rPr lang="en-US" altLang="zh-CN" kern="1200" dirty="0">
                <a:solidFill>
                  <a:srgbClr val="FF0000"/>
                </a:solidFill>
              </a:rPr>
              <a:t>False</a:t>
            </a:r>
            <a:r>
              <a:rPr lang="zh-CN" altLang="zh-CN" kern="1200" dirty="0"/>
              <a:t>，则断言不通过，抛出一个</a:t>
            </a:r>
            <a:r>
              <a:rPr lang="en-US" altLang="zh-CN" kern="1200" dirty="0" err="1"/>
              <a:t>AssertionError</a:t>
            </a:r>
            <a:r>
              <a:rPr lang="zh-CN" altLang="zh-CN" kern="1200"/>
              <a:t>异常；</a:t>
            </a:r>
            <a:endParaRPr lang="en-US" altLang="zh-CN" kern="1200"/>
          </a:p>
          <a:p>
            <a:pPr marL="600075" indent="-342900"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kern="1200"/>
              <a:t>第</a:t>
            </a:r>
            <a:r>
              <a:rPr lang="en-US" altLang="zh-CN" kern="1200" dirty="0"/>
              <a:t>2</a:t>
            </a:r>
            <a:r>
              <a:rPr lang="zh-CN" altLang="zh-CN" kern="1200" dirty="0"/>
              <a:t>个参数是错误的描述，即断言失败时输出的信息，也可以省略不写</a:t>
            </a:r>
            <a:r>
              <a:rPr lang="zh-CN" altLang="en-US" kern="1200" dirty="0"/>
              <a:t>。</a:t>
            </a:r>
            <a:endParaRPr lang="en-US" altLang="zh-CN" kern="1200" dirty="0"/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endParaRPr lang="en-US" altLang="zh-CN" kern="1200" dirty="0"/>
          </a:p>
          <a:p>
            <a:pPr indent="0">
              <a:spcAft>
                <a:spcPts val="600"/>
              </a:spcAft>
              <a:buClr>
                <a:srgbClr val="7030A0"/>
              </a:buClr>
              <a:buSzPct val="60000"/>
              <a:buNone/>
            </a:pPr>
            <a:endParaRPr lang="zh-CN" altLang="en-US" kern="12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245794"/>
                </a:solidFill>
              </a:rPr>
              <a:t>11.3  </a:t>
            </a:r>
            <a:r>
              <a:rPr lang="zh-CN" altLang="zh-CN" dirty="0">
                <a:solidFill>
                  <a:srgbClr val="245794"/>
                </a:solidFill>
              </a:rPr>
              <a:t>断言处理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132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1520" y="2564904"/>
            <a:ext cx="3744416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rtlCol="0" anchor="ctr">
            <a:spAutoFit/>
          </a:bodyPr>
          <a:lstStyle/>
          <a:p>
            <a:pPr algn="ctr">
              <a:spcAft>
                <a:spcPts val="0"/>
              </a:spcAft>
            </a:pPr>
            <a:endParaRPr lang="zh-CN" altLang="en-US" kern="0">
              <a:solidFill>
                <a:srgbClr val="800000"/>
              </a:solidFill>
              <a:latin typeface="Courier New"/>
              <a:ea typeface="宋体"/>
              <a:cs typeface="Times New Roman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1520" y="908720"/>
            <a:ext cx="3960440" cy="3565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fontAlgn="base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v"/>
            </a:pP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11-6  a</a:t>
            </a:r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整除程序的断言</a:t>
            </a:r>
            <a:r>
              <a:rPr lang="zh-CN" altLang="zh-CN" sz="2000" b="1">
                <a:latin typeface="微软雅黑" pitchFamily="34" charset="-122"/>
                <a:ea typeface="微软雅黑" pitchFamily="34" charset="-122"/>
              </a:rPr>
              <a:t>处理。</a:t>
            </a:r>
            <a:endParaRPr lang="en-US" altLang="zh-CN" sz="2000" b="1">
              <a:latin typeface="微软雅黑" pitchFamily="34" charset="-122"/>
              <a:ea typeface="微软雅黑" pitchFamily="34" charset="-122"/>
            </a:endParaRPr>
          </a:p>
          <a:p>
            <a:pPr fontAlgn="base">
              <a:lnSpc>
                <a:spcPts val="28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</a:pPr>
            <a:endParaRPr lang="zh-CN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 err="1">
                <a:latin typeface="Consolas" panose="020B0609020204030204" pitchFamily="49" charset="0"/>
              </a:rPr>
              <a:t>a,b</a:t>
            </a:r>
            <a:r>
              <a:rPr lang="en-US" altLang="zh-CN" sz="2000" b="1" dirty="0">
                <a:latin typeface="Consolas" panose="020B0609020204030204" pitchFamily="49" charset="0"/>
              </a:rPr>
              <a:t>=</a:t>
            </a:r>
            <a:r>
              <a:rPr lang="en-US" altLang="zh-CN" sz="2000" b="1" dirty="0" err="1">
                <a:latin typeface="Consolas" panose="020B0609020204030204" pitchFamily="49" charset="0"/>
              </a:rPr>
              <a:t>eval</a:t>
            </a:r>
            <a:r>
              <a:rPr lang="en-US" altLang="zh-CN" sz="2000" b="1" dirty="0">
                <a:latin typeface="Consolas" panose="020B0609020204030204" pitchFamily="49" charset="0"/>
              </a:rPr>
              <a:t>(input())</a:t>
            </a:r>
            <a:endParaRPr lang="zh-CN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assert</a:t>
            </a:r>
            <a:r>
              <a:rPr lang="en-US" altLang="zh-CN" sz="2000" b="1" dirty="0">
                <a:latin typeface="Consolas" panose="020B0609020204030204" pitchFamily="49" charset="0"/>
              </a:rPr>
              <a:t> b!=0,'</a:t>
            </a:r>
            <a:r>
              <a:rPr lang="zh-CN" altLang="zh-CN" sz="2000" b="1" dirty="0">
                <a:latin typeface="Consolas" panose="020B0609020204030204" pitchFamily="49" charset="0"/>
              </a:rPr>
              <a:t>除数不能为</a:t>
            </a:r>
            <a:r>
              <a:rPr lang="en-US" altLang="zh-CN" sz="2000" b="1" dirty="0">
                <a:latin typeface="Consolas" panose="020B0609020204030204" pitchFamily="49" charset="0"/>
              </a:rPr>
              <a:t>0!'</a:t>
            </a:r>
            <a:endParaRPr lang="zh-CN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latin typeface="Consolas" panose="020B0609020204030204" pitchFamily="49" charset="0"/>
              </a:rPr>
              <a:t>c=a/b</a:t>
            </a:r>
            <a:endParaRPr lang="zh-CN" altLang="zh-CN" sz="2000" b="1" dirty="0">
              <a:latin typeface="Consolas" panose="020B0609020204030204" pitchFamily="49" charset="0"/>
            </a:endParaRPr>
          </a:p>
          <a:p>
            <a:pPr>
              <a:lnSpc>
                <a:spcPct val="2000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 dirty="0">
                <a:latin typeface="Consolas" panose="020B0609020204030204" pitchFamily="49" charset="0"/>
              </a:rPr>
              <a:t>print(a,"/",b,"=",</a:t>
            </a:r>
            <a:r>
              <a:rPr lang="en-US" altLang="zh-CN" sz="2000" b="1">
                <a:latin typeface="Consolas" panose="020B0609020204030204" pitchFamily="49" charset="0"/>
              </a:rPr>
              <a:t>c)</a:t>
            </a:r>
            <a:endParaRPr lang="zh-CN" altLang="zh-CN" sz="2000" b="1" dirty="0"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27984" y="908720"/>
            <a:ext cx="4860032" cy="4734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程序运行结果如下：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0070C0"/>
                </a:solidFill>
                <a:latin typeface="Consolas" panose="020B0609020204030204" pitchFamily="49" charset="0"/>
              </a:rPr>
              <a:t>2,3↙</a:t>
            </a:r>
            <a:endParaRPr lang="zh-CN" altLang="zh-CN" sz="2000" b="1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0070C0"/>
                </a:solidFill>
                <a:latin typeface="Consolas" panose="020B0609020204030204" pitchFamily="49" charset="0"/>
              </a:rPr>
              <a:t>2 / 3 = 0.6666666666666666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endParaRPr lang="en-US" altLang="zh-CN" sz="2000" b="1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endParaRPr lang="zh-CN" altLang="zh-CN" sz="2000" b="1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0070C0"/>
                </a:solidFill>
                <a:latin typeface="Consolas" panose="020B0609020204030204" pitchFamily="49" charset="0"/>
              </a:rPr>
              <a:t>2,0↙</a:t>
            </a:r>
            <a:endParaRPr lang="zh-CN" altLang="zh-CN" sz="2000" b="1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Traceback (most recent call last):</a:t>
            </a:r>
            <a:endParaRPr lang="zh-CN" altLang="zh-CN" sz="20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  File "C:/Python34/aaa.py", line 5, in &lt;module&gt;</a:t>
            </a:r>
            <a:endParaRPr lang="zh-CN" altLang="zh-CN" sz="20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    assert b!=0,'</a:t>
            </a:r>
            <a:r>
              <a:rPr lang="zh-CN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除数不能为</a:t>
            </a:r>
            <a:r>
              <a:rPr lang="en-US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0!'</a:t>
            </a:r>
            <a:endParaRPr lang="zh-CN" altLang="zh-CN" sz="2000" b="1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AssertionError: </a:t>
            </a:r>
            <a:r>
              <a:rPr lang="zh-CN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除数不能为</a:t>
            </a:r>
            <a:r>
              <a:rPr lang="en-US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0!</a:t>
            </a:r>
            <a:endParaRPr lang="zh-CN" altLang="zh-CN" sz="20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732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3568" y="1124744"/>
            <a:ext cx="7776864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dirty="0">
                <a:solidFill>
                  <a:srgbClr val="245794"/>
                </a:solidFill>
              </a:rPr>
              <a:t>例</a:t>
            </a:r>
            <a:r>
              <a:rPr lang="en-US" altLang="zh-CN" sz="3200" b="1" dirty="0">
                <a:solidFill>
                  <a:srgbClr val="245794"/>
                </a:solidFill>
              </a:rPr>
              <a:t>11-7  </a:t>
            </a:r>
            <a:r>
              <a:rPr lang="en-US" altLang="zh-CN" sz="3200" b="1" dirty="0" err="1">
                <a:solidFill>
                  <a:srgbClr val="245794"/>
                </a:solidFill>
              </a:rPr>
              <a:t>AssertionError</a:t>
            </a:r>
            <a:r>
              <a:rPr lang="zh-CN" altLang="zh-CN" sz="3200" b="1" dirty="0">
                <a:solidFill>
                  <a:srgbClr val="245794"/>
                </a:solidFill>
              </a:rPr>
              <a:t>异常处理。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245794"/>
                </a:solidFill>
                <a:latin typeface="+mj-ea"/>
                <a:ea typeface="+mj-ea"/>
              </a:rPr>
              <a:t>try:</a:t>
            </a:r>
            <a:endParaRPr lang="zh-CN" altLang="zh-CN" sz="2400" dirty="0">
              <a:solidFill>
                <a:srgbClr val="245794"/>
              </a:solidFill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245794"/>
                </a:solidFill>
                <a:latin typeface="+mj-ea"/>
                <a:ea typeface="+mj-ea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+mj-ea"/>
                <a:ea typeface="+mj-ea"/>
              </a:rPr>
              <a:t>assert</a:t>
            </a:r>
            <a:r>
              <a:rPr lang="en-US" altLang="zh-CN" sz="2400" dirty="0">
                <a:solidFill>
                  <a:srgbClr val="245794"/>
                </a:solidFill>
                <a:latin typeface="+mj-ea"/>
                <a:ea typeface="+mj-ea"/>
              </a:rPr>
              <a:t> 1==3</a:t>
            </a:r>
            <a:endParaRPr lang="zh-CN" altLang="zh-CN" sz="2400" dirty="0">
              <a:solidFill>
                <a:srgbClr val="245794"/>
              </a:solidFill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245794"/>
                </a:solidFill>
                <a:latin typeface="+mj-ea"/>
                <a:ea typeface="+mj-ea"/>
              </a:rPr>
              <a:t>except </a:t>
            </a:r>
            <a:r>
              <a:rPr lang="en-US" altLang="zh-CN" sz="2400" dirty="0" err="1">
                <a:solidFill>
                  <a:srgbClr val="FF0000"/>
                </a:solidFill>
                <a:latin typeface="+mj-ea"/>
                <a:ea typeface="+mj-ea"/>
              </a:rPr>
              <a:t>AssertionError</a:t>
            </a:r>
            <a:r>
              <a:rPr lang="en-US" altLang="zh-CN" sz="2400" dirty="0">
                <a:solidFill>
                  <a:srgbClr val="245794"/>
                </a:solidFill>
                <a:latin typeface="+mj-ea"/>
                <a:ea typeface="+mj-ea"/>
              </a:rPr>
              <a:t>:</a:t>
            </a:r>
            <a:endParaRPr lang="zh-CN" altLang="zh-CN" sz="2400" dirty="0">
              <a:solidFill>
                <a:srgbClr val="245794"/>
              </a:solidFill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245794"/>
                </a:solidFill>
                <a:latin typeface="+mj-ea"/>
                <a:ea typeface="+mj-ea"/>
              </a:rPr>
              <a:t>    print("Assertion error!")</a:t>
            </a:r>
            <a:endParaRPr lang="zh-CN" altLang="zh-CN" sz="2400" dirty="0">
              <a:solidFill>
                <a:srgbClr val="245794"/>
              </a:solidFill>
              <a:latin typeface="+mj-ea"/>
              <a:ea typeface="+mj-ea"/>
            </a:endParaRPr>
          </a:p>
          <a:p>
            <a:pPr>
              <a:lnSpc>
                <a:spcPct val="200000"/>
              </a:lnSpc>
            </a:pPr>
            <a:r>
              <a:rPr lang="zh-CN" altLang="zh-CN" sz="2400" dirty="0">
                <a:solidFill>
                  <a:srgbClr val="245794"/>
                </a:solidFill>
                <a:latin typeface="+mj-ea"/>
                <a:ea typeface="+mj-ea"/>
              </a:rPr>
              <a:t>程序运行结果如下：</a:t>
            </a:r>
          </a:p>
          <a:p>
            <a:pPr>
              <a:lnSpc>
                <a:spcPct val="200000"/>
              </a:lnSpc>
            </a:pPr>
            <a:r>
              <a:rPr lang="en-US" altLang="zh-CN" sz="2400" dirty="0">
                <a:solidFill>
                  <a:srgbClr val="245794"/>
                </a:solidFill>
                <a:latin typeface="+mj-ea"/>
                <a:ea typeface="+mj-ea"/>
              </a:rPr>
              <a:t>Assertion error!</a:t>
            </a:r>
            <a:endParaRPr lang="zh-CN" altLang="zh-CN" sz="2400" dirty="0">
              <a:solidFill>
                <a:srgbClr val="245794"/>
              </a:solidFill>
              <a:latin typeface="+mj-ea"/>
              <a:ea typeface="+mj-ea"/>
            </a:endParaRPr>
          </a:p>
        </p:txBody>
      </p:sp>
      <p:sp>
        <p:nvSpPr>
          <p:cNvPr id="3" name="标题 1"/>
          <p:cNvSpPr txBox="1">
            <a:spLocks/>
          </p:cNvSpPr>
          <p:nvPr/>
        </p:nvSpPr>
        <p:spPr bwMode="gray">
          <a:xfrm>
            <a:off x="683569" y="127686"/>
            <a:ext cx="7444736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5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r>
              <a:rPr lang="en-US" altLang="zh-CN" sz="2000" kern="0"/>
              <a:t>AssertionError</a:t>
            </a:r>
            <a:r>
              <a:rPr lang="zh-CN" altLang="zh-CN" sz="2000" kern="0"/>
              <a:t>异常可以被捕获，并像使用在</a:t>
            </a:r>
            <a:r>
              <a:rPr lang="en-US" altLang="zh-CN" sz="2000" kern="0"/>
              <a:t>try-except</a:t>
            </a:r>
            <a:r>
              <a:rPr lang="zh-CN" altLang="zh-CN" sz="2000" kern="0"/>
              <a:t>语句的任何其他异常处理，但如果不处理，它们将终止程序。</a:t>
            </a:r>
            <a:endParaRPr lang="zh-CN" altLang="en-US" kern="0"/>
          </a:p>
        </p:txBody>
      </p:sp>
    </p:spTree>
    <p:extLst>
      <p:ext uri="{BB962C8B-B14F-4D97-AF65-F5344CB8AC3E}">
        <p14:creationId xmlns:p14="http://schemas.microsoft.com/office/powerpoint/2010/main" val="2030831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7544" y="1196752"/>
            <a:ext cx="4392488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>
                <a:latin typeface="微软雅黑" pitchFamily="34" charset="-122"/>
                <a:ea typeface="微软雅黑" pitchFamily="34" charset="-122"/>
              </a:rPr>
              <a:t>例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11-7  </a:t>
            </a:r>
            <a:r>
              <a:rPr lang="en-US" altLang="zh-CN" sz="2000" b="1" dirty="0" err="1">
                <a:latin typeface="微软雅黑" pitchFamily="34" charset="-122"/>
                <a:ea typeface="微软雅黑" pitchFamily="34" charset="-122"/>
              </a:rPr>
              <a:t>AssertionError</a:t>
            </a:r>
            <a:r>
              <a:rPr lang="zh-CN" altLang="zh-CN" sz="2000" b="1">
                <a:latin typeface="微软雅黑" pitchFamily="34" charset="-122"/>
                <a:ea typeface="微软雅黑" pitchFamily="34" charset="-122"/>
              </a:rPr>
              <a:t>异常处理。</a:t>
            </a:r>
            <a:endParaRPr lang="en-US" altLang="zh-CN" sz="2000" b="1">
              <a:latin typeface="微软雅黑" pitchFamily="34" charset="-122"/>
              <a:ea typeface="微软雅黑" pitchFamily="34" charset="-122"/>
            </a:endParaRPr>
          </a:p>
          <a:p>
            <a:endParaRPr lang="zh-CN" altLang="zh-CN" sz="2000" b="1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latin typeface="Consolas" panose="020B0609020204030204" pitchFamily="49" charset="0"/>
              </a:rPr>
              <a:t>try: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latin typeface="Consolas" panose="020B0609020204030204" pitchFamily="49" charset="0"/>
              </a:rPr>
              <a:t>    a,b=eval(input())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latin typeface="Consolas" panose="020B0609020204030204" pitchFamily="49" charset="0"/>
              </a:rPr>
              <a:t>    assert b!=0,'</a:t>
            </a:r>
            <a:r>
              <a:rPr lang="zh-CN" altLang="en-US" sz="2000" b="1">
                <a:latin typeface="Consolas" panose="020B0609020204030204" pitchFamily="49" charset="0"/>
              </a:rPr>
              <a:t>除数不能为</a:t>
            </a:r>
            <a:r>
              <a:rPr lang="en-US" altLang="zh-CN" sz="2000" b="1">
                <a:latin typeface="Consolas" panose="020B0609020204030204" pitchFamily="49" charset="0"/>
              </a:rPr>
              <a:t>0!'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latin typeface="Consolas" panose="020B0609020204030204" pitchFamily="49" charset="0"/>
              </a:rPr>
              <a:t>    c=a/b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latin typeface="Consolas" panose="020B0609020204030204" pitchFamily="49" charset="0"/>
              </a:rPr>
              <a:t>    print(a,"/",b,"=",c)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latin typeface="Consolas" panose="020B0609020204030204" pitchFamily="49" charset="0"/>
              </a:rPr>
              <a:t>except </a:t>
            </a:r>
            <a:r>
              <a:rPr lang="en-US" altLang="zh-CN" sz="2000" b="1">
                <a:solidFill>
                  <a:srgbClr val="FF0000"/>
                </a:solidFill>
                <a:latin typeface="Consolas" panose="020B0609020204030204" pitchFamily="49" charset="0"/>
              </a:rPr>
              <a:t>AssertionError</a:t>
            </a:r>
            <a:r>
              <a:rPr lang="en-US" altLang="zh-CN" sz="2000" b="1">
                <a:solidFill>
                  <a:schemeClr val="accent2"/>
                </a:solidFill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solidFill>
                  <a:schemeClr val="accent2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>
                <a:latin typeface="Consolas" panose="020B0609020204030204" pitchFamily="49" charset="0"/>
              </a:rPr>
              <a:t>print("</a:t>
            </a:r>
            <a:r>
              <a:rPr lang="zh-CN" altLang="en-US" sz="2000" b="1">
                <a:latin typeface="Consolas" panose="020B0609020204030204" pitchFamily="49" charset="0"/>
              </a:rPr>
              <a:t>断言异常</a:t>
            </a:r>
            <a:r>
              <a:rPr lang="en-US" altLang="zh-CN" sz="2000" b="1">
                <a:latin typeface="Consolas" panose="020B0609020204030204" pitchFamily="49" charset="0"/>
              </a:rPr>
              <a:t>")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latin typeface="Consolas" panose="020B0609020204030204" pitchFamily="49" charset="0"/>
              </a:rPr>
              <a:t>except: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sz="2000" b="1">
                <a:latin typeface="Consolas" panose="020B0609020204030204" pitchFamily="49" charset="0"/>
              </a:rPr>
              <a:t>    print("</a:t>
            </a:r>
            <a:r>
              <a:rPr lang="zh-CN" altLang="en-US" sz="2000" b="1">
                <a:latin typeface="Consolas" panose="020B0609020204030204" pitchFamily="49" charset="0"/>
              </a:rPr>
              <a:t>其它异常</a:t>
            </a:r>
            <a:r>
              <a:rPr lang="en-US" altLang="zh-CN" sz="2000" b="1">
                <a:latin typeface="Consolas" panose="020B0609020204030204" pitchFamily="49" charset="0"/>
              </a:rPr>
              <a:t>")</a:t>
            </a:r>
          </a:p>
        </p:txBody>
      </p:sp>
      <p:sp>
        <p:nvSpPr>
          <p:cNvPr id="4" name="矩形 3"/>
          <p:cNvSpPr/>
          <p:nvPr/>
        </p:nvSpPr>
        <p:spPr>
          <a:xfrm>
            <a:off x="5508104" y="3645024"/>
            <a:ext cx="2574032" cy="887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b="1">
                <a:latin typeface="微软雅黑" pitchFamily="34" charset="-122"/>
                <a:ea typeface="微软雅黑" pitchFamily="34" charset="-122"/>
              </a:rPr>
              <a:t>程序运行结果如下：</a:t>
            </a:r>
          </a:p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en-US" b="1">
                <a:latin typeface="Consolas" panose="020B0609020204030204" pitchFamily="49" charset="0"/>
              </a:rPr>
              <a:t>断言异常</a:t>
            </a:r>
            <a:endParaRPr lang="zh-CN" altLang="zh-CN" b="1" dirty="0">
              <a:solidFill>
                <a:schemeClr val="accent2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03128" y="2924944"/>
            <a:ext cx="795411" cy="4514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00"/>
              </a:lnSpc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>
                <a:solidFill>
                  <a:srgbClr val="0070C0"/>
                </a:solidFill>
                <a:latin typeface="Consolas" panose="020B0609020204030204" pitchFamily="49" charset="0"/>
              </a:rPr>
              <a:t>5,0↙</a:t>
            </a:r>
            <a:endParaRPr lang="zh-CN" altLang="zh-CN" b="1">
              <a:solidFill>
                <a:srgbClr val="0070C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253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980728"/>
            <a:ext cx="3882855" cy="54372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文本框 4"/>
          <p:cNvSpPr txBox="1"/>
          <p:nvPr/>
        </p:nvSpPr>
        <p:spPr>
          <a:xfrm>
            <a:off x="6156176" y="3501008"/>
            <a:ext cx="2376264" cy="10772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zh-CN" altLang="zh-CN" kern="0" dirty="0"/>
              <a:t>程序运行结果</a:t>
            </a:r>
            <a:r>
              <a:rPr lang="zh-CN" altLang="zh-CN" kern="0"/>
              <a:t>如下：</a:t>
            </a:r>
            <a:endParaRPr lang="en-US" altLang="zh-CN" kern="0"/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 kern="0">
                <a:solidFill>
                  <a:srgbClr val="00B0F0"/>
                </a:solidFill>
              </a:rPr>
              <a:t>3 2</a:t>
            </a:r>
          </a:p>
          <a:p>
            <a:pPr>
              <a:spcAft>
                <a:spcPts val="600"/>
              </a:spcAft>
              <a:buClr>
                <a:srgbClr val="7030A0"/>
              </a:buClr>
              <a:buSzPct val="60000"/>
            </a:pPr>
            <a:r>
              <a:rPr lang="en-US" altLang="zh-CN" b="1" kern="0">
                <a:solidFill>
                  <a:srgbClr val="00B0F0"/>
                </a:solidFill>
              </a:rPr>
              <a:t>2 5</a:t>
            </a:r>
            <a:endParaRPr lang="en-US" altLang="zh-CN" b="1" kern="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34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23528" y="1436578"/>
            <a:ext cx="8496944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2400" b="1">
                <a:solidFill>
                  <a:srgbClr val="245794"/>
                </a:solidFill>
                <a:latin typeface="+mj-ea"/>
                <a:ea typeface="+mj-ea"/>
              </a:rPr>
              <a:t>raise</a:t>
            </a:r>
            <a:r>
              <a:rPr lang="zh-CN" altLang="zh-CN" sz="2400" b="1" dirty="0">
                <a:solidFill>
                  <a:srgbClr val="245794"/>
                </a:solidFill>
                <a:latin typeface="+mj-ea"/>
                <a:ea typeface="+mj-ea"/>
              </a:rPr>
              <a:t>语句的格式如下：</a:t>
            </a:r>
          </a:p>
          <a:p>
            <a:pPr>
              <a:lnSpc>
                <a:spcPct val="200000"/>
              </a:lnSpc>
            </a:pPr>
            <a:r>
              <a:rPr lang="zh-CN" altLang="en-US" sz="2400" b="1" dirty="0">
                <a:solidFill>
                  <a:srgbClr val="245794"/>
                </a:solidFill>
                <a:latin typeface="+mj-ea"/>
                <a:ea typeface="+mj-ea"/>
              </a:rPr>
              <a:t>　　</a:t>
            </a:r>
            <a:r>
              <a:rPr lang="en-US" altLang="zh-CN" sz="2400" b="1" dirty="0">
                <a:solidFill>
                  <a:srgbClr val="245794"/>
                </a:solidFill>
                <a:latin typeface="+mj-ea"/>
                <a:ea typeface="+mj-ea"/>
              </a:rPr>
              <a:t>raise </a:t>
            </a:r>
            <a:r>
              <a:rPr lang="zh-CN" altLang="zh-CN" sz="2400" b="1" dirty="0">
                <a:solidFill>
                  <a:srgbClr val="245794"/>
                </a:solidFill>
                <a:latin typeface="+mj-ea"/>
                <a:ea typeface="+mj-ea"/>
              </a:rPr>
              <a:t>异常类型</a:t>
            </a:r>
            <a:r>
              <a:rPr lang="en-US" altLang="zh-CN" sz="2400" b="1" dirty="0">
                <a:solidFill>
                  <a:srgbClr val="245794"/>
                </a:solidFill>
                <a:latin typeface="+mj-ea"/>
                <a:ea typeface="+mj-ea"/>
              </a:rPr>
              <a:t>[(</a:t>
            </a:r>
            <a:r>
              <a:rPr lang="zh-CN" altLang="zh-CN" sz="2400" b="1" dirty="0">
                <a:solidFill>
                  <a:srgbClr val="245794"/>
                </a:solidFill>
                <a:latin typeface="+mj-ea"/>
                <a:ea typeface="+mj-ea"/>
              </a:rPr>
              <a:t>提示</a:t>
            </a:r>
            <a:r>
              <a:rPr lang="zh-CN" altLang="zh-CN" sz="2400" b="1">
                <a:solidFill>
                  <a:srgbClr val="245794"/>
                </a:solidFill>
                <a:latin typeface="+mj-ea"/>
                <a:ea typeface="+mj-ea"/>
              </a:rPr>
              <a:t>参数</a:t>
            </a:r>
            <a:r>
              <a:rPr lang="en-US" altLang="zh-CN" sz="2400" b="1">
                <a:solidFill>
                  <a:srgbClr val="245794"/>
                </a:solidFill>
                <a:latin typeface="+mj-ea"/>
                <a:ea typeface="+mj-ea"/>
              </a:rPr>
              <a:t>)]</a:t>
            </a:r>
          </a:p>
          <a:p>
            <a:r>
              <a:rPr lang="zh-CN" altLang="en-US" sz="2400" b="1">
                <a:solidFill>
                  <a:srgbClr val="245794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　说明：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raise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人工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主动地引发异常，一旦执行了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raise</a:t>
            </a:r>
            <a:r>
              <a:rPr lang="zh-CN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，后面的语句不再执行。</a:t>
            </a: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sz="2400" b="1">
              <a:solidFill>
                <a:srgbClr val="245794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400" b="1">
                <a:solidFill>
                  <a:srgbClr val="245794"/>
                </a:solidFill>
                <a:latin typeface="+mj-ea"/>
                <a:ea typeface="+mj-ea"/>
              </a:rPr>
              <a:t>　</a:t>
            </a:r>
            <a:endParaRPr lang="zh-CN" altLang="zh-CN" sz="2400" b="1" dirty="0">
              <a:solidFill>
                <a:srgbClr val="245794"/>
              </a:solidFill>
              <a:latin typeface="+mj-ea"/>
              <a:ea typeface="+mj-ea"/>
            </a:endParaRPr>
          </a:p>
          <a:p>
            <a:r>
              <a:rPr lang="en-US" altLang="zh-CN" sz="2400" b="1" dirty="0">
                <a:solidFill>
                  <a:srgbClr val="245794"/>
                </a:solidFill>
                <a:latin typeface="+mj-ea"/>
                <a:ea typeface="+mj-ea"/>
              </a:rPr>
              <a:t>&gt;&gt;&gt; raise Exception("</a:t>
            </a:r>
            <a:r>
              <a:rPr lang="zh-CN" altLang="zh-CN" sz="2400" b="1" dirty="0">
                <a:solidFill>
                  <a:srgbClr val="245794"/>
                </a:solidFill>
                <a:latin typeface="+mj-ea"/>
                <a:ea typeface="+mj-ea"/>
              </a:rPr>
              <a:t>抛出一个异常</a:t>
            </a:r>
            <a:r>
              <a:rPr lang="en-US" altLang="zh-CN" sz="2400" b="1" dirty="0">
                <a:solidFill>
                  <a:srgbClr val="245794"/>
                </a:solidFill>
                <a:latin typeface="+mj-ea"/>
                <a:ea typeface="+mj-ea"/>
              </a:rPr>
              <a:t>")</a:t>
            </a:r>
            <a:endParaRPr lang="zh-CN" altLang="zh-CN" sz="2400" b="1" dirty="0">
              <a:solidFill>
                <a:srgbClr val="245794"/>
              </a:solidFill>
              <a:latin typeface="+mj-ea"/>
              <a:ea typeface="+mj-ea"/>
            </a:endParaRPr>
          </a:p>
          <a:p>
            <a:r>
              <a:rPr lang="en-US" altLang="zh-CN" sz="20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Traceback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(most recent call last):</a:t>
            </a:r>
            <a:endParaRPr lang="zh-CN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File "&lt;pyshell#24&gt;", line 1, in &lt;module&gt;</a:t>
            </a:r>
            <a:endParaRPr lang="zh-CN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raise Exception("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抛出一个异常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")</a:t>
            </a:r>
            <a:endParaRPr lang="zh-CN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Exception: </a:t>
            </a:r>
            <a:r>
              <a:rPr lang="zh-CN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抛出一个异常</a:t>
            </a:r>
          </a:p>
        </p:txBody>
      </p:sp>
      <p:sp>
        <p:nvSpPr>
          <p:cNvPr id="2" name="矩形 1"/>
          <p:cNvSpPr/>
          <p:nvPr/>
        </p:nvSpPr>
        <p:spPr>
          <a:xfrm>
            <a:off x="2702345" y="272534"/>
            <a:ext cx="36439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rgbClr val="245794"/>
                </a:solidFill>
                <a:latin typeface="+mj-ea"/>
                <a:ea typeface="+mj-ea"/>
              </a:rPr>
              <a:t>11.4.1  </a:t>
            </a:r>
            <a:r>
              <a:rPr lang="zh-CN" altLang="zh-CN" sz="2800" b="1">
                <a:solidFill>
                  <a:srgbClr val="245794"/>
                </a:solidFill>
                <a:latin typeface="+mj-ea"/>
                <a:ea typeface="+mj-ea"/>
              </a:rPr>
              <a:t>主动引发异常</a:t>
            </a:r>
            <a:endParaRPr lang="zh-CN" altLang="zh-CN" sz="2800" b="1" dirty="0">
              <a:solidFill>
                <a:srgbClr val="245794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17870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-171400"/>
            <a:ext cx="78867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示例5-12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编写函数，计算形式如a+aa+aaa+aaaa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+...+</a:t>
            </a:r>
            <a:r>
              <a:rPr lang="en-US" altLang="zh-CN" sz="2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aaa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...aaa的表达式的值，其中a为小于10的自然数。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426" y="1268760"/>
            <a:ext cx="8856984" cy="436946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def demo(a, n):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assert</a:t>
            </a: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type(n)==int and 0&lt;a&lt;10,    ‘a must be integer between 1 and 9'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result, t = 0, 0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for </a:t>
            </a:r>
            <a:r>
              <a:rPr lang="en-US" sz="1800" dirty="0" err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in range(n):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t = t*10 + 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result += 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return result</a:t>
            </a:r>
          </a:p>
          <a:p>
            <a:pPr marL="0" indent="0">
              <a:lnSpc>
                <a:spcPct val="150000"/>
              </a:lnSpc>
              <a:buNone/>
            </a:pPr>
            <a:endParaRPr lang="en-US" sz="18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print(demo(3, 4))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F553DC7-E209-4878-A56F-60FFCC08ED44}"/>
              </a:ext>
            </a:extLst>
          </p:cNvPr>
          <p:cNvSpPr txBox="1"/>
          <p:nvPr/>
        </p:nvSpPr>
        <p:spPr>
          <a:xfrm>
            <a:off x="3203848" y="5398875"/>
            <a:ext cx="53655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另一种方法：</a:t>
            </a:r>
            <a:endParaRPr lang="en-US" altLang="zh-CN" sz="2000" dirty="0"/>
          </a:p>
          <a:p>
            <a:r>
              <a:rPr lang="en-US" altLang="zh-CN" sz="2000" dirty="0"/>
              <a:t>return sum([int(str(a)*</a:t>
            </a:r>
            <a:r>
              <a:rPr lang="en-US" altLang="zh-CN" sz="2000" dirty="0" err="1"/>
              <a:t>i</a:t>
            </a:r>
            <a:r>
              <a:rPr lang="en-US" altLang="zh-CN" sz="2000" dirty="0"/>
              <a:t>) for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in range(1,n + 1)])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80184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954895" y="2133773"/>
            <a:ext cx="6858000" cy="1655762"/>
          </a:xfrm>
        </p:spPr>
        <p:txBody>
          <a:bodyPr/>
          <a:lstStyle/>
          <a:p>
            <a:pPr fontAlgn="auto">
              <a:lnSpc>
                <a:spcPct val="150000"/>
              </a:lnSpc>
            </a:pPr>
            <a:r>
              <a:rPr lang="en-US" sz="1800" b="1" dirty="0"/>
              <a:t>示例5-11</a:t>
            </a:r>
            <a:r>
              <a:rPr lang="en-US" sz="1800" dirty="0"/>
              <a:t>  编写函数模拟猜数游戏。系统随机产生一个数，玩家最多可以猜5次，系统会根据玩家的猜测进行提示，玩家则可以根据系统的提示对下一次的猜测进行适当调整。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95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83568" y="2060848"/>
            <a:ext cx="5998464" cy="3631475"/>
          </a:xfrm>
          <a:prstGeom prst="rect">
            <a:avLst/>
          </a:prstGeom>
          <a:solidFill>
            <a:srgbClr val="FFCC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7159" y="187486"/>
            <a:ext cx="8856662" cy="6533989"/>
          </a:xfrm>
        </p:spPr>
        <p:txBody>
          <a:bodyPr>
            <a:noAutofit/>
          </a:bodyPr>
          <a:lstStyle/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from random import 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randint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def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guess(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maxValue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=100, 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maxTimes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=5):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value = 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randint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(1,maxValue)</a:t>
            </a:r>
            <a:r>
              <a:rPr lang="en-US" altLang="zh-CN" sz="16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随机生成一个整数</a:t>
            </a:r>
            <a:endParaRPr lang="en-US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sz="18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in range(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maxTimes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prompt = 'Start to GUESS:' if 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==0 else 'Guess again:'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try:	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	                        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使用异常处理结构，防止输入不是数字的情况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x = 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int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(input(prompt))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except: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print('Must input an integer between 1 and ', 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maxValue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if x == value:                                      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猜对了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print('Congratulations!')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break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x &gt; value: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print('Too big')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else: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print('Too </a:t>
            </a:r>
            <a:r>
              <a:rPr lang="en-US" sz="1600" dirty="0"/>
              <a:t>small</a:t>
            </a: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')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else:</a:t>
            </a: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print('Game over. FAIL.')</a:t>
            </a:r>
            <a:r>
              <a:rPr lang="en-US" altLang="zh-CN" sz="16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#</a:t>
            </a:r>
            <a:r>
              <a:rPr lang="en-US" altLang="zh-CN" sz="16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次数用完还没猜对，游戏结束，提示正确答案</a:t>
            </a:r>
            <a:endParaRPr lang="en-US" altLang="zh-CN" sz="16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ts val="2400"/>
              </a:lnSpc>
              <a:spcBef>
                <a:spcPts val="0"/>
              </a:spcBef>
              <a:buNone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print('The value is ', value)</a:t>
            </a:r>
          </a:p>
        </p:txBody>
      </p:sp>
      <p:sp>
        <p:nvSpPr>
          <p:cNvPr id="7" name="矩形 6"/>
          <p:cNvSpPr/>
          <p:nvPr/>
        </p:nvSpPr>
        <p:spPr>
          <a:xfrm>
            <a:off x="899592" y="3612716"/>
            <a:ext cx="2852928" cy="2079607"/>
          </a:xfrm>
          <a:prstGeom prst="rect">
            <a:avLst/>
          </a:prstGeom>
          <a:solidFill>
            <a:schemeClr val="accent4">
              <a:lumMod val="40000"/>
              <a:lumOff val="60000"/>
              <a:alpha val="4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762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主题1">
  <a:themeElements>
    <a:clrScheme name="自定义 3">
      <a:dk1>
        <a:srgbClr val="000000"/>
      </a:dk1>
      <a:lt1>
        <a:srgbClr val="FFFFFF"/>
      </a:lt1>
      <a:dk2>
        <a:srgbClr val="003468"/>
      </a:dk2>
      <a:lt2>
        <a:srgbClr val="969696"/>
      </a:lt2>
      <a:accent1>
        <a:srgbClr val="99CC00"/>
      </a:accent1>
      <a:accent2>
        <a:srgbClr val="6699FF"/>
      </a:accent2>
      <a:accent3>
        <a:srgbClr val="FFFFFF"/>
      </a:accent3>
      <a:accent4>
        <a:srgbClr val="000000"/>
      </a:accent4>
      <a:accent5>
        <a:srgbClr val="CAE2AA"/>
      </a:accent5>
      <a:accent6>
        <a:srgbClr val="5C8AE7"/>
      </a:accent6>
      <a:hlink>
        <a:srgbClr val="00B0F0"/>
      </a:hlink>
      <a:folHlink>
        <a:srgbClr val="00B0F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都市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>
        <a:spAutoFit/>
      </a:bodyPr>
      <a:lstStyle>
        <a:defPPr>
          <a:spcAft>
            <a:spcPts val="0"/>
          </a:spcAft>
          <a:defRPr kern="0">
            <a:solidFill>
              <a:srgbClr val="800000"/>
            </a:solidFill>
            <a:latin typeface="Courier New"/>
            <a:ea typeface="宋体"/>
            <a:cs typeface="Times New Roman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024betty_wave 1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FF99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2D597A"/>
        </a:accent6>
        <a:hlink>
          <a:srgbClr val="66CAE2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33CCCC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2D2D8A"/>
        </a:accent6>
        <a:hlink>
          <a:srgbClr val="9999FF"/>
        </a:hlink>
        <a:folHlink>
          <a:srgbClr val="CCE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3">
        <a:dk1>
          <a:srgbClr val="000000"/>
        </a:dk1>
        <a:lt1>
          <a:srgbClr val="FFFFFF"/>
        </a:lt1>
        <a:dk2>
          <a:srgbClr val="003468"/>
        </a:dk2>
        <a:lt2>
          <a:srgbClr val="969696"/>
        </a:lt2>
        <a:accent1>
          <a:srgbClr val="99CC00"/>
        </a:accent1>
        <a:accent2>
          <a:srgbClr val="6699FF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5C8AE7"/>
        </a:accent6>
        <a:hlink>
          <a:srgbClr val="99CCFF"/>
        </a:hlink>
        <a:folHlink>
          <a:srgbClr val="CC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24betty_wave 4">
        <a:dk1>
          <a:srgbClr val="000000"/>
        </a:dk1>
        <a:lt1>
          <a:srgbClr val="FFFFFF"/>
        </a:lt1>
        <a:dk2>
          <a:srgbClr val="003060"/>
        </a:dk2>
        <a:lt2>
          <a:srgbClr val="969696"/>
        </a:lt2>
        <a:accent1>
          <a:srgbClr val="CCCC00"/>
        </a:accent1>
        <a:accent2>
          <a:srgbClr val="336387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2D597A"/>
        </a:accent6>
        <a:hlink>
          <a:srgbClr val="66CAE2"/>
        </a:hlink>
        <a:folHlink>
          <a:srgbClr val="CCFF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主题1" id="{08D67D16-F09F-4120-9902-8B6E13640965}" vid="{F004A0D0-0AA1-407E-8AAF-2472C67E5ED7}"/>
    </a:ext>
  </a:extLst>
</a:theme>
</file>

<file path=ppt/theme/themeOverride1.xml><?xml version="1.0" encoding="utf-8"?>
<a:themeOverride xmlns:a="http://schemas.openxmlformats.org/drawingml/2006/main">
  <a:clrScheme name="自定义 3">
    <a:dk1>
      <a:srgbClr val="000000"/>
    </a:dk1>
    <a:lt1>
      <a:srgbClr val="FFFFFF"/>
    </a:lt1>
    <a:dk2>
      <a:srgbClr val="003468"/>
    </a:dk2>
    <a:lt2>
      <a:srgbClr val="969696"/>
    </a:lt2>
    <a:accent1>
      <a:srgbClr val="99CC00"/>
    </a:accent1>
    <a:accent2>
      <a:srgbClr val="6699FF"/>
    </a:accent2>
    <a:accent3>
      <a:srgbClr val="FFFFFF"/>
    </a:accent3>
    <a:accent4>
      <a:srgbClr val="000000"/>
    </a:accent4>
    <a:accent5>
      <a:srgbClr val="CAE2AA"/>
    </a:accent5>
    <a:accent6>
      <a:srgbClr val="5C8AE7"/>
    </a:accent6>
    <a:hlink>
      <a:srgbClr val="00B0F0"/>
    </a:hlink>
    <a:folHlink>
      <a:srgbClr val="00B0F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1575</TotalTime>
  <Words>1592</Words>
  <Application>Microsoft Office PowerPoint</Application>
  <PresentationFormat>全屏显示(4:3)</PresentationFormat>
  <Paragraphs>257</Paragraphs>
  <Slides>21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宋体</vt:lpstr>
      <vt:lpstr>微软雅黑</vt:lpstr>
      <vt:lpstr>Arial</vt:lpstr>
      <vt:lpstr>Consolas</vt:lpstr>
      <vt:lpstr>Courier New</vt:lpstr>
      <vt:lpstr>Verdana</vt:lpstr>
      <vt:lpstr>Wingdings</vt:lpstr>
      <vt:lpstr>主题1</vt:lpstr>
      <vt:lpstr>第11章  异常处理</vt:lpstr>
      <vt:lpstr>PowerPoint 演示文稿</vt:lpstr>
      <vt:lpstr>11.1  异常处理概述</vt:lpstr>
      <vt:lpstr>11.2.2  使用try-except语句</vt:lpstr>
      <vt:lpstr>PowerPoint 演示文稿</vt:lpstr>
      <vt:lpstr>2、分类异常处理</vt:lpstr>
      <vt:lpstr>2、分类异常处理</vt:lpstr>
      <vt:lpstr>PowerPoint 演示文稿</vt:lpstr>
      <vt:lpstr>3 ．异常处理的嵌套</vt:lpstr>
      <vt:lpstr>PowerPoint 演示文稿</vt:lpstr>
      <vt:lpstr>阅读题1：</vt:lpstr>
      <vt:lpstr>PowerPoint 演示文稿</vt:lpstr>
      <vt:lpstr>11.3  断言处理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示例5-12  编写函数，计算形式如a+aa+aaa+aaaa+...+aaa...aaa的表达式的值，其中a为小于10的自然数。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cyj</cp:lastModifiedBy>
  <cp:revision>64</cp:revision>
  <dcterms:created xsi:type="dcterms:W3CDTF">2016-08-25T03:48:37Z</dcterms:created>
  <dcterms:modified xsi:type="dcterms:W3CDTF">2024-12-22T09:14:13Z</dcterms:modified>
</cp:coreProperties>
</file>