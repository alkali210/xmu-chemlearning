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90" r:id="rId2"/>
    <p:sldId id="410" r:id="rId3"/>
    <p:sldId id="366" r:id="rId4"/>
    <p:sldId id="411" r:id="rId5"/>
    <p:sldId id="367" r:id="rId6"/>
    <p:sldId id="383" r:id="rId7"/>
    <p:sldId id="361" r:id="rId8"/>
    <p:sldId id="291" r:id="rId9"/>
    <p:sldId id="362" r:id="rId10"/>
    <p:sldId id="365" r:id="rId11"/>
    <p:sldId id="363" r:id="rId12"/>
    <p:sldId id="364" r:id="rId13"/>
    <p:sldId id="409" r:id="rId14"/>
    <p:sldId id="396" r:id="rId15"/>
    <p:sldId id="368" r:id="rId16"/>
    <p:sldId id="299" r:id="rId17"/>
    <p:sldId id="369" r:id="rId18"/>
    <p:sldId id="412" r:id="rId19"/>
    <p:sldId id="413" r:id="rId20"/>
    <p:sldId id="373" r:id="rId21"/>
    <p:sldId id="414" r:id="rId22"/>
    <p:sldId id="415" r:id="rId23"/>
    <p:sldId id="416" r:id="rId24"/>
    <p:sldId id="389" r:id="rId25"/>
    <p:sldId id="398" r:id="rId26"/>
    <p:sldId id="376" r:id="rId27"/>
    <p:sldId id="378" r:id="rId28"/>
    <p:sldId id="417" r:id="rId29"/>
    <p:sldId id="302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245794"/>
    <a:srgbClr val="17385F"/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42" autoAdjust="0"/>
  </p:normalViewPr>
  <p:slideViewPr>
    <p:cSldViewPr>
      <p:cViewPr varScale="1">
        <p:scale>
          <a:sx n="94" d="100"/>
          <a:sy n="94" d="100"/>
        </p:scale>
        <p:origin x="20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7E34C-A787-48CA-84F7-BFE5D221AB46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1D08E-0BC7-4D68-9E2D-B226E57CB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72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46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0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1D08E-0BC7-4D68-9E2D-B226E57CB29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79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9"/>
          <p:cNvSpPr>
            <a:spLocks noChangeArrowheads="1"/>
          </p:cNvSpPr>
          <p:nvPr userDrawn="1"/>
        </p:nvSpPr>
        <p:spPr bwMode="auto">
          <a:xfrm>
            <a:off x="305594" y="3325813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81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9"/>
          <p:cNvSpPr>
            <a:spLocks noChangeArrowheads="1"/>
          </p:cNvSpPr>
          <p:nvPr userDrawn="1"/>
        </p:nvSpPr>
        <p:spPr bwMode="auto">
          <a:xfrm>
            <a:off x="159510" y="1505744"/>
            <a:ext cx="8532812" cy="230187"/>
          </a:xfrm>
          <a:prstGeom prst="rect">
            <a:avLst/>
          </a:prstGeom>
          <a:gradFill rotWithShape="1">
            <a:gsLst>
              <a:gs pos="0">
                <a:srgbClr val="B6DDE7"/>
              </a:gs>
              <a:gs pos="39998">
                <a:srgbClr val="DAEEF3"/>
              </a:gs>
              <a:gs pos="70000">
                <a:srgbClr val="FFFFFF"/>
              </a:gs>
              <a:gs pos="100000">
                <a:srgbClr val="FFFFFF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569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57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64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37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6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70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40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3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5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image" Target="../media/image1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1.5  </a:t>
            </a:r>
            <a:r>
              <a:rPr lang="zh-CN" altLang="zh-CN" b="1">
                <a:solidFill>
                  <a:srgbClr val="245794"/>
                </a:solidFill>
              </a:rPr>
              <a:t>常用系统函数</a:t>
            </a:r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1.5.2  </a:t>
            </a:r>
            <a:r>
              <a:rPr lang="zh-CN" altLang="zh-CN" b="1">
                <a:solidFill>
                  <a:srgbClr val="245794"/>
                </a:solidFill>
              </a:rPr>
              <a:t>常用内置函数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9715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2000">
                <a:solidFill>
                  <a:srgbClr val="FF0000"/>
                </a:solidFill>
                <a:latin typeface="+mn-ea"/>
              </a:rPr>
              <a:t>内置函数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随着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Python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解释器的运行而创建，在程序中可以随时调用这些函数。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zh-CN" altLang="en-US" sz="2000">
                <a:solidFill>
                  <a:srgbClr val="245794"/>
                </a:solidFill>
                <a:latin typeface="+mn-ea"/>
              </a:rPr>
              <a:t>例如，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print()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函数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 marL="0" indent="457200">
              <a:lnSpc>
                <a:spcPct val="150000"/>
              </a:lnSpc>
              <a:buNone/>
            </a:pPr>
            <a:endParaRPr lang="zh-CN" altLang="zh-CN" sz="2000">
              <a:solidFill>
                <a:srgbClr val="245794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245794"/>
                </a:solidFill>
                <a:latin typeface="+mn-ea"/>
              </a:rPr>
              <a:t>其他的模块函数都要等使用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import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语句导入时才会装入内存。</a:t>
            </a:r>
            <a:endParaRPr lang="zh-CN" altLang="en-US" sz="2000">
              <a:solidFill>
                <a:srgbClr val="245794"/>
              </a:solidFill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8985D-7FE5-4EF4-94C2-5D8B6D92370F}"/>
              </a:ext>
            </a:extLst>
          </p:cNvPr>
          <p:cNvSpPr txBox="1"/>
          <p:nvPr/>
        </p:nvSpPr>
        <p:spPr>
          <a:xfrm>
            <a:off x="755576" y="5301208"/>
            <a:ext cx="6024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Python</a:t>
            </a:r>
            <a:r>
              <a:rPr lang="zh-CN" altLang="en-US" sz="2400" b="1" dirty="0">
                <a:solidFill>
                  <a:srgbClr val="FF0000"/>
                </a:solidFill>
              </a:rPr>
              <a:t>把函数分成不同的组，称之为模块。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zh-CN" altLang="en-US" sz="2400" b="1" dirty="0">
                <a:solidFill>
                  <a:srgbClr val="FF0000"/>
                </a:solidFill>
              </a:rPr>
              <a:t>一个模块里有多个函数。</a:t>
            </a:r>
          </a:p>
        </p:txBody>
      </p:sp>
    </p:spTree>
    <p:extLst>
      <p:ext uri="{BB962C8B-B14F-4D97-AF65-F5344CB8AC3E}">
        <p14:creationId xmlns:p14="http://schemas.microsoft.com/office/powerpoint/2010/main" val="47057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2</a:t>
            </a:r>
            <a:r>
              <a:rPr lang="zh-CN" altLang="zh-CN" b="1">
                <a:solidFill>
                  <a:srgbClr val="245794"/>
                </a:solidFill>
              </a:rPr>
              <a:t>．</a:t>
            </a:r>
            <a:r>
              <a:rPr lang="en-US" altLang="zh-CN" b="1">
                <a:solidFill>
                  <a:srgbClr val="245794"/>
                </a:solidFill>
              </a:rPr>
              <a:t>range()</a:t>
            </a:r>
            <a:r>
              <a:rPr lang="zh-CN" altLang="zh-CN" b="1">
                <a:solidFill>
                  <a:srgbClr val="245794"/>
                </a:solidFill>
              </a:rPr>
              <a:t>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720777"/>
            <a:ext cx="7886700" cy="19242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latin typeface="+mn-ea"/>
              </a:rPr>
              <a:t>range()</a:t>
            </a:r>
            <a:r>
              <a:rPr lang="zh-CN" altLang="zh-CN" sz="2000">
                <a:latin typeface="+mn-ea"/>
              </a:rPr>
              <a:t>函数的调用格式是：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en-US" sz="2000">
                <a:latin typeface="+mn-ea"/>
              </a:rPr>
              <a:t>　　</a:t>
            </a:r>
            <a:r>
              <a:rPr lang="en-US" altLang="zh-CN" sz="2000">
                <a:latin typeface="+mn-ea"/>
              </a:rPr>
              <a:t>range([start,]end[,step])</a:t>
            </a:r>
            <a:endParaRPr lang="zh-CN" altLang="zh-CN" sz="2000">
              <a:latin typeface="+mn-ea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sz="1800">
                <a:latin typeface="+mn-ea"/>
              </a:rPr>
              <a:t>说明：</a:t>
            </a:r>
            <a:r>
              <a:rPr lang="en-US" altLang="zh-CN" sz="1800">
                <a:latin typeface="+mn-ea"/>
              </a:rPr>
              <a:t>该函数返回range对象，其中包含左闭右开区间[start,end)内以step为步长的整数。参数start默认为0，step默认为1。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78344" y="3933056"/>
            <a:ext cx="8203406" cy="2376264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charset="0"/>
              </a:rPr>
              <a:t>&gt;&gt;&gt; range(5)                       </a:t>
            </a:r>
            <a:r>
              <a:rPr lang="en-US" sz="1800">
                <a:solidFill>
                  <a:srgbClr val="00B050"/>
                </a:solidFill>
                <a:latin typeface="Consolas" panose="020B0609020204030204" charset="0"/>
              </a:rPr>
              <a:t>#start默认为0，step默认为1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range(0, 5)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charset="0"/>
              </a:rPr>
              <a:t>&gt;&gt;&gt; list(_)                        </a:t>
            </a:r>
            <a:r>
              <a:rPr lang="en-US" sz="1800">
                <a:solidFill>
                  <a:srgbClr val="FF0000"/>
                </a:solidFill>
                <a:latin typeface="Consolas" panose="020B0609020204030204" charset="0"/>
              </a:rPr>
              <a:t>#list()</a:t>
            </a:r>
            <a:r>
              <a:rPr lang="zh-CN" altLang="en-US" sz="1800">
                <a:solidFill>
                  <a:srgbClr val="FF0000"/>
                </a:solidFill>
                <a:latin typeface="Consolas" panose="020B0609020204030204" charset="0"/>
              </a:rPr>
              <a:t>产生一个序列</a:t>
            </a:r>
            <a:endParaRPr lang="en-US" sz="1800">
              <a:solidFill>
                <a:srgbClr val="FF0000"/>
              </a:solidFill>
              <a:latin typeface="Consolas" panose="020B060902020403020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[0, 1, 2, 3, 4]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charset="0"/>
              </a:rPr>
              <a:t>&gt;&gt;&gt; list(range(1, 10, 2))          </a:t>
            </a:r>
            <a:r>
              <a:rPr lang="en-US" sz="1800">
                <a:solidFill>
                  <a:srgbClr val="00B050"/>
                </a:solidFill>
                <a:latin typeface="Consolas" panose="020B0609020204030204" charset="0"/>
              </a:rPr>
              <a:t>#指定起始值和步长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[1, 3, 5, 7, 9]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&gt;&gt;&gt; list(range(9, 0, -2))          </a:t>
            </a:r>
            <a:r>
              <a:rPr lang="en-US" sz="1800">
                <a:solidFill>
                  <a:srgbClr val="00B050"/>
                </a:solidFill>
                <a:latin typeface="Consolas" panose="020B0609020204030204" charset="0"/>
              </a:rPr>
              <a:t>#步长为负数时，start应比end大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[9, 7, 5, 3, 1]</a:t>
            </a:r>
            <a:endParaRPr lang="en-US" sz="180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6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</a:t>
            </a:r>
            <a:r>
              <a:rPr lang="zh-CN" altLang="zh-CN" b="1">
                <a:solidFill>
                  <a:srgbClr val="245794"/>
                </a:solidFill>
              </a:rPr>
              <a:t>．</a:t>
            </a:r>
            <a:r>
              <a:rPr lang="en-US" altLang="zh-CN" b="1">
                <a:solidFill>
                  <a:srgbClr val="245794"/>
                </a:solidFill>
              </a:rPr>
              <a:t>type()</a:t>
            </a:r>
            <a:r>
              <a:rPr lang="zh-CN" altLang="zh-CN" b="1">
                <a:solidFill>
                  <a:srgbClr val="245794"/>
                </a:solidFill>
              </a:rPr>
              <a:t>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09392" y="1921757"/>
            <a:ext cx="4176464" cy="4840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latin typeface="+mn-ea"/>
              </a:rPr>
              <a:t>type(x)</a:t>
            </a:r>
            <a:r>
              <a:rPr lang="zh-CN" altLang="zh-CN" sz="2000">
                <a:latin typeface="+mn-ea"/>
              </a:rPr>
              <a:t> ：</a:t>
            </a:r>
            <a:r>
              <a:rPr lang="zh-CN" altLang="en-US" sz="2000">
                <a:latin typeface="+mn-ea"/>
              </a:rPr>
              <a:t>返回</a:t>
            </a:r>
            <a:r>
              <a:rPr lang="en-US" altLang="zh-CN" sz="2000">
                <a:latin typeface="+mn-ea"/>
              </a:rPr>
              <a:t>x</a:t>
            </a:r>
            <a:r>
              <a:rPr lang="zh-CN" altLang="en-US" sz="2000">
                <a:latin typeface="+mn-ea"/>
              </a:rPr>
              <a:t>的数据类型</a:t>
            </a:r>
            <a:endParaRPr lang="zh-CN" altLang="zh-CN" sz="2000">
              <a:latin typeface="+mn-ea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4805" y="2921888"/>
            <a:ext cx="2613060" cy="1800200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charset="0"/>
              </a:rPr>
              <a:t>&gt;&gt;&gt; </a:t>
            </a:r>
            <a:r>
              <a:rPr lang="en-US" altLang="zh-CN" sz="1800">
                <a:latin typeface="Consolas" panose="020B0609020204030204" charset="0"/>
              </a:rPr>
              <a:t>type</a:t>
            </a:r>
            <a:r>
              <a:rPr lang="en-US" sz="1800">
                <a:latin typeface="Consolas" panose="020B0609020204030204" charset="0"/>
              </a:rPr>
              <a:t>(5)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&lt;class 'int'&gt;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&gt;&gt;&gt; type('abx')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00B0F0"/>
                </a:solidFill>
                <a:latin typeface="Consolas" panose="020B0609020204030204" charset="0"/>
              </a:rPr>
              <a:t>&lt;class 'str'&gt;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16016" y="2921888"/>
            <a:ext cx="2549728" cy="158229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Consolas" panose="020B0609020204030204" charset="0"/>
              </a:rPr>
              <a:t>&gt;&gt;&gt; x=9.87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Consolas" panose="020B0609020204030204" charset="0"/>
              </a:rPr>
              <a:t>&gt;&gt;&gt; type(x)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solidFill>
                  <a:srgbClr val="00B0F0"/>
                </a:solidFill>
                <a:latin typeface="Consolas" panose="020B0609020204030204" charset="0"/>
              </a:rPr>
              <a:t>&lt;class 'float'&gt;</a:t>
            </a:r>
          </a:p>
        </p:txBody>
      </p:sp>
    </p:spTree>
    <p:extLst>
      <p:ext uri="{BB962C8B-B14F-4D97-AF65-F5344CB8AC3E}">
        <p14:creationId xmlns:p14="http://schemas.microsoft.com/office/powerpoint/2010/main" val="9186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3</a:t>
            </a:r>
            <a:r>
              <a:rPr lang="zh-CN" altLang="zh-CN" b="1">
                <a:solidFill>
                  <a:srgbClr val="245794"/>
                </a:solidFill>
              </a:rPr>
              <a:t>．数值运算函数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dirty="0">
                <a:latin typeface="+mn-ea"/>
              </a:rPr>
              <a:t>abs(x)</a:t>
            </a:r>
            <a:r>
              <a:rPr lang="zh-CN" altLang="zh-CN" sz="2000" dirty="0">
                <a:latin typeface="+mn-ea"/>
              </a:rPr>
              <a:t>：返回</a:t>
            </a:r>
            <a:r>
              <a:rPr lang="en-US" altLang="zh-CN" sz="2000" dirty="0">
                <a:latin typeface="+mn-ea"/>
              </a:rPr>
              <a:t>x</a:t>
            </a:r>
            <a:r>
              <a:rPr lang="zh-CN" altLang="zh-CN" sz="2000" dirty="0">
                <a:latin typeface="+mn-ea"/>
              </a:rPr>
              <a:t>的绝对值。</a:t>
            </a:r>
            <a:endParaRPr lang="en-US" altLang="zh-CN" sz="2000" dirty="0">
              <a:latin typeface="+mn-ea"/>
            </a:endParaRPr>
          </a:p>
          <a:p>
            <a:pPr marL="1080000" lv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245794"/>
                </a:solidFill>
                <a:latin typeface="+mn-ea"/>
              </a:rPr>
              <a:t>&gt;&gt;&gt; abs(-5)</a:t>
            </a:r>
          </a:p>
          <a:p>
            <a:pPr marL="1080000" lv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245794"/>
                </a:solidFill>
                <a:latin typeface="+mn-ea"/>
              </a:rPr>
              <a:t>5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dirty="0">
                <a:latin typeface="+mn-ea"/>
              </a:rPr>
              <a:t>pow(</a:t>
            </a:r>
            <a:r>
              <a:rPr lang="en-US" altLang="zh-CN" sz="2000" dirty="0" err="1">
                <a:latin typeface="+mn-ea"/>
              </a:rPr>
              <a:t>x,y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zh-CN" sz="2000" dirty="0">
                <a:latin typeface="+mn-ea"/>
              </a:rPr>
              <a:t>：省略</a:t>
            </a:r>
            <a:r>
              <a:rPr lang="en-US" altLang="zh-CN" sz="2000" dirty="0">
                <a:latin typeface="+mn-ea"/>
              </a:rPr>
              <a:t>z</a:t>
            </a:r>
            <a:r>
              <a:rPr lang="zh-CN" altLang="zh-CN" sz="2000" dirty="0">
                <a:latin typeface="+mn-ea"/>
              </a:rPr>
              <a:t>时，返回</a:t>
            </a:r>
            <a:r>
              <a:rPr lang="en-US" altLang="zh-CN" sz="2000" dirty="0">
                <a:latin typeface="+mn-ea"/>
              </a:rPr>
              <a:t>x</a:t>
            </a:r>
            <a:r>
              <a:rPr lang="zh-CN" altLang="zh-CN" sz="2000" dirty="0">
                <a:latin typeface="+mn-ea"/>
              </a:rPr>
              <a:t>的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zh-CN" sz="2000" dirty="0">
                <a:latin typeface="+mn-ea"/>
              </a:rPr>
              <a:t>次幂，结果保持</a:t>
            </a:r>
            <a:r>
              <a:rPr lang="en-US" altLang="zh-CN" sz="2000" dirty="0">
                <a:latin typeface="+mn-ea"/>
              </a:rPr>
              <a:t>x</a:t>
            </a:r>
            <a:r>
              <a:rPr lang="zh-CN" altLang="zh-CN" sz="2000" dirty="0">
                <a:latin typeface="+mn-ea"/>
              </a:rPr>
              <a:t>或</a:t>
            </a:r>
            <a:r>
              <a:rPr lang="en-US" altLang="zh-CN" sz="2000" dirty="0">
                <a:latin typeface="+mn-ea"/>
              </a:rPr>
              <a:t>y</a:t>
            </a:r>
            <a:r>
              <a:rPr lang="zh-CN" altLang="zh-CN" sz="2000" dirty="0">
                <a:latin typeface="+mn-ea"/>
              </a:rPr>
              <a:t>的类型。</a:t>
            </a:r>
          </a:p>
          <a:p>
            <a:pPr marL="108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245794"/>
                </a:solidFill>
                <a:latin typeface="+mn-ea"/>
              </a:rPr>
              <a:t>&gt;&gt;&gt; pow(2,3)</a:t>
            </a:r>
          </a:p>
          <a:p>
            <a:pPr marL="108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 dirty="0">
                <a:solidFill>
                  <a:srgbClr val="245794"/>
                </a:solidFill>
                <a:latin typeface="+mn-ea"/>
              </a:rPr>
              <a:t>8</a:t>
            </a:r>
            <a:endParaRPr lang="zh-CN" altLang="en-US" sz="2000" dirty="0">
              <a:solidFill>
                <a:srgbClr val="24579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0866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3</a:t>
            </a:r>
            <a:r>
              <a:rPr lang="zh-CN" altLang="zh-CN" b="1">
                <a:solidFill>
                  <a:srgbClr val="245794"/>
                </a:solidFill>
              </a:rPr>
              <a:t>．数值运算函数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39552" y="1772816"/>
            <a:ext cx="7886700" cy="232345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>
                <a:latin typeface="+mn-ea"/>
              </a:rPr>
              <a:t>round(x[,n])</a:t>
            </a:r>
            <a:r>
              <a:rPr lang="zh-CN" altLang="zh-CN" sz="2000">
                <a:latin typeface="+mn-ea"/>
              </a:rPr>
              <a:t>：</a:t>
            </a:r>
            <a:endParaRPr lang="en-US" altLang="zh-CN" sz="2000">
              <a:latin typeface="+mn-ea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zh-CN" sz="1800">
                <a:latin typeface="+mn-ea"/>
              </a:rPr>
              <a:t>用于对浮点数进行四舍五入运算，返回值为浮点数。</a:t>
            </a:r>
            <a:endParaRPr lang="en-US" altLang="zh-CN" sz="1800">
              <a:latin typeface="+mn-ea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1800">
                <a:latin typeface="+mn-ea"/>
              </a:rPr>
              <a:t>n</a:t>
            </a:r>
            <a:r>
              <a:rPr lang="zh-CN" altLang="en-US" sz="1800">
                <a:latin typeface="+mn-ea"/>
              </a:rPr>
              <a:t>指定</a:t>
            </a:r>
            <a:r>
              <a:rPr lang="zh-CN" altLang="zh-CN" sz="1800">
                <a:latin typeface="+mn-ea"/>
              </a:rPr>
              <a:t>小数位数</a:t>
            </a:r>
            <a:endParaRPr lang="en-US" altLang="zh-CN" sz="1800">
              <a:latin typeface="+mn-ea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1800">
                <a:latin typeface="+mn-ea"/>
              </a:rPr>
              <a:t>如果未提供</a:t>
            </a:r>
            <a:r>
              <a:rPr lang="en-US" altLang="zh-CN" sz="1800">
                <a:latin typeface="+mn-ea"/>
              </a:rPr>
              <a:t>n</a:t>
            </a:r>
            <a:r>
              <a:rPr lang="zh-CN" altLang="en-US" sz="1800">
                <a:latin typeface="+mn-ea"/>
              </a:rPr>
              <a:t>，则返回与</a:t>
            </a:r>
            <a:r>
              <a:rPr lang="en-US" altLang="zh-CN" sz="1800">
                <a:latin typeface="+mn-ea"/>
              </a:rPr>
              <a:t>x</a:t>
            </a:r>
            <a:r>
              <a:rPr lang="zh-CN" altLang="en-US" sz="1800">
                <a:latin typeface="+mn-ea"/>
              </a:rPr>
              <a:t>最接近的整数</a:t>
            </a:r>
            <a:endParaRPr lang="zh-CN" altLang="zh-CN" sz="180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1976" y="4835944"/>
            <a:ext cx="2448272" cy="11227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/>
              <a:t>&gt;&gt;&gt; round(3.14159,3)</a:t>
            </a:r>
          </a:p>
          <a:p>
            <a:pPr>
              <a:lnSpc>
                <a:spcPct val="200000"/>
              </a:lnSpc>
            </a:pPr>
            <a:r>
              <a:rPr lang="zh-CN" altLang="en-US"/>
              <a:t>3.142</a:t>
            </a:r>
          </a:p>
        </p:txBody>
      </p:sp>
      <p:sp>
        <p:nvSpPr>
          <p:cNvPr id="6" name="矩形 5"/>
          <p:cNvSpPr/>
          <p:nvPr/>
        </p:nvSpPr>
        <p:spPr>
          <a:xfrm>
            <a:off x="4517430" y="4459064"/>
            <a:ext cx="2166600" cy="223073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&gt;&gt;&gt; round(3.46)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3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&gt;&gt;&gt; round(3.</a:t>
            </a:r>
            <a:r>
              <a:rPr lang="en-US" altLang="zh-CN" dirty="0"/>
              <a:t>7</a:t>
            </a:r>
            <a:r>
              <a:rPr lang="zh-CN" altLang="en-US" dirty="0"/>
              <a:t>6)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4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cxnSpLocks/>
          </p:cNvCxnSpPr>
          <p:nvPr/>
        </p:nvCxnSpPr>
        <p:spPr>
          <a:xfrm>
            <a:off x="4788024" y="3861048"/>
            <a:ext cx="504056" cy="5760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403648" y="3284984"/>
            <a:ext cx="1728192" cy="18722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3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/>
              <a:t>4  </a:t>
            </a:r>
            <a:r>
              <a:rPr lang="zh-CN" altLang="en-US" sz="3600" dirty="0"/>
              <a:t>标准库与扩展库对象的导入与使用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155371"/>
            <a:ext cx="7450225" cy="4021592"/>
          </a:xfrm>
        </p:spPr>
        <p:txBody>
          <a:bodyPr>
            <a:norm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Python默认安装仅包含基本或核心模块，启动时也仅加载了基本模块，在需要时再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显式地导入和加载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标准库和第三方扩展库（需正确安装），这样可以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减小程序运行的压力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，并且具有很强的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21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调用非内置函数的方法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0" indent="-4572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245794"/>
                </a:solidFill>
              </a:rPr>
              <a:t>格式</a:t>
            </a:r>
            <a:r>
              <a:rPr lang="zh-CN" altLang="en-US" b="1">
                <a:solidFill>
                  <a:srgbClr val="245794"/>
                </a:solidFill>
              </a:rPr>
              <a:t>一</a:t>
            </a:r>
            <a:r>
              <a:rPr lang="zh-CN" altLang="zh-CN" b="1">
                <a:solidFill>
                  <a:srgbClr val="245794"/>
                </a:solidFill>
              </a:rPr>
              <a:t>：</a:t>
            </a:r>
          </a:p>
          <a:p>
            <a:pPr marL="108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import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模块名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[as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marL="685800" indent="-4572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245794"/>
                </a:solidFill>
              </a:rPr>
              <a:t>格式</a:t>
            </a:r>
            <a:r>
              <a:rPr lang="zh-CN" altLang="en-US" b="1">
                <a:solidFill>
                  <a:srgbClr val="245794"/>
                </a:solidFill>
              </a:rPr>
              <a:t>二</a:t>
            </a:r>
            <a:r>
              <a:rPr lang="zh-CN" altLang="zh-CN" b="1">
                <a:solidFill>
                  <a:srgbClr val="245794"/>
                </a:solidFill>
              </a:rPr>
              <a:t>：</a:t>
            </a:r>
          </a:p>
          <a:p>
            <a:pPr marL="108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import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</a:p>
          <a:p>
            <a:pPr marL="685800" indent="-45720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245794"/>
                </a:solidFill>
              </a:rPr>
              <a:t>格式</a:t>
            </a:r>
            <a:r>
              <a:rPr lang="zh-CN" altLang="en-US" b="1">
                <a:solidFill>
                  <a:srgbClr val="245794"/>
                </a:solidFill>
              </a:rPr>
              <a:t>三</a:t>
            </a:r>
            <a:r>
              <a:rPr lang="zh-CN" altLang="zh-CN" b="1">
                <a:solidFill>
                  <a:srgbClr val="245794"/>
                </a:solidFill>
              </a:rPr>
              <a:t>：导入模块中的所有函数定义</a:t>
            </a:r>
            <a:endParaRPr lang="en-US" altLang="zh-CN" b="1">
              <a:solidFill>
                <a:srgbClr val="245794"/>
              </a:solidFill>
            </a:endParaRPr>
          </a:p>
          <a:p>
            <a:pPr marL="1080000" indent="0"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from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import *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/>
              <a:t>1 </a:t>
            </a:r>
            <a:r>
              <a:rPr lang="zh-CN" altLang="en-US"/>
              <a:t>数学函数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330" y="2090056"/>
            <a:ext cx="8586316" cy="4631419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import math                    </a:t>
            </a:r>
            <a:r>
              <a:rPr lang="en-US" altLang="zh-CN" sz="2000">
                <a:latin typeface="+mn-ea"/>
              </a:rPr>
              <a:t>	</a:t>
            </a:r>
            <a:r>
              <a:rPr lang="zh-CN" altLang="en-US" sz="2000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导入标准</a:t>
            </a:r>
            <a:r>
              <a:rPr lang="zh-CN" altLang="en-US" sz="2000">
                <a:solidFill>
                  <a:srgbClr val="00B050"/>
                </a:solidFill>
                <a:latin typeface="+mn-ea"/>
              </a:rPr>
              <a:t>库math</a:t>
            </a:r>
            <a:endParaRPr lang="en-US" altLang="zh-CN" sz="2000">
              <a:solidFill>
                <a:srgbClr val="00B050"/>
              </a:solidFill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zh-CN" altLang="en-US" sz="2000" dirty="0"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math.sin(0.5)                  </a:t>
            </a:r>
            <a:r>
              <a:rPr lang="en-US" altLang="zh-CN" sz="2000">
                <a:latin typeface="+mn-ea"/>
              </a:rPr>
              <a:t>	</a:t>
            </a:r>
            <a:r>
              <a:rPr lang="zh-CN" altLang="en-US" sz="2000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求0.5（单位是弧度）的正弦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solidFill>
                  <a:srgbClr val="00B0F0"/>
                </a:solidFill>
                <a:latin typeface="+mn-ea"/>
              </a:rPr>
              <a:t>0.479425538604203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>
                <a:latin typeface="+mn-ea"/>
              </a:rPr>
              <a:t>&gt;&gt;&gt;</a:t>
            </a:r>
            <a:r>
              <a:rPr lang="en-US" altLang="zh-CN" sz="2000">
                <a:latin typeface="+mn-ea"/>
              </a:rPr>
              <a:t> math.sqrt(4)		</a:t>
            </a:r>
            <a:r>
              <a:rPr lang="en-US" altLang="zh-CN" sz="2000">
                <a:solidFill>
                  <a:srgbClr val="00B050"/>
                </a:solidFill>
                <a:latin typeface="+mn-ea"/>
              </a:rPr>
              <a:t>#</a:t>
            </a:r>
            <a:r>
              <a:rPr lang="zh-CN" altLang="en-US" sz="2000">
                <a:solidFill>
                  <a:srgbClr val="00B050"/>
                </a:solidFill>
                <a:latin typeface="+mn-ea"/>
              </a:rPr>
              <a:t>求</a:t>
            </a:r>
            <a:r>
              <a:rPr lang="en-US" altLang="zh-CN" sz="2000">
                <a:solidFill>
                  <a:srgbClr val="00B050"/>
                </a:solidFill>
                <a:latin typeface="+mn-ea"/>
              </a:rPr>
              <a:t>4</a:t>
            </a:r>
            <a:r>
              <a:rPr lang="zh-CN" altLang="en-US" sz="2000">
                <a:solidFill>
                  <a:srgbClr val="00B050"/>
                </a:solidFill>
                <a:latin typeface="+mn-ea"/>
              </a:rPr>
              <a:t>的平方根</a:t>
            </a:r>
            <a:endParaRPr lang="en-US" altLang="zh-CN" sz="2000">
              <a:solidFill>
                <a:srgbClr val="00B050"/>
              </a:solidFill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sz="2000">
                <a:solidFill>
                  <a:srgbClr val="00B0F0"/>
                </a:solidFill>
                <a:latin typeface="+mn-ea"/>
              </a:rPr>
              <a:t>2.0</a:t>
            </a:r>
            <a:endParaRPr lang="en-US" altLang="zh-CN" sz="20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9</a:t>
            </a:fld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51520" y="2996952"/>
            <a:ext cx="6984776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6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7824" y="404664"/>
            <a:ext cx="4824536" cy="1325563"/>
          </a:xfrm>
        </p:spPr>
        <p:txBody>
          <a:bodyPr>
            <a:normAutofit/>
          </a:bodyPr>
          <a:lstStyle/>
          <a:p>
            <a:r>
              <a:rPr lang="en-US" altLang="zh-CN" sz="3600"/>
              <a:t>import </a:t>
            </a:r>
            <a:r>
              <a:rPr lang="zh-CN" altLang="en-US" sz="3600"/>
              <a:t>模块名 </a:t>
            </a:r>
            <a:r>
              <a:rPr lang="en-US" altLang="zh-CN" sz="3600"/>
              <a:t>[as </a:t>
            </a:r>
            <a:r>
              <a:rPr lang="zh-CN" altLang="en-US" sz="3600"/>
              <a:t>别名</a:t>
            </a:r>
            <a:r>
              <a:rPr lang="en-US" altLang="zh-CN" sz="3600"/>
              <a:t>]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330" y="2090056"/>
            <a:ext cx="8586316" cy="334339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import random                  </a:t>
            </a:r>
            <a:r>
              <a:rPr lang="en-US" altLang="zh-CN" sz="2400" dirty="0">
                <a:latin typeface="+mn-ea"/>
              </a:rPr>
              <a:t>		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#导入标准库random</a:t>
            </a:r>
            <a:endParaRPr lang="en-US" altLang="zh-CN" sz="2000" dirty="0">
              <a:solidFill>
                <a:srgbClr val="00B050"/>
              </a:solidFill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zh-CN" altLang="en-US" sz="2000" dirty="0">
              <a:solidFill>
                <a:srgbClr val="00B050"/>
              </a:solidFill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n = random.random()           </a:t>
            </a:r>
            <a:r>
              <a:rPr lang="en-US" altLang="zh-CN" sz="2400" dirty="0">
                <a:latin typeface="+mn-ea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#获得[0,1) 内的随机小数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n = random.rand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2000" dirty="0">
                <a:latin typeface="+mn-ea"/>
              </a:rPr>
              <a:t>(1,100)      </a:t>
            </a:r>
            <a:r>
              <a:rPr lang="en-US" altLang="zh-CN" sz="2400" dirty="0">
                <a:latin typeface="+mn-ea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#获得[1,100]区间上的随机整数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+mn-ea"/>
              </a:rPr>
              <a:t>&gt;&gt;&gt; n = random.rand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range</a:t>
            </a:r>
            <a:r>
              <a:rPr lang="zh-CN" altLang="en-US" sz="2000" dirty="0">
                <a:latin typeface="+mn-ea"/>
              </a:rPr>
              <a:t>(1, 100</a:t>
            </a:r>
            <a:r>
              <a:rPr lang="en-US" altLang="zh-CN" sz="2000" dirty="0">
                <a:latin typeface="+mn-ea"/>
              </a:rPr>
              <a:t>, 3 </a:t>
            </a:r>
            <a:r>
              <a:rPr lang="zh-CN" altLang="en-US" sz="2000" dirty="0">
                <a:latin typeface="+mn-ea"/>
              </a:rPr>
              <a:t>)   </a:t>
            </a:r>
            <a:r>
              <a:rPr lang="en-US" altLang="zh-CN" sz="2400" dirty="0">
                <a:latin typeface="+mn-ea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#返回[1, 100)区间中的随机整数</a:t>
            </a:r>
            <a:endParaRPr lang="en-US" altLang="zh-CN" sz="2000" dirty="0">
              <a:solidFill>
                <a:srgbClr val="00B050"/>
              </a:solidFill>
              <a:latin typeface="+mn-ea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B050"/>
                </a:solidFill>
                <a:latin typeface="+mn-ea"/>
              </a:rPr>
              <a:t>                                                                        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第</a:t>
            </a:r>
            <a:r>
              <a:rPr lang="en-US" altLang="zh-CN" sz="2000" dirty="0">
                <a:solidFill>
                  <a:srgbClr val="00B05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个参数控制间隔数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51520" y="3068960"/>
            <a:ext cx="7848872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71600" y="713502"/>
            <a:ext cx="172354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格式一</a:t>
            </a:r>
          </a:p>
        </p:txBody>
      </p:sp>
      <p:sp>
        <p:nvSpPr>
          <p:cNvPr id="6" name="矩形 5"/>
          <p:cNvSpPr/>
          <p:nvPr/>
        </p:nvSpPr>
        <p:spPr>
          <a:xfrm>
            <a:off x="409149" y="5454845"/>
            <a:ext cx="3082731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&gt;&gt;&gt; print(list(</a:t>
            </a:r>
            <a:r>
              <a:rPr lang="zh-CN" altLang="en-US">
                <a:solidFill>
                  <a:srgbClr val="FF0000"/>
                </a:solidFill>
              </a:rPr>
              <a:t>range</a:t>
            </a:r>
            <a:r>
              <a:rPr lang="zh-CN" altLang="en-US"/>
              <a:t>(0,10,2)))</a:t>
            </a:r>
          </a:p>
          <a:p>
            <a:pPr>
              <a:lnSpc>
                <a:spcPct val="150000"/>
              </a:lnSpc>
            </a:pPr>
            <a:r>
              <a:rPr lang="zh-CN" altLang="en-US"/>
              <a:t>[0, 2, 4, 6, 8]</a:t>
            </a:r>
          </a:p>
        </p:txBody>
      </p:sp>
      <p:sp>
        <p:nvSpPr>
          <p:cNvPr id="8" name="矩形 7"/>
          <p:cNvSpPr/>
          <p:nvPr/>
        </p:nvSpPr>
        <p:spPr>
          <a:xfrm>
            <a:off x="4139952" y="5433450"/>
            <a:ext cx="374441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&gt;&gt;&gt; print(</a:t>
            </a:r>
            <a:r>
              <a:rPr lang="zh-CN" altLang="en-US">
                <a:solidFill>
                  <a:srgbClr val="FF0000"/>
                </a:solidFill>
              </a:rPr>
              <a:t>random.randrange</a:t>
            </a:r>
            <a:r>
              <a:rPr lang="zh-CN" altLang="en-US"/>
              <a:t>(0,10,2))</a:t>
            </a:r>
          </a:p>
          <a:p>
            <a:pPr>
              <a:lnSpc>
                <a:spcPct val="150000"/>
              </a:lnSpc>
            </a:pPr>
            <a:r>
              <a:rPr lang="zh-CN" alt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9038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3768" y="410368"/>
            <a:ext cx="6463630" cy="1325563"/>
          </a:xfrm>
        </p:spPr>
        <p:txBody>
          <a:bodyPr>
            <a:normAutofit/>
          </a:bodyPr>
          <a:lstStyle/>
          <a:p>
            <a:r>
              <a:rPr lang="zh-CN" altLang="en-US" sz="3200"/>
              <a:t>from </a:t>
            </a:r>
            <a:r>
              <a:rPr lang="zh-CN" altLang="en-US" sz="3200" dirty="0"/>
              <a:t>模块名 import 对象名[ as 别名]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580" y="1825625"/>
            <a:ext cx="895810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from math import sin         #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只导入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模块中的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指定对象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，访问速度略快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sin(3)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0.1411200080598672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from math import sin as f    #给导入的对象起个别名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f(3)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0.1411200080598672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11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51520" y="2636912"/>
            <a:ext cx="8424936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39552" y="692696"/>
            <a:ext cx="172354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格式二</a:t>
            </a:r>
          </a:p>
        </p:txBody>
      </p:sp>
    </p:spTree>
    <p:extLst>
      <p:ext uri="{BB962C8B-B14F-4D97-AF65-F5344CB8AC3E}">
        <p14:creationId xmlns:p14="http://schemas.microsoft.com/office/powerpoint/2010/main" val="106578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7824" y="311849"/>
            <a:ext cx="4807446" cy="1325563"/>
          </a:xfrm>
        </p:spPr>
        <p:txBody>
          <a:bodyPr>
            <a:normAutofit/>
          </a:bodyPr>
          <a:lstStyle/>
          <a:p>
            <a:r>
              <a:rPr lang="zh-CN" altLang="en-US" sz="4000"/>
              <a:t>from 模块名 import </a:t>
            </a:r>
            <a:r>
              <a:rPr lang="zh-CN" altLang="en-US" sz="4000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from math import *         #导入标准库math中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所有对象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sin(3)                     #求正弦值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0.1411200080598672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pi                         #常数π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3.141592653589793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e                          #常数e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2.718281828459045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log2(8)                    #计算以2为底的对数值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log10(100)                 #计算以10为底的对数值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12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23528" y="2276872"/>
            <a:ext cx="7848872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52369" y="620688"/>
            <a:ext cx="17299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D5D150-C486-4E52-830D-FE31875AA70D}"/>
              </a:ext>
            </a:extLst>
          </p:cNvPr>
          <p:cNvSpPr txBox="1"/>
          <p:nvPr/>
        </p:nvSpPr>
        <p:spPr>
          <a:xfrm>
            <a:off x="4970121" y="2773923"/>
            <a:ext cx="35573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这样不需要再</a:t>
            </a:r>
            <a:r>
              <a:rPr lang="en-US" altLang="zh-CN" sz="2000" b="1" dirty="0">
                <a:solidFill>
                  <a:srgbClr val="FF0000"/>
                </a:solidFill>
              </a:rPr>
              <a:t>sin</a:t>
            </a:r>
            <a:r>
              <a:rPr lang="zh-CN" altLang="en-US" sz="2000" b="1" dirty="0">
                <a:solidFill>
                  <a:srgbClr val="FF0000"/>
                </a:solidFill>
              </a:rPr>
              <a:t>前面写模块名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即</a:t>
            </a:r>
            <a:r>
              <a:rPr lang="en-US" altLang="zh-CN" sz="2000" b="1" dirty="0" err="1">
                <a:solidFill>
                  <a:srgbClr val="FF0000"/>
                </a:solidFill>
              </a:rPr>
              <a:t>math.sin</a:t>
            </a:r>
            <a:r>
              <a:rPr lang="en-US" altLang="zh-CN" sz="2000" b="1" dirty="0">
                <a:solidFill>
                  <a:srgbClr val="FF0000"/>
                </a:solidFill>
              </a:rPr>
              <a:t>(3)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74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3578" y="264642"/>
            <a:ext cx="7886700" cy="1061740"/>
          </a:xfrm>
        </p:spPr>
        <p:txBody>
          <a:bodyPr>
            <a:normAutofit/>
          </a:bodyPr>
          <a:lstStyle/>
          <a:p>
            <a:r>
              <a:rPr lang="zh-CN" altLang="en-US" sz="3200"/>
              <a:t>综合案例</a:t>
            </a:r>
            <a:r>
              <a:rPr lang="en-US" altLang="zh-CN" sz="3200"/>
              <a:t>6</a:t>
            </a:r>
            <a:r>
              <a:rPr lang="zh-CN" altLang="en-US" sz="3200"/>
              <a:t>：</a:t>
            </a:r>
            <a:r>
              <a:rPr lang="zh-CN" altLang="en-US" sz="3200" dirty="0"/>
              <a:t>输入三角形边长，求面积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579" y="1668025"/>
            <a:ext cx="8329454" cy="5034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math		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导入数学库</a:t>
            </a:r>
            <a:endParaRPr lang="en-US" altLang="zh-CN" sz="2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 = eval(input("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边长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"))</a:t>
            </a:r>
          </a:p>
          <a:p>
            <a:pPr marL="0" indent="0"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b= eval(input("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边长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"))</a:t>
            </a:r>
          </a:p>
          <a:p>
            <a:pPr marL="0" indent="0"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 = eval(input("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请输入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边长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"))</a:t>
            </a:r>
          </a:p>
          <a:p>
            <a:pPr marL="0" indent="0"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(a + b + c)/2</a:t>
            </a:r>
          </a:p>
          <a:p>
            <a:pPr marL="0" indent="0"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area =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(s*(s-a)*(s-b)*(s-c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))        </a:t>
            </a:r>
            <a:r>
              <a:rPr lang="en-US" altLang="zh-CN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2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zh-CN" altLang="en-US" sz="2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开根号</a:t>
            </a:r>
            <a:endParaRPr lang="en-US" altLang="zh-CN" sz="2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print("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三角形的边长：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",a,b,c)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三角形的面积：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',area)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159363-1BAB-4EE6-9219-CEE72211D9AE}"/>
              </a:ext>
            </a:extLst>
          </p:cNvPr>
          <p:cNvSpPr txBox="1"/>
          <p:nvPr/>
        </p:nvSpPr>
        <p:spPr>
          <a:xfrm>
            <a:off x="5796136" y="5733256"/>
            <a:ext cx="2623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</a:rPr>
              <a:t>sq</a:t>
            </a:r>
            <a:r>
              <a:rPr lang="en-US" altLang="zh-CN" sz="2400" dirty="0">
                <a:solidFill>
                  <a:srgbClr val="FF0000"/>
                </a:solidFill>
              </a:rPr>
              <a:t>uare </a:t>
            </a:r>
            <a:r>
              <a:rPr lang="en-US" altLang="zh-CN" sz="2400" dirty="0">
                <a:solidFill>
                  <a:srgbClr val="000066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oo</a:t>
            </a:r>
            <a:r>
              <a:rPr lang="en-US" altLang="zh-CN" sz="2400" dirty="0">
                <a:solidFill>
                  <a:srgbClr val="000066"/>
                </a:solidFill>
              </a:rPr>
              <a:t>t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平方根</a:t>
            </a:r>
          </a:p>
        </p:txBody>
      </p:sp>
    </p:spTree>
    <p:extLst>
      <p:ext uri="{BB962C8B-B14F-4D97-AF65-F5344CB8AC3E}">
        <p14:creationId xmlns:p14="http://schemas.microsoft.com/office/powerpoint/2010/main" val="11959422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400"/>
              <a:t>下列属于</a:t>
            </a:r>
            <a:r>
              <a:rPr lang="en-US" altLang="zh-CN" sz="2400"/>
              <a:t>math</a:t>
            </a:r>
            <a:r>
              <a:rPr lang="zh-CN" altLang="zh-CN" sz="2400"/>
              <a:t>库中的数学函数的是（</a:t>
            </a:r>
            <a:r>
              <a:rPr lang="en-US" altLang="zh-CN" sz="2400"/>
              <a:t>      </a:t>
            </a:r>
            <a:r>
              <a:rPr lang="zh-CN" altLang="zh-CN" sz="2400"/>
              <a:t>）。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abs()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round()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sqrt()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1519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/>
              <a:t>random()</a:t>
            </a:r>
            <a:endParaRPr lang="zh-CN" altLang="en-US" sz="32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线形标注 1 21"/>
          <p:cNvSpPr/>
          <p:nvPr/>
        </p:nvSpPr>
        <p:spPr>
          <a:xfrm>
            <a:off x="5580112" y="3212976"/>
            <a:ext cx="1872208" cy="792088"/>
          </a:xfrm>
          <a:prstGeom prst="borderCallout1">
            <a:avLst>
              <a:gd name="adj1" fmla="val 18750"/>
              <a:gd name="adj2" fmla="val -8333"/>
              <a:gd name="adj3" fmla="val 97004"/>
              <a:gd name="adj4" fmla="val -1428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/>
              <a:t>内置函数</a:t>
            </a:r>
          </a:p>
        </p:txBody>
      </p:sp>
      <p:sp>
        <p:nvSpPr>
          <p:cNvPr id="23" name="线形标注 1 22"/>
          <p:cNvSpPr/>
          <p:nvPr/>
        </p:nvSpPr>
        <p:spPr>
          <a:xfrm>
            <a:off x="5722392" y="4887193"/>
            <a:ext cx="1872208" cy="792088"/>
          </a:xfrm>
          <a:prstGeom prst="borderCallout1">
            <a:avLst>
              <a:gd name="adj1" fmla="val 18750"/>
              <a:gd name="adj2" fmla="val -8333"/>
              <a:gd name="adj3" fmla="val 97004"/>
              <a:gd name="adj4" fmla="val -1428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+mn-ea"/>
              </a:rPr>
              <a:t>random库</a:t>
            </a:r>
            <a:endParaRPr lang="zh-CN" altLang="en-US" sz="2400" b="1"/>
          </a:p>
        </p:txBody>
      </p:sp>
      <p:cxnSp>
        <p:nvCxnSpPr>
          <p:cNvPr id="3" name="直接连接符 2"/>
          <p:cNvCxnSpPr/>
          <p:nvPr/>
        </p:nvCxnSpPr>
        <p:spPr>
          <a:xfrm flipH="1" flipV="1">
            <a:off x="2771800" y="3140968"/>
            <a:ext cx="2664296" cy="22373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0B866D7-1EFD-4477-B3D3-221A3A5F85A8}"/>
              </a:ext>
            </a:extLst>
          </p:cNvPr>
          <p:cNvSpPr txBox="1"/>
          <p:nvPr/>
        </p:nvSpPr>
        <p:spPr>
          <a:xfrm>
            <a:off x="800100" y="62572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简要介绍，除</a:t>
            </a:r>
            <a:r>
              <a:rPr lang="en-US" altLang="zh-CN" dirty="0" err="1">
                <a:solidFill>
                  <a:srgbClr val="FF0000"/>
                </a:solidFill>
              </a:rPr>
              <a:t>math.sqrt</a:t>
            </a:r>
            <a:r>
              <a:rPr lang="zh-CN" altLang="en-US" dirty="0">
                <a:solidFill>
                  <a:srgbClr val="FF0000"/>
                </a:solidFill>
              </a:rPr>
              <a:t>外不考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87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 24"/>
          <p:cNvSpPr/>
          <p:nvPr/>
        </p:nvSpPr>
        <p:spPr>
          <a:xfrm>
            <a:off x="1900932" y="4799661"/>
            <a:ext cx="1202335" cy="460406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/>
              <a:t>math</a:t>
            </a:r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7278399" y="4121402"/>
            <a:ext cx="91440" cy="6650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665065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/>
          <p:cNvSpPr/>
          <p:nvPr/>
        </p:nvSpPr>
        <p:spPr>
          <a:xfrm>
            <a:off x="4623736" y="2548267"/>
            <a:ext cx="2482725" cy="6650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96481"/>
                </a:lnTo>
                <a:lnTo>
                  <a:pt x="2237017" y="396481"/>
                </a:lnTo>
                <a:lnTo>
                  <a:pt x="2237017" y="665065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任意多边形 8"/>
          <p:cNvSpPr/>
          <p:nvPr/>
        </p:nvSpPr>
        <p:spPr>
          <a:xfrm>
            <a:off x="2386718" y="4148740"/>
            <a:ext cx="3064122" cy="6650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96481"/>
                </a:lnTo>
                <a:lnTo>
                  <a:pt x="1491345" y="396481"/>
                </a:lnTo>
                <a:lnTo>
                  <a:pt x="1491345" y="665065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任意多边形 9"/>
          <p:cNvSpPr/>
          <p:nvPr/>
        </p:nvSpPr>
        <p:spPr>
          <a:xfrm>
            <a:off x="895373" y="4148740"/>
            <a:ext cx="1491345" cy="6650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91345" y="0"/>
                </a:moveTo>
                <a:lnTo>
                  <a:pt x="1491345" y="396481"/>
                </a:lnTo>
                <a:lnTo>
                  <a:pt x="0" y="396481"/>
                </a:lnTo>
                <a:lnTo>
                  <a:pt x="0" y="665065"/>
                </a:lnTo>
              </a:path>
            </a:pathLst>
          </a:custGeom>
          <a:noFill/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任意多边形 10"/>
          <p:cNvSpPr/>
          <p:nvPr/>
        </p:nvSpPr>
        <p:spPr>
          <a:xfrm>
            <a:off x="2386718" y="2548267"/>
            <a:ext cx="2237017" cy="66506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237017" y="0"/>
                </a:moveTo>
                <a:lnTo>
                  <a:pt x="2237017" y="396481"/>
                </a:lnTo>
                <a:lnTo>
                  <a:pt x="0" y="396481"/>
                </a:lnTo>
                <a:lnTo>
                  <a:pt x="0" y="665065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任意多边形 11"/>
          <p:cNvSpPr/>
          <p:nvPr/>
        </p:nvSpPr>
        <p:spPr>
          <a:xfrm>
            <a:off x="3714595" y="1916832"/>
            <a:ext cx="1818280" cy="681587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6243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000" kern="1200"/>
              <a:t>Python</a:t>
            </a:r>
            <a:r>
              <a:rPr lang="zh-CN" altLang="en-US" sz="2000" kern="1200"/>
              <a:t>库</a:t>
            </a:r>
          </a:p>
        </p:txBody>
      </p:sp>
      <p:sp>
        <p:nvSpPr>
          <p:cNvPr id="14" name="任意多边形 13"/>
          <p:cNvSpPr/>
          <p:nvPr/>
        </p:nvSpPr>
        <p:spPr>
          <a:xfrm>
            <a:off x="1418726" y="3213332"/>
            <a:ext cx="1886422" cy="787071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lvl="0"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/>
              <a:t>标准库</a:t>
            </a:r>
          </a:p>
        </p:txBody>
      </p:sp>
      <p:sp>
        <p:nvSpPr>
          <p:cNvPr id="15" name="任意多边形 14"/>
          <p:cNvSpPr/>
          <p:nvPr/>
        </p:nvSpPr>
        <p:spPr>
          <a:xfrm>
            <a:off x="1652844" y="3711558"/>
            <a:ext cx="2804432" cy="409844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lvl="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 kern="1200">
                <a:latin typeface="微软雅黑" panose="020B0503020204020204" pitchFamily="34" charset="-122"/>
                <a:ea typeface="微软雅黑" panose="020B0503020204020204" pitchFamily="34" charset="-122"/>
              </a:rPr>
              <a:t>Python默认安装的基本或核心模块</a:t>
            </a:r>
            <a:endParaRPr lang="zh-CN" altLang="en-US" sz="1400" kern="1200"/>
          </a:p>
        </p:txBody>
      </p:sp>
      <p:sp>
        <p:nvSpPr>
          <p:cNvPr id="16" name="任意多边形 15"/>
          <p:cNvSpPr/>
          <p:nvPr/>
        </p:nvSpPr>
        <p:spPr>
          <a:xfrm>
            <a:off x="149240" y="4799661"/>
            <a:ext cx="1324427" cy="467082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/>
              <a:t>builtins</a:t>
            </a:r>
            <a:endParaRPr lang="zh-CN" altLang="en-US" sz="2400"/>
          </a:p>
        </p:txBody>
      </p:sp>
      <p:sp>
        <p:nvSpPr>
          <p:cNvPr id="18" name="任意多边形 17"/>
          <p:cNvSpPr/>
          <p:nvPr/>
        </p:nvSpPr>
        <p:spPr>
          <a:xfrm>
            <a:off x="4791573" y="4801610"/>
            <a:ext cx="1282953" cy="504720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/>
              <a:t>random</a:t>
            </a:r>
            <a:endParaRPr lang="zh-CN" altLang="en-US" sz="2400"/>
          </a:p>
        </p:txBody>
      </p:sp>
      <p:sp>
        <p:nvSpPr>
          <p:cNvPr id="19" name="任意多边形 18"/>
          <p:cNvSpPr/>
          <p:nvPr/>
        </p:nvSpPr>
        <p:spPr>
          <a:xfrm>
            <a:off x="4950793" y="5182434"/>
            <a:ext cx="1648513" cy="1318409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500" tIns="15875" rIns="63500" bIns="15875" numCol="1" spcCol="1270" anchor="ctr" anchorCtr="0">
            <a:noAutofit/>
          </a:bodyPr>
          <a:lstStyle/>
          <a:p>
            <a:pPr defTabSz="11112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latin typeface="+mn-ea"/>
              </a:rPr>
              <a:t>先导入</a:t>
            </a:r>
            <a:endParaRPr lang="en-US" altLang="zh-CN" sz="1400">
              <a:latin typeface="+mn-ea"/>
            </a:endParaRPr>
          </a:p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600">
                <a:latin typeface="+mn-ea"/>
              </a:rPr>
              <a:t>import random</a:t>
            </a:r>
          </a:p>
          <a:p>
            <a:pPr defTabSz="11112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latin typeface="+mn-ea"/>
              </a:rPr>
              <a:t>再使用</a:t>
            </a:r>
            <a:endParaRPr lang="en-US" altLang="zh-CN" sz="1400">
              <a:latin typeface="+mn-ea"/>
            </a:endParaRPr>
          </a:p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>
                <a:latin typeface="+mn-ea"/>
              </a:rPr>
              <a:t>random.random()</a:t>
            </a:r>
            <a:endParaRPr lang="zh-CN" altLang="en-US" sz="1600" kern="1200"/>
          </a:p>
        </p:txBody>
      </p:sp>
      <p:sp>
        <p:nvSpPr>
          <p:cNvPr id="20" name="任意多边形 19"/>
          <p:cNvSpPr/>
          <p:nvPr/>
        </p:nvSpPr>
        <p:spPr>
          <a:xfrm>
            <a:off x="6242365" y="3207082"/>
            <a:ext cx="2074918" cy="787070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/>
              <a:t>扩展库</a:t>
            </a:r>
          </a:p>
        </p:txBody>
      </p:sp>
      <p:sp>
        <p:nvSpPr>
          <p:cNvPr id="21" name="任意多边形 20"/>
          <p:cNvSpPr/>
          <p:nvPr/>
        </p:nvSpPr>
        <p:spPr>
          <a:xfrm>
            <a:off x="6602405" y="3724634"/>
            <a:ext cx="2367939" cy="383691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lvl="0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需要使用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pip install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命令安装</a:t>
            </a:r>
          </a:p>
        </p:txBody>
      </p:sp>
      <p:sp>
        <p:nvSpPr>
          <p:cNvPr id="22" name="任意多边形 21"/>
          <p:cNvSpPr/>
          <p:nvPr/>
        </p:nvSpPr>
        <p:spPr>
          <a:xfrm>
            <a:off x="6905339" y="4511540"/>
            <a:ext cx="2072069" cy="855070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/>
              <a:t>例，</a:t>
            </a:r>
            <a:r>
              <a:rPr lang="en-US" altLang="zh-CN"/>
              <a:t>pillow</a:t>
            </a:r>
          </a:p>
          <a:p>
            <a:pPr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/>
              <a:t>第三方图像处理库</a:t>
            </a:r>
            <a:endParaRPr lang="en-US" altLang="zh-CN" sz="1600"/>
          </a:p>
        </p:txBody>
      </p:sp>
      <p:sp>
        <p:nvSpPr>
          <p:cNvPr id="23" name="任意多边形 22"/>
          <p:cNvSpPr/>
          <p:nvPr/>
        </p:nvSpPr>
        <p:spPr>
          <a:xfrm>
            <a:off x="7303923" y="5183181"/>
            <a:ext cx="1712029" cy="1376603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500" tIns="15875" rIns="63500" bIns="15875" numCol="1" spcCol="1270" anchor="ctr" anchorCtr="0">
            <a:noAutofit/>
          </a:bodyPr>
          <a:lstStyle/>
          <a:p>
            <a:pPr defTabSz="4000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先安装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00050">
              <a:spcBef>
                <a:spcPct val="0"/>
              </a:spcBef>
              <a:spcAft>
                <a:spcPct val="35000"/>
              </a:spcAft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pip3 install pillow</a:t>
            </a:r>
          </a:p>
          <a:p>
            <a:pPr defTabSz="4000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然后导入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</a:t>
            </a:r>
          </a:p>
          <a:p>
            <a:pPr defTabSz="400050"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再使用模块的函数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2055157" y="5183181"/>
            <a:ext cx="1396588" cy="1275273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500" tIns="15875" rIns="63500" bIns="15875" numCol="1" spcCol="1270" anchor="ctr" anchorCtr="0">
            <a:noAutofit/>
          </a:bodyPr>
          <a:lstStyle/>
          <a:p>
            <a:pPr defTabSz="111125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latin typeface="+mn-ea"/>
              </a:rPr>
              <a:t>先导入</a:t>
            </a:r>
            <a:endParaRPr lang="en-US" altLang="zh-CN" sz="1400">
              <a:latin typeface="+mn-ea"/>
            </a:endParaRPr>
          </a:p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600" kern="1200">
                <a:latin typeface="+mn-ea"/>
              </a:rPr>
              <a:t>import math</a:t>
            </a:r>
          </a:p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+mn-ea"/>
              </a:rPr>
              <a:t>再使用</a:t>
            </a:r>
            <a:endParaRPr lang="en-US" altLang="zh-CN" sz="1600">
              <a:latin typeface="+mn-ea"/>
            </a:endParaRPr>
          </a:p>
          <a:p>
            <a:pPr lvl="0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600" kern="1200">
                <a:latin typeface="+mn-ea"/>
              </a:rPr>
              <a:t>math.sqrt(2)</a:t>
            </a:r>
            <a:endParaRPr lang="zh-CN" altLang="en-US" sz="1600" kern="1200">
              <a:latin typeface="+mn-ea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3525634" y="4805045"/>
            <a:ext cx="917461" cy="401890"/>
          </a:xfrm>
          <a:custGeom>
            <a:avLst/>
            <a:gdLst>
              <a:gd name="connsiteX0" fmla="*/ 0 w 2223201"/>
              <a:gd name="connsiteY0" fmla="*/ 0 h 1151075"/>
              <a:gd name="connsiteX1" fmla="*/ 2223201 w 2223201"/>
              <a:gd name="connsiteY1" fmla="*/ 0 h 1151075"/>
              <a:gd name="connsiteX2" fmla="*/ 2223201 w 2223201"/>
              <a:gd name="connsiteY2" fmla="*/ 1151075 h 1151075"/>
              <a:gd name="connsiteX3" fmla="*/ 0 w 2223201"/>
              <a:gd name="connsiteY3" fmla="*/ 1151075 h 1151075"/>
              <a:gd name="connsiteX4" fmla="*/ 0 w 2223201"/>
              <a:gd name="connsiteY4" fmla="*/ 0 h 115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201" h="1151075">
                <a:moveTo>
                  <a:pt x="0" y="0"/>
                </a:moveTo>
                <a:lnTo>
                  <a:pt x="2223201" y="0"/>
                </a:lnTo>
                <a:lnTo>
                  <a:pt x="2223201" y="1151075"/>
                </a:lnTo>
                <a:lnTo>
                  <a:pt x="0" y="115107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560" tIns="35560" rIns="35560" bIns="162430" numCol="1" spcCol="1270" anchor="ctr" anchorCtr="0">
            <a:noAutofit/>
          </a:bodyPr>
          <a:lstStyle/>
          <a:p>
            <a:pPr algn="ctr" defTabSz="2489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/>
              <a:t>......</a:t>
            </a:r>
            <a:endParaRPr lang="zh-CN" altLang="en-US" sz="2400"/>
          </a:p>
        </p:txBody>
      </p:sp>
      <p:sp>
        <p:nvSpPr>
          <p:cNvPr id="26" name="任意多边形 25"/>
          <p:cNvSpPr/>
          <p:nvPr/>
        </p:nvSpPr>
        <p:spPr>
          <a:xfrm>
            <a:off x="353169" y="5197074"/>
            <a:ext cx="1396588" cy="1261380"/>
          </a:xfrm>
          <a:custGeom>
            <a:avLst/>
            <a:gdLst>
              <a:gd name="connsiteX0" fmla="*/ 0 w 2000881"/>
              <a:gd name="connsiteY0" fmla="*/ 0 h 383691"/>
              <a:gd name="connsiteX1" fmla="*/ 2000881 w 2000881"/>
              <a:gd name="connsiteY1" fmla="*/ 0 h 383691"/>
              <a:gd name="connsiteX2" fmla="*/ 2000881 w 2000881"/>
              <a:gd name="connsiteY2" fmla="*/ 383691 h 383691"/>
              <a:gd name="connsiteX3" fmla="*/ 0 w 2000881"/>
              <a:gd name="connsiteY3" fmla="*/ 383691 h 383691"/>
              <a:gd name="connsiteX4" fmla="*/ 0 w 2000881"/>
              <a:gd name="connsiteY4" fmla="*/ 0 h 38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0881" h="383691">
                <a:moveTo>
                  <a:pt x="0" y="0"/>
                </a:moveTo>
                <a:lnTo>
                  <a:pt x="2000881" y="0"/>
                </a:lnTo>
                <a:lnTo>
                  <a:pt x="2000881" y="383691"/>
                </a:lnTo>
                <a:lnTo>
                  <a:pt x="0" y="3836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90000"/>
            </a:schemeClr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3500" tIns="15875" rIns="63500" bIns="15875" numCol="1" spcCol="1270" anchor="ctr" anchorCtr="0">
            <a:noAutofit/>
          </a:bodyPr>
          <a:lstStyle/>
          <a:p>
            <a:pPr lvl="0" defTabSz="1111250">
              <a:spcBef>
                <a:spcPct val="0"/>
              </a:spcBef>
              <a:spcAft>
                <a:spcPct val="35000"/>
              </a:spcAft>
            </a:pPr>
            <a:r>
              <a:rPr lang="zh-CN" altLang="en-US" sz="1400" kern="1200">
                <a:latin typeface="+mn-ea"/>
              </a:rPr>
              <a:t>包括内置函数</a:t>
            </a:r>
            <a:r>
              <a:rPr lang="en-US" altLang="zh-CN" sz="1400" kern="1200">
                <a:latin typeface="+mn-ea"/>
              </a:rPr>
              <a:t>print</a:t>
            </a:r>
            <a:r>
              <a:rPr lang="zh-CN" altLang="en-US" sz="1400" kern="1200">
                <a:latin typeface="+mn-ea"/>
              </a:rPr>
              <a:t>、</a:t>
            </a:r>
            <a:r>
              <a:rPr lang="en-US" altLang="zh-CN" sz="1400">
                <a:latin typeface="+mn-ea"/>
              </a:rPr>
              <a:t>abs</a:t>
            </a:r>
            <a:r>
              <a:rPr lang="zh-CN" altLang="en-US" sz="1400" kern="1200">
                <a:latin typeface="+mn-ea"/>
              </a:rPr>
              <a:t>等，可</a:t>
            </a:r>
            <a:r>
              <a:rPr lang="zh-CN" altLang="en-US" sz="1400">
                <a:latin typeface="+mn-ea"/>
              </a:rPr>
              <a:t>直接使用：</a:t>
            </a:r>
            <a:endParaRPr lang="en-US" altLang="zh-CN" sz="1400">
              <a:latin typeface="+mn-ea"/>
            </a:endParaRPr>
          </a:p>
          <a:p>
            <a:pPr lvl="0" defTabSz="1111250">
              <a:spcBef>
                <a:spcPct val="0"/>
              </a:spcBef>
              <a:spcAft>
                <a:spcPct val="35000"/>
              </a:spcAft>
            </a:pPr>
            <a:r>
              <a:rPr lang="en-US" altLang="zh-CN" sz="1400" kern="1200">
                <a:latin typeface="+mn-ea"/>
              </a:rPr>
              <a:t>print(2+3)</a:t>
            </a:r>
            <a:endParaRPr lang="zh-CN" altLang="en-US" sz="1400" kern="1200">
              <a:latin typeface="+mn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2386718" y="4529440"/>
            <a:ext cx="0" cy="277347"/>
          </a:xfrm>
          <a:prstGeom prst="line">
            <a:avLst/>
          </a:prstGeom>
          <a:ln w="127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5436096" y="4561333"/>
            <a:ext cx="0" cy="277347"/>
          </a:xfrm>
          <a:prstGeom prst="line">
            <a:avLst/>
          </a:prstGeom>
          <a:ln w="127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51920" y="4550648"/>
            <a:ext cx="159892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CF013B9-2C95-4344-962C-7666D8FD9E6D}"/>
              </a:ext>
            </a:extLst>
          </p:cNvPr>
          <p:cNvSpPr txBox="1"/>
          <p:nvPr/>
        </p:nvSpPr>
        <p:spPr>
          <a:xfrm>
            <a:off x="5076056" y="548680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built-in function </a:t>
            </a:r>
            <a:r>
              <a:rPr lang="zh-CN" altLang="en-US" dirty="0"/>
              <a:t>内置函数</a:t>
            </a:r>
          </a:p>
        </p:txBody>
      </p:sp>
    </p:spTree>
    <p:extLst>
      <p:ext uri="{BB962C8B-B14F-4D97-AF65-F5344CB8AC3E}">
        <p14:creationId xmlns:p14="http://schemas.microsoft.com/office/powerpoint/2010/main" val="4106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7" grpId="0" animBg="1"/>
      <p:bldP spid="24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2387600"/>
          </a:xfrm>
        </p:spPr>
        <p:txBody>
          <a:bodyPr/>
          <a:lstStyle/>
          <a:p>
            <a:r>
              <a:rPr lang="en-US" altLang="zh-CN" b="1">
                <a:solidFill>
                  <a:srgbClr val="245794"/>
                </a:solidFill>
              </a:rPr>
              <a:t>1.6  </a:t>
            </a:r>
            <a:r>
              <a:rPr lang="zh-CN" altLang="zh-CN" b="1">
                <a:solidFill>
                  <a:srgbClr val="245794"/>
                </a:solidFill>
              </a:rPr>
              <a:t>基本运算</a:t>
            </a:r>
            <a:endParaRPr lang="zh-CN" altLang="en-US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1907704" y="3789040"/>
            <a:ext cx="5832648" cy="1468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+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（加）、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-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（减）、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*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（乘）、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/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（除）</a:t>
            </a:r>
            <a:endParaRPr lang="en-US" altLang="zh-CN" sz="2000">
              <a:solidFill>
                <a:srgbClr val="245794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245794"/>
                </a:solidFill>
                <a:latin typeface="+mn-ea"/>
              </a:rPr>
              <a:t>//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（整除）、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%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（求余）、</a:t>
            </a:r>
            <a:r>
              <a:rPr lang="en-US" altLang="zh-CN" sz="2000">
                <a:solidFill>
                  <a:srgbClr val="245794"/>
                </a:solidFill>
                <a:latin typeface="+mn-ea"/>
              </a:rPr>
              <a:t>**</a:t>
            </a:r>
            <a:r>
              <a:rPr lang="zh-CN" altLang="zh-CN" sz="2000">
                <a:solidFill>
                  <a:srgbClr val="245794"/>
                </a:solidFill>
                <a:latin typeface="+mn-ea"/>
              </a:rPr>
              <a:t>（乘方）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B4BDA6-55F3-46C6-BA68-BFC1CA8EA212}"/>
              </a:ext>
            </a:extLst>
          </p:cNvPr>
          <p:cNvSpPr txBox="1"/>
          <p:nvPr/>
        </p:nvSpPr>
        <p:spPr>
          <a:xfrm>
            <a:off x="2538028" y="5493846"/>
            <a:ext cx="2898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书上</a:t>
            </a:r>
            <a:r>
              <a:rPr lang="en-US" altLang="zh-CN" dirty="0">
                <a:solidFill>
                  <a:srgbClr val="FF0000"/>
                </a:solidFill>
              </a:rPr>
              <a:t>28</a:t>
            </a:r>
            <a:r>
              <a:rPr lang="zh-CN" altLang="en-US" dirty="0">
                <a:solidFill>
                  <a:srgbClr val="FF0000"/>
                </a:solidFill>
              </a:rPr>
              <a:t>页</a:t>
            </a:r>
            <a:r>
              <a:rPr lang="en-US" altLang="zh-CN" dirty="0">
                <a:solidFill>
                  <a:srgbClr val="FF0000"/>
                </a:solidFill>
              </a:rPr>
              <a:t>1.6.2  </a:t>
            </a:r>
            <a:r>
              <a:rPr lang="zh-CN" altLang="en-US" dirty="0">
                <a:solidFill>
                  <a:srgbClr val="FF0000"/>
                </a:solidFill>
              </a:rPr>
              <a:t>位运算不考</a:t>
            </a: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2.2  Python</a:t>
            </a:r>
            <a:r>
              <a:rPr lang="zh-CN" altLang="en-US">
                <a:sym typeface="+mn-ea"/>
              </a:rPr>
              <a:t>运算符与表达式</a:t>
            </a:r>
            <a:endParaRPr lang="en-US"/>
          </a:p>
        </p:txBody>
      </p:sp>
      <p:graphicFrame>
        <p:nvGraphicFramePr>
          <p:cNvPr id="3" name="Content Placeholder -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095250"/>
              </p:ext>
            </p:extLst>
          </p:nvPr>
        </p:nvGraphicFramePr>
        <p:xfrm>
          <a:off x="728187" y="1783557"/>
          <a:ext cx="7718584" cy="43286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运算符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800" b="1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0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算术加法，列表、元组、字符串合并与连接，正号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算术减法，集合差集，相反数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算术乘法，序列重复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真除法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//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求整商，但如果操作数中有实数的话，结果为实数形式的整数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%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求余数，字符串格式化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**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b="0" u="none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幂运算</a:t>
                      </a:r>
                    </a:p>
                  </a:txBody>
                  <a:tcPr marL="27146" marR="0" marT="0" marB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65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2.2.1  </a:t>
            </a:r>
            <a:r>
              <a:rPr lang="zh-CN" altLang="en-US"/>
              <a:t>算术运算符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48326"/>
            <a:ext cx="8095298" cy="47953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除了用于算术加法以外</a:t>
            </a:r>
            <a:r>
              <a:rPr lang="en-US" sz="2000" err="1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还可以用于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sz="2000" err="1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元组的连接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abcd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 + '1234'                #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连接两个字符串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0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4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'abcd1234</a:t>
            </a:r>
            <a:r>
              <a:rPr 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64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2.2.1  </a:t>
            </a:r>
            <a:r>
              <a:rPr lang="zh-CN" altLang="en-US" dirty="0"/>
              <a:t>算术运算符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48326"/>
            <a:ext cx="8095298" cy="17246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（1）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 err="1"/>
              <a:t>不支持不同类型的对象之间相加或连接</a:t>
            </a:r>
            <a:r>
              <a:rPr lang="en-US" sz="2000" dirty="0"/>
              <a:t>。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>
                <a:latin typeface="Consolas" panose="020B0609020204030204" charset="0"/>
              </a:rPr>
              <a:t>&gt;&gt;&gt; </a:t>
            </a:r>
            <a:r>
              <a:rPr lang="en-US" sz="1800" dirty="0">
                <a:latin typeface="Consolas" panose="020B0609020204030204" charset="0"/>
              </a:rPr>
              <a:t>'A' + 1                  #</a:t>
            </a:r>
            <a:r>
              <a:rPr lang="en-US" sz="1800" dirty="0" err="1">
                <a:latin typeface="Consolas" panose="020B0609020204030204" charset="0"/>
              </a:rPr>
              <a:t>不支持字符与数字相加，抛出异常</a:t>
            </a:r>
            <a:endParaRPr lang="en-US" sz="1800" dirty="0">
              <a:latin typeface="Consolas" panose="020B0609020204030204" charset="0"/>
            </a:endParaRPr>
          </a:p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FF0000"/>
                </a:solidFill>
                <a:latin typeface="Consolas" panose="020B0609020204030204" charset="0"/>
              </a:rPr>
              <a:t>TypeError</a:t>
            </a:r>
            <a:r>
              <a:rPr lang="en-US" sz="1800" dirty="0">
                <a:solidFill>
                  <a:srgbClr val="FF0000"/>
                </a:solidFill>
                <a:latin typeface="Consolas" panose="020B0609020204030204" charset="0"/>
              </a:rPr>
              <a:t>: Can't convert 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charset="0"/>
              </a:rPr>
              <a:t>int</a:t>
            </a:r>
            <a:r>
              <a:rPr lang="en-US" sz="1800" dirty="0">
                <a:solidFill>
                  <a:srgbClr val="FF0000"/>
                </a:solidFill>
                <a:latin typeface="Consolas" panose="020B0609020204030204" charset="0"/>
              </a:rPr>
              <a:t>' object to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charset="0"/>
              </a:rPr>
              <a:t>str</a:t>
            </a:r>
            <a:r>
              <a:rPr lang="en-US" sz="1800" dirty="0">
                <a:solidFill>
                  <a:srgbClr val="FF0000"/>
                </a:solidFill>
                <a:latin typeface="Consolas" panose="020B0609020204030204" charset="0"/>
              </a:rPr>
              <a:t> implicitly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55576" y="4149080"/>
            <a:ext cx="457200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>
                <a:latin typeface="Consolas" panose="020B0609020204030204" charset="0"/>
              </a:rPr>
              <a:t>&gt;&gt;&gt; x=input()</a:t>
            </a:r>
          </a:p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>
                <a:latin typeface="Consolas" panose="020B0609020204030204" charset="0"/>
              </a:rPr>
              <a:t>'5'</a:t>
            </a:r>
          </a:p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>
                <a:latin typeface="Consolas" panose="020B0609020204030204" charset="0"/>
              </a:rPr>
              <a:t>&gt;&gt;&gt;x+4</a:t>
            </a:r>
          </a:p>
          <a:p>
            <a:pPr marL="36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>
                <a:solidFill>
                  <a:srgbClr val="FF0000"/>
                </a:solidFill>
                <a:latin typeface="Consolas" panose="020B0609020204030204" charset="0"/>
              </a:rPr>
              <a:t>TypeError: must be str, not int</a:t>
            </a:r>
            <a:endParaRPr lang="en-US" altLang="zh-CN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3D9E3A-CAE3-4CF4-B3CB-DC63FACAFD75}"/>
              </a:ext>
            </a:extLst>
          </p:cNvPr>
          <p:cNvSpPr txBox="1"/>
          <p:nvPr/>
        </p:nvSpPr>
        <p:spPr>
          <a:xfrm>
            <a:off x="3851920" y="6237312"/>
            <a:ext cx="1318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eval(x)+4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3668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2.2.1  </a:t>
            </a:r>
            <a:r>
              <a:rPr lang="zh-CN" altLang="en-US">
                <a:sym typeface="+mn-ea"/>
              </a:rPr>
              <a:t>算术运算符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25625"/>
            <a:ext cx="806489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（2）</a:t>
            </a:r>
            <a:r>
              <a:rPr lang="en-US" sz="2000" dirty="0">
                <a:solidFill>
                  <a:srgbClr val="FF0000"/>
                </a:solidFill>
              </a:rPr>
              <a:t>*运算符</a:t>
            </a:r>
            <a:r>
              <a:rPr lang="en-US" sz="2000" dirty="0"/>
              <a:t>除了表示算术乘法，还可用于列表、元组、字符串这几个序列类型与整数的乘法，表示序列元素的重复，生成新的序列对象。</a:t>
            </a:r>
            <a:r>
              <a:rPr lang="en-US" sz="2000" dirty="0">
                <a:solidFill>
                  <a:srgbClr val="FF0000"/>
                </a:solidFill>
              </a:rPr>
              <a:t>字典和集合不支持与整数的相乘</a:t>
            </a:r>
            <a:r>
              <a:rPr lang="en-US" sz="2000" dirty="0"/>
              <a:t>，因为其中的元素是不允许重复的。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&gt;&gt;&gt; '</a:t>
            </a:r>
            <a:r>
              <a:rPr lang="en-US" sz="2400" dirty="0" err="1"/>
              <a:t>abc</a:t>
            </a:r>
            <a:r>
              <a:rPr lang="en-US" sz="2400" dirty="0"/>
              <a:t>' * 3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</a:rPr>
              <a:t>'</a:t>
            </a:r>
            <a:r>
              <a:rPr lang="en-US" sz="2400" dirty="0" err="1">
                <a:solidFill>
                  <a:srgbClr val="00B0F0"/>
                </a:solidFill>
              </a:rPr>
              <a:t>abcabcabc</a:t>
            </a:r>
            <a:r>
              <a:rPr lang="en-US" sz="2400" dirty="0">
                <a:solidFill>
                  <a:srgbClr val="00B0F0"/>
                </a:solidFill>
              </a:rPr>
              <a:t>’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&gt;&gt;&gt; 3 * '</a:t>
            </a:r>
            <a:r>
              <a:rPr lang="en-US" altLang="zh-CN" sz="2400" dirty="0" err="1"/>
              <a:t>abc</a:t>
            </a:r>
            <a:r>
              <a:rPr lang="en-US" altLang="zh-CN" sz="2400" dirty="0"/>
              <a:t>’ 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B0F0"/>
                </a:solidFill>
              </a:rPr>
              <a:t>'</a:t>
            </a:r>
            <a:r>
              <a:rPr lang="en-US" altLang="zh-CN" sz="2400" dirty="0" err="1">
                <a:solidFill>
                  <a:srgbClr val="00B0F0"/>
                </a:solidFill>
              </a:rPr>
              <a:t>abcabcabc</a:t>
            </a:r>
            <a:r>
              <a:rPr lang="en-US" altLang="zh-CN" sz="2400" dirty="0">
                <a:solidFill>
                  <a:srgbClr val="00B0F0"/>
                </a:solidFill>
              </a:rPr>
              <a:t>'</a:t>
            </a:r>
          </a:p>
          <a:p>
            <a:pPr marL="7200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400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9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2.2.1  </a:t>
            </a:r>
            <a:r>
              <a:rPr lang="zh-CN" altLang="en-US">
                <a:sym typeface="+mn-ea"/>
              </a:rPr>
              <a:t>算术运算符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48327"/>
            <a:ext cx="8203406" cy="28048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（4）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：求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整数或实数的余数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789 % 2                       #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用于判断奇、偶数</a:t>
            </a:r>
            <a:r>
              <a:rPr 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123.45 % 3.2                 #</a:t>
            </a:r>
            <a:r>
              <a:rPr lang="en-US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可以对实数进行余数运算，注意精度问题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1.849999999999996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28650" y="5521147"/>
            <a:ext cx="4968552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12345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 10                 #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求个位数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203683-42BD-451B-855A-FB2B3133FE95}"/>
              </a:ext>
            </a:extLst>
          </p:cNvPr>
          <p:cNvSpPr txBox="1"/>
          <p:nvPr/>
        </p:nvSpPr>
        <p:spPr>
          <a:xfrm>
            <a:off x="628650" y="4645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123.45 - 38 * 3.2 </a:t>
            </a:r>
            <a:r>
              <a:rPr lang="en-US" altLang="zh-CN" dirty="0">
                <a:solidFill>
                  <a:srgbClr val="C00000"/>
                </a:solidFill>
              </a:rPr>
              <a:t>= </a:t>
            </a:r>
            <a:r>
              <a:rPr lang="zh-CN" altLang="en-US" dirty="0">
                <a:solidFill>
                  <a:srgbClr val="C00000"/>
                </a:solidFill>
              </a:rPr>
              <a:t>1.84999999999999</a:t>
            </a:r>
            <a:r>
              <a:rPr lang="en-US" altLang="zh-CN" dirty="0">
                <a:solidFill>
                  <a:srgbClr val="C00000"/>
                </a:solidFill>
              </a:rPr>
              <a:t>6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70F920-9849-422F-A60E-26D334A64980}"/>
              </a:ext>
            </a:extLst>
          </p:cNvPr>
          <p:cNvSpPr txBox="1"/>
          <p:nvPr/>
        </p:nvSpPr>
        <p:spPr>
          <a:xfrm>
            <a:off x="5796136" y="5589240"/>
            <a:ext cx="220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12345 - 1234 * 10 = 5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3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632907" y="6213310"/>
            <a:ext cx="2133606" cy="365209"/>
          </a:xfrm>
        </p:spPr>
        <p:txBody>
          <a:bodyPr/>
          <a:lstStyle/>
          <a:p>
            <a:fld id="{D0354790-AC9C-4CC1-9CCB-14F41907C59E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79628" y="4043663"/>
            <a:ext cx="368080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54321//10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 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22011" y="4141724"/>
            <a:ext cx="65274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22011" y="4875965"/>
            <a:ext cx="76976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543.0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733066" y="4806716"/>
            <a:ext cx="379937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5432.1//10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，结果为（         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79512" y="3116620"/>
            <a:ext cx="388843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54321/10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 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08827" y="3220590"/>
            <a:ext cx="8867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5432.1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429043" y="4043663"/>
            <a:ext cx="8867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543.21</a:t>
            </a: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79512" y="3933056"/>
            <a:ext cx="412063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5432.1/10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，结果为（   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13041" y="1824438"/>
            <a:ext cx="4553472" cy="18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1475" indent="-257175" defTabSz="685800">
              <a:lnSpc>
                <a:spcPct val="150000"/>
              </a:lnSpc>
              <a:spcBef>
                <a:spcPct val="15000"/>
              </a:spcBef>
              <a:buBlip>
                <a:blip r:embed="rId3"/>
              </a:buBlip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求整商 </a:t>
            </a:r>
            <a:r>
              <a:rPr lang="en-US" altLang="zh-CN" b="1">
                <a:solidFill>
                  <a:srgbClr val="FF0000"/>
                </a:solidFill>
                <a:latin typeface="黑体" charset="0"/>
                <a:ea typeface="黑体" charset="0"/>
              </a:rPr>
              <a:t>//</a:t>
            </a:r>
            <a:r>
              <a:rPr lang="zh-CN" altLang="en-US" b="1">
                <a:solidFill>
                  <a:prstClr val="black"/>
                </a:solidFill>
                <a:latin typeface="黑体" charset="0"/>
                <a:ea typeface="黑体" charset="0"/>
              </a:rPr>
              <a:t>：</a:t>
            </a:r>
            <a:endParaRPr lang="en-US" altLang="zh-CN" b="1">
              <a:solidFill>
                <a:prstClr val="black"/>
              </a:solidFill>
              <a:latin typeface="黑体" charset="0"/>
              <a:ea typeface="黑体" charset="0"/>
            </a:endParaRPr>
          </a:p>
          <a:p>
            <a:pPr marL="857250" lvl="1" indent="-285750" defTabSz="685800">
              <a:lnSpc>
                <a:spcPct val="150000"/>
              </a:lnSpc>
              <a:spcBef>
                <a:spcPct val="15000"/>
              </a:spcBef>
              <a:buClr>
                <a:srgbClr val="00B0F0"/>
              </a:buClr>
              <a:buFont typeface="Wingdings" panose="05000000000000000000" pitchFamily="2" charset="2"/>
              <a:buChar char="W"/>
              <a:defRPr/>
            </a:pPr>
            <a:r>
              <a:rPr lang="en-US" altLang="zh-CN" b="1">
                <a:solidFill>
                  <a:prstClr val="black"/>
                </a:solidFill>
                <a:latin typeface="黑体" charset="0"/>
                <a:ea typeface="黑体" charset="0"/>
              </a:rPr>
              <a:t>2</a:t>
            </a:r>
            <a:r>
              <a:rPr lang="zh-CN" altLang="en-US" b="1">
                <a:solidFill>
                  <a:prstClr val="black"/>
                </a:solidFill>
                <a:latin typeface="黑体" charset="0"/>
                <a:ea typeface="黑体" charset="0"/>
              </a:rPr>
              <a:t>个整数相除，结果为整数</a:t>
            </a:r>
            <a:endParaRPr lang="en-US" altLang="zh-CN" b="1">
              <a:solidFill>
                <a:prstClr val="black"/>
              </a:solidFill>
              <a:latin typeface="黑体" charset="0"/>
              <a:ea typeface="黑体" charset="0"/>
            </a:endParaRPr>
          </a:p>
          <a:p>
            <a:pPr marL="857250" lvl="1" indent="-285750" defTabSz="685800">
              <a:lnSpc>
                <a:spcPct val="150000"/>
              </a:lnSpc>
              <a:spcBef>
                <a:spcPct val="15000"/>
              </a:spcBef>
              <a:buClr>
                <a:srgbClr val="00B0F0"/>
              </a:buClr>
              <a:buFont typeface="Wingdings" panose="05000000000000000000" pitchFamily="2" charset="2"/>
              <a:buChar char="W"/>
              <a:defRPr/>
            </a:pPr>
            <a:r>
              <a:rPr lang="zh-CN" altLang="zh-CN" b="1">
                <a:solidFill>
                  <a:prstClr val="black"/>
                </a:solidFill>
                <a:latin typeface="黑体" charset="0"/>
                <a:ea typeface="黑体" charset="0"/>
              </a:rPr>
              <a:t>如果分子或者分母是浮点型，它返回的值将会是浮点类型</a:t>
            </a:r>
            <a:endParaRPr lang="en-US" altLang="zh-CN" b="1">
              <a:solidFill>
                <a:prstClr val="black"/>
              </a:solidFill>
              <a:latin typeface="黑体" charset="0"/>
              <a:ea typeface="黑体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7504" y="1897143"/>
            <a:ext cx="356248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685800">
              <a:lnSpc>
                <a:spcPct val="150000"/>
              </a:lnSpc>
              <a:spcBef>
                <a:spcPct val="15000"/>
              </a:spcBef>
              <a:buBlip>
                <a:blip r:embed="rId3"/>
              </a:buBlip>
              <a:defRPr/>
            </a:pPr>
            <a:r>
              <a:rPr lang="zh-CN" altLang="en-US" b="1">
                <a:solidFill>
                  <a:prstClr val="black"/>
                </a:solidFill>
                <a:latin typeface="黑体" charset="0"/>
                <a:ea typeface="黑体" charset="0"/>
              </a:rPr>
              <a:t>真除法 </a:t>
            </a:r>
            <a:r>
              <a:rPr lang="en-US" altLang="zh-CN" b="1">
                <a:solidFill>
                  <a:srgbClr val="FF0000"/>
                </a:solidFill>
                <a:latin typeface="黑体" charset="0"/>
                <a:ea typeface="黑体" charset="0"/>
              </a:rPr>
              <a:t>/</a:t>
            </a:r>
            <a:r>
              <a:rPr lang="en-US" altLang="zh-CN" b="1">
                <a:solidFill>
                  <a:prstClr val="black"/>
                </a:solidFill>
                <a:latin typeface="黑体" charset="0"/>
                <a:ea typeface="黑体" charset="0"/>
              </a:rPr>
              <a:t> :</a:t>
            </a:r>
            <a:r>
              <a:rPr lang="zh-CN" altLang="en-US" b="1">
                <a:solidFill>
                  <a:prstClr val="black"/>
                </a:solidFill>
                <a:latin typeface="黑体" charset="0"/>
                <a:ea typeface="黑体" charset="0"/>
              </a:rPr>
              <a:t>结果为浮点数。</a:t>
            </a:r>
            <a:endParaRPr lang="en-US" altLang="zh-CN" b="1">
              <a:solidFill>
                <a:prstClr val="black"/>
              </a:solidFill>
              <a:latin typeface="黑体" charset="0"/>
              <a:ea typeface="黑体" charset="0"/>
            </a:endParaRPr>
          </a:p>
        </p:txBody>
      </p:sp>
      <p:sp>
        <p:nvSpPr>
          <p:cNvPr id="21" name="标题 4"/>
          <p:cNvSpPr txBox="1">
            <a:spLocks/>
          </p:cNvSpPr>
          <p:nvPr/>
        </p:nvSpPr>
        <p:spPr>
          <a:xfrm>
            <a:off x="307813" y="437629"/>
            <a:ext cx="7783853" cy="850460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黑体" charset="0"/>
                <a:ea typeface="黑体" charset="0"/>
                <a:cs typeface="+mj-cs"/>
              </a:defRPr>
            </a:lvl1pPr>
          </a:lstStyle>
          <a:p>
            <a:r>
              <a:rPr lang="zh-CN" altLang="en-US"/>
              <a:t>注意：除法的特点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23576" y="1772816"/>
            <a:ext cx="0" cy="4106249"/>
          </a:xfrm>
          <a:prstGeom prst="line">
            <a:avLst/>
          </a:prstGeom>
          <a:ln w="1905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12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7" grpId="0" animBg="1"/>
      <p:bldP spid="18" grpId="0" animBg="1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折角形 21"/>
          <p:cNvSpPr>
            <a:spLocks noChangeArrowheads="1"/>
          </p:cNvSpPr>
          <p:nvPr/>
        </p:nvSpPr>
        <p:spPr bwMode="auto">
          <a:xfrm>
            <a:off x="539552" y="2409737"/>
            <a:ext cx="2951509" cy="4108507"/>
          </a:xfrm>
          <a:prstGeom prst="foldedCorner">
            <a:avLst>
              <a:gd name="adj" fmla="val 16667"/>
            </a:avLst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15875" cap="rnd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54790-AC9C-4CC1-9CCB-14F41907C59E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55576" y="1738729"/>
            <a:ext cx="73448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运算，取出任一数</a:t>
            </a:r>
            <a:r>
              <a:rPr lang="en-US" altLang="zh-CN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0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的个、十、百、千、万位数</a:t>
            </a:r>
            <a:endParaRPr lang="en-US" altLang="zh-CN" sz="2000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512" y="331286"/>
            <a:ext cx="8352928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700" b="1">
                <a:latin typeface="黑体" pitchFamily="49" charset="-122"/>
                <a:ea typeface="黑体" pitchFamily="49" charset="-122"/>
                <a:cs typeface="+mj-cs"/>
              </a:rPr>
              <a:t>编程常用的算式</a:t>
            </a:r>
            <a:endParaRPr lang="en-US" altLang="zh-CN" sz="2700" b="1">
              <a:latin typeface="黑体" pitchFamily="49" charset="-122"/>
              <a:ea typeface="黑体" pitchFamily="49" charset="-122"/>
              <a:cs typeface="+mj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5060" y="3239439"/>
            <a:ext cx="240089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取十位：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x//10%10</a:t>
            </a:r>
          </a:p>
        </p:txBody>
      </p:sp>
      <p:sp>
        <p:nvSpPr>
          <p:cNvPr id="13" name="矩形 12"/>
          <p:cNvSpPr/>
          <p:nvPr/>
        </p:nvSpPr>
        <p:spPr>
          <a:xfrm>
            <a:off x="625061" y="5353090"/>
            <a:ext cx="272280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取万位：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x//10000%10</a:t>
            </a:r>
          </a:p>
        </p:txBody>
      </p:sp>
      <p:sp>
        <p:nvSpPr>
          <p:cNvPr id="14" name="矩形 13"/>
          <p:cNvSpPr/>
          <p:nvPr/>
        </p:nvSpPr>
        <p:spPr>
          <a:xfrm>
            <a:off x="610743" y="4583589"/>
            <a:ext cx="257878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取千位：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x//1000%10</a:t>
            </a:r>
          </a:p>
        </p:txBody>
      </p:sp>
      <p:sp>
        <p:nvSpPr>
          <p:cNvPr id="15" name="矩形 14"/>
          <p:cNvSpPr/>
          <p:nvPr/>
        </p:nvSpPr>
        <p:spPr>
          <a:xfrm>
            <a:off x="625061" y="3870430"/>
            <a:ext cx="244745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取百位：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x//100%10</a:t>
            </a:r>
          </a:p>
        </p:txBody>
      </p:sp>
      <p:sp>
        <p:nvSpPr>
          <p:cNvPr id="16" name="矩形 15"/>
          <p:cNvSpPr/>
          <p:nvPr/>
        </p:nvSpPr>
        <p:spPr>
          <a:xfrm>
            <a:off x="610743" y="2514635"/>
            <a:ext cx="193607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取个位：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x%10</a:t>
            </a:r>
          </a:p>
        </p:txBody>
      </p:sp>
      <p:sp>
        <p:nvSpPr>
          <p:cNvPr id="17" name="矩形 16"/>
          <p:cNvSpPr/>
          <p:nvPr/>
        </p:nvSpPr>
        <p:spPr>
          <a:xfrm>
            <a:off x="4043317" y="2943914"/>
            <a:ext cx="427309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543</a:t>
            </a:r>
            <a:r>
              <a:rPr lang="en-US" altLang="zh-CN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1//10%10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十位数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13488" y="5248170"/>
            <a:ext cx="430698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4321//10000%10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万位数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13489" y="4463991"/>
            <a:ext cx="40189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321//1000%10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千位数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500811" y="3697559"/>
            <a:ext cx="403162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  <a:defRPr/>
            </a:pP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54</a:t>
            </a:r>
            <a:r>
              <a:rPr lang="en-US" altLang="zh-CN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21//100%10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，结果为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（ 百位数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b="1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箭头连接符 7"/>
          <p:cNvCxnSpPr>
            <a:endCxn id="22" idx="0"/>
          </p:cNvCxnSpPr>
          <p:nvPr/>
        </p:nvCxnSpPr>
        <p:spPr>
          <a:xfrm flipH="1">
            <a:off x="2015307" y="1124744"/>
            <a:ext cx="1811169" cy="128499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5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3" grpId="0"/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2.2.1  </a:t>
            </a:r>
            <a:r>
              <a:rPr lang="zh-CN" altLang="en-US">
                <a:sym typeface="+mn-ea"/>
              </a:rPr>
              <a:t>算术运算符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（5）</a:t>
            </a:r>
            <a:r>
              <a:rPr 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en-US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表示幂乘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 3 ** 2                   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charset="0"/>
              </a:rPr>
              <a:t>#3的2次方，等价于pow(3, 2)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&gt;&gt;&gt; 9 ** 0.5                 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charset="0"/>
              </a:rPr>
              <a:t>#9的0.5次方，平方根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注意：幂运算**方向：从右至左</a:t>
            </a:r>
            <a:endParaRPr 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charset="0"/>
              </a:rPr>
              <a:t>&gt;&gt;&gt; 3**2**3		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charset="0"/>
              </a:rPr>
              <a:t>#</a:t>
            </a:r>
            <a:r>
              <a:rPr lang="en-US" altLang="zh-CN" sz="2000" dirty="0">
                <a:latin typeface="Consolas" panose="020B0609020204030204" charset="0"/>
              </a:rPr>
              <a:t> </a:t>
            </a:r>
            <a:r>
              <a:rPr lang="zh-CN" altLang="en-US" sz="2000" dirty="0">
                <a:solidFill>
                  <a:srgbClr val="00B050"/>
                </a:solidFill>
                <a:latin typeface="Consolas" panose="020B0609020204030204" charset="0"/>
              </a:rPr>
              <a:t>等价于</a:t>
            </a:r>
            <a:r>
              <a:rPr lang="en-US" altLang="zh-CN" sz="2000" dirty="0">
                <a:solidFill>
                  <a:srgbClr val="00B050"/>
                </a:solidFill>
                <a:latin typeface="Consolas" panose="020B0609020204030204" charset="0"/>
              </a:rPr>
              <a:t>3**(2**3)</a:t>
            </a:r>
          </a:p>
          <a:p>
            <a:pPr marL="0" indent="0">
              <a:buNone/>
            </a:pPr>
            <a:r>
              <a:rPr lang="en-US" altLang="zh-CN" sz="2000" dirty="0"/>
              <a:t>6561</a:t>
            </a:r>
            <a:endParaRPr lang="zh-CN" altLang="en-US" sz="2000" dirty="0"/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endParaRPr 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67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2**3**2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的结果是（  ）。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248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2.5  </a:t>
            </a:r>
            <a:r>
              <a:rPr lang="zh-CN" altLang="en-US"/>
              <a:t>精彩案例赏析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SzPct val="90000"/>
              <a:buFont typeface="Wingdings" panose="05000000000000000000" charset="0"/>
              <a:buChar char="v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2-1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用户输入一个三位自然数，计算并输出其佰位、十位和个位上的数字。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input('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请输入一个三位数：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')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= x // 100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 = x // 10 % 10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= x % 10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print(a, b, c)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SzPct val="90000"/>
              <a:buNone/>
            </a:pPr>
            <a:endParaRPr lang="en-US" altLang="zh-C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09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b="1">
                <a:solidFill>
                  <a:srgbClr val="245794"/>
                </a:solidFill>
                <a:latin typeface="+mj-ea"/>
              </a:rPr>
              <a:t>练习：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例</a:t>
            </a:r>
            <a:r>
              <a:rPr lang="en-US" altLang="zh-CN" sz="2800" b="1">
                <a:solidFill>
                  <a:srgbClr val="245794"/>
                </a:solidFill>
                <a:latin typeface="+mj-ea"/>
              </a:rPr>
              <a:t>2-9  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从键盘输入一个三位整数</a:t>
            </a:r>
            <a:r>
              <a:rPr lang="en-US" altLang="zh-CN" sz="2800" b="1">
                <a:solidFill>
                  <a:srgbClr val="245794"/>
                </a:solidFill>
                <a:latin typeface="+mj-ea"/>
              </a:rPr>
              <a:t>n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，输出其逆序数</a:t>
            </a:r>
            <a:r>
              <a:rPr lang="en-US" altLang="zh-CN" sz="2800" b="1">
                <a:solidFill>
                  <a:srgbClr val="245794"/>
                </a:solidFill>
                <a:latin typeface="+mj-ea"/>
              </a:rPr>
              <a:t>m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。例如，输入</a:t>
            </a:r>
            <a:r>
              <a:rPr lang="en-US" altLang="zh-CN" sz="2800" b="1">
                <a:solidFill>
                  <a:srgbClr val="245794"/>
                </a:solidFill>
                <a:latin typeface="+mj-ea"/>
              </a:rPr>
              <a:t>n=127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，则</a:t>
            </a:r>
            <a:r>
              <a:rPr lang="en-US" altLang="zh-CN" sz="2800" b="1">
                <a:solidFill>
                  <a:srgbClr val="245794"/>
                </a:solidFill>
                <a:latin typeface="+mj-ea"/>
              </a:rPr>
              <a:t>m=721</a:t>
            </a:r>
            <a:r>
              <a:rPr lang="zh-CN" altLang="zh-CN" sz="2800" b="1">
                <a:solidFill>
                  <a:srgbClr val="245794"/>
                </a:solidFill>
                <a:latin typeface="+mj-ea"/>
              </a:rPr>
              <a:t>。</a:t>
            </a:r>
            <a:endParaRPr lang="zh-CN" altLang="en-US" sz="2800">
              <a:latin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9552" y="2132856"/>
            <a:ext cx="871296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5270" algn="just">
              <a:lnSpc>
                <a:spcPct val="200000"/>
              </a:lnSpc>
              <a:spcAft>
                <a:spcPts val="0"/>
              </a:spcAft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</a:tabLst>
            </a:pPr>
            <a:r>
              <a:rPr lang="pt-BR" altLang="zh-CN">
                <a:latin typeface="Courier New" panose="02070309020205020404" pitchFamily="49" charset="0"/>
                <a:ea typeface="楷体_GB2312"/>
              </a:rPr>
              <a:t>n=int(input("n="))</a:t>
            </a:r>
            <a:endParaRPr lang="zh-CN" altLang="zh-CN">
              <a:latin typeface="Courier New" panose="02070309020205020404" pitchFamily="49" charset="0"/>
              <a:ea typeface="楷体_GB2312"/>
            </a:endParaRPr>
          </a:p>
          <a:p>
            <a:pPr marL="255270" algn="just">
              <a:lnSpc>
                <a:spcPct val="200000"/>
              </a:lnSpc>
              <a:spcAft>
                <a:spcPts val="0"/>
              </a:spcAft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546860" algn="l"/>
                <a:tab pos="1584325" algn="l"/>
                <a:tab pos="2062480" algn="l"/>
                <a:tab pos="2449195" algn="l"/>
                <a:tab pos="2835910" algn="l"/>
                <a:tab pos="3093720" algn="l"/>
                <a:tab pos="5030470" algn="l"/>
              </a:tabLst>
            </a:pPr>
            <a:r>
              <a:rPr lang="pt-BR" altLang="zh-CN">
                <a:latin typeface="Courier New" panose="02070309020205020404" pitchFamily="49" charset="0"/>
                <a:ea typeface="楷体_GB2312"/>
              </a:rPr>
              <a:t>a=n%10;                  	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#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求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n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的个位数字</a:t>
            </a:r>
            <a:endParaRPr lang="zh-CN" altLang="zh-CN">
              <a:solidFill>
                <a:srgbClr val="00B050"/>
              </a:solidFill>
              <a:latin typeface="Courier New" panose="02070309020205020404" pitchFamily="49" charset="0"/>
              <a:ea typeface="楷体_GB2312"/>
            </a:endParaRPr>
          </a:p>
          <a:p>
            <a:pPr marL="255270" algn="just">
              <a:lnSpc>
                <a:spcPct val="200000"/>
              </a:lnSpc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546860" algn="l"/>
                <a:tab pos="1584325" algn="l"/>
                <a:tab pos="2062480" algn="l"/>
                <a:tab pos="2449195" algn="l"/>
                <a:tab pos="2835910" algn="l"/>
                <a:tab pos="3093720" algn="l"/>
                <a:tab pos="5030470" algn="l"/>
              </a:tabLst>
            </a:pPr>
            <a:r>
              <a:rPr lang="pt-BR" altLang="zh-CN">
                <a:latin typeface="Courier New" panose="02070309020205020404" pitchFamily="49" charset="0"/>
                <a:ea typeface="楷体_GB2312"/>
              </a:rPr>
              <a:t>b=n//10%10;              		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#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求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n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的十位数字</a:t>
            </a:r>
            <a:endParaRPr lang="zh-CN" altLang="zh-CN">
              <a:solidFill>
                <a:srgbClr val="00B050"/>
              </a:solidFill>
              <a:latin typeface="Courier New" panose="02070309020205020404" pitchFamily="49" charset="0"/>
              <a:ea typeface="楷体_GB2312"/>
            </a:endParaRPr>
          </a:p>
          <a:p>
            <a:pPr marL="255270" algn="just">
              <a:lnSpc>
                <a:spcPct val="200000"/>
              </a:lnSpc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546860" algn="l"/>
                <a:tab pos="1584325" algn="l"/>
                <a:tab pos="2062480" algn="l"/>
                <a:tab pos="2449195" algn="l"/>
                <a:tab pos="2835910" algn="l"/>
                <a:tab pos="3093720" algn="l"/>
                <a:tab pos="5030470" algn="l"/>
              </a:tabLst>
            </a:pPr>
            <a:r>
              <a:rPr lang="pt-BR" altLang="zh-CN">
                <a:latin typeface="Courier New" panose="02070309020205020404" pitchFamily="49" charset="0"/>
                <a:ea typeface="楷体_GB2312"/>
              </a:rPr>
              <a:t>c=n//100;                 		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#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求</a:t>
            </a:r>
            <a:r>
              <a:rPr lang="pt-BR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n</a:t>
            </a:r>
            <a:r>
              <a:rPr lang="zh-TW" altLang="zh-CN">
                <a:solidFill>
                  <a:srgbClr val="00B050"/>
                </a:solidFill>
                <a:latin typeface="Courier New" panose="02070309020205020404" pitchFamily="49" charset="0"/>
                <a:ea typeface="楷体_GB2312"/>
              </a:rPr>
              <a:t>的百位数字</a:t>
            </a:r>
            <a:endParaRPr lang="zh-CN" altLang="zh-CN">
              <a:solidFill>
                <a:srgbClr val="00B050"/>
              </a:solidFill>
              <a:latin typeface="Courier New" panose="02070309020205020404" pitchFamily="49" charset="0"/>
              <a:ea typeface="楷体_GB2312"/>
            </a:endParaRPr>
          </a:p>
          <a:p>
            <a:pPr marL="255270" algn="just">
              <a:lnSpc>
                <a:spcPct val="200000"/>
              </a:lnSpc>
              <a:spcAft>
                <a:spcPts val="0"/>
              </a:spcAft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</a:tabLst>
            </a:pPr>
            <a:r>
              <a:rPr lang="pt-BR" altLang="zh-CN">
                <a:latin typeface="Courier New" panose="02070309020205020404" pitchFamily="49" charset="0"/>
                <a:ea typeface="楷体_GB2312"/>
              </a:rPr>
              <a:t>m=a*100+b*10+c</a:t>
            </a:r>
            <a:endParaRPr lang="zh-CN" altLang="zh-CN">
              <a:latin typeface="Courier New" panose="02070309020205020404" pitchFamily="49" charset="0"/>
              <a:ea typeface="楷体_GB2312"/>
            </a:endParaRPr>
          </a:p>
          <a:p>
            <a:pPr marL="255270" algn="just">
              <a:lnSpc>
                <a:spcPct val="200000"/>
              </a:lnSpc>
              <a:spcAft>
                <a:spcPts val="0"/>
              </a:spcAft>
              <a:tabLst>
                <a:tab pos="270510" algn="l"/>
                <a:tab pos="396240" algn="l"/>
                <a:tab pos="504190" algn="l"/>
                <a:tab pos="612140" algn="l"/>
                <a:tab pos="828040" algn="l"/>
                <a:tab pos="935990" algn="l"/>
                <a:tab pos="1043940" algn="l"/>
                <a:tab pos="1151890" algn="l"/>
                <a:tab pos="1260475" algn="l"/>
                <a:tab pos="1368425" algn="l"/>
                <a:tab pos="1476375" algn="l"/>
                <a:tab pos="1584325" algn="l"/>
                <a:tab pos="1692275" algn="l"/>
                <a:tab pos="1908175" algn="l"/>
                <a:tab pos="5030470" algn="l"/>
              </a:tabLst>
            </a:pPr>
            <a:r>
              <a:rPr lang="en-US" altLang="zh-CN">
                <a:latin typeface="Courier New" panose="02070309020205020404" pitchFamily="49" charset="0"/>
                <a:ea typeface="楷体_GB2312"/>
              </a:rPr>
              <a:t>print(n,"</a:t>
            </a:r>
            <a:r>
              <a:rPr lang="zh-CN" altLang="zh-CN">
                <a:latin typeface="Courier New" panose="02070309020205020404" pitchFamily="49" charset="0"/>
                <a:ea typeface="楷体_GB2312"/>
              </a:rPr>
              <a:t>的</a:t>
            </a:r>
            <a:r>
              <a:rPr lang="zh-TW" altLang="zh-CN">
                <a:latin typeface="Courier New" panose="02070309020205020404" pitchFamily="49" charset="0"/>
                <a:ea typeface="楷体_GB2312"/>
              </a:rPr>
              <a:t>逆序数</a:t>
            </a:r>
            <a:r>
              <a:rPr lang="zh-CN" altLang="zh-CN">
                <a:latin typeface="Courier New" panose="02070309020205020404" pitchFamily="49" charset="0"/>
                <a:ea typeface="楷体_GB2312"/>
              </a:rPr>
              <a:t>是</a:t>
            </a:r>
            <a:r>
              <a:rPr lang="en-US" altLang="zh-CN">
                <a:latin typeface="Courier New" panose="02070309020205020404" pitchFamily="49" charset="0"/>
                <a:ea typeface="楷体_GB2312"/>
              </a:rPr>
              <a:t>",m)</a:t>
            </a:r>
            <a:endParaRPr lang="zh-CN" altLang="zh-CN">
              <a:latin typeface="Courier New" panose="02070309020205020404" pitchFamily="49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0535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74871" y="1816671"/>
          <a:ext cx="2920049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8" name="公式" r:id="rId3" imgW="1397000" imgH="279400" progId="Equation.3">
                  <p:embed/>
                </p:oleObj>
              </mc:Choice>
              <mc:Fallback>
                <p:oleObj name="公式" r:id="rId3" imgW="1397000" imgH="279400" progId="Equation.3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71" y="1816671"/>
                        <a:ext cx="2920049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35696" y="3140968"/>
          <a:ext cx="864096" cy="90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9" name="公式" r:id="rId5" imgW="431613" imgH="444307" progId="Equation.3">
                  <p:embed/>
                </p:oleObj>
              </mc:Choice>
              <mc:Fallback>
                <p:oleObj name="公式" r:id="rId5" imgW="431613" imgH="444307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140968"/>
                        <a:ext cx="864096" cy="90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17759" y="4941168"/>
          <a:ext cx="1440160" cy="929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0" name="公式" r:id="rId7" imgW="748975" imgH="482391" progId="Equation.3">
                  <p:embed/>
                </p:oleObj>
              </mc:Choice>
              <mc:Fallback>
                <p:oleObj name="公式" r:id="rId7" imgW="748975" imgH="482391" progId="Equation.3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759" y="4941168"/>
                        <a:ext cx="1440160" cy="9297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39552" y="154428"/>
            <a:ext cx="7886700" cy="807494"/>
          </a:xfrm>
        </p:spPr>
        <p:txBody>
          <a:bodyPr/>
          <a:lstStyle/>
          <a:p>
            <a:r>
              <a:rPr lang="zh-CN" altLang="en-US" b="1">
                <a:solidFill>
                  <a:srgbClr val="245794"/>
                </a:solidFill>
              </a:rPr>
              <a:t>综合运用：表达式的书写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640983" y="2526244"/>
            <a:ext cx="6463630" cy="7392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>
                <a:solidFill>
                  <a:srgbClr val="FF0000"/>
                </a:solidFill>
                <a:latin typeface="+mn-ea"/>
              </a:rPr>
              <a:t>math.sin</a:t>
            </a:r>
            <a:r>
              <a:rPr lang="en-US" altLang="zh-CN" sz="2400" b="1">
                <a:solidFill>
                  <a:srgbClr val="0070C0"/>
                </a:solidFill>
                <a:latin typeface="+mn-ea"/>
              </a:rPr>
              <a:t>(45*math.pi/180)+1e-5*</a:t>
            </a:r>
            <a:r>
              <a:rPr lang="en-US" altLang="zh-CN" sz="2400" b="1">
                <a:solidFill>
                  <a:srgbClr val="FF0000"/>
                </a:solidFill>
                <a:latin typeface="+mn-ea"/>
              </a:rPr>
              <a:t>abs</a:t>
            </a:r>
            <a:r>
              <a:rPr lang="en-US" altLang="zh-CN" sz="2400" b="1">
                <a:solidFill>
                  <a:srgbClr val="0070C0"/>
                </a:solidFill>
                <a:latin typeface="+mn-ea"/>
              </a:rPr>
              <a:t>(a-b)</a:t>
            </a:r>
            <a:endParaRPr lang="zh-CN" altLang="en-US" sz="2400" b="1">
              <a:solidFill>
                <a:srgbClr val="0070C0"/>
              </a:solidFill>
              <a:latin typeface="+mn-ea"/>
            </a:endParaRPr>
          </a:p>
        </p:txBody>
      </p:sp>
      <p:sp>
        <p:nvSpPr>
          <p:cNvPr id="8" name="内容占位符 6"/>
          <p:cNvSpPr txBox="1">
            <a:spLocks/>
          </p:cNvSpPr>
          <p:nvPr/>
        </p:nvSpPr>
        <p:spPr>
          <a:xfrm>
            <a:off x="1674871" y="4122678"/>
            <a:ext cx="6463630" cy="739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c**(1/3)/(</a:t>
            </a:r>
            <a:r>
              <a:rPr lang="en-US" altLang="zh-CN" sz="2400" b="1" dirty="0" err="1">
                <a:solidFill>
                  <a:srgbClr val="0070C0"/>
                </a:solidFill>
                <a:latin typeface="+mn-ea"/>
              </a:rPr>
              <a:t>a+b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)</a:t>
            </a:r>
            <a:endParaRPr lang="zh-CN" altLang="en-US" sz="2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" name="内容占位符 6"/>
          <p:cNvSpPr txBox="1">
            <a:spLocks/>
          </p:cNvSpPr>
          <p:nvPr/>
        </p:nvSpPr>
        <p:spPr>
          <a:xfrm>
            <a:off x="1711543" y="6021288"/>
            <a:ext cx="6463630" cy="739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+mn-ea"/>
              </a:rPr>
              <a:t>math.exp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(2)+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math.log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(10))/</a:t>
            </a:r>
            <a:r>
              <a:rPr lang="en-US" altLang="zh-CN" sz="2400" b="1" dirty="0" err="1">
                <a:solidFill>
                  <a:srgbClr val="FF0000"/>
                </a:solidFill>
                <a:latin typeface="+mn-ea"/>
              </a:rPr>
              <a:t>math.sqrt</a:t>
            </a:r>
            <a:r>
              <a:rPr lang="en-US" altLang="zh-CN" sz="2400" b="1" dirty="0">
                <a:solidFill>
                  <a:srgbClr val="0070C0"/>
                </a:solidFill>
                <a:latin typeface="+mn-ea"/>
              </a:rPr>
              <a:t>(x*y)</a:t>
            </a:r>
            <a:endParaRPr lang="zh-CN" altLang="en-US" sz="24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83689" y="1750760"/>
            <a:ext cx="64312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(1)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3689" y="3265523"/>
            <a:ext cx="64312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(2)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83688" y="5113642"/>
            <a:ext cx="64312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(3)</a:t>
            </a:r>
            <a:endParaRPr lang="zh-CN" altLang="en-US" sz="32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1600" y="1038726"/>
            <a:ext cx="23353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import math</a:t>
            </a:r>
            <a:endParaRPr lang="zh-CN" altLang="en-US" sz="32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F8B287-06E8-4D65-9FB1-6280226C5E3B}"/>
              </a:ext>
            </a:extLst>
          </p:cNvPr>
          <p:cNvSpPr txBox="1"/>
          <p:nvPr/>
        </p:nvSpPr>
        <p:spPr>
          <a:xfrm>
            <a:off x="5508104" y="4829845"/>
            <a:ext cx="1224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log2(x)</a:t>
            </a:r>
          </a:p>
          <a:p>
            <a:r>
              <a:rPr lang="en-US" altLang="zh-CN" sz="2400" dirty="0"/>
              <a:t>log10(x)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267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  <p:bldP spid="9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0" y="1422707"/>
            <a:ext cx="4173575" cy="5184575"/>
          </a:xfrm>
        </p:spPr>
        <p:txBody>
          <a:bodyPr>
            <a:normAutofit/>
          </a:bodyPr>
          <a:lstStyle/>
          <a:p>
            <a:pPr marL="571500" lvl="0" indent="-342900">
              <a:lnSpc>
                <a:spcPct val="3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转换为整型。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342900">
              <a:lnSpc>
                <a:spcPct val="3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571500" lvl="0" indent="-342900">
              <a:lnSpc>
                <a:spcPct val="3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float(x)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为转换浮点型。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lvl="0" indent="-34290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随输入的类型不同，转为不同类型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16760" y="1884998"/>
            <a:ext cx="1797000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&gt;&gt;&gt; int(9.8)</a:t>
            </a:r>
          </a:p>
          <a:p>
            <a:r>
              <a:rPr lang="zh-CN" altLang="en-US" sz="2400"/>
              <a:t>9</a:t>
            </a:r>
          </a:p>
        </p:txBody>
      </p:sp>
      <p:sp>
        <p:nvSpPr>
          <p:cNvPr id="6" name="矩形 5"/>
          <p:cNvSpPr/>
          <p:nvPr/>
        </p:nvSpPr>
        <p:spPr>
          <a:xfrm>
            <a:off x="6749008" y="1884998"/>
            <a:ext cx="165618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&gt;&gt;&gt; int('9')</a:t>
            </a:r>
          </a:p>
          <a:p>
            <a:r>
              <a:rPr lang="zh-CN" altLang="en-US" sz="2400"/>
              <a:t>9</a:t>
            </a:r>
          </a:p>
        </p:txBody>
      </p:sp>
      <p:sp>
        <p:nvSpPr>
          <p:cNvPr id="7" name="矩形 6"/>
          <p:cNvSpPr/>
          <p:nvPr/>
        </p:nvSpPr>
        <p:spPr>
          <a:xfrm>
            <a:off x="5573458" y="2912293"/>
            <a:ext cx="1967006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&gt;&gt;&gt; str(9.8)</a:t>
            </a:r>
          </a:p>
          <a:p>
            <a:r>
              <a:rPr lang="zh-CN" altLang="en-US" sz="2400"/>
              <a:t>'9.8'</a:t>
            </a:r>
          </a:p>
        </p:txBody>
      </p:sp>
      <p:sp>
        <p:nvSpPr>
          <p:cNvPr id="8" name="矩形 7"/>
          <p:cNvSpPr/>
          <p:nvPr/>
        </p:nvSpPr>
        <p:spPr>
          <a:xfrm>
            <a:off x="5521741" y="4014995"/>
            <a:ext cx="237626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400"/>
              <a:t>&gt;&gt;&gt; float('9.8')</a:t>
            </a:r>
          </a:p>
          <a:p>
            <a:r>
              <a:rPr lang="zh-CN" altLang="en-US" sz="2400"/>
              <a:t>9.8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292624" y="1995458"/>
            <a:ext cx="1152128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923928" y="3212976"/>
            <a:ext cx="1656426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868688" y="4293096"/>
            <a:ext cx="1653053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914823" y="154060"/>
            <a:ext cx="583525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sz="3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总结：</a:t>
            </a:r>
            <a:r>
              <a:rPr lang="zh-CN" altLang="zh-CN" sz="36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常用的类型转换函数</a:t>
            </a:r>
            <a:endParaRPr lang="zh-CN" altLang="zh-CN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22792" y="5041066"/>
            <a:ext cx="2319935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/>
              <a:t>input</a:t>
            </a:r>
            <a:r>
              <a:rPr lang="zh-CN" altLang="en-US" sz="2400"/>
              <a:t>输入：9.8</a:t>
            </a:r>
            <a:r>
              <a:rPr lang="en-US" altLang="zh-CN" sz="2400"/>
              <a:t>1</a:t>
            </a:r>
            <a:endParaRPr lang="zh-CN" altLang="en-US" sz="2400"/>
          </a:p>
          <a:p>
            <a:r>
              <a:rPr lang="zh-CN" altLang="en-US" sz="2400"/>
              <a:t>结果：9.8</a:t>
            </a:r>
            <a:r>
              <a:rPr lang="en-US" altLang="zh-CN" sz="2400"/>
              <a:t>1</a:t>
            </a:r>
            <a:endParaRPr lang="zh-CN" altLang="en-US" sz="2400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506389" y="5271402"/>
            <a:ext cx="1516403" cy="0"/>
          </a:xfrm>
          <a:prstGeom prst="straightConnector1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487185" y="5068820"/>
            <a:ext cx="2179830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/>
              <a:t>input</a:t>
            </a:r>
            <a:r>
              <a:rPr lang="zh-CN" altLang="en-US" sz="2400"/>
              <a:t>输入：9</a:t>
            </a:r>
          </a:p>
          <a:p>
            <a:r>
              <a:rPr lang="zh-CN" altLang="en-US" sz="2400"/>
              <a:t>结果：9</a:t>
            </a:r>
          </a:p>
        </p:txBody>
      </p:sp>
    </p:spTree>
    <p:extLst>
      <p:ext uri="{BB962C8B-B14F-4D97-AF65-F5344CB8AC3E}">
        <p14:creationId xmlns:p14="http://schemas.microsoft.com/office/powerpoint/2010/main" val="36583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5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4459</TotalTime>
  <Words>2004</Words>
  <Application>Microsoft Office PowerPoint</Application>
  <PresentationFormat>全屏显示(4:3)</PresentationFormat>
  <Paragraphs>316</Paragraphs>
  <Slides>29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等线</vt:lpstr>
      <vt:lpstr>等线 Light</vt:lpstr>
      <vt:lpstr>黑体</vt:lpstr>
      <vt:lpstr>宋体</vt:lpstr>
      <vt:lpstr>Microsoft Yahei</vt:lpstr>
      <vt:lpstr>Microsoft Yahei</vt:lpstr>
      <vt:lpstr>Arial</vt:lpstr>
      <vt:lpstr>Calibri</vt:lpstr>
      <vt:lpstr>Calibri Light</vt:lpstr>
      <vt:lpstr>Consolas</vt:lpstr>
      <vt:lpstr>Courier New</vt:lpstr>
      <vt:lpstr>Verdana</vt:lpstr>
      <vt:lpstr>Wingdings</vt:lpstr>
      <vt:lpstr>Office 主题</vt:lpstr>
      <vt:lpstr>公式</vt:lpstr>
      <vt:lpstr>1.5  常用系统函数</vt:lpstr>
      <vt:lpstr>1.5.2  常用内置函数</vt:lpstr>
      <vt:lpstr>2．range()函数</vt:lpstr>
      <vt:lpstr>1．type()函数</vt:lpstr>
      <vt:lpstr>3．数值运算函数</vt:lpstr>
      <vt:lpstr>3．数值运算函数</vt:lpstr>
      <vt:lpstr>4  标准库与扩展库对象的导入与使用</vt:lpstr>
      <vt:lpstr>调用非内置函数的方法</vt:lpstr>
      <vt:lpstr>1 数学函数</vt:lpstr>
      <vt:lpstr>import 模块名 [as 别名]</vt:lpstr>
      <vt:lpstr>from 模块名 import 对象名[ as 别名]</vt:lpstr>
      <vt:lpstr>from 模块名 import *</vt:lpstr>
      <vt:lpstr>综合案例6：输入三角形边长，求面积</vt:lpstr>
      <vt:lpstr>PowerPoint 演示文稿</vt:lpstr>
      <vt:lpstr>系统函数</vt:lpstr>
      <vt:lpstr>1.6  基本运算</vt:lpstr>
      <vt:lpstr>2.2  Python运算符与表达式</vt:lpstr>
      <vt:lpstr>2.2.1  算术运算符</vt:lpstr>
      <vt:lpstr>2.2.1  算术运算符</vt:lpstr>
      <vt:lpstr>2.2.1  算术运算符</vt:lpstr>
      <vt:lpstr>2.2.1  算术运算符</vt:lpstr>
      <vt:lpstr>PowerPoint 演示文稿</vt:lpstr>
      <vt:lpstr>PowerPoint 演示文稿</vt:lpstr>
      <vt:lpstr>2.2.1  算术运算符</vt:lpstr>
      <vt:lpstr>PowerPoint 演示文稿</vt:lpstr>
      <vt:lpstr>2.5  精彩案例赏析</vt:lpstr>
      <vt:lpstr>练习：例2-9  从键盘输入一个三位整数n，输出其逆序数m。例如，输入n=127，则m=721。</vt:lpstr>
      <vt:lpstr>综合运用：表达式的书写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215</cp:revision>
  <dcterms:created xsi:type="dcterms:W3CDTF">2016-08-25T03:48:37Z</dcterms:created>
  <dcterms:modified xsi:type="dcterms:W3CDTF">2024-09-10T05:58:51Z</dcterms:modified>
</cp:coreProperties>
</file>