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341" r:id="rId3"/>
    <p:sldId id="417" r:id="rId4"/>
    <p:sldId id="323" r:id="rId5"/>
    <p:sldId id="289" r:id="rId6"/>
    <p:sldId id="276" r:id="rId7"/>
    <p:sldId id="418" r:id="rId8"/>
    <p:sldId id="419" r:id="rId9"/>
    <p:sldId id="346" r:id="rId10"/>
    <p:sldId id="291" r:id="rId11"/>
    <p:sldId id="300" r:id="rId12"/>
    <p:sldId id="292" r:id="rId13"/>
    <p:sldId id="293" r:id="rId14"/>
    <p:sldId id="294" r:id="rId15"/>
    <p:sldId id="302" r:id="rId16"/>
    <p:sldId id="301" r:id="rId17"/>
    <p:sldId id="295" r:id="rId18"/>
    <p:sldId id="314" r:id="rId19"/>
    <p:sldId id="265" r:id="rId20"/>
    <p:sldId id="312" r:id="rId21"/>
    <p:sldId id="316" r:id="rId22"/>
    <p:sldId id="297" r:id="rId23"/>
    <p:sldId id="309" r:id="rId24"/>
    <p:sldId id="420" r:id="rId25"/>
    <p:sldId id="299" r:id="rId26"/>
    <p:sldId id="319" r:id="rId27"/>
    <p:sldId id="321" r:id="rId28"/>
    <p:sldId id="298" r:id="rId29"/>
    <p:sldId id="304" r:id="rId30"/>
    <p:sldId id="267" r:id="rId31"/>
    <p:sldId id="287" r:id="rId32"/>
    <p:sldId id="288" r:id="rId33"/>
    <p:sldId id="315" r:id="rId34"/>
    <p:sldId id="307" r:id="rId35"/>
    <p:sldId id="280" r:id="rId36"/>
    <p:sldId id="281" r:id="rId37"/>
    <p:sldId id="282" r:id="rId38"/>
    <p:sldId id="283" r:id="rId39"/>
    <p:sldId id="303" r:id="rId40"/>
    <p:sldId id="286" r:id="rId41"/>
    <p:sldId id="347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2E4CB-A6B8-4F4F-B5EB-C785305F390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7192A9-BE80-4B77-963B-4578A3B56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79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34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0" y="1252573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097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66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02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79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82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07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97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18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97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6A918-1098-4115-BAB2-9212042BA1B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80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image" Target="../media/image1.tmp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68.xml"/><Relationship Id="rId9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5" Type="http://schemas.openxmlformats.org/officeDocument/2006/relationships/image" Target="../media/image1.tmp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2" Type="http://schemas.openxmlformats.org/officeDocument/2006/relationships/tags" Target="../tags/tag88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顺序结构的程序设计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954376"/>
            <a:ext cx="6858000" cy="1655762"/>
          </a:xfrm>
        </p:spPr>
        <p:txBody>
          <a:bodyPr>
            <a:normAutofit lnSpcReduction="10000"/>
          </a:bodyPr>
          <a:lstStyle/>
          <a:p>
            <a:endParaRPr lang="en-US" altLang="zh-CN" dirty="0"/>
          </a:p>
          <a:p>
            <a:r>
              <a:rPr lang="zh-CN" altLang="en-US" dirty="0"/>
              <a:t>陈怡疆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信息学院计算机科学与技术系</a:t>
            </a:r>
          </a:p>
        </p:txBody>
      </p:sp>
      <p:sp>
        <p:nvSpPr>
          <p:cNvPr id="4" name="矩形 9"/>
          <p:cNvSpPr>
            <a:spLocks noChangeArrowheads="1"/>
          </p:cNvSpPr>
          <p:nvPr/>
        </p:nvSpPr>
        <p:spPr bwMode="auto">
          <a:xfrm>
            <a:off x="305594" y="3394869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770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常量与变量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8024" y="2435294"/>
            <a:ext cx="1296144" cy="71647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&gt;&gt;&gt;2+3</a:t>
            </a:r>
          </a:p>
          <a:p>
            <a:pPr marL="0" indent="0">
              <a:buNone/>
            </a:pP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88024" y="3461799"/>
            <a:ext cx="1890210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100" dirty="0"/>
              <a:t>&gt;&gt;&gt; x = 2</a:t>
            </a:r>
          </a:p>
          <a:p>
            <a:r>
              <a:rPr lang="zh-CN" altLang="en-US" sz="2100" dirty="0"/>
              <a:t>&gt;&gt;&gt; x</a:t>
            </a:r>
          </a:p>
          <a:p>
            <a:r>
              <a:rPr lang="zh-CN" altLang="en-US" sz="2100" dirty="0"/>
              <a:t>2</a:t>
            </a:r>
          </a:p>
          <a:p>
            <a:r>
              <a:rPr lang="zh-CN" altLang="en-US" sz="2100" dirty="0"/>
              <a:t>&gt;&gt;&gt; x = "hello"</a:t>
            </a:r>
          </a:p>
          <a:p>
            <a:r>
              <a:rPr lang="zh-CN" altLang="en-US" sz="2100" dirty="0"/>
              <a:t>&gt;&gt;&gt; x</a:t>
            </a:r>
          </a:p>
          <a:p>
            <a:r>
              <a:rPr lang="zh-CN" altLang="en-US" sz="2100" dirty="0"/>
              <a:t>'hello'</a:t>
            </a:r>
          </a:p>
        </p:txBody>
      </p:sp>
      <p:sp>
        <p:nvSpPr>
          <p:cNvPr id="6" name="矩形 5"/>
          <p:cNvSpPr/>
          <p:nvPr/>
        </p:nvSpPr>
        <p:spPr>
          <a:xfrm>
            <a:off x="1007604" y="2366604"/>
            <a:ext cx="2339102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r>
              <a:rPr lang="zh-CN" altLang="en-US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值不能改变</a:t>
            </a:r>
          </a:p>
        </p:txBody>
      </p:sp>
      <p:sp>
        <p:nvSpPr>
          <p:cNvPr id="7" name="矩形 6"/>
          <p:cNvSpPr/>
          <p:nvPr/>
        </p:nvSpPr>
        <p:spPr>
          <a:xfrm>
            <a:off x="1007603" y="2935855"/>
            <a:ext cx="2339102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</a:t>
            </a:r>
          </a:p>
        </p:txBody>
      </p:sp>
      <p:sp>
        <p:nvSpPr>
          <p:cNvPr id="27" name="矩形 26"/>
          <p:cNvSpPr/>
          <p:nvPr/>
        </p:nvSpPr>
        <p:spPr>
          <a:xfrm>
            <a:off x="1004794" y="3555031"/>
            <a:ext cx="2339102" cy="4154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r>
              <a:rPr lang="zh-CN" altLang="en-US" sz="21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的值赋给变量</a:t>
            </a:r>
            <a:endParaRPr lang="zh-CN" altLang="zh-CN" sz="2100" b="1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53598" y="4347103"/>
            <a:ext cx="32943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）不需要事先声明变量名及其类型；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）直接赋值即可创建各种类型的对象变量。</a:t>
            </a:r>
          </a:p>
        </p:txBody>
      </p:sp>
    </p:spTree>
    <p:extLst>
      <p:ext uri="{BB962C8B-B14F-4D97-AF65-F5344CB8AC3E}">
        <p14:creationId xmlns:p14="http://schemas.microsoft.com/office/powerpoint/2010/main" val="174567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F3E12-238E-4F34-8ADF-3C45D0F0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3439294" cy="1325563"/>
          </a:xfrm>
        </p:spPr>
        <p:txBody>
          <a:bodyPr/>
          <a:lstStyle/>
          <a:p>
            <a:r>
              <a:rPr lang="zh-CN" altLang="en-US" dirty="0"/>
              <a:t>内存和变量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4DB6D3-5D81-4686-A3C0-7B4552658877}"/>
              </a:ext>
            </a:extLst>
          </p:cNvPr>
          <p:cNvSpPr/>
          <p:nvPr/>
        </p:nvSpPr>
        <p:spPr>
          <a:xfrm>
            <a:off x="7440264" y="3056195"/>
            <a:ext cx="1008063" cy="649288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rgbClr val="FF0000"/>
                </a:solidFill>
              </a:rPr>
              <a:t>58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28C1A5-4D30-4C02-BCFE-5422AE1D416B}"/>
              </a:ext>
            </a:extLst>
          </p:cNvPr>
          <p:cNvSpPr/>
          <p:nvPr/>
        </p:nvSpPr>
        <p:spPr>
          <a:xfrm>
            <a:off x="7440264" y="3705483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rgbClr val="FF0000"/>
                </a:solidFill>
              </a:rPr>
              <a:t>3000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39F4-33FF-4561-85DF-A4085E22A6BB}"/>
              </a:ext>
            </a:extLst>
          </p:cNvPr>
          <p:cNvSpPr/>
          <p:nvPr/>
        </p:nvSpPr>
        <p:spPr>
          <a:xfrm>
            <a:off x="7440264" y="4353183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F9877B-1AA7-4AAC-B46F-81B7E84D688F}"/>
              </a:ext>
            </a:extLst>
          </p:cNvPr>
          <p:cNvSpPr/>
          <p:nvPr/>
        </p:nvSpPr>
        <p:spPr>
          <a:xfrm>
            <a:off x="7440264" y="5000883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801A5A-2138-4E03-910E-058E1F8AB6FC}"/>
              </a:ext>
            </a:extLst>
          </p:cNvPr>
          <p:cNvSpPr/>
          <p:nvPr/>
        </p:nvSpPr>
        <p:spPr>
          <a:xfrm>
            <a:off x="7440264" y="5650170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文本框 2">
            <a:extLst>
              <a:ext uri="{FF2B5EF4-FFF2-40B4-BE49-F238E27FC236}">
                <a16:creationId xmlns:a16="http://schemas.microsoft.com/office/drawing/2014/main" id="{0D4BAD39-0A06-4891-A98C-718A1E7DF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339" y="2978408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/>
              <a:t>3000</a:t>
            </a:r>
            <a:endParaRPr lang="zh-CN" altLang="en-US" sz="1800" dirty="0"/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BF7AA3F4-B02D-4554-8974-0F708B59F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352" y="3626108"/>
            <a:ext cx="6969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3004</a:t>
            </a:r>
            <a:endParaRPr lang="zh-CN" altLang="en-US" sz="1800"/>
          </a:p>
        </p:txBody>
      </p:sp>
      <p:sp>
        <p:nvSpPr>
          <p:cNvPr id="12" name="文本框 9">
            <a:extLst>
              <a:ext uri="{FF2B5EF4-FFF2-40B4-BE49-F238E27FC236}">
                <a16:creationId xmlns:a16="http://schemas.microsoft.com/office/drawing/2014/main" id="{21FD8CF4-79E7-4F75-871D-CE92771DB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339" y="4286508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3008</a:t>
            </a:r>
            <a:endParaRPr lang="zh-CN" altLang="en-US" sz="1800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006168DE-01C8-4979-8608-3816FCC32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339" y="4948495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3012</a:t>
            </a:r>
            <a:endParaRPr lang="zh-CN" altLang="en-US" sz="1800"/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880D867D-CCE3-418F-A407-3C2B6E910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339" y="5596195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3016</a:t>
            </a:r>
            <a:endParaRPr lang="zh-CN" altLang="en-US" sz="1800"/>
          </a:p>
        </p:txBody>
      </p:sp>
      <p:sp>
        <p:nvSpPr>
          <p:cNvPr id="15" name="文本框 7">
            <a:extLst>
              <a:ext uri="{FF2B5EF4-FFF2-40B4-BE49-F238E27FC236}">
                <a16:creationId xmlns:a16="http://schemas.microsoft.com/office/drawing/2014/main" id="{3F60F926-1FCD-4D46-B218-DDA89E237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1677" y="3195895"/>
            <a:ext cx="236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i</a:t>
            </a:r>
            <a:endParaRPr lang="zh-CN" altLang="en-US" sz="1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4B1B97-BC84-4C14-9D6C-43CD3E17164E}"/>
              </a:ext>
            </a:extLst>
          </p:cNvPr>
          <p:cNvSpPr/>
          <p:nvPr/>
        </p:nvSpPr>
        <p:spPr>
          <a:xfrm>
            <a:off x="7440264" y="5000883"/>
            <a:ext cx="1008063" cy="192087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385C2F7-86B3-4CC4-9A2C-2C1CD22BAB14}"/>
              </a:ext>
            </a:extLst>
          </p:cNvPr>
          <p:cNvCxnSpPr>
            <a:cxnSpLocks/>
          </p:cNvCxnSpPr>
          <p:nvPr/>
        </p:nvCxnSpPr>
        <p:spPr>
          <a:xfrm>
            <a:off x="7456139" y="3219708"/>
            <a:ext cx="97631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5F76D27-DF5A-4909-AE1B-54B4538E5D0E}"/>
              </a:ext>
            </a:extLst>
          </p:cNvPr>
          <p:cNvCxnSpPr>
            <a:cxnSpLocks/>
          </p:cNvCxnSpPr>
          <p:nvPr/>
        </p:nvCxnSpPr>
        <p:spPr>
          <a:xfrm>
            <a:off x="7440264" y="3389570"/>
            <a:ext cx="97631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2DDE961-5E58-4BDE-A946-21976B446C78}"/>
              </a:ext>
            </a:extLst>
          </p:cNvPr>
          <p:cNvCxnSpPr>
            <a:cxnSpLocks/>
          </p:cNvCxnSpPr>
          <p:nvPr/>
        </p:nvCxnSpPr>
        <p:spPr>
          <a:xfrm>
            <a:off x="7456139" y="3545145"/>
            <a:ext cx="97631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C91FC726-C04E-4D4C-8F59-65B98F1EA9ED}"/>
              </a:ext>
            </a:extLst>
          </p:cNvPr>
          <p:cNvSpPr/>
          <p:nvPr/>
        </p:nvSpPr>
        <p:spPr>
          <a:xfrm>
            <a:off x="7440264" y="1759821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1B528B-7A26-4051-AEF2-6095A8258E47}"/>
              </a:ext>
            </a:extLst>
          </p:cNvPr>
          <p:cNvSpPr/>
          <p:nvPr/>
        </p:nvSpPr>
        <p:spPr>
          <a:xfrm>
            <a:off x="7440264" y="2409108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0F53BA-B68A-4B6C-AFC1-F34ADE823D29}"/>
              </a:ext>
            </a:extLst>
          </p:cNvPr>
          <p:cNvSpPr/>
          <p:nvPr/>
        </p:nvSpPr>
        <p:spPr>
          <a:xfrm>
            <a:off x="7440264" y="1759821"/>
            <a:ext cx="1008063" cy="192087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5" name="文本框 2">
            <a:extLst>
              <a:ext uri="{FF2B5EF4-FFF2-40B4-BE49-F238E27FC236}">
                <a16:creationId xmlns:a16="http://schemas.microsoft.com/office/drawing/2014/main" id="{F4A047DE-B35E-4B04-A55D-483C8B3F1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881" y="1639314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/>
              <a:t>0000</a:t>
            </a:r>
            <a:endParaRPr lang="zh-CN" altLang="en-US" sz="18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980A2-C04E-4969-B3F6-29E8D59F0FC9}"/>
              </a:ext>
            </a:extLst>
          </p:cNvPr>
          <p:cNvSpPr/>
          <p:nvPr/>
        </p:nvSpPr>
        <p:spPr>
          <a:xfrm>
            <a:off x="7447268" y="1948669"/>
            <a:ext cx="1001060" cy="18103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">
            <a:extLst>
              <a:ext uri="{FF2B5EF4-FFF2-40B4-BE49-F238E27FC236}">
                <a16:creationId xmlns:a16="http://schemas.microsoft.com/office/drawing/2014/main" id="{C7A47CD6-1CD2-4658-BBE7-08188DB8B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880" y="1871945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/>
              <a:t>0001</a:t>
            </a:r>
            <a:endParaRPr lang="zh-CN" altLang="en-US" sz="18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96DC75A-AC66-4379-AE44-E8511654E63E}"/>
              </a:ext>
            </a:extLst>
          </p:cNvPr>
          <p:cNvSpPr txBox="1"/>
          <p:nvPr/>
        </p:nvSpPr>
        <p:spPr>
          <a:xfrm>
            <a:off x="439428" y="1786416"/>
            <a:ext cx="55838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内存条中有非常多的相同的小电路，该电路能保存一个位（</a:t>
            </a:r>
            <a:r>
              <a:rPr lang="en-US" altLang="zh-CN" dirty="0"/>
              <a:t>bit</a:t>
            </a:r>
            <a:r>
              <a:rPr lang="zh-CN" altLang="en-US" dirty="0"/>
              <a:t>），也能被读出。高电平表示</a:t>
            </a:r>
            <a:r>
              <a:rPr lang="en-US" altLang="zh-CN" dirty="0"/>
              <a:t>1</a:t>
            </a:r>
            <a:r>
              <a:rPr lang="zh-CN" altLang="en-US" dirty="0"/>
              <a:t>，低电平表示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我们把</a:t>
            </a:r>
            <a:r>
              <a:rPr lang="en-US" altLang="zh-CN" dirty="0"/>
              <a:t>8</a:t>
            </a:r>
            <a:r>
              <a:rPr lang="zh-CN" altLang="en-US" dirty="0"/>
              <a:t>个这样的小电路看成一个组，称之为字节（</a:t>
            </a:r>
            <a:r>
              <a:rPr lang="en-US" altLang="zh-CN" dirty="0"/>
              <a:t>byte</a:t>
            </a:r>
            <a:r>
              <a:rPr lang="zh-CN" altLang="en-US" dirty="0"/>
              <a:t>）。并给每个字节一个编号，称之为地址。</a:t>
            </a:r>
            <a:endParaRPr lang="en-US" altLang="zh-CN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109EB2-B184-429F-B238-756A3E97AAD1}"/>
              </a:ext>
            </a:extLst>
          </p:cNvPr>
          <p:cNvSpPr/>
          <p:nvPr/>
        </p:nvSpPr>
        <p:spPr>
          <a:xfrm>
            <a:off x="1050009" y="3707789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2A2EB73-E9D7-49D8-9CA0-BAE953DBDC38}"/>
              </a:ext>
            </a:extLst>
          </p:cNvPr>
          <p:cNvSpPr/>
          <p:nvPr/>
        </p:nvSpPr>
        <p:spPr>
          <a:xfrm>
            <a:off x="1398373" y="3707789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2787185-5177-4EB1-AA7F-732B37C9889B}"/>
              </a:ext>
            </a:extLst>
          </p:cNvPr>
          <p:cNvSpPr/>
          <p:nvPr/>
        </p:nvSpPr>
        <p:spPr>
          <a:xfrm>
            <a:off x="1741507" y="3707789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0FE8CE-83E4-4855-841E-2B92BF270A2A}"/>
              </a:ext>
            </a:extLst>
          </p:cNvPr>
          <p:cNvSpPr/>
          <p:nvPr/>
        </p:nvSpPr>
        <p:spPr>
          <a:xfrm>
            <a:off x="2089871" y="3707789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2AEAF61-103A-437A-BD52-FF3C23FD6A53}"/>
              </a:ext>
            </a:extLst>
          </p:cNvPr>
          <p:cNvSpPr/>
          <p:nvPr/>
        </p:nvSpPr>
        <p:spPr>
          <a:xfrm>
            <a:off x="2438419" y="3707789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9B3579-768A-4C92-8948-CF17B9191DEA}"/>
              </a:ext>
            </a:extLst>
          </p:cNvPr>
          <p:cNvSpPr/>
          <p:nvPr/>
        </p:nvSpPr>
        <p:spPr>
          <a:xfrm>
            <a:off x="2786783" y="3707789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20C55E5-1B70-4EA2-BF4C-ADEDEE2E4869}"/>
              </a:ext>
            </a:extLst>
          </p:cNvPr>
          <p:cNvSpPr/>
          <p:nvPr/>
        </p:nvSpPr>
        <p:spPr>
          <a:xfrm>
            <a:off x="3129917" y="3707789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32B5DA-6748-4948-B907-6FF9C8D6E610}"/>
              </a:ext>
            </a:extLst>
          </p:cNvPr>
          <p:cNvSpPr/>
          <p:nvPr/>
        </p:nvSpPr>
        <p:spPr>
          <a:xfrm>
            <a:off x="3478281" y="3707789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1ED4F30-C31B-47B0-B266-A11793B0BA01}"/>
              </a:ext>
            </a:extLst>
          </p:cNvPr>
          <p:cNvSpPr txBox="1"/>
          <p:nvPr/>
        </p:nvSpPr>
        <p:spPr>
          <a:xfrm>
            <a:off x="1050009" y="3418864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7     6    5    4    3     2    1     0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07F69FE-86ED-4931-82C8-6D39CE844B66}"/>
              </a:ext>
            </a:extLst>
          </p:cNvPr>
          <p:cNvSpPr txBox="1"/>
          <p:nvPr/>
        </p:nvSpPr>
        <p:spPr>
          <a:xfrm>
            <a:off x="498152" y="4191501"/>
            <a:ext cx="5525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每一位都可以取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，那么一个字节共有</a:t>
            </a:r>
            <a:r>
              <a:rPr lang="en-US" altLang="zh-CN" dirty="0"/>
              <a:t>2</a:t>
            </a:r>
            <a:r>
              <a:rPr lang="en-US" altLang="zh-CN" baseline="30000" dirty="0"/>
              <a:t>8</a:t>
            </a:r>
            <a:r>
              <a:rPr lang="en-US" altLang="zh-CN" dirty="0"/>
              <a:t>=256</a:t>
            </a:r>
            <a:r>
              <a:rPr lang="zh-CN" altLang="en-US" dirty="0"/>
              <a:t>种不同的表示，代表</a:t>
            </a:r>
            <a:r>
              <a:rPr lang="en-US" altLang="zh-CN" dirty="0"/>
              <a:t>256</a:t>
            </a:r>
            <a:r>
              <a:rPr lang="zh-CN" altLang="en-US" dirty="0"/>
              <a:t>个不同的值。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比如 </a:t>
            </a:r>
            <a:r>
              <a:rPr lang="en-US" altLang="zh-CN" dirty="0"/>
              <a:t>11111110</a:t>
            </a:r>
            <a:r>
              <a:rPr lang="zh-CN" altLang="en-US" dirty="0"/>
              <a:t>，如果表示有符号整数，最高位</a:t>
            </a:r>
            <a:r>
              <a:rPr lang="en-US" altLang="zh-CN" dirty="0"/>
              <a:t>1</a:t>
            </a:r>
            <a:r>
              <a:rPr lang="zh-CN" altLang="en-US" dirty="0"/>
              <a:t>表示负数，那么它代表的值是</a:t>
            </a:r>
            <a:r>
              <a:rPr lang="en-US" altLang="zh-CN" dirty="0"/>
              <a:t>-2</a:t>
            </a:r>
            <a:r>
              <a:rPr lang="zh-CN" altLang="en-US" dirty="0"/>
              <a:t>；如果表示无符号整数，最高位</a:t>
            </a:r>
            <a:r>
              <a:rPr lang="en-US" altLang="zh-CN" dirty="0"/>
              <a:t>1</a:t>
            </a:r>
            <a:r>
              <a:rPr lang="zh-CN" altLang="en-US" dirty="0"/>
              <a:t>也是用来表示值，那么它代表的值是</a:t>
            </a:r>
            <a:r>
              <a:rPr lang="en-US" altLang="zh-CN" dirty="0"/>
              <a:t>254</a:t>
            </a:r>
            <a:r>
              <a:rPr lang="zh-CN" altLang="en-US" dirty="0"/>
              <a:t>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3C2278-8F2E-49F9-B90B-ACE46DAB6AA8}"/>
              </a:ext>
            </a:extLst>
          </p:cNvPr>
          <p:cNvSpPr txBox="1"/>
          <p:nvPr/>
        </p:nvSpPr>
        <p:spPr>
          <a:xfrm>
            <a:off x="5652120" y="242598"/>
            <a:ext cx="324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内存就像是一个很长的纸条，可以在上面写数，也可以读数，也可以用橡皮擦擦掉某个数后，写上新的数。</a:t>
            </a:r>
          </a:p>
        </p:txBody>
      </p:sp>
      <p:sp>
        <p:nvSpPr>
          <p:cNvPr id="39" name="矩形 5">
            <a:extLst>
              <a:ext uri="{FF2B5EF4-FFF2-40B4-BE49-F238E27FC236}">
                <a16:creationId xmlns:a16="http://schemas.microsoft.com/office/drawing/2014/main" id="{2D623607-7EF2-46A9-8D90-9A504A904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14" y="5959316"/>
            <a:ext cx="6601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0 0 0 0 0 0 0 0  0 0 0 0 0 0 0 0  0 0 0 0 0 0 0 0  0 0 0 0 0 0 0 1     </a:t>
            </a:r>
            <a:r>
              <a:rPr lang="zh-CN" altLang="en-US" sz="1600" dirty="0"/>
              <a:t>代表</a:t>
            </a:r>
            <a:r>
              <a:rPr lang="en-US" altLang="zh-CN" sz="1600" dirty="0"/>
              <a:t>1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A688113-3838-4E27-8A25-6E085DFAEA0A}"/>
              </a:ext>
            </a:extLst>
          </p:cNvPr>
          <p:cNvCxnSpPr>
            <a:cxnSpLocks/>
          </p:cNvCxnSpPr>
          <p:nvPr/>
        </p:nvCxnSpPr>
        <p:spPr>
          <a:xfrm>
            <a:off x="217452" y="6345807"/>
            <a:ext cx="1317733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315B5A1-94F8-42D9-84C5-3F9BD5454B65}"/>
              </a:ext>
            </a:extLst>
          </p:cNvPr>
          <p:cNvCxnSpPr>
            <a:cxnSpLocks/>
          </p:cNvCxnSpPr>
          <p:nvPr/>
        </p:nvCxnSpPr>
        <p:spPr>
          <a:xfrm>
            <a:off x="1676377" y="6345807"/>
            <a:ext cx="1242992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A677259-1145-481E-BD8B-05EF9F705C7D}"/>
              </a:ext>
            </a:extLst>
          </p:cNvPr>
          <p:cNvCxnSpPr>
            <a:cxnSpLocks/>
          </p:cNvCxnSpPr>
          <p:nvPr/>
        </p:nvCxnSpPr>
        <p:spPr>
          <a:xfrm>
            <a:off x="3064787" y="6345807"/>
            <a:ext cx="1272321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4B39D927-420D-497A-B179-C7BCD5E5CC14}"/>
              </a:ext>
            </a:extLst>
          </p:cNvPr>
          <p:cNvCxnSpPr>
            <a:cxnSpLocks/>
          </p:cNvCxnSpPr>
          <p:nvPr/>
        </p:nvCxnSpPr>
        <p:spPr>
          <a:xfrm>
            <a:off x="4510408" y="6345807"/>
            <a:ext cx="1269607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12">
            <a:extLst>
              <a:ext uri="{FF2B5EF4-FFF2-40B4-BE49-F238E27FC236}">
                <a16:creationId xmlns:a16="http://schemas.microsoft.com/office/drawing/2014/main" id="{7857714C-206C-496F-ACF3-A1FF7EB36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14" y="6479797"/>
            <a:ext cx="66704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1 1 1 1 1 1 1 1  1 1 1 1 1 1 1 1  1 1 1 1 1 1 1 1  1 1 1 1 1 1 1 1     </a:t>
            </a:r>
            <a:r>
              <a:rPr lang="zh-CN" altLang="en-US" sz="1600" dirty="0"/>
              <a:t>代表</a:t>
            </a:r>
            <a:r>
              <a:rPr lang="en-US" altLang="zh-CN" sz="1600" dirty="0"/>
              <a:t>-1</a:t>
            </a:r>
          </a:p>
        </p:txBody>
      </p:sp>
      <p:sp>
        <p:nvSpPr>
          <p:cNvPr id="50" name="矩形 17">
            <a:extLst>
              <a:ext uri="{FF2B5EF4-FFF2-40B4-BE49-F238E27FC236}">
                <a16:creationId xmlns:a16="http://schemas.microsoft.com/office/drawing/2014/main" id="{0B90B57E-C165-4540-8ED4-F70E7C4A6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14" y="5584666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32</a:t>
            </a:r>
            <a:r>
              <a:rPr lang="zh-CN" altLang="en-US" sz="1800" dirty="0">
                <a:solidFill>
                  <a:srgbClr val="FF0000"/>
                </a:solidFill>
              </a:rPr>
              <a:t>位二进制数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4475A5-C912-45E6-BD72-37DF0EEE734C}"/>
              </a:ext>
            </a:extLst>
          </p:cNvPr>
          <p:cNvSpPr txBox="1"/>
          <p:nvPr/>
        </p:nvSpPr>
        <p:spPr>
          <a:xfrm>
            <a:off x="146014" y="159391"/>
            <a:ext cx="4333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1K=2</a:t>
            </a:r>
            <a:r>
              <a:rPr lang="en-US" altLang="zh-CN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=1024      1M=2</a:t>
            </a:r>
            <a:r>
              <a:rPr lang="en-US" altLang="zh-CN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1G = 2</a:t>
            </a:r>
            <a:r>
              <a:rPr lang="en-US" altLang="zh-CN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endParaRPr lang="zh-CN" altLang="en-US" baseline="30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2CEDABC3-6945-4A75-8EF8-671D3FBD4EA9}"/>
              </a:ext>
            </a:extLst>
          </p:cNvPr>
          <p:cNvCxnSpPr>
            <a:cxnSpLocks/>
          </p:cNvCxnSpPr>
          <p:nvPr/>
        </p:nvCxnSpPr>
        <p:spPr>
          <a:xfrm>
            <a:off x="234230" y="6789923"/>
            <a:ext cx="1317733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8EC79D3-2F18-456B-86FE-A286C8799D89}"/>
              </a:ext>
            </a:extLst>
          </p:cNvPr>
          <p:cNvCxnSpPr>
            <a:cxnSpLocks/>
          </p:cNvCxnSpPr>
          <p:nvPr/>
        </p:nvCxnSpPr>
        <p:spPr>
          <a:xfrm>
            <a:off x="1676377" y="6789923"/>
            <a:ext cx="1242992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C7D0491-CA77-42BB-ACAE-D015844219AF}"/>
              </a:ext>
            </a:extLst>
          </p:cNvPr>
          <p:cNvCxnSpPr>
            <a:cxnSpLocks/>
          </p:cNvCxnSpPr>
          <p:nvPr/>
        </p:nvCxnSpPr>
        <p:spPr>
          <a:xfrm>
            <a:off x="3081565" y="6789923"/>
            <a:ext cx="1272321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42B4A3E8-2F9A-470E-96F9-7CFA9CC58EE1}"/>
              </a:ext>
            </a:extLst>
          </p:cNvPr>
          <p:cNvCxnSpPr>
            <a:cxnSpLocks/>
          </p:cNvCxnSpPr>
          <p:nvPr/>
        </p:nvCxnSpPr>
        <p:spPr>
          <a:xfrm>
            <a:off x="4527186" y="6789923"/>
            <a:ext cx="1269607" cy="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46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2.3  </a:t>
            </a:r>
            <a:r>
              <a:rPr lang="zh-CN" altLang="zh-CN" b="1">
                <a:solidFill>
                  <a:srgbClr val="245794"/>
                </a:solidFill>
              </a:rPr>
              <a:t>赋值语句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10535" y="1423374"/>
            <a:ext cx="8319571" cy="2746375"/>
          </a:xfrm>
        </p:spPr>
        <p:txBody>
          <a:bodyPr>
            <a:normAutofit/>
          </a:bodyPr>
          <a:lstStyle/>
          <a:p>
            <a:pPr indent="457200">
              <a:lnSpc>
                <a:spcPct val="100000"/>
              </a:lnSpc>
              <a:spcAft>
                <a:spcPts val="600"/>
              </a:spcAft>
            </a:pPr>
            <a:r>
              <a:rPr lang="zh-CN" altLang="zh-CN" sz="2000" b="1" dirty="0">
                <a:latin typeface="+mj-ea"/>
                <a:ea typeface="+mj-ea"/>
              </a:rPr>
              <a:t>赋值语句的一般格式为：</a:t>
            </a:r>
            <a:endParaRPr lang="en-US" altLang="zh-CN" sz="2000" b="1" dirty="0">
              <a:latin typeface="+mj-ea"/>
              <a:ea typeface="+mj-ea"/>
            </a:endParaRPr>
          </a:p>
          <a:p>
            <a:pPr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TW" sz="2000" b="1" dirty="0">
                <a:solidFill>
                  <a:srgbClr val="0070C0"/>
                </a:solidFill>
                <a:latin typeface="+mj-ea"/>
                <a:ea typeface="+mj-ea"/>
              </a:rPr>
              <a:t>                      </a:t>
            </a:r>
            <a:r>
              <a:rPr lang="zh-TW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TW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TW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00000"/>
              </a:lnSpc>
              <a:spcAft>
                <a:spcPts val="600"/>
              </a:spcAft>
            </a:pPr>
            <a:r>
              <a:rPr lang="zh-CN" altLang="zh-CN" sz="2000" b="1" dirty="0">
                <a:latin typeface="+mj-ea"/>
                <a:ea typeface="+mj-ea"/>
              </a:rPr>
              <a:t>赋值号左边必须是变量，右边则是表达式。</a:t>
            </a:r>
            <a:endParaRPr lang="en-US" altLang="zh-CN" sz="2000" b="1" dirty="0">
              <a:latin typeface="+mj-ea"/>
              <a:ea typeface="+mj-ea"/>
            </a:endParaRPr>
          </a:p>
          <a:p>
            <a:pPr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zh-CN" altLang="en-US" sz="2000" b="1" dirty="0">
                <a:solidFill>
                  <a:srgbClr val="002060"/>
                </a:solidFill>
                <a:latin typeface="+mj-ea"/>
                <a:ea typeface="+mj-ea"/>
              </a:rPr>
              <a:t>       例如，        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x = 2 + a + abs(-3)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580775-DC26-4473-8B69-80A7ADECB110}"/>
              </a:ext>
            </a:extLst>
          </p:cNvPr>
          <p:cNvSpPr txBox="1"/>
          <p:nvPr/>
        </p:nvSpPr>
        <p:spPr>
          <a:xfrm>
            <a:off x="628650" y="4486496"/>
            <a:ext cx="62167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+mj-ea"/>
                <a:ea typeface="+mj-ea"/>
              </a:rPr>
              <a:t>表达式的定义：</a:t>
            </a:r>
            <a:endParaRPr lang="en-US" altLang="zh-CN" sz="2000" b="1" dirty="0">
              <a:latin typeface="+mj-ea"/>
              <a:ea typeface="+mj-ea"/>
            </a:endParaRPr>
          </a:p>
          <a:p>
            <a:r>
              <a:rPr lang="zh-CN" altLang="en-US" sz="2000" b="1" dirty="0">
                <a:latin typeface="+mj-ea"/>
                <a:ea typeface="+mj-ea"/>
              </a:rPr>
              <a:t>（</a:t>
            </a: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en-US" sz="2000" b="1" dirty="0">
                <a:latin typeface="+mj-ea"/>
                <a:ea typeface="+mj-ea"/>
              </a:rPr>
              <a:t>）常量、变量和函数调用是表达式；</a:t>
            </a:r>
            <a:endParaRPr lang="en-US" altLang="zh-CN" sz="2000" b="1" dirty="0">
              <a:latin typeface="+mj-ea"/>
              <a:ea typeface="+mj-ea"/>
            </a:endParaRPr>
          </a:p>
          <a:p>
            <a:r>
              <a:rPr lang="zh-CN" altLang="en-US" sz="2000" b="1" dirty="0">
                <a:latin typeface="+mj-ea"/>
                <a:ea typeface="+mj-ea"/>
              </a:rPr>
              <a:t>（</a:t>
            </a:r>
            <a:r>
              <a:rPr lang="en-US" altLang="zh-CN" sz="2000" b="1" dirty="0">
                <a:latin typeface="+mj-ea"/>
                <a:ea typeface="+mj-ea"/>
              </a:rPr>
              <a:t>2</a:t>
            </a:r>
            <a:r>
              <a:rPr lang="zh-CN" altLang="en-US" sz="2000" b="1" dirty="0">
                <a:latin typeface="+mj-ea"/>
                <a:ea typeface="+mj-ea"/>
              </a:rPr>
              <a:t>）表达式和表达式通过运算符构成更大的表达式。</a:t>
            </a:r>
          </a:p>
        </p:txBody>
      </p:sp>
    </p:spTree>
    <p:extLst>
      <p:ext uri="{BB962C8B-B14F-4D97-AF65-F5344CB8AC3E}">
        <p14:creationId xmlns:p14="http://schemas.microsoft.com/office/powerpoint/2010/main" val="280252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2.3  </a:t>
            </a:r>
            <a:r>
              <a:rPr lang="zh-CN" altLang="zh-CN" b="1">
                <a:solidFill>
                  <a:srgbClr val="245794"/>
                </a:solidFill>
              </a:rPr>
              <a:t>赋值语句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12214" y="1432293"/>
            <a:ext cx="8319571" cy="2801248"/>
          </a:xfrm>
        </p:spPr>
        <p:txBody>
          <a:bodyPr>
            <a:normAutofit/>
          </a:bodyPr>
          <a:lstStyle/>
          <a:p>
            <a:pPr indent="457200">
              <a:lnSpc>
                <a:spcPct val="100000"/>
              </a:lnSpc>
              <a:spcAft>
                <a:spcPts val="600"/>
              </a:spcAft>
            </a:pPr>
            <a:r>
              <a:rPr lang="zh-CN" altLang="zh-CN" sz="2000" b="1" dirty="0">
                <a:latin typeface="+mj-ea"/>
                <a:ea typeface="+mj-ea"/>
              </a:rPr>
              <a:t>赋值语句的一般格式为：</a:t>
            </a:r>
            <a:endParaRPr lang="en-US" altLang="zh-CN" sz="2000" b="1" dirty="0">
              <a:latin typeface="+mj-ea"/>
              <a:ea typeface="+mj-ea"/>
            </a:endParaRPr>
          </a:p>
          <a:p>
            <a:pPr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TW" sz="2000" b="1" dirty="0">
                <a:solidFill>
                  <a:srgbClr val="0070C0"/>
                </a:solidFill>
                <a:latin typeface="+mj-ea"/>
                <a:ea typeface="+mj-ea"/>
              </a:rPr>
              <a:t>                      </a:t>
            </a:r>
            <a:r>
              <a:rPr lang="zh-TW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TW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TW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00000"/>
              </a:lnSpc>
              <a:spcAft>
                <a:spcPts val="600"/>
              </a:spcAft>
            </a:pPr>
            <a:r>
              <a:rPr lang="zh-CN" altLang="zh-CN" sz="2000" b="1" dirty="0">
                <a:solidFill>
                  <a:srgbClr val="FF0000"/>
                </a:solidFill>
                <a:latin typeface="+mj-ea"/>
                <a:ea typeface="+mj-ea"/>
              </a:rPr>
              <a:t>赋值号</a:t>
            </a:r>
            <a:r>
              <a:rPr lang="zh-CN" altLang="zh-CN" sz="2000" b="1" dirty="0">
                <a:latin typeface="+mj-ea"/>
                <a:ea typeface="+mj-ea"/>
              </a:rPr>
              <a:t>左边必须是变量，右边则是表达式。</a:t>
            </a:r>
            <a:endParaRPr lang="en-US" altLang="zh-CN" sz="2000" b="1" dirty="0">
              <a:latin typeface="+mj-ea"/>
              <a:ea typeface="+mj-ea"/>
            </a:endParaRPr>
          </a:p>
          <a:p>
            <a:pPr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+mj-ea"/>
                <a:ea typeface="+mj-ea"/>
              </a:rPr>
              <a:t>       </a:t>
            </a:r>
            <a:r>
              <a:rPr lang="zh-CN" altLang="en-US" sz="2000" b="1" dirty="0">
                <a:solidFill>
                  <a:srgbClr val="002060"/>
                </a:solidFill>
                <a:latin typeface="+mj-ea"/>
                <a:ea typeface="+mj-ea"/>
              </a:rPr>
              <a:t>例如，        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x = 2 + a</a:t>
            </a:r>
          </a:p>
          <a:p>
            <a:pPr indent="457200">
              <a:lnSpc>
                <a:spcPct val="100000"/>
              </a:lnSpc>
              <a:spcAft>
                <a:spcPts val="60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+mj-ea"/>
                <a:ea typeface="+mj-ea"/>
              </a:rPr>
              <a:t>Python</a:t>
            </a: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的变量并不直接存储值，而是存储了值的内存地址或者引用</a:t>
            </a:r>
            <a:r>
              <a:rPr lang="zh-CN" altLang="en-US" sz="2000" b="1" dirty="0">
                <a:latin typeface="+mj-ea"/>
                <a:ea typeface="+mj-ea"/>
              </a:rPr>
              <a:t>，这是变量类型随时可以改变的原因。</a:t>
            </a:r>
            <a:endParaRPr lang="zh-CN" altLang="zh-CN" sz="2000" b="1" dirty="0">
              <a:latin typeface="+mj-ea"/>
              <a:ea typeface="+mj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3685C5B-25E8-4649-A120-8FEC05B0692A}"/>
              </a:ext>
            </a:extLst>
          </p:cNvPr>
          <p:cNvSpPr txBox="1"/>
          <p:nvPr/>
        </p:nvSpPr>
        <p:spPr>
          <a:xfrm>
            <a:off x="4066604" y="5087046"/>
            <a:ext cx="95458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x  3000</a:t>
            </a:r>
            <a:endParaRPr lang="zh-CN" altLang="en-US" sz="2000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176DB3A-6452-409D-B4AE-61334F23F6DB}"/>
              </a:ext>
            </a:extLst>
          </p:cNvPr>
          <p:cNvCxnSpPr>
            <a:cxnSpLocks/>
            <a:stCxn id="29" idx="3"/>
            <a:endCxn id="40" idx="1"/>
          </p:cNvCxnSpPr>
          <p:nvPr/>
        </p:nvCxnSpPr>
        <p:spPr>
          <a:xfrm flipV="1">
            <a:off x="5021186" y="5026512"/>
            <a:ext cx="596578" cy="260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60195A49-4D70-4E09-943A-EF5C1143CA9A}"/>
              </a:ext>
            </a:extLst>
          </p:cNvPr>
          <p:cNvSpPr/>
          <p:nvPr/>
        </p:nvSpPr>
        <p:spPr>
          <a:xfrm>
            <a:off x="8021085" y="4571878"/>
            <a:ext cx="709022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39651F7-C86E-4F03-BD20-AA93C9177A9C}"/>
              </a:ext>
            </a:extLst>
          </p:cNvPr>
          <p:cNvSpPr/>
          <p:nvPr/>
        </p:nvSpPr>
        <p:spPr>
          <a:xfrm>
            <a:off x="8021085" y="4892380"/>
            <a:ext cx="709022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3F5E2C-FA38-4CFC-814D-739142908227}"/>
              </a:ext>
            </a:extLst>
          </p:cNvPr>
          <p:cNvSpPr/>
          <p:nvPr/>
        </p:nvSpPr>
        <p:spPr>
          <a:xfrm>
            <a:off x="8021084" y="5211875"/>
            <a:ext cx="709023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3DF5543-E51E-4653-BC56-C77B3DFC205B}"/>
              </a:ext>
            </a:extLst>
          </p:cNvPr>
          <p:cNvSpPr/>
          <p:nvPr/>
        </p:nvSpPr>
        <p:spPr>
          <a:xfrm>
            <a:off x="8021085" y="5532377"/>
            <a:ext cx="709024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hello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D89561-A8F9-4AA9-95FE-D7FE3A20BF4C}"/>
              </a:ext>
            </a:extLst>
          </p:cNvPr>
          <p:cNvSpPr/>
          <p:nvPr/>
        </p:nvSpPr>
        <p:spPr>
          <a:xfrm>
            <a:off x="8021085" y="5851871"/>
            <a:ext cx="709024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1BF459-87BB-496C-A59E-EC3FDE94484F}"/>
              </a:ext>
            </a:extLst>
          </p:cNvPr>
          <p:cNvSpPr/>
          <p:nvPr/>
        </p:nvSpPr>
        <p:spPr>
          <a:xfrm>
            <a:off x="8021085" y="6172373"/>
            <a:ext cx="709024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28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32E0DCA-49DD-422B-8078-5BB16A40A075}"/>
              </a:ext>
            </a:extLst>
          </p:cNvPr>
          <p:cNvSpPr txBox="1"/>
          <p:nvPr/>
        </p:nvSpPr>
        <p:spPr>
          <a:xfrm>
            <a:off x="6533358" y="5128104"/>
            <a:ext cx="92508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x  5000</a:t>
            </a:r>
            <a:endParaRPr lang="zh-CN" altLang="en-US" sz="2000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A3B0075-F563-4725-BE7D-488AF68364F0}"/>
              </a:ext>
            </a:extLst>
          </p:cNvPr>
          <p:cNvCxnSpPr>
            <a:cxnSpLocks/>
            <a:stCxn id="37" idx="3"/>
            <a:endCxn id="34" idx="1"/>
          </p:cNvCxnSpPr>
          <p:nvPr/>
        </p:nvCxnSpPr>
        <p:spPr>
          <a:xfrm>
            <a:off x="7458439" y="5328159"/>
            <a:ext cx="562646" cy="364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65373486-0C45-4875-81BB-F4937B7F4B0E}"/>
              </a:ext>
            </a:extLst>
          </p:cNvPr>
          <p:cNvSpPr/>
          <p:nvPr/>
        </p:nvSpPr>
        <p:spPr>
          <a:xfrm>
            <a:off x="5617764" y="4545759"/>
            <a:ext cx="709022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F984F51-4B59-4338-9B52-08EB8DB5088D}"/>
              </a:ext>
            </a:extLst>
          </p:cNvPr>
          <p:cNvSpPr/>
          <p:nvPr/>
        </p:nvSpPr>
        <p:spPr>
          <a:xfrm>
            <a:off x="5617764" y="4866261"/>
            <a:ext cx="709022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2BC5F9B-EE20-4FE5-8794-F3E483831E22}"/>
              </a:ext>
            </a:extLst>
          </p:cNvPr>
          <p:cNvSpPr/>
          <p:nvPr/>
        </p:nvSpPr>
        <p:spPr>
          <a:xfrm>
            <a:off x="5617763" y="5185756"/>
            <a:ext cx="709023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A59D102-7202-4EE4-9DFC-C2F1FFB67491}"/>
              </a:ext>
            </a:extLst>
          </p:cNvPr>
          <p:cNvSpPr/>
          <p:nvPr/>
        </p:nvSpPr>
        <p:spPr>
          <a:xfrm>
            <a:off x="5617764" y="5506258"/>
            <a:ext cx="709024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C5AC3E-6C42-4260-962F-8B39C242DA48}"/>
              </a:ext>
            </a:extLst>
          </p:cNvPr>
          <p:cNvSpPr/>
          <p:nvPr/>
        </p:nvSpPr>
        <p:spPr>
          <a:xfrm>
            <a:off x="5617764" y="5825752"/>
            <a:ext cx="709024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46BF29A-270B-4348-BEDE-D97962AAC853}"/>
              </a:ext>
            </a:extLst>
          </p:cNvPr>
          <p:cNvSpPr/>
          <p:nvPr/>
        </p:nvSpPr>
        <p:spPr>
          <a:xfrm>
            <a:off x="5617764" y="6146254"/>
            <a:ext cx="709024" cy="32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28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9073B8D-7902-45A4-9E58-015EE68CEAEF}"/>
              </a:ext>
            </a:extLst>
          </p:cNvPr>
          <p:cNvSpPr txBox="1"/>
          <p:nvPr/>
        </p:nvSpPr>
        <p:spPr>
          <a:xfrm>
            <a:off x="5017693" y="475974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3000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11CEF86-1457-43B7-A8B3-87EBA7D94954}"/>
              </a:ext>
            </a:extLst>
          </p:cNvPr>
          <p:cNvSpPr txBox="1"/>
          <p:nvPr/>
        </p:nvSpPr>
        <p:spPr>
          <a:xfrm>
            <a:off x="7421014" y="480839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3000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9F8F05A-3130-4588-8B65-9B40E51BF607}"/>
              </a:ext>
            </a:extLst>
          </p:cNvPr>
          <p:cNvSpPr txBox="1"/>
          <p:nvPr/>
        </p:nvSpPr>
        <p:spPr>
          <a:xfrm>
            <a:off x="7461056" y="5398754"/>
            <a:ext cx="67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5000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EC97187-4AF2-4A60-A885-72E2EF4CAD64}"/>
              </a:ext>
            </a:extLst>
          </p:cNvPr>
          <p:cNvSpPr txBox="1"/>
          <p:nvPr/>
        </p:nvSpPr>
        <p:spPr>
          <a:xfrm>
            <a:off x="4069220" y="5488128"/>
            <a:ext cx="95458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y  8000</a:t>
            </a:r>
            <a:endParaRPr lang="zh-CN" altLang="en-US" sz="20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85CBEC7-F619-499C-95F9-3072F6E14CB1}"/>
              </a:ext>
            </a:extLst>
          </p:cNvPr>
          <p:cNvSpPr txBox="1"/>
          <p:nvPr/>
        </p:nvSpPr>
        <p:spPr>
          <a:xfrm>
            <a:off x="6533359" y="5527107"/>
            <a:ext cx="9276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y  8000</a:t>
            </a:r>
            <a:endParaRPr lang="zh-CN" altLang="en-US" sz="2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C6A2BF2-6D34-423B-BD9F-4C5411B2A877}"/>
              </a:ext>
            </a:extLst>
          </p:cNvPr>
          <p:cNvCxnSpPr>
            <a:stCxn id="48" idx="3"/>
            <a:endCxn id="44" idx="1"/>
          </p:cNvCxnSpPr>
          <p:nvPr/>
        </p:nvCxnSpPr>
        <p:spPr>
          <a:xfrm>
            <a:off x="5023802" y="5688183"/>
            <a:ext cx="593962" cy="618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5A887F30-60D0-4674-9562-7A0EED6CD044}"/>
              </a:ext>
            </a:extLst>
          </p:cNvPr>
          <p:cNvCxnSpPr/>
          <p:nvPr/>
        </p:nvCxnSpPr>
        <p:spPr>
          <a:xfrm>
            <a:off x="7467443" y="5726695"/>
            <a:ext cx="593962" cy="618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F1DDA4BE-C41D-4341-B6D8-93959722BB32}"/>
              </a:ext>
            </a:extLst>
          </p:cNvPr>
          <p:cNvSpPr txBox="1"/>
          <p:nvPr/>
        </p:nvSpPr>
        <p:spPr>
          <a:xfrm>
            <a:off x="412214" y="4430771"/>
            <a:ext cx="334578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x = 2</a:t>
            </a:r>
          </a:p>
          <a:p>
            <a:r>
              <a:rPr lang="en-US" altLang="zh-CN" sz="2400" dirty="0"/>
              <a:t>x = “hello”</a:t>
            </a:r>
          </a:p>
          <a:p>
            <a:endParaRPr lang="en-US" altLang="zh-CN" sz="2000" dirty="0"/>
          </a:p>
          <a:p>
            <a:r>
              <a:rPr lang="en-US" altLang="zh-CN" sz="2000" dirty="0"/>
              <a:t>3000,5000</a:t>
            </a:r>
            <a:r>
              <a:rPr lang="zh-CN" altLang="en-US" sz="2000" dirty="0"/>
              <a:t>和</a:t>
            </a:r>
            <a:r>
              <a:rPr lang="en-US" altLang="zh-CN" sz="2000" dirty="0"/>
              <a:t>8000</a:t>
            </a:r>
            <a:r>
              <a:rPr lang="zh-CN" altLang="en-US" sz="2000" dirty="0"/>
              <a:t>是内存地址</a:t>
            </a:r>
            <a:endParaRPr lang="en-US" altLang="zh-CN" sz="2000" dirty="0"/>
          </a:p>
          <a:p>
            <a:r>
              <a:rPr lang="en-US" altLang="zh-CN" sz="2000" dirty="0"/>
              <a:t>&gt;&gt;&gt;id(y)</a:t>
            </a:r>
          </a:p>
          <a:p>
            <a:r>
              <a:rPr lang="en-US" altLang="zh-CN" sz="2000" dirty="0"/>
              <a:t>8000</a:t>
            </a:r>
            <a:endParaRPr lang="zh-CN" altLang="en-US" sz="20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80AFCFF-070A-4CB2-8D33-BBF7ACB5C6D0}"/>
              </a:ext>
            </a:extLst>
          </p:cNvPr>
          <p:cNvSpPr txBox="1"/>
          <p:nvPr/>
        </p:nvSpPr>
        <p:spPr>
          <a:xfrm>
            <a:off x="5340116" y="190458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0000</a:t>
            </a:r>
          </a:p>
          <a:p>
            <a:r>
              <a:rPr lang="en-US" altLang="zh-CN" dirty="0"/>
              <a:t>0001</a:t>
            </a:r>
          </a:p>
          <a:p>
            <a:r>
              <a:rPr lang="en-US" altLang="zh-CN" dirty="0"/>
              <a:t>0002</a:t>
            </a:r>
          </a:p>
          <a:p>
            <a:r>
              <a:rPr lang="en-US" altLang="zh-CN" dirty="0"/>
              <a:t>0003</a:t>
            </a:r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866BD50-C20E-4F34-B605-A14DD09BA660}"/>
              </a:ext>
            </a:extLst>
          </p:cNvPr>
          <p:cNvSpPr/>
          <p:nvPr/>
        </p:nvSpPr>
        <p:spPr>
          <a:xfrm>
            <a:off x="5994438" y="181388"/>
            <a:ext cx="57606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888CCCF-2909-484A-8B9A-3B7DB8ACC7E5}"/>
              </a:ext>
            </a:extLst>
          </p:cNvPr>
          <p:cNvSpPr/>
          <p:nvPr/>
        </p:nvSpPr>
        <p:spPr>
          <a:xfrm>
            <a:off x="5994438" y="469420"/>
            <a:ext cx="57606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4BF984B-B5E5-42C3-BD98-A6AEDDD7384F}"/>
              </a:ext>
            </a:extLst>
          </p:cNvPr>
          <p:cNvSpPr/>
          <p:nvPr/>
        </p:nvSpPr>
        <p:spPr>
          <a:xfrm>
            <a:off x="5994438" y="757452"/>
            <a:ext cx="57606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42239B7-6592-4576-940E-2E293E26B210}"/>
              </a:ext>
            </a:extLst>
          </p:cNvPr>
          <p:cNvSpPr/>
          <p:nvPr/>
        </p:nvSpPr>
        <p:spPr>
          <a:xfrm>
            <a:off x="5994438" y="1045484"/>
            <a:ext cx="57606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CBF2F9C-975C-458A-AB39-7C08BA430F90}"/>
              </a:ext>
            </a:extLst>
          </p:cNvPr>
          <p:cNvSpPr/>
          <p:nvPr/>
        </p:nvSpPr>
        <p:spPr>
          <a:xfrm>
            <a:off x="5994438" y="1315665"/>
            <a:ext cx="57606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AE20E89-6B30-4943-B973-556B704146FA}"/>
              </a:ext>
            </a:extLst>
          </p:cNvPr>
          <p:cNvSpPr/>
          <p:nvPr/>
        </p:nvSpPr>
        <p:spPr>
          <a:xfrm>
            <a:off x="5994438" y="1603697"/>
            <a:ext cx="57606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B84745D-0D63-4BA8-9A59-259DEF54C800}"/>
              </a:ext>
            </a:extLst>
          </p:cNvPr>
          <p:cNvSpPr/>
          <p:nvPr/>
        </p:nvSpPr>
        <p:spPr>
          <a:xfrm>
            <a:off x="5994438" y="1891729"/>
            <a:ext cx="57606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5D372E7-A22F-45E6-A5B7-8F72EEBF02BB}"/>
              </a:ext>
            </a:extLst>
          </p:cNvPr>
          <p:cNvSpPr/>
          <p:nvPr/>
        </p:nvSpPr>
        <p:spPr>
          <a:xfrm>
            <a:off x="5994438" y="2179761"/>
            <a:ext cx="57606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0304374-E799-4F61-96A3-0B428ECA376F}"/>
              </a:ext>
            </a:extLst>
          </p:cNvPr>
          <p:cNvSpPr txBox="1"/>
          <p:nvPr/>
        </p:nvSpPr>
        <p:spPr>
          <a:xfrm>
            <a:off x="4353886" y="1794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内存地址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D01175B-1D03-4C9D-A7C6-140E2B916389}"/>
              </a:ext>
            </a:extLst>
          </p:cNvPr>
          <p:cNvSpPr txBox="1"/>
          <p:nvPr/>
        </p:nvSpPr>
        <p:spPr>
          <a:xfrm>
            <a:off x="6816915" y="185245"/>
            <a:ext cx="2313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</a:t>
            </a:r>
            <a:r>
              <a:rPr lang="en-US" altLang="zh-CN" dirty="0"/>
              <a:t>bit</a:t>
            </a:r>
          </a:p>
          <a:p>
            <a:r>
              <a:rPr lang="zh-CN" altLang="en-US" dirty="0"/>
              <a:t>字节</a:t>
            </a:r>
            <a:r>
              <a:rPr lang="en-US" altLang="zh-CN" dirty="0"/>
              <a:t>byte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bit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byte</a:t>
            </a:r>
          </a:p>
          <a:p>
            <a:r>
              <a:rPr lang="zh-CN" altLang="en-US" dirty="0"/>
              <a:t>每个字节有一个地址</a:t>
            </a:r>
            <a:endParaRPr lang="en-US" altLang="zh-CN" dirty="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C3A5733-40D2-42E5-B7B5-81D5D1DC97F1}"/>
              </a:ext>
            </a:extLst>
          </p:cNvPr>
          <p:cNvCxnSpPr/>
          <p:nvPr/>
        </p:nvCxnSpPr>
        <p:spPr>
          <a:xfrm>
            <a:off x="6615996" y="1819042"/>
            <a:ext cx="711142" cy="324339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D83B571A-C699-4559-A6DB-2C5BF46A98F1}"/>
              </a:ext>
            </a:extLst>
          </p:cNvPr>
          <p:cNvSpPr txBox="1"/>
          <p:nvPr/>
        </p:nvSpPr>
        <p:spPr>
          <a:xfrm>
            <a:off x="7327138" y="20078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内存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F38EC12-75FC-4D8A-A0EF-99DA2E798BBC}"/>
              </a:ext>
            </a:extLst>
          </p:cNvPr>
          <p:cNvSpPr/>
          <p:nvPr/>
        </p:nvSpPr>
        <p:spPr>
          <a:xfrm>
            <a:off x="5994438" y="181388"/>
            <a:ext cx="79191" cy="285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0DC00C0-BDD8-4704-9496-8AEC2D423077}"/>
              </a:ext>
            </a:extLst>
          </p:cNvPr>
          <p:cNvSpPr/>
          <p:nvPr/>
        </p:nvSpPr>
        <p:spPr>
          <a:xfrm>
            <a:off x="6072007" y="181388"/>
            <a:ext cx="79191" cy="285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DE0C928-E091-49EF-AAA2-D7BB38871592}"/>
              </a:ext>
            </a:extLst>
          </p:cNvPr>
          <p:cNvSpPr/>
          <p:nvPr/>
        </p:nvSpPr>
        <p:spPr>
          <a:xfrm>
            <a:off x="6145825" y="181388"/>
            <a:ext cx="79191" cy="285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EB94B24-0E32-4DA6-812A-F75A993F6E4A}"/>
              </a:ext>
            </a:extLst>
          </p:cNvPr>
          <p:cNvSpPr/>
          <p:nvPr/>
        </p:nvSpPr>
        <p:spPr>
          <a:xfrm>
            <a:off x="6215005" y="181388"/>
            <a:ext cx="79191" cy="285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13162F3-7FD3-4831-9D4B-D2635C5C6D10}"/>
              </a:ext>
            </a:extLst>
          </p:cNvPr>
          <p:cNvSpPr/>
          <p:nvPr/>
        </p:nvSpPr>
        <p:spPr>
          <a:xfrm>
            <a:off x="6280446" y="181388"/>
            <a:ext cx="79191" cy="285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AF6CB06-016F-4217-9F33-DA3A8CF4E246}"/>
              </a:ext>
            </a:extLst>
          </p:cNvPr>
          <p:cNvSpPr/>
          <p:nvPr/>
        </p:nvSpPr>
        <p:spPr>
          <a:xfrm>
            <a:off x="6358015" y="181388"/>
            <a:ext cx="79191" cy="285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A16C0C2-6512-4480-A9FA-39732B7C37D3}"/>
              </a:ext>
            </a:extLst>
          </p:cNvPr>
          <p:cNvSpPr/>
          <p:nvPr/>
        </p:nvSpPr>
        <p:spPr>
          <a:xfrm>
            <a:off x="6431833" y="181388"/>
            <a:ext cx="79191" cy="285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263F349-5BBA-435F-8CE4-BDD4D4F3B424}"/>
              </a:ext>
            </a:extLst>
          </p:cNvPr>
          <p:cNvSpPr/>
          <p:nvPr/>
        </p:nvSpPr>
        <p:spPr>
          <a:xfrm>
            <a:off x="6501013" y="181388"/>
            <a:ext cx="79191" cy="285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185FCFB-1D5F-4355-82E3-6BA5D18E6D88}"/>
              </a:ext>
            </a:extLst>
          </p:cNvPr>
          <p:cNvSpPr txBox="1"/>
          <p:nvPr/>
        </p:nvSpPr>
        <p:spPr>
          <a:xfrm>
            <a:off x="5017693" y="614625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8000</a:t>
            </a:r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A1B256E-281C-44F4-BFCD-9FC5FCD98489}"/>
              </a:ext>
            </a:extLst>
          </p:cNvPr>
          <p:cNvSpPr txBox="1"/>
          <p:nvPr/>
        </p:nvSpPr>
        <p:spPr>
          <a:xfrm>
            <a:off x="7389417" y="614795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8000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26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>
                <a:solidFill>
                  <a:srgbClr val="245794"/>
                </a:solidFill>
              </a:rPr>
              <a:t>变量的数据类型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21453" y="2109584"/>
            <a:ext cx="3714878" cy="1362298"/>
          </a:xfrm>
        </p:spPr>
        <p:txBody>
          <a:bodyPr>
            <a:noAutofit/>
          </a:bodyPr>
          <a:lstStyle/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en-US" altLang="zh-CN" sz="1800" dirty="0">
                <a:solidFill>
                  <a:srgbClr val="245794"/>
                </a:solidFill>
              </a:rPr>
              <a:t>Python</a:t>
            </a:r>
            <a:r>
              <a:rPr lang="zh-CN" altLang="zh-CN" sz="1800" dirty="0">
                <a:solidFill>
                  <a:srgbClr val="245794"/>
                </a:solidFill>
              </a:rPr>
              <a:t>语言是一种动态类型语言</a:t>
            </a:r>
            <a:endParaRPr lang="en-US" altLang="zh-CN" sz="1800" dirty="0">
              <a:solidFill>
                <a:srgbClr val="245794"/>
              </a:solidFill>
            </a:endParaRPr>
          </a:p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zh-CN" altLang="zh-CN" sz="1800" dirty="0">
                <a:solidFill>
                  <a:srgbClr val="245794"/>
                </a:solidFill>
              </a:rPr>
              <a:t>变量的数据类型是在给变量赋值时确定，对变量的</a:t>
            </a:r>
            <a:r>
              <a:rPr lang="zh-CN" altLang="zh-CN" sz="1800" dirty="0">
                <a:solidFill>
                  <a:srgbClr val="FF0000"/>
                </a:solidFill>
              </a:rPr>
              <a:t>每一次赋值</a:t>
            </a:r>
            <a:r>
              <a:rPr lang="zh-CN" altLang="zh-CN" sz="1800" dirty="0">
                <a:solidFill>
                  <a:srgbClr val="245794"/>
                </a:solidFill>
              </a:rPr>
              <a:t>，都</a:t>
            </a:r>
            <a:r>
              <a:rPr lang="zh-CN" altLang="zh-CN" sz="1800" dirty="0">
                <a:solidFill>
                  <a:srgbClr val="FF0000"/>
                </a:solidFill>
              </a:rPr>
              <a:t>可能改变</a:t>
            </a:r>
            <a:r>
              <a:rPr lang="zh-CN" altLang="zh-CN" sz="1800" dirty="0">
                <a:solidFill>
                  <a:srgbClr val="245794"/>
                </a:solidFill>
              </a:rPr>
              <a:t>变量的</a:t>
            </a:r>
            <a:r>
              <a:rPr lang="zh-CN" altLang="zh-CN" sz="1800" dirty="0">
                <a:solidFill>
                  <a:srgbClr val="FF0000"/>
                </a:solidFill>
              </a:rPr>
              <a:t>类型</a:t>
            </a:r>
            <a:r>
              <a:rPr lang="zh-CN" altLang="zh-CN" sz="1800" dirty="0">
                <a:solidFill>
                  <a:srgbClr val="245794"/>
                </a:solidFill>
              </a:rPr>
              <a:t>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439605"/>
              </p:ext>
            </p:extLst>
          </p:nvPr>
        </p:nvGraphicFramePr>
        <p:xfrm>
          <a:off x="2627130" y="4070321"/>
          <a:ext cx="1720253" cy="207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0253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3.14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......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hello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......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12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451986"/>
              </p:ext>
            </p:extLst>
          </p:nvPr>
        </p:nvGraphicFramePr>
        <p:xfrm>
          <a:off x="2627784" y="4077071"/>
          <a:ext cx="1709324" cy="20720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932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563738" y="3992176"/>
            <a:ext cx="27003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1833768" y="4188383"/>
            <a:ext cx="79336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504833" y="3585997"/>
            <a:ext cx="704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zh-CN" altLang="zh-CN" sz="1350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</p:txBody>
      </p:sp>
      <p:sp>
        <p:nvSpPr>
          <p:cNvPr id="17" name="矩形 16"/>
          <p:cNvSpPr/>
          <p:nvPr/>
        </p:nvSpPr>
        <p:spPr>
          <a:xfrm>
            <a:off x="5486968" y="2248595"/>
            <a:ext cx="313234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type()</a:t>
            </a:r>
            <a:r>
              <a:rPr lang="zh-CN" altLang="en-US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：返回</a:t>
            </a:r>
            <a:r>
              <a:rPr lang="zh-CN" altLang="zh-CN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变量的类型</a:t>
            </a:r>
            <a:endParaRPr lang="en-US" altLang="zh-CN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498040" y="2892626"/>
            <a:ext cx="209829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x=3.14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type(x)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'&gt;</a:t>
            </a:r>
          </a:p>
        </p:txBody>
      </p:sp>
      <p:sp>
        <p:nvSpPr>
          <p:cNvPr id="19" name="矩形 18"/>
          <p:cNvSpPr/>
          <p:nvPr/>
        </p:nvSpPr>
        <p:spPr>
          <a:xfrm>
            <a:off x="5498040" y="4205904"/>
            <a:ext cx="209829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x='hello'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type(x)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'&gt;</a:t>
            </a:r>
          </a:p>
        </p:txBody>
      </p:sp>
      <p:sp>
        <p:nvSpPr>
          <p:cNvPr id="20" name="矩形 19"/>
          <p:cNvSpPr/>
          <p:nvPr/>
        </p:nvSpPr>
        <p:spPr>
          <a:xfrm>
            <a:off x="5498040" y="5496266"/>
            <a:ext cx="209829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x=12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type(x)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'&gt;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B65913-ED05-4C97-9735-8830B9B733EA}"/>
              </a:ext>
            </a:extLst>
          </p:cNvPr>
          <p:cNvSpPr txBox="1"/>
          <p:nvPr/>
        </p:nvSpPr>
        <p:spPr>
          <a:xfrm>
            <a:off x="6283354" y="427839"/>
            <a:ext cx="26076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float       </a:t>
            </a:r>
            <a:r>
              <a:rPr lang="zh-CN" altLang="en-US" sz="2000" dirty="0"/>
              <a:t>浮点数，浮动</a:t>
            </a:r>
            <a:endParaRPr lang="en-US" altLang="zh-CN" sz="2000" dirty="0"/>
          </a:p>
          <a:p>
            <a:r>
              <a:rPr lang="en-US" altLang="zh-CN" sz="2000" dirty="0"/>
              <a:t>string     </a:t>
            </a:r>
            <a:r>
              <a:rPr lang="zh-CN" altLang="en-US" sz="2000" dirty="0"/>
              <a:t>字符串，细绳</a:t>
            </a:r>
            <a:endParaRPr lang="en-US" altLang="zh-CN" sz="2000" dirty="0"/>
          </a:p>
          <a:p>
            <a:r>
              <a:rPr lang="en-US" altLang="zh-CN" sz="2000" dirty="0"/>
              <a:t>integer  </a:t>
            </a:r>
            <a:r>
              <a:rPr lang="zh-CN" altLang="en-US" sz="2000" dirty="0"/>
              <a:t>整数</a:t>
            </a:r>
          </a:p>
        </p:txBody>
      </p: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>
                <a:solidFill>
                  <a:srgbClr val="245794"/>
                </a:solidFill>
              </a:rPr>
              <a:t>变量的数据类型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21453" y="2109584"/>
            <a:ext cx="3714878" cy="1362298"/>
          </a:xfrm>
        </p:spPr>
        <p:txBody>
          <a:bodyPr>
            <a:noAutofit/>
          </a:bodyPr>
          <a:lstStyle/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en-US" altLang="zh-CN" sz="1800" dirty="0">
                <a:solidFill>
                  <a:srgbClr val="245794"/>
                </a:solidFill>
              </a:rPr>
              <a:t>Python</a:t>
            </a:r>
            <a:r>
              <a:rPr lang="zh-CN" altLang="zh-CN" sz="1800" dirty="0">
                <a:solidFill>
                  <a:srgbClr val="245794"/>
                </a:solidFill>
              </a:rPr>
              <a:t>语言是一种动态类型语言</a:t>
            </a:r>
            <a:endParaRPr lang="en-US" altLang="zh-CN" sz="1800" dirty="0">
              <a:solidFill>
                <a:srgbClr val="245794"/>
              </a:solidFill>
            </a:endParaRPr>
          </a:p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zh-CN" altLang="zh-CN" sz="1800" dirty="0">
                <a:solidFill>
                  <a:srgbClr val="245794"/>
                </a:solidFill>
              </a:rPr>
              <a:t>变量的数据类型是在给变量赋值时确定，对变量的</a:t>
            </a:r>
            <a:r>
              <a:rPr lang="zh-CN" altLang="zh-CN" sz="1800" dirty="0">
                <a:solidFill>
                  <a:srgbClr val="FF0000"/>
                </a:solidFill>
              </a:rPr>
              <a:t>每一次赋值</a:t>
            </a:r>
            <a:r>
              <a:rPr lang="zh-CN" altLang="zh-CN" sz="1800" dirty="0">
                <a:solidFill>
                  <a:srgbClr val="245794"/>
                </a:solidFill>
              </a:rPr>
              <a:t>，都</a:t>
            </a:r>
            <a:r>
              <a:rPr lang="zh-CN" altLang="zh-CN" sz="1800" dirty="0">
                <a:solidFill>
                  <a:srgbClr val="FF0000"/>
                </a:solidFill>
              </a:rPr>
              <a:t>可能改变</a:t>
            </a:r>
            <a:r>
              <a:rPr lang="zh-CN" altLang="zh-CN" sz="1800" dirty="0">
                <a:solidFill>
                  <a:srgbClr val="245794"/>
                </a:solidFill>
              </a:rPr>
              <a:t>变量的</a:t>
            </a:r>
            <a:r>
              <a:rPr lang="zh-CN" altLang="zh-CN" sz="1800" dirty="0">
                <a:solidFill>
                  <a:srgbClr val="FF0000"/>
                </a:solidFill>
              </a:rPr>
              <a:t>类型</a:t>
            </a:r>
            <a:r>
              <a:rPr lang="zh-CN" altLang="zh-CN" sz="1800" dirty="0">
                <a:solidFill>
                  <a:srgbClr val="245794"/>
                </a:solidFill>
              </a:rPr>
              <a:t>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627130" y="4070321"/>
          <a:ext cx="1720253" cy="207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0253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3.14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......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hello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......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12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27784" y="4077071"/>
          <a:ext cx="1709324" cy="20720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932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563738" y="3992176"/>
            <a:ext cx="27003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cxnSp>
        <p:nvCxnSpPr>
          <p:cNvPr id="8" name="直接箭头连接符 7"/>
          <p:cNvCxnSpPr>
            <a:cxnSpLocks/>
            <a:endCxn id="6" idx="1"/>
          </p:cNvCxnSpPr>
          <p:nvPr/>
        </p:nvCxnSpPr>
        <p:spPr>
          <a:xfrm>
            <a:off x="1833768" y="4188383"/>
            <a:ext cx="794016" cy="92471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504833" y="3585997"/>
            <a:ext cx="704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zh-CN" altLang="zh-CN" sz="1350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</p:txBody>
      </p:sp>
      <p:sp>
        <p:nvSpPr>
          <p:cNvPr id="17" name="矩形 16"/>
          <p:cNvSpPr/>
          <p:nvPr/>
        </p:nvSpPr>
        <p:spPr>
          <a:xfrm>
            <a:off x="5486968" y="2248595"/>
            <a:ext cx="313234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type()</a:t>
            </a:r>
            <a:r>
              <a:rPr lang="zh-CN" altLang="en-US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：返回</a:t>
            </a:r>
            <a:r>
              <a:rPr lang="zh-CN" altLang="zh-CN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变量的类型</a:t>
            </a:r>
            <a:endParaRPr lang="en-US" altLang="zh-CN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498040" y="2892626"/>
            <a:ext cx="209829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x=3.14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type(x)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'&gt;</a:t>
            </a:r>
          </a:p>
        </p:txBody>
      </p:sp>
      <p:sp>
        <p:nvSpPr>
          <p:cNvPr id="19" name="矩形 18"/>
          <p:cNvSpPr/>
          <p:nvPr/>
        </p:nvSpPr>
        <p:spPr>
          <a:xfrm>
            <a:off x="5498040" y="4205904"/>
            <a:ext cx="209829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x='hello'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type(x)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'&gt;</a:t>
            </a:r>
          </a:p>
        </p:txBody>
      </p:sp>
      <p:sp>
        <p:nvSpPr>
          <p:cNvPr id="20" name="矩形 19"/>
          <p:cNvSpPr/>
          <p:nvPr/>
        </p:nvSpPr>
        <p:spPr>
          <a:xfrm>
            <a:off x="5498040" y="5496266"/>
            <a:ext cx="209829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x=12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type(x)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'&gt;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B65913-ED05-4C97-9735-8830B9B733EA}"/>
              </a:ext>
            </a:extLst>
          </p:cNvPr>
          <p:cNvSpPr txBox="1"/>
          <p:nvPr/>
        </p:nvSpPr>
        <p:spPr>
          <a:xfrm>
            <a:off x="6283354" y="427839"/>
            <a:ext cx="26076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float       </a:t>
            </a:r>
            <a:r>
              <a:rPr lang="zh-CN" altLang="en-US" sz="2000" dirty="0"/>
              <a:t>浮点数，浮动</a:t>
            </a:r>
            <a:endParaRPr lang="en-US" altLang="zh-CN" sz="2000" dirty="0"/>
          </a:p>
          <a:p>
            <a:r>
              <a:rPr lang="en-US" altLang="zh-CN" sz="2000" dirty="0"/>
              <a:t>string     </a:t>
            </a:r>
            <a:r>
              <a:rPr lang="zh-CN" altLang="en-US" sz="2000" dirty="0"/>
              <a:t>字符串，细绳</a:t>
            </a:r>
            <a:endParaRPr lang="en-US" altLang="zh-CN" sz="2000" dirty="0"/>
          </a:p>
          <a:p>
            <a:r>
              <a:rPr lang="en-US" altLang="zh-CN" sz="2000" dirty="0"/>
              <a:t>integer  </a:t>
            </a:r>
            <a:r>
              <a:rPr lang="zh-CN" altLang="en-US" sz="2000" dirty="0"/>
              <a:t>整数</a:t>
            </a:r>
          </a:p>
        </p:txBody>
      </p:sp>
    </p:spTree>
    <p:extLst>
      <p:ext uri="{BB962C8B-B14F-4D97-AF65-F5344CB8AC3E}">
        <p14:creationId xmlns:p14="http://schemas.microsoft.com/office/powerpoint/2010/main" val="423544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>
                <a:solidFill>
                  <a:srgbClr val="245794"/>
                </a:solidFill>
              </a:rPr>
              <a:t>变量的数据类型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21453" y="2109584"/>
            <a:ext cx="3714878" cy="1362298"/>
          </a:xfrm>
        </p:spPr>
        <p:txBody>
          <a:bodyPr>
            <a:noAutofit/>
          </a:bodyPr>
          <a:lstStyle/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en-US" altLang="zh-CN" sz="1800" dirty="0">
                <a:solidFill>
                  <a:srgbClr val="245794"/>
                </a:solidFill>
              </a:rPr>
              <a:t>Python</a:t>
            </a:r>
            <a:r>
              <a:rPr lang="zh-CN" altLang="zh-CN" sz="1800" dirty="0">
                <a:solidFill>
                  <a:srgbClr val="245794"/>
                </a:solidFill>
              </a:rPr>
              <a:t>语言是一种动态类型语言</a:t>
            </a:r>
            <a:endParaRPr lang="en-US" altLang="zh-CN" sz="1800" dirty="0">
              <a:solidFill>
                <a:srgbClr val="245794"/>
              </a:solidFill>
            </a:endParaRPr>
          </a:p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zh-CN" altLang="zh-CN" sz="1800" dirty="0">
                <a:solidFill>
                  <a:srgbClr val="245794"/>
                </a:solidFill>
              </a:rPr>
              <a:t>变量的数据类型是在给变量赋值时确定，对变量的</a:t>
            </a:r>
            <a:r>
              <a:rPr lang="zh-CN" altLang="zh-CN" sz="1800" dirty="0">
                <a:solidFill>
                  <a:srgbClr val="FF0000"/>
                </a:solidFill>
              </a:rPr>
              <a:t>每一次赋值</a:t>
            </a:r>
            <a:r>
              <a:rPr lang="zh-CN" altLang="zh-CN" sz="1800" dirty="0">
                <a:solidFill>
                  <a:srgbClr val="245794"/>
                </a:solidFill>
              </a:rPr>
              <a:t>，都</a:t>
            </a:r>
            <a:r>
              <a:rPr lang="zh-CN" altLang="zh-CN" sz="1800" dirty="0">
                <a:solidFill>
                  <a:srgbClr val="FF0000"/>
                </a:solidFill>
              </a:rPr>
              <a:t>可能改变</a:t>
            </a:r>
            <a:r>
              <a:rPr lang="zh-CN" altLang="zh-CN" sz="1800" dirty="0">
                <a:solidFill>
                  <a:srgbClr val="245794"/>
                </a:solidFill>
              </a:rPr>
              <a:t>变量的</a:t>
            </a:r>
            <a:r>
              <a:rPr lang="zh-CN" altLang="zh-CN" sz="1800" dirty="0">
                <a:solidFill>
                  <a:srgbClr val="FF0000"/>
                </a:solidFill>
              </a:rPr>
              <a:t>类型</a:t>
            </a:r>
            <a:r>
              <a:rPr lang="zh-CN" altLang="zh-CN" sz="1800" dirty="0">
                <a:solidFill>
                  <a:srgbClr val="245794"/>
                </a:solidFill>
              </a:rPr>
              <a:t>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627130" y="4070321"/>
          <a:ext cx="1720253" cy="207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0253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3.14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......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hello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......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12</a:t>
                      </a:r>
                      <a:endParaRPr lang="zh-CN" altLang="en-US" sz="20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27784" y="4077071"/>
          <a:ext cx="1709324" cy="20720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932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41441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563738" y="3992176"/>
            <a:ext cx="27003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cxnSp>
        <p:nvCxnSpPr>
          <p:cNvPr id="8" name="直接箭头连接符 7"/>
          <p:cNvCxnSpPr>
            <a:cxnSpLocks/>
          </p:cNvCxnSpPr>
          <p:nvPr/>
        </p:nvCxnSpPr>
        <p:spPr>
          <a:xfrm>
            <a:off x="1833768" y="4188383"/>
            <a:ext cx="793362" cy="17845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504833" y="3585997"/>
            <a:ext cx="704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zh-CN" altLang="zh-CN" sz="1350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</p:txBody>
      </p:sp>
      <p:sp>
        <p:nvSpPr>
          <p:cNvPr id="17" name="矩形 16"/>
          <p:cNvSpPr/>
          <p:nvPr/>
        </p:nvSpPr>
        <p:spPr>
          <a:xfrm>
            <a:off x="5486968" y="2248595"/>
            <a:ext cx="313234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buClr>
                <a:srgbClr val="7030A0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type()</a:t>
            </a:r>
            <a:r>
              <a:rPr lang="zh-CN" altLang="en-US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：返回</a:t>
            </a:r>
            <a:r>
              <a:rPr lang="zh-CN" altLang="zh-CN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变量的类型</a:t>
            </a:r>
            <a:endParaRPr lang="en-US" altLang="zh-CN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498040" y="2892626"/>
            <a:ext cx="209829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x=3.14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type(x)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'&gt;</a:t>
            </a:r>
          </a:p>
        </p:txBody>
      </p:sp>
      <p:sp>
        <p:nvSpPr>
          <p:cNvPr id="19" name="矩形 18"/>
          <p:cNvSpPr/>
          <p:nvPr/>
        </p:nvSpPr>
        <p:spPr>
          <a:xfrm>
            <a:off x="5498040" y="4205904"/>
            <a:ext cx="209829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x='hello'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type(x)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'&gt;</a:t>
            </a:r>
          </a:p>
        </p:txBody>
      </p:sp>
      <p:sp>
        <p:nvSpPr>
          <p:cNvPr id="20" name="矩形 19"/>
          <p:cNvSpPr/>
          <p:nvPr/>
        </p:nvSpPr>
        <p:spPr>
          <a:xfrm>
            <a:off x="5498040" y="5496266"/>
            <a:ext cx="209829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x=12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type(x)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'&gt;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B65913-ED05-4C97-9735-8830B9B733EA}"/>
              </a:ext>
            </a:extLst>
          </p:cNvPr>
          <p:cNvSpPr txBox="1"/>
          <p:nvPr/>
        </p:nvSpPr>
        <p:spPr>
          <a:xfrm>
            <a:off x="6283354" y="427839"/>
            <a:ext cx="26076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float       </a:t>
            </a:r>
            <a:r>
              <a:rPr lang="zh-CN" altLang="en-US" sz="2000" dirty="0"/>
              <a:t>浮点数，浮动</a:t>
            </a:r>
            <a:endParaRPr lang="en-US" altLang="zh-CN" sz="2000" dirty="0"/>
          </a:p>
          <a:p>
            <a:r>
              <a:rPr lang="en-US" altLang="zh-CN" sz="2000" dirty="0"/>
              <a:t>string     </a:t>
            </a:r>
            <a:r>
              <a:rPr lang="zh-CN" altLang="en-US" sz="2000" dirty="0"/>
              <a:t>字符串，细绳</a:t>
            </a:r>
            <a:endParaRPr lang="en-US" altLang="zh-CN" sz="2000" dirty="0"/>
          </a:p>
          <a:p>
            <a:r>
              <a:rPr lang="en-US" altLang="zh-CN" sz="2000" dirty="0"/>
              <a:t>integer  </a:t>
            </a:r>
            <a:r>
              <a:rPr lang="zh-CN" altLang="en-US" sz="2000" dirty="0"/>
              <a:t>整数</a:t>
            </a:r>
          </a:p>
        </p:txBody>
      </p:sp>
    </p:spTree>
    <p:extLst>
      <p:ext uri="{BB962C8B-B14F-4D97-AF65-F5344CB8AC3E}">
        <p14:creationId xmlns:p14="http://schemas.microsoft.com/office/powerpoint/2010/main" val="313542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>
                <a:solidFill>
                  <a:srgbClr val="245794"/>
                </a:solidFill>
              </a:rPr>
              <a:t>变量与地址的关系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04674" y="1735024"/>
            <a:ext cx="7977931" cy="1536527"/>
          </a:xfrm>
        </p:spPr>
        <p:txBody>
          <a:bodyPr>
            <a:no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245794"/>
                </a:solidFill>
              </a:rPr>
              <a:t>对</a:t>
            </a:r>
            <a:r>
              <a:rPr lang="zh-CN" altLang="en-US" sz="2400" dirty="0">
                <a:solidFill>
                  <a:srgbClr val="FF0000"/>
                </a:solidFill>
              </a:rPr>
              <a:t>较小的整数</a:t>
            </a:r>
            <a:r>
              <a:rPr lang="zh-CN" altLang="en-US" sz="2400" dirty="0">
                <a:solidFill>
                  <a:srgbClr val="245794"/>
                </a:solidFill>
              </a:rPr>
              <a:t>对象，</a:t>
            </a:r>
            <a:r>
              <a:rPr lang="en-US" altLang="zh-CN" sz="2400" dirty="0">
                <a:solidFill>
                  <a:srgbClr val="245794"/>
                </a:solidFill>
              </a:rPr>
              <a:t>python</a:t>
            </a:r>
            <a:r>
              <a:rPr lang="zh-CN" altLang="en-US" sz="2400" dirty="0">
                <a:solidFill>
                  <a:srgbClr val="245794"/>
                </a:solidFill>
              </a:rPr>
              <a:t>采用</a:t>
            </a:r>
            <a:r>
              <a:rPr lang="zh-CN" altLang="en-US" sz="2400" b="1" dirty="0">
                <a:solidFill>
                  <a:srgbClr val="FF0000"/>
                </a:solidFill>
              </a:rPr>
              <a:t>重用对象内存</a:t>
            </a:r>
            <a:r>
              <a:rPr lang="zh-CN" altLang="en-US" sz="2400" dirty="0">
                <a:solidFill>
                  <a:srgbClr val="245794"/>
                </a:solidFill>
              </a:rPr>
              <a:t>的方法</a:t>
            </a:r>
            <a:r>
              <a:rPr lang="zh-CN" altLang="zh-CN" sz="2400" dirty="0">
                <a:solidFill>
                  <a:srgbClr val="245794"/>
                </a:solidFill>
              </a:rPr>
              <a:t>。</a:t>
            </a:r>
            <a:endParaRPr lang="en-US" altLang="zh-CN" sz="2400" dirty="0">
              <a:solidFill>
                <a:srgbClr val="245794"/>
              </a:solidFill>
            </a:endParaRPr>
          </a:p>
          <a:p>
            <a:pPr marL="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dirty="0">
                <a:sym typeface="+mn-ea"/>
              </a:rPr>
              <a:t>如果为不同变量赋值为相同值（仅适用于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-5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至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256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的整数</a:t>
            </a:r>
            <a:r>
              <a:rPr lang="zh-CN" altLang="en-US" dirty="0">
                <a:sym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短字符串</a:t>
            </a:r>
            <a:r>
              <a:rPr lang="zh-CN" altLang="en-US" dirty="0">
                <a:sym typeface="+mn-ea"/>
              </a:rPr>
              <a:t>），这个值在内存中只有一份，多个变量指向同一块内存地址。</a:t>
            </a:r>
            <a:endParaRPr lang="zh-CN" altLang="zh-CN" dirty="0"/>
          </a:p>
        </p:txBody>
      </p:sp>
      <p:sp>
        <p:nvSpPr>
          <p:cNvPr id="20" name="矩形 19"/>
          <p:cNvSpPr/>
          <p:nvPr/>
        </p:nvSpPr>
        <p:spPr>
          <a:xfrm>
            <a:off x="5760062" y="2899849"/>
            <a:ext cx="1935200" cy="37379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&gt;&gt;&gt; </a:t>
            </a:r>
            <a:r>
              <a:rPr lang="en-US" altLang="zh-CN" sz="2000" dirty="0"/>
              <a:t>z</a:t>
            </a:r>
            <a:r>
              <a:rPr lang="zh-CN" altLang="en-US" sz="2000" dirty="0"/>
              <a:t>=12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&gt;&gt;&gt; id(</a:t>
            </a:r>
            <a:r>
              <a:rPr lang="en-US" altLang="zh-CN" sz="2000" dirty="0"/>
              <a:t>z</a:t>
            </a:r>
            <a:r>
              <a:rPr lang="zh-CN" altLang="en-US" sz="2000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1524360128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&gt;&gt;&gt; </a:t>
            </a:r>
            <a:r>
              <a:rPr lang="en-US" altLang="zh-CN" sz="2000" dirty="0"/>
              <a:t>m</a:t>
            </a:r>
            <a:r>
              <a:rPr lang="zh-CN" altLang="en-US" sz="2000" dirty="0"/>
              <a:t>=12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&gt;&gt;&gt; id(</a:t>
            </a:r>
            <a:r>
              <a:rPr lang="en-US" altLang="zh-CN" sz="2000" dirty="0"/>
              <a:t>m</a:t>
            </a:r>
            <a:r>
              <a:rPr lang="zh-CN" altLang="en-US" sz="2000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1524360128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&gt;&gt;&gt; </a:t>
            </a:r>
            <a:r>
              <a:rPr lang="en-US" altLang="zh-CN" sz="2000" dirty="0"/>
              <a:t>n</a:t>
            </a:r>
            <a:r>
              <a:rPr lang="zh-CN" altLang="en-US" sz="2000" dirty="0"/>
              <a:t>=</a:t>
            </a:r>
            <a:r>
              <a:rPr lang="en-US" altLang="zh-CN" sz="2000" dirty="0"/>
              <a:t>'hello'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&gt;&gt;&gt; k=3.14</a:t>
            </a:r>
            <a:endParaRPr lang="zh-CN" altLang="en-US" sz="2000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513319" y="3769643"/>
          <a:ext cx="1242138" cy="1973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2138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/>
                        <a:t>3.14</a:t>
                      </a:r>
                      <a:endParaRPr lang="zh-CN" alt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......</a:t>
                      </a:r>
                      <a:endParaRPr lang="zh-CN" alt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0219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......</a:t>
                      </a:r>
                      <a:endParaRPr lang="zh-CN" alt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2961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/>
                        <a:t>hello</a:t>
                      </a:r>
                      <a:endParaRPr lang="zh-CN" alt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/>
                        <a:t>......</a:t>
                      </a:r>
                      <a:endParaRPr lang="zh-CN" alt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/>
                        <a:t>12</a:t>
                      </a:r>
                      <a:endParaRPr lang="zh-CN" alt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2509497" y="3782032"/>
          <a:ext cx="1242138" cy="1973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2138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83046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041966"/>
                  </a:ext>
                </a:extLst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473501" y="3773619"/>
            <a:ext cx="2597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1448738" y="5377709"/>
            <a:ext cx="27003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z</a:t>
            </a:r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1718768" y="5573915"/>
            <a:ext cx="79336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2715068" y="3393013"/>
            <a:ext cx="877163" cy="30008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zh-CN" sz="1350" dirty="0">
                <a:latin typeface="+mn-ea"/>
              </a:rPr>
              <a:t>存储单元</a:t>
            </a:r>
            <a:endParaRPr lang="zh-CN" altLang="en-US" sz="1350" dirty="0"/>
          </a:p>
        </p:txBody>
      </p:sp>
      <p:cxnSp>
        <p:nvCxnSpPr>
          <p:cNvPr id="34" name="直接箭头连接符 33"/>
          <p:cNvCxnSpPr>
            <a:stCxn id="26" idx="3"/>
          </p:cNvCxnSpPr>
          <p:nvPr/>
        </p:nvCxnSpPr>
        <p:spPr>
          <a:xfrm flipV="1">
            <a:off x="1733256" y="3942811"/>
            <a:ext cx="777333" cy="1547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354787" y="5400791"/>
            <a:ext cx="2597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m</a:t>
            </a:r>
            <a:endParaRPr lang="zh-CN" altLang="en-US"/>
          </a:p>
        </p:txBody>
      </p:sp>
      <p:cxnSp>
        <p:nvCxnSpPr>
          <p:cNvPr id="39" name="直接箭头连接符 38"/>
          <p:cNvCxnSpPr/>
          <p:nvPr/>
        </p:nvCxnSpPr>
        <p:spPr>
          <a:xfrm flipH="1">
            <a:off x="3745472" y="5567321"/>
            <a:ext cx="60562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4350467" y="4881431"/>
            <a:ext cx="2597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n</a:t>
            </a:r>
            <a:endParaRPr lang="zh-CN" altLang="en-US"/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3741152" y="5047961"/>
            <a:ext cx="60562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2852285" y="4344154"/>
            <a:ext cx="5565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3.14</a:t>
            </a:r>
            <a:endParaRPr lang="zh-CN" altLang="en-US" sz="135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903063" y="4299818"/>
            <a:ext cx="44435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 dirty="0"/>
              <a:t>......</a:t>
            </a:r>
            <a:endParaRPr lang="zh-CN" altLang="en-US" sz="1350" dirty="0"/>
          </a:p>
        </p:txBody>
      </p:sp>
      <p:sp>
        <p:nvSpPr>
          <p:cNvPr id="50" name="文本框 49"/>
          <p:cNvSpPr txBox="1"/>
          <p:nvPr/>
        </p:nvSpPr>
        <p:spPr>
          <a:xfrm>
            <a:off x="4366251" y="4285565"/>
            <a:ext cx="2597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k</a:t>
            </a:r>
            <a:endParaRPr lang="zh-CN" altLang="en-US"/>
          </a:p>
        </p:txBody>
      </p:sp>
      <p:cxnSp>
        <p:nvCxnSpPr>
          <p:cNvPr id="51" name="直接箭头连接符 50"/>
          <p:cNvCxnSpPr/>
          <p:nvPr/>
        </p:nvCxnSpPr>
        <p:spPr>
          <a:xfrm flipH="1">
            <a:off x="3756936" y="4452095"/>
            <a:ext cx="60562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DD81FADA-A7A8-48BD-B75A-D34363D5A0B2}"/>
              </a:ext>
            </a:extLst>
          </p:cNvPr>
          <p:cNvSpPr txBox="1"/>
          <p:nvPr/>
        </p:nvSpPr>
        <p:spPr>
          <a:xfrm>
            <a:off x="1459013" y="4863334"/>
            <a:ext cx="2597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059BC18-CB29-45C1-8E82-C71322E9B220}"/>
              </a:ext>
            </a:extLst>
          </p:cNvPr>
          <p:cNvCxnSpPr>
            <a:stCxn id="22" idx="3"/>
          </p:cNvCxnSpPr>
          <p:nvPr/>
        </p:nvCxnSpPr>
        <p:spPr>
          <a:xfrm flipV="1">
            <a:off x="1718768" y="5032526"/>
            <a:ext cx="777333" cy="1547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87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1" grpId="0" animBg="1"/>
      <p:bldP spid="46" grpId="0"/>
      <p:bldP spid="49" grpId="0"/>
      <p:bldP spid="5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2.3.2  </a:t>
            </a:r>
            <a:r>
              <a:rPr lang="zh-CN" altLang="zh-CN" b="1">
                <a:solidFill>
                  <a:srgbClr val="245794"/>
                </a:solidFill>
              </a:rPr>
              <a:t>复合赋值语句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961916"/>
          </a:xfrm>
        </p:spPr>
        <p:txBody>
          <a:bodyPr>
            <a:norm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400" b="1">
                <a:solidFill>
                  <a:srgbClr val="245794"/>
                </a:solidFill>
                <a:latin typeface="+mj-ea"/>
                <a:ea typeface="+mj-ea"/>
              </a:rPr>
              <a:t>复合赋值运算符：</a:t>
            </a:r>
          </a:p>
          <a:p>
            <a:pPr indent="0">
              <a:lnSpc>
                <a:spcPct val="150000"/>
              </a:lnSpc>
              <a:buNone/>
            </a:pPr>
            <a:r>
              <a:rPr lang="en-US" altLang="zh-CN" sz="2400" b="1">
                <a:solidFill>
                  <a:srgbClr val="245794"/>
                </a:solidFill>
                <a:latin typeface="+mj-ea"/>
                <a:ea typeface="+mj-ea"/>
              </a:rPr>
              <a:t>+=</a:t>
            </a:r>
            <a:r>
              <a:rPr lang="zh-CN" altLang="zh-CN" sz="2400" b="1">
                <a:solidFill>
                  <a:srgbClr val="245794"/>
                </a:solidFill>
                <a:latin typeface="+mj-ea"/>
                <a:ea typeface="+mj-ea"/>
              </a:rPr>
              <a:t>、</a:t>
            </a:r>
            <a:r>
              <a:rPr lang="en-US" altLang="zh-CN" sz="2400" b="1">
                <a:solidFill>
                  <a:srgbClr val="245794"/>
                </a:solidFill>
                <a:latin typeface="+mj-ea"/>
                <a:ea typeface="+mj-ea"/>
              </a:rPr>
              <a:t>-=</a:t>
            </a:r>
            <a:r>
              <a:rPr lang="zh-CN" altLang="zh-CN" sz="2400" b="1">
                <a:solidFill>
                  <a:srgbClr val="245794"/>
                </a:solidFill>
                <a:latin typeface="+mj-ea"/>
                <a:ea typeface="+mj-ea"/>
              </a:rPr>
              <a:t>、</a:t>
            </a:r>
            <a:r>
              <a:rPr lang="en-US" altLang="zh-CN" sz="2400" b="1">
                <a:solidFill>
                  <a:srgbClr val="245794"/>
                </a:solidFill>
                <a:latin typeface="+mj-ea"/>
                <a:ea typeface="+mj-ea"/>
              </a:rPr>
              <a:t>*=</a:t>
            </a:r>
            <a:r>
              <a:rPr lang="zh-CN" altLang="zh-CN" sz="2400" b="1">
                <a:solidFill>
                  <a:srgbClr val="245794"/>
                </a:solidFill>
                <a:latin typeface="+mj-ea"/>
                <a:ea typeface="+mj-ea"/>
              </a:rPr>
              <a:t>、</a:t>
            </a:r>
            <a:r>
              <a:rPr lang="en-US" altLang="zh-CN" sz="2400" b="1">
                <a:solidFill>
                  <a:srgbClr val="245794"/>
                </a:solidFill>
                <a:latin typeface="+mj-ea"/>
                <a:ea typeface="+mj-ea"/>
              </a:rPr>
              <a:t>/=</a:t>
            </a:r>
            <a:r>
              <a:rPr lang="zh-CN" altLang="zh-CN" sz="2400" b="1">
                <a:solidFill>
                  <a:srgbClr val="245794"/>
                </a:solidFill>
                <a:latin typeface="+mj-ea"/>
                <a:ea typeface="+mj-ea"/>
              </a:rPr>
              <a:t>、</a:t>
            </a:r>
            <a:r>
              <a:rPr lang="en-US" altLang="zh-CN" sz="2400" b="1">
                <a:solidFill>
                  <a:srgbClr val="245794"/>
                </a:solidFill>
                <a:latin typeface="+mj-ea"/>
                <a:ea typeface="+mj-ea"/>
              </a:rPr>
              <a:t>//=</a:t>
            </a:r>
            <a:r>
              <a:rPr lang="zh-CN" altLang="zh-CN" sz="2400" b="1">
                <a:solidFill>
                  <a:srgbClr val="245794"/>
                </a:solidFill>
                <a:latin typeface="+mj-ea"/>
                <a:ea typeface="+mj-ea"/>
              </a:rPr>
              <a:t>、</a:t>
            </a:r>
            <a:r>
              <a:rPr lang="en-US" altLang="zh-CN" sz="2400" b="1">
                <a:solidFill>
                  <a:srgbClr val="245794"/>
                </a:solidFill>
                <a:latin typeface="+mj-ea"/>
                <a:ea typeface="+mj-ea"/>
              </a:rPr>
              <a:t>%=</a:t>
            </a:r>
            <a:r>
              <a:rPr lang="zh-CN" altLang="zh-CN" sz="2400" b="1">
                <a:solidFill>
                  <a:srgbClr val="245794"/>
                </a:solidFill>
                <a:latin typeface="+mj-ea"/>
                <a:ea typeface="+mj-ea"/>
              </a:rPr>
              <a:t>、</a:t>
            </a:r>
            <a:r>
              <a:rPr lang="en-US" altLang="zh-CN" sz="2400" b="1">
                <a:solidFill>
                  <a:srgbClr val="245794"/>
                </a:solidFill>
                <a:latin typeface="+mj-ea"/>
                <a:ea typeface="+mj-ea"/>
              </a:rPr>
              <a:t>**=</a:t>
            </a:r>
          </a:p>
          <a:p>
            <a:pPr indent="0">
              <a:lnSpc>
                <a:spcPct val="150000"/>
              </a:lnSpc>
              <a:buNone/>
            </a:pPr>
            <a:r>
              <a:rPr lang="zh-CN" altLang="zh-CN" sz="2400" b="1">
                <a:solidFill>
                  <a:srgbClr val="245794"/>
                </a:solidFill>
                <a:latin typeface="+mj-ea"/>
                <a:ea typeface="+mj-ea"/>
              </a:rPr>
              <a:t>例如：</a:t>
            </a:r>
          </a:p>
        </p:txBody>
      </p:sp>
      <p:sp>
        <p:nvSpPr>
          <p:cNvPr id="6" name="矩形 5"/>
          <p:cNvSpPr/>
          <p:nvPr/>
        </p:nvSpPr>
        <p:spPr>
          <a:xfrm>
            <a:off x="1029903" y="3762281"/>
            <a:ext cx="166035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250000"/>
              </a:lnSpc>
              <a:buNone/>
            </a:pPr>
            <a:r>
              <a:rPr lang="es-ES" altLang="zh-CN" sz="2400" b="1">
                <a:solidFill>
                  <a:srgbClr val="245794"/>
                </a:solidFill>
                <a:latin typeface="+mj-ea"/>
                <a:ea typeface="+mj-ea"/>
              </a:rPr>
              <a:t>x+=5.0</a:t>
            </a:r>
            <a:endParaRPr lang="zh-CN" altLang="zh-CN" sz="2400" b="1">
              <a:solidFill>
                <a:srgbClr val="245794"/>
              </a:solidFill>
              <a:latin typeface="+mj-ea"/>
              <a:ea typeface="+mj-ea"/>
            </a:endParaRPr>
          </a:p>
          <a:p>
            <a:pPr indent="0">
              <a:lnSpc>
                <a:spcPct val="250000"/>
              </a:lnSpc>
              <a:buNone/>
            </a:pPr>
            <a:r>
              <a:rPr lang="es-ES" altLang="zh-CN" sz="2400" b="1">
                <a:solidFill>
                  <a:srgbClr val="245794"/>
                </a:solidFill>
                <a:latin typeface="+mj-ea"/>
                <a:ea typeface="+mj-ea"/>
              </a:rPr>
              <a:t>x*=u+v</a:t>
            </a:r>
            <a:endParaRPr lang="zh-CN" altLang="zh-CN" sz="2400" b="1">
              <a:solidFill>
                <a:srgbClr val="245794"/>
              </a:solidFill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39653" y="4192962"/>
            <a:ext cx="12314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zh-CN" sz="2400" b="1">
                <a:solidFill>
                  <a:srgbClr val="245794"/>
                </a:solidFill>
                <a:latin typeface="+mj-ea"/>
              </a:rPr>
              <a:t>x=x+5.0</a:t>
            </a:r>
            <a:endParaRPr lang="zh-CN" altLang="en-US" sz="2400"/>
          </a:p>
        </p:txBody>
      </p:sp>
      <p:sp>
        <p:nvSpPr>
          <p:cNvPr id="8" name="矩形 7"/>
          <p:cNvSpPr/>
          <p:nvPr/>
        </p:nvSpPr>
        <p:spPr>
          <a:xfrm>
            <a:off x="5096339" y="5093144"/>
            <a:ext cx="14478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zh-CN" sz="2400" b="1">
                <a:solidFill>
                  <a:srgbClr val="245794"/>
                </a:solidFill>
                <a:latin typeface="+mj-ea"/>
              </a:rPr>
              <a:t>x=x*(u+v)</a:t>
            </a:r>
            <a:endParaRPr lang="zh-CN" altLang="en-US" sz="2400"/>
          </a:p>
        </p:txBody>
      </p:sp>
      <p:sp>
        <p:nvSpPr>
          <p:cNvPr id="10" name="矩形 9"/>
          <p:cNvSpPr/>
          <p:nvPr/>
        </p:nvSpPr>
        <p:spPr>
          <a:xfrm>
            <a:off x="2982798" y="4637441"/>
            <a:ext cx="110799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等价于</a:t>
            </a:r>
            <a:endParaRPr lang="zh-CN" alt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1" name="左右箭头 10"/>
          <p:cNvSpPr/>
          <p:nvPr/>
        </p:nvSpPr>
        <p:spPr>
          <a:xfrm>
            <a:off x="2314876" y="4333305"/>
            <a:ext cx="2695074" cy="158608"/>
          </a:xfrm>
          <a:prstGeom prst="left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右箭头 11"/>
          <p:cNvSpPr/>
          <p:nvPr/>
        </p:nvSpPr>
        <p:spPr>
          <a:xfrm>
            <a:off x="2286000" y="5244673"/>
            <a:ext cx="2695074" cy="158608"/>
          </a:xfrm>
          <a:prstGeom prst="left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63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x=2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，语句</a:t>
            </a:r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x*=x+1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执行后，</a:t>
            </a:r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的值是（</a:t>
            </a:r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3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070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2.3.3  </a:t>
            </a:r>
            <a:r>
              <a:rPr lang="zh-CN" altLang="zh-CN" b="1">
                <a:solidFill>
                  <a:srgbClr val="245794"/>
                </a:solidFill>
              </a:rPr>
              <a:t>多变量赋值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8649" y="1825625"/>
            <a:ext cx="8087511" cy="4351338"/>
          </a:xfrm>
        </p:spPr>
        <p:txBody>
          <a:bodyPr>
            <a:norm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en-US" altLang="zh-CN" sz="2000" b="1" dirty="0">
                <a:latin typeface="+mj-ea"/>
                <a:ea typeface="+mj-ea"/>
              </a:rPr>
              <a:t>1</a:t>
            </a:r>
            <a:r>
              <a:rPr lang="zh-CN" altLang="zh-CN" sz="2000" b="1" dirty="0">
                <a:latin typeface="+mj-ea"/>
                <a:ea typeface="+mj-ea"/>
              </a:rPr>
              <a:t>．链式赋值</a:t>
            </a:r>
          </a:p>
          <a:p>
            <a:pPr indent="0">
              <a:lnSpc>
                <a:spcPct val="150000"/>
              </a:lnSpc>
              <a:buNone/>
            </a:pPr>
            <a:r>
              <a:rPr lang="zh-CN" altLang="zh-CN" sz="2000" b="1" dirty="0">
                <a:latin typeface="+mj-ea"/>
                <a:ea typeface="+mj-ea"/>
              </a:rPr>
              <a:t>链式赋值语句的一般形式为：</a:t>
            </a:r>
          </a:p>
          <a:p>
            <a:pPr indent="0" algn="ctr">
              <a:lnSpc>
                <a:spcPct val="15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1=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2=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  <a:p>
            <a:pPr indent="0">
              <a:lnSpc>
                <a:spcPct val="150000"/>
              </a:lnSpc>
              <a:buNone/>
            </a:pPr>
            <a:r>
              <a:rPr lang="zh-CN" altLang="zh-CN" sz="2000" b="1" dirty="0">
                <a:latin typeface="+mj-ea"/>
                <a:ea typeface="+mj-ea"/>
              </a:rPr>
              <a:t>例如：</a:t>
            </a:r>
          </a:p>
          <a:p>
            <a:pPr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</a:rPr>
              <a:t>&gt;&gt;&gt; a=b=c=10</a:t>
            </a:r>
            <a:endParaRPr lang="zh-CN" altLang="zh-CN" sz="2000" b="1" dirty="0">
              <a:solidFill>
                <a:schemeClr val="accent1"/>
              </a:solidFill>
              <a:latin typeface="+mj-ea"/>
              <a:ea typeface="+mj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zh-CN" sz="2000" b="1" dirty="0">
                <a:latin typeface="+mj-ea"/>
                <a:ea typeface="+mj-ea"/>
              </a:rPr>
              <a:t>赋值语句执行时，创建一个值为</a:t>
            </a:r>
            <a:r>
              <a:rPr lang="en-US" altLang="zh-CN" sz="2000" b="1" dirty="0">
                <a:latin typeface="+mj-ea"/>
                <a:ea typeface="+mj-ea"/>
              </a:rPr>
              <a:t>10</a:t>
            </a:r>
            <a:r>
              <a:rPr lang="zh-CN" altLang="zh-CN" sz="2000" b="1" dirty="0">
                <a:latin typeface="+mj-ea"/>
                <a:ea typeface="+mj-ea"/>
              </a:rPr>
              <a:t>的整型对象，将对象的同一个引用赋值给</a:t>
            </a:r>
            <a:r>
              <a:rPr lang="en-US" altLang="zh-CN" sz="2000" b="1" dirty="0">
                <a:latin typeface="+mj-ea"/>
                <a:ea typeface="+mj-ea"/>
              </a:rPr>
              <a:t>a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en-US" altLang="zh-CN" sz="2000" b="1" dirty="0">
                <a:latin typeface="+mj-ea"/>
                <a:ea typeface="+mj-ea"/>
              </a:rPr>
              <a:t>b</a:t>
            </a:r>
            <a:r>
              <a:rPr lang="zh-CN" altLang="zh-CN" sz="2000" b="1" dirty="0">
                <a:latin typeface="+mj-ea"/>
                <a:ea typeface="+mj-ea"/>
              </a:rPr>
              <a:t>和</a:t>
            </a:r>
            <a:r>
              <a:rPr lang="en-US" altLang="zh-CN" sz="2000" b="1" dirty="0">
                <a:latin typeface="+mj-ea"/>
                <a:ea typeface="+mj-ea"/>
              </a:rPr>
              <a:t>c</a:t>
            </a:r>
            <a:r>
              <a:rPr lang="zh-CN" altLang="zh-CN" sz="2000" b="1" dirty="0">
                <a:latin typeface="+mj-ea"/>
                <a:ea typeface="+mj-ea"/>
              </a:rPr>
              <a:t>，即</a:t>
            </a:r>
            <a:r>
              <a:rPr lang="en-US" altLang="zh-CN" sz="2000" b="1" dirty="0">
                <a:latin typeface="+mj-ea"/>
                <a:ea typeface="+mj-ea"/>
              </a:rPr>
              <a:t>a</a:t>
            </a:r>
            <a:r>
              <a:rPr lang="zh-CN" altLang="en-US" sz="2000" b="1" dirty="0">
                <a:latin typeface="+mj-ea"/>
                <a:ea typeface="+mj-ea"/>
              </a:rPr>
              <a:t>、</a:t>
            </a:r>
            <a:r>
              <a:rPr lang="en-US" altLang="zh-CN" sz="2000" b="1" dirty="0">
                <a:latin typeface="+mj-ea"/>
                <a:ea typeface="+mj-ea"/>
              </a:rPr>
              <a:t>b</a:t>
            </a:r>
            <a:r>
              <a:rPr lang="zh-CN" altLang="zh-CN" sz="2000" b="1" dirty="0">
                <a:latin typeface="+mj-ea"/>
                <a:ea typeface="+mj-ea"/>
              </a:rPr>
              <a:t>和</a:t>
            </a:r>
            <a:r>
              <a:rPr lang="en-US" altLang="zh-CN" sz="2000" b="1" dirty="0">
                <a:latin typeface="+mj-ea"/>
                <a:ea typeface="+mj-ea"/>
              </a:rPr>
              <a:t>c</a:t>
            </a:r>
            <a:r>
              <a:rPr lang="zh-CN" altLang="zh-CN" sz="2000" b="1" dirty="0">
                <a:latin typeface="+mj-ea"/>
                <a:ea typeface="+mj-ea"/>
              </a:rPr>
              <a:t>均指向数据对象</a:t>
            </a:r>
            <a:r>
              <a:rPr lang="en-US" altLang="zh-CN" sz="2000" b="1" dirty="0">
                <a:latin typeface="+mj-ea"/>
                <a:ea typeface="+mj-ea"/>
              </a:rPr>
              <a:t>10</a:t>
            </a:r>
            <a:r>
              <a:rPr lang="zh-CN" altLang="zh-CN" sz="2000" b="1" dirty="0">
                <a:latin typeface="+mj-ea"/>
                <a:ea typeface="+mj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7622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</a:t>
            </a:r>
            <a:r>
              <a:rPr lang="zh-CN" altLang="zh-CN" b="1">
                <a:solidFill>
                  <a:srgbClr val="245794"/>
                </a:solidFill>
              </a:rPr>
              <a:t>．同步赋值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03521" y="1565743"/>
            <a:ext cx="7886700" cy="2395054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50000"/>
              </a:lnSpc>
              <a:spcAft>
                <a:spcPts val="600"/>
              </a:spcAft>
            </a:pPr>
            <a:r>
              <a:rPr lang="zh-CN" altLang="zh-CN" sz="2000" b="1" dirty="0">
                <a:latin typeface="+mj-ea"/>
                <a:ea typeface="+mj-ea"/>
              </a:rPr>
              <a:t>同步赋值的一般形式为：</a:t>
            </a:r>
          </a:p>
          <a:p>
            <a:pPr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342900">
              <a:lnSpc>
                <a:spcPct val="150000"/>
              </a:lnSpc>
              <a:spcAft>
                <a:spcPts val="600"/>
              </a:spcAft>
            </a:pPr>
            <a:r>
              <a:rPr lang="zh-CN" altLang="zh-CN" sz="2000" b="1" dirty="0">
                <a:latin typeface="+mj-ea"/>
                <a:ea typeface="+mj-ea"/>
              </a:rPr>
              <a:t>赋值号左边变量的个数与右边表达式的个数要一致。</a:t>
            </a:r>
            <a:endParaRPr lang="en-US" altLang="zh-CN" sz="2000" b="1" dirty="0">
              <a:latin typeface="+mj-ea"/>
              <a:ea typeface="+mj-ea"/>
            </a:endParaRPr>
          </a:p>
          <a:p>
            <a:pPr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000" b="1" dirty="0">
                <a:latin typeface="+mj-ea"/>
                <a:ea typeface="+mj-ea"/>
              </a:rPr>
              <a:t>例如：</a:t>
            </a:r>
          </a:p>
        </p:txBody>
      </p:sp>
      <p:sp>
        <p:nvSpPr>
          <p:cNvPr id="5" name="矩形 4"/>
          <p:cNvSpPr/>
          <p:nvPr/>
        </p:nvSpPr>
        <p:spPr>
          <a:xfrm>
            <a:off x="1584793" y="4100361"/>
            <a:ext cx="2618024" cy="40011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en-US" altLang="zh-CN" sz="2000" b="1" dirty="0">
                <a:solidFill>
                  <a:srgbClr val="245794"/>
                </a:solidFill>
                <a:latin typeface="+mj-ea"/>
              </a:rPr>
              <a:t>&gt;&gt;&gt; a, b, c=10, 20, 30</a:t>
            </a:r>
            <a:endParaRPr lang="zh-CN" altLang="zh-CN" sz="2000" b="1" dirty="0">
              <a:solidFill>
                <a:srgbClr val="245794"/>
              </a:solidFill>
              <a:latin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27BDD2-5D51-483D-A764-0D1295469B77}"/>
              </a:ext>
            </a:extLst>
          </p:cNvPr>
          <p:cNvSpPr txBox="1"/>
          <p:nvPr/>
        </p:nvSpPr>
        <p:spPr>
          <a:xfrm>
            <a:off x="5148878" y="4147559"/>
            <a:ext cx="3095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#10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都是表达式</a:t>
            </a:r>
          </a:p>
        </p:txBody>
      </p:sp>
    </p:spTree>
    <p:extLst>
      <p:ext uri="{BB962C8B-B14F-4D97-AF65-F5344CB8AC3E}">
        <p14:creationId xmlns:p14="http://schemas.microsoft.com/office/powerpoint/2010/main" val="109909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04587" y="160660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 sz="4000" b="1">
                <a:solidFill>
                  <a:srgbClr val="245794"/>
                </a:solidFill>
              </a:rPr>
              <a:t>2</a:t>
            </a:r>
            <a:r>
              <a:rPr lang="zh-CN" altLang="zh-CN" sz="4000" b="1">
                <a:solidFill>
                  <a:srgbClr val="245794"/>
                </a:solidFill>
              </a:rPr>
              <a:t>．同步赋值</a:t>
            </a:r>
            <a:endParaRPr lang="zh-CN" altLang="en-US" sz="400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03521" y="1565741"/>
            <a:ext cx="7886700" cy="2568309"/>
          </a:xfrm>
        </p:spPr>
        <p:txBody>
          <a:bodyPr>
            <a:normAutofit/>
          </a:bodyPr>
          <a:lstStyle/>
          <a:p>
            <a:pPr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342900">
              <a:lnSpc>
                <a:spcPct val="150000"/>
              </a:lnSpc>
              <a:spcAft>
                <a:spcPts val="600"/>
              </a:spcAft>
            </a:pPr>
            <a:r>
              <a:rPr lang="zh-CN" altLang="zh-CN" sz="1800" b="1" dirty="0">
                <a:latin typeface="+mj-ea"/>
                <a:ea typeface="+mj-ea"/>
              </a:rPr>
              <a:t>同步赋值首先计算右边</a:t>
            </a:r>
            <a:r>
              <a:rPr lang="en-US" altLang="zh-CN" sz="1800" b="1" dirty="0">
                <a:latin typeface="+mj-ea"/>
                <a:ea typeface="+mj-ea"/>
              </a:rPr>
              <a:t>n</a:t>
            </a:r>
            <a:r>
              <a:rPr lang="zh-CN" altLang="zh-CN" sz="1800" b="1" dirty="0">
                <a:latin typeface="+mj-ea"/>
                <a:ea typeface="+mj-ea"/>
              </a:rPr>
              <a:t>个表达式的值，然后</a:t>
            </a:r>
            <a:r>
              <a:rPr lang="zh-CN" altLang="zh-CN" sz="1800" b="1" dirty="0">
                <a:solidFill>
                  <a:srgbClr val="FF0000"/>
                </a:solidFill>
                <a:latin typeface="+mj-ea"/>
                <a:ea typeface="+mj-ea"/>
              </a:rPr>
              <a:t>同时</a:t>
            </a:r>
            <a:r>
              <a:rPr lang="zh-CN" altLang="zh-CN" sz="1800" b="1" dirty="0">
                <a:latin typeface="+mj-ea"/>
                <a:ea typeface="+mj-ea"/>
              </a:rPr>
              <a:t>将表达式的值</a:t>
            </a:r>
            <a:r>
              <a:rPr lang="zh-CN" altLang="zh-CN" sz="1800" b="1" dirty="0">
                <a:solidFill>
                  <a:srgbClr val="FF0000"/>
                </a:solidFill>
                <a:latin typeface="+mj-ea"/>
                <a:ea typeface="+mj-ea"/>
              </a:rPr>
              <a:t>赋值</a:t>
            </a:r>
            <a:r>
              <a:rPr lang="zh-CN" altLang="zh-CN" sz="1800" b="1" dirty="0">
                <a:latin typeface="+mj-ea"/>
                <a:ea typeface="+mj-ea"/>
              </a:rPr>
              <a:t>给左边的</a:t>
            </a:r>
            <a:r>
              <a:rPr lang="en-US" altLang="zh-CN" sz="1800" b="1" dirty="0">
                <a:latin typeface="+mj-ea"/>
                <a:ea typeface="+mj-ea"/>
              </a:rPr>
              <a:t>n</a:t>
            </a:r>
            <a:r>
              <a:rPr lang="zh-CN" altLang="zh-CN" sz="1800" b="1" dirty="0">
                <a:latin typeface="+mj-ea"/>
                <a:ea typeface="+mj-ea"/>
              </a:rPr>
              <a:t>个变量</a:t>
            </a:r>
            <a:endParaRPr lang="en-US" altLang="zh-CN" sz="1800" b="1" dirty="0">
              <a:latin typeface="+mj-ea"/>
              <a:ea typeface="+mj-ea"/>
            </a:endParaRPr>
          </a:p>
          <a:p>
            <a:pPr marL="571500" indent="-342900">
              <a:lnSpc>
                <a:spcPct val="150000"/>
              </a:lnSpc>
              <a:spcAft>
                <a:spcPts val="600"/>
              </a:spcAft>
            </a:pPr>
            <a:r>
              <a:rPr lang="zh-CN" altLang="zh-CN" sz="1800" b="1" dirty="0">
                <a:latin typeface="+mj-ea"/>
                <a:ea typeface="+mj-ea"/>
              </a:rPr>
              <a:t>这</a:t>
            </a:r>
            <a:r>
              <a:rPr lang="zh-CN" altLang="zh-CN" sz="1800" b="1" dirty="0">
                <a:solidFill>
                  <a:srgbClr val="FF0000"/>
                </a:solidFill>
                <a:latin typeface="+mj-ea"/>
                <a:ea typeface="+mj-ea"/>
              </a:rPr>
              <a:t>并非等同于</a:t>
            </a:r>
            <a:r>
              <a:rPr lang="zh-CN" altLang="zh-CN" sz="1800" b="1" dirty="0">
                <a:latin typeface="+mj-ea"/>
                <a:ea typeface="+mj-ea"/>
              </a:rPr>
              <a:t>简单地将多个单一赋值语句进行组合。</a:t>
            </a:r>
            <a:endParaRPr lang="en-US" altLang="zh-CN" sz="1800" b="1" dirty="0"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26079" y="3615800"/>
            <a:ext cx="1395664" cy="7848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en-US" altLang="zh-CN" sz="2000" b="1">
                <a:solidFill>
                  <a:srgbClr val="245794"/>
                </a:solidFill>
                <a:latin typeface="+mj-ea"/>
              </a:rPr>
              <a:t>&gt;&gt;&gt; a=2</a:t>
            </a:r>
          </a:p>
          <a:p>
            <a:pPr indent="0">
              <a:spcAft>
                <a:spcPts val="600"/>
              </a:spcAft>
              <a:buNone/>
            </a:pPr>
            <a:r>
              <a:rPr lang="en-US" altLang="zh-CN" sz="2000" b="1">
                <a:solidFill>
                  <a:srgbClr val="245794"/>
                </a:solidFill>
                <a:latin typeface="+mj-ea"/>
              </a:rPr>
              <a:t>&gt;&gt;&gt; b=3</a:t>
            </a:r>
          </a:p>
        </p:txBody>
      </p:sp>
      <p:sp>
        <p:nvSpPr>
          <p:cNvPr id="5" name="矩形 4"/>
          <p:cNvSpPr/>
          <p:nvPr/>
        </p:nvSpPr>
        <p:spPr>
          <a:xfrm>
            <a:off x="1229027" y="4701160"/>
            <a:ext cx="1745179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en-US" altLang="zh-CN" sz="2000" b="1">
                <a:solidFill>
                  <a:srgbClr val="245794"/>
                </a:solidFill>
                <a:latin typeface="+mj-ea"/>
              </a:rPr>
              <a:t>&gt;&gt;&gt; a,b=b,a</a:t>
            </a:r>
            <a:endParaRPr lang="zh-CN" altLang="zh-CN" sz="2000" b="1">
              <a:solidFill>
                <a:srgbClr val="245794"/>
              </a:solidFill>
              <a:latin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95838" y="4701160"/>
            <a:ext cx="1323474" cy="7848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en-US" altLang="zh-CN" sz="2000" b="1">
                <a:solidFill>
                  <a:srgbClr val="245794"/>
                </a:solidFill>
                <a:latin typeface="+mj-ea"/>
              </a:rPr>
              <a:t>&gt;&gt;&gt; a=b</a:t>
            </a:r>
          </a:p>
          <a:p>
            <a:pPr indent="0">
              <a:spcAft>
                <a:spcPts val="600"/>
              </a:spcAft>
              <a:buNone/>
            </a:pPr>
            <a:r>
              <a:rPr lang="en-US" altLang="zh-CN" sz="2000" b="1">
                <a:solidFill>
                  <a:srgbClr val="245794"/>
                </a:solidFill>
                <a:latin typeface="+mj-ea"/>
              </a:rPr>
              <a:t>&gt;&gt;&gt; b=a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789272" y="4450978"/>
            <a:ext cx="6213107" cy="14438"/>
          </a:xfrm>
          <a:prstGeom prst="line">
            <a:avLst/>
          </a:prstGeom>
          <a:ln w="28575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cxnSpLocks/>
          </p:cNvCxnSpPr>
          <p:nvPr/>
        </p:nvCxnSpPr>
        <p:spPr>
          <a:xfrm>
            <a:off x="4698939" y="4539925"/>
            <a:ext cx="0" cy="2189265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229027" y="5332966"/>
            <a:ext cx="13956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结果：</a:t>
            </a:r>
            <a:endParaRPr lang="en-US" altLang="zh-CN"/>
          </a:p>
          <a:p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值交换</a:t>
            </a:r>
            <a:endParaRPr lang="en-US" altLang="zh-CN"/>
          </a:p>
          <a:p>
            <a:r>
              <a:rPr lang="en-US" altLang="zh-CN"/>
              <a:t>a=3,b=</a:t>
            </a:r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95838" y="5634558"/>
            <a:ext cx="13956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结果：</a:t>
            </a:r>
            <a:endParaRPr lang="en-US" altLang="zh-CN"/>
          </a:p>
          <a:p>
            <a:r>
              <a:rPr lang="en-US" altLang="zh-CN"/>
              <a:t>a=3,b=</a:t>
            </a:r>
            <a:r>
              <a:rPr lang="en-US" altLang="zh-CN" sz="2000" b="1">
                <a:solidFill>
                  <a:srgbClr val="FF0000"/>
                </a:solidFill>
              </a:rPr>
              <a:t>3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4" name="线形标注 2(带强调线) 13"/>
          <p:cNvSpPr/>
          <p:nvPr/>
        </p:nvSpPr>
        <p:spPr>
          <a:xfrm>
            <a:off x="7339263" y="2733575"/>
            <a:ext cx="1583356" cy="71486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46792"/>
              <a:gd name="adj6" fmla="val -11428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注意区别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5F81CA-088C-4D74-B3CB-E557DD038E58}"/>
              </a:ext>
            </a:extLst>
          </p:cNvPr>
          <p:cNvSpPr txBox="1"/>
          <p:nvPr/>
        </p:nvSpPr>
        <p:spPr>
          <a:xfrm>
            <a:off x="50361" y="6164826"/>
            <a:ext cx="436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实际上，会计算出一个元组</a:t>
            </a:r>
            <a:r>
              <a:rPr lang="en-US" altLang="zh-CN" dirty="0">
                <a:solidFill>
                  <a:srgbClr val="FF0000"/>
                </a:solidFill>
              </a:rPr>
              <a:t>(3,2)</a:t>
            </a:r>
            <a:r>
              <a:rPr lang="zh-CN" altLang="en-US" dirty="0">
                <a:solidFill>
                  <a:srgbClr val="FF0000"/>
                </a:solidFill>
              </a:rPr>
              <a:t>，然后把元组中的元素分别赋值给变量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76C32F-CEEE-4230-BF40-B85B8EF53F8C}"/>
              </a:ext>
            </a:extLst>
          </p:cNvPr>
          <p:cNvSpPr txBox="1"/>
          <p:nvPr/>
        </p:nvSpPr>
        <p:spPr>
          <a:xfrm>
            <a:off x="7245559" y="4688879"/>
            <a:ext cx="13388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正确做法：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en-US" altLang="zh-CN" b="1" dirty="0">
                <a:latin typeface="+mj-ea"/>
                <a:ea typeface="+mj-ea"/>
              </a:rPr>
              <a:t>temp = a</a:t>
            </a:r>
          </a:p>
          <a:p>
            <a:r>
              <a:rPr lang="en-US" altLang="zh-CN" b="1" dirty="0">
                <a:latin typeface="+mj-ea"/>
                <a:ea typeface="+mj-ea"/>
              </a:rPr>
              <a:t>a = b</a:t>
            </a:r>
          </a:p>
          <a:p>
            <a:r>
              <a:rPr lang="en-US" altLang="zh-CN" b="1" dirty="0">
                <a:latin typeface="+mj-ea"/>
                <a:ea typeface="+mj-ea"/>
              </a:rPr>
              <a:t>b = temp</a:t>
            </a:r>
            <a:endParaRPr lang="zh-CN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7068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2" grpId="0"/>
      <p:bldP spid="13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930941" y="866934"/>
            <a:ext cx="5384260" cy="2143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下列程序的运行结果是（</a:t>
            </a:r>
            <a:r>
              <a:rPr lang="pt-BR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s-E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x=y=10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s-E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x,y,z=6,x+1,x+2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s-E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print(x,y,z)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3443592" y="3296765"/>
            <a:ext cx="12645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s-ES" altLang="zh-CN" sz="2400"/>
              <a:t>10  10  6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3443592" y="4154015"/>
            <a:ext cx="12645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s-ES" altLang="zh-CN" sz="2400"/>
              <a:t>6  10  10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3443592" y="5011265"/>
            <a:ext cx="12645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pt-BR" altLang="zh-CN" sz="2400"/>
              <a:t>6  7  8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3443592" y="5868515"/>
            <a:ext cx="12645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pt-BR" altLang="zh-CN" sz="2400"/>
              <a:t>6  11  12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729217" y="336105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729217" y="421830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729217" y="507555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729217" y="5932808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7579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18002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下列语句中，在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中非法的是（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3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01441" y="2778125"/>
            <a:ext cx="14834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s-E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x=y=z=1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01441" y="3635375"/>
            <a:ext cx="14834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s-E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x,y=y,x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01441" y="4492625"/>
            <a:ext cx="14834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s-E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x=(y=z+1)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01441" y="5349875"/>
            <a:ext cx="14834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s-E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x+=y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174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latin typeface="+mn-ea"/>
                <a:ea typeface="+mn-ea"/>
              </a:rPr>
              <a:t>例</a:t>
            </a:r>
            <a:r>
              <a:rPr lang="en-US" altLang="zh-CN" sz="2800">
                <a:latin typeface="+mn-ea"/>
                <a:ea typeface="+mn-ea"/>
              </a:rPr>
              <a:t>2-5  </a:t>
            </a:r>
            <a:r>
              <a:rPr lang="zh-CN" altLang="en-US" sz="2800">
                <a:latin typeface="+mn-ea"/>
                <a:ea typeface="+mn-ea"/>
              </a:rPr>
              <a:t>输入</a:t>
            </a:r>
            <a:r>
              <a:rPr lang="en-US" altLang="zh-CN" sz="2800">
                <a:latin typeface="+mn-ea"/>
                <a:ea typeface="+mn-ea"/>
              </a:rPr>
              <a:t>x,y,z</a:t>
            </a:r>
            <a:r>
              <a:rPr lang="zh-CN" altLang="en-US" sz="2800">
                <a:latin typeface="+mn-ea"/>
                <a:ea typeface="+mn-ea"/>
              </a:rPr>
              <a:t>的值，按由小到大的顺序输出</a:t>
            </a:r>
          </a:p>
        </p:txBody>
      </p:sp>
      <p:sp>
        <p:nvSpPr>
          <p:cNvPr id="4" name="矩形 3"/>
          <p:cNvSpPr/>
          <p:nvPr/>
        </p:nvSpPr>
        <p:spPr>
          <a:xfrm>
            <a:off x="486074" y="1797297"/>
            <a:ext cx="7957085" cy="4208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552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x=int(input('input x:'))     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#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的值</a:t>
            </a:r>
            <a:endParaRPr lang="zh-CN" altLang="zh-CN" kern="100" spc="30">
              <a:solidFill>
                <a:srgbClr val="00B050"/>
              </a:solidFill>
              <a:latin typeface="方正书宋简体"/>
              <a:cs typeface="Times New Roman" panose="02020603050405020304" pitchFamily="18" charset="0"/>
            </a:endParaRPr>
          </a:p>
          <a:p>
            <a:pPr indent="255270" algn="just">
              <a:lnSpc>
                <a:spcPct val="150000"/>
              </a:lnSpc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y=int(input('input y:'))     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#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输入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的值</a:t>
            </a:r>
          </a:p>
          <a:p>
            <a:pPr indent="255270" algn="just">
              <a:lnSpc>
                <a:spcPct val="150000"/>
              </a:lnSpc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z=int(input('input z:'))     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#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输入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z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的值</a:t>
            </a:r>
          </a:p>
          <a:p>
            <a:pPr indent="2552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if x&gt;y:                      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#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如果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x&gt;y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，则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和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的值互换</a:t>
            </a:r>
          </a:p>
          <a:p>
            <a:pPr indent="2552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x,y=y,x</a:t>
            </a:r>
            <a:endParaRPr lang="zh-CN" altLang="zh-CN" kern="100" spc="30">
              <a:latin typeface="方正书宋简体"/>
              <a:cs typeface="Times New Roman" panose="02020603050405020304" pitchFamily="18" charset="0"/>
            </a:endParaRPr>
          </a:p>
          <a:p>
            <a:pPr indent="255270" algn="just">
              <a:lnSpc>
                <a:spcPct val="150000"/>
              </a:lnSpc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if x&gt;z:                      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#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如果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x&gt;z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，则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和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z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的值互换</a:t>
            </a:r>
          </a:p>
          <a:p>
            <a:pPr indent="2552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x,z=z,x</a:t>
            </a:r>
            <a:endParaRPr lang="zh-CN" altLang="zh-CN" kern="100" spc="30">
              <a:latin typeface="方正书宋简体"/>
              <a:cs typeface="Times New Roman" panose="02020603050405020304" pitchFamily="18" charset="0"/>
            </a:endParaRPr>
          </a:p>
          <a:p>
            <a:pPr indent="255270" algn="just">
              <a:lnSpc>
                <a:spcPct val="150000"/>
              </a:lnSpc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if y&gt;z:                      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#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如果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y&gt;z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，则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和</a:t>
            </a:r>
            <a:r>
              <a:rPr lang="en-US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z</a:t>
            </a:r>
            <a:r>
              <a:rPr lang="zh-CN" altLang="zh-CN" kern="100" spc="30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的值互换</a:t>
            </a:r>
          </a:p>
          <a:p>
            <a:pPr indent="2552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y,z=z,y</a:t>
            </a:r>
            <a:endParaRPr lang="zh-CN" altLang="zh-CN" kern="100" spc="30">
              <a:latin typeface="方正书宋简体"/>
              <a:cs typeface="Times New Roman" panose="02020603050405020304" pitchFamily="18" charset="0"/>
            </a:endParaRPr>
          </a:p>
          <a:p>
            <a:pPr indent="2552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spc="3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print(x,y,z)</a:t>
            </a:r>
            <a:endParaRPr lang="zh-CN" altLang="zh-CN" kern="100" spc="30">
              <a:latin typeface="方正书宋简体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98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717062" y="1106732"/>
            <a:ext cx="7772400" cy="2387600"/>
          </a:xfrm>
        </p:spPr>
        <p:txBody>
          <a:bodyPr/>
          <a:lstStyle/>
          <a:p>
            <a:r>
              <a:rPr lang="zh-CN" altLang="en-US"/>
              <a:t>同步赋值应用举例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9"/>
          <p:cNvSpPr>
            <a:spLocks noChangeArrowheads="1"/>
          </p:cNvSpPr>
          <p:nvPr/>
        </p:nvSpPr>
        <p:spPr bwMode="auto">
          <a:xfrm>
            <a:off x="438455" y="3494332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4055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ym typeface="+mn-ea"/>
              </a:rPr>
              <a:t>2    基本输入输出</a:t>
            </a:r>
            <a:r>
              <a:rPr lang="en-US" altLang="zh-CN" sz="3600">
                <a:sym typeface="+mn-ea"/>
              </a:rPr>
              <a:t>—</a:t>
            </a:r>
            <a:r>
              <a:rPr lang="zh-CN" altLang="en-US" sz="3600">
                <a:sym typeface="+mn-ea"/>
              </a:rPr>
              <a:t>回顾</a:t>
            </a:r>
            <a:endParaRPr lang="en-US" sz="36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88371"/>
            <a:ext cx="7886700" cy="1666547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input()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是Python的基本</a:t>
            </a:r>
            <a:r>
              <a:rPr lang="en-US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函数，用来接收用户的键盘输入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>
              <a:lnSpc>
                <a:spcPct val="250000"/>
              </a:lnSpc>
              <a:spcBef>
                <a:spcPts val="0"/>
              </a:spcBef>
            </a:pP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不论用户输入什么内容，</a:t>
            </a:r>
            <a:r>
              <a:rPr lang="en-US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en-US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一律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字符串对待</a:t>
            </a: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37561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9754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>
                <a:sym typeface="+mn-ea"/>
              </a:rPr>
              <a:t>同步赋值与</a:t>
            </a:r>
            <a:r>
              <a:rPr lang="en-US" sz="2800">
                <a:sym typeface="+mn-ea"/>
              </a:rPr>
              <a:t>eval</a:t>
            </a:r>
            <a:r>
              <a:rPr lang="zh-CN" altLang="en-US" sz="2800">
                <a:sym typeface="+mn-ea"/>
              </a:rPr>
              <a:t>函数的应用</a:t>
            </a:r>
            <a:r>
              <a:rPr lang="en-US" altLang="zh-CN" sz="2800">
                <a:sym typeface="+mn-ea"/>
              </a:rPr>
              <a:t>2---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一次输入多个数据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7641" y="1506967"/>
            <a:ext cx="4767706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 b = eval(input('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个数，用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逗号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:'))</a:t>
            </a:r>
          </a:p>
        </p:txBody>
      </p:sp>
      <p:sp>
        <p:nvSpPr>
          <p:cNvPr id="12" name="矩形 11"/>
          <p:cNvSpPr/>
          <p:nvPr/>
        </p:nvSpPr>
        <p:spPr>
          <a:xfrm>
            <a:off x="-17641" y="2338325"/>
            <a:ext cx="2982221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zh-CN" altLang="en-US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个数，用逗号分隔：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22005" y="3253427"/>
            <a:ext cx="1047542" cy="17799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a=200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b=300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01164" y="2247006"/>
            <a:ext cx="1048685" cy="562783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en-US" altLang="zh-CN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239133" y="1576065"/>
            <a:ext cx="3779706" cy="134188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x=input('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个数，用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逗号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个数，用逗号分隔：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10607" y="2951250"/>
            <a:ext cx="116730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'200,300'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5473373" y="3520901"/>
            <a:ext cx="1648946" cy="45125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eval(x)</a:t>
            </a:r>
          </a:p>
        </p:txBody>
      </p:sp>
      <p:cxnSp>
        <p:nvCxnSpPr>
          <p:cNvPr id="16" name="曲线连接符 15"/>
          <p:cNvCxnSpPr>
            <a:stCxn id="14" idx="1"/>
          </p:cNvCxnSpPr>
          <p:nvPr/>
        </p:nvCxnSpPr>
        <p:spPr>
          <a:xfrm rot="10800000" flipV="1">
            <a:off x="6849789" y="3135915"/>
            <a:ext cx="560819" cy="602789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473373" y="4629313"/>
            <a:ext cx="68800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a,b=</a:t>
            </a:r>
            <a:endParaRPr lang="en-US" altLang="zh-CN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75733" y="4662987"/>
            <a:ext cx="104868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200,300</a:t>
            </a:r>
          </a:p>
        </p:txBody>
      </p:sp>
      <p:sp>
        <p:nvSpPr>
          <p:cNvPr id="19" name="矩形 18"/>
          <p:cNvSpPr/>
          <p:nvPr/>
        </p:nvSpPr>
        <p:spPr>
          <a:xfrm>
            <a:off x="7833740" y="2313119"/>
            <a:ext cx="965329" cy="510524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en-US" altLang="zh-CN" sz="16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曲线连接符 19"/>
          <p:cNvCxnSpPr/>
          <p:nvPr/>
        </p:nvCxnSpPr>
        <p:spPr>
          <a:xfrm rot="5400000">
            <a:off x="6194461" y="4246166"/>
            <a:ext cx="896878" cy="10913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7531493" y="4577336"/>
            <a:ext cx="14157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同步赋值</a:t>
            </a:r>
            <a:endParaRPr lang="zh-CN" alt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5" name="线形标注 1 24"/>
          <p:cNvSpPr/>
          <p:nvPr/>
        </p:nvSpPr>
        <p:spPr>
          <a:xfrm>
            <a:off x="295811" y="4096215"/>
            <a:ext cx="1868713" cy="936104"/>
          </a:xfrm>
          <a:prstGeom prst="borderCallout1">
            <a:avLst>
              <a:gd name="adj1" fmla="val -1862"/>
              <a:gd name="adj2" fmla="val 50026"/>
              <a:gd name="adj3" fmla="val -135039"/>
              <a:gd name="adj4" fmla="val 12362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注意：输入时用逗号分隔</a:t>
            </a:r>
          </a:p>
        </p:txBody>
      </p:sp>
      <p:sp>
        <p:nvSpPr>
          <p:cNvPr id="26" name="燕尾形箭头 25"/>
          <p:cNvSpPr/>
          <p:nvPr/>
        </p:nvSpPr>
        <p:spPr>
          <a:xfrm>
            <a:off x="4251133" y="2214853"/>
            <a:ext cx="988000" cy="303196"/>
          </a:xfrm>
          <a:prstGeom prst="notched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B2F46F-1AEA-4F83-A3B9-09DAFFD1F08F}"/>
              </a:ext>
            </a:extLst>
          </p:cNvPr>
          <p:cNvSpPr txBox="1"/>
          <p:nvPr/>
        </p:nvSpPr>
        <p:spPr>
          <a:xfrm>
            <a:off x="155454" y="5922928"/>
            <a:ext cx="436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实际上，</a:t>
            </a:r>
            <a:r>
              <a:rPr lang="en-US" altLang="zh-CN" dirty="0">
                <a:solidFill>
                  <a:srgbClr val="FF0000"/>
                </a:solidFill>
              </a:rPr>
              <a:t>eval</a:t>
            </a:r>
            <a:r>
              <a:rPr lang="zh-CN" altLang="en-US" dirty="0">
                <a:solidFill>
                  <a:srgbClr val="FF0000"/>
                </a:solidFill>
              </a:rPr>
              <a:t>会计算出一个元组</a:t>
            </a:r>
            <a:r>
              <a:rPr lang="en-US" altLang="zh-CN" dirty="0">
                <a:solidFill>
                  <a:srgbClr val="FF0000"/>
                </a:solidFill>
              </a:rPr>
              <a:t>(200,300)</a:t>
            </a:r>
            <a:r>
              <a:rPr lang="zh-CN" altLang="en-US" dirty="0">
                <a:solidFill>
                  <a:srgbClr val="FF0000"/>
                </a:solidFill>
              </a:rPr>
              <a:t>，然后把元组中的元素分别赋值给变量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65F4F0-6050-418B-8B9D-13C2E65E443B}"/>
              </a:ext>
            </a:extLst>
          </p:cNvPr>
          <p:cNvSpPr txBox="1"/>
          <p:nvPr/>
        </p:nvSpPr>
        <p:spPr>
          <a:xfrm>
            <a:off x="4621091" y="5553812"/>
            <a:ext cx="25510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d = eval(input())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200,300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d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(200,300)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94058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3" grpId="0" animBg="1"/>
      <p:bldP spid="10" grpId="0" animBg="1"/>
      <p:bldP spid="9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06500" y="952391"/>
            <a:ext cx="5640404" cy="1804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000">
                <a:latin typeface="+mn-ea"/>
              </a:rPr>
              <a:t>输入三角形边长，求周长。</a:t>
            </a:r>
            <a:endParaRPr lang="en-US" altLang="zh-CN" sz="2000">
              <a:latin typeface="+mn-ea"/>
            </a:endParaRPr>
          </a:p>
          <a:p>
            <a:r>
              <a:rPr lang="en-US" altLang="zh-CN" sz="2000">
                <a:latin typeface="+mn-ea"/>
              </a:rPr>
              <a:t>a,b,c = eval(input())</a:t>
            </a:r>
          </a:p>
          <a:p>
            <a:r>
              <a:rPr lang="en-US" altLang="zh-CN" sz="2000">
                <a:latin typeface="+mn-ea"/>
              </a:rPr>
              <a:t>s = a + b + c</a:t>
            </a:r>
          </a:p>
          <a:p>
            <a:r>
              <a:rPr lang="en-US" altLang="zh-CN" sz="2000">
                <a:latin typeface="+mn-ea"/>
              </a:rPr>
              <a:t>print('</a:t>
            </a:r>
            <a:r>
              <a:rPr lang="zh-CN" altLang="en-US" sz="2000">
                <a:latin typeface="+mn-ea"/>
              </a:rPr>
              <a:t>三角形的周长：</a:t>
            </a:r>
            <a:r>
              <a:rPr lang="en-US" altLang="zh-CN" sz="2000">
                <a:latin typeface="+mn-ea"/>
              </a:rPr>
              <a:t>',s)</a:t>
            </a:r>
          </a:p>
          <a:p>
            <a:r>
              <a:rPr lang="zh-CN" altLang="en-US" sz="2000">
                <a:latin typeface="+mn-ea"/>
              </a:rPr>
              <a:t>则输入边长的正确格式是（     ）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085242" y="316697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085242" y="4204182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085242" y="525112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767162" y="31427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1" name="矩形 20"/>
          <p:cNvSpPr/>
          <p:nvPr/>
        </p:nvSpPr>
        <p:spPr>
          <a:xfrm>
            <a:off x="2043656" y="3142756"/>
            <a:ext cx="736099" cy="562783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043655" y="4204182"/>
            <a:ext cx="1087157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43655" y="5333674"/>
            <a:ext cx="1661032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a=3</a:t>
            </a:r>
            <a:r>
              <a:rPr lang="en-US" altLang="zh-CN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b=4</a:t>
            </a:r>
            <a:r>
              <a:rPr lang="en-US" altLang="zh-CN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c=5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884751" y="3135597"/>
            <a:ext cx="327334" cy="1779974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808784" y="1249225"/>
            <a:ext cx="280660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a,b,c=eval('3,4,5')</a:t>
            </a:r>
            <a:endParaRPr lang="zh-CN" altLang="en-US" sz="28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808784" y="1807669"/>
            <a:ext cx="180530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a,b,c=3,4,5</a:t>
            </a:r>
            <a:endParaRPr lang="zh-CN" altLang="en-US" sz="28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V="1">
            <a:off x="3412156" y="1573731"/>
            <a:ext cx="1396628" cy="48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488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35185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z="3600"/>
              <a:t>字符串的</a:t>
            </a:r>
            <a:r>
              <a:rPr lang="en-US" altLang="zh-CN" sz="3600"/>
              <a:t>split</a:t>
            </a:r>
            <a:r>
              <a:rPr lang="zh-CN" altLang="en-US" sz="3600"/>
              <a:t>方法</a:t>
            </a:r>
            <a:r>
              <a:rPr lang="en-US" altLang="zh-CN" sz="3600"/>
              <a:t>(</a:t>
            </a:r>
            <a:r>
              <a:rPr lang="en-US" altLang="zh-CN" sz="3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p96_5.3</a:t>
            </a:r>
            <a:r>
              <a:rPr lang="zh-CN" altLang="en-US" sz="3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r>
              <a:rPr lang="en-US" altLang="zh-CN" sz="3600"/>
              <a:t>)</a:t>
            </a:r>
            <a:endParaRPr lang="zh-CN" altLang="en-US" sz="3600"/>
          </a:p>
        </p:txBody>
      </p:sp>
      <p:sp>
        <p:nvSpPr>
          <p:cNvPr id="4" name="文本占位符 34818"/>
          <p:cNvSpPr>
            <a:spLocks noGrp="1"/>
          </p:cNvSpPr>
          <p:nvPr>
            <p:ph idx="1"/>
          </p:nvPr>
        </p:nvSpPr>
        <p:spPr>
          <a:xfrm>
            <a:off x="84821" y="1503179"/>
            <a:ext cx="3043389" cy="3482708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defTabSz="685800" fontAlgn="base">
              <a:lnSpc>
                <a:spcPct val="150000"/>
              </a:lnSpc>
              <a:spcBef>
                <a:spcPts val="0"/>
              </a:spcBef>
              <a:buSzPct val="70000"/>
              <a:buFont typeface="Wingdings" panose="05000000000000000000" charset="0"/>
              <a:buChar char=""/>
            </a:pPr>
            <a:r>
              <a:rPr lang="en-US" altLang="zh-CN" sz="2000" noProof="1">
                <a:latin typeface="宋体" panose="02010600030101010101" pitchFamily="2" charset="-122"/>
              </a:rPr>
              <a:t>s.split(</a:t>
            </a:r>
            <a:r>
              <a:rPr lang="en-US" altLang="zh-CN" sz="2000" noProof="1">
                <a:solidFill>
                  <a:srgbClr val="FF0000"/>
                </a:solidFill>
                <a:latin typeface="宋体" panose="02010600030101010101" pitchFamily="2" charset="-122"/>
              </a:rPr>
              <a:t>[sep]</a:t>
            </a:r>
            <a:r>
              <a:rPr lang="en-US" altLang="zh-CN" sz="2000" noProof="1">
                <a:latin typeface="宋体" panose="02010600030101010101" pitchFamily="2" charset="-122"/>
              </a:rPr>
              <a:t>)</a:t>
            </a:r>
            <a:r>
              <a:rPr lang="zh-CN" altLang="en-US" sz="2000" noProof="1">
                <a:latin typeface="宋体" panose="02010600030101010101" pitchFamily="2" charset="-122"/>
              </a:rPr>
              <a:t> </a:t>
            </a:r>
            <a:endParaRPr lang="en-US" altLang="zh-CN" sz="2000" noProof="1">
              <a:latin typeface="宋体" panose="02010600030101010101" pitchFamily="2" charset="-122"/>
            </a:endParaRPr>
          </a:p>
          <a:p>
            <a:pPr marL="0" indent="0" defTabSz="685800" fontAlgn="base">
              <a:lnSpc>
                <a:spcPct val="150000"/>
              </a:lnSpc>
              <a:spcBef>
                <a:spcPts val="0"/>
              </a:spcBef>
              <a:buSzPct val="70000"/>
              <a:buNone/>
            </a:pPr>
            <a:r>
              <a:rPr lang="zh-CN" altLang="en-US" sz="2000" noProof="1">
                <a:latin typeface="宋体" panose="02010600030101010101" pitchFamily="2" charset="-122"/>
              </a:rPr>
              <a:t>功能：</a:t>
            </a:r>
            <a:endParaRPr lang="en-US" altLang="zh-CN" sz="2000" noProof="1">
              <a:latin typeface="宋体" panose="02010600030101010101" pitchFamily="2" charset="-122"/>
            </a:endParaRPr>
          </a:p>
          <a:p>
            <a:pPr defTabSz="685800" fontAlgn="base">
              <a:lnSpc>
                <a:spcPct val="250000"/>
              </a:lnSpc>
              <a:spcBef>
                <a:spcPts val="0"/>
              </a:spcBef>
              <a:buSzPct val="70000"/>
            </a:pPr>
            <a:r>
              <a:rPr lang="zh-CN" altLang="en-US" sz="1600" noProof="1">
                <a:latin typeface="+mj-ea"/>
                <a:ea typeface="+mj-ea"/>
              </a:rPr>
              <a:t>以</a:t>
            </a:r>
            <a:r>
              <a:rPr lang="en-US" altLang="zh-CN" sz="16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sep</a:t>
            </a:r>
            <a:r>
              <a:rPr lang="zh-CN" altLang="en-US" sz="16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为分隔符</a:t>
            </a:r>
            <a:r>
              <a:rPr lang="zh-CN" altLang="en-US" sz="1600" noProof="1">
                <a:latin typeface="+mj-ea"/>
                <a:ea typeface="+mj-ea"/>
              </a:rPr>
              <a:t>，将字符串</a:t>
            </a:r>
            <a:r>
              <a:rPr lang="en-US" altLang="zh-CN" sz="1600" noProof="1">
                <a:latin typeface="+mj-ea"/>
                <a:ea typeface="+mj-ea"/>
              </a:rPr>
              <a:t>s</a:t>
            </a:r>
            <a:r>
              <a:rPr lang="zh-CN" altLang="en-US" sz="1600" noProof="1">
                <a:latin typeface="+mj-ea"/>
                <a:ea typeface="+mj-ea"/>
              </a:rPr>
              <a:t>拆分为一个</a:t>
            </a:r>
            <a:r>
              <a:rPr lang="zh-CN" altLang="en-US" sz="16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en-US" sz="1600" noProof="1">
                <a:latin typeface="+mj-ea"/>
                <a:ea typeface="+mj-ea"/>
              </a:rPr>
              <a:t>。</a:t>
            </a:r>
            <a:endParaRPr lang="en-US" altLang="zh-CN" sz="1600" noProof="1">
              <a:latin typeface="+mj-ea"/>
              <a:ea typeface="+mj-ea"/>
            </a:endParaRPr>
          </a:p>
          <a:p>
            <a:pPr defTabSz="685800" fontAlgn="base">
              <a:lnSpc>
                <a:spcPct val="250000"/>
              </a:lnSpc>
              <a:spcBef>
                <a:spcPts val="0"/>
              </a:spcBef>
              <a:buSzPct val="70000"/>
            </a:pPr>
            <a:r>
              <a:rPr lang="zh-CN" altLang="en-US" sz="16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zh-CN" altLang="en-US" sz="1600" noProof="1">
                <a:latin typeface="+mj-ea"/>
                <a:ea typeface="+mj-ea"/>
              </a:rPr>
              <a:t>的分隔符为</a:t>
            </a:r>
            <a:r>
              <a:rPr lang="zh-CN" altLang="en-US" sz="16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</a:t>
            </a:r>
            <a:r>
              <a:rPr lang="zh-CN" altLang="en-US" sz="1600" noProof="1">
                <a:latin typeface="+mj-ea"/>
                <a:ea typeface="+mj-ea"/>
              </a:rPr>
              <a:t>。</a:t>
            </a:r>
            <a:endParaRPr lang="en-US" altLang="zh-CN" sz="1600" noProof="1">
              <a:latin typeface="+mj-ea"/>
              <a:ea typeface="+mj-ea"/>
            </a:endParaRPr>
          </a:p>
          <a:p>
            <a:pPr defTabSz="685800" fontAlgn="base">
              <a:lnSpc>
                <a:spcPct val="250000"/>
              </a:lnSpc>
              <a:spcBef>
                <a:spcPts val="0"/>
              </a:spcBef>
              <a:buSzPct val="70000"/>
            </a:pPr>
            <a:r>
              <a:rPr lang="zh-CN" altLang="en-US" sz="1600" noProof="1">
                <a:latin typeface="+mj-ea"/>
                <a:ea typeface="+mj-ea"/>
              </a:rPr>
              <a:t>换行符、制表符也视为空格</a:t>
            </a:r>
            <a:r>
              <a:rPr lang="zh-CN" altLang="en-US" sz="1600">
                <a:latin typeface="+mj-ea"/>
                <a:ea typeface="+mj-ea"/>
                <a:sym typeface="+mn-ea"/>
              </a:rPr>
              <a:t>；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1999" y="4169139"/>
            <a:ext cx="3277403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Consolas" panose="020B0609020204030204" charset="0"/>
              </a:rPr>
              <a:t>&gt;&gt;&gt; '1 10 6'.split()</a:t>
            </a:r>
          </a:p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solidFill>
                  <a:srgbClr val="00B0F0"/>
                </a:solidFill>
                <a:latin typeface="Consolas" panose="020B0609020204030204" charset="0"/>
              </a:rPr>
              <a:t>['1','10','6']</a:t>
            </a:r>
          </a:p>
        </p:txBody>
      </p:sp>
      <p:sp>
        <p:nvSpPr>
          <p:cNvPr id="7" name="矩形 6"/>
          <p:cNvSpPr/>
          <p:nvPr/>
        </p:nvSpPr>
        <p:spPr>
          <a:xfrm>
            <a:off x="4571999" y="1560748"/>
            <a:ext cx="3744228" cy="8788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Consolas" panose="020B0609020204030204" charset="0"/>
              </a:rPr>
              <a:t>&gt;&gt;&gt;'1</a:t>
            </a:r>
            <a:r>
              <a:rPr lang="en-US" altLang="zh-CN" noProof="1">
                <a:solidFill>
                  <a:srgbClr val="FF0000"/>
                </a:solidFill>
                <a:latin typeface="Consolas" panose="020B0609020204030204" charset="0"/>
              </a:rPr>
              <a:t>,</a:t>
            </a:r>
            <a:r>
              <a:rPr lang="en-US" altLang="zh-CN" noProof="1">
                <a:latin typeface="Consolas" panose="020B0609020204030204" charset="0"/>
              </a:rPr>
              <a:t>10,6'.split('</a:t>
            </a:r>
            <a:r>
              <a:rPr lang="en-US" altLang="zh-CN" b="1" noProof="1">
                <a:solidFill>
                  <a:srgbClr val="FF0000"/>
                </a:solidFill>
                <a:latin typeface="Consolas" panose="020B0609020204030204" charset="0"/>
              </a:rPr>
              <a:t>,</a:t>
            </a:r>
            <a:r>
              <a:rPr lang="en-US" altLang="zh-CN" noProof="1">
                <a:latin typeface="Consolas" panose="020B0609020204030204" charset="0"/>
              </a:rPr>
              <a:t>')</a:t>
            </a:r>
          </a:p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solidFill>
                  <a:srgbClr val="00B0F0"/>
                </a:solidFill>
                <a:latin typeface="Consolas" panose="020B0609020204030204" charset="0"/>
              </a:rPr>
              <a:t>['1','10','6']</a:t>
            </a:r>
          </a:p>
        </p:txBody>
      </p:sp>
      <p:cxnSp>
        <p:nvCxnSpPr>
          <p:cNvPr id="8" name="肘形连接符 7"/>
          <p:cNvCxnSpPr/>
          <p:nvPr/>
        </p:nvCxnSpPr>
        <p:spPr>
          <a:xfrm flipV="1">
            <a:off x="2699886" y="1900989"/>
            <a:ext cx="1872113" cy="1164657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/>
          <p:cNvCxnSpPr>
            <a:endCxn id="6" idx="1"/>
          </p:cNvCxnSpPr>
          <p:nvPr/>
        </p:nvCxnSpPr>
        <p:spPr>
          <a:xfrm>
            <a:off x="2699886" y="4018547"/>
            <a:ext cx="1872113" cy="612257"/>
          </a:xfrm>
          <a:prstGeom prst="bentConnector3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30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35185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字符串的</a:t>
            </a:r>
            <a:r>
              <a:rPr lang="en-US" altLang="zh-CN" sz="3600" dirty="0"/>
              <a:t>split</a:t>
            </a:r>
            <a:r>
              <a:rPr lang="zh-CN" altLang="en-US" sz="3600" dirty="0"/>
              <a:t>方法</a:t>
            </a:r>
            <a:r>
              <a:rPr lang="en-US" altLang="zh-CN" sz="3600" dirty="0"/>
              <a:t>------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同步赋值</a:t>
            </a:r>
          </a:p>
        </p:txBody>
      </p:sp>
      <p:sp>
        <p:nvSpPr>
          <p:cNvPr id="4" name="文本占位符 34818"/>
          <p:cNvSpPr>
            <a:spLocks noGrp="1"/>
          </p:cNvSpPr>
          <p:nvPr>
            <p:ph idx="1"/>
          </p:nvPr>
        </p:nvSpPr>
        <p:spPr>
          <a:xfrm>
            <a:off x="1184509" y="1744026"/>
            <a:ext cx="1568316" cy="1478582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defTabSz="685800" fontAlgn="base">
              <a:lnSpc>
                <a:spcPct val="250000"/>
              </a:lnSpc>
              <a:spcBef>
                <a:spcPts val="0"/>
              </a:spcBef>
              <a:buSzPct val="70000"/>
              <a:buFont typeface="Wingdings" panose="05000000000000000000" charset="0"/>
              <a:buChar char=""/>
            </a:pPr>
            <a:r>
              <a:rPr lang="zh-CN" altLang="en-US" sz="2000" noProof="1">
                <a:latin typeface="宋体" panose="02010600030101010101" pitchFamily="2" charset="-122"/>
              </a:rPr>
              <a:t>例</a:t>
            </a:r>
            <a:r>
              <a:rPr lang="en-US" altLang="zh-CN" sz="2000" noProof="1">
                <a:latin typeface="宋体" panose="02010600030101010101" pitchFamily="2" charset="-122"/>
              </a:rPr>
              <a:t>1</a:t>
            </a:r>
            <a:r>
              <a:rPr lang="zh-CN" altLang="en-US" sz="2000" noProof="1">
                <a:latin typeface="宋体" panose="02010600030101010101" pitchFamily="2" charset="-122"/>
              </a:rPr>
              <a:t>：</a:t>
            </a:r>
            <a:endParaRPr lang="en-US" altLang="zh-CN" sz="2000" noProof="1">
              <a:latin typeface="宋体" panose="02010600030101010101" pitchFamily="2" charset="-122"/>
            </a:endParaRPr>
          </a:p>
          <a:p>
            <a:pPr defTabSz="685800" fontAlgn="base">
              <a:lnSpc>
                <a:spcPct val="250000"/>
              </a:lnSpc>
              <a:spcBef>
                <a:spcPts val="0"/>
              </a:spcBef>
              <a:buSzPct val="70000"/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16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为分隔符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1999" y="4169139"/>
            <a:ext cx="3672039" cy="175432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Consolas" panose="020B0609020204030204" charset="0"/>
              </a:rPr>
              <a:t>&gt;&gt;&gt; x,y = '1 10'.split(  )</a:t>
            </a:r>
          </a:p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Consolas" panose="020B0609020204030204" charset="0"/>
              </a:rPr>
              <a:t>x,y = ('1','10')</a:t>
            </a:r>
          </a:p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endParaRPr lang="en-US" altLang="zh-CN" noProof="1">
              <a:latin typeface="Consolas" panose="020B0609020204030204" charset="0"/>
            </a:endParaRPr>
          </a:p>
          <a:p>
            <a:pPr marL="1429" indent="-258604" defTabSz="685800" fontAlgn="base">
              <a:lnSpc>
                <a:spcPct val="150000"/>
              </a:lnSpc>
              <a:buSzPct val="70000"/>
            </a:pPr>
            <a:r>
              <a:rPr lang="zh-CN" altLang="en-US" noProof="1">
                <a:latin typeface="Consolas" panose="020B0609020204030204" charset="0"/>
              </a:rPr>
              <a:t>结果：</a:t>
            </a:r>
            <a:r>
              <a:rPr lang="en-US" altLang="zh-CN" noProof="1">
                <a:latin typeface="Consolas" panose="020B0609020204030204" charset="0"/>
              </a:rPr>
              <a:t>x</a:t>
            </a:r>
            <a:r>
              <a:rPr lang="zh-CN" altLang="en-US" noProof="1">
                <a:latin typeface="Consolas" panose="020B0609020204030204" charset="0"/>
              </a:rPr>
              <a:t>的值为</a:t>
            </a:r>
            <a:r>
              <a:rPr lang="en-US" altLang="zh-CN" noProof="1">
                <a:solidFill>
                  <a:srgbClr val="00B0F0"/>
                </a:solidFill>
                <a:latin typeface="Consolas" panose="020B0609020204030204" charset="0"/>
              </a:rPr>
              <a:t>'1'</a:t>
            </a:r>
            <a:r>
              <a:rPr lang="en-US" altLang="zh-CN" noProof="1">
                <a:latin typeface="Consolas" panose="020B0609020204030204" charset="0"/>
              </a:rPr>
              <a:t>,y</a:t>
            </a:r>
            <a:r>
              <a:rPr lang="zh-CN" altLang="en-US" noProof="1">
                <a:latin typeface="Consolas" panose="020B0609020204030204" charset="0"/>
              </a:rPr>
              <a:t>的值为</a:t>
            </a:r>
            <a:r>
              <a:rPr lang="en-US" altLang="zh-CN" noProof="1">
                <a:solidFill>
                  <a:srgbClr val="00B0F0"/>
                </a:solidFill>
                <a:latin typeface="Consolas" panose="020B0609020204030204" charset="0"/>
              </a:rPr>
              <a:t>'10'</a:t>
            </a:r>
          </a:p>
        </p:txBody>
      </p:sp>
      <p:sp>
        <p:nvSpPr>
          <p:cNvPr id="7" name="矩形 6"/>
          <p:cNvSpPr/>
          <p:nvPr/>
        </p:nvSpPr>
        <p:spPr>
          <a:xfrm>
            <a:off x="4571999" y="1560748"/>
            <a:ext cx="3744228" cy="175432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Consolas" panose="020B0609020204030204" charset="0"/>
              </a:rPr>
              <a:t>&gt;&gt;&gt; x,y = '1,10'.split('</a:t>
            </a:r>
            <a:r>
              <a:rPr lang="en-US" altLang="zh-CN" b="1" noProof="1">
                <a:latin typeface="Consolas" panose="020B0609020204030204" charset="0"/>
              </a:rPr>
              <a:t>,</a:t>
            </a:r>
            <a:r>
              <a:rPr lang="en-US" altLang="zh-CN" noProof="1">
                <a:latin typeface="Consolas" panose="020B0609020204030204" charset="0"/>
              </a:rPr>
              <a:t>')</a:t>
            </a:r>
          </a:p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Consolas" panose="020B0609020204030204" charset="0"/>
              </a:rPr>
              <a:t>x,y = ('1','10')</a:t>
            </a:r>
          </a:p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endParaRPr lang="en-US" altLang="zh-CN" noProof="1">
              <a:latin typeface="Consolas" panose="020B0609020204030204" charset="0"/>
            </a:endParaRPr>
          </a:p>
          <a:p>
            <a:pPr marL="1429" indent="-258604" defTabSz="685800" fontAlgn="base">
              <a:lnSpc>
                <a:spcPct val="150000"/>
              </a:lnSpc>
              <a:buSzPct val="70000"/>
            </a:pPr>
            <a:r>
              <a:rPr lang="zh-CN" altLang="en-US" noProof="1">
                <a:latin typeface="Consolas" panose="020B0609020204030204" charset="0"/>
              </a:rPr>
              <a:t>结果：</a:t>
            </a:r>
            <a:r>
              <a:rPr lang="en-US" altLang="zh-CN" noProof="1">
                <a:latin typeface="Consolas" panose="020B0609020204030204" charset="0"/>
              </a:rPr>
              <a:t>x</a:t>
            </a:r>
            <a:r>
              <a:rPr lang="zh-CN" altLang="en-US" noProof="1">
                <a:latin typeface="Consolas" panose="020B0609020204030204" charset="0"/>
              </a:rPr>
              <a:t>的值为</a:t>
            </a:r>
            <a:r>
              <a:rPr lang="en-US" altLang="zh-CN" noProof="1">
                <a:solidFill>
                  <a:srgbClr val="00B0F0"/>
                </a:solidFill>
                <a:latin typeface="Consolas" panose="020B0609020204030204" charset="0"/>
              </a:rPr>
              <a:t>'1'</a:t>
            </a:r>
            <a:r>
              <a:rPr lang="en-US" altLang="zh-CN" noProof="1">
                <a:latin typeface="Consolas" panose="020B0609020204030204" charset="0"/>
              </a:rPr>
              <a:t>,y</a:t>
            </a:r>
            <a:r>
              <a:rPr lang="zh-CN" altLang="en-US" noProof="1">
                <a:latin typeface="Consolas" panose="020B0609020204030204" charset="0"/>
              </a:rPr>
              <a:t>的值为</a:t>
            </a:r>
            <a:r>
              <a:rPr lang="en-US" altLang="zh-CN" noProof="1">
                <a:solidFill>
                  <a:srgbClr val="00B0F0"/>
                </a:solidFill>
                <a:latin typeface="Consolas" panose="020B0609020204030204" charset="0"/>
              </a:rPr>
              <a:t>'10'</a:t>
            </a:r>
          </a:p>
        </p:txBody>
      </p:sp>
      <p:cxnSp>
        <p:nvCxnSpPr>
          <p:cNvPr id="8" name="肘形连接符 7"/>
          <p:cNvCxnSpPr>
            <a:stCxn id="4" idx="3"/>
          </p:cNvCxnSpPr>
          <p:nvPr/>
        </p:nvCxnSpPr>
        <p:spPr>
          <a:xfrm flipV="1">
            <a:off x="2752825" y="1900990"/>
            <a:ext cx="1819174" cy="582327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/>
          <p:cNvCxnSpPr>
            <a:stCxn id="9" idx="3"/>
            <a:endCxn id="6" idx="1"/>
          </p:cNvCxnSpPr>
          <p:nvPr/>
        </p:nvCxnSpPr>
        <p:spPr>
          <a:xfrm>
            <a:off x="2752825" y="4435176"/>
            <a:ext cx="1819174" cy="611126"/>
          </a:xfrm>
          <a:prstGeom prst="bentConnector3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34818"/>
          <p:cNvSpPr txBox="1">
            <a:spLocks/>
          </p:cNvSpPr>
          <p:nvPr/>
        </p:nvSpPr>
        <p:spPr>
          <a:xfrm>
            <a:off x="1090662" y="3821582"/>
            <a:ext cx="1662163" cy="1227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 fontAlgn="base">
              <a:lnSpc>
                <a:spcPct val="250000"/>
              </a:lnSpc>
              <a:spcBef>
                <a:spcPts val="0"/>
              </a:spcBef>
              <a:buSzPct val="70000"/>
              <a:buFont typeface="Wingdings" panose="05000000000000000000" charset="0"/>
              <a:buChar char=""/>
            </a:pPr>
            <a:r>
              <a:rPr lang="zh-CN" altLang="en-US" sz="2000" noProof="1">
                <a:latin typeface="宋体" panose="02010600030101010101" pitchFamily="2" charset="-122"/>
              </a:rPr>
              <a:t>例</a:t>
            </a:r>
            <a:r>
              <a:rPr lang="en-US" altLang="zh-CN" sz="2000" noProof="1">
                <a:latin typeface="宋体" panose="02010600030101010101" pitchFamily="2" charset="-122"/>
              </a:rPr>
              <a:t>2</a:t>
            </a:r>
            <a:r>
              <a:rPr lang="zh-CN" altLang="en-US" sz="2000" noProof="1">
                <a:latin typeface="宋体" panose="02010600030101010101" pitchFamily="2" charset="-122"/>
              </a:rPr>
              <a:t>：</a:t>
            </a:r>
            <a:endParaRPr lang="en-US" altLang="zh-CN" sz="2000" noProof="1">
              <a:latin typeface="宋体" panose="02010600030101010101" pitchFamily="2" charset="-122"/>
            </a:endParaRPr>
          </a:p>
          <a:p>
            <a:pPr defTabSz="685800" fontAlgn="base">
              <a:lnSpc>
                <a:spcPct val="250000"/>
              </a:lnSpc>
              <a:spcBef>
                <a:spcPts val="0"/>
              </a:spcBef>
              <a:buSzPct val="70000"/>
            </a:pPr>
            <a:r>
              <a:rPr lang="zh-CN" altLang="en-US" sz="1600" noProof="1">
                <a:latin typeface="+mj-ea"/>
                <a:ea typeface="+mj-ea"/>
              </a:rPr>
              <a:t>以</a:t>
            </a:r>
            <a:r>
              <a:rPr lang="zh-CN" altLang="en-US" sz="16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</a:t>
            </a:r>
            <a:r>
              <a:rPr lang="zh-CN" altLang="en-US" sz="1600" noProof="1">
                <a:latin typeface="+mj-ea"/>
                <a:ea typeface="+mj-ea"/>
              </a:rPr>
              <a:t>为分隔符</a:t>
            </a:r>
            <a:endParaRPr lang="en-US" altLang="zh-CN" sz="1600" noProof="1">
              <a:latin typeface="+mj-ea"/>
              <a:ea typeface="+mj-ea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121668" y="4206240"/>
            <a:ext cx="226194" cy="3705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539791" y="4221934"/>
            <a:ext cx="256673" cy="3705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6115248" y="1649133"/>
            <a:ext cx="226194" cy="3705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539791" y="1631136"/>
            <a:ext cx="405864" cy="3705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35C24F-2719-4E9B-B991-7C1A863BAAE1}"/>
              </a:ext>
            </a:extLst>
          </p:cNvPr>
          <p:cNvSpPr txBox="1"/>
          <p:nvPr/>
        </p:nvSpPr>
        <p:spPr>
          <a:xfrm>
            <a:off x="3931918" y="6189502"/>
            <a:ext cx="5024389" cy="4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solidFill>
                  <a:srgbClr val="FF0000"/>
                </a:solidFill>
                <a:latin typeface="Consolas" panose="020B0609020204030204" charset="0"/>
              </a:rPr>
              <a:t>x,y = ‘1 10’.split(‘ ‘)</a:t>
            </a:r>
            <a:r>
              <a:rPr lang="zh-CN" altLang="en-US" noProof="1">
                <a:solidFill>
                  <a:srgbClr val="FF0000"/>
                </a:solidFill>
                <a:latin typeface="Consolas" panose="020B0609020204030204" charset="0"/>
              </a:rPr>
              <a:t>也可以，但没必要。</a:t>
            </a:r>
            <a:endParaRPr lang="en-US" altLang="zh-CN" noProof="1">
              <a:solidFill>
                <a:srgbClr val="FF000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80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5" grpId="0" animBg="1"/>
      <p:bldP spid="11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01F89-EA21-4D8D-AFA6-30A5AD31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s.split</a:t>
            </a:r>
            <a:r>
              <a:rPr lang="en-US" altLang="zh-CN" dirty="0"/>
              <a:t>()</a:t>
            </a:r>
            <a:r>
              <a:rPr lang="zh-CN" altLang="en-US" dirty="0"/>
              <a:t>和</a:t>
            </a:r>
            <a:r>
              <a:rPr lang="en-US" altLang="zh-CN" dirty="0" err="1"/>
              <a:t>s.split</a:t>
            </a:r>
            <a:r>
              <a:rPr lang="en-US" altLang="zh-CN" dirty="0"/>
              <a:t>(‘ ‘)</a:t>
            </a:r>
            <a:r>
              <a:rPr lang="zh-CN" altLang="en-US" dirty="0"/>
              <a:t>的细微区别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81F05D-E43B-4DF3-A19C-17738D14CA12}"/>
              </a:ext>
            </a:extLst>
          </p:cNvPr>
          <p:cNvSpPr txBox="1"/>
          <p:nvPr/>
        </p:nvSpPr>
        <p:spPr>
          <a:xfrm>
            <a:off x="405658" y="2436695"/>
            <a:ext cx="54198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s =  '200  300'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s.split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['200', '300']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s.split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 ')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['200', '', '300']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E032DDA-C5D7-4864-BBAC-C9A575477314}"/>
              </a:ext>
            </a:extLst>
          </p:cNvPr>
          <p:cNvCxnSpPr/>
          <p:nvPr/>
        </p:nvCxnSpPr>
        <p:spPr>
          <a:xfrm flipH="1" flipV="1">
            <a:off x="4572000" y="1166070"/>
            <a:ext cx="1652631" cy="897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2BD8422-0D8E-4CF6-8E49-412D777F4360}"/>
              </a:ext>
            </a:extLst>
          </p:cNvPr>
          <p:cNvSpPr txBox="1"/>
          <p:nvPr/>
        </p:nvSpPr>
        <p:spPr>
          <a:xfrm>
            <a:off x="6261994" y="18790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一个空格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B3E5626-907E-4B98-BB46-46A61AA48898}"/>
              </a:ext>
            </a:extLst>
          </p:cNvPr>
          <p:cNvCxnSpPr>
            <a:cxnSpLocks/>
          </p:cNvCxnSpPr>
          <p:nvPr/>
        </p:nvCxnSpPr>
        <p:spPr>
          <a:xfrm flipH="1">
            <a:off x="2365433" y="2041858"/>
            <a:ext cx="234892" cy="478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8000D80-4311-4424-AC25-81AFC7BB27F2}"/>
              </a:ext>
            </a:extLst>
          </p:cNvPr>
          <p:cNvSpPr txBox="1"/>
          <p:nvPr/>
        </p:nvSpPr>
        <p:spPr>
          <a:xfrm>
            <a:off x="1221329" y="1650029"/>
            <a:ext cx="3140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之间有两个空格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380BA78-C2B7-4B95-B705-92AB84C4251C}"/>
              </a:ext>
            </a:extLst>
          </p:cNvPr>
          <p:cNvCxnSpPr>
            <a:cxnSpLocks/>
          </p:cNvCxnSpPr>
          <p:nvPr/>
        </p:nvCxnSpPr>
        <p:spPr>
          <a:xfrm flipH="1" flipV="1">
            <a:off x="1972812" y="3950071"/>
            <a:ext cx="392621" cy="712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A9ECA7F-B873-4C09-A94B-B5E84286FBC6}"/>
              </a:ext>
            </a:extLst>
          </p:cNvPr>
          <p:cNvSpPr txBox="1"/>
          <p:nvPr/>
        </p:nvSpPr>
        <p:spPr>
          <a:xfrm>
            <a:off x="1972812" y="46292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一个空格</a:t>
            </a:r>
          </a:p>
        </p:txBody>
      </p:sp>
    </p:spTree>
    <p:extLst>
      <p:ext uri="{BB962C8B-B14F-4D97-AF65-F5344CB8AC3E}">
        <p14:creationId xmlns:p14="http://schemas.microsoft.com/office/powerpoint/2010/main" val="55441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3518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 sz="3600"/>
              <a:t>split</a:t>
            </a:r>
            <a:r>
              <a:rPr lang="zh-CN" altLang="en-US" sz="3600"/>
              <a:t>与</a:t>
            </a:r>
            <a:r>
              <a:rPr lang="en-US" altLang="zh-CN" sz="3600"/>
              <a:t>input</a:t>
            </a:r>
            <a:r>
              <a:rPr lang="zh-CN" altLang="en-US" sz="3600"/>
              <a:t>结合：拆分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输入数据</a:t>
            </a:r>
          </a:p>
        </p:txBody>
      </p:sp>
      <p:sp>
        <p:nvSpPr>
          <p:cNvPr id="6" name="矩形 5"/>
          <p:cNvSpPr/>
          <p:nvPr/>
        </p:nvSpPr>
        <p:spPr>
          <a:xfrm>
            <a:off x="818149" y="1560748"/>
            <a:ext cx="6675120" cy="50552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sz="2000" noProof="1">
                <a:latin typeface="Consolas" panose="020B0609020204030204" charset="0"/>
              </a:rPr>
              <a:t>&gt;&gt;&gt; x,y = </a:t>
            </a:r>
            <a:r>
              <a:rPr lang="en-US" altLang="zh-CN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en-US" altLang="zh-CN" sz="2000" noProof="1">
                <a:latin typeface="Consolas" panose="020B0609020204030204" charset="0"/>
              </a:rPr>
              <a:t>('</a:t>
            </a:r>
            <a:r>
              <a:rPr lang="zh-CN" altLang="en-US" sz="2000" noProof="1">
                <a:latin typeface="Consolas" panose="020B0609020204030204" charset="0"/>
              </a:rPr>
              <a:t>输入</a:t>
            </a:r>
            <a:r>
              <a:rPr lang="en-US" altLang="zh-CN" sz="2000" noProof="1">
                <a:latin typeface="Consolas" panose="020B0609020204030204" charset="0"/>
              </a:rPr>
              <a:t>2</a:t>
            </a:r>
            <a:r>
              <a:rPr lang="zh-CN" altLang="en-US" sz="2000" noProof="1">
                <a:latin typeface="Consolas" panose="020B0609020204030204" charset="0"/>
              </a:rPr>
              <a:t>个数，用空格分隔</a:t>
            </a:r>
            <a:r>
              <a:rPr lang="en-US" altLang="zh-CN" sz="2000" noProof="1">
                <a:latin typeface="Consolas" panose="020B0609020204030204" charset="0"/>
              </a:rPr>
              <a:t>')</a:t>
            </a:r>
            <a:r>
              <a:rPr lang="en-US" altLang="zh-CN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.split()</a:t>
            </a:r>
          </a:p>
        </p:txBody>
      </p:sp>
      <p:sp>
        <p:nvSpPr>
          <p:cNvPr id="7" name="矩形 6"/>
          <p:cNvSpPr/>
          <p:nvPr/>
        </p:nvSpPr>
        <p:spPr>
          <a:xfrm>
            <a:off x="818149" y="3744023"/>
            <a:ext cx="7233384" cy="50552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429" indent="-258604" defTabSz="685800" fontAlgn="base">
              <a:lnSpc>
                <a:spcPct val="150000"/>
              </a:lnSpc>
              <a:buSzPct val="70000"/>
              <a:buNone/>
            </a:pPr>
            <a:r>
              <a:rPr lang="en-US" altLang="zh-CN" sz="2000" noProof="1">
                <a:latin typeface="Consolas" panose="020B0609020204030204" charset="0"/>
              </a:rPr>
              <a:t>&gt;&gt;&gt; x,y = </a:t>
            </a:r>
            <a:r>
              <a:rPr lang="en-US" altLang="zh-CN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en-US" altLang="zh-CN" sz="2000" noProof="1">
                <a:latin typeface="Consolas" panose="020B0609020204030204" charset="0"/>
              </a:rPr>
              <a:t>('</a:t>
            </a:r>
            <a:r>
              <a:rPr lang="zh-CN" altLang="en-US" sz="2000" noProof="1">
                <a:latin typeface="Consolas" panose="020B0609020204030204" charset="0"/>
              </a:rPr>
              <a:t>输入</a:t>
            </a:r>
            <a:r>
              <a:rPr lang="en-US" altLang="zh-CN" sz="2000" noProof="1">
                <a:latin typeface="Consolas" panose="020B0609020204030204" charset="0"/>
              </a:rPr>
              <a:t>2</a:t>
            </a:r>
            <a:r>
              <a:rPr lang="zh-CN" altLang="en-US" sz="2000" noProof="1">
                <a:latin typeface="Consolas" panose="020B0609020204030204" charset="0"/>
              </a:rPr>
              <a:t>个数，用</a:t>
            </a:r>
            <a:r>
              <a:rPr lang="zh-CN" altLang="en-US" sz="2000" noProof="1">
                <a:solidFill>
                  <a:srgbClr val="FF0000"/>
                </a:solidFill>
                <a:latin typeface="Consolas" panose="020B0609020204030204" charset="0"/>
              </a:rPr>
              <a:t>逗号</a:t>
            </a:r>
            <a:r>
              <a:rPr lang="zh-CN" altLang="en-US" sz="2000" noProof="1">
                <a:latin typeface="Consolas" panose="020B0609020204030204" charset="0"/>
              </a:rPr>
              <a:t>分隔</a:t>
            </a:r>
            <a:r>
              <a:rPr lang="en-US" altLang="zh-CN" sz="2000" noProof="1">
                <a:latin typeface="Consolas" panose="020B0609020204030204" charset="0"/>
              </a:rPr>
              <a:t>')</a:t>
            </a:r>
            <a:r>
              <a:rPr lang="en-US" altLang="zh-CN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.split</a:t>
            </a:r>
            <a:r>
              <a:rPr lang="en-US" altLang="zh-CN" sz="2000" noProof="1">
                <a:latin typeface="Consolas" panose="020B0609020204030204" charset="0"/>
              </a:rPr>
              <a:t>(</a:t>
            </a:r>
            <a:r>
              <a:rPr lang="en-US" altLang="zh-CN" sz="2000" noProof="1">
                <a:solidFill>
                  <a:srgbClr val="FF0000"/>
                </a:solidFill>
                <a:latin typeface="Consolas" panose="020B0609020204030204" charset="0"/>
              </a:rPr>
              <a:t>','</a:t>
            </a:r>
            <a:r>
              <a:rPr lang="en-US" altLang="zh-CN" sz="2000" noProof="1">
                <a:latin typeface="Consolas" panose="020B0609020204030204" charset="0"/>
              </a:rPr>
              <a:t>)</a:t>
            </a:r>
          </a:p>
        </p:txBody>
      </p:sp>
      <p:sp>
        <p:nvSpPr>
          <p:cNvPr id="8" name="矩形 7"/>
          <p:cNvSpPr/>
          <p:nvPr/>
        </p:nvSpPr>
        <p:spPr>
          <a:xfrm>
            <a:off x="1022475" y="2067297"/>
            <a:ext cx="9267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2371" y="2223422"/>
            <a:ext cx="1196094" cy="13644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zh-CN" altLang="en-US">
                <a:latin typeface="+mj-ea"/>
                <a:ea typeface="+mj-ea"/>
              </a:rPr>
              <a:t>结果：</a:t>
            </a:r>
            <a:endParaRPr lang="en-US" altLang="zh-CN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+mj-ea"/>
                <a:ea typeface="+mj-ea"/>
              </a:rPr>
              <a:t>x='200'</a:t>
            </a:r>
            <a:endParaRPr lang="en-US" altLang="zh-CN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+mj-ea"/>
                <a:ea typeface="+mj-ea"/>
              </a:rPr>
              <a:t>y='300'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10101" y="2952143"/>
            <a:ext cx="2902017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SzPct val="70000"/>
              <a:buNone/>
            </a:pPr>
            <a:r>
              <a:rPr lang="en-US" altLang="zh-CN" sz="1600" noProof="1">
                <a:latin typeface="Consolas" panose="020B0609020204030204" charset="0"/>
              </a:rPr>
              <a:t>x,y =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'200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300'.split()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51144" y="4859130"/>
            <a:ext cx="1196094" cy="13644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zh-CN" altLang="en-US">
                <a:latin typeface="+mj-ea"/>
                <a:ea typeface="+mj-ea"/>
              </a:rPr>
              <a:t>结果：</a:t>
            </a:r>
            <a:endParaRPr lang="en-US" altLang="zh-CN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+mj-ea"/>
                <a:ea typeface="+mj-ea"/>
              </a:rPr>
              <a:t>x='100'</a:t>
            </a:r>
            <a:endParaRPr lang="en-US" altLang="zh-CN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+mj-ea"/>
                <a:ea typeface="+mj-ea"/>
              </a:rPr>
              <a:t>y='200'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10101" y="5649348"/>
            <a:ext cx="3071675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 noProof="1">
                <a:latin typeface="Consolas" panose="020B0609020204030204" charset="0"/>
              </a:rPr>
              <a:t>x,y =</a:t>
            </a:r>
            <a:r>
              <a:rPr lang="en-US" altLang="zh-CN" sz="1600" noProof="1">
                <a:latin typeface="Consolas" panose="020B0609020204030204" charset="0"/>
              </a:rPr>
              <a:t> '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,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200'</a:t>
            </a:r>
            <a:r>
              <a:rPr lang="en-US" altLang="zh-CN" sz="16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.split</a:t>
            </a:r>
            <a:r>
              <a:rPr lang="en-US" altLang="zh-CN" sz="1600" noProof="1">
                <a:latin typeface="Consolas" panose="020B0609020204030204" charset="0"/>
              </a:rPr>
              <a:t>(</a:t>
            </a:r>
            <a:r>
              <a:rPr lang="en-US" altLang="zh-CN" sz="1600" noProof="1">
                <a:solidFill>
                  <a:srgbClr val="FF0000"/>
                </a:solidFill>
                <a:latin typeface="Consolas" panose="020B0609020204030204" charset="0"/>
              </a:rPr>
              <a:t>','</a:t>
            </a:r>
            <a:r>
              <a:rPr lang="en-US" altLang="zh-CN" sz="1600" noProof="1">
                <a:latin typeface="Consolas" panose="020B0609020204030204" charset="0"/>
              </a:rPr>
              <a:t>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22475" y="4659701"/>
            <a:ext cx="9267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95192" y="2186332"/>
            <a:ext cx="1061509" cy="562783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200 300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95191" y="4732252"/>
            <a:ext cx="1117614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en-US" altLang="zh-CN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011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169098" y="340483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169098" y="4800601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514853" y="3415967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1169098" y="684196"/>
            <a:ext cx="5640404" cy="20739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000">
                <a:latin typeface="+mn-ea"/>
              </a:rPr>
              <a:t>输入三角形边长，求周长。</a:t>
            </a:r>
            <a:endParaRPr lang="en-US" altLang="zh-CN" sz="2000">
              <a:latin typeface="+mn-ea"/>
            </a:endParaRPr>
          </a:p>
          <a:p>
            <a:r>
              <a:rPr lang="en-US" altLang="zh-CN" sz="2000">
                <a:latin typeface="+mn-ea"/>
              </a:rPr>
              <a:t>a,b,c = input().split()</a:t>
            </a:r>
          </a:p>
          <a:p>
            <a:r>
              <a:rPr lang="en-US" altLang="zh-CN" sz="2000" u="sng">
                <a:latin typeface="+mn-ea"/>
              </a:rPr>
              <a:t> (         </a:t>
            </a:r>
            <a:r>
              <a:rPr lang="en-US" altLang="zh-CN" sz="2000" u="sng">
                <a:solidFill>
                  <a:srgbClr val="FF0000"/>
                </a:solidFill>
                <a:latin typeface="+mn-ea"/>
              </a:rPr>
              <a:t> ①         </a:t>
            </a:r>
            <a:r>
              <a:rPr lang="en-US" altLang="zh-CN" sz="2000" u="sng">
                <a:latin typeface="+mn-ea"/>
              </a:rPr>
              <a:t>)                   </a:t>
            </a:r>
          </a:p>
          <a:p>
            <a:r>
              <a:rPr lang="en-US" altLang="zh-CN" sz="2000">
                <a:latin typeface="+mn-ea"/>
              </a:rPr>
              <a:t>s = a + b + c</a:t>
            </a:r>
          </a:p>
          <a:p>
            <a:r>
              <a:rPr lang="en-US" altLang="zh-CN" sz="2000">
                <a:latin typeface="+mn-ea"/>
              </a:rPr>
              <a:t>print('</a:t>
            </a:r>
            <a:r>
              <a:rPr lang="zh-CN" altLang="en-US" sz="2000">
                <a:latin typeface="+mn-ea"/>
              </a:rPr>
              <a:t>三角形的周长：</a:t>
            </a:r>
            <a:r>
              <a:rPr lang="en-US" altLang="zh-CN" sz="2000">
                <a:latin typeface="+mn-ea"/>
              </a:rPr>
              <a:t>',s)</a:t>
            </a:r>
          </a:p>
          <a:p>
            <a:r>
              <a:rPr lang="zh-CN" altLang="en-US" sz="2000">
                <a:latin typeface="+mn-ea"/>
              </a:rPr>
              <a:t>则输入边长的正确格式是（   ②     ）</a:t>
            </a: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3522847" y="1060450"/>
            <a:ext cx="1847468" cy="2643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169098" y="2716011"/>
            <a:ext cx="156966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u="sng">
                <a:latin typeface="+mn-ea"/>
              </a:rPr>
              <a:t>①</a:t>
            </a:r>
            <a:r>
              <a:rPr lang="zh-CN" altLang="en-US">
                <a:latin typeface="+mn-ea"/>
              </a:rPr>
              <a:t>的正确选项</a:t>
            </a:r>
          </a:p>
        </p:txBody>
      </p:sp>
      <p:sp>
        <p:nvSpPr>
          <p:cNvPr id="27" name="矩形 26"/>
          <p:cNvSpPr/>
          <p:nvPr/>
        </p:nvSpPr>
        <p:spPr>
          <a:xfrm>
            <a:off x="2043656" y="3415814"/>
            <a:ext cx="1095172" cy="94897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a=int(a)</a:t>
            </a:r>
          </a:p>
          <a:p>
            <a:pPr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b=int(b)</a:t>
            </a:r>
          </a:p>
          <a:p>
            <a:pPr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c=int(c)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43656" y="4945619"/>
            <a:ext cx="2694969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a,b,c=int(a),int(b),int(c)</a:t>
            </a:r>
          </a:p>
        </p:txBody>
      </p:sp>
      <p:sp>
        <p:nvSpPr>
          <p:cNvPr id="29" name="矩形 28"/>
          <p:cNvSpPr/>
          <p:nvPr/>
        </p:nvSpPr>
        <p:spPr>
          <a:xfrm>
            <a:off x="6247115" y="3430556"/>
            <a:ext cx="1936749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buSzPct val="70000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a,b,c=int(a, b,c)</a:t>
            </a:r>
          </a:p>
        </p:txBody>
      </p:sp>
      <p:sp>
        <p:nvSpPr>
          <p:cNvPr id="30" name="矩形 29"/>
          <p:cNvSpPr/>
          <p:nvPr/>
        </p:nvSpPr>
        <p:spPr>
          <a:xfrm>
            <a:off x="5370315" y="857385"/>
            <a:ext cx="803425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a='3'</a:t>
            </a:r>
          </a:p>
          <a:p>
            <a:pPr algn="ctr"/>
            <a:r>
              <a:rPr lang="en-US" altLang="zh-CN" sz="24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b='4'</a:t>
            </a:r>
          </a:p>
          <a:p>
            <a:pPr algn="ctr"/>
            <a:r>
              <a:rPr lang="en-US" altLang="zh-CN" sz="24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c='5'</a:t>
            </a:r>
          </a:p>
        </p:txBody>
      </p:sp>
      <p:grpSp>
        <p:nvGrpSpPr>
          <p:cNvPr id="17" name="组合 16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2801923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0BB89C4-C757-45C9-B792-AD1DBF6A5C54}"/>
              </a:ext>
            </a:extLst>
          </p:cNvPr>
          <p:cNvSpPr txBox="1"/>
          <p:nvPr/>
        </p:nvSpPr>
        <p:spPr>
          <a:xfrm>
            <a:off x="4959316" y="135936"/>
            <a:ext cx="2465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键盘输入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</a:rPr>
              <a:t>3  4  5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802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104961" y="4582260"/>
            <a:ext cx="92053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5449578" y="4582260"/>
            <a:ext cx="106782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390586" y="464655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4735203" y="464655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872303" y="635000"/>
            <a:ext cx="4511981" cy="27987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+mn-ea"/>
              </a:rPr>
              <a:t>输入三角形边长，求周长。</a:t>
            </a:r>
            <a:endParaRPr lang="en-US" altLang="zh-CN" sz="240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latin typeface="+mn-ea"/>
              </a:rPr>
              <a:t>a,b,c = </a:t>
            </a:r>
            <a:r>
              <a:rPr lang="en-US" altLang="zh-CN" sz="2400" b="1">
                <a:solidFill>
                  <a:srgbClr val="FF0000"/>
                </a:solidFill>
                <a:latin typeface="+mn-ea"/>
              </a:rPr>
              <a:t>int(input())</a:t>
            </a:r>
            <a:r>
              <a:rPr lang="en-US" altLang="zh-CN" sz="2400">
                <a:latin typeface="+mn-ea"/>
              </a:rPr>
              <a:t>.split()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latin typeface="+mn-ea"/>
              </a:rPr>
              <a:t>s = a + b + c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latin typeface="+mn-ea"/>
              </a:rPr>
              <a:t>print('</a:t>
            </a:r>
            <a:r>
              <a:rPr lang="zh-CN" altLang="en-US" sz="2400">
                <a:latin typeface="+mn-ea"/>
              </a:rPr>
              <a:t>三角形的周长：</a:t>
            </a:r>
            <a:r>
              <a:rPr lang="en-US" altLang="zh-CN" sz="2400">
                <a:latin typeface="+mn-ea"/>
              </a:rPr>
              <a:t>',s)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+mn-ea"/>
              </a:rPr>
              <a:t>本程序的第一条语句正确吗？</a:t>
            </a:r>
          </a:p>
        </p:txBody>
      </p:sp>
      <p:sp>
        <p:nvSpPr>
          <p:cNvPr id="21" name="矩形 20"/>
          <p:cNvSpPr/>
          <p:nvPr/>
        </p:nvSpPr>
        <p:spPr>
          <a:xfrm>
            <a:off x="4835676" y="4776231"/>
            <a:ext cx="8277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lang="zh-CN" altLang="en-US" sz="6000"/>
          </a:p>
        </p:txBody>
      </p:sp>
      <p:sp>
        <p:nvSpPr>
          <p:cNvPr id="22" name="矩形 21"/>
          <p:cNvSpPr/>
          <p:nvPr/>
        </p:nvSpPr>
        <p:spPr>
          <a:xfrm>
            <a:off x="5663430" y="2194446"/>
            <a:ext cx="233115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int('3 4 5')</a:t>
            </a:r>
            <a:endParaRPr lang="zh-CN" altLang="en-US" sz="40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24" name="曲线连接符 23"/>
          <p:cNvCxnSpPr/>
          <p:nvPr/>
        </p:nvCxnSpPr>
        <p:spPr>
          <a:xfrm>
            <a:off x="3151663" y="1624865"/>
            <a:ext cx="3657600" cy="795960"/>
          </a:xfrm>
          <a:prstGeom prst="curvedConnector3">
            <a:avLst>
              <a:gd name="adj1" fmla="val 102538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826943" y="2941000"/>
            <a:ext cx="2314466" cy="133882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语法错误：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int(x)</a:t>
            </a:r>
            <a:r>
              <a:rPr lang="zh-CN" altLang="en-US"/>
              <a:t>的参数</a:t>
            </a:r>
            <a:r>
              <a:rPr lang="en-US" altLang="zh-CN"/>
              <a:t>x</a:t>
            </a:r>
            <a:r>
              <a:rPr lang="zh-CN" altLang="en-US"/>
              <a:t>只能是一个</a:t>
            </a:r>
            <a:r>
              <a:rPr lang="zh-CN" altLang="en-US">
                <a:solidFill>
                  <a:srgbClr val="FF0000"/>
                </a:solidFill>
              </a:rPr>
              <a:t>数字字符串</a:t>
            </a:r>
            <a:r>
              <a:rPr lang="zh-CN" altLang="en-US"/>
              <a:t>或</a:t>
            </a:r>
            <a:r>
              <a:rPr lang="zh-CN" altLang="en-US">
                <a:solidFill>
                  <a:srgbClr val="FF0000"/>
                </a:solidFill>
              </a:rPr>
              <a:t>数</a:t>
            </a:r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065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SzPct val="90000"/>
              <a:buFont typeface="Wingdings" panose="05000000000000000000" charset="0"/>
              <a:buChar char="v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已知三角形的两边长及其夹角，求第三边长。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SzPct val="90000"/>
              <a:buNone/>
            </a:pPr>
            <a:endParaRPr lang="en-US" altLang="x-none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import math</a:t>
            </a: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a, b, theta = </a:t>
            </a: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input('输入两边长及夹角（</a:t>
            </a:r>
            <a:r>
              <a:rPr lang="en-US" altLang="x-none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度）,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逗号分隔</a:t>
            </a:r>
            <a:r>
              <a:rPr lang="en-US" altLang="x-none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：')</a:t>
            </a:r>
            <a:r>
              <a:rPr lang="en-US" altLang="x-none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.split(',')</a:t>
            </a: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a=</a:t>
            </a:r>
            <a:r>
              <a:rPr lang="en-US" altLang="x-none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float(</a:t>
            </a:r>
            <a:r>
              <a:rPr lang="en-US" altLang="x-none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x-none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b=</a:t>
            </a:r>
            <a:r>
              <a:rPr lang="en-US" altLang="x-none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float(</a:t>
            </a:r>
            <a:r>
              <a:rPr lang="en-US" altLang="x-none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x-none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theta=</a:t>
            </a:r>
            <a:r>
              <a:rPr lang="en-US" altLang="x-none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float(</a:t>
            </a:r>
            <a:r>
              <a:rPr lang="en-US" altLang="x-none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theta</a:t>
            </a:r>
            <a:r>
              <a:rPr lang="en-US" altLang="x-none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endParaRPr lang="en-US" altLang="x-none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 = math.sqrt(a**2 + b**2 - 2*a*b*math.cos(theta*math.pi/180))</a:t>
            </a: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print('c=', c)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F7279A-4B04-4BB8-9B2F-06DB59E795B7}"/>
              </a:ext>
            </a:extLst>
          </p:cNvPr>
          <p:cNvSpPr txBox="1"/>
          <p:nvPr/>
        </p:nvSpPr>
        <p:spPr>
          <a:xfrm>
            <a:off x="6845417" y="50333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自己看</a:t>
            </a:r>
          </a:p>
        </p:txBody>
      </p:sp>
    </p:spTree>
    <p:extLst>
      <p:ext uri="{BB962C8B-B14F-4D97-AF65-F5344CB8AC3E}">
        <p14:creationId xmlns:p14="http://schemas.microsoft.com/office/powerpoint/2010/main" val="274678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精彩案例赏析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7958" y="1532054"/>
            <a:ext cx="8293969" cy="191379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SzPct val="90000"/>
              <a:buFont typeface="Wingdings" panose="05000000000000000000" charset="0"/>
              <a:buChar char="v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输入一个十进制小数形式的非负实数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，分别输出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的整数部分和小数部分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lvl="1" indent="0">
              <a:lnSpc>
                <a:spcPct val="200000"/>
              </a:lnSpc>
              <a:buSzPct val="9000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输入样例：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3.16</a:t>
            </a:r>
          </a:p>
          <a:p>
            <a:pPr marL="457200" lvl="1" indent="0">
              <a:lnSpc>
                <a:spcPct val="200000"/>
              </a:lnSpc>
              <a:buSzPct val="9000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输出样例：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3 0.16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2576" y="3618266"/>
            <a:ext cx="2762450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2000" dirty="0"/>
              <a:t>x,y=input().split('.')</a:t>
            </a:r>
          </a:p>
          <a:p>
            <a:pPr>
              <a:lnSpc>
                <a:spcPct val="300000"/>
              </a:lnSpc>
            </a:pPr>
            <a:r>
              <a:rPr lang="zh-CN" altLang="en-US" sz="2000" dirty="0"/>
              <a:t>print(x,'0.'+str(y))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6A9781-A7D4-47E8-8802-8C385AE40C36}"/>
              </a:ext>
            </a:extLst>
          </p:cNvPr>
          <p:cNvSpPr txBox="1"/>
          <p:nvPr/>
        </p:nvSpPr>
        <p:spPr>
          <a:xfrm>
            <a:off x="6845417" y="50333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自己看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4E45ED-4D25-4CD8-961C-C7910EDF5A79}"/>
              </a:ext>
            </a:extLst>
          </p:cNvPr>
          <p:cNvSpPr txBox="1"/>
          <p:nvPr/>
        </p:nvSpPr>
        <p:spPr>
          <a:xfrm>
            <a:off x="4922903" y="3261178"/>
            <a:ext cx="960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或者： 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B0C6A4-EA6B-47FA-99BD-36045015F9B0}"/>
              </a:ext>
            </a:extLst>
          </p:cNvPr>
          <p:cNvSpPr/>
          <p:nvPr/>
        </p:nvSpPr>
        <p:spPr>
          <a:xfrm>
            <a:off x="4960130" y="3643276"/>
            <a:ext cx="2762450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a = eval(input())</a:t>
            </a:r>
          </a:p>
          <a:p>
            <a:r>
              <a:rPr lang="en-US" altLang="zh-CN" sz="2000" dirty="0"/>
              <a:t> </a:t>
            </a:r>
          </a:p>
          <a:p>
            <a:r>
              <a:rPr lang="en-US" altLang="zh-CN" sz="2000" dirty="0"/>
              <a:t>x = int(a)</a:t>
            </a:r>
          </a:p>
          <a:p>
            <a:endParaRPr lang="en-US" altLang="zh-CN" sz="2000" dirty="0"/>
          </a:p>
          <a:p>
            <a:r>
              <a:rPr lang="en-US" altLang="zh-CN" sz="2000" dirty="0"/>
              <a:t>y = a - x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1348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sym typeface="+mn-ea"/>
              </a:rPr>
              <a:t>5  基本输出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835" y="1355101"/>
            <a:ext cx="7886700" cy="2663446"/>
          </a:xfrm>
        </p:spPr>
        <p:txBody>
          <a:bodyPr>
            <a:normAutofit fontScale="97500"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"/>
            </a:pPr>
            <a:r>
              <a:rPr lang="en-US" sz="1800" dirty="0" err="1">
                <a:latin typeface="+mn-ea"/>
              </a:rPr>
              <a:t>内置函数print</a:t>
            </a:r>
            <a:r>
              <a:rPr lang="en-US" sz="1800" dirty="0">
                <a:latin typeface="+mn-ea"/>
              </a:rPr>
              <a:t>()</a:t>
            </a:r>
            <a:r>
              <a:rPr lang="en-US" sz="1800" dirty="0" err="1">
                <a:latin typeface="+mn-ea"/>
              </a:rPr>
              <a:t>用于输出信息到标准控制台或指定文件，语法格式为</a:t>
            </a:r>
            <a:r>
              <a:rPr lang="en-US" sz="1800" dirty="0">
                <a:latin typeface="+mn-ea"/>
              </a:rPr>
              <a:t>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+mn-ea"/>
            </a:endParaRPr>
          </a:p>
          <a:p>
            <a:pPr indent="54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>
                <a:solidFill>
                  <a:srgbClr val="0070C0"/>
                </a:solidFill>
                <a:latin typeface="+mn-ea"/>
              </a:rPr>
              <a:t>print([</a:t>
            </a:r>
            <a:r>
              <a:rPr lang="zh-CN" altLang="zh-CN" sz="1800" b="1">
                <a:solidFill>
                  <a:srgbClr val="0070C0"/>
                </a:solidFill>
                <a:latin typeface="+mn-ea"/>
              </a:rPr>
              <a:t>输出项</a:t>
            </a:r>
            <a:r>
              <a:rPr lang="en-US" altLang="zh-CN" sz="1800" b="1">
                <a:solidFill>
                  <a:srgbClr val="0070C0"/>
                </a:solidFill>
                <a:latin typeface="+mn-ea"/>
              </a:rPr>
              <a:t>1,</a:t>
            </a:r>
            <a:r>
              <a:rPr lang="zh-CN" altLang="zh-CN" sz="1800" b="1">
                <a:solidFill>
                  <a:srgbClr val="0070C0"/>
                </a:solidFill>
                <a:latin typeface="+mn-ea"/>
              </a:rPr>
              <a:t>输出项</a:t>
            </a:r>
            <a:r>
              <a:rPr lang="en-US" altLang="zh-CN" sz="1800" b="1">
                <a:solidFill>
                  <a:srgbClr val="0070C0"/>
                </a:solidFill>
                <a:latin typeface="+mn-ea"/>
              </a:rPr>
              <a:t>2,……,</a:t>
            </a:r>
            <a:r>
              <a:rPr lang="zh-CN" altLang="zh-CN" sz="1800" b="1">
                <a:solidFill>
                  <a:srgbClr val="0070C0"/>
                </a:solidFill>
                <a:latin typeface="+mn-ea"/>
              </a:rPr>
              <a:t>输出项</a:t>
            </a:r>
            <a:r>
              <a:rPr lang="en-US" altLang="zh-CN" sz="1800" b="1">
                <a:solidFill>
                  <a:srgbClr val="0070C0"/>
                </a:solidFill>
                <a:latin typeface="+mn-ea"/>
              </a:rPr>
              <a:t>n][,sep=</a:t>
            </a:r>
            <a:r>
              <a:rPr lang="zh-CN" altLang="zh-CN" sz="1800" b="1">
                <a:solidFill>
                  <a:srgbClr val="0070C0"/>
                </a:solidFill>
                <a:latin typeface="+mn-ea"/>
              </a:rPr>
              <a:t>分隔符</a:t>
            </a:r>
            <a:r>
              <a:rPr lang="en-US" altLang="zh-CN" sz="1800" b="1">
                <a:solidFill>
                  <a:srgbClr val="0070C0"/>
                </a:solidFill>
                <a:latin typeface="+mn-ea"/>
              </a:rPr>
              <a:t>][,end=</a:t>
            </a:r>
            <a:r>
              <a:rPr lang="zh-CN" altLang="zh-CN" sz="1800" b="1">
                <a:solidFill>
                  <a:srgbClr val="0070C0"/>
                </a:solidFill>
                <a:latin typeface="+mn-ea"/>
              </a:rPr>
              <a:t>结束符</a:t>
            </a:r>
            <a:r>
              <a:rPr lang="en-US" altLang="zh-CN" sz="1800" b="1">
                <a:solidFill>
                  <a:srgbClr val="0070C0"/>
                </a:solidFill>
                <a:latin typeface="+mn-ea"/>
              </a:rPr>
              <a:t>])</a:t>
            </a:r>
          </a:p>
          <a:p>
            <a:pPr indent="540000">
              <a:lnSpc>
                <a:spcPct val="100000"/>
              </a:lnSpc>
              <a:spcBef>
                <a:spcPts val="0"/>
              </a:spcBef>
              <a:buNone/>
            </a:pPr>
            <a:endParaRPr lang="zh-CN" altLang="zh-CN" sz="1800">
              <a:latin typeface="+mn-ea"/>
            </a:endParaRPr>
          </a:p>
          <a:p>
            <a:pPr marL="51435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zh-CN" sz="1800">
                <a:latin typeface="+mn-ea"/>
              </a:rPr>
              <a:t>其中</a:t>
            </a:r>
            <a:r>
              <a:rPr lang="en-US" altLang="zh-CN" sz="1800">
                <a:latin typeface="+mn-ea"/>
              </a:rPr>
              <a:t>sep</a:t>
            </a:r>
            <a:r>
              <a:rPr lang="zh-CN" altLang="zh-CN" sz="1800">
                <a:latin typeface="+mn-ea"/>
              </a:rPr>
              <a:t>表示输出时各输出项之间的分隔符（默认以空格分隔）</a:t>
            </a:r>
            <a:endParaRPr lang="en-US" altLang="zh-CN" sz="1800">
              <a:latin typeface="+mn-ea"/>
            </a:endParaRPr>
          </a:p>
          <a:p>
            <a:pPr marL="51435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altLang="zh-CN" sz="1800">
                <a:latin typeface="+mn-ea"/>
              </a:rPr>
              <a:t>end</a:t>
            </a:r>
            <a:r>
              <a:rPr lang="zh-CN" altLang="zh-CN" sz="1800">
                <a:latin typeface="+mn-ea"/>
              </a:rPr>
              <a:t>表示结束符（默认以回车换行结束）。</a:t>
            </a:r>
            <a:endParaRPr lang="en-US" altLang="zh-CN" sz="1800">
              <a:latin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56133" y="4125620"/>
            <a:ext cx="3359217" cy="21236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print(10,20,sep=',',end='*')</a:t>
            </a:r>
            <a:endParaRPr lang="zh-CN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print(30)</a:t>
            </a:r>
            <a:endParaRPr lang="zh-CN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输出结果为：</a:t>
            </a:r>
          </a:p>
          <a:p>
            <a:pPr>
              <a:lnSpc>
                <a:spcPct val="200000"/>
              </a:lnSpc>
            </a:pP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10,20*30</a:t>
            </a:r>
            <a:endParaRPr lang="zh-CN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2447" y="4125620"/>
            <a:ext cx="3720164" cy="20621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print(1, 3, 5, 7, sep='\t') </a:t>
            </a:r>
          </a:p>
          <a:p>
            <a:pPr>
              <a:lnSpc>
                <a:spcPct val="200000"/>
              </a:lnSpc>
            </a:pP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	3	5	7</a:t>
            </a: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print(1, 3, 5, 7, sep='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',end='</a:t>
            </a:r>
            <a:r>
              <a:rPr lang="en-US" altLang="zh-CN" sz="16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')       </a:t>
            </a:r>
            <a:endParaRPr lang="en-US" altLang="zh-CN" sz="110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16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6400E2-3640-4FC5-979D-9D60FCAD2A59}"/>
              </a:ext>
            </a:extLst>
          </p:cNvPr>
          <p:cNvSpPr txBox="1"/>
          <p:nvPr/>
        </p:nvSpPr>
        <p:spPr>
          <a:xfrm>
            <a:off x="4379053" y="365126"/>
            <a:ext cx="428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seperate</a:t>
            </a:r>
            <a:r>
              <a:rPr lang="en-US" altLang="zh-CN" dirty="0"/>
              <a:t> </a:t>
            </a:r>
            <a:r>
              <a:rPr lang="zh-CN" altLang="en-US" dirty="0"/>
              <a:t>分开的；分别的；分离，分开。</a:t>
            </a:r>
          </a:p>
        </p:txBody>
      </p:sp>
    </p:spTree>
    <p:extLst>
      <p:ext uri="{BB962C8B-B14F-4D97-AF65-F5344CB8AC3E}">
        <p14:creationId xmlns:p14="http://schemas.microsoft.com/office/powerpoint/2010/main" val="355511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2.4.2  </a:t>
            </a:r>
            <a:r>
              <a:rPr lang="zh-CN" altLang="zh-CN" b="1">
                <a:solidFill>
                  <a:srgbClr val="245794"/>
                </a:solidFill>
              </a:rPr>
              <a:t>格式化输出</a:t>
            </a:r>
            <a:endParaRPr lang="zh-CN" altLang="en-US"/>
          </a:p>
        </p:txBody>
      </p:sp>
      <p:sp>
        <p:nvSpPr>
          <p:cNvPr id="4" name="副标题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5763" indent="-385763">
              <a:buFont typeface="+mj-lt"/>
              <a:buAutoNum type="arabicPeriod"/>
            </a:pPr>
            <a:r>
              <a:rPr lang="zh-CN" altLang="zh-CN" b="1" dirty="0">
                <a:solidFill>
                  <a:srgbClr val="0000FF"/>
                </a:solidFill>
              </a:rPr>
              <a:t>字符串的</a:t>
            </a:r>
            <a:r>
              <a:rPr lang="en-US" altLang="zh-CN" b="1" dirty="0">
                <a:solidFill>
                  <a:srgbClr val="0000FF"/>
                </a:solidFill>
              </a:rPr>
              <a:t>format()</a:t>
            </a:r>
            <a:r>
              <a:rPr lang="zh-CN" altLang="zh-CN" b="1" dirty="0">
                <a:solidFill>
                  <a:srgbClr val="0000FF"/>
                </a:solidFill>
              </a:rPr>
              <a:t>方法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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385763" indent="-385763"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</a:rPr>
              <a:t>格式化的字符串常量     </a:t>
            </a:r>
            <a:r>
              <a:rPr lang="zh-CN" alt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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385763" indent="-385763">
              <a:buFont typeface="+mj-lt"/>
              <a:buAutoNum type="arabicPeriod"/>
            </a:pPr>
            <a:r>
              <a:rPr lang="zh-CN" altLang="en-US" b="1" dirty="0"/>
              <a:t>字符串格式化运算符</a:t>
            </a:r>
            <a:r>
              <a:rPr lang="en-US" altLang="zh-CN" b="1" dirty="0"/>
              <a:t>%</a:t>
            </a:r>
          </a:p>
          <a:p>
            <a:pPr marL="385763" indent="-385763">
              <a:buFont typeface="+mj-lt"/>
              <a:buAutoNum type="arabicPeriod"/>
            </a:pPr>
            <a:r>
              <a:rPr lang="en-US" altLang="zh-CN" b="1" dirty="0"/>
              <a:t>format()</a:t>
            </a:r>
            <a:r>
              <a:rPr lang="zh-CN" altLang="en-US" b="1" dirty="0"/>
              <a:t>内置函数</a:t>
            </a:r>
            <a:endParaRPr lang="en-US" altLang="zh-CN" b="1" dirty="0"/>
          </a:p>
          <a:p>
            <a:pPr marL="385763" indent="-385763">
              <a:buFont typeface="+mj-lt"/>
              <a:buAutoNum type="arabicPeriod"/>
            </a:pPr>
            <a:endParaRPr lang="zh-CN" altLang="zh-CN" b="1" dirty="0">
              <a:solidFill>
                <a:srgbClr val="245794"/>
              </a:solidFill>
            </a:endParaRP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CF3DDBE2-2F5A-4560-A007-7CF08F0A61A6}"/>
              </a:ext>
            </a:extLst>
          </p:cNvPr>
          <p:cNvSpPr/>
          <p:nvPr/>
        </p:nvSpPr>
        <p:spPr>
          <a:xfrm>
            <a:off x="5201174" y="2936147"/>
            <a:ext cx="134224" cy="7801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178DF8-AD11-4F3A-B8DD-5E9027F28F99}"/>
              </a:ext>
            </a:extLst>
          </p:cNvPr>
          <p:cNvSpPr txBox="1"/>
          <p:nvPr/>
        </p:nvSpPr>
        <p:spPr>
          <a:xfrm>
            <a:off x="5461233" y="314587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不学，不考。将被淘汰。</a:t>
            </a:r>
          </a:p>
        </p:txBody>
      </p:sp>
    </p:spTree>
    <p:extLst>
      <p:ext uri="{BB962C8B-B14F-4D97-AF65-F5344CB8AC3E}">
        <p14:creationId xmlns:p14="http://schemas.microsoft.com/office/powerpoint/2010/main" val="316984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4718" y="356709"/>
            <a:ext cx="3165433" cy="1325563"/>
          </a:xfrm>
        </p:spPr>
        <p:txBody>
          <a:bodyPr>
            <a:norm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.format()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4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1076" y="2035210"/>
            <a:ext cx="7886700" cy="3263504"/>
          </a:xfrm>
        </p:spPr>
        <p:txBody>
          <a:bodyPr>
            <a:normAutofit/>
          </a:bodyPr>
          <a:lstStyle/>
          <a:p>
            <a:pPr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en-US" altLang="zh-CN" sz="1800" dirty="0"/>
              <a:t>.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format()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方法的调用格式为：</a:t>
            </a:r>
          </a:p>
          <a:p>
            <a:pPr indent="0" algn="ctr">
              <a:lnSpc>
                <a:spcPct val="150000"/>
              </a:lnSpc>
              <a:spcAft>
                <a:spcPts val="450"/>
              </a:spcAft>
              <a:buNone/>
            </a:pPr>
            <a:r>
              <a:rPr lang="zh-CN" altLang="zh-CN" sz="1800" b="1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格式字符串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format(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输出项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输出项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输出项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n)</a:t>
            </a:r>
            <a:endParaRPr lang="zh-CN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0000" indent="0">
              <a:lnSpc>
                <a:spcPct val="150000"/>
              </a:lnSpc>
              <a:spcAft>
                <a:spcPts val="450"/>
              </a:spcAft>
              <a:buNone/>
            </a:pPr>
            <a:endParaRPr lang="en-US" altLang="zh-CN" sz="1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4509" y="4297601"/>
            <a:ext cx="4881299" cy="135915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'{</a:t>
            </a:r>
            <a:r>
              <a:rPr lang="fr-FR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fr-FR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fr-FR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.2f</a:t>
            </a:r>
            <a:r>
              <a: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},{</a:t>
            </a:r>
            <a:r>
              <a:rPr lang="fr-FR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}'.format(3.1415 </a:t>
            </a:r>
            <a:r>
              <a:rPr lang="fr-FR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3.15,500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1903445" y="3961363"/>
            <a:ext cx="360812" cy="69305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下箭头 10"/>
          <p:cNvSpPr/>
          <p:nvPr/>
        </p:nvSpPr>
        <p:spPr>
          <a:xfrm>
            <a:off x="2240838" y="3002960"/>
            <a:ext cx="146604" cy="48918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1260" y="3082622"/>
            <a:ext cx="2098752" cy="397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342900">
              <a:lnSpc>
                <a:spcPct val="150000"/>
              </a:lnSpc>
              <a:spcAft>
                <a:spcPts val="450"/>
              </a:spcAft>
            </a:pPr>
            <a:r>
              <a:rPr lang="zh-C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格式说明符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</a:p>
        </p:txBody>
      </p:sp>
      <p:sp>
        <p:nvSpPr>
          <p:cNvPr id="13" name="矩形 12"/>
          <p:cNvSpPr/>
          <p:nvPr/>
        </p:nvSpPr>
        <p:spPr>
          <a:xfrm>
            <a:off x="464971" y="3525570"/>
            <a:ext cx="2824812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450"/>
              </a:spcAft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{[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序号或键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格式说明符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3794083" y="3082622"/>
            <a:ext cx="460676" cy="154652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4488982" y="3082621"/>
            <a:ext cx="486567" cy="157179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236067" y="4038028"/>
            <a:ext cx="3629068" cy="170540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是占位符，表示该处要被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format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内的值替换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表示该处要被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format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i+1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个值替换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肘形连接符 28"/>
          <p:cNvCxnSpPr/>
          <p:nvPr/>
        </p:nvCxnSpPr>
        <p:spPr>
          <a:xfrm rot="10800000" flipV="1">
            <a:off x="1667437" y="4941983"/>
            <a:ext cx="1836449" cy="145661"/>
          </a:xfrm>
          <a:prstGeom prst="bentConnector3">
            <a:avLst>
              <a:gd name="adj1" fmla="val -524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1667435" y="4936541"/>
            <a:ext cx="0" cy="150515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cxnSpLocks/>
          </p:cNvCxnSpPr>
          <p:nvPr/>
        </p:nvCxnSpPr>
        <p:spPr>
          <a:xfrm rot="10800000" flipV="1">
            <a:off x="2264258" y="4927480"/>
            <a:ext cx="2180476" cy="248247"/>
          </a:xfrm>
          <a:prstGeom prst="bentConnector3">
            <a:avLst>
              <a:gd name="adj1" fmla="val 355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2245496" y="4847586"/>
            <a:ext cx="1" cy="3326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AB149FC-EAE7-4F04-BAA9-5756D013EA4C}"/>
              </a:ext>
            </a:extLst>
          </p:cNvPr>
          <p:cNvCxnSpPr/>
          <p:nvPr/>
        </p:nvCxnSpPr>
        <p:spPr>
          <a:xfrm>
            <a:off x="1409350" y="4927480"/>
            <a:ext cx="258085" cy="928036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6F9791D-CDA8-4BA8-A3A2-85C1B0833A46}"/>
              </a:ext>
            </a:extLst>
          </p:cNvPr>
          <p:cNvCxnSpPr>
            <a:cxnSpLocks/>
          </p:cNvCxnSpPr>
          <p:nvPr/>
        </p:nvCxnSpPr>
        <p:spPr>
          <a:xfrm flipH="1">
            <a:off x="1667435" y="4847586"/>
            <a:ext cx="505314" cy="100793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E130963-11D0-45CF-98B7-7D6A458DED78}"/>
              </a:ext>
            </a:extLst>
          </p:cNvPr>
          <p:cNvSpPr txBox="1"/>
          <p:nvPr/>
        </p:nvSpPr>
        <p:spPr>
          <a:xfrm>
            <a:off x="1493240" y="5855516"/>
            <a:ext cx="537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序号：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表示第一个值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3.1415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表示第二个值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611F94-8A08-4C49-9D1B-43D6EEEBC8BD}"/>
              </a:ext>
            </a:extLst>
          </p:cNvPr>
          <p:cNvSpPr txBox="1"/>
          <p:nvPr/>
        </p:nvSpPr>
        <p:spPr>
          <a:xfrm>
            <a:off x="2906022" y="91460"/>
            <a:ext cx="307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格式符：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/>
              <a:t>表示</a:t>
            </a:r>
            <a:r>
              <a:rPr lang="en-US" altLang="zh-CN" dirty="0"/>
              <a:t>10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表示</a:t>
            </a:r>
            <a:r>
              <a:rPr lang="en-US" altLang="zh-CN" dirty="0"/>
              <a:t>2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表示</a:t>
            </a:r>
            <a:r>
              <a:rPr lang="en-US" altLang="zh-CN" dirty="0"/>
              <a:t>16</a:t>
            </a:r>
            <a:r>
              <a:rPr lang="zh-CN" altLang="en-US" dirty="0"/>
              <a:t>进制整数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A68155-C933-425D-867E-E43AEC1C1EE2}"/>
              </a:ext>
            </a:extLst>
          </p:cNvPr>
          <p:cNvSpPr txBox="1"/>
          <p:nvPr/>
        </p:nvSpPr>
        <p:spPr>
          <a:xfrm>
            <a:off x="5781441" y="91460"/>
            <a:ext cx="32095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表示小数形式浮点数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表示科学计数形式浮点数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/>
              <a:t>表示以整数为编码的字符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表示百分比形式的浮点数</a:t>
            </a:r>
          </a:p>
        </p:txBody>
      </p:sp>
    </p:spTree>
    <p:extLst>
      <p:ext uri="{BB962C8B-B14F-4D97-AF65-F5344CB8AC3E}">
        <p14:creationId xmlns:p14="http://schemas.microsoft.com/office/powerpoint/2010/main" val="62559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/>
      <p:bldP spid="13" grpId="0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字符串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普通字符原样输出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格式字符</a:t>
            </a:r>
            <a:r>
              <a:rPr lang="en-US" altLang="zh-CN" sz="2400" dirty="0"/>
              <a:t>          { </a:t>
            </a:r>
            <a:r>
              <a:rPr lang="en-US" altLang="zh-CN" sz="2400" dirty="0">
                <a:solidFill>
                  <a:srgbClr val="0000FF"/>
                </a:solidFill>
              </a:rPr>
              <a:t>: </a:t>
            </a:r>
            <a:r>
              <a:rPr lang="zh-CN" altLang="en-US" sz="2400" dirty="0">
                <a:solidFill>
                  <a:srgbClr val="0000FF"/>
                </a:solidFill>
              </a:rPr>
              <a:t>格式说明符</a:t>
            </a:r>
            <a:r>
              <a:rPr lang="en-US" altLang="zh-CN" sz="2400" dirty="0"/>
              <a:t>} 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也可以加上序号 ，例如  </a:t>
            </a:r>
            <a:r>
              <a:rPr lang="en-US" altLang="zh-CN" sz="2400" dirty="0"/>
              <a:t>{ 0 </a:t>
            </a:r>
            <a:r>
              <a:rPr lang="en-US" altLang="zh-CN" sz="2400" dirty="0">
                <a:solidFill>
                  <a:srgbClr val="0000FF"/>
                </a:solidFill>
              </a:rPr>
              <a:t>: </a:t>
            </a:r>
            <a:r>
              <a:rPr lang="zh-CN" altLang="en-US" sz="2400" dirty="0">
                <a:solidFill>
                  <a:srgbClr val="0000FF"/>
                </a:solidFill>
              </a:rPr>
              <a:t>格式说明符</a:t>
            </a:r>
            <a:r>
              <a:rPr lang="en-US" altLang="zh-CN" sz="2400" dirty="0"/>
              <a:t>} </a:t>
            </a:r>
            <a:endParaRPr lang="zh-CN" altLang="en-US" sz="2400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03" y="4150645"/>
            <a:ext cx="6519645" cy="12686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35E5DC3-16EB-49ED-AAAE-2AAA741743D9}"/>
              </a:ext>
            </a:extLst>
          </p:cNvPr>
          <p:cNvSpPr txBox="1"/>
          <p:nvPr/>
        </p:nvSpPr>
        <p:spPr>
          <a:xfrm>
            <a:off x="2906022" y="91460"/>
            <a:ext cx="307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格式符：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/>
              <a:t>表示</a:t>
            </a:r>
            <a:r>
              <a:rPr lang="en-US" altLang="zh-CN" dirty="0"/>
              <a:t>10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表示</a:t>
            </a:r>
            <a:r>
              <a:rPr lang="en-US" altLang="zh-CN" dirty="0"/>
              <a:t>2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表示</a:t>
            </a:r>
            <a:r>
              <a:rPr lang="en-US" altLang="zh-CN" dirty="0"/>
              <a:t>16</a:t>
            </a:r>
            <a:r>
              <a:rPr lang="zh-CN" altLang="en-US" dirty="0"/>
              <a:t>进制整数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8BAFC2-9836-4BCA-A7DC-6A595A67D78B}"/>
              </a:ext>
            </a:extLst>
          </p:cNvPr>
          <p:cNvSpPr txBox="1"/>
          <p:nvPr/>
        </p:nvSpPr>
        <p:spPr>
          <a:xfrm>
            <a:off x="5781441" y="91460"/>
            <a:ext cx="32095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表示小数形式浮点数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表示科学计数形式浮点数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/>
              <a:t>表示以整数为编码的字符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表示百分比形式的浮点数</a:t>
            </a:r>
          </a:p>
        </p:txBody>
      </p:sp>
    </p:spTree>
    <p:extLst>
      <p:ext uri="{BB962C8B-B14F-4D97-AF65-F5344CB8AC3E}">
        <p14:creationId xmlns:p14="http://schemas.microsoft.com/office/powerpoint/2010/main" val="308728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30137"/>
            <a:ext cx="5537258" cy="11336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9" y="3624044"/>
            <a:ext cx="5946379" cy="147970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663948"/>
            <a:ext cx="6812166" cy="13255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F760F29-2A73-47B0-BED8-AAC30A7BCF43}"/>
              </a:ext>
            </a:extLst>
          </p:cNvPr>
          <p:cNvSpPr txBox="1"/>
          <p:nvPr/>
        </p:nvSpPr>
        <p:spPr>
          <a:xfrm>
            <a:off x="2906022" y="91460"/>
            <a:ext cx="307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格式符：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/>
              <a:t>表示</a:t>
            </a:r>
            <a:r>
              <a:rPr lang="en-US" altLang="zh-CN" dirty="0"/>
              <a:t>10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表示</a:t>
            </a:r>
            <a:r>
              <a:rPr lang="en-US" altLang="zh-CN" dirty="0"/>
              <a:t>2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表示</a:t>
            </a:r>
            <a:r>
              <a:rPr lang="en-US" altLang="zh-CN" dirty="0"/>
              <a:t>16</a:t>
            </a:r>
            <a:r>
              <a:rPr lang="zh-CN" altLang="en-US" dirty="0"/>
              <a:t>进制整数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90B62D-D05C-4F62-8CCE-3FBDBDABEFCF}"/>
              </a:ext>
            </a:extLst>
          </p:cNvPr>
          <p:cNvSpPr txBox="1"/>
          <p:nvPr/>
        </p:nvSpPr>
        <p:spPr>
          <a:xfrm>
            <a:off x="5781441" y="91460"/>
            <a:ext cx="32095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表示小数形式浮点数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表示科学计数形式浮点数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/>
              <a:t>表示以整数为编码的字符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表示百分比形式的浮点数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B3861C8-D4A1-4804-B944-8D9B1E800468}"/>
              </a:ext>
            </a:extLst>
          </p:cNvPr>
          <p:cNvCxnSpPr/>
          <p:nvPr/>
        </p:nvCxnSpPr>
        <p:spPr>
          <a:xfrm flipV="1">
            <a:off x="3951215" y="2172749"/>
            <a:ext cx="1283515" cy="444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CCEE9A8-31DD-426D-846C-B90C238F33ED}"/>
              </a:ext>
            </a:extLst>
          </p:cNvPr>
          <p:cNvSpPr txBox="1"/>
          <p:nvPr/>
        </p:nvSpPr>
        <p:spPr>
          <a:xfrm>
            <a:off x="5234730" y="1849583"/>
            <a:ext cx="2441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format</a:t>
            </a:r>
            <a:r>
              <a:rPr lang="zh-CN" altLang="en-US" dirty="0">
                <a:solidFill>
                  <a:srgbClr val="FF0000"/>
                </a:solidFill>
              </a:rPr>
              <a:t>函数的返回值是一个新生成的字符串</a:t>
            </a:r>
          </a:p>
        </p:txBody>
      </p:sp>
    </p:spTree>
    <p:extLst>
      <p:ext uri="{BB962C8B-B14F-4D97-AF65-F5344CB8AC3E}">
        <p14:creationId xmlns:p14="http://schemas.microsoft.com/office/powerpoint/2010/main" val="4217167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序号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2136226"/>
            <a:ext cx="9143999" cy="35931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print</a:t>
            </a:r>
            <a:r>
              <a:rPr lang="zh-CN" altLang="en-US" sz="2400" dirty="0"/>
              <a:t>('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length is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,width is {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},area is {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'.format(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5,6,5*6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length is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,width is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,area is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print</a:t>
            </a:r>
            <a:r>
              <a:rPr lang="zh-CN" altLang="en-US" sz="2400" dirty="0"/>
              <a:t>('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length is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,width is {</a:t>
            </a:r>
            <a:r>
              <a:rPr lang="en-US" altLang="zh-CN" sz="2400" dirty="0">
                <a:solidFill>
                  <a:srgbClr val="0000FF"/>
                </a:solidFill>
              </a:rPr>
              <a:t>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},area is {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'.format(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5,6,5*6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length is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,width is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,area is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4B66CA-0005-4B60-90AD-848669B2A14D}"/>
              </a:ext>
            </a:extLst>
          </p:cNvPr>
          <p:cNvSpPr txBox="1"/>
          <p:nvPr/>
        </p:nvSpPr>
        <p:spPr>
          <a:xfrm>
            <a:off x="2906022" y="91460"/>
            <a:ext cx="307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格式符：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/>
              <a:t>表示</a:t>
            </a:r>
            <a:r>
              <a:rPr lang="en-US" altLang="zh-CN" dirty="0"/>
              <a:t>10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表示</a:t>
            </a:r>
            <a:r>
              <a:rPr lang="en-US" altLang="zh-CN" dirty="0"/>
              <a:t>2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表示</a:t>
            </a:r>
            <a:r>
              <a:rPr lang="en-US" altLang="zh-CN" dirty="0"/>
              <a:t>16</a:t>
            </a:r>
            <a:r>
              <a:rPr lang="zh-CN" altLang="en-US" dirty="0"/>
              <a:t>进制整数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9F60C4-DA7E-4311-B216-69246068D414}"/>
              </a:ext>
            </a:extLst>
          </p:cNvPr>
          <p:cNvSpPr txBox="1"/>
          <p:nvPr/>
        </p:nvSpPr>
        <p:spPr>
          <a:xfrm>
            <a:off x="5781441" y="91460"/>
            <a:ext cx="32095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表示小数形式浮点数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表示科学计数形式浮点数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/>
              <a:t>表示以整数为编码的字符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表示百分比形式的浮点数</a:t>
            </a:r>
          </a:p>
        </p:txBody>
      </p:sp>
    </p:spTree>
    <p:extLst>
      <p:ext uri="{BB962C8B-B14F-4D97-AF65-F5344CB8AC3E}">
        <p14:creationId xmlns:p14="http://schemas.microsoft.com/office/powerpoint/2010/main" val="52942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358" y="323181"/>
            <a:ext cx="273391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格式说明符</a:t>
            </a:r>
          </a:p>
        </p:txBody>
      </p:sp>
      <p:sp>
        <p:nvSpPr>
          <p:cNvPr id="3" name="副标题 2"/>
          <p:cNvSpPr>
            <a:spLocks noGrp="1"/>
          </p:cNvSpPr>
          <p:nvPr>
            <p:ph idx="1"/>
          </p:nvPr>
        </p:nvSpPr>
        <p:spPr>
          <a:xfrm>
            <a:off x="0" y="2226469"/>
            <a:ext cx="9144000" cy="3830382"/>
          </a:xfrm>
        </p:spPr>
        <p:txBody>
          <a:bodyPr>
            <a:noAutofit/>
          </a:bodyPr>
          <a:lstStyle/>
          <a:p>
            <a:pPr marL="257175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"{</a:t>
            </a:r>
            <a:r>
              <a:rPr lang="zh-CN" altLang="en-US" sz="2000" dirty="0">
                <a:solidFill>
                  <a:srgbClr val="0000FF"/>
                </a:solidFill>
              </a:rPr>
              <a:t>序号 </a:t>
            </a:r>
            <a:r>
              <a:rPr lang="en-US" altLang="zh-CN" sz="2000" dirty="0">
                <a:solidFill>
                  <a:srgbClr val="0000FF"/>
                </a:solidFill>
              </a:rPr>
              <a:t>: </a:t>
            </a:r>
            <a:r>
              <a:rPr lang="en-US" altLang="zh-CN" sz="2000" dirty="0">
                <a:solidFill>
                  <a:srgbClr val="00B050"/>
                </a:solidFill>
              </a:rPr>
              <a:t>&lt;</a:t>
            </a:r>
            <a:r>
              <a:rPr lang="zh-CN" altLang="en-US" sz="2000" dirty="0">
                <a:solidFill>
                  <a:srgbClr val="00B050"/>
                </a:solidFill>
              </a:rPr>
              <a:t>填充字符</a:t>
            </a:r>
            <a:r>
              <a:rPr lang="en-US" altLang="zh-CN" sz="2000" dirty="0">
                <a:solidFill>
                  <a:srgbClr val="00B050"/>
                </a:solidFill>
              </a:rPr>
              <a:t>&gt;&lt;</a:t>
            </a:r>
            <a:r>
              <a:rPr lang="zh-CN" altLang="en-US" sz="2000" dirty="0">
                <a:solidFill>
                  <a:srgbClr val="00B050"/>
                </a:solidFill>
              </a:rPr>
              <a:t>对齐方式</a:t>
            </a:r>
            <a:r>
              <a:rPr lang="en-US" altLang="zh-CN" sz="2000" dirty="0">
                <a:solidFill>
                  <a:srgbClr val="00B050"/>
                </a:solidFill>
              </a:rPr>
              <a:t>&gt;&lt;</a:t>
            </a:r>
            <a:r>
              <a:rPr lang="zh-CN" altLang="en-US" sz="2000" dirty="0">
                <a:solidFill>
                  <a:srgbClr val="00B050"/>
                </a:solidFill>
              </a:rPr>
              <a:t>宽度</a:t>
            </a:r>
            <a:r>
              <a:rPr lang="en-US" altLang="zh-CN" sz="2000" dirty="0">
                <a:solidFill>
                  <a:srgbClr val="00B050"/>
                </a:solidFill>
              </a:rPr>
              <a:t>.</a:t>
            </a:r>
            <a:r>
              <a:rPr lang="zh-CN" altLang="en-US" sz="2000" dirty="0">
                <a:solidFill>
                  <a:srgbClr val="00B050"/>
                </a:solidFill>
              </a:rPr>
              <a:t>精度</a:t>
            </a:r>
            <a:r>
              <a:rPr lang="en-US" altLang="zh-CN" sz="2000" dirty="0">
                <a:solidFill>
                  <a:srgbClr val="00B050"/>
                </a:solidFill>
              </a:rPr>
              <a:t>&gt;&lt;</a:t>
            </a:r>
            <a:r>
              <a:rPr lang="zh-CN" altLang="en-US" sz="2000" dirty="0">
                <a:solidFill>
                  <a:srgbClr val="00B050"/>
                </a:solidFill>
              </a:rPr>
              <a:t>格式</a:t>
            </a:r>
            <a:r>
              <a:rPr lang="en-US" altLang="zh-CN" sz="2000" dirty="0">
                <a:solidFill>
                  <a:srgbClr val="00B050"/>
                </a:solidFill>
              </a:rPr>
              <a:t>&gt;</a:t>
            </a:r>
            <a:r>
              <a:rPr lang="en-US" altLang="zh-CN" sz="2000" dirty="0">
                <a:solidFill>
                  <a:srgbClr val="0000FF"/>
                </a:solidFill>
              </a:rPr>
              <a:t>}"</a:t>
            </a:r>
            <a:r>
              <a:rPr lang="en-US" altLang="zh-CN" sz="2000" dirty="0"/>
              <a:t>.format(</a:t>
            </a:r>
            <a:r>
              <a:rPr lang="zh-CN" altLang="en-US" sz="2000" dirty="0"/>
              <a:t>表达式列表</a:t>
            </a:r>
            <a:r>
              <a:rPr lang="en-US" altLang="zh-CN" sz="20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	</a:t>
            </a:r>
            <a:r>
              <a:rPr lang="en-US" altLang="zh-CN" sz="2000" dirty="0">
                <a:solidFill>
                  <a:srgbClr val="00B050"/>
                </a:solidFill>
              </a:rPr>
              <a:t>&lt;</a:t>
            </a:r>
            <a:r>
              <a:rPr lang="zh-CN" altLang="en-US" sz="2000" b="1" dirty="0">
                <a:solidFill>
                  <a:srgbClr val="00B050"/>
                </a:solidFill>
              </a:rPr>
              <a:t>填充字符</a:t>
            </a:r>
            <a:r>
              <a:rPr lang="en-US" altLang="zh-CN" sz="2000" b="1" dirty="0">
                <a:solidFill>
                  <a:srgbClr val="00B050"/>
                </a:solidFill>
              </a:rPr>
              <a:t>&gt;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rgbClr val="00B050"/>
                </a:solidFill>
              </a:rPr>
              <a:t>&lt;</a:t>
            </a:r>
            <a:r>
              <a:rPr lang="zh-CN" altLang="en-US" sz="2000" b="1" dirty="0">
                <a:solidFill>
                  <a:srgbClr val="00B050"/>
                </a:solidFill>
              </a:rPr>
              <a:t>对齐方式</a:t>
            </a:r>
            <a:r>
              <a:rPr lang="en-US" altLang="zh-CN" sz="2000" b="1" dirty="0">
                <a:solidFill>
                  <a:srgbClr val="00B050"/>
                </a:solidFill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右对齐、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左对齐、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^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居中对齐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</a:rPr>
              <a:t>&lt;</a:t>
            </a:r>
            <a:r>
              <a:rPr lang="zh-CN" altLang="en-US" sz="2000" b="1" dirty="0">
                <a:solidFill>
                  <a:srgbClr val="00B050"/>
                </a:solidFill>
              </a:rPr>
              <a:t>宽度</a:t>
            </a:r>
            <a:r>
              <a:rPr lang="en-US" altLang="zh-CN" sz="2000" b="1" dirty="0">
                <a:solidFill>
                  <a:srgbClr val="00B050"/>
                </a:solidFill>
              </a:rPr>
              <a:t>.</a:t>
            </a:r>
            <a:r>
              <a:rPr lang="zh-CN" altLang="en-US" sz="2000" b="1" dirty="0">
                <a:solidFill>
                  <a:srgbClr val="00B050"/>
                </a:solidFill>
              </a:rPr>
              <a:t>精度</a:t>
            </a:r>
            <a:r>
              <a:rPr lang="en-US" altLang="zh-CN" sz="2000" b="1" dirty="0">
                <a:solidFill>
                  <a:srgbClr val="00B050"/>
                </a:solidFill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m.n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有效位数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	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m.n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列，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位小数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</a:rPr>
              <a:t>&lt;</a:t>
            </a:r>
            <a:r>
              <a:rPr lang="zh-CN" altLang="en-US" sz="2000" b="1" dirty="0">
                <a:solidFill>
                  <a:srgbClr val="00B050"/>
                </a:solidFill>
              </a:rPr>
              <a:t>格式</a:t>
            </a:r>
            <a:r>
              <a:rPr lang="en-US" altLang="zh-CN" sz="2000" b="1" dirty="0">
                <a:solidFill>
                  <a:srgbClr val="00B050"/>
                </a:solidFill>
              </a:rPr>
              <a:t>&gt;</a:t>
            </a:r>
            <a:endParaRPr lang="en-US" altLang="zh-CN" sz="2000" dirty="0">
              <a:solidFill>
                <a:srgbClr val="00B05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739807-17E0-4F5F-B5A4-E043DC75328F}"/>
              </a:ext>
            </a:extLst>
          </p:cNvPr>
          <p:cNvSpPr txBox="1"/>
          <p:nvPr/>
        </p:nvSpPr>
        <p:spPr>
          <a:xfrm>
            <a:off x="2906022" y="91460"/>
            <a:ext cx="307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格式符：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/>
              <a:t>表示</a:t>
            </a:r>
            <a:r>
              <a:rPr lang="en-US" altLang="zh-CN" dirty="0"/>
              <a:t>10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表示</a:t>
            </a:r>
            <a:r>
              <a:rPr lang="en-US" altLang="zh-CN" dirty="0"/>
              <a:t>2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表示</a:t>
            </a:r>
            <a:r>
              <a:rPr lang="en-US" altLang="zh-CN" dirty="0"/>
              <a:t>16</a:t>
            </a:r>
            <a:r>
              <a:rPr lang="zh-CN" altLang="en-US" dirty="0"/>
              <a:t>进制整数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502819-1128-4528-AAAF-14DAB4CF8AB9}"/>
              </a:ext>
            </a:extLst>
          </p:cNvPr>
          <p:cNvSpPr txBox="1"/>
          <p:nvPr/>
        </p:nvSpPr>
        <p:spPr>
          <a:xfrm>
            <a:off x="5781441" y="91460"/>
            <a:ext cx="32095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表示小数形式浮点数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表示科学计数形式浮点数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/>
              <a:t>表示以整数为编码的字符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表示百分比形式的浮点数</a:t>
            </a:r>
          </a:p>
        </p:txBody>
      </p:sp>
    </p:spTree>
    <p:extLst>
      <p:ext uri="{BB962C8B-B14F-4D97-AF65-F5344CB8AC3E}">
        <p14:creationId xmlns:p14="http://schemas.microsoft.com/office/powerpoint/2010/main" val="152260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3" y="176609"/>
            <a:ext cx="2888160" cy="1325563"/>
          </a:xfrm>
        </p:spPr>
        <p:txBody>
          <a:bodyPr>
            <a:normAutofit/>
          </a:bodyPr>
          <a:lstStyle/>
          <a:p>
            <a:r>
              <a:rPr lang="zh-CN" altLang="en-US" sz="2700" dirty="0"/>
              <a:t>使用</a:t>
            </a:r>
            <a:r>
              <a:rPr lang="en-US" altLang="zh-CN" sz="2700" dirty="0"/>
              <a:t>format()</a:t>
            </a:r>
            <a:r>
              <a:rPr lang="zh-CN" altLang="en-US" sz="2700" dirty="0"/>
              <a:t>方法进行格式化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0334" y="2683637"/>
            <a:ext cx="5215999" cy="110811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print('{0:&gt;10}, {0:*&lt;10}, {0:*^10}'.format(10))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3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10, 10********, ****10****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848393" y="4616770"/>
            <a:ext cx="5157939" cy="445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print('{0:&gt;10.6}, {0:&gt;10.6f}'.format(12345.678))</a:t>
            </a:r>
          </a:p>
        </p:txBody>
      </p:sp>
      <p:sp>
        <p:nvSpPr>
          <p:cNvPr id="6" name="矩形 5"/>
          <p:cNvSpPr/>
          <p:nvPr/>
        </p:nvSpPr>
        <p:spPr>
          <a:xfrm>
            <a:off x="3214535" y="213382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对齐方式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136794" y="2108173"/>
            <a:ext cx="12931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填充字符</a:t>
            </a:r>
            <a:endParaRPr lang="zh-CN" altLang="en-US" dirty="0"/>
          </a:p>
        </p:txBody>
      </p:sp>
      <p:cxnSp>
        <p:nvCxnSpPr>
          <p:cNvPr id="9" name="直接箭头连接符 8"/>
          <p:cNvCxnSpPr>
            <a:cxnSpLocks/>
            <a:stCxn id="6" idx="2"/>
          </p:cNvCxnSpPr>
          <p:nvPr/>
        </p:nvCxnSpPr>
        <p:spPr>
          <a:xfrm flipH="1">
            <a:off x="3322040" y="2503155"/>
            <a:ext cx="446493" cy="41023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cxnSpLocks/>
            <a:stCxn id="6" idx="2"/>
          </p:cNvCxnSpPr>
          <p:nvPr/>
        </p:nvCxnSpPr>
        <p:spPr>
          <a:xfrm>
            <a:off x="3768533" y="2503155"/>
            <a:ext cx="819117" cy="38021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cxnSpLocks/>
            <a:stCxn id="6" idx="2"/>
          </p:cNvCxnSpPr>
          <p:nvPr/>
        </p:nvCxnSpPr>
        <p:spPr>
          <a:xfrm>
            <a:off x="3768533" y="2503155"/>
            <a:ext cx="2151151" cy="38021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cxnSpLocks/>
            <a:stCxn id="7" idx="2"/>
          </p:cNvCxnSpPr>
          <p:nvPr/>
        </p:nvCxnSpPr>
        <p:spPr>
          <a:xfrm flipH="1">
            <a:off x="4579238" y="2473254"/>
            <a:ext cx="1204128" cy="39052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cxnSpLocks/>
            <a:stCxn id="7" idx="2"/>
          </p:cNvCxnSpPr>
          <p:nvPr/>
        </p:nvCxnSpPr>
        <p:spPr>
          <a:xfrm>
            <a:off x="5783366" y="2477505"/>
            <a:ext cx="63761" cy="41857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2885791" y="3972235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5168340" y="3978625"/>
            <a:ext cx="1019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位小数</a:t>
            </a:r>
            <a:endParaRPr lang="zh-CN" altLang="en-US" dirty="0"/>
          </a:p>
        </p:txBody>
      </p:sp>
      <p:cxnSp>
        <p:nvCxnSpPr>
          <p:cNvPr id="26" name="直接箭头连接符 25"/>
          <p:cNvCxnSpPr>
            <a:cxnSpLocks/>
            <a:stCxn id="24" idx="2"/>
          </p:cNvCxnSpPr>
          <p:nvPr/>
        </p:nvCxnSpPr>
        <p:spPr>
          <a:xfrm flipH="1">
            <a:off x="3214535" y="4341567"/>
            <a:ext cx="137089" cy="37845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cxnSpLocks/>
            <a:stCxn id="24" idx="2"/>
            <a:endCxn id="20" idx="0"/>
          </p:cNvCxnSpPr>
          <p:nvPr/>
        </p:nvCxnSpPr>
        <p:spPr>
          <a:xfrm>
            <a:off x="3351624" y="4341567"/>
            <a:ext cx="1226120" cy="41246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cxnSpLocks/>
            <a:stCxn id="25" idx="2"/>
          </p:cNvCxnSpPr>
          <p:nvPr/>
        </p:nvCxnSpPr>
        <p:spPr>
          <a:xfrm flipH="1">
            <a:off x="5048815" y="4347957"/>
            <a:ext cx="629441" cy="4060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948303" y="3968214"/>
            <a:ext cx="1019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位小数</a:t>
            </a:r>
            <a:endParaRPr lang="zh-CN" altLang="en-US" dirty="0"/>
          </a:p>
        </p:txBody>
      </p:sp>
      <p:cxnSp>
        <p:nvCxnSpPr>
          <p:cNvPr id="36" name="直接箭头连接符 35"/>
          <p:cNvCxnSpPr>
            <a:cxnSpLocks/>
            <a:stCxn id="35" idx="2"/>
          </p:cNvCxnSpPr>
          <p:nvPr/>
        </p:nvCxnSpPr>
        <p:spPr>
          <a:xfrm flipH="1">
            <a:off x="3620570" y="4337546"/>
            <a:ext cx="837649" cy="41648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b="34402"/>
          <a:stretch/>
        </p:blipFill>
        <p:spPr>
          <a:xfrm>
            <a:off x="1355186" y="2896082"/>
            <a:ext cx="7160164" cy="100232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96" y="4754033"/>
            <a:ext cx="7622495" cy="54025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AF34B992-5008-4096-AC67-C87F333EEFFC}"/>
              </a:ext>
            </a:extLst>
          </p:cNvPr>
          <p:cNvSpPr txBox="1"/>
          <p:nvPr/>
        </p:nvSpPr>
        <p:spPr>
          <a:xfrm>
            <a:off x="2906022" y="91460"/>
            <a:ext cx="307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格式符：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/>
              <a:t>表示</a:t>
            </a:r>
            <a:r>
              <a:rPr lang="en-US" altLang="zh-CN" dirty="0"/>
              <a:t>10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表示</a:t>
            </a:r>
            <a:r>
              <a:rPr lang="en-US" altLang="zh-CN" dirty="0"/>
              <a:t>2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表示</a:t>
            </a:r>
            <a:r>
              <a:rPr lang="en-US" altLang="zh-CN" dirty="0"/>
              <a:t>16</a:t>
            </a:r>
            <a:r>
              <a:rPr lang="zh-CN" altLang="en-US" dirty="0"/>
              <a:t>进制整数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DA4D9D-69DB-4D7F-832B-0025A4468D81}"/>
              </a:ext>
            </a:extLst>
          </p:cNvPr>
          <p:cNvSpPr txBox="1"/>
          <p:nvPr/>
        </p:nvSpPr>
        <p:spPr>
          <a:xfrm>
            <a:off x="5781441" y="91460"/>
            <a:ext cx="32095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表示小数形式浮点数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表示科学计数形式浮点数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/>
              <a:t>表示以整数为编码的字符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表示百分比形式的浮点数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D13893B-4B1B-4085-9BFB-85C078D0342E}"/>
              </a:ext>
            </a:extLst>
          </p:cNvPr>
          <p:cNvSpPr txBox="1"/>
          <p:nvPr/>
        </p:nvSpPr>
        <p:spPr>
          <a:xfrm>
            <a:off x="513113" y="3322637"/>
            <a:ext cx="2119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□□□□□□□□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0FB47EB-082A-42ED-8F95-C554AB02E3E5}"/>
              </a:ext>
            </a:extLst>
          </p:cNvPr>
          <p:cNvCxnSpPr/>
          <p:nvPr/>
        </p:nvCxnSpPr>
        <p:spPr>
          <a:xfrm>
            <a:off x="604007" y="2668515"/>
            <a:ext cx="100668" cy="654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90FD6CE-72C2-4D82-A73A-E6A6D12AE9D2}"/>
              </a:ext>
            </a:extLst>
          </p:cNvPr>
          <p:cNvSpPr txBox="1"/>
          <p:nvPr/>
        </p:nvSpPr>
        <p:spPr>
          <a:xfrm>
            <a:off x="268537" y="23184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一个空格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0813D2-DDA1-4579-B129-0FEB7FADEF26}"/>
              </a:ext>
            </a:extLst>
          </p:cNvPr>
          <p:cNvSpPr txBox="1"/>
          <p:nvPr/>
        </p:nvSpPr>
        <p:spPr>
          <a:xfrm>
            <a:off x="451544" y="4988833"/>
            <a:ext cx="1107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□□□</a:t>
            </a:r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759F89C-1C8F-4858-A261-BAEAFBD08F24}"/>
              </a:ext>
            </a:extLst>
          </p:cNvPr>
          <p:cNvCxnSpPr>
            <a:cxnSpLocks/>
          </p:cNvCxnSpPr>
          <p:nvPr/>
        </p:nvCxnSpPr>
        <p:spPr>
          <a:xfrm flipH="1" flipV="1">
            <a:off x="3768534" y="5358165"/>
            <a:ext cx="689685" cy="36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AB15376B-1416-4520-950B-473C52403FDA}"/>
              </a:ext>
            </a:extLst>
          </p:cNvPr>
          <p:cNvSpPr txBox="1"/>
          <p:nvPr/>
        </p:nvSpPr>
        <p:spPr>
          <a:xfrm>
            <a:off x="3314410" y="5727497"/>
            <a:ext cx="417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当输出的长度（为</a:t>
            </a:r>
            <a:r>
              <a:rPr lang="en-US" altLang="zh-CN" dirty="0"/>
              <a:t>13</a:t>
            </a:r>
            <a:r>
              <a:rPr lang="zh-CN" altLang="en-US" dirty="0"/>
              <a:t>）大于规定的宽度（为</a:t>
            </a:r>
            <a:r>
              <a:rPr lang="en-US" altLang="zh-CN" dirty="0"/>
              <a:t>10</a:t>
            </a:r>
            <a:r>
              <a:rPr lang="zh-CN" altLang="en-US" dirty="0"/>
              <a:t>）的时候，将会无条件把所有的内容全部输出，不管宽度</a:t>
            </a:r>
            <a:r>
              <a:rPr lang="en-US" altLang="zh-CN" dirty="0"/>
              <a:t>10</a:t>
            </a:r>
            <a:r>
              <a:rPr lang="zh-CN" altLang="en-US" dirty="0"/>
              <a:t>的限制。</a:t>
            </a:r>
          </a:p>
        </p:txBody>
      </p:sp>
    </p:spTree>
    <p:extLst>
      <p:ext uri="{BB962C8B-B14F-4D97-AF65-F5344CB8AC3E}">
        <p14:creationId xmlns:p14="http://schemas.microsoft.com/office/powerpoint/2010/main" val="353185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24" grpId="0"/>
      <p:bldP spid="25" grpId="0"/>
      <p:bldP spid="3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693" y="167342"/>
            <a:ext cx="2763933" cy="1325563"/>
          </a:xfrm>
        </p:spPr>
        <p:txBody>
          <a:bodyPr>
            <a:normAutofit/>
          </a:bodyPr>
          <a:lstStyle/>
          <a:p>
            <a:r>
              <a:rPr lang="zh-CN" altLang="en-US" sz="2700" dirty="0"/>
              <a:t>使用</a:t>
            </a:r>
            <a:r>
              <a:rPr lang="en-US" altLang="zh-CN" sz="2700" dirty="0"/>
              <a:t>format()</a:t>
            </a:r>
            <a:r>
              <a:rPr lang="zh-CN" altLang="en-US" sz="2700" dirty="0"/>
              <a:t>方法进行格式化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615" y="1535185"/>
            <a:ext cx="8565159" cy="49576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1/3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0.3333333333333333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print('{0: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.3f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}'.format(1/3))         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#保留3位小数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0.333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'{0: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}'.format(3.5)                   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#格式化为百分数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'350.000000%'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‘{0:_},{0:_x}’.format(1000000)       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加下划线，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转十六进制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'1_000_000,f_4240'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42279C-0079-40C3-B941-9DD1A6E42ACC}"/>
              </a:ext>
            </a:extLst>
          </p:cNvPr>
          <p:cNvSpPr txBox="1"/>
          <p:nvPr/>
        </p:nvSpPr>
        <p:spPr>
          <a:xfrm>
            <a:off x="2906022" y="91460"/>
            <a:ext cx="307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格式符：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/>
              <a:t>表示</a:t>
            </a:r>
            <a:r>
              <a:rPr lang="en-US" altLang="zh-CN" dirty="0"/>
              <a:t>10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表示</a:t>
            </a:r>
            <a:r>
              <a:rPr lang="en-US" altLang="zh-CN" dirty="0"/>
              <a:t>2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表示</a:t>
            </a:r>
            <a:r>
              <a:rPr lang="en-US" altLang="zh-CN" dirty="0"/>
              <a:t>16</a:t>
            </a:r>
            <a:r>
              <a:rPr lang="zh-CN" altLang="en-US" dirty="0"/>
              <a:t>进制整数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27BBF0-3167-47DD-9444-315E43D96233}"/>
              </a:ext>
            </a:extLst>
          </p:cNvPr>
          <p:cNvSpPr txBox="1"/>
          <p:nvPr/>
        </p:nvSpPr>
        <p:spPr>
          <a:xfrm>
            <a:off x="5781441" y="91460"/>
            <a:ext cx="32095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表示小数形式浮点数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表示科学计数形式浮点数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/>
              <a:t>表示以整数为编码的字符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表示百分比形式的浮点数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AAF3AC1-9F0D-415A-AAE6-151FC42B4948}"/>
              </a:ext>
            </a:extLst>
          </p:cNvPr>
          <p:cNvCxnSpPr>
            <a:cxnSpLocks/>
          </p:cNvCxnSpPr>
          <p:nvPr/>
        </p:nvCxnSpPr>
        <p:spPr>
          <a:xfrm>
            <a:off x="4572000" y="5519956"/>
            <a:ext cx="813732" cy="478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0CD1675-A9B5-4DD9-92FF-9DD1B339654D}"/>
              </a:ext>
            </a:extLst>
          </p:cNvPr>
          <p:cNvSpPr txBox="1"/>
          <p:nvPr/>
        </p:nvSpPr>
        <p:spPr>
          <a:xfrm>
            <a:off x="5385732" y="5922628"/>
            <a:ext cx="30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该值的</a:t>
            </a:r>
            <a:r>
              <a:rPr lang="en-US" altLang="zh-CN" dirty="0">
                <a:solidFill>
                  <a:srgbClr val="FF0000"/>
                </a:solidFill>
              </a:rPr>
              <a:t>16</a:t>
            </a:r>
            <a:r>
              <a:rPr lang="zh-CN" altLang="en-US" dirty="0">
                <a:solidFill>
                  <a:srgbClr val="FF0000"/>
                </a:solidFill>
              </a:rPr>
              <a:t>进制表示：</a:t>
            </a:r>
            <a:r>
              <a:rPr lang="en-US" altLang="zh-CN" dirty="0">
                <a:solidFill>
                  <a:srgbClr val="FF0000"/>
                </a:solidFill>
              </a:rPr>
              <a:t>0xf4240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93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91998" y="1360586"/>
            <a:ext cx="7665440" cy="1607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print('{:7.2f}{:2d}'.format(101/7,101%8))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的运行结果是（</a:t>
            </a:r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注：选项中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□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代表空格）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514601" y="2967930"/>
            <a:ext cx="205379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pt-BR" altLang="zh-CN" sz="2000" dirty="0"/>
              <a:t>{:7.2f}{:2d}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514601" y="3589735"/>
            <a:ext cx="205379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pt-BR" altLang="zh-CN" sz="2000" dirty="0"/>
              <a:t>□□14.43□5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514601" y="4232672"/>
            <a:ext cx="205379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pt-BR" altLang="zh-CN" sz="2000" dirty="0"/>
              <a:t>□14.43□□5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514601" y="4875610"/>
            <a:ext cx="205379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pt-BR" altLang="zh-CN" sz="2000" dirty="0"/>
              <a:t>□□101/7□101%8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978819" y="2995017"/>
            <a:ext cx="385763" cy="385763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5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978819" y="3637954"/>
            <a:ext cx="385763" cy="385763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5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978819" y="4280892"/>
            <a:ext cx="385763" cy="385763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5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978819" y="4923829"/>
            <a:ext cx="385763" cy="385763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5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857250"/>
            <a:ext cx="6858000" cy="47625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5E2F90C-0D38-42C2-A267-FFA3334E4902}"/>
              </a:ext>
            </a:extLst>
          </p:cNvPr>
          <p:cNvSpPr txBox="1"/>
          <p:nvPr/>
        </p:nvSpPr>
        <p:spPr>
          <a:xfrm>
            <a:off x="2906022" y="91460"/>
            <a:ext cx="307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格式符：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/>
              <a:t>表示</a:t>
            </a:r>
            <a:r>
              <a:rPr lang="en-US" altLang="zh-CN" dirty="0"/>
              <a:t>10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表示</a:t>
            </a:r>
            <a:r>
              <a:rPr lang="en-US" altLang="zh-CN" dirty="0"/>
              <a:t>2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进制整数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表示</a:t>
            </a:r>
            <a:r>
              <a:rPr lang="en-US" altLang="zh-CN" dirty="0"/>
              <a:t>16</a:t>
            </a:r>
            <a:r>
              <a:rPr lang="zh-CN" altLang="en-US" dirty="0"/>
              <a:t>进制整数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DEBE99-3A52-496E-A586-04E769205B9A}"/>
              </a:ext>
            </a:extLst>
          </p:cNvPr>
          <p:cNvSpPr txBox="1"/>
          <p:nvPr/>
        </p:nvSpPr>
        <p:spPr>
          <a:xfrm>
            <a:off x="5781441" y="91460"/>
            <a:ext cx="32095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表示小数形式浮点数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或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表示科学计数形式浮点数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zh-CN" altLang="en-US" dirty="0"/>
              <a:t>表示以整数为编码的字符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表示百分比形式的浮点数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298DC5-4B54-4EF5-8A91-F24D52034BE6}"/>
              </a:ext>
            </a:extLst>
          </p:cNvPr>
          <p:cNvSpPr txBox="1"/>
          <p:nvPr/>
        </p:nvSpPr>
        <p:spPr>
          <a:xfrm>
            <a:off x="5469622" y="3521660"/>
            <a:ext cx="34353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101/7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约等于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14.4285714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193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34" y="266442"/>
            <a:ext cx="9043332" cy="1325563"/>
          </a:xfrm>
        </p:spPr>
        <p:txBody>
          <a:bodyPr/>
          <a:lstStyle/>
          <a:p>
            <a:r>
              <a:rPr lang="zh-CN" altLang="en-US" dirty="0"/>
              <a:t>另一种写法</a:t>
            </a:r>
            <a:r>
              <a:rPr lang="en-US" altLang="zh-CN" dirty="0"/>
              <a:t>——</a:t>
            </a:r>
            <a:r>
              <a:rPr lang="zh-CN" altLang="en-US" dirty="0"/>
              <a:t>格式化的字符串常量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0838" y="2028367"/>
            <a:ext cx="8035475" cy="3512657"/>
          </a:xfrm>
        </p:spPr>
        <p:txBody>
          <a:bodyPr>
            <a:noAutofit/>
          </a:bodyPr>
          <a:lstStyle/>
          <a:p>
            <a:pPr fontAlgn="base">
              <a:lnSpc>
                <a:spcPct val="150000"/>
              </a:lnSpc>
              <a:spcBef>
                <a:spcPts val="0"/>
              </a:spcBef>
            </a:pPr>
            <a:r>
              <a:rPr lang="en-US" sz="2000" dirty="0" err="1">
                <a:sym typeface="+mn-ea"/>
              </a:rPr>
              <a:t>从Python</a:t>
            </a:r>
            <a:r>
              <a:rPr lang="en-US" sz="2000" dirty="0">
                <a:sym typeface="+mn-ea"/>
              </a:rPr>
              <a:t> 3.6.x开始支持字符串格式化方式</a:t>
            </a:r>
            <a:r>
              <a:rPr lang="en-US" altLang="zh-CN" sz="2000" dirty="0">
                <a:sym typeface="+mn-ea"/>
              </a:rPr>
              <a:t>——</a:t>
            </a:r>
            <a:r>
              <a:rPr lang="en-US" sz="2000" dirty="0">
                <a:solidFill>
                  <a:srgbClr val="FF0000"/>
                </a:solidFill>
                <a:sym typeface="+mn-ea"/>
              </a:rPr>
              <a:t>Formatted String Literals</a:t>
            </a:r>
            <a:r>
              <a:rPr lang="en-US" sz="2000" dirty="0">
                <a:sym typeface="+mn-ea"/>
              </a:rPr>
              <a:t>，</a:t>
            </a:r>
            <a:r>
              <a:rPr lang="zh-CN" altLang="en-US" sz="2000" dirty="0">
                <a:sym typeface="+mn-ea"/>
              </a:rPr>
              <a:t>在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字符串前加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字母</a:t>
            </a:r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f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sz="2000" dirty="0" err="1">
                <a:sym typeface="+mn-ea"/>
              </a:rPr>
              <a:t>含义与字符串对象format</a:t>
            </a:r>
            <a:r>
              <a:rPr lang="en-US" sz="2000" dirty="0">
                <a:sym typeface="+mn-ea"/>
              </a:rPr>
              <a:t>()</a:t>
            </a:r>
            <a:r>
              <a:rPr lang="en-US" sz="2000" dirty="0" err="1">
                <a:sym typeface="+mn-ea"/>
              </a:rPr>
              <a:t>方法类似</a:t>
            </a:r>
            <a:r>
              <a:rPr lang="en-US" sz="2000" dirty="0">
                <a:sym typeface="+mn-ea"/>
              </a:rPr>
              <a:t>。</a:t>
            </a:r>
            <a:endParaRPr lang="en-US" sz="2000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35625" y="3266875"/>
            <a:ext cx="7338526" cy="1175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print('{:7.2f}{:2d}'.format(101/7,101%8)) 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可以这样写：</a:t>
            </a:r>
          </a:p>
        </p:txBody>
      </p:sp>
      <p:sp>
        <p:nvSpPr>
          <p:cNvPr id="6" name="矩形 5"/>
          <p:cNvSpPr/>
          <p:nvPr/>
        </p:nvSpPr>
        <p:spPr>
          <a:xfrm>
            <a:off x="835625" y="4455748"/>
            <a:ext cx="4572000" cy="142295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= 101 / 7</a:t>
            </a:r>
          </a:p>
          <a:p>
            <a:pPr lvl="0">
              <a:lnSpc>
                <a:spcPct val="15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= 101 % 8</a:t>
            </a:r>
            <a:endParaRPr lang="pt-BR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t-BR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'{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pt-BR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:7.2f}{b:2d}'</a:t>
            </a: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59301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72" y="1228995"/>
            <a:ext cx="3910762" cy="9371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72" y="2293793"/>
            <a:ext cx="4469281" cy="6483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172" y="3122101"/>
            <a:ext cx="4318503" cy="6137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095" y="1508965"/>
            <a:ext cx="3333067" cy="1314449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2B43C19-F7FC-41AB-9CA6-B7644670E746}"/>
              </a:ext>
            </a:extLst>
          </p:cNvPr>
          <p:cNvCxnSpPr>
            <a:cxnSpLocks/>
          </p:cNvCxnSpPr>
          <p:nvPr/>
        </p:nvCxnSpPr>
        <p:spPr>
          <a:xfrm flipV="1">
            <a:off x="3473042" y="771787"/>
            <a:ext cx="1803633" cy="1522006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8E16FA9-C11D-4FCC-B4B7-5BF45608D4B9}"/>
              </a:ext>
            </a:extLst>
          </p:cNvPr>
          <p:cNvSpPr txBox="1"/>
          <p:nvPr/>
        </p:nvSpPr>
        <p:spPr>
          <a:xfrm>
            <a:off x="4966058" y="417136"/>
            <a:ext cx="3573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.2</a:t>
            </a:r>
            <a:r>
              <a:rPr lang="zh-CN" altLang="en-US" dirty="0"/>
              <a:t>表示：除小数点外输出</a:t>
            </a:r>
            <a:r>
              <a:rPr lang="en-US" altLang="zh-CN" dirty="0"/>
              <a:t>2</a:t>
            </a:r>
            <a:r>
              <a:rPr lang="zh-CN" altLang="en-US" dirty="0"/>
              <a:t>位数字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zh-CN" altLang="en-US" dirty="0"/>
              <a:t>该例子就是</a:t>
            </a: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两位数字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5083CA5-5120-4324-A63B-B0401AC8E1D1}"/>
              </a:ext>
            </a:extLst>
          </p:cNvPr>
          <p:cNvCxnSpPr>
            <a:cxnSpLocks/>
          </p:cNvCxnSpPr>
          <p:nvPr/>
        </p:nvCxnSpPr>
        <p:spPr>
          <a:xfrm flipV="1">
            <a:off x="7533314" y="2483141"/>
            <a:ext cx="595618" cy="63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199E7F6-7F28-4D35-9661-E02D33957B61}"/>
              </a:ext>
            </a:extLst>
          </p:cNvPr>
          <p:cNvSpPr txBox="1"/>
          <p:nvPr/>
        </p:nvSpPr>
        <p:spPr>
          <a:xfrm>
            <a:off x="5692779" y="3084246"/>
            <a:ext cx="3360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.2</a:t>
            </a:r>
            <a:r>
              <a:rPr lang="zh-CN" altLang="en-US" dirty="0"/>
              <a:t>表示：输出小数点后面两位，</a:t>
            </a:r>
            <a:endParaRPr lang="en-US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.2</a:t>
            </a:r>
            <a:r>
              <a:rPr lang="zh-CN" altLang="en-US" dirty="0"/>
              <a:t>后面有</a:t>
            </a:r>
            <a:r>
              <a:rPr lang="en-US" altLang="zh-CN" dirty="0"/>
              <a:t>f</a:t>
            </a:r>
            <a:r>
              <a:rPr lang="zh-CN" altLang="en-US" dirty="0"/>
              <a:t>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830137-B7AE-4F67-8C82-112BD25934AC}"/>
              </a:ext>
            </a:extLst>
          </p:cNvPr>
          <p:cNvSpPr txBox="1"/>
          <p:nvPr/>
        </p:nvSpPr>
        <p:spPr>
          <a:xfrm>
            <a:off x="855453" y="4691811"/>
            <a:ext cx="34900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&gt;&gt;&gt;</a:t>
            </a:r>
            <a:r>
              <a:rPr lang="zh-CN" altLang="en-US" sz="2400" dirty="0"/>
              <a:t>a = 1234.5678</a:t>
            </a:r>
          </a:p>
          <a:p>
            <a:r>
              <a:rPr lang="en-US" altLang="zh-CN" sz="2400" dirty="0"/>
              <a:t>&gt;&gt;&gt;</a:t>
            </a:r>
            <a:r>
              <a:rPr lang="zh-CN" altLang="en-US" sz="2400" dirty="0"/>
              <a:t>'a={:10.3}'.format(a)</a:t>
            </a:r>
          </a:p>
          <a:p>
            <a:r>
              <a:rPr lang="zh-CN" altLang="en-US" sz="2400" dirty="0"/>
              <a:t>'a=  1.23e+03’</a:t>
            </a:r>
            <a:endParaRPr lang="en-US" altLang="zh-CN" sz="2400" dirty="0"/>
          </a:p>
          <a:p>
            <a:r>
              <a:rPr lang="en-US" altLang="zh-CN" sz="2400" dirty="0"/>
              <a:t>&gt;&gt;&gt;'a={:10.4}'.format(a)</a:t>
            </a:r>
          </a:p>
          <a:p>
            <a:r>
              <a:rPr lang="en-US" altLang="zh-CN" sz="2400" dirty="0"/>
              <a:t>'a= 1.235e+03’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08628D9-D9BE-4E83-8CA1-3E558D7BCB56}"/>
              </a:ext>
            </a:extLst>
          </p:cNvPr>
          <p:cNvSpPr txBox="1"/>
          <p:nvPr/>
        </p:nvSpPr>
        <p:spPr>
          <a:xfrm>
            <a:off x="4345497" y="4682977"/>
            <a:ext cx="41022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&gt;&gt;&gt;'a={:10.5}'.format(a)</a:t>
            </a:r>
          </a:p>
          <a:p>
            <a:r>
              <a:rPr lang="en-US" altLang="zh-CN" sz="2400" dirty="0"/>
              <a:t>'a=    1234.6'</a:t>
            </a:r>
            <a:endParaRPr lang="zh-CN" altLang="en-US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F1A39E-BA78-4970-8C98-161B977C0DC5}"/>
              </a:ext>
            </a:extLst>
          </p:cNvPr>
          <p:cNvSpPr txBox="1"/>
          <p:nvPr/>
        </p:nvSpPr>
        <p:spPr>
          <a:xfrm>
            <a:off x="4345497" y="5531690"/>
            <a:ext cx="4193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.5</a:t>
            </a:r>
            <a:r>
              <a:rPr lang="zh-CN" altLang="en-US" dirty="0">
                <a:solidFill>
                  <a:srgbClr val="FF0000"/>
                </a:solidFill>
              </a:rPr>
              <a:t>表示：除小数点外输出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位数字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          </a:t>
            </a:r>
            <a:r>
              <a:rPr lang="zh-CN" altLang="en-US" dirty="0">
                <a:solidFill>
                  <a:srgbClr val="FF0000"/>
                </a:solidFill>
              </a:rPr>
              <a:t>该例子就是</a:t>
            </a:r>
            <a:r>
              <a:rPr lang="en-US" altLang="zh-CN" dirty="0">
                <a:solidFill>
                  <a:srgbClr val="FF0000"/>
                </a:solidFill>
              </a:rPr>
              <a:t>1,2,3,4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五位数字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E9CB6EA-8062-43E2-9B66-D80FCDC26963}"/>
              </a:ext>
            </a:extLst>
          </p:cNvPr>
          <p:cNvCxnSpPr>
            <a:stCxn id="20" idx="0"/>
          </p:cNvCxnSpPr>
          <p:nvPr/>
        </p:nvCxnSpPr>
        <p:spPr>
          <a:xfrm flipH="1" flipV="1">
            <a:off x="5931017" y="5041783"/>
            <a:ext cx="511468" cy="489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4A3A560-3E31-460D-A367-50E5E092D9D7}"/>
              </a:ext>
            </a:extLst>
          </p:cNvPr>
          <p:cNvCxnSpPr>
            <a:cxnSpLocks/>
          </p:cNvCxnSpPr>
          <p:nvPr/>
        </p:nvCxnSpPr>
        <p:spPr>
          <a:xfrm flipH="1" flipV="1">
            <a:off x="2978092" y="3355596"/>
            <a:ext cx="214720" cy="494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DA3B4ED-F887-4DE6-9367-9C36DAD9616F}"/>
              </a:ext>
            </a:extLst>
          </p:cNvPr>
          <p:cNvSpPr txBox="1"/>
          <p:nvPr/>
        </p:nvSpPr>
        <p:spPr>
          <a:xfrm>
            <a:off x="2206087" y="3849918"/>
            <a:ext cx="5166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r>
              <a:rPr lang="zh-CN" altLang="en-US" dirty="0"/>
              <a:t>是填充符，</a:t>
            </a:r>
            <a:r>
              <a:rPr lang="en-US" altLang="zh-CN" dirty="0"/>
              <a:t>10</a:t>
            </a:r>
            <a:r>
              <a:rPr lang="zh-CN" altLang="en-US" dirty="0"/>
              <a:t>是总宽度，</a:t>
            </a:r>
            <a:r>
              <a:rPr lang="en-US" altLang="zh-CN" dirty="0"/>
              <a:t>.2f</a:t>
            </a:r>
            <a:r>
              <a:rPr lang="zh-CN" altLang="en-US" dirty="0"/>
              <a:t>是小数点后面两位。</a:t>
            </a:r>
          </a:p>
        </p:txBody>
      </p:sp>
    </p:spTree>
    <p:extLst>
      <p:ext uri="{BB962C8B-B14F-4D97-AF65-F5344CB8AC3E}">
        <p14:creationId xmlns:p14="http://schemas.microsoft.com/office/powerpoint/2010/main" val="375836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4282</TotalTime>
  <Words>3956</Words>
  <Application>Microsoft Office PowerPoint</Application>
  <PresentationFormat>全屏显示(4:3)</PresentationFormat>
  <Paragraphs>616</Paragraphs>
  <Slides>41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5" baseType="lpstr">
      <vt:lpstr>新細明體</vt:lpstr>
      <vt:lpstr>等线</vt:lpstr>
      <vt:lpstr>等线 Light</vt:lpstr>
      <vt:lpstr>方正书宋简体</vt:lpstr>
      <vt:lpstr>宋体</vt:lpstr>
      <vt:lpstr>Microsoft Yahei</vt:lpstr>
      <vt:lpstr>Microsoft Yahei</vt:lpstr>
      <vt:lpstr>Arial</vt:lpstr>
      <vt:lpstr>Calibri</vt:lpstr>
      <vt:lpstr>Calibri Light</vt:lpstr>
      <vt:lpstr>Consolas</vt:lpstr>
      <vt:lpstr>Courier New</vt:lpstr>
      <vt:lpstr>Wingdings</vt:lpstr>
      <vt:lpstr>Office 主题​​</vt:lpstr>
      <vt:lpstr>顺序结构的程序设计</vt:lpstr>
      <vt:lpstr>常量与变量</vt:lpstr>
      <vt:lpstr>内存和变量</vt:lpstr>
      <vt:lpstr>2.3  赋值语句</vt:lpstr>
      <vt:lpstr>2.3  赋值语句</vt:lpstr>
      <vt:lpstr>变量的数据类型</vt:lpstr>
      <vt:lpstr>变量的数据类型</vt:lpstr>
      <vt:lpstr>变量的数据类型</vt:lpstr>
      <vt:lpstr>变量与地址的关系</vt:lpstr>
      <vt:lpstr>2.3.2  复合赋值语句</vt:lpstr>
      <vt:lpstr>PowerPoint 演示文稿</vt:lpstr>
      <vt:lpstr>2.3.3  多变量赋值</vt:lpstr>
      <vt:lpstr>2．同步赋值</vt:lpstr>
      <vt:lpstr>2．同步赋值</vt:lpstr>
      <vt:lpstr>PowerPoint 演示文稿</vt:lpstr>
      <vt:lpstr>PowerPoint 演示文稿</vt:lpstr>
      <vt:lpstr>例2-5  输入x,y,z的值，按由小到大的顺序输出</vt:lpstr>
      <vt:lpstr>同步赋值应用举例</vt:lpstr>
      <vt:lpstr>2    基本输入输出—回顾</vt:lpstr>
      <vt:lpstr>同步赋值与eval函数的应用2---一次输入多个数据</vt:lpstr>
      <vt:lpstr>PowerPoint 演示文稿</vt:lpstr>
      <vt:lpstr>字符串的split方法(p96_5.3节)</vt:lpstr>
      <vt:lpstr>字符串的split方法------同步赋值</vt:lpstr>
      <vt:lpstr>s.split()和s.split(‘ ‘)的细微区别</vt:lpstr>
      <vt:lpstr>split与input结合：拆分输入数据</vt:lpstr>
      <vt:lpstr>PowerPoint 演示文稿</vt:lpstr>
      <vt:lpstr>PowerPoint 演示文稿</vt:lpstr>
      <vt:lpstr>精彩案例赏析</vt:lpstr>
      <vt:lpstr>精彩案例赏析</vt:lpstr>
      <vt:lpstr>5  基本输出</vt:lpstr>
      <vt:lpstr>2.4.2  格式化输出</vt:lpstr>
      <vt:lpstr>字符串.format()方法</vt:lpstr>
      <vt:lpstr>PowerPoint 演示文稿</vt:lpstr>
      <vt:lpstr>PowerPoint 演示文稿</vt:lpstr>
      <vt:lpstr>序号</vt:lpstr>
      <vt:lpstr>格式说明符</vt:lpstr>
      <vt:lpstr>使用format()方法进行格式化</vt:lpstr>
      <vt:lpstr>使用format()方法进行格式化</vt:lpstr>
      <vt:lpstr>PowerPoint 演示文稿</vt:lpstr>
      <vt:lpstr>另一种写法——格式化的字符串常量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hyhuang</dc:creator>
  <cp:lastModifiedBy>cyj</cp:lastModifiedBy>
  <cp:revision>215</cp:revision>
  <dcterms:created xsi:type="dcterms:W3CDTF">2019-09-17T15:07:59Z</dcterms:created>
  <dcterms:modified xsi:type="dcterms:W3CDTF">2024-10-08T15:40:23Z</dcterms:modified>
</cp:coreProperties>
</file>