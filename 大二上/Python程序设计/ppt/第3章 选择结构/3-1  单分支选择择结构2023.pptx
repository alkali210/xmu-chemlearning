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  <p:sldMasterId id="2147483684" r:id="rId2"/>
    <p:sldMasterId id="2147483696" r:id="rId3"/>
  </p:sldMasterIdLst>
  <p:notesMasterIdLst>
    <p:notesMasterId r:id="rId42"/>
  </p:notesMasterIdLst>
  <p:handoutMasterIdLst>
    <p:handoutMasterId r:id="rId43"/>
  </p:handoutMasterIdLst>
  <p:sldIdLst>
    <p:sldId id="848" r:id="rId4"/>
    <p:sldId id="1883" r:id="rId5"/>
    <p:sldId id="1882" r:id="rId6"/>
    <p:sldId id="1854" r:id="rId7"/>
    <p:sldId id="1855" r:id="rId8"/>
    <p:sldId id="1856" r:id="rId9"/>
    <p:sldId id="1889" r:id="rId10"/>
    <p:sldId id="1859" r:id="rId11"/>
    <p:sldId id="1866" r:id="rId12"/>
    <p:sldId id="1867" r:id="rId13"/>
    <p:sldId id="1876" r:id="rId14"/>
    <p:sldId id="1861" r:id="rId15"/>
    <p:sldId id="1868" r:id="rId16"/>
    <p:sldId id="1869" r:id="rId17"/>
    <p:sldId id="1870" r:id="rId18"/>
    <p:sldId id="1860" r:id="rId19"/>
    <p:sldId id="1877" r:id="rId20"/>
    <p:sldId id="1884" r:id="rId21"/>
    <p:sldId id="1886" r:id="rId22"/>
    <p:sldId id="1887" r:id="rId23"/>
    <p:sldId id="1888" r:id="rId24"/>
    <p:sldId id="1773" r:id="rId25"/>
    <p:sldId id="1810" r:id="rId26"/>
    <p:sldId id="1850" r:id="rId27"/>
    <p:sldId id="1848" r:id="rId28"/>
    <p:sldId id="1851" r:id="rId29"/>
    <p:sldId id="1837" r:id="rId30"/>
    <p:sldId id="1816" r:id="rId31"/>
    <p:sldId id="1846" r:id="rId32"/>
    <p:sldId id="1847" r:id="rId33"/>
    <p:sldId id="1852" r:id="rId34"/>
    <p:sldId id="1857" r:id="rId35"/>
    <p:sldId id="1858" r:id="rId36"/>
    <p:sldId id="1811" r:id="rId37"/>
    <p:sldId id="1817" r:id="rId38"/>
    <p:sldId id="1819" r:id="rId39"/>
    <p:sldId id="1818" r:id="rId40"/>
    <p:sldId id="181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000000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36513" y="0"/>
            <a:ext cx="1587" cy="0"/>
          </a:xfrm>
        </p:spPr>
      </p:sp>
      <p:sp>
        <p:nvSpPr>
          <p:cNvPr id="83971" name="文本占位符 2"/>
          <p:cNvSpPr>
            <a:spLocks noGrp="1" noRot="1" noChangeAspect="1" noChangeArrowheads="1"/>
          </p:cNvSpPr>
          <p:nvPr>
            <p:ph type="body" idx="3"/>
          </p:nvPr>
        </p:nvSpPr>
        <p:spPr bwMode="auto">
          <a:xfrm>
            <a:off x="457200" y="977900"/>
            <a:ext cx="8229600" cy="36147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charset="0"/>
              </a:rPr>
              <a:t>"6个关系运算符的介绍</a:t>
            </a:r>
          </a:p>
          <a:p>
            <a:r>
              <a:rPr lang="zh-CN" altLang="en-US">
                <a:latin typeface="Arial" charset="0"/>
              </a:rPr>
              <a:t>表格含示例</a:t>
            </a:r>
          </a:p>
          <a:p>
            <a:r>
              <a:rPr lang="zh-CN" altLang="en-US">
                <a:latin typeface="Arial" charset="0"/>
              </a:rPr>
              <a:t>特别注意：相等关系的写法，一定不能写作一个等号。"</a:t>
            </a:r>
          </a:p>
        </p:txBody>
      </p:sp>
    </p:spTree>
    <p:extLst>
      <p:ext uri="{BB962C8B-B14F-4D97-AF65-F5344CB8AC3E}">
        <p14:creationId xmlns:p14="http://schemas.microsoft.com/office/powerpoint/2010/main" val="4223932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351828" y="3371852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82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9"/>
          <p:cNvSpPr>
            <a:spLocks noChangeArrowheads="1"/>
          </p:cNvSpPr>
          <p:nvPr userDrawn="1"/>
        </p:nvSpPr>
        <p:spPr bwMode="auto">
          <a:xfrm>
            <a:off x="298819" y="1460503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71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55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26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7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8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31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07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16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29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351828" y="3371852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221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298819" y="1460503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507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84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5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40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99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84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39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66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23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83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407459" y="3325814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404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212680" y="1505745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658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45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11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90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83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87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932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7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75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50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39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34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2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2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2" Type="http://schemas.openxmlformats.org/officeDocument/2006/relationships/tags" Target="../tags/tag54.xml"/><Relationship Id="rId16" Type="http://schemas.openxmlformats.org/officeDocument/2006/relationships/image" Target="../media/image2.tmp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slideLayout" Target="../slideLayouts/slideLayout18.xml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2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 选择结构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0000FF"/>
                </a:solidFill>
              </a:rPr>
              <a:t>if</a:t>
            </a:r>
            <a:r>
              <a:rPr lang="en-US" altLang="zh-CN" sz="4000" b="1" dirty="0"/>
              <a:t> </a:t>
            </a:r>
            <a:r>
              <a:rPr lang="zh-CN" altLang="en-US" sz="4000" b="1" dirty="0"/>
              <a:t>语句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顺序结构                    选择结构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流程图: 过程 4"/>
          <p:cNvSpPr/>
          <p:nvPr/>
        </p:nvSpPr>
        <p:spPr>
          <a:xfrm>
            <a:off x="1653724" y="2325189"/>
            <a:ext cx="1645920" cy="50707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 = 8</a:t>
            </a:r>
            <a:endParaRPr lang="zh-CN" altLang="en-US" dirty="0"/>
          </a:p>
        </p:txBody>
      </p:sp>
      <p:sp>
        <p:nvSpPr>
          <p:cNvPr id="8" name="流程图: 过程 7"/>
          <p:cNvSpPr/>
          <p:nvPr/>
        </p:nvSpPr>
        <p:spPr>
          <a:xfrm>
            <a:off x="1653724" y="3466804"/>
            <a:ext cx="1645920" cy="50707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 = 9</a:t>
            </a:r>
            <a:endParaRPr lang="zh-CN" altLang="en-US" dirty="0"/>
          </a:p>
        </p:txBody>
      </p:sp>
      <p:sp>
        <p:nvSpPr>
          <p:cNvPr id="9" name="流程图: 过程 8"/>
          <p:cNvSpPr/>
          <p:nvPr/>
        </p:nvSpPr>
        <p:spPr>
          <a:xfrm>
            <a:off x="1653724" y="4633660"/>
            <a:ext cx="1645920" cy="50707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 = a + b</a:t>
            </a:r>
            <a:endParaRPr lang="zh-CN" altLang="en-US" dirty="0"/>
          </a:p>
        </p:txBody>
      </p:sp>
      <p:cxnSp>
        <p:nvCxnSpPr>
          <p:cNvPr id="10" name="直接箭头连接符 9"/>
          <p:cNvCxnSpPr>
            <a:endCxn id="5" idx="0"/>
          </p:cNvCxnSpPr>
          <p:nvPr/>
        </p:nvCxnSpPr>
        <p:spPr>
          <a:xfrm>
            <a:off x="2476684" y="1726673"/>
            <a:ext cx="0" cy="59851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2483866" y="2868288"/>
            <a:ext cx="0" cy="59851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474535" y="3973880"/>
            <a:ext cx="0" cy="59851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483866" y="5140736"/>
            <a:ext cx="0" cy="59851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过程 14"/>
          <p:cNvSpPr/>
          <p:nvPr/>
        </p:nvSpPr>
        <p:spPr>
          <a:xfrm>
            <a:off x="7173093" y="2004697"/>
            <a:ext cx="1645920" cy="50707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 = 8</a:t>
            </a:r>
            <a:endParaRPr lang="zh-CN" altLang="en-US" dirty="0"/>
          </a:p>
        </p:txBody>
      </p:sp>
      <p:sp>
        <p:nvSpPr>
          <p:cNvPr id="16" name="流程图: 过程 15"/>
          <p:cNvSpPr/>
          <p:nvPr/>
        </p:nvSpPr>
        <p:spPr>
          <a:xfrm>
            <a:off x="5412873" y="4213896"/>
            <a:ext cx="1645920" cy="50707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 += 2</a:t>
            </a:r>
            <a:endParaRPr lang="zh-CN" altLang="en-US" dirty="0"/>
          </a:p>
        </p:txBody>
      </p:sp>
      <p:sp>
        <p:nvSpPr>
          <p:cNvPr id="17" name="流程图: 过程 16"/>
          <p:cNvSpPr/>
          <p:nvPr/>
        </p:nvSpPr>
        <p:spPr>
          <a:xfrm>
            <a:off x="7249929" y="5253992"/>
            <a:ext cx="1645920" cy="50707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箭头连接符 17"/>
          <p:cNvCxnSpPr>
            <a:endCxn id="15" idx="0"/>
          </p:cNvCxnSpPr>
          <p:nvPr/>
        </p:nvCxnSpPr>
        <p:spPr>
          <a:xfrm>
            <a:off x="7996053" y="1406181"/>
            <a:ext cx="0" cy="59851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8003235" y="2547796"/>
            <a:ext cx="0" cy="59851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8096584" y="5761068"/>
            <a:ext cx="0" cy="59851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流程图: 过程 21"/>
          <p:cNvSpPr/>
          <p:nvPr/>
        </p:nvSpPr>
        <p:spPr>
          <a:xfrm>
            <a:off x="9159240" y="4200911"/>
            <a:ext cx="1645920" cy="50707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 += 6</a:t>
            </a:r>
            <a:endParaRPr lang="zh-CN" altLang="en-US" dirty="0"/>
          </a:p>
        </p:txBody>
      </p:sp>
      <p:sp>
        <p:nvSpPr>
          <p:cNvPr id="23" name="流程图: 决策 22"/>
          <p:cNvSpPr/>
          <p:nvPr/>
        </p:nvSpPr>
        <p:spPr>
          <a:xfrm>
            <a:off x="7249929" y="3106146"/>
            <a:ext cx="1506611" cy="61264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 &gt; 0</a:t>
            </a:r>
            <a:endParaRPr lang="zh-CN" altLang="en-US" dirty="0"/>
          </a:p>
        </p:txBody>
      </p:sp>
      <p:cxnSp>
        <p:nvCxnSpPr>
          <p:cNvPr id="25" name="肘形连接符 24"/>
          <p:cNvCxnSpPr>
            <a:stCxn id="23" idx="1"/>
            <a:endCxn id="16" idx="0"/>
          </p:cNvCxnSpPr>
          <p:nvPr/>
        </p:nvCxnSpPr>
        <p:spPr>
          <a:xfrm rot="10800000" flipV="1">
            <a:off x="6235833" y="3412470"/>
            <a:ext cx="1014096" cy="801426"/>
          </a:xfrm>
          <a:prstGeom prst="bentConnector2">
            <a:avLst/>
          </a:prstGeom>
          <a:ln w="2222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23" idx="3"/>
            <a:endCxn id="22" idx="0"/>
          </p:cNvCxnSpPr>
          <p:nvPr/>
        </p:nvCxnSpPr>
        <p:spPr>
          <a:xfrm>
            <a:off x="8756540" y="3412470"/>
            <a:ext cx="1225660" cy="788441"/>
          </a:xfrm>
          <a:prstGeom prst="bentConnector2">
            <a:avLst/>
          </a:prstGeom>
          <a:ln w="2222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16" idx="2"/>
            <a:endCxn id="17" idx="0"/>
          </p:cNvCxnSpPr>
          <p:nvPr/>
        </p:nvCxnSpPr>
        <p:spPr>
          <a:xfrm rot="16200000" flipH="1">
            <a:off x="6887851" y="4068954"/>
            <a:ext cx="533020" cy="1837056"/>
          </a:xfrm>
          <a:prstGeom prst="bentConnector3">
            <a:avLst>
              <a:gd name="adj1" fmla="val 50000"/>
            </a:avLst>
          </a:prstGeom>
          <a:ln w="2222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stCxn id="22" idx="2"/>
          </p:cNvCxnSpPr>
          <p:nvPr/>
        </p:nvCxnSpPr>
        <p:spPr>
          <a:xfrm rot="5400000">
            <a:off x="8887798" y="3893079"/>
            <a:ext cx="279495" cy="1909311"/>
          </a:xfrm>
          <a:prstGeom prst="bentConnector2">
            <a:avLst/>
          </a:prstGeom>
          <a:ln w="2222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66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>
                <a:solidFill>
                  <a:srgbClr val="245794"/>
                </a:solidFill>
              </a:rPr>
              <a:t>布尔类型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SzPct val="60000"/>
            </a:pPr>
            <a:r>
              <a:rPr lang="zh-CN" altLang="zh-CN" sz="2400" dirty="0"/>
              <a:t>布尔型</a:t>
            </a:r>
            <a:r>
              <a:rPr lang="zh-CN" altLang="en-US" sz="2400" dirty="0"/>
              <a:t>常量：</a:t>
            </a:r>
            <a:r>
              <a:rPr lang="en-US" altLang="zh-CN" sz="2400" dirty="0">
                <a:solidFill>
                  <a:srgbClr val="FF0000"/>
                </a:solidFill>
              </a:rPr>
              <a:t>True</a:t>
            </a:r>
            <a:r>
              <a:rPr lang="zh-CN" altLang="zh-CN" sz="2400" dirty="0"/>
              <a:t>和</a:t>
            </a:r>
            <a:r>
              <a:rPr lang="en-US" altLang="zh-CN" sz="2400" dirty="0">
                <a:solidFill>
                  <a:srgbClr val="FF0000"/>
                </a:solidFill>
              </a:rPr>
              <a:t>False</a:t>
            </a:r>
            <a:r>
              <a:rPr lang="zh-CN" altLang="zh-CN" sz="2400" dirty="0"/>
              <a:t>，分别代表逻辑真和逻辑假。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SzPct val="60000"/>
            </a:pPr>
            <a:r>
              <a:rPr lang="zh-CN" altLang="zh-CN" sz="2400" dirty="0"/>
              <a:t>值为真或假的表达式称为</a:t>
            </a:r>
            <a:r>
              <a:rPr lang="zh-CN" altLang="zh-CN" sz="2400" dirty="0">
                <a:solidFill>
                  <a:srgbClr val="FF0000"/>
                </a:solidFill>
              </a:rPr>
              <a:t>布尔表达式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SzPct val="60000"/>
            </a:pPr>
            <a:r>
              <a:rPr lang="zh-CN" altLang="zh-CN" sz="2400" dirty="0"/>
              <a:t>逻辑值</a:t>
            </a:r>
            <a:r>
              <a:rPr lang="en-US" altLang="zh-CN" sz="2400" dirty="0"/>
              <a:t>True</a:t>
            </a:r>
            <a:r>
              <a:rPr lang="zh-CN" altLang="zh-CN" sz="2400" dirty="0"/>
              <a:t>和</a:t>
            </a:r>
            <a:r>
              <a:rPr lang="en-US" altLang="zh-CN" sz="2400" dirty="0"/>
              <a:t>False</a:t>
            </a:r>
            <a:r>
              <a:rPr lang="zh-CN" altLang="en-US" sz="2400" dirty="0"/>
              <a:t>在算术表达式中</a:t>
            </a:r>
            <a:r>
              <a:rPr lang="zh-CN" altLang="zh-CN" sz="2400" dirty="0"/>
              <a:t>是分别用整型值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zh-CN" sz="2400" dirty="0"/>
              <a:t>和</a:t>
            </a:r>
            <a:r>
              <a:rPr lang="en-US" altLang="zh-CN" sz="2400" dirty="0">
                <a:solidFill>
                  <a:srgbClr val="FF0000"/>
                </a:solidFill>
              </a:rPr>
              <a:t>0</a:t>
            </a:r>
            <a:r>
              <a:rPr lang="zh-CN" altLang="zh-CN" sz="2400" dirty="0"/>
              <a:t>参与运算。例如：</a:t>
            </a:r>
          </a:p>
          <a:p>
            <a:pPr marL="720000" indent="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dirty="0">
                <a:cs typeface="Courier New" pitchFamily="49" charset="0"/>
              </a:rPr>
              <a:t>&gt;&gt;&gt; x=False</a:t>
            </a:r>
          </a:p>
          <a:p>
            <a:pPr marL="720000" indent="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dirty="0">
                <a:cs typeface="Courier New" pitchFamily="49" charset="0"/>
              </a:rPr>
              <a:t>&gt;&gt;&gt;type(x)</a:t>
            </a:r>
          </a:p>
          <a:p>
            <a:pPr marL="720000" indent="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dirty="0">
                <a:cs typeface="Courier New" pitchFamily="49" charset="0"/>
              </a:rPr>
              <a:t>&lt;class 'bool'&gt;</a:t>
            </a:r>
            <a:endParaRPr lang="zh-CN" altLang="zh-CN" sz="2400" dirty="0">
              <a:cs typeface="Courier New" pitchFamily="49" charset="0"/>
            </a:endParaRPr>
          </a:p>
          <a:p>
            <a:pPr marL="720000" indent="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dirty="0">
                <a:cs typeface="Courier New" pitchFamily="49" charset="0"/>
              </a:rPr>
              <a:t>&gt;&gt;&gt; x+(5&gt;4)</a:t>
            </a:r>
            <a:endParaRPr lang="zh-CN" altLang="zh-CN" sz="2400" dirty="0">
              <a:cs typeface="Courier New" pitchFamily="49" charset="0"/>
            </a:endParaRPr>
          </a:p>
          <a:p>
            <a:pPr marL="720000" indent="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dirty="0">
                <a:cs typeface="Courier New" pitchFamily="49" charset="0"/>
              </a:rPr>
              <a:t>1</a:t>
            </a:r>
            <a:endParaRPr lang="zh-CN" altLang="zh-CN" sz="2400" dirty="0"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763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7"/>
          <p:cNvSpPr>
            <a:spLocks noGrp="1" noChangeArrowheads="1"/>
          </p:cNvSpPr>
          <p:nvPr>
            <p:ph type="title"/>
          </p:nvPr>
        </p:nvSpPr>
        <p:spPr/>
        <p:txBody>
          <a:bodyPr vert="horz" lIns="91428" tIns="45714" rIns="91428" bIns="45714" rtlCol="0" anchor="b">
            <a:norm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3.1.1 </a:t>
            </a:r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关系运算符</a:t>
            </a:r>
            <a:b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34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437282"/>
              </p:ext>
            </p:extLst>
          </p:nvPr>
        </p:nvGraphicFramePr>
        <p:xfrm>
          <a:off x="1677256" y="1690688"/>
          <a:ext cx="7194550" cy="4789488"/>
        </p:xfrm>
        <a:graphic>
          <a:graphicData uri="http://schemas.openxmlformats.org/drawingml/2006/table">
            <a:tbl>
              <a:tblPr/>
              <a:tblGrid>
                <a:gridCol w="179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8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3600"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关系运算符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名称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示例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示例的值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&lt;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小于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3 &lt; 5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True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&lt;=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小于等于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5 &lt;= 5 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True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&gt;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大于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2 &gt; 5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False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sym typeface="黑体" pitchFamily="49" charset="-122"/>
                      </a:endParaRP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050"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&gt;=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大于等于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8 &gt;= 5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True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4050"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==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相</a:t>
                      </a: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等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6 == 5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False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sym typeface="黑体" pitchFamily="49" charset="-122"/>
                      </a:endParaRP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638"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!=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49" charset="-122"/>
                          <a:ea typeface="微软雅黑" pitchFamily="34" charset="-122"/>
                          <a:sym typeface="黑体" pitchFamily="49" charset="-122"/>
                        </a:rPr>
                        <a:t>不等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6 != 5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>
                      <a:lvl1pPr indent="1588" defTabSz="685800">
                        <a:spcBef>
                          <a:spcPct val="15000"/>
                        </a:spcBef>
                        <a:defRPr sz="20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1pPr>
                      <a:lvl2pPr indent="-112713" defTabSz="685800">
                        <a:spcBef>
                          <a:spcPct val="15000"/>
                        </a:spcBef>
                        <a:defRPr sz="19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2pPr>
                      <a:lvl3pPr indent="-227013" defTabSz="685800">
                        <a:spcBef>
                          <a:spcPct val="15000"/>
                        </a:spcBef>
                        <a:defRPr sz="16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3pPr>
                      <a:lvl4pPr indent="-3413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4pPr>
                      <a:lvl5pPr indent="-455613" defTabSz="685800">
                        <a:spcBef>
                          <a:spcPct val="15000"/>
                        </a:spcBef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5pPr>
                      <a:lvl6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6pPr>
                      <a:lvl7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7pPr>
                      <a:lvl8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8pPr>
                      <a:lvl9pPr indent="-455613" defTabSz="685800" fontAlgn="base">
                        <a:spcBef>
                          <a:spcPct val="15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30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1588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sym typeface="黑体" pitchFamily="49" charset="-122"/>
                        </a:rPr>
                        <a:t>True</a:t>
                      </a:r>
                    </a:p>
                  </a:txBody>
                  <a:tcPr marL="91428" marR="91428" marT="45714" marB="45714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383" name="圆角矩形 2"/>
          <p:cNvSpPr>
            <a:spLocks noChangeArrowheads="1"/>
          </p:cNvSpPr>
          <p:nvPr/>
        </p:nvSpPr>
        <p:spPr bwMode="auto">
          <a:xfrm>
            <a:off x="5314220" y="2625726"/>
            <a:ext cx="3527425" cy="576262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14384" name="圆角矩形 3"/>
          <p:cNvSpPr>
            <a:spLocks noChangeArrowheads="1"/>
          </p:cNvSpPr>
          <p:nvPr/>
        </p:nvSpPr>
        <p:spPr bwMode="auto">
          <a:xfrm>
            <a:off x="5309457" y="5224464"/>
            <a:ext cx="3527425" cy="576263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14385" name="圆角矩形 4"/>
          <p:cNvSpPr>
            <a:spLocks noChangeArrowheads="1"/>
          </p:cNvSpPr>
          <p:nvPr/>
        </p:nvSpPr>
        <p:spPr bwMode="auto">
          <a:xfrm>
            <a:off x="7077932" y="1095376"/>
            <a:ext cx="1763713" cy="5268912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itchFamily="49" charset="-122"/>
              </a:rPr>
              <a:t>运算结果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8DDFEFB-6A70-4452-B503-9D9505D865D2}"/>
              </a:ext>
            </a:extLst>
          </p:cNvPr>
          <p:cNvCxnSpPr/>
          <p:nvPr/>
        </p:nvCxnSpPr>
        <p:spPr>
          <a:xfrm>
            <a:off x="1602297" y="4764947"/>
            <a:ext cx="704675" cy="59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A71A22DE-78DA-41E6-B008-EED5970333E1}"/>
              </a:ext>
            </a:extLst>
          </p:cNvPr>
          <p:cNvSpPr txBox="1"/>
          <p:nvPr/>
        </p:nvSpPr>
        <p:spPr>
          <a:xfrm>
            <a:off x="109057" y="4337108"/>
            <a:ext cx="1677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两个</a:t>
            </a:r>
            <a:r>
              <a:rPr lang="en-US" altLang="zh-CN" dirty="0"/>
              <a:t>=</a:t>
            </a:r>
            <a:r>
              <a:rPr lang="zh-CN" altLang="en-US" dirty="0"/>
              <a:t>号的中间不能有空格</a:t>
            </a:r>
          </a:p>
        </p:txBody>
      </p:sp>
    </p:spTree>
    <p:extLst>
      <p:ext uri="{BB962C8B-B14F-4D97-AF65-F5344CB8AC3E}">
        <p14:creationId xmlns:p14="http://schemas.microsoft.com/office/powerpoint/2010/main" val="46091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83" grpId="0" bldLvl="0" animBg="1" autoUpdateAnimBg="0"/>
      <p:bldP spid="14384" grpId="0" bldLvl="0" animBg="1" autoUpdateAnimBg="0"/>
      <p:bldP spid="14385" grpId="0" bldLvl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15444" cy="4351338"/>
          </a:xfrm>
        </p:spPr>
        <p:txBody>
          <a:bodyPr>
            <a:no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关系运算符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最大的特点是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可以连用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使用关系运算符的一个最重要的前提是，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操作数之间必须可比较大小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1 &lt; 3 &lt; 5                            </a:t>
            </a:r>
            <a:r>
              <a:rPr 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#等价于1 &lt; 3 and 3 &lt; 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 &lt; 5 &gt;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1 &gt; 6 &lt; 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1 </a:t>
            </a:r>
            <a:r>
              <a:rPr 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&lt; 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math.sqrt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(9)         </a:t>
            </a:r>
            <a:r>
              <a:rPr 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#具有惰性求值或者逻辑短路的特点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math.sqrt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(9)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不用算，</a:t>
            </a:r>
            <a:endParaRPr lang="en-US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                                           </a:t>
            </a:r>
            <a:r>
              <a:rPr 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1&gt;6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为假，后面算不算都是假，就不算了。</a:t>
            </a:r>
            <a:endParaRPr lang="en-US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</a:t>
            </a:r>
            <a:r>
              <a:rPr 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math.sqrt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(9)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也要算的话，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会报错，因为我们</a:t>
            </a:r>
            <a:endParaRPr lang="en-US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import math                      </a:t>
            </a:r>
            <a:r>
              <a:rPr 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没有先进行</a:t>
            </a:r>
            <a:r>
              <a:rPr 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import math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1 </a:t>
            </a:r>
            <a:r>
              <a:rPr 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6 &lt; 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math.sqrt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(9)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47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关系运算符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'Hello' &gt; 'world'              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比较字符串大小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[1, 2, 3] &lt; [1, 2, 4]          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比较列表大小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'Hello' &gt; 3                    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字符串和数字不能比较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TypeError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unorderable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types: 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&gt; 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5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6C8450BE-A9A7-439A-A8AF-F0FB9FE01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46" y="579213"/>
            <a:ext cx="10467552" cy="627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ABF8274-AA81-4EC5-8BB4-4691562B3E6F}"/>
              </a:ext>
            </a:extLst>
          </p:cNvPr>
          <p:cNvSpPr txBox="1"/>
          <p:nvPr/>
        </p:nvSpPr>
        <p:spPr>
          <a:xfrm>
            <a:off x="1397" y="0"/>
            <a:ext cx="10182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ASCII(</a:t>
            </a:r>
            <a:r>
              <a:rPr lang="en-US" altLang="zh-CN" dirty="0">
                <a:solidFill>
                  <a:srgbClr val="FF0000"/>
                </a:solidFill>
              </a:rPr>
              <a:t>American Standard Code for Information Interchange</a:t>
            </a:r>
            <a:r>
              <a:rPr lang="zh-CN" altLang="en-US" dirty="0"/>
              <a:t>，美国标准信息交换代码</a:t>
            </a:r>
            <a:r>
              <a:rPr lang="en-US" altLang="zh-CN" dirty="0"/>
              <a:t>)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ASCII </a:t>
            </a:r>
            <a:r>
              <a:rPr lang="zh-CN" altLang="en-US" dirty="0">
                <a:solidFill>
                  <a:srgbClr val="FF0000"/>
                </a:solidFill>
              </a:rPr>
              <a:t>码</a:t>
            </a:r>
            <a:r>
              <a:rPr lang="zh-CN" altLang="en-US" dirty="0"/>
              <a:t>使用指定的</a:t>
            </a:r>
            <a:r>
              <a:rPr lang="en-US" altLang="zh-CN" dirty="0"/>
              <a:t>7 </a:t>
            </a:r>
            <a:r>
              <a:rPr lang="zh-CN" altLang="en-US" dirty="0"/>
              <a:t>位或</a:t>
            </a:r>
            <a:r>
              <a:rPr lang="en-US" altLang="zh-CN" dirty="0"/>
              <a:t>8 </a:t>
            </a:r>
            <a:r>
              <a:rPr lang="zh-CN" altLang="en-US" dirty="0"/>
              <a:t>位二进制数组合来表示</a:t>
            </a:r>
            <a:r>
              <a:rPr lang="en-US" altLang="zh-CN" dirty="0"/>
              <a:t>128 </a:t>
            </a:r>
            <a:r>
              <a:rPr lang="zh-CN" altLang="en-US" dirty="0"/>
              <a:t>或</a:t>
            </a:r>
            <a:r>
              <a:rPr lang="en-US" altLang="zh-CN" dirty="0"/>
              <a:t>256 </a:t>
            </a:r>
            <a:r>
              <a:rPr lang="zh-CN" altLang="en-US" dirty="0"/>
              <a:t>种可能的字符。</a:t>
            </a:r>
          </a:p>
        </p:txBody>
      </p:sp>
    </p:spTree>
    <p:extLst>
      <p:ext uri="{BB962C8B-B14F-4D97-AF65-F5344CB8AC3E}">
        <p14:creationId xmlns:p14="http://schemas.microsoft.com/office/powerpoint/2010/main" val="77877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条件表达式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在Python语法中，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条件表达式中不允许使用赋值运算符“=”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，避免了误将关系运算符“==”写作赋值运算符“=”带来的麻烦。在条件表达式中使用赋值运算符“=”将抛出异常，提示语法错误。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if a=3:           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SyntaxError: invalid syntax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if (a=3) and (b=4):	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SyntaxError: invalid syntax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线形标注 1(带强调线) 4"/>
          <p:cNvSpPr/>
          <p:nvPr/>
        </p:nvSpPr>
        <p:spPr>
          <a:xfrm>
            <a:off x="6675990" y="4049486"/>
            <a:ext cx="3818637" cy="1254034"/>
          </a:xfrm>
          <a:prstGeom prst="accentCallout1">
            <a:avLst>
              <a:gd name="adj1" fmla="val 18750"/>
              <a:gd name="adj2" fmla="val -8333"/>
              <a:gd name="adj3" fmla="val 43931"/>
              <a:gd name="adj4" fmla="val -713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400" b="1" u="sng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#条件表达式中不允许使用赋值运算符</a:t>
            </a:r>
          </a:p>
        </p:txBody>
      </p:sp>
    </p:spTree>
    <p:extLst>
      <p:ext uri="{BB962C8B-B14F-4D97-AF65-F5344CB8AC3E}">
        <p14:creationId xmlns:p14="http://schemas.microsoft.com/office/powerpoint/2010/main" val="51997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3.1.2  </a:t>
            </a:r>
            <a:r>
              <a:rPr lang="zh-CN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．逻辑运算符</a:t>
            </a:r>
          </a:p>
          <a:p>
            <a:pPr indent="0">
              <a:buNone/>
            </a:pP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and(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逻辑与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or(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逻辑或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not(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逻辑非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5" name="矩形 4"/>
          <p:cNvSpPr/>
          <p:nvPr/>
        </p:nvSpPr>
        <p:spPr>
          <a:xfrm>
            <a:off x="994612" y="3047186"/>
            <a:ext cx="886500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and Q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，结果为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or Q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，结果为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3)  not 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，结果为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，结果为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False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085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 </a:t>
            </a:r>
            <a:r>
              <a:rPr lang="en-US" sz="36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 and 5&gt;2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not -3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not 0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04AD05-277B-4C54-9008-E0E885755ED7}"/>
              </a:ext>
            </a:extLst>
          </p:cNvPr>
          <p:cNvSpPr txBox="1"/>
          <p:nvPr/>
        </p:nvSpPr>
        <p:spPr>
          <a:xfrm>
            <a:off x="7390701" y="3061982"/>
            <a:ext cx="261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整数</a:t>
            </a:r>
            <a:r>
              <a:rPr lang="en-US" altLang="zh-CN" dirty="0"/>
              <a:t>0</a:t>
            </a:r>
            <a:r>
              <a:rPr lang="zh-CN" altLang="en-US" dirty="0"/>
              <a:t>为假，非零为真。</a:t>
            </a:r>
          </a:p>
        </p:txBody>
      </p:sp>
    </p:spTree>
    <p:extLst>
      <p:ext uri="{BB962C8B-B14F-4D97-AF65-F5344CB8AC3E}">
        <p14:creationId xmlns:p14="http://schemas.microsoft.com/office/powerpoint/2010/main" val="263875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524000" y="625158"/>
            <a:ext cx="9708543" cy="2143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将数学式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2&lt;x≤10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表示成正确的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表达式为（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3288233" y="2768283"/>
            <a:ext cx="20476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/>
              <a:t>2&lt;x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dirty="0"/>
              <a:t>10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3352800" y="3643313"/>
            <a:ext cx="20476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/>
              <a:t>2&lt;x and x&lt;=10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3352800" y="4500563"/>
            <a:ext cx="20476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/>
              <a:t>2&lt;x &amp;&amp; x&lt;=10 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3352800" y="5357813"/>
            <a:ext cx="20476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/>
              <a:t>x&gt;2 or x &lt;=10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线形标注 1(带强调线) 4"/>
          <p:cNvSpPr/>
          <p:nvPr/>
        </p:nvSpPr>
        <p:spPr>
          <a:xfrm>
            <a:off x="7575605" y="3104897"/>
            <a:ext cx="3269974" cy="612648"/>
          </a:xfrm>
          <a:prstGeom prst="accentCallout1">
            <a:avLst>
              <a:gd name="adj1" fmla="val 18750"/>
              <a:gd name="adj2" fmla="val -8333"/>
              <a:gd name="adj3" fmla="val 470"/>
              <a:gd name="adj4" fmla="val -644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写做：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&lt; x &lt;=10</a:t>
            </a:r>
          </a:p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9841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zh-CN" altLang="en-US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）判断年份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year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是否为闰年</a:t>
            </a:r>
          </a:p>
        </p:txBody>
      </p:sp>
      <p:sp>
        <p:nvSpPr>
          <p:cNvPr id="6" name="矩形 5"/>
          <p:cNvSpPr/>
          <p:nvPr/>
        </p:nvSpPr>
        <p:spPr>
          <a:xfrm>
            <a:off x="1696365" y="2279085"/>
            <a:ext cx="818189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(year%4==0 and year%100!=0) or year%400==0</a:t>
            </a:r>
            <a:endParaRPr lang="zh-CN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8200" y="3781315"/>
            <a:ext cx="313900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）判断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奇数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76833" y="3775649"/>
            <a:ext cx="162095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m%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pt-BR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38200" y="3100786"/>
            <a:ext cx="364555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）判断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能否被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整除</a:t>
            </a:r>
          </a:p>
        </p:txBody>
      </p:sp>
      <p:sp>
        <p:nvSpPr>
          <p:cNvPr id="13" name="矩形 12"/>
          <p:cNvSpPr/>
          <p:nvPr/>
        </p:nvSpPr>
        <p:spPr>
          <a:xfrm>
            <a:off x="4976833" y="3078815"/>
            <a:ext cx="163057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m%n==0</a:t>
            </a:r>
            <a:endParaRPr lang="zh-CN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426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短路运算</a:t>
            </a:r>
            <a:endParaRPr 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auto">
              <a:lnSpc>
                <a:spcPct val="200000"/>
              </a:lnSpc>
            </a:pP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逻辑运算符and和or具有惰性求值或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逻辑短路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的特点，当连接多个表达式时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只计算必须要计算的值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359673" y="3595037"/>
            <a:ext cx="456307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 “表达式1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表达式2”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59673" y="4248917"/>
            <a:ext cx="9762417" cy="581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n w="0"/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若表达式1的值为“False” ，表达式2 不被计算</a:t>
            </a:r>
          </a:p>
        </p:txBody>
      </p:sp>
      <p:sp>
        <p:nvSpPr>
          <p:cNvPr id="9" name="矩形 8"/>
          <p:cNvSpPr/>
          <p:nvPr/>
        </p:nvSpPr>
        <p:spPr>
          <a:xfrm>
            <a:off x="1359673" y="5121422"/>
            <a:ext cx="456307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类似地， “表达式1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表达式2”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59673" y="5775302"/>
            <a:ext cx="976241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n w="0"/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若表达式1的值为“</a:t>
            </a:r>
            <a:r>
              <a:rPr lang="en-US" altLang="zh-CN" sz="2400" dirty="0">
                <a:ln w="0"/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400" dirty="0">
                <a:ln w="0"/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 ，表达式2 不被计算</a:t>
            </a:r>
          </a:p>
        </p:txBody>
      </p:sp>
    </p:spTree>
    <p:extLst>
      <p:ext uri="{BB962C8B-B14F-4D97-AF65-F5344CB8AC3E}">
        <p14:creationId xmlns:p14="http://schemas.microsoft.com/office/powerpoint/2010/main" val="340489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短路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91613" cy="4351338"/>
          </a:xfrm>
        </p:spPr>
        <p:txBody>
          <a:bodyPr>
            <a:noAutofit/>
          </a:bodyPr>
          <a:lstStyle/>
          <a:p>
            <a:pPr marL="0" indent="0">
              <a:lnSpc>
                <a:spcPct val="25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3&gt;5 or a&gt;3                   </a:t>
            </a:r>
            <a:r>
              <a:rPr 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#3&gt;5的值为False，所以需要计算后面表达式</a:t>
            </a:r>
          </a:p>
          <a:p>
            <a:pPr marL="0" indent="0">
              <a:lnSpc>
                <a:spcPct val="250000"/>
              </a:lnSpc>
              <a:spcBef>
                <a:spcPts val="0"/>
              </a:spcBef>
              <a:buNone/>
            </a:pPr>
            <a:r>
              <a:rPr lang="en-US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NameError</a:t>
            </a:r>
            <a:r>
              <a:rPr 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name 'a' is not defined</a:t>
            </a:r>
          </a:p>
          <a:p>
            <a:pPr marL="0" indent="0">
              <a:lnSpc>
                <a:spcPct val="25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3&lt;5 or a&gt;3                   </a:t>
            </a:r>
            <a:r>
              <a:rPr 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#3&lt;5的值为True，不需要计算后面表达式</a:t>
            </a:r>
          </a:p>
          <a:p>
            <a:pPr marL="0" indent="0">
              <a:lnSpc>
                <a:spcPct val="25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25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3&gt;5 and a&gt;3                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#注意，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</a:t>
            </a:r>
            <a:r>
              <a:rPr lang="en-US" altLang="zh-CN" sz="2000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并没有定义变量a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a&gt;3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不需要计算，所以没出错</a:t>
            </a:r>
            <a:endParaRPr lang="en-US" altLang="zh-CN" sz="20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5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225641" y="5577623"/>
            <a:ext cx="7408445" cy="9612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在编写复杂条件表达式时充分利用这个特点，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合理安排不同条件的先后顺序，在一定程度上可以提高代码运行速度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0133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75" y="443636"/>
            <a:ext cx="5134761" cy="892186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sz="3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运算的重要规则</a:t>
            </a:r>
            <a:endParaRPr 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运算符and和or并不一定会返回True或False，而是得到最后一个被计算的表达式的值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，但是运算符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not一定会返回True或False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4019" y="3048356"/>
            <a:ext cx="10352005" cy="3692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 &gt; 2 and 5       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最后一个计算的表达式的值作为整个表达式的值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3&gt;2 and 4-4 and 5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3&gt;2 and 4-5 and 5    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#4-5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，非零为真，零为假，所以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4-5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为真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D3AF8F-7286-4F69-9B02-BA22DD1AC656}"/>
              </a:ext>
            </a:extLst>
          </p:cNvPr>
          <p:cNvSpPr txBox="1"/>
          <p:nvPr/>
        </p:nvSpPr>
        <p:spPr>
          <a:xfrm>
            <a:off x="4907561" y="1135767"/>
            <a:ext cx="7113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3&gt;0 and 5&gt;2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返回最后一个计算的表达式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5&gt;2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933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输入年份，判断是否闰年？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5405" y="2016456"/>
            <a:ext cx="10348395" cy="3104183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year = </a:t>
            </a:r>
            <a:r>
              <a:rPr lang="en-US" altLang="zh-CN" sz="24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year%400==0 or (year%4==0 and year%100!=0):  </a:t>
            </a:r>
            <a:r>
              <a:rPr lang="zh-CN" altLang="en-US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#闰年满足条件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是闰年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89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输入年份，判断是否闰年？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5405" y="2016456"/>
            <a:ext cx="10348395" cy="374824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year = </a:t>
            </a:r>
            <a:r>
              <a:rPr lang="en-US" altLang="zh-CN" sz="24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year%400==0 or (year%4==0 and year%100!=0):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是闰年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不是闰年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91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.3  </a:t>
            </a:r>
            <a:r>
              <a:rPr lang="en-US" sz="3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成员测试运算符in</a:t>
            </a:r>
            <a:endParaRPr 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charset="0"/>
              <a:buChar char=""/>
            </a:pP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成员测试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运算符in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用于测试一个对象是否为另一个对象的元素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 in [1, 2, 3]                        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#测试3是否存在于列表[1, 2, 3]中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5 in range(1, 10, 1)             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内置函数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()用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于生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成指定范围数字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 in '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abcdefg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                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串测试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for </a:t>
            </a:r>
            <a:r>
              <a:rPr lang="en-US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 (3, 5, 7)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               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循环，成员遍历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	    print(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end='\t')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	5	7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52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378" b="44042"/>
          <a:stretch/>
        </p:blipFill>
        <p:spPr>
          <a:xfrm>
            <a:off x="1003942" y="1065475"/>
            <a:ext cx="5054952" cy="32600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77370"/>
          <a:stretch/>
        </p:blipFill>
        <p:spPr>
          <a:xfrm>
            <a:off x="1003942" y="4595854"/>
            <a:ext cx="5662377" cy="148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3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.3 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身份</a:t>
            </a:r>
            <a:r>
              <a:rPr lang="en-US" sz="3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运算符is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3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同一性测试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charset="0"/>
              <a:buChar char=""/>
            </a:pP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测试两个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是否是同一个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，如果是则返回True，否则返回False。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如果两个对象是同一个，二者具有相同的内存地址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 is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[1, 2, 3]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y = [1, 2, 3]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is y                           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上面形式创建的x和y不是同一个列表对象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x[0] is y[0]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67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296" y="1894049"/>
            <a:ext cx="10251384" cy="3576448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 </a:t>
            </a:r>
            <a:r>
              <a:rPr 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in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[1, 2, 3]       	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逻辑非运算not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 </a:t>
            </a:r>
            <a:r>
              <a:rPr 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not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              		</a:t>
            </a:r>
            <a:r>
              <a:rPr 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not的计算结果只能是True或False之一</a:t>
            </a:r>
            <a:endParaRPr 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67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单分支选择结构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双分支选择结构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多分支选择结构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嵌套的分支结构</a:t>
            </a:r>
          </a:p>
          <a:p>
            <a:pPr fontAlgn="auto"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2152650" y="3582236"/>
            <a:ext cx="7886700" cy="1273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.2.1  单分支选择结构</a:t>
            </a:r>
          </a:p>
        </p:txBody>
      </p:sp>
      <p:sp>
        <p:nvSpPr>
          <p:cNvPr id="24578" name="文本占位符 23554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200000"/>
              </a:lnSpc>
              <a:spcBef>
                <a:spcPts val="100"/>
              </a:spcBef>
              <a:buSzPct val="7000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</a:p>
          <a:p>
            <a:pPr>
              <a:spcBef>
                <a:spcPts val="100"/>
              </a:spcBef>
              <a:buSzPct val="70000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23</a:t>
            </a:fld>
            <a:endParaRPr lang="zh-CN" altLang="en-US"/>
          </a:p>
        </p:txBody>
      </p:sp>
      <p:graphicFrame>
        <p:nvGraphicFramePr>
          <p:cNvPr id="24579" name="Object -2147482619"/>
          <p:cNvGraphicFramePr/>
          <p:nvPr>
            <p:extLst>
              <p:ext uri="{D42A27DB-BD31-4B8C-83A1-F6EECF244321}">
                <p14:modId xmlns:p14="http://schemas.microsoft.com/office/powerpoint/2010/main" val="2170080403"/>
              </p:ext>
            </p:extLst>
          </p:nvPr>
        </p:nvGraphicFramePr>
        <p:xfrm>
          <a:off x="5782721" y="1460500"/>
          <a:ext cx="3774748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7" r:id="rId3" imgW="2381250" imgH="3064510" progId="Visio.Drawing.11">
                  <p:embed/>
                </p:oleObj>
              </mc:Choice>
              <mc:Fallback>
                <p:oleObj r:id="rId3" imgW="2381250" imgH="3064510" progId="Visio.Drawing.11">
                  <p:embed/>
                  <p:pic>
                    <p:nvPicPr>
                      <p:cNvPr id="24579" name="Object -21474826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2721" y="1460500"/>
                        <a:ext cx="3774748" cy="489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>
            <a:spLocks/>
          </p:cNvSpPr>
          <p:nvPr/>
        </p:nvSpPr>
        <p:spPr>
          <a:xfrm>
            <a:off x="838200" y="3962708"/>
            <a:ext cx="4197097" cy="2485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条件表达式的值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True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时，执行内嵌的语句块。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437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857690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语句的表达式后面必须加冒号。</a:t>
            </a:r>
            <a:endParaRPr lang="en-US" altLang="zh-CN" sz="2400" b="1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缩进对齐，表示语句块</a:t>
            </a:r>
            <a:endParaRPr lang="en-US" altLang="zh-CN" sz="2400" b="1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）如果语句块中只有一条语句，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语句也可以写在同一行上。</a:t>
            </a:r>
            <a:endParaRPr lang="en-US" altLang="zh-CN" sz="2400" b="1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23554"/>
          <p:cNvSpPr txBox="1">
            <a:spLocks/>
          </p:cNvSpPr>
          <p:nvPr/>
        </p:nvSpPr>
        <p:spPr>
          <a:xfrm>
            <a:off x="838200" y="346623"/>
            <a:ext cx="2620617" cy="13255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</a:p>
          <a:p>
            <a:pPr>
              <a:spcBef>
                <a:spcPts val="100"/>
              </a:spcBef>
              <a:buSzPct val="70000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0C02D4-003F-421F-8632-FAB3A1FA2A30}"/>
              </a:ext>
            </a:extLst>
          </p:cNvPr>
          <p:cNvSpPr txBox="1"/>
          <p:nvPr/>
        </p:nvSpPr>
        <p:spPr>
          <a:xfrm>
            <a:off x="4790114" y="587229"/>
            <a:ext cx="159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a &gt; b: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print(a)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1EA972-F8AF-49E6-8A59-19F728B5529A}"/>
              </a:ext>
            </a:extLst>
          </p:cNvPr>
          <p:cNvSpPr txBox="1"/>
          <p:nvPr/>
        </p:nvSpPr>
        <p:spPr>
          <a:xfrm>
            <a:off x="4790114" y="4840447"/>
            <a:ext cx="3483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a &gt; b: print(a)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102B5E-2AD6-4911-8E7C-937CD4489E30}"/>
              </a:ext>
            </a:extLst>
          </p:cNvPr>
          <p:cNvSpPr txBox="1"/>
          <p:nvPr/>
        </p:nvSpPr>
        <p:spPr>
          <a:xfrm>
            <a:off x="7139276" y="598436"/>
            <a:ext cx="1954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a &gt; b:</a:t>
            </a:r>
          </a:p>
          <a:p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print(a)</a:t>
            </a:r>
          </a:p>
          <a:p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print(b)</a:t>
            </a:r>
          </a:p>
        </p:txBody>
      </p:sp>
    </p:spTree>
    <p:extLst>
      <p:ext uri="{BB962C8B-B14F-4D97-AF65-F5344CB8AC3E}">
        <p14:creationId xmlns:p14="http://schemas.microsoft.com/office/powerpoint/2010/main" val="95886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72327" y="1731674"/>
            <a:ext cx="7010629" cy="4945748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把非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True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False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400" b="1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if</a:t>
            </a:r>
            <a:r>
              <a:rPr lang="zh-CN" altLang="en-US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后跟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的表达式可以是任意表达式</a:t>
            </a:r>
            <a:endParaRPr lang="en-US" altLang="zh-CN" sz="2400" b="1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if a + b :</a:t>
            </a:r>
          </a:p>
          <a:p>
            <a:pPr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……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513" y="2103194"/>
            <a:ext cx="2381250" cy="16668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7846646" y="2454031"/>
            <a:ext cx="2391508" cy="4376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09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24786" y="825069"/>
            <a:ext cx="5161729" cy="4945748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语句中的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必须向右缩进，语句块可以是单个语句，也可以是多个语句。</a:t>
            </a:r>
            <a:endParaRPr lang="en-US" altLang="zh-CN" sz="2400" b="1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当包含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两个或两个以上的语句</a:t>
            </a:r>
            <a:r>
              <a:rPr lang="zh-CN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时，语句必须缩进一致，即语句块中的语句必须上下对齐。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966060" y="288138"/>
            <a:ext cx="5674650" cy="13122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输入三边长，若是三角形，求面积。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57793" y="3693721"/>
            <a:ext cx="4101539" cy="145077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966060" y="1811187"/>
            <a:ext cx="5364549" cy="341632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 math import *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&gt;c and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&gt;b and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b+c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&gt;a: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p = 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a+b+c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)/2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s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sqrt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(p*(p-a)*(p-b)*(p-c))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print("area={}".format(s))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3593990" y="4007457"/>
            <a:ext cx="280681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8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：交换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个变量的值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15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 b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逗号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:'))</a:t>
            </a:r>
          </a:p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a &gt; b:</a:t>
            </a:r>
          </a:p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a, b = b, a              		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交换两个变量的值</a:t>
            </a:r>
          </a:p>
          <a:p>
            <a:pPr>
              <a:lnSpc>
                <a:spcPct val="15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print(a, b)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62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score&lt;60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 ：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输入分数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score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&lt;=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59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55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33718" y="1868029"/>
            <a:ext cx="4569263" cy="35004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ts val="39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时，输出结果是（  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9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score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59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ts val="39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>
              <a:lnSpc>
                <a:spcPts val="39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553200" y="1803736"/>
            <a:ext cx="26860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553200" y="2827300"/>
            <a:ext cx="26860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查询结束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553200" y="3877437"/>
            <a:ext cx="187778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查询结束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6553200" y="4856163"/>
            <a:ext cx="161108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838825" y="186802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838825" y="289159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838825" y="39417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838825" y="49204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854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53687" y="1868029"/>
            <a:ext cx="4985113" cy="35004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ts val="39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时，输出结果是（  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9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score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59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ts val="39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>
              <a:lnSpc>
                <a:spcPts val="39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553200" y="1803736"/>
            <a:ext cx="26860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553200" y="2827300"/>
            <a:ext cx="26860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查询结束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553200" y="3877437"/>
            <a:ext cx="187778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6553200" y="4856163"/>
            <a:ext cx="161108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838825" y="186802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838825" y="289159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838825" y="39417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838825" y="49204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625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案例：输入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个数，求最大数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153806" y="1800243"/>
            <a:ext cx="5264923" cy="4556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a,b,c = eval(input("a,b,c=?"))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a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&lt; b: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b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&lt; c: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c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print(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)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07719" y="1872969"/>
            <a:ext cx="40280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400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个数，用逗号分隔</a:t>
            </a:r>
            <a:endParaRPr lang="en-US" altLang="zh-CN" sz="2400" b="1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</a:pPr>
            <a:r>
              <a:rPr lang="zh-CN" altLang="en-US" sz="2400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2400" b="1" noProof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718" y="3272069"/>
            <a:ext cx="4008845" cy="85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1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039907" y="635001"/>
            <a:ext cx="4418628" cy="2143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输入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x1,x2,x3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，输出其中的最大数。下面的程序正确吗？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087308" y="2281952"/>
            <a:ext cx="288950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7005176" y="3948906"/>
            <a:ext cx="284084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372933" y="234624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290800" y="401319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1039907" y="2860595"/>
            <a:ext cx="4418628" cy="3574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a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x1&gt;=x2&gt;=x3: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x1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x2&gt;=x1&gt;=x3: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x2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x3&gt;=x2&gt;=x1: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x3</a:t>
            </a:r>
          </a:p>
        </p:txBody>
      </p: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487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313457" y="2559166"/>
            <a:ext cx="3020133" cy="3436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x1&gt;=x2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and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x1&gt;=x3: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=x1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x2&gt;=x1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and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x2&gt;=x3: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=x2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x3&gt;=x2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and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x3&gt;=x1: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=x3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080264" y="2230734"/>
            <a:ext cx="3020133" cy="3574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x1,x2,x3 =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eval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(input())</a:t>
            </a:r>
          </a:p>
          <a:p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0</a:t>
            </a:r>
          </a:p>
          <a:p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x1&gt;=x2&gt;=x3: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x1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x2&gt;=x1&gt;=x3: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x2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if x3&gt;=x2&gt;=x1: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= x3</a:t>
            </a:r>
          </a:p>
          <a:p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print(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maxval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313457" y="1819000"/>
            <a:ext cx="178177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正确的程序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80264" y="1690688"/>
            <a:ext cx="178177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错误的程序</a:t>
            </a:r>
          </a:p>
        </p:txBody>
      </p:sp>
      <p:sp>
        <p:nvSpPr>
          <p:cNvPr id="9" name="线形标注 1(无边框) 8"/>
          <p:cNvSpPr/>
          <p:nvPr/>
        </p:nvSpPr>
        <p:spPr>
          <a:xfrm>
            <a:off x="4142200" y="1355814"/>
            <a:ext cx="2570771" cy="1849702"/>
          </a:xfrm>
          <a:prstGeom prst="callout1">
            <a:avLst>
              <a:gd name="adj1" fmla="val 18750"/>
              <a:gd name="adj2" fmla="val -8333"/>
              <a:gd name="adj3" fmla="val 107484"/>
              <a:gd name="adj4" fmla="val -32216"/>
            </a:avLst>
          </a:prstGeom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x2&lt;x3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时，条件表达式结果为假，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，虽然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最大，但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5&lt;6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x1&gt;=x2&gt;=x3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False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80264" y="3364992"/>
            <a:ext cx="3020133" cy="19623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12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4.2.2  双分支选择结构</a:t>
            </a:r>
          </a:p>
        </p:txBody>
      </p:sp>
      <p:sp>
        <p:nvSpPr>
          <p:cNvPr id="25602" name="文本占位符 24578"/>
          <p:cNvSpPr>
            <a:spLocks noGrp="1"/>
          </p:cNvSpPr>
          <p:nvPr>
            <p:ph idx="1"/>
          </p:nvPr>
        </p:nvSpPr>
        <p:spPr>
          <a:xfrm>
            <a:off x="967331" y="1777917"/>
            <a:ext cx="2307880" cy="1591618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34</a:t>
            </a:fld>
            <a:endParaRPr lang="zh-CN" altLang="en-US"/>
          </a:p>
        </p:txBody>
      </p:sp>
      <p:graphicFrame>
        <p:nvGraphicFramePr>
          <p:cNvPr id="25603" name="Object -21474826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379102"/>
              </p:ext>
            </p:extLst>
          </p:nvPr>
        </p:nvGraphicFramePr>
        <p:xfrm>
          <a:off x="6655752" y="1696295"/>
          <a:ext cx="3909695" cy="4262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1" r:id="rId3" imgW="3255645" imgH="3547110" progId="Visio.Drawing.11">
                  <p:embed/>
                </p:oleObj>
              </mc:Choice>
              <mc:Fallback>
                <p:oleObj r:id="rId3" imgW="3255645" imgH="3547110" progId="Visio.Drawing.11">
                  <p:embed/>
                  <p:pic>
                    <p:nvPicPr>
                      <p:cNvPr id="25603" name="Object -21474826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55752" y="1696295"/>
                        <a:ext cx="3909695" cy="42627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882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6440" y="93419"/>
            <a:ext cx="8598952" cy="18869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分数</a:t>
            </a: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</a:t>
            </a:r>
            <a:r>
              <a:rPr lang="zh-CN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score&lt;60</a:t>
            </a:r>
            <a:r>
              <a:rPr lang="zh-CN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 ：</a:t>
            </a:r>
            <a:r>
              <a:rPr lang="zh-CN" altLang="en-US" sz="2700" u="sng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b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否则，输出： </a:t>
            </a:r>
            <a:r>
              <a:rPr lang="zh-CN" altLang="en-US" sz="2700" u="sng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合格</a:t>
            </a:r>
            <a:endParaRPr lang="zh-CN" altLang="en-US" u="sng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6142" y="1980330"/>
            <a:ext cx="4885509" cy="416966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ts val="3900"/>
              </a:lnSpc>
              <a:buNone/>
            </a:pPr>
            <a:r>
              <a:rPr lang="en-US" altLang="zh-CN" dirty="0"/>
              <a:t>score=</a:t>
            </a:r>
            <a:r>
              <a:rPr lang="en-US" altLang="zh-CN" dirty="0" err="1"/>
              <a:t>int</a:t>
            </a:r>
            <a:r>
              <a:rPr lang="en-US" altLang="zh-CN" dirty="0"/>
              <a:t>(input())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dirty="0"/>
              <a:t>if score</a:t>
            </a:r>
            <a:r>
              <a:rPr lang="en-US" altLang="zh-CN" b="1" dirty="0"/>
              <a:t>&lt;=</a:t>
            </a:r>
            <a:r>
              <a:rPr lang="en-US" altLang="zh-CN" dirty="0"/>
              <a:t>59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dirty="0"/>
              <a:t>      print('</a:t>
            </a:r>
            <a:r>
              <a:rPr lang="zh-CN" altLang="en-US" dirty="0"/>
              <a:t>不合格，请重修</a:t>
            </a:r>
            <a:r>
              <a:rPr lang="en-US" altLang="zh-CN" dirty="0"/>
              <a:t>')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else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      print('</a:t>
            </a:r>
            <a:r>
              <a:rPr lang="zh-CN" altLang="en-US" b="1" dirty="0">
                <a:solidFill>
                  <a:srgbClr val="7030A0"/>
                </a:solidFill>
              </a:rPr>
              <a:t>合格</a:t>
            </a:r>
            <a:r>
              <a:rPr lang="en-US" altLang="zh-CN" b="1" dirty="0">
                <a:solidFill>
                  <a:srgbClr val="7030A0"/>
                </a:solidFill>
              </a:rPr>
              <a:t>')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查询结束</a:t>
            </a:r>
            <a:r>
              <a:rPr lang="en-US" altLang="zh-CN" dirty="0"/>
              <a:t>')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9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63325" y="1868029"/>
            <a:ext cx="4777721" cy="35004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ts val="39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时，输出结果是（  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9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score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59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ts val="39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>
              <a:lnSpc>
                <a:spcPts val="39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ts val="39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print('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合格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>
              <a:lnSpc>
                <a:spcPts val="39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553200" y="1803736"/>
            <a:ext cx="26860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553200" y="2827300"/>
            <a:ext cx="26860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查询结束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553200" y="3877437"/>
            <a:ext cx="187778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查询结束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6553200" y="4856163"/>
            <a:ext cx="161108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838825" y="186802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838825" y="289159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838825" y="39417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838825" y="49204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2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6440" y="93419"/>
            <a:ext cx="8598952" cy="18869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分数</a:t>
            </a: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</a:t>
            </a:r>
            <a:r>
              <a:rPr lang="zh-CN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score&lt;60</a:t>
            </a:r>
            <a:r>
              <a:rPr lang="zh-CN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 ：</a:t>
            </a:r>
            <a:r>
              <a:rPr lang="zh-CN" altLang="en-US" sz="2700" u="sng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不合格，请重修</a:t>
            </a:r>
            <a:b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否则，输出： </a:t>
            </a:r>
            <a:r>
              <a:rPr lang="zh-CN" altLang="en-US" sz="2700" u="sng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合格</a:t>
            </a:r>
            <a:endParaRPr lang="zh-CN" altLang="en-US" u="sng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75676" y="1980330"/>
            <a:ext cx="4885509" cy="401813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ts val="3900"/>
              </a:lnSpc>
              <a:buNone/>
            </a:pPr>
            <a:r>
              <a:rPr lang="en-US" altLang="zh-CN" dirty="0"/>
              <a:t>score=</a:t>
            </a:r>
            <a:r>
              <a:rPr lang="en-US" altLang="zh-CN" dirty="0" err="1"/>
              <a:t>int</a:t>
            </a:r>
            <a:r>
              <a:rPr lang="en-US" altLang="zh-CN" dirty="0"/>
              <a:t>(input('</a:t>
            </a:r>
            <a:r>
              <a:rPr lang="zh-CN" altLang="en-US" dirty="0"/>
              <a:t>输入分数</a:t>
            </a:r>
            <a:r>
              <a:rPr lang="en-US" altLang="zh-CN" dirty="0"/>
              <a:t>'))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dirty="0"/>
              <a:t>if score</a:t>
            </a:r>
            <a:r>
              <a:rPr lang="en-US" altLang="zh-CN" b="1" dirty="0"/>
              <a:t>&lt;=</a:t>
            </a:r>
            <a:r>
              <a:rPr lang="en-US" altLang="zh-CN" dirty="0"/>
              <a:t>59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dirty="0"/>
              <a:t>    print('</a:t>
            </a:r>
            <a:r>
              <a:rPr lang="zh-CN" altLang="en-US" dirty="0"/>
              <a:t>不合格，请重修</a:t>
            </a:r>
            <a:r>
              <a:rPr lang="en-US" altLang="zh-CN" dirty="0"/>
              <a:t>')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else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    print('</a:t>
            </a:r>
            <a:r>
              <a:rPr lang="zh-CN" altLang="en-US" b="1" dirty="0">
                <a:solidFill>
                  <a:srgbClr val="7030A0"/>
                </a:solidFill>
              </a:rPr>
              <a:t>合格</a:t>
            </a:r>
            <a:r>
              <a:rPr lang="en-US" altLang="zh-CN" b="1" dirty="0">
                <a:solidFill>
                  <a:srgbClr val="7030A0"/>
                </a:solidFill>
              </a:rPr>
              <a:t>')</a:t>
            </a:r>
          </a:p>
          <a:p>
            <a:pPr marL="0" indent="0">
              <a:lnSpc>
                <a:spcPts val="3900"/>
              </a:lnSpc>
              <a:buNone/>
            </a:pPr>
            <a:r>
              <a:rPr lang="en-US" altLang="zh-CN" dirty="0"/>
              <a:t>    print('</a:t>
            </a:r>
            <a:r>
              <a:rPr lang="zh-CN" altLang="en-US" dirty="0"/>
              <a:t>查询结束</a:t>
            </a:r>
            <a:r>
              <a:rPr lang="en-US" altLang="zh-CN" dirty="0"/>
              <a:t>')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7361849" y="3989397"/>
            <a:ext cx="3098510" cy="1081605"/>
          </a:xfrm>
          <a:prstGeom prst="borderCallout1">
            <a:avLst>
              <a:gd name="adj1" fmla="val 18750"/>
              <a:gd name="adj2" fmla="val -8333"/>
              <a:gd name="adj3" fmla="val 108635"/>
              <a:gd name="adj4" fmla="val -112532"/>
            </a:avLst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缩进不同，结果不同</a:t>
            </a:r>
          </a:p>
        </p:txBody>
      </p:sp>
    </p:spTree>
    <p:extLst>
      <p:ext uri="{BB962C8B-B14F-4D97-AF65-F5344CB8AC3E}">
        <p14:creationId xmlns:p14="http://schemas.microsoft.com/office/powerpoint/2010/main" val="366039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鸡兔同笼问题：输入鸡兔总数和腿总数，输出鸡、兔的个数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jitu, tui = map(int, input('请输入鸡兔总数和腿总数：').split())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jitu, tui = input('请输入鸡兔总数和腿总数：').split()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jitu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int(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jitu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; tui =int(tui)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 = (tui - jitu*2) / 2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int(tu) == tu: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print('鸡：{0},兔：{1}'.format(int(jitu-tu), int(tu)))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print('数据不正确，无解')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39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2082</TotalTime>
  <Words>2322</Words>
  <Application>Microsoft Office PowerPoint</Application>
  <PresentationFormat>宽屏</PresentationFormat>
  <Paragraphs>392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黑体</vt:lpstr>
      <vt:lpstr>宋体</vt:lpstr>
      <vt:lpstr>微软雅黑</vt:lpstr>
      <vt:lpstr>微软雅黑</vt:lpstr>
      <vt:lpstr>Arial</vt:lpstr>
      <vt:lpstr>Calibri</vt:lpstr>
      <vt:lpstr>Calibri Light</vt:lpstr>
      <vt:lpstr>Wingdings</vt:lpstr>
      <vt:lpstr>1_Office 主题</vt:lpstr>
      <vt:lpstr>2_Office 主题</vt:lpstr>
      <vt:lpstr>3_Office 主题</vt:lpstr>
      <vt:lpstr>Visio.Drawing.11</vt:lpstr>
      <vt:lpstr>第3章  选择结构</vt:lpstr>
      <vt:lpstr>顺序结构                    选择结构</vt:lpstr>
      <vt:lpstr>布尔类型</vt:lpstr>
      <vt:lpstr>3.1.1 关系运算符 </vt:lpstr>
      <vt:lpstr>关系运算符</vt:lpstr>
      <vt:lpstr>关系运算符</vt:lpstr>
      <vt:lpstr>PowerPoint 演示文稿</vt:lpstr>
      <vt:lpstr>条件表达式</vt:lpstr>
      <vt:lpstr>3.1.2  逻辑运算</vt:lpstr>
      <vt:lpstr>2  逻辑表达式</vt:lpstr>
      <vt:lpstr>PowerPoint 演示文稿</vt:lpstr>
      <vt:lpstr>条件描述</vt:lpstr>
      <vt:lpstr>短路运算</vt:lpstr>
      <vt:lpstr>  逻辑短路</vt:lpstr>
      <vt:lpstr>3  逻辑运算的重要规则</vt:lpstr>
      <vt:lpstr>示例  输入年份，判断是否闰年？</vt:lpstr>
      <vt:lpstr>示例  输入年份，判断是否闰年？</vt:lpstr>
      <vt:lpstr>3.1.3  成员测试运算符in</vt:lpstr>
      <vt:lpstr>PowerPoint 演示文稿</vt:lpstr>
      <vt:lpstr>3.1.3  身份运算符is（同一性测试）</vt:lpstr>
      <vt:lpstr>例</vt:lpstr>
      <vt:lpstr>3.2 选择结构</vt:lpstr>
      <vt:lpstr>3.2.1  单分支选择结构</vt:lpstr>
      <vt:lpstr>PowerPoint 演示文稿</vt:lpstr>
      <vt:lpstr>PowerPoint 演示文稿</vt:lpstr>
      <vt:lpstr>PowerPoint 演示文稿</vt:lpstr>
      <vt:lpstr>案例1：交换2个变量的值</vt:lpstr>
      <vt:lpstr>输入分数score，当score&lt;60时，输出 ： 不合格，请重修。</vt:lpstr>
      <vt:lpstr>PowerPoint 演示文稿</vt:lpstr>
      <vt:lpstr>PowerPoint 演示文稿</vt:lpstr>
      <vt:lpstr>案例：输入3个数，求最大数</vt:lpstr>
      <vt:lpstr>PowerPoint 演示文稿</vt:lpstr>
      <vt:lpstr>程序分析</vt:lpstr>
      <vt:lpstr>4.2.2  双分支选择结构</vt:lpstr>
      <vt:lpstr>输入分数score，当score&lt;60时，输出 ：不合格，请重修 否则，输出： 合格</vt:lpstr>
      <vt:lpstr>PowerPoint 演示文稿</vt:lpstr>
      <vt:lpstr>输入分数score，当score&lt;60时，输出 ：不合格，请重修 否则，输出： 合格</vt:lpstr>
      <vt:lpstr>鸡兔同笼问题：输入鸡兔总数和腿总数，输出鸡、兔的个数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 程序控制结构</dc:title>
  <dc:creator>Dong</dc:creator>
  <cp:lastModifiedBy>cyj</cp:lastModifiedBy>
  <cp:revision>490</cp:revision>
  <dcterms:created xsi:type="dcterms:W3CDTF">2015-05-05T08:02:00Z</dcterms:created>
  <dcterms:modified xsi:type="dcterms:W3CDTF">2024-10-21T11:50:55Z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