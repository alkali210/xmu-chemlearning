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848" r:id="rId2"/>
    <p:sldId id="1773" r:id="rId3"/>
    <p:sldId id="1776" r:id="rId4"/>
    <p:sldId id="1832" r:id="rId5"/>
    <p:sldId id="1778" r:id="rId6"/>
    <p:sldId id="183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4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27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27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2700" dirty="0"/>
          </a:p>
        </p:txBody>
      </p:sp>
    </p:spTree>
    <p:extLst>
      <p:ext uri="{BB962C8B-B14F-4D97-AF65-F5344CB8AC3E}">
        <p14:creationId xmlns:p14="http://schemas.microsoft.com/office/powerpoint/2010/main" val="10192810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25789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168" indent="0">
              <a:buNone/>
              <a:defRPr sz="1013"/>
            </a:lvl2pPr>
            <a:lvl3pPr marL="514337" indent="0">
              <a:buNone/>
              <a:defRPr sz="900"/>
            </a:lvl3pPr>
            <a:lvl4pPr marL="771506" indent="0">
              <a:buNone/>
              <a:defRPr sz="788"/>
            </a:lvl4pPr>
            <a:lvl5pPr marL="1028675" indent="0">
              <a:buNone/>
              <a:defRPr sz="788"/>
            </a:lvl5pPr>
            <a:lvl6pPr marL="1285843" indent="0">
              <a:buNone/>
              <a:defRPr sz="788"/>
            </a:lvl6pPr>
            <a:lvl7pPr marL="1543012" indent="0">
              <a:buNone/>
              <a:defRPr sz="788"/>
            </a:lvl7pPr>
            <a:lvl8pPr marL="1800180" indent="0">
              <a:buNone/>
              <a:defRPr sz="788"/>
            </a:lvl8pPr>
            <a:lvl9pPr marL="2057348" indent="0">
              <a:buNone/>
              <a:defRPr sz="788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3509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30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5485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11353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28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68" indent="0">
              <a:buNone/>
              <a:defRPr sz="675"/>
            </a:lvl2pPr>
            <a:lvl3pPr marL="514337" indent="0">
              <a:buNone/>
              <a:defRPr sz="563"/>
            </a:lvl3pPr>
            <a:lvl4pPr marL="771506" indent="0">
              <a:buNone/>
              <a:defRPr sz="506"/>
            </a:lvl4pPr>
            <a:lvl5pPr marL="1028675" indent="0">
              <a:buNone/>
              <a:defRPr sz="506"/>
            </a:lvl5pPr>
            <a:lvl6pPr marL="1285843" indent="0">
              <a:buNone/>
              <a:defRPr sz="506"/>
            </a:lvl6pPr>
            <a:lvl7pPr marL="1543012" indent="0">
              <a:buNone/>
              <a:defRPr sz="506"/>
            </a:lvl7pPr>
            <a:lvl8pPr marL="1800180" indent="0">
              <a:buNone/>
              <a:defRPr sz="506"/>
            </a:lvl8pPr>
            <a:lvl9pPr marL="2057348" indent="0">
              <a:buNone/>
              <a:defRPr sz="50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3453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68" indent="0">
              <a:buNone/>
              <a:defRPr sz="1575"/>
            </a:lvl2pPr>
            <a:lvl3pPr marL="514337" indent="0">
              <a:buNone/>
              <a:defRPr sz="1350"/>
            </a:lvl3pPr>
            <a:lvl4pPr marL="771506" indent="0">
              <a:buNone/>
              <a:defRPr sz="1125"/>
            </a:lvl4pPr>
            <a:lvl5pPr marL="1028675" indent="0">
              <a:buNone/>
              <a:defRPr sz="1125"/>
            </a:lvl5pPr>
            <a:lvl6pPr marL="1285843" indent="0">
              <a:buNone/>
              <a:defRPr sz="1125"/>
            </a:lvl6pPr>
            <a:lvl7pPr marL="1543012" indent="0">
              <a:buNone/>
              <a:defRPr sz="1125"/>
            </a:lvl7pPr>
            <a:lvl8pPr marL="1800180" indent="0">
              <a:buNone/>
              <a:defRPr sz="1125"/>
            </a:lvl8pPr>
            <a:lvl9pPr marL="2057348" indent="0">
              <a:buNone/>
              <a:defRPr sz="112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68" indent="0">
              <a:buNone/>
              <a:defRPr sz="675"/>
            </a:lvl2pPr>
            <a:lvl3pPr marL="514337" indent="0">
              <a:buNone/>
              <a:defRPr sz="563"/>
            </a:lvl3pPr>
            <a:lvl4pPr marL="771506" indent="0">
              <a:buNone/>
              <a:defRPr sz="506"/>
            </a:lvl4pPr>
            <a:lvl5pPr marL="1028675" indent="0">
              <a:buNone/>
              <a:defRPr sz="506"/>
            </a:lvl5pPr>
            <a:lvl6pPr marL="1285843" indent="0">
              <a:buNone/>
              <a:defRPr sz="506"/>
            </a:lvl6pPr>
            <a:lvl7pPr marL="1543012" indent="0">
              <a:buNone/>
              <a:defRPr sz="506"/>
            </a:lvl7pPr>
            <a:lvl8pPr marL="1800180" indent="0">
              <a:buNone/>
              <a:defRPr sz="506"/>
            </a:lvl8pPr>
            <a:lvl9pPr marL="2057348" indent="0">
              <a:buNone/>
              <a:defRPr sz="50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09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5529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84785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 dirty="0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18410363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29838393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27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45177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68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2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8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3444905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pic>
        <p:nvPicPr>
          <p:cNvPr id="12548" name="Picture 260" descr="http://astroleaks.lamost.org/wp-content/uploads/2012/03/Logo_Python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34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5pPr>
      <a:lvl6pPr marL="257168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6pPr>
      <a:lvl7pPr marL="514337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7pPr>
      <a:lvl8pPr marL="771506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8pPr>
      <a:lvl9pPr marL="1028675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9pPr>
    </p:titleStyle>
    <p:bodyStyle>
      <a:lvl1pPr marL="192876" indent="-19287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417899" indent="-160731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642922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900091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157259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414428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6pPr>
      <a:lvl7pPr marL="1671596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7pPr>
      <a:lvl8pPr marL="1928765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8pPr>
      <a:lvl9pPr marL="2185934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480" y="1699260"/>
            <a:ext cx="9068753" cy="1790700"/>
          </a:xfrm>
        </p:spPr>
        <p:txBody>
          <a:bodyPr/>
          <a:lstStyle/>
          <a:p>
            <a:pPr fontAlgn="auto">
              <a:lnSpc>
                <a:spcPct val="120000"/>
              </a:lnSpc>
            </a:pPr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章  字符串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404220"/>
            <a:ext cx="6858000" cy="528507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solidFill>
                  <a:srgbClr val="FF0000"/>
                </a:solidFill>
              </a:rPr>
              <a:t>这章只学到</a:t>
            </a:r>
            <a:r>
              <a:rPr lang="en-US" altLang="zh-CN" sz="2100" dirty="0">
                <a:solidFill>
                  <a:srgbClr val="FF0000"/>
                </a:solidFill>
              </a:rPr>
              <a:t>5.3</a:t>
            </a:r>
            <a:r>
              <a:rPr lang="zh-CN" altLang="en-US" sz="2100" dirty="0">
                <a:solidFill>
                  <a:srgbClr val="FF0000"/>
                </a:solidFill>
              </a:rPr>
              <a:t>节，也只考到该节。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171450" fontAlgn="auto">
              <a:lnSpc>
                <a:spcPct val="150000"/>
              </a:lnSpc>
            </a:pPr>
            <a:r>
              <a:rPr lang="zh-CN" altLang="en-US" sz="2000" dirty="0"/>
              <a:t>在Python中，字符串属于</a:t>
            </a:r>
            <a:r>
              <a:rPr lang="zh-CN" altLang="en-US" sz="2000" dirty="0">
                <a:solidFill>
                  <a:srgbClr val="FF0000"/>
                </a:solidFill>
              </a:rPr>
              <a:t>不可变有序</a:t>
            </a:r>
            <a:r>
              <a:rPr lang="zh-CN" altLang="en-US" sz="2000" dirty="0"/>
              <a:t>序列</a:t>
            </a:r>
            <a:r>
              <a:rPr lang="en-US" altLang="zh-CN" sz="2000" dirty="0"/>
              <a:t>(</a:t>
            </a:r>
            <a:r>
              <a:rPr lang="zh-CN" altLang="en-US" sz="2000" dirty="0"/>
              <a:t>不可修改</a:t>
            </a:r>
            <a:r>
              <a:rPr lang="en-US" altLang="zh-CN" sz="2000" dirty="0"/>
              <a:t>)</a:t>
            </a:r>
            <a:r>
              <a:rPr lang="zh-CN" altLang="en-US" sz="2000" dirty="0"/>
              <a:t>，使用</a:t>
            </a:r>
            <a:r>
              <a:rPr lang="zh-CN" altLang="en-US" sz="2000" dirty="0">
                <a:solidFill>
                  <a:srgbClr val="7030A0"/>
                </a:solidFill>
              </a:rPr>
              <a:t>单引号、双引号、三引号</a:t>
            </a:r>
            <a:r>
              <a:rPr lang="en-US" altLang="zh-CN" sz="2000" dirty="0">
                <a:solidFill>
                  <a:srgbClr val="7030A0"/>
                </a:solidFill>
              </a:rPr>
              <a:t>(</a:t>
            </a:r>
            <a:r>
              <a:rPr lang="zh-CN" altLang="en-US" sz="2000" dirty="0">
                <a:solidFill>
                  <a:srgbClr val="7030A0"/>
                </a:solidFill>
              </a:rPr>
              <a:t>单引号和双引号</a:t>
            </a:r>
            <a:r>
              <a:rPr lang="en-US" altLang="zh-CN" sz="2000" dirty="0">
                <a:solidFill>
                  <a:srgbClr val="7030A0"/>
                </a:solidFill>
              </a:rPr>
              <a:t>)</a:t>
            </a:r>
            <a:r>
              <a:rPr lang="zh-CN" altLang="en-US" sz="2000" dirty="0"/>
              <a:t>作为</a:t>
            </a:r>
            <a:r>
              <a:rPr lang="zh-CN" altLang="en-US" sz="2000" dirty="0">
                <a:solidFill>
                  <a:srgbClr val="C00000"/>
                </a:solidFill>
              </a:rPr>
              <a:t>定界符</a:t>
            </a:r>
            <a:r>
              <a:rPr lang="zh-CN" altLang="en-US" sz="2000" dirty="0"/>
              <a:t>，并且不同的</a:t>
            </a:r>
            <a:r>
              <a:rPr lang="zh-CN" altLang="en-US" sz="2000" dirty="0">
                <a:solidFill>
                  <a:srgbClr val="FF0000"/>
                </a:solidFill>
              </a:rPr>
              <a:t>定界符之间可以互相嵌套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21426" indent="0" fontAlgn="auto">
              <a:lnSpc>
                <a:spcPct val="150000"/>
              </a:lnSpc>
              <a:buNone/>
            </a:pPr>
            <a:endParaRPr lang="zh-CN" altLang="en-US" sz="2000" dirty="0"/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1800" dirty="0">
                <a:latin typeface="Consolas" panose="020B0609020204030204" charset="0"/>
              </a:rPr>
              <a:t>&gt;&gt;&gt; </a:t>
            </a:r>
            <a:r>
              <a:rPr lang="zh-CN" altLang="en-US" sz="1800" dirty="0">
                <a:latin typeface="Consolas" panose="020B0609020204030204" charset="0"/>
              </a:rPr>
              <a:t>'abc'、'123'、'中国'  </a:t>
            </a:r>
            <a:endParaRPr lang="en-US" altLang="zh-CN" sz="1800" dirty="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1800" dirty="0">
                <a:latin typeface="Consolas" panose="020B0609020204030204" charset="0"/>
              </a:rPr>
              <a:t>&gt;&gt;&gt; </a:t>
            </a:r>
            <a:r>
              <a:rPr lang="zh-CN" altLang="en-US" sz="1800" dirty="0">
                <a:latin typeface="Consolas" panose="020B0609020204030204" charset="0"/>
              </a:rPr>
              <a:t>"Python"  </a:t>
            </a:r>
            <a:endParaRPr lang="en-US" altLang="zh-CN" sz="1800" dirty="0">
              <a:latin typeface="Consolas" panose="020B0609020204030204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1800" dirty="0">
                <a:latin typeface="Consolas" panose="020B0609020204030204" charset="0"/>
              </a:rPr>
              <a:t>&gt;&gt;&gt; </a:t>
            </a:r>
            <a:r>
              <a:rPr lang="zh-CN" altLang="en-US" sz="1800" dirty="0">
                <a:latin typeface="Consolas" panose="020B0609020204030204" charset="0"/>
              </a:rPr>
              <a:t>'''Tom said,"Let's go"'''</a:t>
            </a:r>
            <a:endParaRPr lang="en-US" altLang="zh-CN" sz="1800" dirty="0">
              <a:latin typeface="Consolas" panose="020B0609020204030204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1800" dirty="0">
                <a:latin typeface="Consolas" panose="020B0609020204030204" charset="0"/>
              </a:rPr>
              <a:t>&gt;&gt;&gt; '''ab                  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1800" dirty="0">
                <a:latin typeface="Consolas" panose="020B0609020204030204" charset="0"/>
              </a:rPr>
              <a:t>   cd'''   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</a:p>
        </p:txBody>
      </p:sp>
      <p:sp>
        <p:nvSpPr>
          <p:cNvPr id="4" name="圆角矩形标注 3"/>
          <p:cNvSpPr/>
          <p:nvPr/>
        </p:nvSpPr>
        <p:spPr>
          <a:xfrm>
            <a:off x="3933645" y="2159327"/>
            <a:ext cx="3717985" cy="408623"/>
          </a:xfrm>
          <a:prstGeom prst="wedgeRoundRectCallout">
            <a:avLst>
              <a:gd name="adj1" fmla="val -56985"/>
              <a:gd name="adj2" fmla="val -80833"/>
              <a:gd name="adj3" fmla="val 16667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用来标记字符串起始和结束的符号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612305" y="3055321"/>
            <a:ext cx="460004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单引号定义字符串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612305" y="3606079"/>
            <a:ext cx="460004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双引号定义字符串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994030" y="4138087"/>
            <a:ext cx="4600041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三引号定义字符串，里面的两个双引号为字符串内容的一部分而不是定界符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683569" y="5435532"/>
            <a:ext cx="4600041" cy="102155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等价于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'ab\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ncd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'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只有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三引号字符串允许写成多行的形式，换行符和其他空白字符都是字符串中的内容。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01" y="1083733"/>
            <a:ext cx="8984609" cy="5476458"/>
          </a:xfrm>
        </p:spPr>
        <p:txBody>
          <a:bodyPr/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编码</a:t>
            </a:r>
            <a:endParaRPr lang="en-US" altLang="zh-CN" sz="2000" dirty="0">
              <a:latin typeface="宋体" panose="02010600030101010101" pitchFamily="2" charset="-122"/>
              <a:sym typeface="+mn-ea"/>
            </a:endParaRPr>
          </a:p>
          <a:p>
            <a:pPr lvl="1" fontAlgn="auto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在计算机内部，所有的字符都是以某种编码的方式进行存储和处理的，即将字符转换为数字（编码）存储在计算机内，需要输出时再将其转换为人类所认识的字符。</a:t>
            </a:r>
            <a:endParaRPr lang="en-US" altLang="zh-CN" sz="2000" dirty="0">
              <a:latin typeface="宋体" panose="02010600030101010101" pitchFamily="2" charset="-122"/>
              <a:sym typeface="+mn-ea"/>
            </a:endParaRPr>
          </a:p>
          <a:p>
            <a:pPr lvl="1" fontAlgn="auto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最早的字符串编码是美国标准信息交换码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ASCII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，仅对10个数字、26个大写英文字母、26个小写英文字母及一些其他符号进行了编码。ASCII码采用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1个字节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来对字符进行编码，最多只能表示256个符号。 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‘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’的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ASCII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码是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65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。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lvl="1" fontAlgn="auto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GB2312是我国制定的中文编码，使用1个字节表示英文字符，2个字节表示中文字符；GBK是GB2312的扩充，而CP936是微软在GBK基础上开发的编码方式。GB2312、GBK和CP936都是使用2个字节表示中文。</a:t>
            </a:r>
            <a:endParaRPr lang="en-US" altLang="en-US" sz="2000" dirty="0">
              <a:latin typeface="宋体" panose="02010600030101010101" pitchFamily="2" charset="-122"/>
            </a:endParaRPr>
          </a:p>
          <a:p>
            <a:pPr lvl="1" fontAlgn="auto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字符编码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21DC77-701F-468B-B4F3-82D7305F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0"/>
            <a:ext cx="8460432" cy="1002993"/>
          </a:xfrm>
        </p:spPr>
        <p:txBody>
          <a:bodyPr/>
          <a:lstStyle/>
          <a:p>
            <a:r>
              <a:rPr lang="en-US" altLang="zh-CN" dirty="0"/>
              <a:t>ASCII</a:t>
            </a:r>
            <a:r>
              <a:rPr lang="zh-CN" altLang="en-US" dirty="0"/>
              <a:t>码表 </a:t>
            </a:r>
            <a:br>
              <a:rPr lang="en-US" altLang="zh-CN" dirty="0"/>
            </a:br>
            <a:r>
              <a:rPr lang="en-US" altLang="zh-CN" dirty="0"/>
              <a:t>American Standard Code for Information Interchange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FF751F-565A-4BE3-88A2-96FCAFC1F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23" y="1002993"/>
            <a:ext cx="863917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8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sym typeface="+mn-ea"/>
              </a:rPr>
              <a:t>Unicode</a:t>
            </a:r>
            <a:r>
              <a:rPr lang="zh-CN" altLang="en-US" dirty="0">
                <a:sym typeface="+mn-ea"/>
              </a:rPr>
              <a:t>编码标准为表达全世界所有语言的任意字符而设计</a:t>
            </a:r>
            <a:endParaRPr lang="en-US" altLang="zh-CN" dirty="0">
              <a:sym typeface="+mn-ea"/>
            </a:endParaRPr>
          </a:p>
          <a:p>
            <a:pPr lvl="1" fontAlgn="auto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每个字符对应一个数字编码（码点，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code point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），每个数字编码对应一个字符，即不存在二义性。</a:t>
            </a:r>
            <a:endParaRPr lang="en-US" altLang="zh-CN" sz="2000" dirty="0">
              <a:latin typeface="宋体" panose="02010600030101010101" pitchFamily="2" charset="-122"/>
              <a:sym typeface="+mn-ea"/>
            </a:endParaRPr>
          </a:p>
          <a:p>
            <a:pPr lvl="1" fontAlgn="auto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被几种语言共用的字符通常使用相同的数字来编码。</a:t>
            </a:r>
            <a:endParaRPr lang="en-US" altLang="zh-CN" sz="2000" dirty="0">
              <a:latin typeface="宋体" panose="02010600030101010101" pitchFamily="2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dirty="0"/>
              <a:t>UTF-8</a:t>
            </a:r>
            <a:r>
              <a:rPr lang="zh-CN" altLang="zh-CN" dirty="0"/>
              <a:t>是一种</a:t>
            </a:r>
            <a:r>
              <a:rPr lang="zh-CN" altLang="en-US" dirty="0"/>
              <a:t>基于</a:t>
            </a:r>
            <a:r>
              <a:rPr lang="en-US" altLang="zh-CN" dirty="0"/>
              <a:t>Unicode</a:t>
            </a:r>
            <a:r>
              <a:rPr lang="zh-CN" altLang="en-US" dirty="0"/>
              <a:t>编码</a:t>
            </a:r>
            <a:r>
              <a:rPr lang="zh-CN" altLang="zh-CN" dirty="0"/>
              <a:t>设计的变长编码系统</a:t>
            </a:r>
            <a:endParaRPr lang="en-US" altLang="zh-CN" dirty="0"/>
          </a:p>
          <a:p>
            <a:pPr lvl="1" fontAlgn="auto">
              <a:lnSpc>
                <a:spcPct val="150000"/>
              </a:lnSpc>
            </a:pPr>
            <a:r>
              <a:rPr lang="zh-CN" altLang="en-US" sz="2000" dirty="0"/>
              <a:t>全称为：</a:t>
            </a:r>
            <a:r>
              <a:rPr lang="en-US" altLang="zh-CN" sz="2000" dirty="0"/>
              <a:t>8-bit Unicode Transformation Format</a:t>
            </a:r>
            <a:r>
              <a:rPr lang="zh-CN" altLang="en-US" sz="2000" dirty="0"/>
              <a:t>，是一种存储</a:t>
            </a:r>
            <a:r>
              <a:rPr lang="en-US" altLang="zh-CN" sz="2000" dirty="0"/>
              <a:t>Unicode</a:t>
            </a:r>
            <a:r>
              <a:rPr lang="zh-CN" altLang="en-US" sz="2000" dirty="0"/>
              <a:t>编码的格式</a:t>
            </a:r>
            <a:endParaRPr lang="en-US" altLang="zh-CN" sz="2000" dirty="0"/>
          </a:p>
          <a:p>
            <a:pPr lvl="1" fontAlgn="auto">
              <a:lnSpc>
                <a:spcPct val="150000"/>
              </a:lnSpc>
            </a:pPr>
            <a:r>
              <a:rPr lang="zh-CN" altLang="en-US" sz="2000" dirty="0"/>
              <a:t>为了高效的存储和传输，</a:t>
            </a:r>
            <a:r>
              <a:rPr lang="zh-CN" altLang="zh-CN" sz="2000" dirty="0"/>
              <a:t>不同的</a:t>
            </a:r>
            <a:r>
              <a:rPr lang="en-US" altLang="zh-CN" sz="2000" dirty="0"/>
              <a:t>Unicode</a:t>
            </a:r>
            <a:r>
              <a:rPr lang="zh-CN" altLang="zh-CN" sz="2000" dirty="0"/>
              <a:t>字符可使用不同数量</a:t>
            </a:r>
            <a:r>
              <a:rPr lang="zh-CN" altLang="en-US" sz="2000" dirty="0"/>
              <a:t>（</a:t>
            </a:r>
            <a:r>
              <a:rPr lang="en-US" altLang="zh-CN" sz="2000" dirty="0"/>
              <a:t>1-4</a:t>
            </a:r>
            <a:r>
              <a:rPr lang="zh-CN" altLang="en-US" sz="2000" dirty="0"/>
              <a:t>个）</a:t>
            </a:r>
            <a:r>
              <a:rPr lang="zh-CN" altLang="zh-CN" sz="2000" dirty="0"/>
              <a:t>的字节编码。对于</a:t>
            </a:r>
            <a:r>
              <a:rPr lang="en-US" altLang="zh-CN" sz="2000" dirty="0"/>
              <a:t>ASCII</a:t>
            </a:r>
            <a:r>
              <a:rPr lang="zh-CN" altLang="zh-CN" sz="2000" dirty="0"/>
              <a:t>字符，</a:t>
            </a:r>
            <a:r>
              <a:rPr lang="en-US" altLang="zh-CN" sz="2000" dirty="0"/>
              <a:t>UTF-8</a:t>
            </a:r>
            <a:r>
              <a:rPr lang="zh-CN" altLang="zh-CN" sz="2000" dirty="0"/>
              <a:t>仅使用</a:t>
            </a:r>
            <a:r>
              <a:rPr lang="en-US" altLang="zh-CN" sz="2000" dirty="0"/>
              <a:t>1</a:t>
            </a:r>
            <a:r>
              <a:rPr lang="zh-CN" altLang="zh-CN" sz="2000" dirty="0"/>
              <a:t>个字节来编码</a:t>
            </a:r>
            <a:r>
              <a:rPr lang="zh-CN" altLang="en-US" sz="2000" dirty="0"/>
              <a:t>，其他语言则可能采取</a:t>
            </a:r>
            <a:r>
              <a:rPr lang="en-US" altLang="zh-CN" sz="2000" dirty="0"/>
              <a:t>2-4</a:t>
            </a:r>
            <a:r>
              <a:rPr lang="zh-CN" altLang="en-US" sz="2000" dirty="0"/>
              <a:t>个字节编码。</a:t>
            </a:r>
            <a:endParaRPr lang="en-US" altLang="zh-CN" dirty="0">
              <a:latin typeface="宋体" panose="02010600030101010101" pitchFamily="2" charset="-122"/>
              <a:sym typeface="+mn-ea"/>
            </a:endParaRPr>
          </a:p>
          <a:p>
            <a:pPr lvl="1" fontAlgn="auto"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27686"/>
            <a:ext cx="1975741" cy="6096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字符编码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90AB8E-56F6-41EE-9B4A-30BC6E43EDE8}"/>
              </a:ext>
            </a:extLst>
          </p:cNvPr>
          <p:cNvSpPr txBox="1"/>
          <p:nvPr/>
        </p:nvSpPr>
        <p:spPr>
          <a:xfrm>
            <a:off x="4676863" y="174936"/>
            <a:ext cx="17574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&gt;&gt;&gt;</a:t>
            </a:r>
            <a:r>
              <a:rPr lang="zh-CN" altLang="en-US" dirty="0"/>
              <a:t>ord('中')</a:t>
            </a:r>
          </a:p>
          <a:p>
            <a:r>
              <a:rPr lang="zh-CN" altLang="en-US" dirty="0"/>
              <a:t>20013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041C6E-3492-4720-A3F7-B1DD86DC24FB}"/>
              </a:ext>
            </a:extLst>
          </p:cNvPr>
          <p:cNvSpPr txBox="1"/>
          <p:nvPr/>
        </p:nvSpPr>
        <p:spPr>
          <a:xfrm>
            <a:off x="2493628" y="174936"/>
            <a:ext cx="17574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&gt;&gt;&gt;</a:t>
            </a:r>
            <a:r>
              <a:rPr lang="zh-CN" altLang="en-US" dirty="0"/>
              <a:t>ord(‘</a:t>
            </a:r>
            <a:r>
              <a:rPr lang="en-US" altLang="zh-CN" dirty="0"/>
              <a:t>A</a:t>
            </a:r>
            <a:r>
              <a:rPr lang="zh-CN" altLang="en-US" dirty="0"/>
              <a:t>’)</a:t>
            </a:r>
          </a:p>
          <a:p>
            <a:r>
              <a:rPr lang="en-US" altLang="zh-CN" dirty="0"/>
              <a:t>65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F290302-8988-457D-9F79-34371A6A28B7}"/>
              </a:ext>
            </a:extLst>
          </p:cNvPr>
          <p:cNvCxnSpPr/>
          <p:nvPr/>
        </p:nvCxnSpPr>
        <p:spPr bwMode="auto">
          <a:xfrm flipH="1" flipV="1">
            <a:off x="5555610" y="663964"/>
            <a:ext cx="316305" cy="2516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262E3E4-B2C2-4505-BEB9-5686BA9ADF3F}"/>
              </a:ext>
            </a:extLst>
          </p:cNvPr>
          <p:cNvSpPr txBox="1"/>
          <p:nvPr/>
        </p:nvSpPr>
        <p:spPr>
          <a:xfrm>
            <a:off x="5804802" y="8083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码点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26C9BD5-B91A-48E2-8F2E-D3A758BC1349}"/>
              </a:ext>
            </a:extLst>
          </p:cNvPr>
          <p:cNvCxnSpPr/>
          <p:nvPr/>
        </p:nvCxnSpPr>
        <p:spPr bwMode="auto">
          <a:xfrm flipH="1" flipV="1">
            <a:off x="2912510" y="681410"/>
            <a:ext cx="368540" cy="2342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2B04E6C-A7A2-47E8-B36D-4C380961EA2A}"/>
              </a:ext>
            </a:extLst>
          </p:cNvPr>
          <p:cNvSpPr txBox="1"/>
          <p:nvPr/>
        </p:nvSpPr>
        <p:spPr>
          <a:xfrm>
            <a:off x="3231387" y="8047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码点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C64954-4347-4614-84FE-C87C56860AED}"/>
              </a:ext>
            </a:extLst>
          </p:cNvPr>
          <p:cNvSpPr txBox="1"/>
          <p:nvPr/>
        </p:nvSpPr>
        <p:spPr>
          <a:xfrm>
            <a:off x="6912907" y="143467"/>
            <a:ext cx="2096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&gt;&gt;&gt;</a:t>
            </a:r>
            <a:r>
              <a:rPr lang="en-US" altLang="zh-CN" dirty="0" err="1"/>
              <a:t>chr</a:t>
            </a:r>
            <a:r>
              <a:rPr lang="zh-CN" altLang="en-US" dirty="0"/>
              <a:t>(20013)</a:t>
            </a:r>
            <a:endParaRPr lang="en-US" altLang="zh-CN" dirty="0"/>
          </a:p>
          <a:p>
            <a:r>
              <a:rPr lang="zh-CN" altLang="en-US" dirty="0"/>
              <a:t>中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B1A81F-57F3-47EC-984C-2E1930EA2866}"/>
              </a:ext>
            </a:extLst>
          </p:cNvPr>
          <p:cNvSpPr txBox="1"/>
          <p:nvPr/>
        </p:nvSpPr>
        <p:spPr>
          <a:xfrm>
            <a:off x="4533900" y="2167484"/>
            <a:ext cx="4289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ord</a:t>
            </a:r>
            <a:r>
              <a:rPr lang="en-US" altLang="zh-CN" dirty="0">
                <a:solidFill>
                  <a:srgbClr val="FF0000"/>
                </a:solidFill>
              </a:rPr>
              <a:t> order</a:t>
            </a:r>
            <a:r>
              <a:rPr lang="zh-CN" altLang="en-US" dirty="0">
                <a:solidFill>
                  <a:srgbClr val="FF0000"/>
                </a:solidFill>
              </a:rPr>
              <a:t>次序      </a:t>
            </a:r>
            <a:r>
              <a:rPr lang="en-US" altLang="zh-CN" dirty="0" err="1">
                <a:solidFill>
                  <a:srgbClr val="FF0000"/>
                </a:solidFill>
              </a:rPr>
              <a:t>chr</a:t>
            </a:r>
            <a:r>
              <a:rPr lang="en-US" altLang="zh-CN" dirty="0">
                <a:solidFill>
                  <a:srgbClr val="FF0000"/>
                </a:solidFill>
              </a:rPr>
              <a:t> character </a:t>
            </a:r>
            <a:r>
              <a:rPr lang="zh-CN" altLang="en-US" dirty="0">
                <a:solidFill>
                  <a:srgbClr val="FF0000"/>
                </a:solidFill>
              </a:rPr>
              <a:t>字符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3B787FB-DCEF-4D5F-A02B-471888CDAD91}"/>
              </a:ext>
            </a:extLst>
          </p:cNvPr>
          <p:cNvSpPr txBox="1"/>
          <p:nvPr/>
        </p:nvSpPr>
        <p:spPr>
          <a:xfrm>
            <a:off x="5177783" y="6049676"/>
            <a:ext cx="37732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&gt;&gt;&gt;</a:t>
            </a:r>
            <a:r>
              <a:rPr lang="zh-CN" altLang="en-US" sz="2000" dirty="0">
                <a:solidFill>
                  <a:srgbClr val="FF0000"/>
                </a:solidFill>
              </a:rPr>
              <a:t>'中'.encode('utf-8')      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b‘\xe4\xb8\xad‘     </a:t>
            </a:r>
            <a:r>
              <a:rPr lang="zh-CN" altLang="en-US" sz="2000" dirty="0">
                <a:solidFill>
                  <a:srgbClr val="002060"/>
                </a:solidFill>
              </a:rPr>
              <a:t>三个字节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F6C835-F779-4837-A501-2AA3C322D39B}"/>
              </a:ext>
            </a:extLst>
          </p:cNvPr>
          <p:cNvSpPr txBox="1"/>
          <p:nvPr/>
        </p:nvSpPr>
        <p:spPr>
          <a:xfrm>
            <a:off x="565047" y="6037947"/>
            <a:ext cx="34702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&gt;&gt;&gt;'</a:t>
            </a:r>
            <a:r>
              <a:rPr lang="en-US" altLang="zh-CN" sz="2000" dirty="0" err="1">
                <a:solidFill>
                  <a:srgbClr val="FF0000"/>
                </a:solidFill>
              </a:rPr>
              <a:t>A'.encode</a:t>
            </a:r>
            <a:r>
              <a:rPr lang="en-US" altLang="zh-CN" sz="2000" dirty="0">
                <a:solidFill>
                  <a:srgbClr val="FF0000"/>
                </a:solidFill>
              </a:rPr>
              <a:t>('utf-8') </a:t>
            </a:r>
          </a:p>
          <a:p>
            <a:r>
              <a:rPr lang="en-US" altLang="zh-CN" sz="2000" dirty="0" err="1">
                <a:solidFill>
                  <a:srgbClr val="FF0000"/>
                </a:solidFill>
              </a:rPr>
              <a:t>b’A</a:t>
            </a:r>
            <a:r>
              <a:rPr lang="en-US" altLang="zh-CN" sz="2000" dirty="0">
                <a:solidFill>
                  <a:srgbClr val="FF0000"/>
                </a:solidFill>
              </a:rPr>
              <a:t>’       </a:t>
            </a:r>
            <a:r>
              <a:rPr lang="zh-CN" altLang="en-US" sz="2000" dirty="0">
                <a:solidFill>
                  <a:srgbClr val="002060"/>
                </a:solidFill>
              </a:rPr>
              <a:t>一个字节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30206" y="3192219"/>
            <a:ext cx="3660034" cy="30682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s = '中国山东烟台'</a:t>
            </a:r>
            <a:endParaRPr lang="zh-CN" altLang="en-US" dirty="0">
              <a:latin typeface="Consolas" panose="020B0609020204030204" charset="0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len(s) </a:t>
            </a:r>
            <a:endParaRPr lang="en-US" altLang="zh-CN" dirty="0">
              <a:latin typeface="Consolas" panose="020B0609020204030204" charset="0"/>
              <a:sym typeface="+mn-ea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6</a:t>
            </a:r>
            <a:endParaRPr lang="zh-CN" altLang="en-US" b="1" dirty="0">
              <a:solidFill>
                <a:srgbClr val="C00000"/>
              </a:solidFill>
              <a:latin typeface="Consolas" panose="020B0609020204030204" charset="0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s = '中国山东烟台ABCDE'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len(s)</a:t>
            </a:r>
            <a:endParaRPr lang="zh-CN" altLang="en-US" dirty="0">
              <a:latin typeface="Consolas" panose="020B0609020204030204" charset="0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11</a:t>
            </a:r>
            <a:endParaRPr lang="zh-CN" altLang="en-US" b="1" dirty="0">
              <a:solidFill>
                <a:srgbClr val="C00000"/>
              </a:solidFill>
              <a:latin typeface="Consolas" panose="020B0609020204030204" charset="0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姓名 = '张三'             </a:t>
            </a:r>
            <a:endParaRPr lang="en-US" altLang="zh-CN" dirty="0">
              <a:latin typeface="Consolas" panose="020B0609020204030204" charset="0"/>
              <a:sym typeface="+mn-ea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print(姓名) </a:t>
            </a:r>
            <a:endParaRPr lang="en-US" altLang="zh-CN" dirty="0">
              <a:latin typeface="Consolas" panose="020B0609020204030204" charset="0"/>
              <a:sym typeface="+mn-ea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张三</a:t>
            </a:r>
            <a:endParaRPr lang="zh-CN" altLang="en-US" b="1" dirty="0">
              <a:solidFill>
                <a:srgbClr val="C00000"/>
              </a:solidFill>
              <a:latin typeface="Consolas" panose="020B060902020403020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2"/>
            <a:ext cx="8458200" cy="1978249"/>
          </a:xfrm>
        </p:spPr>
        <p:txBody>
          <a:bodyPr/>
          <a:lstStyle/>
          <a:p>
            <a:r>
              <a:rPr lang="zh-CN" altLang="en-US" sz="2000" dirty="0">
                <a:sym typeface="+mn-ea"/>
              </a:rPr>
              <a:t>在内存里，</a:t>
            </a:r>
            <a:r>
              <a:rPr lang="en-US" altLang="zh-CN" sz="2000" dirty="0">
                <a:sym typeface="+mn-ea"/>
              </a:rPr>
              <a:t>Python</a:t>
            </a:r>
            <a:r>
              <a:rPr lang="zh-CN" altLang="en-US" sz="2000" dirty="0">
                <a:sym typeface="+mn-ea"/>
              </a:rPr>
              <a:t>字符串中无论是一个数字、英文字母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，还是一个汉字，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在统计字符串长度时都按一个字符对待和处理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。</a:t>
            </a:r>
            <a:endParaRPr lang="en-US" altLang="zh-CN" sz="2000" dirty="0">
              <a:latin typeface="宋体" panose="02010600030101010101" pitchFamily="2" charset="-122"/>
              <a:sym typeface="+mn-ea"/>
            </a:endParaRPr>
          </a:p>
          <a:p>
            <a:r>
              <a:rPr lang="en-US" altLang="zh-CN" dirty="0"/>
              <a:t>Python</a:t>
            </a:r>
            <a:r>
              <a:rPr lang="zh-CN" altLang="en-US" dirty="0"/>
              <a:t>中，</a:t>
            </a:r>
            <a:r>
              <a:rPr lang="zh-CN" altLang="zh-CN" dirty="0"/>
              <a:t>中文字符、希腊字母均可以作为</a:t>
            </a:r>
            <a:r>
              <a:rPr lang="zh-CN" altLang="zh-CN" dirty="0">
                <a:solidFill>
                  <a:srgbClr val="FF0000"/>
                </a:solidFill>
              </a:rPr>
              <a:t>标识符</a:t>
            </a:r>
            <a:r>
              <a:rPr lang="zh-CN" altLang="zh-CN" dirty="0"/>
              <a:t>使用。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zh-CN" dirty="0"/>
              <a:t>支持</a:t>
            </a:r>
            <a:r>
              <a:rPr lang="en-US" altLang="zh-CN" dirty="0"/>
              <a:t>UTF-8</a:t>
            </a:r>
            <a:r>
              <a:rPr lang="zh-CN" altLang="zh-CN" dirty="0"/>
              <a:t>编码</a:t>
            </a:r>
            <a:endParaRPr lang="en-US" altLang="zh-CN" dirty="0"/>
          </a:p>
          <a:p>
            <a:endParaRPr lang="zh-CN" altLang="en-US" sz="2000" dirty="0">
              <a:latin typeface="宋体" panose="02010600030101010101" pitchFamily="2" charset="-122"/>
            </a:endParaRPr>
          </a:p>
          <a:p>
            <a:endParaRPr lang="zh-CN" altLang="en-US" sz="1800" kern="1200" dirty="0">
              <a:solidFill>
                <a:srgbClr val="C00000"/>
              </a:solidFill>
              <a:latin typeface="Consolas" panose="020B0609020204030204" charset="0"/>
              <a:ea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239159" y="4961217"/>
            <a:ext cx="4600041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使用中文作为变量名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,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其中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姓名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是变量的名字（标识符），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张三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是字符串的值（常量）</a:t>
            </a:r>
            <a:endParaRPr lang="zh-CN" altLang="en-US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239159" y="4203603"/>
            <a:ext cx="460004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中文与英文字符同样对待，都算一个字符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239159" y="3252463"/>
            <a:ext cx="460004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用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len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函数求字符串长度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11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3C6201D-EA81-4E33-86C4-0475CC4FBC2F}" vid="{03E07CE5-EE3A-4FD9-BFAD-6815F15428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2189</TotalTime>
  <Words>660</Words>
  <Application>Microsoft Office PowerPoint</Application>
  <PresentationFormat>全屏显示(4:3)</PresentationFormat>
  <Paragraphs>56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宋体</vt:lpstr>
      <vt:lpstr>微软雅黑</vt:lpstr>
      <vt:lpstr>Calibri</vt:lpstr>
      <vt:lpstr>Consolas</vt:lpstr>
      <vt:lpstr>Courier New</vt:lpstr>
      <vt:lpstr>Verdana</vt:lpstr>
      <vt:lpstr>Wingdings</vt:lpstr>
      <vt:lpstr>主题1</vt:lpstr>
      <vt:lpstr>第5章  字符串</vt:lpstr>
      <vt:lpstr>字符串</vt:lpstr>
      <vt:lpstr>字符编码</vt:lpstr>
      <vt:lpstr>ASCII码表  American Standard Code for Information Interchange</vt:lpstr>
      <vt:lpstr>字符编码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 字符串</dc:title>
  <dc:creator>Dong</dc:creator>
  <cp:lastModifiedBy>cyj</cp:lastModifiedBy>
  <cp:revision>576</cp:revision>
  <dcterms:created xsi:type="dcterms:W3CDTF">2015-05-05T08:02:00Z</dcterms:created>
  <dcterms:modified xsi:type="dcterms:W3CDTF">2024-10-30T02:14:02Z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