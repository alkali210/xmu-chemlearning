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848" r:id="rId2"/>
    <p:sldId id="1842" r:id="rId3"/>
    <p:sldId id="1843" r:id="rId4"/>
    <p:sldId id="1844" r:id="rId5"/>
    <p:sldId id="1845" r:id="rId6"/>
    <p:sldId id="1847" r:id="rId7"/>
    <p:sldId id="1860" r:id="rId8"/>
    <p:sldId id="1848" r:id="rId9"/>
    <p:sldId id="1849" r:id="rId10"/>
    <p:sldId id="1850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4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27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2700" dirty="0"/>
          </a:p>
        </p:txBody>
      </p:sp>
    </p:spTree>
    <p:extLst>
      <p:ext uri="{BB962C8B-B14F-4D97-AF65-F5344CB8AC3E}">
        <p14:creationId xmlns:p14="http://schemas.microsoft.com/office/powerpoint/2010/main" val="10192810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5789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68" indent="0">
              <a:buNone/>
              <a:defRPr sz="1013"/>
            </a:lvl2pPr>
            <a:lvl3pPr marL="514337" indent="0">
              <a:buNone/>
              <a:defRPr sz="900"/>
            </a:lvl3pPr>
            <a:lvl4pPr marL="771506" indent="0">
              <a:buNone/>
              <a:defRPr sz="788"/>
            </a:lvl4pPr>
            <a:lvl5pPr marL="1028675" indent="0">
              <a:buNone/>
              <a:defRPr sz="788"/>
            </a:lvl5pPr>
            <a:lvl6pPr marL="1285843" indent="0">
              <a:buNone/>
              <a:defRPr sz="788"/>
            </a:lvl6pPr>
            <a:lvl7pPr marL="1543012" indent="0">
              <a:buNone/>
              <a:defRPr sz="788"/>
            </a:lvl7pPr>
            <a:lvl8pPr marL="1800180" indent="0">
              <a:buNone/>
              <a:defRPr sz="788"/>
            </a:lvl8pPr>
            <a:lvl9pPr marL="2057348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3509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5485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1135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28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3453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68" indent="0">
              <a:buNone/>
              <a:defRPr sz="1575"/>
            </a:lvl2pPr>
            <a:lvl3pPr marL="514337" indent="0">
              <a:buNone/>
              <a:defRPr sz="1350"/>
            </a:lvl3pPr>
            <a:lvl4pPr marL="771506" indent="0">
              <a:buNone/>
              <a:defRPr sz="1125"/>
            </a:lvl4pPr>
            <a:lvl5pPr marL="1028675" indent="0">
              <a:buNone/>
              <a:defRPr sz="1125"/>
            </a:lvl5pPr>
            <a:lvl6pPr marL="1285843" indent="0">
              <a:buNone/>
              <a:defRPr sz="1125"/>
            </a:lvl6pPr>
            <a:lvl7pPr marL="1543012" indent="0">
              <a:buNone/>
              <a:defRPr sz="1125"/>
            </a:lvl7pPr>
            <a:lvl8pPr marL="1800180" indent="0">
              <a:buNone/>
              <a:defRPr sz="1125"/>
            </a:lvl8pPr>
            <a:lvl9pPr marL="2057348" indent="0">
              <a:buNone/>
              <a:defRPr sz="112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09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529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84785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 dirty="0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18410363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29838393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45177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444905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34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5pPr>
      <a:lvl6pPr marL="257168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6pPr>
      <a:lvl7pPr marL="514337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7pPr>
      <a:lvl8pPr marL="771506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8pPr>
      <a:lvl9pPr marL="1028675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9pPr>
    </p:titleStyle>
    <p:bodyStyle>
      <a:lvl1pPr marL="192876" indent="-19287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417899" indent="-160731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642922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900091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157259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414428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6pPr>
      <a:lvl7pPr marL="1671596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7pPr>
      <a:lvl8pPr marL="1928765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8pPr>
      <a:lvl9pPr marL="2185934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" y="1699260"/>
            <a:ext cx="9068753" cy="1790700"/>
          </a:xfrm>
        </p:spPr>
        <p:txBody>
          <a:bodyPr/>
          <a:lstStyle/>
          <a:p>
            <a:pPr fontAlgn="auto">
              <a:lnSpc>
                <a:spcPct val="12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 字符串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066674"/>
            <a:ext cx="6858000" cy="121589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100">
                <a:solidFill>
                  <a:schemeClr val="accent2"/>
                </a:solidFill>
              </a:rPr>
              <a:t>字符串操作与运算</a:t>
            </a:r>
            <a:endParaRPr lang="zh-CN" altLang="en-US" sz="21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字符串连接操作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基本连接操作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Python</a:t>
            </a:r>
            <a:r>
              <a:rPr lang="zh-CN" altLang="en-US" dirty="0"/>
              <a:t>字符串支持加法运算符，可以用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dirty="0"/>
              <a:t>把多个字符串连接成一个字符串，它的一般格式是：</a:t>
            </a:r>
          </a:p>
          <a:p>
            <a:pPr marL="257168" lvl="1" indent="0">
              <a:buNone/>
            </a:pPr>
            <a:r>
              <a:rPr lang="en-US" altLang="zh-CN" dirty="0"/>
              <a:t>          </a:t>
            </a:r>
            <a:r>
              <a:rPr lang="zh-CN" altLang="en-US" b="1" dirty="0"/>
              <a:t>字符串</a:t>
            </a:r>
            <a:r>
              <a:rPr lang="en-US" altLang="zh-CN" b="1" dirty="0"/>
              <a:t>1+</a:t>
            </a:r>
            <a:r>
              <a:rPr lang="zh-CN" altLang="en-US" b="1" dirty="0"/>
              <a:t>字符串</a:t>
            </a:r>
            <a:r>
              <a:rPr lang="en-US" altLang="zh-CN" b="1" dirty="0"/>
              <a:t>2+……+</a:t>
            </a:r>
            <a:r>
              <a:rPr lang="zh-CN" altLang="en-US" b="1" dirty="0"/>
              <a:t>字符串</a:t>
            </a:r>
            <a:r>
              <a:rPr lang="en-US" altLang="zh-CN" b="1" dirty="0"/>
              <a:t>n</a:t>
            </a:r>
          </a:p>
          <a:p>
            <a:pPr lvl="1">
              <a:lnSpc>
                <a:spcPts val="2600"/>
              </a:lnSpc>
            </a:pPr>
            <a:r>
              <a:rPr lang="zh-CN" altLang="en-US" dirty="0"/>
              <a:t>表达式的值也是一个字符串。</a:t>
            </a:r>
          </a:p>
        </p:txBody>
      </p:sp>
      <p:sp>
        <p:nvSpPr>
          <p:cNvPr id="4" name="矩形 3"/>
          <p:cNvSpPr/>
          <p:nvPr/>
        </p:nvSpPr>
        <p:spPr>
          <a:xfrm>
            <a:off x="683569" y="312118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noProof="1">
                <a:latin typeface="Consolas" panose="020B0609020204030204" charset="0"/>
              </a:rPr>
              <a:t>&gt;&gt;&gt; 'hello' + 'world'</a:t>
            </a:r>
          </a:p>
          <a:p>
            <a:pPr>
              <a:lnSpc>
                <a:spcPct val="150000"/>
              </a:lnSpc>
            </a:pPr>
            <a:r>
              <a:rPr lang="en-US" altLang="zh-CN" b="1" noProof="1">
                <a:solidFill>
                  <a:srgbClr val="C00000"/>
                </a:solidFill>
                <a:latin typeface="Consolas" panose="020B0609020204030204" charset="0"/>
              </a:rPr>
              <a:t>'helloworld'</a:t>
            </a:r>
          </a:p>
        </p:txBody>
      </p:sp>
    </p:spTree>
    <p:extLst>
      <p:ext uri="{BB962C8B-B14F-4D97-AF65-F5344CB8AC3E}">
        <p14:creationId xmlns:p14="http://schemas.microsoft.com/office/powerpoint/2010/main" val="292568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重复连接操作</a:t>
            </a:r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字符串也支持乘法运算符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zh-CN" altLang="en-US" dirty="0"/>
              <a:t>，运算结果为一个由其自身字符串重复连接而成的字符串。字符串重复连接的一般格式是：</a:t>
            </a:r>
          </a:p>
          <a:p>
            <a:pPr marL="257168" lvl="1" indent="0">
              <a:buNone/>
            </a:pPr>
            <a:r>
              <a:rPr lang="en-US" altLang="zh-CN" b="1" dirty="0"/>
              <a:t>         </a:t>
            </a:r>
            <a:r>
              <a:rPr lang="zh-CN" altLang="en-US" b="1" dirty="0"/>
              <a:t>字符串</a:t>
            </a:r>
            <a:r>
              <a:rPr lang="en-US" altLang="zh-CN" b="1" dirty="0"/>
              <a:t>*n</a:t>
            </a:r>
            <a:r>
              <a:rPr lang="zh-CN" altLang="en-US" b="1" dirty="0"/>
              <a:t>或</a:t>
            </a:r>
            <a:r>
              <a:rPr lang="en-US" altLang="zh-CN" b="1" dirty="0"/>
              <a:t>n*</a:t>
            </a:r>
            <a:r>
              <a:rPr lang="zh-CN" altLang="en-US" b="1" dirty="0"/>
              <a:t>字符串</a:t>
            </a:r>
            <a:endParaRPr lang="en-US" altLang="zh-CN" b="1" dirty="0"/>
          </a:p>
          <a:p>
            <a:pPr lvl="1"/>
            <a:r>
              <a:rPr lang="zh-CN" altLang="en-US" dirty="0"/>
              <a:t>其中</a:t>
            </a:r>
            <a:r>
              <a:rPr lang="en-US" altLang="zh-CN" dirty="0"/>
              <a:t>n</a:t>
            </a:r>
            <a:r>
              <a:rPr lang="zh-CN" altLang="en-US" dirty="0"/>
              <a:t>是一个正整数，代表重复的次数。例如：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字符串连接操作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3568" y="3120818"/>
            <a:ext cx="66999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noProof="1">
                <a:latin typeface="Consolas" panose="020B0609020204030204" charset="0"/>
              </a:rPr>
              <a:t>&gt;&gt;&gt; 'abcd' * 3</a:t>
            </a:r>
          </a:p>
          <a:p>
            <a:pPr>
              <a:lnSpc>
                <a:spcPct val="150000"/>
              </a:lnSpc>
            </a:pPr>
            <a:r>
              <a:rPr lang="en-US" altLang="zh-CN" b="1" noProof="1">
                <a:solidFill>
                  <a:srgbClr val="C00000"/>
                </a:solidFill>
                <a:latin typeface="Consolas" panose="020B0609020204030204" charset="0"/>
              </a:rPr>
              <a:t>'abcdabcdabcd'</a:t>
            </a:r>
          </a:p>
          <a:p>
            <a:pPr>
              <a:lnSpc>
                <a:spcPct val="150000"/>
              </a:lnSpc>
            </a:pPr>
            <a:r>
              <a:rPr lang="en-US" altLang="zh-CN" noProof="1">
                <a:latin typeface="Consolas" panose="020B0609020204030204" charset="0"/>
              </a:rPr>
              <a:t>&gt;&gt;&gt; 'abc'*=3</a:t>
            </a:r>
          </a:p>
          <a:p>
            <a:pPr>
              <a:lnSpc>
                <a:spcPct val="150000"/>
              </a:lnSpc>
            </a:pPr>
            <a:r>
              <a:rPr lang="en-US" altLang="zh-CN" b="1" noProof="1">
                <a:solidFill>
                  <a:srgbClr val="FF0000"/>
                </a:solidFill>
                <a:latin typeface="Consolas" panose="020B0609020204030204" charset="0"/>
              </a:rPr>
              <a:t>SyntaxError: can't assign to literal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059743" y="3793473"/>
            <a:ext cx="5879158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因为字符串是常量不可修改，所以不支持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+=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*=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这样的复合运算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8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718430" cy="408637"/>
          </a:xfrm>
        </p:spPr>
        <p:txBody>
          <a:bodyPr/>
          <a:lstStyle/>
          <a:p>
            <a:r>
              <a:rPr lang="zh-CN" altLang="en-US" dirty="0"/>
              <a:t>例题：</a:t>
            </a:r>
            <a:r>
              <a:rPr lang="zh-CN" altLang="zh-CN" dirty="0"/>
              <a:t>输入</a:t>
            </a:r>
            <a:r>
              <a:rPr lang="en-US" altLang="zh-CN" dirty="0"/>
              <a:t>5</a:t>
            </a:r>
            <a:r>
              <a:rPr lang="zh-CN" altLang="zh-CN" dirty="0"/>
              <a:t>个字符串，将它们连接成一个字符串后输出。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字符串连接操作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69344" y="1758207"/>
            <a:ext cx="6538822" cy="2125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enter a string:"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(s)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577136" y="3153870"/>
            <a:ext cx="2728109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s=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s+c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亦可，但效率较低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388812" y="2463324"/>
            <a:ext cx="3694803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将输入放入循环内，输入一个字符串处理一个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6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43142"/>
          </a:xfrm>
        </p:spPr>
        <p:txBody>
          <a:bodyPr/>
          <a:lstStyle/>
          <a:p>
            <a:r>
              <a:rPr lang="zh-CN" altLang="en-US" dirty="0"/>
              <a:t>例题：根据用户输入的正整数</a:t>
            </a:r>
            <a:r>
              <a:rPr lang="en-US" altLang="zh-CN" dirty="0"/>
              <a:t>n</a:t>
            </a:r>
            <a:r>
              <a:rPr lang="zh-CN" altLang="en-US" dirty="0"/>
              <a:t>，输出如下图形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字符串连接操作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60717" y="1637913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*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**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***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****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*****</a:t>
            </a:r>
          </a:p>
        </p:txBody>
      </p:sp>
      <p:sp>
        <p:nvSpPr>
          <p:cNvPr id="5" name="矩形 4"/>
          <p:cNvSpPr/>
          <p:nvPr/>
        </p:nvSpPr>
        <p:spPr>
          <a:xfrm>
            <a:off x="2691440" y="1707402"/>
            <a:ext cx="57883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input a number:"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,n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'*'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矩形 5"/>
          <p:cNvSpPr/>
          <p:nvPr/>
        </p:nvSpPr>
        <p:spPr>
          <a:xfrm>
            <a:off x="560718" y="3769115"/>
            <a:ext cx="120769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    *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   **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  ***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 ****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*****</a:t>
            </a:r>
          </a:p>
        </p:txBody>
      </p:sp>
      <p:sp>
        <p:nvSpPr>
          <p:cNvPr id="7" name="矩形 6"/>
          <p:cNvSpPr/>
          <p:nvPr/>
        </p:nvSpPr>
        <p:spPr>
          <a:xfrm>
            <a:off x="2691440" y="3769115"/>
            <a:ext cx="58573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input a number:"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,n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 '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(n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), 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'*'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029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799" y="1083733"/>
            <a:ext cx="8656609" cy="2763648"/>
          </a:xfrm>
        </p:spPr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/>
              <a:t>比较关系运算</a:t>
            </a:r>
            <a:endParaRPr lang="en-US" altLang="zh-CN" dirty="0"/>
          </a:p>
          <a:p>
            <a:pPr lvl="1">
              <a:lnSpc>
                <a:spcPts val="2600"/>
              </a:lnSpc>
            </a:pPr>
            <a:r>
              <a:rPr lang="zh-CN" altLang="en-US" dirty="0"/>
              <a:t>单个字符比较，按字符</a:t>
            </a:r>
            <a:r>
              <a:rPr lang="en-US" altLang="zh-CN" b="1" dirty="0">
                <a:solidFill>
                  <a:srgbClr val="FF0000"/>
                </a:solidFill>
              </a:rPr>
              <a:t>Unicode</a:t>
            </a:r>
            <a:r>
              <a:rPr lang="zh-CN" altLang="en-US" b="1" dirty="0">
                <a:solidFill>
                  <a:srgbClr val="FF0000"/>
                </a:solidFill>
              </a:rPr>
              <a:t>码大小</a:t>
            </a:r>
            <a:r>
              <a:rPr lang="zh-CN" altLang="en-US" dirty="0"/>
              <a:t>进行比较</a:t>
            </a:r>
            <a:endParaRPr lang="en-US" altLang="zh-CN" dirty="0"/>
          </a:p>
          <a:p>
            <a:pPr lvl="1">
              <a:lnSpc>
                <a:spcPts val="2600"/>
              </a:lnSpc>
            </a:pPr>
            <a:r>
              <a:rPr lang="zh-CN" altLang="en-US" dirty="0"/>
              <a:t>两个字符串的比较是将字符串中的字符</a:t>
            </a:r>
            <a:r>
              <a:rPr lang="zh-CN" altLang="en-US" b="1" dirty="0">
                <a:solidFill>
                  <a:srgbClr val="FF0000"/>
                </a:solidFill>
              </a:rPr>
              <a:t>从左向右逐个比较</a:t>
            </a:r>
            <a:r>
              <a:rPr lang="zh-CN" altLang="en-US" dirty="0"/>
              <a:t>，</a:t>
            </a:r>
            <a:endParaRPr lang="en-US" altLang="zh-CN" dirty="0"/>
          </a:p>
          <a:p>
            <a:pPr lvl="2">
              <a:lnSpc>
                <a:spcPts val="2600"/>
              </a:lnSpc>
            </a:pPr>
            <a:r>
              <a:rPr lang="zh-CN" altLang="en-US" dirty="0"/>
              <a:t>如果两个字符串中有不同的字符，以</a:t>
            </a:r>
            <a:r>
              <a:rPr lang="zh-CN" altLang="en-US" b="1" dirty="0">
                <a:solidFill>
                  <a:srgbClr val="FF0000"/>
                </a:solidFill>
              </a:rPr>
              <a:t>最左边的第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对不同字符的比较结果</a:t>
            </a:r>
            <a:r>
              <a:rPr lang="zh-CN" altLang="en-US" dirty="0"/>
              <a:t>为准</a:t>
            </a:r>
            <a:endParaRPr lang="en-US" altLang="zh-CN" dirty="0"/>
          </a:p>
          <a:p>
            <a:pPr lvl="2">
              <a:lnSpc>
                <a:spcPts val="2600"/>
              </a:lnSpc>
            </a:pPr>
            <a:r>
              <a:rPr lang="zh-CN" altLang="en-US" dirty="0"/>
              <a:t>如果没有不同的字符：</a:t>
            </a:r>
            <a:r>
              <a:rPr lang="en-US" altLang="zh-CN" dirty="0"/>
              <a:t>1</a:t>
            </a:r>
            <a:r>
              <a:rPr lang="zh-CN" altLang="en-US" dirty="0"/>
              <a:t>，若两个字符串长度相等，则两个字符串相等，</a:t>
            </a:r>
            <a:r>
              <a:rPr lang="en-US" altLang="zh-CN" dirty="0"/>
              <a:t>2</a:t>
            </a:r>
            <a:r>
              <a:rPr lang="zh-CN" altLang="en-US" dirty="0"/>
              <a:t>，若两个字符串长度不等，则较短的字符串较小。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字符串的关系运算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811528" y="3494204"/>
            <a:ext cx="8149880" cy="275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"a"&lt;"b"</a:t>
            </a:r>
            <a:endParaRPr lang="zh-CN" altLang="en-US" dirty="0"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True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"</a:t>
            </a:r>
            <a:r>
              <a:rPr lang="en-US" altLang="zh-CN" dirty="0" err="1">
                <a:latin typeface="Consolas" panose="020B0609020204030204" charset="0"/>
                <a:sym typeface="+mn-ea"/>
              </a:rPr>
              <a:t>abcd</a:t>
            </a:r>
            <a:r>
              <a:rPr lang="en-US" altLang="zh-CN" dirty="0">
                <a:latin typeface="Consolas" panose="020B0609020204030204" charset="0"/>
                <a:sym typeface="+mn-ea"/>
              </a:rPr>
              <a:t>"&lt;"</a:t>
            </a:r>
            <a:r>
              <a:rPr lang="en-US" altLang="zh-CN" dirty="0" err="1">
                <a:latin typeface="Consolas" panose="020B0609020204030204" charset="0"/>
                <a:sym typeface="+mn-ea"/>
              </a:rPr>
              <a:t>abd</a:t>
            </a:r>
            <a:r>
              <a:rPr lang="en-US" altLang="zh-CN" dirty="0">
                <a:latin typeface="Consolas" panose="020B0609020204030204" charset="0"/>
                <a:sym typeface="+mn-ea"/>
              </a:rPr>
              <a:t>"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True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"ab" &lt; "</a:t>
            </a:r>
            <a:r>
              <a:rPr lang="en-US" altLang="zh-CN" dirty="0" err="1">
                <a:latin typeface="Consolas" panose="020B0609020204030204" charset="0"/>
                <a:sym typeface="+mn-ea"/>
              </a:rPr>
              <a:t>abc</a:t>
            </a:r>
            <a:r>
              <a:rPr lang="en-US" altLang="zh-CN" dirty="0">
                <a:latin typeface="Consolas" panose="020B0609020204030204" charset="0"/>
                <a:sym typeface="+mn-ea"/>
              </a:rPr>
              <a:t>"</a:t>
            </a:r>
            <a:r>
              <a:rPr lang="zh-CN" altLang="en-US" dirty="0">
                <a:latin typeface="Consolas" panose="020B0609020204030204" charset="0"/>
                <a:sym typeface="+mn-ea"/>
              </a:rPr>
              <a:t>             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True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dirty="0">
                <a:latin typeface="Consolas" panose="020B0609020204030204" charset="0"/>
                <a:sym typeface="+mn-ea"/>
              </a:rPr>
              <a:t>&gt;&gt;&gt; "A"&gt;="a"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False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939443" y="5543386"/>
            <a:ext cx="570422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英文字母区分大小写，且大写字母小于小写字母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939442" y="3417463"/>
            <a:ext cx="5704223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英文字母的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Unicode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码等于它的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ASCII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码，按字母顺序从小到大排序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39443" y="4233673"/>
            <a:ext cx="570422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c&lt;d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939441" y="4839566"/>
            <a:ext cx="570422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ab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的长度较短</a:t>
            </a:r>
          </a:p>
        </p:txBody>
      </p:sp>
    </p:spTree>
    <p:extLst>
      <p:ext uri="{BB962C8B-B14F-4D97-AF65-F5344CB8AC3E}">
        <p14:creationId xmlns:p14="http://schemas.microsoft.com/office/powerpoint/2010/main" val="255235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下列选项中，能准确判断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是英文字母的表达式是（）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'A'&lt;=x&lt;='z'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'a'&lt;=x&lt;='z' and 'A'&lt;=x&lt;='Z'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'a'&lt;=x&lt;='Z'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'a'&lt;=x&lt;='z' or 'A'&lt;=x&lt;='Z'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069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2159799"/>
          </a:xfrm>
        </p:spPr>
        <p:txBody>
          <a:bodyPr/>
          <a:lstStyle/>
          <a:p>
            <a:r>
              <a:rPr lang="zh-CN" altLang="en-US" dirty="0"/>
              <a:t>例题：统计输入的单词中有多少大写字母，多少小写字母</a:t>
            </a:r>
            <a:endParaRPr lang="en-US" altLang="zh-CN" dirty="0"/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对读入的单词逐个字符处理：</a:t>
            </a:r>
            <a:endParaRPr lang="en-US" altLang="zh-CN" dirty="0"/>
          </a:p>
          <a:p>
            <a:pPr lvl="2"/>
            <a:r>
              <a:rPr lang="zh-CN" altLang="en-US" dirty="0"/>
              <a:t>判断一个字符</a:t>
            </a:r>
            <a:r>
              <a:rPr lang="en-US" altLang="zh-CN" dirty="0"/>
              <a:t>x</a:t>
            </a:r>
            <a:r>
              <a:rPr lang="zh-CN" altLang="en-US" dirty="0"/>
              <a:t>是大写字母： </a:t>
            </a:r>
            <a:r>
              <a:rPr lang="en-US" altLang="zh-CN" dirty="0"/>
              <a:t>'Z'&gt;=x&gt;='A' </a:t>
            </a:r>
          </a:p>
          <a:p>
            <a:pPr lvl="2"/>
            <a:r>
              <a:rPr lang="zh-CN" altLang="en-US" dirty="0"/>
              <a:t>判断一个字符</a:t>
            </a:r>
            <a:r>
              <a:rPr lang="en-US" altLang="zh-CN" dirty="0"/>
              <a:t>x</a:t>
            </a:r>
            <a:r>
              <a:rPr lang="zh-CN" altLang="en-US" dirty="0"/>
              <a:t>是小写字母： </a:t>
            </a:r>
            <a:r>
              <a:rPr lang="en-US" altLang="zh-CN" dirty="0"/>
              <a:t>'z'&gt;=x&gt;='a' </a:t>
            </a:r>
          </a:p>
          <a:p>
            <a:pPr lvl="2"/>
            <a:r>
              <a:rPr lang="zh-CN" altLang="en-US" dirty="0"/>
              <a:t>分别记录大写和小写字母的数量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字符串的关系运算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614556" y="3589979"/>
            <a:ext cx="821026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input a word:"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upper_num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lower_num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&gt;=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&gt;=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	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upper_num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elif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&gt;=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&gt;=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	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lower_num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"upper: {}, lower: {}"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format(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upper_num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lower_num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39977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702599"/>
          </a:xfrm>
        </p:spPr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/>
              <a:t>成员关系运算</a:t>
            </a:r>
            <a:endParaRPr lang="en-US" altLang="zh-CN" dirty="0"/>
          </a:p>
          <a:p>
            <a:pPr lvl="1">
              <a:lnSpc>
                <a:spcPts val="2600"/>
              </a:lnSpc>
            </a:pPr>
            <a:r>
              <a:rPr lang="zh-CN" altLang="en-US" dirty="0"/>
              <a:t>字符串的成员关系操作包括</a:t>
            </a:r>
            <a:r>
              <a:rPr lang="en-US" altLang="zh-CN" dirty="0"/>
              <a:t>in</a:t>
            </a:r>
            <a:r>
              <a:rPr lang="zh-CN" altLang="en-US" dirty="0"/>
              <a:t>和</a:t>
            </a:r>
            <a:r>
              <a:rPr lang="en-US" altLang="zh-CN" dirty="0"/>
              <a:t>not in</a:t>
            </a:r>
            <a:r>
              <a:rPr lang="zh-CN" altLang="en-US" dirty="0"/>
              <a:t>操作，一般格式为：</a:t>
            </a:r>
          </a:p>
          <a:p>
            <a:pPr marL="257168" lvl="1" indent="0">
              <a:lnSpc>
                <a:spcPts val="2600"/>
              </a:lnSpc>
              <a:buNone/>
            </a:pPr>
            <a:r>
              <a:rPr lang="zh-CN" altLang="en-US" b="1" dirty="0"/>
              <a:t>         字符串</a:t>
            </a:r>
            <a:r>
              <a:rPr lang="en-US" altLang="zh-CN" b="1" dirty="0"/>
              <a:t>1 [not] in </a:t>
            </a:r>
            <a:r>
              <a:rPr lang="zh-CN" altLang="en-US" b="1" dirty="0"/>
              <a:t>字符串</a:t>
            </a:r>
            <a:r>
              <a:rPr lang="en-US" altLang="zh-CN" b="1" dirty="0"/>
              <a:t>2</a:t>
            </a:r>
          </a:p>
          <a:p>
            <a:pPr lvl="1">
              <a:lnSpc>
                <a:spcPts val="2600"/>
              </a:lnSpc>
            </a:pPr>
            <a:r>
              <a:rPr lang="zh-CN" altLang="en-US" dirty="0"/>
              <a:t>该操作用于判断字符串</a:t>
            </a:r>
            <a:r>
              <a:rPr lang="en-US" altLang="zh-CN" dirty="0"/>
              <a:t>1</a:t>
            </a:r>
            <a:r>
              <a:rPr lang="zh-CN" altLang="en-US" dirty="0"/>
              <a:t>是否属于字符串</a:t>
            </a:r>
            <a:r>
              <a:rPr lang="en-US" altLang="zh-CN" dirty="0"/>
              <a:t>2</a:t>
            </a:r>
            <a:r>
              <a:rPr lang="zh-CN" altLang="en-US" dirty="0"/>
              <a:t>，其返回值为</a:t>
            </a:r>
            <a:r>
              <a:rPr lang="en-US" altLang="zh-CN" dirty="0"/>
              <a:t>True</a:t>
            </a:r>
            <a:r>
              <a:rPr lang="zh-CN" altLang="en-US" dirty="0"/>
              <a:t>或</a:t>
            </a:r>
            <a:r>
              <a:rPr lang="en-US" altLang="zh-CN" dirty="0"/>
              <a:t>False.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字符串的关系运算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2870061"/>
            <a:ext cx="7839329" cy="275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buSzPct val="70000"/>
              <a:buNone/>
            </a:pPr>
            <a:r>
              <a:rPr lang="en-US" altLang="zh-CN" dirty="0">
                <a:latin typeface="Consolas" panose="020B0609020204030204" pitchFamily="49" charset="0"/>
              </a:rPr>
              <a:t>&gt;&gt;&gt; "a" in "</a:t>
            </a:r>
            <a:r>
              <a:rPr lang="en-US" altLang="zh-CN" dirty="0" err="1">
                <a:latin typeface="Consolas" panose="020B0609020204030204" pitchFamily="49" charset="0"/>
              </a:rPr>
              <a:t>abcde</a:t>
            </a:r>
            <a:r>
              <a:rPr lang="en-US" altLang="zh-CN" dirty="0">
                <a:latin typeface="Consolas" panose="020B0609020204030204" pitchFamily="49" charset="0"/>
              </a:rPr>
              <a:t>"     </a:t>
            </a:r>
            <a:endParaRPr lang="zh-CN" altLang="en-US" dirty="0">
              <a:latin typeface="Consolas" panose="020B0609020204030204" pitchFamily="49" charset="0"/>
            </a:endParaRPr>
          </a:p>
          <a:p>
            <a:pPr defTabSz="685800">
              <a:lnSpc>
                <a:spcPts val="2600"/>
              </a:lnSpc>
              <a:buSzPct val="70000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True</a:t>
            </a:r>
          </a:p>
          <a:p>
            <a:pPr defTabSz="685800">
              <a:lnSpc>
                <a:spcPts val="2600"/>
              </a:lnSpc>
              <a:buSzPct val="70000"/>
              <a:buNone/>
            </a:pPr>
            <a:r>
              <a:rPr lang="en-US" altLang="zh-CN" dirty="0">
                <a:latin typeface="Consolas" panose="020B0609020204030204" pitchFamily="49" charset="0"/>
              </a:rPr>
              <a:t>&gt;&gt;&gt; 'ab' in '</a:t>
            </a:r>
            <a:r>
              <a:rPr lang="en-US" altLang="zh-CN" dirty="0" err="1">
                <a:latin typeface="Consolas" panose="020B0609020204030204" pitchFamily="49" charset="0"/>
              </a:rPr>
              <a:t>abcde</a:t>
            </a:r>
            <a:r>
              <a:rPr lang="en-US" altLang="zh-CN" dirty="0">
                <a:latin typeface="Consolas" panose="020B0609020204030204" pitchFamily="49" charset="0"/>
              </a:rPr>
              <a:t>'</a:t>
            </a:r>
          </a:p>
          <a:p>
            <a:pPr defTabSz="685800">
              <a:lnSpc>
                <a:spcPts val="2600"/>
              </a:lnSpc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True</a:t>
            </a:r>
          </a:p>
          <a:p>
            <a:pPr defTabSz="685800">
              <a:lnSpc>
                <a:spcPts val="2600"/>
              </a:lnSpc>
              <a:buSzPct val="70000"/>
              <a:buNone/>
            </a:pPr>
            <a:r>
              <a:rPr lang="en-US" altLang="zh-CN" dirty="0">
                <a:latin typeface="Consolas" panose="020B0609020204030204" pitchFamily="49" charset="0"/>
              </a:rPr>
              <a:t>&gt;&gt;&gt; 'ac' in '</a:t>
            </a:r>
            <a:r>
              <a:rPr lang="en-US" altLang="zh-CN" dirty="0" err="1">
                <a:latin typeface="Consolas" panose="020B0609020204030204" pitchFamily="49" charset="0"/>
              </a:rPr>
              <a:t>abcde</a:t>
            </a:r>
            <a:r>
              <a:rPr lang="en-US" altLang="zh-CN" dirty="0">
                <a:latin typeface="Consolas" panose="020B0609020204030204" pitchFamily="49" charset="0"/>
              </a:rPr>
              <a:t>'    </a:t>
            </a:r>
            <a:endParaRPr lang="zh-CN" altLang="en-US" dirty="0">
              <a:latin typeface="Consolas" panose="020B0609020204030204" pitchFamily="49" charset="0"/>
            </a:endParaRPr>
          </a:p>
          <a:p>
            <a:pPr defTabSz="685800">
              <a:lnSpc>
                <a:spcPts val="2600"/>
              </a:lnSpc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</a:p>
          <a:p>
            <a:pPr defTabSz="685800">
              <a:lnSpc>
                <a:spcPts val="2600"/>
              </a:lnSpc>
              <a:buSzPct val="70000"/>
              <a:buNone/>
            </a:pPr>
            <a:r>
              <a:rPr lang="en-US" altLang="zh-CN" dirty="0">
                <a:latin typeface="Consolas" panose="020B0609020204030204" pitchFamily="49" charset="0"/>
              </a:rPr>
              <a:t>&gt;&gt;&gt; "j" in "</a:t>
            </a:r>
            <a:r>
              <a:rPr lang="en-US" altLang="zh-CN" dirty="0" err="1">
                <a:latin typeface="Consolas" panose="020B0609020204030204" pitchFamily="49" charset="0"/>
              </a:rPr>
              <a:t>abcde</a:t>
            </a:r>
            <a:r>
              <a:rPr lang="en-US" altLang="zh-CN" dirty="0">
                <a:latin typeface="Consolas" panose="020B0609020204030204" pitchFamily="49" charset="0"/>
              </a:rPr>
              <a:t>"</a:t>
            </a:r>
          </a:p>
          <a:p>
            <a:pPr defTabSz="685800">
              <a:lnSpc>
                <a:spcPts val="2600"/>
              </a:lnSpc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533229" y="2928467"/>
            <a:ext cx="522977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测试一个字符中是否存在于另一个字符串中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533228" y="4265988"/>
            <a:ext cx="530022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关键字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左边的字符串作为一个整体对待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45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2073535"/>
          </a:xfrm>
        </p:spPr>
        <p:txBody>
          <a:bodyPr/>
          <a:lstStyle/>
          <a:p>
            <a:r>
              <a:rPr lang="zh-CN" altLang="en-US" dirty="0"/>
              <a:t>例题：从键盘输入</a:t>
            </a:r>
            <a:r>
              <a:rPr lang="en-US" altLang="zh-CN" dirty="0"/>
              <a:t>5</a:t>
            </a:r>
            <a:r>
              <a:rPr lang="zh-CN" altLang="en-US" dirty="0"/>
              <a:t>个英文单词，输出其中以元音字母开头的单词。</a:t>
            </a:r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定义元音字母集，包含大小写两种形式</a:t>
            </a:r>
            <a:endParaRPr lang="en-US" altLang="zh-CN" dirty="0"/>
          </a:p>
          <a:p>
            <a:pPr lvl="1"/>
            <a:r>
              <a:rPr lang="zh-CN" altLang="en-US" dirty="0"/>
              <a:t>每次读取一个单词，判断其首字母是否属于元音字母集，是则输出</a:t>
            </a:r>
            <a:endParaRPr lang="en-US" altLang="zh-CN" dirty="0"/>
          </a:p>
          <a:p>
            <a:pPr lvl="1"/>
            <a:r>
              <a:rPr lang="zh-CN" altLang="en-US" dirty="0"/>
              <a:t>重复第二步</a:t>
            </a:r>
            <a:r>
              <a:rPr lang="en-US" altLang="zh-CN" dirty="0"/>
              <a:t>5</a:t>
            </a:r>
            <a:r>
              <a:rPr lang="zh-CN" altLang="en-US" dirty="0"/>
              <a:t>次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字符串的关系运算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603849" y="3251053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vowels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</a:t>
            </a:r>
            <a:r>
              <a:rPr lang="en-US" altLang="zh-CN" b="1" dirty="0" err="1">
                <a:solidFill>
                  <a:srgbClr val="4E9A06"/>
                </a:solidFill>
                <a:latin typeface="Consolas" panose="020B0609020204030204" pitchFamily="49" charset="0"/>
              </a:rPr>
              <a:t>AEIOUaeiou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enter a word:"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s[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vowels: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08687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3C6201D-EA81-4E33-86C4-0475CC4FBC2F}" vid="{03E07CE5-EE3A-4FD9-BFAD-6815F15428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2027</TotalTime>
  <Words>882</Words>
  <Application>Microsoft Office PowerPoint</Application>
  <PresentationFormat>全屏显示(4:3)</PresentationFormat>
  <Paragraphs>121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微软雅黑</vt:lpstr>
      <vt:lpstr>微软雅黑</vt:lpstr>
      <vt:lpstr>Arial</vt:lpstr>
      <vt:lpstr>Calibri</vt:lpstr>
      <vt:lpstr>Consolas</vt:lpstr>
      <vt:lpstr>Courier New</vt:lpstr>
      <vt:lpstr>Verdana</vt:lpstr>
      <vt:lpstr>Wingdings</vt:lpstr>
      <vt:lpstr>主题1</vt:lpstr>
      <vt:lpstr>第5章  字符串</vt:lpstr>
      <vt:lpstr>字符串连接操作</vt:lpstr>
      <vt:lpstr>字符串连接操作</vt:lpstr>
      <vt:lpstr>字符串连接操作</vt:lpstr>
      <vt:lpstr>字符串连接操作</vt:lpstr>
      <vt:lpstr>字符串的关系运算</vt:lpstr>
      <vt:lpstr>PowerPoint 演示文稿</vt:lpstr>
      <vt:lpstr>字符串的关系运算</vt:lpstr>
      <vt:lpstr>字符串的关系运算</vt:lpstr>
      <vt:lpstr>字符串的关系运算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 字符串</dc:title>
  <dc:creator>Dong</dc:creator>
  <cp:lastModifiedBy>cyj</cp:lastModifiedBy>
  <cp:revision>559</cp:revision>
  <dcterms:created xsi:type="dcterms:W3CDTF">2015-05-05T08:02:00Z</dcterms:created>
  <dcterms:modified xsi:type="dcterms:W3CDTF">2024-10-29T05:22:41Z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