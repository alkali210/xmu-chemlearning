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  <p:sldMasterId id="2147483694" r:id="rId3"/>
  </p:sldMasterIdLst>
  <p:notesMasterIdLst>
    <p:notesMasterId r:id="rId38"/>
  </p:notesMasterIdLst>
  <p:handoutMasterIdLst>
    <p:handoutMasterId r:id="rId39"/>
  </p:handoutMasterIdLst>
  <p:sldIdLst>
    <p:sldId id="848" r:id="rId4"/>
    <p:sldId id="1773" r:id="rId5"/>
    <p:sldId id="1870" r:id="rId6"/>
    <p:sldId id="1938" r:id="rId7"/>
    <p:sldId id="1934" r:id="rId8"/>
    <p:sldId id="1775" r:id="rId9"/>
    <p:sldId id="1881" r:id="rId10"/>
    <p:sldId id="1935" r:id="rId11"/>
    <p:sldId id="1909" r:id="rId12"/>
    <p:sldId id="1883" r:id="rId13"/>
    <p:sldId id="1933" r:id="rId14"/>
    <p:sldId id="1879" r:id="rId15"/>
    <p:sldId id="1936" r:id="rId16"/>
    <p:sldId id="1910" r:id="rId17"/>
    <p:sldId id="1880" r:id="rId18"/>
    <p:sldId id="1885" r:id="rId19"/>
    <p:sldId id="1898" r:id="rId20"/>
    <p:sldId id="1887" r:id="rId21"/>
    <p:sldId id="1889" r:id="rId22"/>
    <p:sldId id="1884" r:id="rId23"/>
    <p:sldId id="1937" r:id="rId24"/>
    <p:sldId id="1890" r:id="rId25"/>
    <p:sldId id="1899" r:id="rId26"/>
    <p:sldId id="1891" r:id="rId27"/>
    <p:sldId id="1892" r:id="rId28"/>
    <p:sldId id="1774" r:id="rId29"/>
    <p:sldId id="1932" r:id="rId30"/>
    <p:sldId id="1894" r:id="rId31"/>
    <p:sldId id="1895" r:id="rId32"/>
    <p:sldId id="1897" r:id="rId33"/>
    <p:sldId id="1893" r:id="rId34"/>
    <p:sldId id="1900" r:id="rId35"/>
    <p:sldId id="1931" r:id="rId36"/>
    <p:sldId id="1930" r:id="rId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78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5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31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3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61692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12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442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976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13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40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67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697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29269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63720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84403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3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81068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351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5736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170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528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414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0597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54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30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55725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13308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87710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2555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102781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738999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8414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79099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32171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3153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520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8161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9831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9039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5457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924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902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589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1129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idle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21" Type="http://schemas.openxmlformats.org/officeDocument/2006/relationships/hyperlink" Target="idle" TargetMode="Externa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hyperlink" Target="idle" TargetMode="Externa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>
            <a:hlinkClick r:id="rId17" action="ppaction://program"/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>
            <a:hlinkClick r:id="rId17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99" indent="-214308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29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21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12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圆角矩形 11">
            <a:hlinkClick r:id="rId21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834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67891-4A7C-4A51-86F1-5BDD3946FBDA}" type="datetimeFigureOut">
              <a:rPr lang="zh-CN" altLang="en-US" smtClean="0"/>
              <a:t>2024/11/22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圆角矩形 6">
            <a:hlinkClick r:id="rId13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444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8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8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8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8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8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21" Type="http://schemas.openxmlformats.org/officeDocument/2006/relationships/image" Target="../media/image8.tmp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image" Target="../media/image8.tmp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tags" Target="../tags/tag155.xml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tags" Target="../tags/tag153.xml"/><Relationship Id="rId10" Type="http://schemas.openxmlformats.org/officeDocument/2006/relationships/tags" Target="../tags/tag148.xml"/><Relationship Id="rId19" Type="http://schemas.openxmlformats.org/officeDocument/2006/relationships/image" Target="../media/image8.tmp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fontAlgn="auto">
              <a:lnSpc>
                <a:spcPct val="12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章  列表与元组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 详解</a:t>
            </a:r>
            <a:r>
              <a:rPr lang="en-US" altLang="zh-CN" dirty="0"/>
              <a:t>Python</a:t>
            </a:r>
            <a:r>
              <a:rPr lang="zh-CN" altLang="en-US" dirty="0"/>
              <a:t>序列结构</a:t>
            </a:r>
          </a:p>
        </p:txBody>
      </p:sp>
      <p:grpSp>
        <p:nvGrpSpPr>
          <p:cNvPr id="15361" name="画布 8"/>
          <p:cNvGrpSpPr/>
          <p:nvPr/>
        </p:nvGrpSpPr>
        <p:grpSpPr>
          <a:xfrm>
            <a:off x="361951" y="1684391"/>
            <a:ext cx="6751639" cy="4132263"/>
            <a:chOff x="0" y="0"/>
            <a:chExt cx="4302760" cy="3054985"/>
          </a:xfrm>
        </p:grpSpPr>
        <p:sp>
          <p:nvSpPr>
            <p:cNvPr id="15362" name="画布 8"/>
            <p:cNvSpPr/>
            <p:nvPr/>
          </p:nvSpPr>
          <p:spPr>
            <a:xfrm>
              <a:off x="0" y="0"/>
              <a:ext cx="4302760" cy="305498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en-US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文本框 9"/>
            <p:cNvSpPr txBox="1"/>
            <p:nvPr/>
          </p:nvSpPr>
          <p:spPr>
            <a:xfrm>
              <a:off x="95250" y="661035"/>
              <a:ext cx="734695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有序序列</a:t>
              </a:r>
            </a:p>
          </p:txBody>
        </p:sp>
        <p:sp>
          <p:nvSpPr>
            <p:cNvPr id="10" name="文本框 10"/>
            <p:cNvSpPr txBox="1"/>
            <p:nvPr/>
          </p:nvSpPr>
          <p:spPr>
            <a:xfrm>
              <a:off x="104775" y="1510665"/>
              <a:ext cx="734695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无序序列</a:t>
              </a:r>
            </a:p>
          </p:txBody>
        </p:sp>
        <p:sp>
          <p:nvSpPr>
            <p:cNvPr id="11" name="文本框 11"/>
            <p:cNvSpPr txBox="1"/>
            <p:nvPr/>
          </p:nvSpPr>
          <p:spPr>
            <a:xfrm>
              <a:off x="1545473" y="25351"/>
              <a:ext cx="1194211" cy="281204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列表</a:t>
              </a:r>
            </a:p>
          </p:txBody>
        </p:sp>
        <p:sp>
          <p:nvSpPr>
            <p:cNvPr id="12" name="文本框 12"/>
            <p:cNvSpPr txBox="1"/>
            <p:nvPr/>
          </p:nvSpPr>
          <p:spPr>
            <a:xfrm>
              <a:off x="1540617" y="512646"/>
              <a:ext cx="1198662" cy="28120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元组</a:t>
              </a:r>
            </a:p>
          </p:txBody>
        </p:sp>
        <p:sp>
          <p:nvSpPr>
            <p:cNvPr id="13" name="文本框 13"/>
            <p:cNvSpPr txBox="1"/>
            <p:nvPr/>
          </p:nvSpPr>
          <p:spPr>
            <a:xfrm>
              <a:off x="1540617" y="1001350"/>
              <a:ext cx="1198662" cy="281204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字符串</a:t>
              </a:r>
            </a:p>
          </p:txBody>
        </p:sp>
        <p:sp>
          <p:nvSpPr>
            <p:cNvPr id="14" name="文本框 14"/>
            <p:cNvSpPr txBox="1"/>
            <p:nvPr/>
          </p:nvSpPr>
          <p:spPr>
            <a:xfrm>
              <a:off x="1539807" y="1507893"/>
              <a:ext cx="1199876" cy="281204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字典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1539403" y="2043542"/>
              <a:ext cx="1200686" cy="281204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集合</a:t>
              </a:r>
            </a:p>
          </p:txBody>
        </p:sp>
        <p:sp>
          <p:nvSpPr>
            <p:cNvPr id="16" name="文本框 16"/>
            <p:cNvSpPr txBox="1"/>
            <p:nvPr/>
          </p:nvSpPr>
          <p:spPr>
            <a:xfrm>
              <a:off x="1539807" y="2526142"/>
              <a:ext cx="1200281" cy="499971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range、zip、map、enumerate等</a:t>
              </a:r>
            </a:p>
          </p:txBody>
        </p:sp>
        <p:sp>
          <p:nvSpPr>
            <p:cNvPr id="17" name="文本框 17"/>
            <p:cNvSpPr txBox="1"/>
            <p:nvPr/>
          </p:nvSpPr>
          <p:spPr>
            <a:xfrm>
              <a:off x="3305810" y="687705"/>
              <a:ext cx="915670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可变序列</a:t>
              </a:r>
            </a:p>
          </p:txBody>
        </p:sp>
        <p:sp>
          <p:nvSpPr>
            <p:cNvPr id="18" name="文本框 18"/>
            <p:cNvSpPr txBox="1"/>
            <p:nvPr/>
          </p:nvSpPr>
          <p:spPr>
            <a:xfrm>
              <a:off x="3305175" y="1513205"/>
              <a:ext cx="914400" cy="28194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fontAlgn="base"/>
              <a:r>
                <a:rPr lang="en-US" altLang="zh-CN" kern="100" noProof="1"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  <a:sym typeface="Times New Roman" panose="02020603050405020304"/>
                </a:rPr>
                <a:t>不可变序列</a:t>
              </a:r>
            </a:p>
          </p:txBody>
        </p:sp>
        <p:cxnSp>
          <p:nvCxnSpPr>
            <p:cNvPr id="19" name="直接箭头连接符 19"/>
            <p:cNvCxnSpPr>
              <a:stCxn id="11" idx="3"/>
              <a:endCxn id="17" idx="1"/>
            </p:cNvCxnSpPr>
            <p:nvPr/>
          </p:nvCxnSpPr>
          <p:spPr>
            <a:xfrm>
              <a:off x="2739890" y="166370"/>
              <a:ext cx="565743" cy="662872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20"/>
            <p:cNvCxnSpPr>
              <a:stCxn id="14" idx="3"/>
              <a:endCxn id="17" idx="1"/>
            </p:cNvCxnSpPr>
            <p:nvPr/>
          </p:nvCxnSpPr>
          <p:spPr>
            <a:xfrm flipV="1">
              <a:off x="2739546" y="828955"/>
              <a:ext cx="566147" cy="81967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1"/>
            <p:cNvCxnSpPr>
              <a:stCxn id="15" idx="3"/>
              <a:endCxn id="17" idx="1"/>
            </p:cNvCxnSpPr>
            <p:nvPr/>
          </p:nvCxnSpPr>
          <p:spPr>
            <a:xfrm flipV="1">
              <a:off x="2740329" y="829081"/>
              <a:ext cx="565338" cy="1355319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2"/>
            <p:cNvCxnSpPr>
              <a:stCxn id="12" idx="3"/>
              <a:endCxn id="18" idx="1"/>
            </p:cNvCxnSpPr>
            <p:nvPr/>
          </p:nvCxnSpPr>
          <p:spPr>
            <a:xfrm>
              <a:off x="2739597" y="653415"/>
              <a:ext cx="565743" cy="100088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3"/>
            <p:cNvCxnSpPr>
              <a:stCxn id="13" idx="3"/>
              <a:endCxn id="18" idx="1"/>
            </p:cNvCxnSpPr>
            <p:nvPr/>
          </p:nvCxnSpPr>
          <p:spPr>
            <a:xfrm>
              <a:off x="2739571" y="1142365"/>
              <a:ext cx="565743" cy="51217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4"/>
            <p:cNvCxnSpPr>
              <a:stCxn id="16" idx="3"/>
              <a:endCxn id="18" idx="1"/>
            </p:cNvCxnSpPr>
            <p:nvPr/>
          </p:nvCxnSpPr>
          <p:spPr>
            <a:xfrm flipV="1">
              <a:off x="2739980" y="1654220"/>
              <a:ext cx="565338" cy="1122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5"/>
            <p:cNvCxnSpPr>
              <a:stCxn id="11" idx="1"/>
              <a:endCxn id="9" idx="3"/>
            </p:cNvCxnSpPr>
            <p:nvPr/>
          </p:nvCxnSpPr>
          <p:spPr>
            <a:xfrm flipH="1">
              <a:off x="829898" y="166370"/>
              <a:ext cx="715879" cy="63611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6"/>
            <p:cNvCxnSpPr>
              <a:stCxn id="12" idx="1"/>
              <a:endCxn id="9" idx="3"/>
            </p:cNvCxnSpPr>
            <p:nvPr/>
          </p:nvCxnSpPr>
          <p:spPr>
            <a:xfrm flipH="1">
              <a:off x="829675" y="653415"/>
              <a:ext cx="711023" cy="14881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7"/>
            <p:cNvCxnSpPr>
              <a:stCxn id="13" idx="1"/>
              <a:endCxn id="9" idx="3"/>
            </p:cNvCxnSpPr>
            <p:nvPr/>
          </p:nvCxnSpPr>
          <p:spPr>
            <a:xfrm flipH="1" flipV="1">
              <a:off x="829675" y="802479"/>
              <a:ext cx="711023" cy="33988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8"/>
            <p:cNvCxnSpPr>
              <a:stCxn id="16" idx="1"/>
              <a:endCxn id="9" idx="3"/>
            </p:cNvCxnSpPr>
            <p:nvPr/>
          </p:nvCxnSpPr>
          <p:spPr>
            <a:xfrm flipH="1" flipV="1">
              <a:off x="829849" y="802158"/>
              <a:ext cx="709809" cy="197406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9"/>
            <p:cNvCxnSpPr>
              <a:stCxn id="14" idx="1"/>
              <a:endCxn id="10" idx="3"/>
            </p:cNvCxnSpPr>
            <p:nvPr/>
          </p:nvCxnSpPr>
          <p:spPr>
            <a:xfrm flipH="1">
              <a:off x="839157" y="1648626"/>
              <a:ext cx="700501" cy="3286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30"/>
            <p:cNvCxnSpPr>
              <a:stCxn id="15" idx="1"/>
              <a:endCxn id="10" idx="3"/>
            </p:cNvCxnSpPr>
            <p:nvPr/>
          </p:nvCxnSpPr>
          <p:spPr>
            <a:xfrm flipH="1" flipV="1">
              <a:off x="838926" y="1652037"/>
              <a:ext cx="700501" cy="532363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114522"/>
          </a:xfrm>
        </p:spPr>
        <p:txBody>
          <a:bodyPr/>
          <a:lstStyle/>
          <a:p>
            <a:pPr>
              <a:lnSpc>
                <a:spcPts val="2800"/>
              </a:lnSpc>
            </a:pPr>
            <a:r>
              <a:rPr lang="en-US" altLang="zh-CN" dirty="0"/>
              <a:t>range </a:t>
            </a:r>
            <a:r>
              <a:rPr lang="zh-CN" altLang="en-US" dirty="0"/>
              <a:t>对象是由不可更改的数字组成的序列，通常用于循环。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通过内置函数</a:t>
            </a:r>
            <a:r>
              <a:rPr lang="en-US" altLang="zh-CN" dirty="0"/>
              <a:t>range</a:t>
            </a:r>
            <a:r>
              <a:rPr lang="zh-CN" altLang="en-US" dirty="0"/>
              <a:t>构造。与列表和元组相比，</a:t>
            </a:r>
            <a:r>
              <a:rPr lang="en-US" altLang="zh-CN" dirty="0"/>
              <a:t>range</a:t>
            </a:r>
            <a:r>
              <a:rPr lang="zh-CN" altLang="en-US" dirty="0"/>
              <a:t>对象采用了特殊的技术（</a:t>
            </a:r>
            <a:r>
              <a:rPr lang="en-US" altLang="zh-CN" dirty="0"/>
              <a:t>iterator</a:t>
            </a:r>
            <a:r>
              <a:rPr lang="zh-CN" altLang="en-US" dirty="0"/>
              <a:t>迭代器），所以占用内存极少。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/>
              <a:t>创建</a:t>
            </a:r>
            <a:r>
              <a:rPr lang="en-US" altLang="zh-CN" dirty="0"/>
              <a:t>range</a:t>
            </a:r>
            <a:r>
              <a:rPr lang="zh-CN" altLang="en-US" dirty="0"/>
              <a:t>对象</a:t>
            </a:r>
            <a:endParaRPr lang="en-US" altLang="zh-CN" dirty="0"/>
          </a:p>
          <a:p>
            <a:pPr lvl="1"/>
            <a:r>
              <a:rPr lang="en-US" altLang="zh-CN" dirty="0"/>
              <a:t>range(start, stop[, step]) </a:t>
            </a:r>
          </a:p>
          <a:p>
            <a:pPr lvl="1"/>
            <a:r>
              <a:rPr lang="zh-CN" altLang="en-US" dirty="0"/>
              <a:t>构造的序列从</a:t>
            </a:r>
            <a:r>
              <a:rPr lang="en-US" altLang="zh-CN" dirty="0"/>
              <a:t>start(</a:t>
            </a:r>
            <a:r>
              <a:rPr lang="zh-CN" altLang="en-US" dirty="0"/>
              <a:t>可省略，默认为</a:t>
            </a:r>
            <a:r>
              <a:rPr lang="en-US" altLang="zh-CN" dirty="0"/>
              <a:t>0)</a:t>
            </a:r>
            <a:r>
              <a:rPr lang="zh-CN" altLang="en-US" dirty="0"/>
              <a:t>开始，每次递增</a:t>
            </a:r>
            <a:r>
              <a:rPr lang="en-US" altLang="zh-CN" dirty="0"/>
              <a:t>step</a:t>
            </a:r>
            <a:r>
              <a:rPr lang="zh-CN" altLang="en-US" dirty="0"/>
              <a:t>（可省略，默认为</a:t>
            </a:r>
            <a:r>
              <a:rPr lang="en-US" altLang="zh-CN" dirty="0"/>
              <a:t>1</a:t>
            </a:r>
            <a:r>
              <a:rPr lang="zh-CN" altLang="en-US" dirty="0"/>
              <a:t>），一直到</a:t>
            </a:r>
            <a:r>
              <a:rPr lang="en-US" altLang="zh-CN" b="1" dirty="0">
                <a:solidFill>
                  <a:srgbClr val="FF0000"/>
                </a:solidFill>
              </a:rPr>
              <a:t>stop-1</a:t>
            </a:r>
            <a:r>
              <a:rPr lang="zh-CN" altLang="en-US" b="1" dirty="0">
                <a:solidFill>
                  <a:srgbClr val="FF0000"/>
                </a:solidFill>
              </a:rPr>
              <a:t>（不含</a:t>
            </a:r>
            <a:r>
              <a:rPr lang="en-US" altLang="zh-CN" b="1" dirty="0">
                <a:solidFill>
                  <a:srgbClr val="FF0000"/>
                </a:solidFill>
              </a:rPr>
              <a:t>stop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为止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83569" y="127686"/>
            <a:ext cx="2059631" cy="609600"/>
          </a:xfrm>
        </p:spPr>
        <p:txBody>
          <a:bodyPr/>
          <a:lstStyle/>
          <a:p>
            <a:r>
              <a:rPr lang="en-US" altLang="zh-CN" dirty="0"/>
              <a:t>range</a:t>
            </a:r>
            <a:r>
              <a:rPr lang="zh-CN" altLang="en-US" dirty="0"/>
              <a:t>对象</a:t>
            </a:r>
          </a:p>
        </p:txBody>
      </p:sp>
      <p:sp>
        <p:nvSpPr>
          <p:cNvPr id="5" name="矩形 4"/>
          <p:cNvSpPr/>
          <p:nvPr/>
        </p:nvSpPr>
        <p:spPr>
          <a:xfrm>
            <a:off x="424910" y="4039681"/>
            <a:ext cx="2904605" cy="2585323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</a:rPr>
              <a:t>&gt;&gt;&gt; s=range(5,10,1)   </a:t>
            </a:r>
          </a:p>
          <a:p>
            <a:r>
              <a:rPr lang="zh-CN" altLang="en-US" b="1" dirty="0">
                <a:latin typeface="Consolas" panose="020B0609020204030204" pitchFamily="49" charset="0"/>
              </a:rPr>
              <a:t>&gt;&gt;&gt; s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range(5, 10)</a:t>
            </a:r>
          </a:p>
          <a:p>
            <a:r>
              <a:rPr lang="zh-CN" altLang="en-US" b="1" dirty="0">
                <a:latin typeface="Consolas" panose="020B0609020204030204" pitchFamily="49" charset="0"/>
              </a:rPr>
              <a:t>&gt;&gt;&gt; list(s)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[5, 6, 7, 8, 9]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latin typeface="Consolas" panose="020B0609020204030204" pitchFamily="49" charset="0"/>
              </a:rPr>
              <a:t>&gt;&gt;&gt; s=range(10,0,-2)</a:t>
            </a:r>
          </a:p>
          <a:p>
            <a:r>
              <a:rPr lang="en-US" altLang="zh-CN" b="1" dirty="0">
                <a:latin typeface="Consolas" panose="020B0609020204030204" pitchFamily="49" charset="0"/>
              </a:rPr>
              <a:t>&gt;&gt;&gt; list(s)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[10, 8, 6, 4, 2]</a:t>
            </a:r>
            <a:endParaRPr lang="zh-CN" alt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19488" y="4232186"/>
            <a:ext cx="5351258" cy="2031325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nsolas" panose="020B0609020204030204" pitchFamily="49" charset="0"/>
              </a:rPr>
              <a:t>&gt;&gt;&gt; s=range(10)</a:t>
            </a:r>
            <a:r>
              <a:rPr lang="en-US" altLang="zh-CN" dirty="0">
                <a:latin typeface="Consolas" panose="020B0609020204030204" charset="0"/>
              </a:rPr>
              <a:t> 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#start默认为0，step默认为1</a:t>
            </a:r>
            <a:endParaRPr lang="en-US" altLang="zh-CN" b="1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latin typeface="Consolas" panose="020B0609020204030204" pitchFamily="49" charset="0"/>
              </a:rPr>
              <a:t>&gt;&gt;&gt; list(s)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[0, 1, 2, 3, 4, 5, 6, 7, 8, 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9]</a:t>
            </a:r>
          </a:p>
          <a:p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latin typeface="Consolas" panose="020B0609020204030204" pitchFamily="49" charset="0"/>
              </a:rPr>
              <a:t>&gt;&gt;&gt; s=range(5,10)</a:t>
            </a:r>
          </a:p>
          <a:p>
            <a:r>
              <a:rPr lang="en-US" altLang="zh-CN" b="1" dirty="0">
                <a:latin typeface="Consolas" panose="020B0609020204030204" pitchFamily="49" charset="0"/>
              </a:rPr>
              <a:t>&gt;&gt;&gt; list(s)</a:t>
            </a:r>
          </a:p>
          <a:p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[5, 6, 7, 8, 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</a:rPr>
              <a:t>9]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147964-7E46-41D4-AFEA-3588D2668DB6}"/>
              </a:ext>
            </a:extLst>
          </p:cNvPr>
          <p:cNvSpPr txBox="1"/>
          <p:nvPr/>
        </p:nvSpPr>
        <p:spPr>
          <a:xfrm>
            <a:off x="4102217" y="2749636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半闭半开区间 </a:t>
            </a:r>
            <a:r>
              <a:rPr lang="en-US" altLang="zh-CN" b="1" dirty="0">
                <a:solidFill>
                  <a:srgbClr val="FF0000"/>
                </a:solidFill>
              </a:rPr>
              <a:t>[start, stop)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049337-5DAD-49F3-9BBD-CF6C6BC7575B}"/>
              </a:ext>
            </a:extLst>
          </p:cNvPr>
          <p:cNvSpPr txBox="1"/>
          <p:nvPr/>
        </p:nvSpPr>
        <p:spPr>
          <a:xfrm>
            <a:off x="6174297" y="160403"/>
            <a:ext cx="2084225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</a:rPr>
              <a:t>s=range(5,10,</a:t>
            </a:r>
            <a:r>
              <a:rPr lang="en-US" altLang="zh-CN" b="1" dirty="0">
                <a:latin typeface="Consolas" panose="020B0609020204030204" pitchFamily="49" charset="0"/>
              </a:rPr>
              <a:t>2</a:t>
            </a:r>
            <a:r>
              <a:rPr lang="zh-CN" altLang="en-US" b="1" dirty="0">
                <a:latin typeface="Consolas" panose="020B0609020204030204" pitchFamily="49" charset="0"/>
              </a:rPr>
              <a:t>)</a:t>
            </a:r>
            <a:endParaRPr lang="en-US" altLang="zh-CN" dirty="0"/>
          </a:p>
          <a:p>
            <a:r>
              <a:rPr lang="en-US" altLang="zh-CN" dirty="0"/>
              <a:t>it = </a:t>
            </a:r>
            <a:r>
              <a:rPr lang="en-US" altLang="zh-CN" dirty="0" err="1"/>
              <a:t>iter</a:t>
            </a:r>
            <a:r>
              <a:rPr lang="en-US" altLang="zh-CN" dirty="0"/>
              <a:t>(s)</a:t>
            </a:r>
          </a:p>
          <a:p>
            <a:r>
              <a:rPr lang="en-US" altLang="zh-CN" dirty="0"/>
              <a:t>a = next(it)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838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549" y="957537"/>
            <a:ext cx="8064366" cy="611381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列表（list）是最重要的Python内置对象</a:t>
            </a:r>
            <a:endParaRPr lang="zh-CN" alt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100" dirty="0"/>
              <a:t>列表：增强的数组</a:t>
            </a:r>
          </a:p>
        </p:txBody>
      </p:sp>
      <p:sp>
        <p:nvSpPr>
          <p:cNvPr id="19" name="矩形 18"/>
          <p:cNvSpPr/>
          <p:nvPr/>
        </p:nvSpPr>
        <p:spPr>
          <a:xfrm>
            <a:off x="683567" y="1707652"/>
            <a:ext cx="29595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有序连续内存空间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34428" y="4923245"/>
            <a:ext cx="6214310" cy="842950"/>
            <a:chOff x="494375" y="1445142"/>
            <a:chExt cx="6851769" cy="1123933"/>
          </a:xfrm>
        </p:grpSpPr>
        <p:sp>
          <p:nvSpPr>
            <p:cNvPr id="4" name="文本框 3"/>
            <p:cNvSpPr txBox="1"/>
            <p:nvPr/>
          </p:nvSpPr>
          <p:spPr>
            <a:xfrm>
              <a:off x="1125206" y="1990078"/>
              <a:ext cx="5713559" cy="451405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 flipH="1">
              <a:off x="1764880" y="1970843"/>
              <a:ext cx="1775" cy="4495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直接连接符 6"/>
            <p:cNvCxnSpPr/>
            <p:nvPr/>
          </p:nvCxnSpPr>
          <p:spPr bwMode="auto">
            <a:xfrm flipH="1">
              <a:off x="2497151" y="1998955"/>
              <a:ext cx="7833" cy="4442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接连接符 7"/>
            <p:cNvCxnSpPr/>
            <p:nvPr/>
          </p:nvCxnSpPr>
          <p:spPr bwMode="auto">
            <a:xfrm flipH="1">
              <a:off x="3203802" y="1990078"/>
              <a:ext cx="11394" cy="43033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8"/>
            <p:cNvCxnSpPr>
              <a:stCxn id="4" idx="0"/>
              <a:endCxn id="4" idx="2"/>
            </p:cNvCxnSpPr>
            <p:nvPr/>
          </p:nvCxnSpPr>
          <p:spPr bwMode="auto">
            <a:xfrm>
              <a:off x="3981985" y="1990078"/>
              <a:ext cx="0" cy="45140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9"/>
            <p:cNvCxnSpPr/>
            <p:nvPr/>
          </p:nvCxnSpPr>
          <p:spPr bwMode="auto">
            <a:xfrm flipH="1">
              <a:off x="4652343" y="1990078"/>
              <a:ext cx="1035" cy="46938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5391706" y="2018191"/>
              <a:ext cx="0" cy="40222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6101919" y="2009313"/>
              <a:ext cx="0" cy="4321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6838765" y="2018190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矩形 22"/>
            <p:cNvSpPr/>
            <p:nvPr/>
          </p:nvSpPr>
          <p:spPr>
            <a:xfrm>
              <a:off x="494375" y="1953523"/>
              <a:ext cx="553997" cy="61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16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31693" y="1445142"/>
              <a:ext cx="611445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0      1       2      3       4      5      6       7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743874" y="2285251"/>
            <a:ext cx="46430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 = [10, 20, 30, 40, 50, 60, 70, 80]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6F92EA-7F41-40B2-A9CB-E92B0C04D3E3}"/>
              </a:ext>
            </a:extLst>
          </p:cNvPr>
          <p:cNvSpPr txBox="1"/>
          <p:nvPr/>
        </p:nvSpPr>
        <p:spPr>
          <a:xfrm>
            <a:off x="1280011" y="6304224"/>
            <a:ext cx="5453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10      20      30     40       50     60      70      80</a:t>
            </a:r>
            <a:endParaRPr lang="zh-CN" altLang="en-US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A55DFBC-810E-473F-87CD-399C30AD3992}"/>
              </a:ext>
            </a:extLst>
          </p:cNvPr>
          <p:cNvCxnSpPr/>
          <p:nvPr/>
        </p:nvCxnSpPr>
        <p:spPr bwMode="auto">
          <a:xfrm>
            <a:off x="1559295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C4B9ACF-86C1-4CF7-9AAB-DD04DB91D669}"/>
              </a:ext>
            </a:extLst>
          </p:cNvPr>
          <p:cNvCxnSpPr/>
          <p:nvPr/>
        </p:nvCxnSpPr>
        <p:spPr bwMode="auto">
          <a:xfrm>
            <a:off x="2153918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8626611-2A24-43D9-A9CF-B39080053603}"/>
              </a:ext>
            </a:extLst>
          </p:cNvPr>
          <p:cNvCxnSpPr/>
          <p:nvPr/>
        </p:nvCxnSpPr>
        <p:spPr bwMode="auto">
          <a:xfrm>
            <a:off x="2860987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1560D13-F9D3-4D52-8C4E-5666BA91E7F2}"/>
              </a:ext>
            </a:extLst>
          </p:cNvPr>
          <p:cNvCxnSpPr/>
          <p:nvPr/>
        </p:nvCxnSpPr>
        <p:spPr bwMode="auto">
          <a:xfrm>
            <a:off x="3515328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A76295C-923A-4E09-A7F3-53A7E4FA9562}"/>
              </a:ext>
            </a:extLst>
          </p:cNvPr>
          <p:cNvCxnSpPr/>
          <p:nvPr/>
        </p:nvCxnSpPr>
        <p:spPr bwMode="auto">
          <a:xfrm>
            <a:off x="4178058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263E00D-A83B-4F3E-B57E-97F99F3719C8}"/>
              </a:ext>
            </a:extLst>
          </p:cNvPr>
          <p:cNvCxnSpPr/>
          <p:nvPr/>
        </p:nvCxnSpPr>
        <p:spPr bwMode="auto">
          <a:xfrm>
            <a:off x="4772681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7907B04-022C-49DD-A436-3079FB57FB25}"/>
              </a:ext>
            </a:extLst>
          </p:cNvPr>
          <p:cNvCxnSpPr/>
          <p:nvPr/>
        </p:nvCxnSpPr>
        <p:spPr bwMode="auto">
          <a:xfrm>
            <a:off x="5479750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FA7F7F6-CD36-4926-BD6B-2FCD9A40CCB8}"/>
              </a:ext>
            </a:extLst>
          </p:cNvPr>
          <p:cNvCxnSpPr/>
          <p:nvPr/>
        </p:nvCxnSpPr>
        <p:spPr bwMode="auto">
          <a:xfrm>
            <a:off x="6134091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AD23D53-1549-44C1-966D-D053E83014D8}"/>
              </a:ext>
            </a:extLst>
          </p:cNvPr>
          <p:cNvGrpSpPr/>
          <p:nvPr/>
        </p:nvGrpSpPr>
        <p:grpSpPr>
          <a:xfrm>
            <a:off x="743874" y="3204768"/>
            <a:ext cx="6206978" cy="858439"/>
            <a:chOff x="494375" y="1424490"/>
            <a:chExt cx="6843685" cy="1144585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D4908CA-14CA-4285-A587-EA7DB0E7AD1C}"/>
                </a:ext>
              </a:extLst>
            </p:cNvPr>
            <p:cNvSpPr txBox="1"/>
            <p:nvPr/>
          </p:nvSpPr>
          <p:spPr>
            <a:xfrm>
              <a:off x="1125206" y="1969010"/>
              <a:ext cx="5713559" cy="451405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10       20      30    40      50     60      70     80</a:t>
              </a:r>
              <a:endParaRPr lang="zh-CN" altLang="en-US" sz="1600" dirty="0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6220828-A498-473C-B15F-18FF9188B599}"/>
                </a:ext>
              </a:extLst>
            </p:cNvPr>
            <p:cNvCxnSpPr/>
            <p:nvPr/>
          </p:nvCxnSpPr>
          <p:spPr bwMode="auto">
            <a:xfrm flipH="1">
              <a:off x="1764880" y="1970843"/>
              <a:ext cx="1775" cy="4495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5E03B83-8EB7-4DBC-A845-847AB81694D2}"/>
                </a:ext>
              </a:extLst>
            </p:cNvPr>
            <p:cNvCxnSpPr/>
            <p:nvPr/>
          </p:nvCxnSpPr>
          <p:spPr bwMode="auto">
            <a:xfrm flipH="1">
              <a:off x="2497151" y="1998955"/>
              <a:ext cx="7833" cy="4442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AE3ECA5B-DD21-45D8-83EB-16B3CA5E3618}"/>
                </a:ext>
              </a:extLst>
            </p:cNvPr>
            <p:cNvCxnSpPr/>
            <p:nvPr/>
          </p:nvCxnSpPr>
          <p:spPr bwMode="auto">
            <a:xfrm flipH="1">
              <a:off x="3192276" y="1990078"/>
              <a:ext cx="22920" cy="39891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06F43A8-A8C3-4B78-9139-71E6A4C4B9D4}"/>
                </a:ext>
              </a:extLst>
            </p:cNvPr>
            <p:cNvCxnSpPr/>
            <p:nvPr/>
          </p:nvCxnSpPr>
          <p:spPr bwMode="auto">
            <a:xfrm>
              <a:off x="3952042" y="1998955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76E74C9-8B11-4D93-BAC0-686936ABCB5E}"/>
                </a:ext>
              </a:extLst>
            </p:cNvPr>
            <p:cNvCxnSpPr/>
            <p:nvPr/>
          </p:nvCxnSpPr>
          <p:spPr bwMode="auto">
            <a:xfrm>
              <a:off x="4653379" y="1990078"/>
              <a:ext cx="3439" cy="39891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4647E67-0543-4DE7-8138-0A19FDA75727}"/>
                </a:ext>
              </a:extLst>
            </p:cNvPr>
            <p:cNvCxnSpPr/>
            <p:nvPr/>
          </p:nvCxnSpPr>
          <p:spPr bwMode="auto">
            <a:xfrm>
              <a:off x="5391706" y="2018191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429AD96-E133-462F-B92A-143B61D98341}"/>
                </a:ext>
              </a:extLst>
            </p:cNvPr>
            <p:cNvCxnSpPr/>
            <p:nvPr/>
          </p:nvCxnSpPr>
          <p:spPr bwMode="auto">
            <a:xfrm>
              <a:off x="6101919" y="2009313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3ABE7C9-B267-4D74-ADA1-74E2C5670F61}"/>
                </a:ext>
              </a:extLst>
            </p:cNvPr>
            <p:cNvCxnSpPr/>
            <p:nvPr/>
          </p:nvCxnSpPr>
          <p:spPr bwMode="auto">
            <a:xfrm>
              <a:off x="6838765" y="2018190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7C7C50E5-3D93-4D03-8BDF-BF426FC5AC11}"/>
                </a:ext>
              </a:extLst>
            </p:cNvPr>
            <p:cNvSpPr/>
            <p:nvPr/>
          </p:nvSpPr>
          <p:spPr>
            <a:xfrm>
              <a:off x="494375" y="1953523"/>
              <a:ext cx="553997" cy="61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16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66A39C3-D40C-4AD4-85CE-A2E7494B2F7D}"/>
                </a:ext>
              </a:extLst>
            </p:cNvPr>
            <p:cNvSpPr txBox="1"/>
            <p:nvPr/>
          </p:nvSpPr>
          <p:spPr>
            <a:xfrm>
              <a:off x="1223609" y="1424490"/>
              <a:ext cx="611445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0      1       2      3      4      5      6       7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71256277-23D4-483B-A921-AACEAC7D2372}"/>
              </a:ext>
            </a:extLst>
          </p:cNvPr>
          <p:cNvSpPr txBox="1"/>
          <p:nvPr/>
        </p:nvSpPr>
        <p:spPr>
          <a:xfrm>
            <a:off x="805343" y="28606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一般我们理解为：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A4E97E3-DCBA-4C64-B5DF-42DCBC528B43}"/>
              </a:ext>
            </a:extLst>
          </p:cNvPr>
          <p:cNvSpPr txBox="1"/>
          <p:nvPr/>
        </p:nvSpPr>
        <p:spPr>
          <a:xfrm>
            <a:off x="805343" y="453844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实际的结构为：</a:t>
            </a:r>
          </a:p>
        </p:txBody>
      </p:sp>
    </p:spTree>
    <p:extLst>
      <p:ext uri="{BB962C8B-B14F-4D97-AF65-F5344CB8AC3E}">
        <p14:creationId xmlns:p14="http://schemas.microsoft.com/office/powerpoint/2010/main" val="198702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549" y="957537"/>
            <a:ext cx="8064366" cy="611381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列表（list）是最重要的Python内置对象</a:t>
            </a:r>
            <a:endParaRPr lang="zh-CN" alt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100" dirty="0"/>
              <a:t>列表：增强的数组</a:t>
            </a:r>
          </a:p>
        </p:txBody>
      </p:sp>
      <p:sp>
        <p:nvSpPr>
          <p:cNvPr id="19" name="矩形 18"/>
          <p:cNvSpPr/>
          <p:nvPr/>
        </p:nvSpPr>
        <p:spPr>
          <a:xfrm>
            <a:off x="683567" y="1707652"/>
            <a:ext cx="29595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b="1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有序连续内存空间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34428" y="4923245"/>
            <a:ext cx="6214310" cy="842950"/>
            <a:chOff x="494375" y="1445142"/>
            <a:chExt cx="6851769" cy="1123933"/>
          </a:xfrm>
        </p:grpSpPr>
        <p:sp>
          <p:nvSpPr>
            <p:cNvPr id="4" name="文本框 3"/>
            <p:cNvSpPr txBox="1"/>
            <p:nvPr/>
          </p:nvSpPr>
          <p:spPr>
            <a:xfrm>
              <a:off x="1125206" y="1990078"/>
              <a:ext cx="5713559" cy="451405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 sz="1600" dirty="0"/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 flipH="1">
              <a:off x="1764880" y="1970843"/>
              <a:ext cx="1775" cy="4495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直接连接符 6"/>
            <p:cNvCxnSpPr/>
            <p:nvPr/>
          </p:nvCxnSpPr>
          <p:spPr bwMode="auto">
            <a:xfrm flipH="1">
              <a:off x="2497151" y="1998955"/>
              <a:ext cx="7833" cy="4442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接连接符 7"/>
            <p:cNvCxnSpPr/>
            <p:nvPr/>
          </p:nvCxnSpPr>
          <p:spPr bwMode="auto">
            <a:xfrm flipH="1">
              <a:off x="3203802" y="1990078"/>
              <a:ext cx="11394" cy="43033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8"/>
            <p:cNvCxnSpPr>
              <a:stCxn id="4" idx="0"/>
              <a:endCxn id="4" idx="2"/>
            </p:cNvCxnSpPr>
            <p:nvPr/>
          </p:nvCxnSpPr>
          <p:spPr bwMode="auto">
            <a:xfrm>
              <a:off x="3981985" y="1990078"/>
              <a:ext cx="0" cy="45140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9"/>
            <p:cNvCxnSpPr/>
            <p:nvPr/>
          </p:nvCxnSpPr>
          <p:spPr bwMode="auto">
            <a:xfrm flipH="1">
              <a:off x="4652343" y="1990078"/>
              <a:ext cx="1035" cy="46938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5391706" y="2018191"/>
              <a:ext cx="0" cy="40222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6101919" y="2009313"/>
              <a:ext cx="0" cy="43217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6838765" y="2018190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矩形 22"/>
            <p:cNvSpPr/>
            <p:nvPr/>
          </p:nvSpPr>
          <p:spPr>
            <a:xfrm>
              <a:off x="494375" y="1953523"/>
              <a:ext cx="553997" cy="61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16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31693" y="1445142"/>
              <a:ext cx="611445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0      1       2      3       4      5      6       7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743874" y="2285251"/>
            <a:ext cx="46430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 = [10, 20, 30, 40, 50, 60, 70, 80]</a:t>
            </a:r>
            <a:endParaRPr lang="zh-CN" altLang="en-US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6F92EA-7F41-40B2-A9CB-E92B0C04D3E3}"/>
              </a:ext>
            </a:extLst>
          </p:cNvPr>
          <p:cNvSpPr txBox="1"/>
          <p:nvPr/>
        </p:nvSpPr>
        <p:spPr>
          <a:xfrm>
            <a:off x="1280011" y="6304224"/>
            <a:ext cx="5453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10      20      30     40       50     60 “hello”80</a:t>
            </a:r>
            <a:endParaRPr lang="zh-CN" altLang="en-US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A55DFBC-810E-473F-87CD-399C30AD3992}"/>
              </a:ext>
            </a:extLst>
          </p:cNvPr>
          <p:cNvCxnSpPr/>
          <p:nvPr/>
        </p:nvCxnSpPr>
        <p:spPr bwMode="auto">
          <a:xfrm>
            <a:off x="1559295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C4B9ACF-86C1-4CF7-9AAB-DD04DB91D669}"/>
              </a:ext>
            </a:extLst>
          </p:cNvPr>
          <p:cNvCxnSpPr/>
          <p:nvPr/>
        </p:nvCxnSpPr>
        <p:spPr bwMode="auto">
          <a:xfrm>
            <a:off x="2153918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8626611-2A24-43D9-A9CF-B39080053603}"/>
              </a:ext>
            </a:extLst>
          </p:cNvPr>
          <p:cNvCxnSpPr/>
          <p:nvPr/>
        </p:nvCxnSpPr>
        <p:spPr bwMode="auto">
          <a:xfrm>
            <a:off x="2860987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1560D13-F9D3-4D52-8C4E-5666BA91E7F2}"/>
              </a:ext>
            </a:extLst>
          </p:cNvPr>
          <p:cNvCxnSpPr/>
          <p:nvPr/>
        </p:nvCxnSpPr>
        <p:spPr bwMode="auto">
          <a:xfrm>
            <a:off x="3515328" y="5518221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A76295C-923A-4E09-A7F3-53A7E4FA9562}"/>
              </a:ext>
            </a:extLst>
          </p:cNvPr>
          <p:cNvCxnSpPr/>
          <p:nvPr/>
        </p:nvCxnSpPr>
        <p:spPr bwMode="auto">
          <a:xfrm>
            <a:off x="4178058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263E00D-A83B-4F3E-B57E-97F99F3719C8}"/>
              </a:ext>
            </a:extLst>
          </p:cNvPr>
          <p:cNvCxnSpPr/>
          <p:nvPr/>
        </p:nvCxnSpPr>
        <p:spPr bwMode="auto">
          <a:xfrm>
            <a:off x="4772681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7907B04-022C-49DD-A436-3079FB57FB25}"/>
              </a:ext>
            </a:extLst>
          </p:cNvPr>
          <p:cNvCxnSpPr/>
          <p:nvPr/>
        </p:nvCxnSpPr>
        <p:spPr bwMode="auto">
          <a:xfrm>
            <a:off x="5479750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FA7F7F6-CD36-4926-BD6B-2FCD9A40CCB8}"/>
              </a:ext>
            </a:extLst>
          </p:cNvPr>
          <p:cNvCxnSpPr/>
          <p:nvPr/>
        </p:nvCxnSpPr>
        <p:spPr bwMode="auto">
          <a:xfrm>
            <a:off x="6134091" y="5518220"/>
            <a:ext cx="0" cy="7725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AD23D53-1549-44C1-966D-D053E83014D8}"/>
              </a:ext>
            </a:extLst>
          </p:cNvPr>
          <p:cNvGrpSpPr/>
          <p:nvPr/>
        </p:nvGrpSpPr>
        <p:grpSpPr>
          <a:xfrm>
            <a:off x="743874" y="3204768"/>
            <a:ext cx="6206978" cy="858439"/>
            <a:chOff x="494375" y="1424490"/>
            <a:chExt cx="6843685" cy="1144585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CD4908CA-14CA-4285-A587-EA7DB0E7AD1C}"/>
                </a:ext>
              </a:extLst>
            </p:cNvPr>
            <p:cNvSpPr txBox="1"/>
            <p:nvPr/>
          </p:nvSpPr>
          <p:spPr>
            <a:xfrm>
              <a:off x="1125206" y="1969010"/>
              <a:ext cx="5713559" cy="451405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10       20      30    40      50     60      70     80</a:t>
              </a:r>
              <a:endParaRPr lang="zh-CN" altLang="en-US" sz="1600" dirty="0"/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6220828-A498-473C-B15F-18FF9188B599}"/>
                </a:ext>
              </a:extLst>
            </p:cNvPr>
            <p:cNvCxnSpPr/>
            <p:nvPr/>
          </p:nvCxnSpPr>
          <p:spPr bwMode="auto">
            <a:xfrm flipH="1">
              <a:off x="1764880" y="1970843"/>
              <a:ext cx="1775" cy="4495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5E03B83-8EB7-4DBC-A845-847AB81694D2}"/>
                </a:ext>
              </a:extLst>
            </p:cNvPr>
            <p:cNvCxnSpPr/>
            <p:nvPr/>
          </p:nvCxnSpPr>
          <p:spPr bwMode="auto">
            <a:xfrm flipH="1">
              <a:off x="2497151" y="1998955"/>
              <a:ext cx="7833" cy="4442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AE3ECA5B-DD21-45D8-83EB-16B3CA5E3618}"/>
                </a:ext>
              </a:extLst>
            </p:cNvPr>
            <p:cNvCxnSpPr/>
            <p:nvPr/>
          </p:nvCxnSpPr>
          <p:spPr bwMode="auto">
            <a:xfrm flipH="1">
              <a:off x="3192276" y="1990078"/>
              <a:ext cx="22920" cy="39891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06F43A8-A8C3-4B78-9139-71E6A4C4B9D4}"/>
                </a:ext>
              </a:extLst>
            </p:cNvPr>
            <p:cNvCxnSpPr/>
            <p:nvPr/>
          </p:nvCxnSpPr>
          <p:spPr bwMode="auto">
            <a:xfrm>
              <a:off x="3952042" y="1998955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76E74C9-8B11-4D93-BAC0-686936ABCB5E}"/>
                </a:ext>
              </a:extLst>
            </p:cNvPr>
            <p:cNvCxnSpPr/>
            <p:nvPr/>
          </p:nvCxnSpPr>
          <p:spPr bwMode="auto">
            <a:xfrm>
              <a:off x="4653379" y="1990078"/>
              <a:ext cx="3439" cy="39891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4647E67-0543-4DE7-8138-0A19FDA75727}"/>
                </a:ext>
              </a:extLst>
            </p:cNvPr>
            <p:cNvCxnSpPr/>
            <p:nvPr/>
          </p:nvCxnSpPr>
          <p:spPr bwMode="auto">
            <a:xfrm>
              <a:off x="5391706" y="2018191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429AD96-E133-462F-B92A-143B61D98341}"/>
                </a:ext>
              </a:extLst>
            </p:cNvPr>
            <p:cNvCxnSpPr/>
            <p:nvPr/>
          </p:nvCxnSpPr>
          <p:spPr bwMode="auto">
            <a:xfrm>
              <a:off x="6101919" y="2009313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3ABE7C9-B267-4D74-ADA1-74E2C5670F61}"/>
                </a:ext>
              </a:extLst>
            </p:cNvPr>
            <p:cNvCxnSpPr/>
            <p:nvPr/>
          </p:nvCxnSpPr>
          <p:spPr bwMode="auto">
            <a:xfrm>
              <a:off x="6838765" y="2018190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7C7C50E5-3D93-4D03-8BDF-BF426FC5AC11}"/>
                </a:ext>
              </a:extLst>
            </p:cNvPr>
            <p:cNvSpPr/>
            <p:nvPr/>
          </p:nvSpPr>
          <p:spPr>
            <a:xfrm>
              <a:off x="494375" y="1953523"/>
              <a:ext cx="553997" cy="61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16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66A39C3-D40C-4AD4-85CE-A2E7494B2F7D}"/>
                </a:ext>
              </a:extLst>
            </p:cNvPr>
            <p:cNvSpPr txBox="1"/>
            <p:nvPr/>
          </p:nvSpPr>
          <p:spPr>
            <a:xfrm>
              <a:off x="1223609" y="1424490"/>
              <a:ext cx="611445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0      1       2      3      4      5      6       7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71256277-23D4-483B-A921-AACEAC7D2372}"/>
              </a:ext>
            </a:extLst>
          </p:cNvPr>
          <p:cNvSpPr txBox="1"/>
          <p:nvPr/>
        </p:nvSpPr>
        <p:spPr>
          <a:xfrm>
            <a:off x="805343" y="286064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一般我们理解为：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A4E97E3-DCBA-4C64-B5DF-42DCBC528B43}"/>
              </a:ext>
            </a:extLst>
          </p:cNvPr>
          <p:cNvSpPr txBox="1"/>
          <p:nvPr/>
        </p:nvSpPr>
        <p:spPr>
          <a:xfrm>
            <a:off x="805343" y="453844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</a:rPr>
              <a:t>实际的结构为：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0A40A8C-E630-4ABE-BEA0-30F3A5BE9029}"/>
              </a:ext>
            </a:extLst>
          </p:cNvPr>
          <p:cNvSpPr txBox="1"/>
          <p:nvPr/>
        </p:nvSpPr>
        <p:spPr>
          <a:xfrm>
            <a:off x="2550874" y="4538112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A[6] = “hello”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1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116" y="1008617"/>
            <a:ext cx="8367623" cy="2155007"/>
          </a:xfrm>
        </p:spPr>
        <p:txBody>
          <a:bodyPr>
            <a:normAutofit/>
          </a:bodyPr>
          <a:lstStyle/>
          <a:p>
            <a:r>
              <a:rPr lang="zh-CN" altLang="en-US" dirty="0"/>
              <a:t>在形式上，列表的所有元素放在一对</a:t>
            </a:r>
            <a:r>
              <a:rPr lang="zh-CN" altLang="en-US" dirty="0">
                <a:solidFill>
                  <a:srgbClr val="FF0000"/>
                </a:solidFill>
              </a:rPr>
              <a:t>方括号</a:t>
            </a:r>
            <a:r>
              <a:rPr lang="zh-CN" altLang="en-US" dirty="0"/>
              <a:t>[]中，相邻元素之间使用</a:t>
            </a:r>
            <a:r>
              <a:rPr lang="zh-CN" altLang="en-US" dirty="0">
                <a:solidFill>
                  <a:srgbClr val="FF0000"/>
                </a:solidFill>
              </a:rPr>
              <a:t>逗号</a:t>
            </a:r>
            <a:r>
              <a:rPr lang="zh-CN" altLang="en-US" dirty="0"/>
              <a:t>分隔。</a:t>
            </a:r>
          </a:p>
          <a:p>
            <a:r>
              <a:rPr lang="zh-CN" altLang="en-US" dirty="0"/>
              <a:t>在Python中，</a:t>
            </a:r>
            <a:r>
              <a:rPr lang="zh-CN" altLang="en-US" dirty="0">
                <a:solidFill>
                  <a:srgbClr val="FF0000"/>
                </a:solidFill>
              </a:rPr>
              <a:t>同一个列表中元素的数据类型可以各不相同</a:t>
            </a:r>
            <a:r>
              <a:rPr lang="zh-CN" altLang="en-US" dirty="0"/>
              <a:t>，可以同时包含整数、实数、字符串等基本类型的元素，也可以包含列表、元组、字典、集合、函数以及其他</a:t>
            </a:r>
            <a:r>
              <a:rPr lang="zh-CN" altLang="en-US" dirty="0">
                <a:solidFill>
                  <a:srgbClr val="FF0000"/>
                </a:solidFill>
              </a:rPr>
              <a:t>任意对象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如果只有一对方括号而没有任何元素则表示空列表。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列表的定义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554" y="3311013"/>
            <a:ext cx="762575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[10, 20, 30, 40]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['crunchy frog', 'ram bladder', 'lark vomit']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['spam', 2.0, 5, [10, 20]]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[['file1', 200,7], ['file2', 260,9]]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[{3}, {5:6}, (1, 2, 3)]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[]  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646359" y="5896336"/>
            <a:ext cx="6708449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kern="0" dirty="0">
                <a:solidFill>
                  <a:srgbClr val="00B0F0"/>
                </a:solidFill>
                <a:latin typeface="Courier New"/>
                <a:ea typeface="宋体"/>
                <a:cs typeface="Times New Roman"/>
              </a:rPr>
              <a:t>空列表，用于逻辑判断时和</a:t>
            </a:r>
            <a:r>
              <a:rPr lang="en-US" altLang="zh-CN" kern="0" dirty="0">
                <a:solidFill>
                  <a:srgbClr val="00B0F0"/>
                </a:solidFill>
                <a:latin typeface="Courier New"/>
                <a:ea typeface="宋体"/>
                <a:cs typeface="Times New Roman"/>
              </a:rPr>
              <a:t>None</a:t>
            </a:r>
            <a:r>
              <a:rPr lang="zh-CN" altLang="en-US" kern="0" dirty="0">
                <a:solidFill>
                  <a:srgbClr val="00B0F0"/>
                </a:solidFill>
                <a:latin typeface="Courier New"/>
                <a:ea typeface="宋体"/>
                <a:cs typeface="Times New Roman"/>
              </a:rPr>
              <a:t>、空字符串一样等价于</a:t>
            </a:r>
            <a:r>
              <a:rPr lang="en-US" altLang="zh-CN" kern="0" dirty="0">
                <a:solidFill>
                  <a:srgbClr val="00B0F0"/>
                </a:solidFill>
                <a:latin typeface="Courier New"/>
                <a:ea typeface="宋体"/>
                <a:cs typeface="Times New Roman"/>
              </a:rPr>
              <a:t>False</a:t>
            </a:r>
            <a:endParaRPr lang="zh-CN" altLang="en-US" kern="0" dirty="0">
              <a:solidFill>
                <a:srgbClr val="00B0F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AD6B5C-D875-4543-983C-7536EB767262}"/>
              </a:ext>
            </a:extLst>
          </p:cNvPr>
          <p:cNvSpPr txBox="1"/>
          <p:nvPr/>
        </p:nvSpPr>
        <p:spPr>
          <a:xfrm>
            <a:off x="683569" y="6157519"/>
            <a:ext cx="3328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= []</a:t>
            </a:r>
          </a:p>
          <a:p>
            <a:r>
              <a:rPr lang="en-US" altLang="zh-CN" dirty="0"/>
              <a:t>if not a: print(‘a is empty.’)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1111" y="1805627"/>
            <a:ext cx="8458200" cy="494901"/>
          </a:xfrm>
        </p:spPr>
        <p:txBody>
          <a:bodyPr/>
          <a:lstStyle/>
          <a:p>
            <a:r>
              <a:rPr lang="zh-CN" altLang="en-US"/>
              <a:t>使用“=”直接将一个列表赋值给变量即可创建列表对象。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27686"/>
            <a:ext cx="2757463" cy="609600"/>
          </a:xfrm>
        </p:spPr>
        <p:txBody>
          <a:bodyPr/>
          <a:lstStyle/>
          <a:p>
            <a:r>
              <a:rPr lang="zh-CN" altLang="en-US"/>
              <a:t>列表创建</a:t>
            </a:r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3569" y="2704790"/>
            <a:ext cx="7021902" cy="87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a_list = [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, </a:t>
            </a:r>
            <a:r>
              <a:rPr lang="en-US" altLang="zh-CN" dirty="0">
                <a:latin typeface="Consolas" panose="020B0609020204030204" pitchFamily="49" charset="0"/>
              </a:rPr>
              <a:t>2.0</a:t>
            </a:r>
            <a:r>
              <a:rPr lang="zh-CN" altLang="en-US" dirty="0">
                <a:latin typeface="Consolas" panose="020B0609020204030204" pitchFamily="49" charset="0"/>
              </a:rPr>
              <a:t>, 'mpilgrim', 'z', 'example']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&gt;&gt;&gt; a_list = []</a:t>
            </a:r>
          </a:p>
        </p:txBody>
      </p:sp>
    </p:spTree>
    <p:extLst>
      <p:ext uri="{BB962C8B-B14F-4D97-AF65-F5344CB8AC3E}">
        <p14:creationId xmlns:p14="http://schemas.microsoft.com/office/powerpoint/2010/main" val="137439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27686"/>
            <a:ext cx="2757463" cy="609600"/>
          </a:xfrm>
        </p:spPr>
        <p:txBody>
          <a:bodyPr/>
          <a:lstStyle/>
          <a:p>
            <a:r>
              <a:rPr lang="zh-CN" altLang="en-US"/>
              <a:t>列表创建 </a:t>
            </a:r>
            <a:r>
              <a:rPr lang="en-US" altLang="zh-CN"/>
              <a:t>2</a:t>
            </a: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253858" y="1139281"/>
            <a:ext cx="8475453" cy="1093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557199" indent="-214308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57229" indent="-171446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200121" indent="-171446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1543012" indent="-171446" algn="l" rtl="0" eaLnBrk="1" fontAlgn="base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indent="-208275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kern="0"/>
              <a:t>使用</a:t>
            </a:r>
            <a:r>
              <a:rPr lang="zh-CN" altLang="en-US" kern="0" dirty="0"/>
              <a:t>list()函数把元组、range对象、字符串、字典、集合或其他可迭代对象转换为列表。</a:t>
            </a:r>
          </a:p>
        </p:txBody>
      </p:sp>
      <p:sp>
        <p:nvSpPr>
          <p:cNvPr id="5" name="矩形 4"/>
          <p:cNvSpPr/>
          <p:nvPr/>
        </p:nvSpPr>
        <p:spPr>
          <a:xfrm>
            <a:off x="1608064" y="2399707"/>
            <a:ext cx="395533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0" dirty="0">
                <a:latin typeface="Consolas" panose="020B0609020204030204" pitchFamily="49" charset="0"/>
              </a:rPr>
              <a:t>&gt;&gt;&gt; list((3,5,7,9,11)) </a:t>
            </a:r>
            <a:endParaRPr lang="en-US" altLang="zh-CN" kern="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kern="0" dirty="0">
                <a:solidFill>
                  <a:srgbClr val="C00000"/>
                </a:solidFill>
                <a:latin typeface="Consolas" panose="020B0609020204030204" pitchFamily="49" charset="0"/>
              </a:rPr>
              <a:t>[3, 5, 7, 9, 11]</a:t>
            </a:r>
          </a:p>
          <a:p>
            <a:pPr>
              <a:lnSpc>
                <a:spcPct val="150000"/>
              </a:lnSpc>
            </a:pPr>
            <a:r>
              <a:rPr lang="zh-CN" altLang="en-US" kern="0" dirty="0">
                <a:latin typeface="Consolas" panose="020B0609020204030204" pitchFamily="49" charset="0"/>
              </a:rPr>
              <a:t>&gt;&gt;&gt; list(range(1, 10, 2)) </a:t>
            </a:r>
          </a:p>
          <a:p>
            <a:pPr>
              <a:lnSpc>
                <a:spcPct val="150000"/>
              </a:lnSpc>
            </a:pPr>
            <a:r>
              <a:rPr lang="zh-CN" altLang="en-US" b="1" kern="0" dirty="0">
                <a:solidFill>
                  <a:srgbClr val="C00000"/>
                </a:solidFill>
                <a:latin typeface="Consolas" panose="020B0609020204030204" pitchFamily="49" charset="0"/>
              </a:rPr>
              <a:t>[1, 3, 5, 7, 9]</a:t>
            </a:r>
          </a:p>
          <a:p>
            <a:pPr>
              <a:lnSpc>
                <a:spcPct val="150000"/>
              </a:lnSpc>
            </a:pPr>
            <a:r>
              <a:rPr lang="en-US" altLang="zh-CN" kern="0" dirty="0">
                <a:latin typeface="Consolas" panose="020B0609020204030204" pitchFamily="49" charset="0"/>
              </a:rPr>
              <a:t>&gt;&gt;&gt; list("</a:t>
            </a:r>
            <a:r>
              <a:rPr lang="en-US" altLang="zh-CN" kern="0" dirty="0" err="1">
                <a:latin typeface="Consolas" panose="020B0609020204030204" pitchFamily="49" charset="0"/>
              </a:rPr>
              <a:t>abc</a:t>
            </a:r>
            <a:r>
              <a:rPr lang="en-US" altLang="zh-CN" kern="0" dirty="0">
                <a:latin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 b="1" kern="0" dirty="0">
                <a:solidFill>
                  <a:srgbClr val="C00000"/>
                </a:solidFill>
                <a:latin typeface="Consolas" panose="020B0609020204030204" pitchFamily="49" charset="0"/>
              </a:rPr>
              <a:t>['a', 'b', 'c']</a:t>
            </a:r>
          </a:p>
          <a:p>
            <a:pPr>
              <a:lnSpc>
                <a:spcPct val="150000"/>
              </a:lnSpc>
            </a:pPr>
            <a:r>
              <a:rPr lang="zh-CN" altLang="en-US" kern="0" dirty="0">
                <a:latin typeface="Consolas" panose="020B0609020204030204" pitchFamily="49" charset="0"/>
              </a:rPr>
              <a:t>&gt;&gt;&gt; list()</a:t>
            </a:r>
            <a:endParaRPr lang="en-US" altLang="zh-CN" kern="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kern="0" dirty="0">
                <a:solidFill>
                  <a:srgbClr val="C00000"/>
                </a:solidFill>
                <a:latin typeface="Consolas" panose="020B0609020204030204" pitchFamily="49" charset="0"/>
              </a:rPr>
              <a:t>[]</a:t>
            </a:r>
          </a:p>
          <a:p>
            <a:endParaRPr lang="zh-CN" altLang="en-US" kern="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04119" y="109320"/>
            <a:ext cx="178285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0" cap="none" spc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list</a:t>
            </a:r>
            <a:r>
              <a:rPr lang="zh-CN" altLang="en-US" sz="3600" b="0" cap="none" spc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函数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0EC6C8-F8D9-4E4B-9646-09EC2C3014AF}"/>
              </a:ext>
            </a:extLst>
          </p:cNvPr>
          <p:cNvSpPr txBox="1"/>
          <p:nvPr/>
        </p:nvSpPr>
        <p:spPr>
          <a:xfrm>
            <a:off x="6165908" y="2505670"/>
            <a:ext cx="2084225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Consolas" panose="020B0609020204030204" pitchFamily="49" charset="0"/>
              </a:rPr>
              <a:t>s=range(5,10,</a:t>
            </a:r>
            <a:r>
              <a:rPr lang="en-US" altLang="zh-CN" b="1" dirty="0">
                <a:latin typeface="Consolas" panose="020B0609020204030204" pitchFamily="49" charset="0"/>
              </a:rPr>
              <a:t>2</a:t>
            </a:r>
            <a:r>
              <a:rPr lang="zh-CN" altLang="en-US" b="1" dirty="0">
                <a:latin typeface="Consolas" panose="020B0609020204030204" pitchFamily="49" charset="0"/>
              </a:rPr>
              <a:t>)</a:t>
            </a:r>
            <a:endParaRPr lang="en-US" altLang="zh-CN" dirty="0"/>
          </a:p>
          <a:p>
            <a:r>
              <a:rPr lang="en-US" altLang="zh-CN" dirty="0"/>
              <a:t>it = </a:t>
            </a:r>
            <a:r>
              <a:rPr lang="en-US" altLang="zh-CN" dirty="0" err="1"/>
              <a:t>iter</a:t>
            </a:r>
            <a:r>
              <a:rPr lang="en-US" altLang="zh-CN" dirty="0"/>
              <a:t>(s)</a:t>
            </a:r>
          </a:p>
          <a:p>
            <a:r>
              <a:rPr lang="en-US" altLang="zh-CN" dirty="0"/>
              <a:t>a = next(it)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08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list("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的结果是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?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['a', 'b', 'c', 'd']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'[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["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abcd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["a, b, c, d" 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8563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770946"/>
          </a:xfrm>
        </p:spPr>
        <p:txBody>
          <a:bodyPr/>
          <a:lstStyle/>
          <a:p>
            <a:r>
              <a:rPr lang="zh-CN" altLang="en-US" dirty="0"/>
              <a:t>当一个列表不再使用时，可以使用del命令将其删除，这一点适用于所有类型的Python对象。</a:t>
            </a:r>
          </a:p>
          <a:p>
            <a:pPr marL="0" indent="0">
              <a:lnSpc>
                <a:spcPts val="2600"/>
              </a:lnSpc>
              <a:buNone/>
            </a:pPr>
            <a:endParaRPr lang="zh-CN" altLang="en-US" sz="1800" dirty="0"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列表删除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7008" y="2104727"/>
            <a:ext cx="6514974" cy="2648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x = [1, 2, 3]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del x                     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x                          </a:t>
            </a:r>
            <a:endParaRPr lang="en-US" altLang="zh-CN" dirty="0">
              <a:latin typeface="Consolas" panose="020B0609020204030204" charset="0"/>
            </a:endParaRPr>
          </a:p>
          <a:p>
            <a:pPr>
              <a:lnSpc>
                <a:spcPts val="26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charset="0"/>
              </a:rPr>
              <a:t>Traceback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 (most recent call last):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  File "&lt;pyshell#2&gt;", line 1, in &lt;module&gt;</a:t>
            </a:r>
          </a:p>
          <a:p>
            <a:pPr>
              <a:lnSpc>
                <a:spcPts val="2600"/>
              </a:lnSpc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    x</a:t>
            </a:r>
          </a:p>
          <a:p>
            <a:pPr>
              <a:lnSpc>
                <a:spcPts val="26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Consolas" panose="020B0609020204030204" charset="0"/>
              </a:rPr>
              <a:t>NameError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charset="0"/>
              </a:rPr>
              <a:t>: name 'x' is not defined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2581249" y="1810408"/>
            <a:ext cx="3911038" cy="102155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删除变量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x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，并让该列表对象的引用次数减一，因为该列表对象的引用次数变为</a:t>
            </a:r>
            <a:r>
              <a:rPr lang="en-US" altLang="zh-CN" dirty="0">
                <a:solidFill>
                  <a:srgbClr val="00B0F0"/>
                </a:solidFill>
                <a:latin typeface="Consolas" panose="020B0609020204030204" charset="0"/>
              </a:rPr>
              <a:t>0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，所以该列表对象被删除。</a:t>
            </a:r>
            <a:endParaRPr lang="zh-CN" altLang="en-US" kern="0" dirty="0">
              <a:solidFill>
                <a:srgbClr val="00B0F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581249" y="2879088"/>
            <a:ext cx="391103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变量被删除后无法再访问，抛出异常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C670B2-4DF8-40F7-B7EC-F0DECA59B5D8}"/>
              </a:ext>
            </a:extLst>
          </p:cNvPr>
          <p:cNvSpPr txBox="1"/>
          <p:nvPr/>
        </p:nvSpPr>
        <p:spPr>
          <a:xfrm>
            <a:off x="260059" y="4991332"/>
            <a:ext cx="39844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&gt;&gt;&gt;a = b = [‘hello', 'dog', 'cat’]</a:t>
            </a:r>
          </a:p>
          <a:p>
            <a:r>
              <a:rPr lang="en-US" altLang="zh-CN" dirty="0"/>
              <a:t>&gt;&gt;&gt;a[0] = 'bird'</a:t>
            </a:r>
          </a:p>
          <a:p>
            <a:r>
              <a:rPr lang="en-US" altLang="zh-CN" dirty="0"/>
              <a:t>&gt;&gt;&gt;del a</a:t>
            </a:r>
          </a:p>
          <a:p>
            <a:r>
              <a:rPr lang="en-US" altLang="zh-CN" dirty="0"/>
              <a:t>&gt;&gt;&gt;b</a:t>
            </a:r>
          </a:p>
          <a:p>
            <a:r>
              <a:rPr lang="en-US" altLang="zh-CN" dirty="0"/>
              <a:t>['bird', 'dog', 'cat']</a:t>
            </a:r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2548ACF-DCFB-48AB-8773-31A2069835F1}"/>
              </a:ext>
            </a:extLst>
          </p:cNvPr>
          <p:cNvCxnSpPr/>
          <p:nvPr/>
        </p:nvCxnSpPr>
        <p:spPr bwMode="auto">
          <a:xfrm>
            <a:off x="7205527" y="1565004"/>
            <a:ext cx="0" cy="50706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3F07076-5012-480A-821C-340D6045D2D8}"/>
              </a:ext>
            </a:extLst>
          </p:cNvPr>
          <p:cNvCxnSpPr/>
          <p:nvPr/>
        </p:nvCxnSpPr>
        <p:spPr bwMode="auto">
          <a:xfrm>
            <a:off x="8166134" y="1565004"/>
            <a:ext cx="0" cy="50706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406BEB4-52C1-4C6D-8CBE-95ED1F44BDEC}"/>
              </a:ext>
            </a:extLst>
          </p:cNvPr>
          <p:cNvSpPr/>
          <p:nvPr/>
        </p:nvSpPr>
        <p:spPr>
          <a:xfrm>
            <a:off x="7214707" y="1883056"/>
            <a:ext cx="949841" cy="4001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2000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hello</a:t>
            </a:r>
            <a:endParaRPr lang="zh-CN" altLang="en-US" sz="2000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38C34E-608E-4833-88F5-3C606CC89973}"/>
              </a:ext>
            </a:extLst>
          </p:cNvPr>
          <p:cNvSpPr/>
          <p:nvPr/>
        </p:nvSpPr>
        <p:spPr>
          <a:xfrm>
            <a:off x="7205527" y="2593612"/>
            <a:ext cx="949841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dog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CFC5C6-B97D-4EB3-84E2-B316B5D2D384}"/>
              </a:ext>
            </a:extLst>
          </p:cNvPr>
          <p:cNvSpPr/>
          <p:nvPr/>
        </p:nvSpPr>
        <p:spPr>
          <a:xfrm>
            <a:off x="7214707" y="3115344"/>
            <a:ext cx="949841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cat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6D14A0-310F-49ED-87D2-6BC545B6D12E}"/>
              </a:ext>
            </a:extLst>
          </p:cNvPr>
          <p:cNvSpPr/>
          <p:nvPr/>
        </p:nvSpPr>
        <p:spPr>
          <a:xfrm>
            <a:off x="7214707" y="4348733"/>
            <a:ext cx="949833" cy="2768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F41881-DD48-48C2-814C-0DE836D3C057}"/>
              </a:ext>
            </a:extLst>
          </p:cNvPr>
          <p:cNvSpPr/>
          <p:nvPr/>
        </p:nvSpPr>
        <p:spPr>
          <a:xfrm>
            <a:off x="7214707" y="4617180"/>
            <a:ext cx="949833" cy="2768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411E4A-5778-4CBE-809A-0E35D04CD9A5}"/>
              </a:ext>
            </a:extLst>
          </p:cNvPr>
          <p:cNvSpPr/>
          <p:nvPr/>
        </p:nvSpPr>
        <p:spPr>
          <a:xfrm>
            <a:off x="7214706" y="4896659"/>
            <a:ext cx="949833" cy="2768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C8E49339-EE6A-41B5-8733-F4AC78C0F519}"/>
              </a:ext>
            </a:extLst>
          </p:cNvPr>
          <p:cNvSpPr/>
          <p:nvPr/>
        </p:nvSpPr>
        <p:spPr>
          <a:xfrm>
            <a:off x="6693798" y="2024119"/>
            <a:ext cx="604008" cy="2442059"/>
          </a:xfrm>
          <a:custGeom>
            <a:avLst/>
            <a:gdLst>
              <a:gd name="connsiteX0" fmla="*/ 604008 w 604008"/>
              <a:gd name="connsiteY0" fmla="*/ 2442059 h 2442059"/>
              <a:gd name="connsiteX1" fmla="*/ 478173 w 604008"/>
              <a:gd name="connsiteY1" fmla="*/ 2408504 h 2442059"/>
              <a:gd name="connsiteX2" fmla="*/ 444617 w 604008"/>
              <a:gd name="connsiteY2" fmla="*/ 2391726 h 2442059"/>
              <a:gd name="connsiteX3" fmla="*/ 411061 w 604008"/>
              <a:gd name="connsiteY3" fmla="*/ 2366559 h 2442059"/>
              <a:gd name="connsiteX4" fmla="*/ 385894 w 604008"/>
              <a:gd name="connsiteY4" fmla="*/ 2282669 h 2442059"/>
              <a:gd name="connsiteX5" fmla="*/ 377505 w 604008"/>
              <a:gd name="connsiteY5" fmla="*/ 2240724 h 2442059"/>
              <a:gd name="connsiteX6" fmla="*/ 327171 w 604008"/>
              <a:gd name="connsiteY6" fmla="*/ 2114889 h 2442059"/>
              <a:gd name="connsiteX7" fmla="*/ 302004 w 604008"/>
              <a:gd name="connsiteY7" fmla="*/ 2014221 h 2442059"/>
              <a:gd name="connsiteX8" fmla="*/ 251670 w 604008"/>
              <a:gd name="connsiteY8" fmla="*/ 1846441 h 2442059"/>
              <a:gd name="connsiteX9" fmla="*/ 209725 w 604008"/>
              <a:gd name="connsiteY9" fmla="*/ 1569604 h 2442059"/>
              <a:gd name="connsiteX10" fmla="*/ 184558 w 604008"/>
              <a:gd name="connsiteY10" fmla="*/ 1502493 h 2442059"/>
              <a:gd name="connsiteX11" fmla="*/ 167780 w 604008"/>
              <a:gd name="connsiteY11" fmla="*/ 1426992 h 2442059"/>
              <a:gd name="connsiteX12" fmla="*/ 151002 w 604008"/>
              <a:gd name="connsiteY12" fmla="*/ 1401825 h 2442059"/>
              <a:gd name="connsiteX13" fmla="*/ 125835 w 604008"/>
              <a:gd name="connsiteY13" fmla="*/ 1309546 h 2442059"/>
              <a:gd name="connsiteX14" fmla="*/ 109057 w 604008"/>
              <a:gd name="connsiteY14" fmla="*/ 1234045 h 2442059"/>
              <a:gd name="connsiteX15" fmla="*/ 92279 w 604008"/>
              <a:gd name="connsiteY15" fmla="*/ 1175322 h 2442059"/>
              <a:gd name="connsiteX16" fmla="*/ 75501 w 604008"/>
              <a:gd name="connsiteY16" fmla="*/ 1099821 h 2442059"/>
              <a:gd name="connsiteX17" fmla="*/ 67112 w 604008"/>
              <a:gd name="connsiteY17" fmla="*/ 999153 h 2442059"/>
              <a:gd name="connsiteX18" fmla="*/ 33556 w 604008"/>
              <a:gd name="connsiteY18" fmla="*/ 822984 h 2442059"/>
              <a:gd name="connsiteX19" fmla="*/ 16778 w 604008"/>
              <a:gd name="connsiteY19" fmla="*/ 638426 h 2442059"/>
              <a:gd name="connsiteX20" fmla="*/ 0 w 604008"/>
              <a:gd name="connsiteY20" fmla="*/ 520981 h 2442059"/>
              <a:gd name="connsiteX21" fmla="*/ 16778 w 604008"/>
              <a:gd name="connsiteY21" fmla="*/ 353201 h 2442059"/>
              <a:gd name="connsiteX22" fmla="*/ 25167 w 604008"/>
              <a:gd name="connsiteY22" fmla="*/ 277700 h 2442059"/>
              <a:gd name="connsiteX23" fmla="*/ 58723 w 604008"/>
              <a:gd name="connsiteY23" fmla="*/ 193810 h 2442059"/>
              <a:gd name="connsiteX24" fmla="*/ 83890 w 604008"/>
              <a:gd name="connsiteY24" fmla="*/ 151865 h 2442059"/>
              <a:gd name="connsiteX25" fmla="*/ 125835 w 604008"/>
              <a:gd name="connsiteY25" fmla="*/ 118309 h 2442059"/>
              <a:gd name="connsiteX26" fmla="*/ 192947 w 604008"/>
              <a:gd name="connsiteY26" fmla="*/ 51197 h 2442059"/>
              <a:gd name="connsiteX27" fmla="*/ 243281 w 604008"/>
              <a:gd name="connsiteY27" fmla="*/ 34419 h 2442059"/>
              <a:gd name="connsiteX28" fmla="*/ 302004 w 604008"/>
              <a:gd name="connsiteY28" fmla="*/ 17641 h 2442059"/>
              <a:gd name="connsiteX29" fmla="*/ 394283 w 604008"/>
              <a:gd name="connsiteY29" fmla="*/ 863 h 2442059"/>
              <a:gd name="connsiteX30" fmla="*/ 528507 w 604008"/>
              <a:gd name="connsiteY30" fmla="*/ 863 h 244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4008" h="2442059">
                <a:moveTo>
                  <a:pt x="604008" y="2442059"/>
                </a:moveTo>
                <a:cubicBezTo>
                  <a:pt x="550762" y="2431410"/>
                  <a:pt x="540244" y="2430672"/>
                  <a:pt x="478173" y="2408504"/>
                </a:cubicBezTo>
                <a:cubicBezTo>
                  <a:pt x="466396" y="2404298"/>
                  <a:pt x="455222" y="2398354"/>
                  <a:pt x="444617" y="2391726"/>
                </a:cubicBezTo>
                <a:cubicBezTo>
                  <a:pt x="432761" y="2384316"/>
                  <a:pt x="422246" y="2374948"/>
                  <a:pt x="411061" y="2366559"/>
                </a:cubicBezTo>
                <a:cubicBezTo>
                  <a:pt x="397120" y="2324735"/>
                  <a:pt x="394346" y="2320704"/>
                  <a:pt x="385894" y="2282669"/>
                </a:cubicBezTo>
                <a:cubicBezTo>
                  <a:pt x="382801" y="2268750"/>
                  <a:pt x="382215" y="2254182"/>
                  <a:pt x="377505" y="2240724"/>
                </a:cubicBezTo>
                <a:cubicBezTo>
                  <a:pt x="362581" y="2198084"/>
                  <a:pt x="338128" y="2158716"/>
                  <a:pt x="327171" y="2114889"/>
                </a:cubicBezTo>
                <a:cubicBezTo>
                  <a:pt x="318782" y="2081333"/>
                  <a:pt x="311369" y="2047518"/>
                  <a:pt x="302004" y="2014221"/>
                </a:cubicBezTo>
                <a:cubicBezTo>
                  <a:pt x="286195" y="1958013"/>
                  <a:pt x="251670" y="1846441"/>
                  <a:pt x="251670" y="1846441"/>
                </a:cubicBezTo>
                <a:cubicBezTo>
                  <a:pt x="234397" y="1518247"/>
                  <a:pt x="263059" y="1836272"/>
                  <a:pt x="209725" y="1569604"/>
                </a:cubicBezTo>
                <a:cubicBezTo>
                  <a:pt x="199359" y="1517773"/>
                  <a:pt x="209245" y="1539523"/>
                  <a:pt x="184558" y="1502493"/>
                </a:cubicBezTo>
                <a:cubicBezTo>
                  <a:pt x="183065" y="1495028"/>
                  <a:pt x="172223" y="1437358"/>
                  <a:pt x="167780" y="1426992"/>
                </a:cubicBezTo>
                <a:cubicBezTo>
                  <a:pt x="163808" y="1417725"/>
                  <a:pt x="156595" y="1410214"/>
                  <a:pt x="151002" y="1401825"/>
                </a:cubicBezTo>
                <a:cubicBezTo>
                  <a:pt x="132027" y="1325927"/>
                  <a:pt x="155753" y="1419246"/>
                  <a:pt x="125835" y="1309546"/>
                </a:cubicBezTo>
                <a:cubicBezTo>
                  <a:pt x="100000" y="1214816"/>
                  <a:pt x="137006" y="1345842"/>
                  <a:pt x="109057" y="1234045"/>
                </a:cubicBezTo>
                <a:cubicBezTo>
                  <a:pt x="104120" y="1214295"/>
                  <a:pt x="97216" y="1195072"/>
                  <a:pt x="92279" y="1175322"/>
                </a:cubicBezTo>
                <a:cubicBezTo>
                  <a:pt x="86026" y="1150311"/>
                  <a:pt x="81094" y="1124988"/>
                  <a:pt x="75501" y="1099821"/>
                </a:cubicBezTo>
                <a:cubicBezTo>
                  <a:pt x="72705" y="1066265"/>
                  <a:pt x="72156" y="1032445"/>
                  <a:pt x="67112" y="999153"/>
                </a:cubicBezTo>
                <a:cubicBezTo>
                  <a:pt x="58157" y="940049"/>
                  <a:pt x="33556" y="822984"/>
                  <a:pt x="33556" y="822984"/>
                </a:cubicBezTo>
                <a:cubicBezTo>
                  <a:pt x="27963" y="761465"/>
                  <a:pt x="26934" y="699359"/>
                  <a:pt x="16778" y="638426"/>
                </a:cubicBezTo>
                <a:cubicBezTo>
                  <a:pt x="4683" y="565855"/>
                  <a:pt x="10499" y="604971"/>
                  <a:pt x="0" y="520981"/>
                </a:cubicBezTo>
                <a:cubicBezTo>
                  <a:pt x="14901" y="327271"/>
                  <a:pt x="524" y="483235"/>
                  <a:pt x="16778" y="353201"/>
                </a:cubicBezTo>
                <a:cubicBezTo>
                  <a:pt x="19919" y="328075"/>
                  <a:pt x="20201" y="302530"/>
                  <a:pt x="25167" y="277700"/>
                </a:cubicBezTo>
                <a:cubicBezTo>
                  <a:pt x="30760" y="249737"/>
                  <a:pt x="44741" y="218977"/>
                  <a:pt x="58723" y="193810"/>
                </a:cubicBezTo>
                <a:cubicBezTo>
                  <a:pt x="66642" y="179557"/>
                  <a:pt x="73057" y="164052"/>
                  <a:pt x="83890" y="151865"/>
                </a:cubicBezTo>
                <a:cubicBezTo>
                  <a:pt x="95786" y="138482"/>
                  <a:pt x="113174" y="130970"/>
                  <a:pt x="125835" y="118309"/>
                </a:cubicBezTo>
                <a:cubicBezTo>
                  <a:pt x="158612" y="85532"/>
                  <a:pt x="152495" y="71423"/>
                  <a:pt x="192947" y="51197"/>
                </a:cubicBezTo>
                <a:cubicBezTo>
                  <a:pt x="208765" y="43288"/>
                  <a:pt x="226378" y="39620"/>
                  <a:pt x="243281" y="34419"/>
                </a:cubicBezTo>
                <a:cubicBezTo>
                  <a:pt x="262738" y="28432"/>
                  <a:pt x="282364" y="22997"/>
                  <a:pt x="302004" y="17641"/>
                </a:cubicBezTo>
                <a:cubicBezTo>
                  <a:pt x="331786" y="9519"/>
                  <a:pt x="363517" y="2201"/>
                  <a:pt x="394283" y="863"/>
                </a:cubicBezTo>
                <a:cubicBezTo>
                  <a:pt x="438982" y="-1080"/>
                  <a:pt x="483766" y="863"/>
                  <a:pt x="528507" y="863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arrow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7EC6B1A-222C-40BF-A688-46B725CCFAF7}"/>
              </a:ext>
            </a:extLst>
          </p:cNvPr>
          <p:cNvSpPr/>
          <p:nvPr/>
        </p:nvSpPr>
        <p:spPr>
          <a:xfrm>
            <a:off x="6491660" y="2687712"/>
            <a:ext cx="839701" cy="2088859"/>
          </a:xfrm>
          <a:custGeom>
            <a:avLst/>
            <a:gdLst>
              <a:gd name="connsiteX0" fmla="*/ 839701 w 839701"/>
              <a:gd name="connsiteY0" fmla="*/ 2088859 h 2088859"/>
              <a:gd name="connsiteX1" fmla="*/ 705478 w 839701"/>
              <a:gd name="connsiteY1" fmla="*/ 2080470 h 2088859"/>
              <a:gd name="connsiteX2" fmla="*/ 579643 w 839701"/>
              <a:gd name="connsiteY2" fmla="*/ 2046914 h 2088859"/>
              <a:gd name="connsiteX3" fmla="*/ 512531 w 839701"/>
              <a:gd name="connsiteY3" fmla="*/ 2021747 h 2088859"/>
              <a:gd name="connsiteX4" fmla="*/ 378307 w 839701"/>
              <a:gd name="connsiteY4" fmla="*/ 1921079 h 2088859"/>
              <a:gd name="connsiteX5" fmla="*/ 277639 w 839701"/>
              <a:gd name="connsiteY5" fmla="*/ 1820411 h 2088859"/>
              <a:gd name="connsiteX6" fmla="*/ 135026 w 839701"/>
              <a:gd name="connsiteY6" fmla="*/ 1551964 h 2088859"/>
              <a:gd name="connsiteX7" fmla="*/ 84692 w 839701"/>
              <a:gd name="connsiteY7" fmla="*/ 1417740 h 2088859"/>
              <a:gd name="connsiteX8" fmla="*/ 42747 w 839701"/>
              <a:gd name="connsiteY8" fmla="*/ 1132514 h 2088859"/>
              <a:gd name="connsiteX9" fmla="*/ 17580 w 839701"/>
              <a:gd name="connsiteY9" fmla="*/ 1048624 h 2088859"/>
              <a:gd name="connsiteX10" fmla="*/ 9191 w 839701"/>
              <a:gd name="connsiteY10" fmla="*/ 654342 h 2088859"/>
              <a:gd name="connsiteX11" fmla="*/ 17580 w 839701"/>
              <a:gd name="connsiteY11" fmla="*/ 620786 h 2088859"/>
              <a:gd name="connsiteX12" fmla="*/ 25969 w 839701"/>
              <a:gd name="connsiteY12" fmla="*/ 578841 h 2088859"/>
              <a:gd name="connsiteX13" fmla="*/ 34358 w 839701"/>
              <a:gd name="connsiteY13" fmla="*/ 520118 h 2088859"/>
              <a:gd name="connsiteX14" fmla="*/ 51136 w 839701"/>
              <a:gd name="connsiteY14" fmla="*/ 494951 h 2088859"/>
              <a:gd name="connsiteX15" fmla="*/ 67914 w 839701"/>
              <a:gd name="connsiteY15" fmla="*/ 461395 h 2088859"/>
              <a:gd name="connsiteX16" fmla="*/ 84692 w 839701"/>
              <a:gd name="connsiteY16" fmla="*/ 436228 h 2088859"/>
              <a:gd name="connsiteX17" fmla="*/ 101470 w 839701"/>
              <a:gd name="connsiteY17" fmla="*/ 402672 h 2088859"/>
              <a:gd name="connsiteX18" fmla="*/ 135026 w 839701"/>
              <a:gd name="connsiteY18" fmla="*/ 377505 h 2088859"/>
              <a:gd name="connsiteX19" fmla="*/ 168582 w 839701"/>
              <a:gd name="connsiteY19" fmla="*/ 335560 h 2088859"/>
              <a:gd name="connsiteX20" fmla="*/ 353140 w 839701"/>
              <a:gd name="connsiteY20" fmla="*/ 176169 h 2088859"/>
              <a:gd name="connsiteX21" fmla="*/ 470586 w 839701"/>
              <a:gd name="connsiteY21" fmla="*/ 83890 h 2088859"/>
              <a:gd name="connsiteX22" fmla="*/ 512531 w 839701"/>
              <a:gd name="connsiteY22" fmla="*/ 50334 h 2088859"/>
              <a:gd name="connsiteX23" fmla="*/ 588032 w 839701"/>
              <a:gd name="connsiteY23" fmla="*/ 16778 h 2088859"/>
              <a:gd name="connsiteX24" fmla="*/ 621588 w 839701"/>
              <a:gd name="connsiteY24" fmla="*/ 0 h 2088859"/>
              <a:gd name="connsiteX25" fmla="*/ 739034 w 839701"/>
              <a:gd name="connsiteY25" fmla="*/ 25167 h 2088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839701" h="2088859">
                <a:moveTo>
                  <a:pt x="839701" y="2088859"/>
                </a:moveTo>
                <a:cubicBezTo>
                  <a:pt x="794960" y="2086063"/>
                  <a:pt x="749987" y="2085811"/>
                  <a:pt x="705478" y="2080470"/>
                </a:cubicBezTo>
                <a:cubicBezTo>
                  <a:pt x="663646" y="2075450"/>
                  <a:pt x="619495" y="2061147"/>
                  <a:pt x="579643" y="2046914"/>
                </a:cubicBezTo>
                <a:cubicBezTo>
                  <a:pt x="557143" y="2038878"/>
                  <a:pt x="534181" y="2031851"/>
                  <a:pt x="512531" y="2021747"/>
                </a:cubicBezTo>
                <a:cubicBezTo>
                  <a:pt x="451626" y="1993325"/>
                  <a:pt x="430251" y="1970549"/>
                  <a:pt x="378307" y="1921079"/>
                </a:cubicBezTo>
                <a:cubicBezTo>
                  <a:pt x="343943" y="1888351"/>
                  <a:pt x="305551" y="1858790"/>
                  <a:pt x="277639" y="1820411"/>
                </a:cubicBezTo>
                <a:cubicBezTo>
                  <a:pt x="234005" y="1760415"/>
                  <a:pt x="168091" y="1633123"/>
                  <a:pt x="135026" y="1551964"/>
                </a:cubicBezTo>
                <a:cubicBezTo>
                  <a:pt x="116997" y="1507712"/>
                  <a:pt x="101470" y="1462481"/>
                  <a:pt x="84692" y="1417740"/>
                </a:cubicBezTo>
                <a:cubicBezTo>
                  <a:pt x="71112" y="1295519"/>
                  <a:pt x="69854" y="1249978"/>
                  <a:pt x="42747" y="1132514"/>
                </a:cubicBezTo>
                <a:cubicBezTo>
                  <a:pt x="36182" y="1104067"/>
                  <a:pt x="25969" y="1076587"/>
                  <a:pt x="17580" y="1048624"/>
                </a:cubicBezTo>
                <a:cubicBezTo>
                  <a:pt x="-1585" y="837812"/>
                  <a:pt x="-6138" y="876610"/>
                  <a:pt x="9191" y="654342"/>
                </a:cubicBezTo>
                <a:cubicBezTo>
                  <a:pt x="9984" y="642840"/>
                  <a:pt x="15079" y="632041"/>
                  <a:pt x="17580" y="620786"/>
                </a:cubicBezTo>
                <a:cubicBezTo>
                  <a:pt x="20673" y="606867"/>
                  <a:pt x="23625" y="592906"/>
                  <a:pt x="25969" y="578841"/>
                </a:cubicBezTo>
                <a:cubicBezTo>
                  <a:pt x="29220" y="559337"/>
                  <a:pt x="28676" y="539057"/>
                  <a:pt x="34358" y="520118"/>
                </a:cubicBezTo>
                <a:cubicBezTo>
                  <a:pt x="37255" y="510461"/>
                  <a:pt x="46134" y="503705"/>
                  <a:pt x="51136" y="494951"/>
                </a:cubicBezTo>
                <a:cubicBezTo>
                  <a:pt x="57341" y="484093"/>
                  <a:pt x="61709" y="472253"/>
                  <a:pt x="67914" y="461395"/>
                </a:cubicBezTo>
                <a:cubicBezTo>
                  <a:pt x="72916" y="452641"/>
                  <a:pt x="79690" y="444982"/>
                  <a:pt x="84692" y="436228"/>
                </a:cubicBezTo>
                <a:cubicBezTo>
                  <a:pt x="90897" y="425370"/>
                  <a:pt x="93331" y="412167"/>
                  <a:pt x="101470" y="402672"/>
                </a:cubicBezTo>
                <a:cubicBezTo>
                  <a:pt x="110569" y="392056"/>
                  <a:pt x="125139" y="387392"/>
                  <a:pt x="135026" y="377505"/>
                </a:cubicBezTo>
                <a:cubicBezTo>
                  <a:pt x="147687" y="364844"/>
                  <a:pt x="155601" y="347892"/>
                  <a:pt x="168582" y="335560"/>
                </a:cubicBezTo>
                <a:cubicBezTo>
                  <a:pt x="242696" y="265152"/>
                  <a:pt x="285255" y="233610"/>
                  <a:pt x="353140" y="176169"/>
                </a:cubicBezTo>
                <a:cubicBezTo>
                  <a:pt x="470653" y="76735"/>
                  <a:pt x="353071" y="172026"/>
                  <a:pt x="470586" y="83890"/>
                </a:cubicBezTo>
                <a:cubicBezTo>
                  <a:pt x="484910" y="73147"/>
                  <a:pt x="496985" y="59218"/>
                  <a:pt x="512531" y="50334"/>
                </a:cubicBezTo>
                <a:cubicBezTo>
                  <a:pt x="536443" y="36670"/>
                  <a:pt x="563026" y="28319"/>
                  <a:pt x="588032" y="16778"/>
                </a:cubicBezTo>
                <a:cubicBezTo>
                  <a:pt x="599387" y="11537"/>
                  <a:pt x="610403" y="5593"/>
                  <a:pt x="621588" y="0"/>
                </a:cubicBezTo>
                <a:cubicBezTo>
                  <a:pt x="722567" y="18360"/>
                  <a:pt x="684207" y="6891"/>
                  <a:pt x="739034" y="25167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arrow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8DB9D73F-A1D6-415F-87AD-F0A6FA5BBAF2}"/>
              </a:ext>
            </a:extLst>
          </p:cNvPr>
          <p:cNvSpPr/>
          <p:nvPr/>
        </p:nvSpPr>
        <p:spPr>
          <a:xfrm>
            <a:off x="6721344" y="3358415"/>
            <a:ext cx="559684" cy="1703382"/>
          </a:xfrm>
          <a:custGeom>
            <a:avLst/>
            <a:gdLst>
              <a:gd name="connsiteX0" fmla="*/ 780177 w 780177"/>
              <a:gd name="connsiteY0" fmla="*/ 1719743 h 1719743"/>
              <a:gd name="connsiteX1" fmla="*/ 662731 w 780177"/>
              <a:gd name="connsiteY1" fmla="*/ 1711354 h 1719743"/>
              <a:gd name="connsiteX2" fmla="*/ 578841 w 780177"/>
              <a:gd name="connsiteY2" fmla="*/ 1677798 h 1719743"/>
              <a:gd name="connsiteX3" fmla="*/ 461395 w 780177"/>
              <a:gd name="connsiteY3" fmla="*/ 1560352 h 1719743"/>
              <a:gd name="connsiteX4" fmla="*/ 377505 w 780177"/>
              <a:gd name="connsiteY4" fmla="*/ 1442906 h 1719743"/>
              <a:gd name="connsiteX5" fmla="*/ 276837 w 780177"/>
              <a:gd name="connsiteY5" fmla="*/ 1333849 h 1719743"/>
              <a:gd name="connsiteX6" fmla="*/ 50334 w 780177"/>
              <a:gd name="connsiteY6" fmla="*/ 1040235 h 1719743"/>
              <a:gd name="connsiteX7" fmla="*/ 41945 w 780177"/>
              <a:gd name="connsiteY7" fmla="*/ 981512 h 1719743"/>
              <a:gd name="connsiteX8" fmla="*/ 16778 w 780177"/>
              <a:gd name="connsiteY8" fmla="*/ 931178 h 1719743"/>
              <a:gd name="connsiteX9" fmla="*/ 8389 w 780177"/>
              <a:gd name="connsiteY9" fmla="*/ 838899 h 1719743"/>
              <a:gd name="connsiteX10" fmla="*/ 0 w 780177"/>
              <a:gd name="connsiteY10" fmla="*/ 780176 h 1719743"/>
              <a:gd name="connsiteX11" fmla="*/ 8389 w 780177"/>
              <a:gd name="connsiteY11" fmla="*/ 360726 h 1719743"/>
              <a:gd name="connsiteX12" fmla="*/ 41945 w 780177"/>
              <a:gd name="connsiteY12" fmla="*/ 285225 h 1719743"/>
              <a:gd name="connsiteX13" fmla="*/ 134224 w 780177"/>
              <a:gd name="connsiteY13" fmla="*/ 184558 h 1719743"/>
              <a:gd name="connsiteX14" fmla="*/ 226503 w 780177"/>
              <a:gd name="connsiteY14" fmla="*/ 142613 h 1719743"/>
              <a:gd name="connsiteX15" fmla="*/ 310393 w 780177"/>
              <a:gd name="connsiteY15" fmla="*/ 109057 h 1719743"/>
              <a:gd name="connsiteX16" fmla="*/ 394283 w 780177"/>
              <a:gd name="connsiteY16" fmla="*/ 92279 h 1719743"/>
              <a:gd name="connsiteX17" fmla="*/ 562063 w 780177"/>
              <a:gd name="connsiteY17" fmla="*/ 58723 h 1719743"/>
              <a:gd name="connsiteX18" fmla="*/ 645953 w 780177"/>
              <a:gd name="connsiteY18" fmla="*/ 25167 h 1719743"/>
              <a:gd name="connsiteX19" fmla="*/ 713065 w 780177"/>
              <a:gd name="connsiteY19" fmla="*/ 0 h 171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80177" h="1719743">
                <a:moveTo>
                  <a:pt x="780177" y="1719743"/>
                </a:moveTo>
                <a:cubicBezTo>
                  <a:pt x="741028" y="1716947"/>
                  <a:pt x="701154" y="1719359"/>
                  <a:pt x="662731" y="1711354"/>
                </a:cubicBezTo>
                <a:cubicBezTo>
                  <a:pt x="633247" y="1705211"/>
                  <a:pt x="604305" y="1693880"/>
                  <a:pt x="578841" y="1677798"/>
                </a:cubicBezTo>
                <a:cubicBezTo>
                  <a:pt x="539287" y="1652817"/>
                  <a:pt x="490993" y="1599816"/>
                  <a:pt x="461395" y="1560352"/>
                </a:cubicBezTo>
                <a:cubicBezTo>
                  <a:pt x="432529" y="1521864"/>
                  <a:pt x="407895" y="1480203"/>
                  <a:pt x="377505" y="1442906"/>
                </a:cubicBezTo>
                <a:cubicBezTo>
                  <a:pt x="346255" y="1404553"/>
                  <a:pt x="308957" y="1371476"/>
                  <a:pt x="276837" y="1333849"/>
                </a:cubicBezTo>
                <a:cubicBezTo>
                  <a:pt x="86044" y="1110349"/>
                  <a:pt x="130498" y="1180523"/>
                  <a:pt x="50334" y="1040235"/>
                </a:cubicBezTo>
                <a:cubicBezTo>
                  <a:pt x="47538" y="1020661"/>
                  <a:pt x="47760" y="1000411"/>
                  <a:pt x="41945" y="981512"/>
                </a:cubicBezTo>
                <a:cubicBezTo>
                  <a:pt x="36428" y="963583"/>
                  <a:pt x="21074" y="949438"/>
                  <a:pt x="16778" y="931178"/>
                </a:cubicBezTo>
                <a:cubicBezTo>
                  <a:pt x="9704" y="901113"/>
                  <a:pt x="11800" y="869597"/>
                  <a:pt x="8389" y="838899"/>
                </a:cubicBezTo>
                <a:cubicBezTo>
                  <a:pt x="6205" y="819247"/>
                  <a:pt x="2796" y="799750"/>
                  <a:pt x="0" y="780176"/>
                </a:cubicBezTo>
                <a:cubicBezTo>
                  <a:pt x="2796" y="640359"/>
                  <a:pt x="-3420" y="500071"/>
                  <a:pt x="8389" y="360726"/>
                </a:cubicBezTo>
                <a:cubicBezTo>
                  <a:pt x="10715" y="333284"/>
                  <a:pt x="28443" y="309229"/>
                  <a:pt x="41945" y="285225"/>
                </a:cubicBezTo>
                <a:cubicBezTo>
                  <a:pt x="69284" y="236623"/>
                  <a:pt x="90197" y="216577"/>
                  <a:pt x="134224" y="184558"/>
                </a:cubicBezTo>
                <a:cubicBezTo>
                  <a:pt x="177878" y="152810"/>
                  <a:pt x="175296" y="161816"/>
                  <a:pt x="226503" y="142613"/>
                </a:cubicBezTo>
                <a:cubicBezTo>
                  <a:pt x="254703" y="132038"/>
                  <a:pt x="281546" y="117711"/>
                  <a:pt x="310393" y="109057"/>
                </a:cubicBezTo>
                <a:cubicBezTo>
                  <a:pt x="337707" y="100863"/>
                  <a:pt x="366399" y="98254"/>
                  <a:pt x="394283" y="92279"/>
                </a:cubicBezTo>
                <a:cubicBezTo>
                  <a:pt x="528361" y="63548"/>
                  <a:pt x="472236" y="73694"/>
                  <a:pt x="562063" y="58723"/>
                </a:cubicBezTo>
                <a:cubicBezTo>
                  <a:pt x="590026" y="47538"/>
                  <a:pt x="619015" y="38636"/>
                  <a:pt x="645953" y="25167"/>
                </a:cubicBezTo>
                <a:cubicBezTo>
                  <a:pt x="689821" y="3233"/>
                  <a:pt x="667377" y="11422"/>
                  <a:pt x="713065" y="0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arrow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5" name="右大括号 24">
            <a:extLst>
              <a:ext uri="{FF2B5EF4-FFF2-40B4-BE49-F238E27FC236}">
                <a16:creationId xmlns:a16="http://schemas.microsoft.com/office/drawing/2014/main" id="{5838116E-8F36-4293-8468-6615BC2B61E1}"/>
              </a:ext>
            </a:extLst>
          </p:cNvPr>
          <p:cNvSpPr/>
          <p:nvPr/>
        </p:nvSpPr>
        <p:spPr bwMode="auto">
          <a:xfrm>
            <a:off x="8249231" y="4080284"/>
            <a:ext cx="169996" cy="1388371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274EE5A-228F-4A59-AEC9-B7AD32525A6D}"/>
              </a:ext>
            </a:extLst>
          </p:cNvPr>
          <p:cNvSpPr/>
          <p:nvPr/>
        </p:nvSpPr>
        <p:spPr>
          <a:xfrm>
            <a:off x="7214706" y="5183431"/>
            <a:ext cx="949833" cy="2768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7A6D78-5AD6-4EBF-88FE-01FE4EA5D1FB}"/>
              </a:ext>
            </a:extLst>
          </p:cNvPr>
          <p:cNvSpPr/>
          <p:nvPr/>
        </p:nvSpPr>
        <p:spPr>
          <a:xfrm>
            <a:off x="7214706" y="4042290"/>
            <a:ext cx="949833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400" b="1" kern="0" dirty="0">
                <a:solidFill>
                  <a:srgbClr val="FF0000"/>
                </a:solidFill>
                <a:latin typeface="Courier New"/>
                <a:ea typeface="宋体"/>
                <a:cs typeface="Times New Roman"/>
              </a:rPr>
              <a:t>2</a:t>
            </a:r>
            <a:endParaRPr lang="zh-CN" altLang="en-US" sz="1400" b="1" kern="0" dirty="0">
              <a:solidFill>
                <a:srgbClr val="FF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7797202-9790-45BD-A33E-49F1648B3B54}"/>
              </a:ext>
            </a:extLst>
          </p:cNvPr>
          <p:cNvSpPr txBox="1"/>
          <p:nvPr/>
        </p:nvSpPr>
        <p:spPr>
          <a:xfrm>
            <a:off x="8504540" y="4174304"/>
            <a:ext cx="584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列表对象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B1FC700-AF13-468C-96C2-4773BEDF2DF4}"/>
              </a:ext>
            </a:extLst>
          </p:cNvPr>
          <p:cNvSpPr/>
          <p:nvPr/>
        </p:nvSpPr>
        <p:spPr>
          <a:xfrm>
            <a:off x="7200493" y="5750526"/>
            <a:ext cx="949833" cy="2768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B1D2088-7444-478D-9973-CFD407444F28}"/>
              </a:ext>
            </a:extLst>
          </p:cNvPr>
          <p:cNvSpPr/>
          <p:nvPr/>
        </p:nvSpPr>
        <p:spPr>
          <a:xfrm>
            <a:off x="7210562" y="6213661"/>
            <a:ext cx="949833" cy="2768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CBF4B8F-F17C-4F85-8A6B-2179D65521DF}"/>
              </a:ext>
            </a:extLst>
          </p:cNvPr>
          <p:cNvSpPr txBox="1"/>
          <p:nvPr/>
        </p:nvSpPr>
        <p:spPr>
          <a:xfrm>
            <a:off x="8189251" y="565803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B2E089C-77AF-4E94-A68A-7D4BCF2B1AC8}"/>
              </a:ext>
            </a:extLst>
          </p:cNvPr>
          <p:cNvSpPr txBox="1"/>
          <p:nvPr/>
        </p:nvSpPr>
        <p:spPr>
          <a:xfrm>
            <a:off x="8189251" y="616741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E2D0711A-4508-4FE5-8106-99ABD988C4ED}"/>
              </a:ext>
            </a:extLst>
          </p:cNvPr>
          <p:cNvSpPr/>
          <p:nvPr/>
        </p:nvSpPr>
        <p:spPr>
          <a:xfrm>
            <a:off x="6727971" y="4194495"/>
            <a:ext cx="553673" cy="1686188"/>
          </a:xfrm>
          <a:custGeom>
            <a:avLst/>
            <a:gdLst>
              <a:gd name="connsiteX0" fmla="*/ 553673 w 553673"/>
              <a:gd name="connsiteY0" fmla="*/ 1686188 h 1686188"/>
              <a:gd name="connsiteX1" fmla="*/ 444616 w 553673"/>
              <a:gd name="connsiteY1" fmla="*/ 1677799 h 1686188"/>
              <a:gd name="connsiteX2" fmla="*/ 318781 w 553673"/>
              <a:gd name="connsiteY2" fmla="*/ 1644243 h 1686188"/>
              <a:gd name="connsiteX3" fmla="*/ 184557 w 553673"/>
              <a:gd name="connsiteY3" fmla="*/ 1577131 h 1686188"/>
              <a:gd name="connsiteX4" fmla="*/ 58723 w 553673"/>
              <a:gd name="connsiteY4" fmla="*/ 1484852 h 1686188"/>
              <a:gd name="connsiteX5" fmla="*/ 33556 w 553673"/>
              <a:gd name="connsiteY5" fmla="*/ 1451296 h 1686188"/>
              <a:gd name="connsiteX6" fmla="*/ 25167 w 553673"/>
              <a:gd name="connsiteY6" fmla="*/ 1426129 h 1686188"/>
              <a:gd name="connsiteX7" fmla="*/ 8389 w 553673"/>
              <a:gd name="connsiteY7" fmla="*/ 1392573 h 1686188"/>
              <a:gd name="connsiteX8" fmla="*/ 0 w 553673"/>
              <a:gd name="connsiteY8" fmla="*/ 1333850 h 1686188"/>
              <a:gd name="connsiteX9" fmla="*/ 8389 w 553673"/>
              <a:gd name="connsiteY9" fmla="*/ 1191237 h 1686188"/>
              <a:gd name="connsiteX10" fmla="*/ 25167 w 553673"/>
              <a:gd name="connsiteY10" fmla="*/ 1132514 h 1686188"/>
              <a:gd name="connsiteX11" fmla="*/ 33556 w 553673"/>
              <a:gd name="connsiteY11" fmla="*/ 1065402 h 1686188"/>
              <a:gd name="connsiteX12" fmla="*/ 41945 w 553673"/>
              <a:gd name="connsiteY12" fmla="*/ 1023457 h 1686188"/>
              <a:gd name="connsiteX13" fmla="*/ 58723 w 553673"/>
              <a:gd name="connsiteY13" fmla="*/ 956345 h 1686188"/>
              <a:gd name="connsiteX14" fmla="*/ 67112 w 553673"/>
              <a:gd name="connsiteY14" fmla="*/ 880844 h 1686188"/>
              <a:gd name="connsiteX15" fmla="*/ 83890 w 553673"/>
              <a:gd name="connsiteY15" fmla="*/ 847288 h 1686188"/>
              <a:gd name="connsiteX16" fmla="*/ 100668 w 553673"/>
              <a:gd name="connsiteY16" fmla="*/ 796955 h 1686188"/>
              <a:gd name="connsiteX17" fmla="*/ 176168 w 553673"/>
              <a:gd name="connsiteY17" fmla="*/ 637564 h 1686188"/>
              <a:gd name="connsiteX18" fmla="*/ 201335 w 553673"/>
              <a:gd name="connsiteY18" fmla="*/ 578841 h 1686188"/>
              <a:gd name="connsiteX19" fmla="*/ 218113 w 553673"/>
              <a:gd name="connsiteY19" fmla="*/ 528507 h 1686188"/>
              <a:gd name="connsiteX20" fmla="*/ 243280 w 553673"/>
              <a:gd name="connsiteY20" fmla="*/ 486562 h 1686188"/>
              <a:gd name="connsiteX21" fmla="*/ 268447 w 553673"/>
              <a:gd name="connsiteY21" fmla="*/ 419450 h 1686188"/>
              <a:gd name="connsiteX22" fmla="*/ 285225 w 553673"/>
              <a:gd name="connsiteY22" fmla="*/ 352338 h 1686188"/>
              <a:gd name="connsiteX23" fmla="*/ 318781 w 553673"/>
              <a:gd name="connsiteY23" fmla="*/ 260059 h 1686188"/>
              <a:gd name="connsiteX24" fmla="*/ 335559 w 553673"/>
              <a:gd name="connsiteY24" fmla="*/ 184558 h 1686188"/>
              <a:gd name="connsiteX25" fmla="*/ 352337 w 553673"/>
              <a:gd name="connsiteY25" fmla="*/ 151002 h 1686188"/>
              <a:gd name="connsiteX26" fmla="*/ 377504 w 553673"/>
              <a:gd name="connsiteY26" fmla="*/ 83890 h 1686188"/>
              <a:gd name="connsiteX27" fmla="*/ 427838 w 553673"/>
              <a:gd name="connsiteY27" fmla="*/ 41945 h 1686188"/>
              <a:gd name="connsiteX28" fmla="*/ 461394 w 553673"/>
              <a:gd name="connsiteY28" fmla="*/ 16778 h 1686188"/>
              <a:gd name="connsiteX29" fmla="*/ 511728 w 553673"/>
              <a:gd name="connsiteY29" fmla="*/ 0 h 168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53673" h="1686188">
                <a:moveTo>
                  <a:pt x="553673" y="1686188"/>
                </a:moveTo>
                <a:cubicBezTo>
                  <a:pt x="517321" y="1683392"/>
                  <a:pt x="480853" y="1681825"/>
                  <a:pt x="444616" y="1677799"/>
                </a:cubicBezTo>
                <a:cubicBezTo>
                  <a:pt x="408150" y="1673747"/>
                  <a:pt x="346495" y="1652904"/>
                  <a:pt x="318781" y="1644243"/>
                </a:cubicBezTo>
                <a:cubicBezTo>
                  <a:pt x="255743" y="1624544"/>
                  <a:pt x="249991" y="1622936"/>
                  <a:pt x="184557" y="1577131"/>
                </a:cubicBezTo>
                <a:cubicBezTo>
                  <a:pt x="173183" y="1569169"/>
                  <a:pt x="81588" y="1507717"/>
                  <a:pt x="58723" y="1484852"/>
                </a:cubicBezTo>
                <a:cubicBezTo>
                  <a:pt x="48836" y="1474965"/>
                  <a:pt x="41945" y="1462481"/>
                  <a:pt x="33556" y="1451296"/>
                </a:cubicBezTo>
                <a:cubicBezTo>
                  <a:pt x="30760" y="1442907"/>
                  <a:pt x="28650" y="1434257"/>
                  <a:pt x="25167" y="1426129"/>
                </a:cubicBezTo>
                <a:cubicBezTo>
                  <a:pt x="20241" y="1414635"/>
                  <a:pt x="11679" y="1404638"/>
                  <a:pt x="8389" y="1392573"/>
                </a:cubicBezTo>
                <a:cubicBezTo>
                  <a:pt x="3186" y="1373497"/>
                  <a:pt x="2796" y="1353424"/>
                  <a:pt x="0" y="1333850"/>
                </a:cubicBezTo>
                <a:cubicBezTo>
                  <a:pt x="2796" y="1286312"/>
                  <a:pt x="2482" y="1238489"/>
                  <a:pt x="8389" y="1191237"/>
                </a:cubicBezTo>
                <a:cubicBezTo>
                  <a:pt x="10914" y="1171037"/>
                  <a:pt x="21175" y="1152476"/>
                  <a:pt x="25167" y="1132514"/>
                </a:cubicBezTo>
                <a:cubicBezTo>
                  <a:pt x="29588" y="1110407"/>
                  <a:pt x="30128" y="1087685"/>
                  <a:pt x="33556" y="1065402"/>
                </a:cubicBezTo>
                <a:cubicBezTo>
                  <a:pt x="35724" y="1051309"/>
                  <a:pt x="38487" y="1037290"/>
                  <a:pt x="41945" y="1023457"/>
                </a:cubicBezTo>
                <a:cubicBezTo>
                  <a:pt x="54957" y="971410"/>
                  <a:pt x="48416" y="1028493"/>
                  <a:pt x="58723" y="956345"/>
                </a:cubicBezTo>
                <a:cubicBezTo>
                  <a:pt x="62304" y="931278"/>
                  <a:pt x="61418" y="905517"/>
                  <a:pt x="67112" y="880844"/>
                </a:cubicBezTo>
                <a:cubicBezTo>
                  <a:pt x="69924" y="868659"/>
                  <a:pt x="79245" y="858899"/>
                  <a:pt x="83890" y="847288"/>
                </a:cubicBezTo>
                <a:cubicBezTo>
                  <a:pt x="90458" y="830868"/>
                  <a:pt x="93546" y="813143"/>
                  <a:pt x="100668" y="796955"/>
                </a:cubicBezTo>
                <a:cubicBezTo>
                  <a:pt x="124345" y="743144"/>
                  <a:pt x="153010" y="691600"/>
                  <a:pt x="176168" y="637564"/>
                </a:cubicBezTo>
                <a:cubicBezTo>
                  <a:pt x="184557" y="617990"/>
                  <a:pt x="193690" y="598718"/>
                  <a:pt x="201335" y="578841"/>
                </a:cubicBezTo>
                <a:cubicBezTo>
                  <a:pt x="207684" y="562334"/>
                  <a:pt x="210795" y="544607"/>
                  <a:pt x="218113" y="528507"/>
                </a:cubicBezTo>
                <a:cubicBezTo>
                  <a:pt x="224860" y="513663"/>
                  <a:pt x="234891" y="500544"/>
                  <a:pt x="243280" y="486562"/>
                </a:cubicBezTo>
                <a:cubicBezTo>
                  <a:pt x="274924" y="359985"/>
                  <a:pt x="224579" y="551055"/>
                  <a:pt x="268447" y="419450"/>
                </a:cubicBezTo>
                <a:cubicBezTo>
                  <a:pt x="275739" y="397574"/>
                  <a:pt x="276661" y="373748"/>
                  <a:pt x="285225" y="352338"/>
                </a:cubicBezTo>
                <a:cubicBezTo>
                  <a:pt x="298091" y="320173"/>
                  <a:pt x="309550" y="293908"/>
                  <a:pt x="318781" y="260059"/>
                </a:cubicBezTo>
                <a:cubicBezTo>
                  <a:pt x="324096" y="240570"/>
                  <a:pt x="328026" y="204647"/>
                  <a:pt x="335559" y="184558"/>
                </a:cubicBezTo>
                <a:cubicBezTo>
                  <a:pt x="339950" y="172849"/>
                  <a:pt x="347946" y="162711"/>
                  <a:pt x="352337" y="151002"/>
                </a:cubicBezTo>
                <a:cubicBezTo>
                  <a:pt x="374858" y="90947"/>
                  <a:pt x="343532" y="143342"/>
                  <a:pt x="377504" y="83890"/>
                </a:cubicBezTo>
                <a:cubicBezTo>
                  <a:pt x="399763" y="44937"/>
                  <a:pt x="387070" y="67425"/>
                  <a:pt x="427838" y="41945"/>
                </a:cubicBezTo>
                <a:cubicBezTo>
                  <a:pt x="439694" y="34535"/>
                  <a:pt x="448888" y="23031"/>
                  <a:pt x="461394" y="16778"/>
                </a:cubicBezTo>
                <a:cubicBezTo>
                  <a:pt x="477212" y="8869"/>
                  <a:pt x="511728" y="0"/>
                  <a:pt x="511728" y="0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arrow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DEA33C6-F20C-407C-8B75-385E6CC138F6}"/>
              </a:ext>
            </a:extLst>
          </p:cNvPr>
          <p:cNvSpPr/>
          <p:nvPr/>
        </p:nvSpPr>
        <p:spPr>
          <a:xfrm>
            <a:off x="5796793" y="4118994"/>
            <a:ext cx="1551963" cy="2239861"/>
          </a:xfrm>
          <a:custGeom>
            <a:avLst/>
            <a:gdLst>
              <a:gd name="connsiteX0" fmla="*/ 1551963 w 1551963"/>
              <a:gd name="connsiteY0" fmla="*/ 2239861 h 2239861"/>
              <a:gd name="connsiteX1" fmla="*/ 713064 w 1551963"/>
              <a:gd name="connsiteY1" fmla="*/ 2181138 h 2239861"/>
              <a:gd name="connsiteX2" fmla="*/ 184557 w 1551963"/>
              <a:gd name="connsiteY2" fmla="*/ 1988191 h 2239861"/>
              <a:gd name="connsiteX3" fmla="*/ 75501 w 1551963"/>
              <a:gd name="connsiteY3" fmla="*/ 1870745 h 2239861"/>
              <a:gd name="connsiteX4" fmla="*/ 8389 w 1551963"/>
              <a:gd name="connsiteY4" fmla="*/ 1585520 h 2239861"/>
              <a:gd name="connsiteX5" fmla="*/ 0 w 1551963"/>
              <a:gd name="connsiteY5" fmla="*/ 1468074 h 2239861"/>
              <a:gd name="connsiteX6" fmla="*/ 33556 w 1551963"/>
              <a:gd name="connsiteY6" fmla="*/ 1275127 h 2239861"/>
              <a:gd name="connsiteX7" fmla="*/ 83890 w 1551963"/>
              <a:gd name="connsiteY7" fmla="*/ 1149292 h 2239861"/>
              <a:gd name="connsiteX8" fmla="*/ 142613 w 1551963"/>
              <a:gd name="connsiteY8" fmla="*/ 981512 h 2239861"/>
              <a:gd name="connsiteX9" fmla="*/ 209724 w 1551963"/>
              <a:gd name="connsiteY9" fmla="*/ 872456 h 2239861"/>
              <a:gd name="connsiteX10" fmla="*/ 352337 w 1551963"/>
              <a:gd name="connsiteY10" fmla="*/ 704676 h 2239861"/>
              <a:gd name="connsiteX11" fmla="*/ 545284 w 1551963"/>
              <a:gd name="connsiteY11" fmla="*/ 528507 h 2239861"/>
              <a:gd name="connsiteX12" fmla="*/ 629174 w 1551963"/>
              <a:gd name="connsiteY12" fmla="*/ 469784 h 2239861"/>
              <a:gd name="connsiteX13" fmla="*/ 788565 w 1551963"/>
              <a:gd name="connsiteY13" fmla="*/ 343949 h 2239861"/>
              <a:gd name="connsiteX14" fmla="*/ 880844 w 1551963"/>
              <a:gd name="connsiteY14" fmla="*/ 285226 h 2239861"/>
              <a:gd name="connsiteX15" fmla="*/ 906011 w 1551963"/>
              <a:gd name="connsiteY15" fmla="*/ 251670 h 2239861"/>
              <a:gd name="connsiteX16" fmla="*/ 956345 w 1551963"/>
              <a:gd name="connsiteY16" fmla="*/ 218114 h 2239861"/>
              <a:gd name="connsiteX17" fmla="*/ 989901 w 1551963"/>
              <a:gd name="connsiteY17" fmla="*/ 192947 h 2239861"/>
              <a:gd name="connsiteX18" fmla="*/ 1031846 w 1551963"/>
              <a:gd name="connsiteY18" fmla="*/ 167780 h 2239861"/>
              <a:gd name="connsiteX19" fmla="*/ 1057013 w 1551963"/>
              <a:gd name="connsiteY19" fmla="*/ 142613 h 2239861"/>
              <a:gd name="connsiteX20" fmla="*/ 1124124 w 1551963"/>
              <a:gd name="connsiteY20" fmla="*/ 109057 h 2239861"/>
              <a:gd name="connsiteX21" fmla="*/ 1174458 w 1551963"/>
              <a:gd name="connsiteY21" fmla="*/ 83890 h 2239861"/>
              <a:gd name="connsiteX22" fmla="*/ 1258348 w 1551963"/>
              <a:gd name="connsiteY22" fmla="*/ 33556 h 2239861"/>
              <a:gd name="connsiteX23" fmla="*/ 1325460 w 1551963"/>
              <a:gd name="connsiteY23" fmla="*/ 0 h 2239861"/>
              <a:gd name="connsiteX24" fmla="*/ 1417739 w 1551963"/>
              <a:gd name="connsiteY24" fmla="*/ 16778 h 2239861"/>
              <a:gd name="connsiteX25" fmla="*/ 1426128 w 1551963"/>
              <a:gd name="connsiteY25" fmla="*/ 25167 h 2239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551963" h="2239861">
                <a:moveTo>
                  <a:pt x="1551963" y="2239861"/>
                </a:moveTo>
                <a:cubicBezTo>
                  <a:pt x="1307142" y="2232210"/>
                  <a:pt x="968968" y="2240732"/>
                  <a:pt x="713064" y="2181138"/>
                </a:cubicBezTo>
                <a:cubicBezTo>
                  <a:pt x="512918" y="2134529"/>
                  <a:pt x="368327" y="2065940"/>
                  <a:pt x="184557" y="1988191"/>
                </a:cubicBezTo>
                <a:cubicBezTo>
                  <a:pt x="148205" y="1949042"/>
                  <a:pt x="104779" y="1915432"/>
                  <a:pt x="75501" y="1870745"/>
                </a:cubicBezTo>
                <a:cubicBezTo>
                  <a:pt x="15418" y="1779039"/>
                  <a:pt x="17962" y="1690821"/>
                  <a:pt x="8389" y="1585520"/>
                </a:cubicBezTo>
                <a:cubicBezTo>
                  <a:pt x="4836" y="1546433"/>
                  <a:pt x="2796" y="1507223"/>
                  <a:pt x="0" y="1468074"/>
                </a:cubicBezTo>
                <a:cubicBezTo>
                  <a:pt x="11185" y="1403758"/>
                  <a:pt x="16942" y="1338259"/>
                  <a:pt x="33556" y="1275127"/>
                </a:cubicBezTo>
                <a:cubicBezTo>
                  <a:pt x="45053" y="1231438"/>
                  <a:pt x="68160" y="1191641"/>
                  <a:pt x="83890" y="1149292"/>
                </a:cubicBezTo>
                <a:cubicBezTo>
                  <a:pt x="104521" y="1093747"/>
                  <a:pt x="118094" y="1035454"/>
                  <a:pt x="142613" y="981512"/>
                </a:cubicBezTo>
                <a:cubicBezTo>
                  <a:pt x="160276" y="942654"/>
                  <a:pt x="186047" y="907971"/>
                  <a:pt x="209724" y="872456"/>
                </a:cubicBezTo>
                <a:cubicBezTo>
                  <a:pt x="266046" y="787973"/>
                  <a:pt x="279628" y="772840"/>
                  <a:pt x="352337" y="704676"/>
                </a:cubicBezTo>
                <a:cubicBezTo>
                  <a:pt x="415873" y="645111"/>
                  <a:pt x="473936" y="578451"/>
                  <a:pt x="545284" y="528507"/>
                </a:cubicBezTo>
                <a:cubicBezTo>
                  <a:pt x="573247" y="508933"/>
                  <a:pt x="602165" y="490655"/>
                  <a:pt x="629174" y="469784"/>
                </a:cubicBezTo>
                <a:cubicBezTo>
                  <a:pt x="709778" y="407499"/>
                  <a:pt x="715524" y="390904"/>
                  <a:pt x="788565" y="343949"/>
                </a:cubicBezTo>
                <a:cubicBezTo>
                  <a:pt x="815367" y="326719"/>
                  <a:pt x="856577" y="309493"/>
                  <a:pt x="880844" y="285226"/>
                </a:cubicBezTo>
                <a:cubicBezTo>
                  <a:pt x="890731" y="275339"/>
                  <a:pt x="895561" y="260959"/>
                  <a:pt x="906011" y="251670"/>
                </a:cubicBezTo>
                <a:cubicBezTo>
                  <a:pt x="921082" y="238273"/>
                  <a:pt x="939825" y="229678"/>
                  <a:pt x="956345" y="218114"/>
                </a:cubicBezTo>
                <a:cubicBezTo>
                  <a:pt x="967799" y="210096"/>
                  <a:pt x="978268" y="200703"/>
                  <a:pt x="989901" y="192947"/>
                </a:cubicBezTo>
                <a:cubicBezTo>
                  <a:pt x="1003468" y="183902"/>
                  <a:pt x="1018802" y="177563"/>
                  <a:pt x="1031846" y="167780"/>
                </a:cubicBezTo>
                <a:cubicBezTo>
                  <a:pt x="1041337" y="160662"/>
                  <a:pt x="1047004" y="148982"/>
                  <a:pt x="1057013" y="142613"/>
                </a:cubicBezTo>
                <a:cubicBezTo>
                  <a:pt x="1078114" y="129185"/>
                  <a:pt x="1103314" y="122931"/>
                  <a:pt x="1124124" y="109057"/>
                </a:cubicBezTo>
                <a:cubicBezTo>
                  <a:pt x="1220009" y="45133"/>
                  <a:pt x="1084155" y="132515"/>
                  <a:pt x="1174458" y="83890"/>
                </a:cubicBezTo>
                <a:cubicBezTo>
                  <a:pt x="1203171" y="68429"/>
                  <a:pt x="1229180" y="48140"/>
                  <a:pt x="1258348" y="33556"/>
                </a:cubicBezTo>
                <a:lnTo>
                  <a:pt x="1325460" y="0"/>
                </a:lnTo>
                <a:cubicBezTo>
                  <a:pt x="1342836" y="2482"/>
                  <a:pt x="1395765" y="7988"/>
                  <a:pt x="1417739" y="16778"/>
                </a:cubicBezTo>
                <a:cubicBezTo>
                  <a:pt x="1421411" y="18247"/>
                  <a:pt x="1423332" y="22371"/>
                  <a:pt x="1426128" y="25167"/>
                </a:cubicBezTo>
              </a:path>
            </a:pathLst>
          </a:custGeom>
          <a:noFill/>
          <a:ln>
            <a:solidFill>
              <a:srgbClr val="0070C0"/>
            </a:solidFill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normalizeH="0" baseline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CF71286-1BE7-4BC5-8891-89D6B3B2B090}"/>
              </a:ext>
            </a:extLst>
          </p:cNvPr>
          <p:cNvSpPr txBox="1"/>
          <p:nvPr/>
        </p:nvSpPr>
        <p:spPr>
          <a:xfrm>
            <a:off x="3435103" y="6449325"/>
            <a:ext cx="3845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是引用次数，因为被变量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引用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9BB57F-1AA0-457C-BF1D-B425A5A31486}"/>
              </a:ext>
            </a:extLst>
          </p:cNvPr>
          <p:cNvSpPr/>
          <p:nvPr/>
        </p:nvSpPr>
        <p:spPr>
          <a:xfrm>
            <a:off x="7200493" y="4028291"/>
            <a:ext cx="959902" cy="144344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914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313849" y="2052494"/>
            <a:ext cx="6458552" cy="1515533"/>
          </a:xfrm>
        </p:spPr>
        <p:txBody>
          <a:bodyPr/>
          <a:lstStyle/>
          <a:p>
            <a:r>
              <a:rPr lang="en-US" altLang="zh-CN" sz="4000"/>
              <a:t>6.1.1 </a:t>
            </a:r>
            <a:r>
              <a:rPr lang="zh-CN" altLang="en-US" sz="4000"/>
              <a:t>序列的索引与切片</a:t>
            </a:r>
          </a:p>
        </p:txBody>
      </p:sp>
    </p:spTree>
    <p:extLst>
      <p:ext uri="{BB962C8B-B14F-4D97-AF65-F5344CB8AC3E}">
        <p14:creationId xmlns:p14="http://schemas.microsoft.com/office/powerpoint/2010/main" val="1057687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867164"/>
            <a:ext cx="8458200" cy="2958878"/>
          </a:xfrm>
        </p:spPr>
        <p:txBody>
          <a:bodyPr/>
          <a:lstStyle/>
          <a:p>
            <a:r>
              <a:rPr lang="zh-CN" altLang="en-US" dirty="0"/>
              <a:t>序列中的每个元素都可以通过索引访问</a:t>
            </a:r>
            <a:endParaRPr lang="en-US" altLang="zh-CN" dirty="0"/>
          </a:p>
          <a:p>
            <a:pPr lvl="1"/>
            <a:r>
              <a:rPr lang="zh-CN" altLang="en-US" b="1" dirty="0"/>
              <a:t>定义：</a:t>
            </a:r>
            <a:r>
              <a:rPr lang="zh-CN" altLang="en-US" dirty="0"/>
              <a:t>序列中的每一个元素被分配一个位置编号，称为索引（</a:t>
            </a:r>
            <a:r>
              <a:rPr lang="en-US" altLang="zh-CN" dirty="0"/>
              <a:t>index</a:t>
            </a:r>
            <a:r>
              <a:rPr lang="zh-CN" altLang="en-US" dirty="0"/>
              <a:t>）。</a:t>
            </a:r>
            <a:endParaRPr lang="en-US" altLang="zh-CN" b="1" dirty="0"/>
          </a:p>
          <a:p>
            <a:pPr lvl="2"/>
            <a:r>
              <a:rPr lang="zh-CN" altLang="en-US" sz="1600" dirty="0"/>
              <a:t>正数索引（</a:t>
            </a:r>
            <a:r>
              <a:rPr lang="zh-CN" altLang="en-US" sz="1600" b="1" u="sng" dirty="0">
                <a:solidFill>
                  <a:srgbClr val="C00000"/>
                </a:solidFill>
              </a:rPr>
              <a:t>正向索引</a:t>
            </a:r>
            <a:r>
              <a:rPr lang="zh-CN" altLang="en-US" sz="1600"/>
              <a:t>）：</a:t>
            </a:r>
            <a:r>
              <a:rPr lang="zh-CN" altLang="en-US" sz="1600" b="1">
                <a:solidFill>
                  <a:srgbClr val="FF0000"/>
                </a:solidFill>
              </a:rPr>
              <a:t>从左到右</a:t>
            </a:r>
            <a:r>
              <a:rPr lang="zh-CN" altLang="en-US" sz="1600"/>
              <a:t>进行编号，最左边字符编号为</a:t>
            </a:r>
            <a:r>
              <a:rPr lang="en-US" altLang="zh-CN" sz="1600" b="1">
                <a:solidFill>
                  <a:srgbClr val="FF0000"/>
                </a:solidFill>
              </a:rPr>
              <a:t>0</a:t>
            </a:r>
            <a:r>
              <a:rPr lang="zh-CN" altLang="en-US" sz="1600"/>
              <a:t>，最右边字符的编号为字符串的</a:t>
            </a:r>
            <a:r>
              <a:rPr lang="zh-CN" altLang="en-US" sz="1600" b="1">
                <a:solidFill>
                  <a:srgbClr val="FF0000"/>
                </a:solidFill>
              </a:rPr>
              <a:t>长度减</a:t>
            </a:r>
            <a:r>
              <a:rPr lang="en-US" altLang="zh-CN" sz="1600" b="1">
                <a:solidFill>
                  <a:srgbClr val="FF0000"/>
                </a:solidFill>
              </a:rPr>
              <a:t>1</a:t>
            </a:r>
            <a:r>
              <a:rPr lang="zh-CN" altLang="en-US" sz="1600"/>
              <a:t>。</a:t>
            </a:r>
            <a:endParaRPr lang="en-US" altLang="zh-CN" sz="1600"/>
          </a:p>
          <a:p>
            <a:pPr lvl="2"/>
            <a:r>
              <a:rPr lang="zh-CN" altLang="en-US" sz="1600"/>
              <a:t>负数</a:t>
            </a:r>
            <a:r>
              <a:rPr lang="zh-CN" altLang="en-US" sz="1600" dirty="0"/>
              <a:t>索引（</a:t>
            </a:r>
            <a:r>
              <a:rPr lang="zh-CN" altLang="en-US" sz="1600" b="1" u="sng" dirty="0">
                <a:solidFill>
                  <a:srgbClr val="C00000"/>
                </a:solidFill>
              </a:rPr>
              <a:t>反向索引</a:t>
            </a:r>
            <a:r>
              <a:rPr lang="zh-CN" altLang="en-US" sz="1600"/>
              <a:t>）：</a:t>
            </a:r>
            <a:r>
              <a:rPr lang="zh-CN" altLang="en-US"/>
              <a:t>使用</a:t>
            </a:r>
            <a:r>
              <a:rPr lang="zh-CN" altLang="en-US" b="1">
                <a:solidFill>
                  <a:srgbClr val="FF0000"/>
                </a:solidFill>
              </a:rPr>
              <a:t>负数从右向左</a:t>
            </a:r>
            <a:r>
              <a:rPr lang="zh-CN" altLang="en-US"/>
              <a:t>进行编号，最右边的字符（即倒数第</a:t>
            </a:r>
            <a:r>
              <a:rPr lang="en-US" altLang="zh-CN"/>
              <a:t>1</a:t>
            </a:r>
            <a:r>
              <a:rPr lang="zh-CN" altLang="en-US"/>
              <a:t>个字符）的编号为</a:t>
            </a:r>
            <a:r>
              <a:rPr lang="en-US" altLang="zh-CN" b="1">
                <a:solidFill>
                  <a:srgbClr val="FF0000"/>
                </a:solidFill>
              </a:rPr>
              <a:t>-1</a:t>
            </a:r>
            <a:r>
              <a:rPr lang="zh-CN" altLang="en-US"/>
              <a:t>，最左边的字符的编号为</a:t>
            </a:r>
            <a:r>
              <a:rPr lang="zh-CN" altLang="en-US" b="1">
                <a:solidFill>
                  <a:srgbClr val="FF0000"/>
                </a:solidFill>
              </a:rPr>
              <a:t>负的字符串长度</a:t>
            </a:r>
            <a:r>
              <a:rPr lang="zh-CN" altLang="en-US"/>
              <a:t>。</a:t>
            </a:r>
            <a:endParaRPr lang="en-US" altLang="zh-CN"/>
          </a:p>
          <a:p>
            <a:pPr lvl="1"/>
            <a:r>
              <a:rPr lang="zh-CN" altLang="en-US" b="1"/>
              <a:t>使用</a:t>
            </a:r>
            <a:r>
              <a:rPr lang="zh-CN" altLang="en-US" b="1" dirty="0"/>
              <a:t>：</a:t>
            </a:r>
            <a:r>
              <a:rPr lang="zh-CN" altLang="en-US" dirty="0"/>
              <a:t>序列的元素可以通过索引进行访问，一般格式为：</a:t>
            </a:r>
          </a:p>
          <a:p>
            <a:pPr marL="342891" lvl="1" indent="0">
              <a:buNone/>
            </a:pPr>
            <a:r>
              <a:rPr lang="en-US" altLang="zh-CN" dirty="0"/>
              <a:t>	 </a:t>
            </a:r>
            <a:r>
              <a:rPr lang="zh-CN" altLang="en-US" b="1" dirty="0"/>
              <a:t>序列名</a:t>
            </a:r>
            <a:r>
              <a:rPr lang="en-US" altLang="zh-CN" b="1" dirty="0"/>
              <a:t>[</a:t>
            </a:r>
            <a:r>
              <a:rPr lang="zh-CN" altLang="en-US" b="1" dirty="0"/>
              <a:t>索引</a:t>
            </a:r>
            <a:r>
              <a:rPr lang="zh-CN" altLang="en-US" b="1"/>
              <a:t>编号</a:t>
            </a:r>
            <a:r>
              <a:rPr lang="en-US" altLang="zh-CN" b="1"/>
              <a:t>]</a:t>
            </a:r>
            <a:endParaRPr lang="en-US" altLang="zh-CN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序列的索引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53071" y="4026657"/>
            <a:ext cx="7256650" cy="414068"/>
          </a:xfrm>
          <a:prstGeom prst="roundRect">
            <a:avLst/>
          </a:prstGeom>
          <a:ln>
            <a:noFill/>
          </a:ln>
        </p:spPr>
        <p:txBody>
          <a:bodyPr wrap="square" rtlCol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以列表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s=[1, '</a:t>
            </a:r>
            <a:r>
              <a:rPr lang="en-US" altLang="zh-CN" kern="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ef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', 2, 4.0, 12.3 ]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为例，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s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中各元素的索引如下所示：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482575"/>
              </p:ext>
            </p:extLst>
          </p:nvPr>
        </p:nvGraphicFramePr>
        <p:xfrm>
          <a:off x="1166666" y="5419650"/>
          <a:ext cx="6096000" cy="37084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8605298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3792494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936172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661973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36021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ef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2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4.0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/>
                        <a:t>12.3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28794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501671"/>
              </p:ext>
            </p:extLst>
          </p:nvPr>
        </p:nvGraphicFramePr>
        <p:xfrm>
          <a:off x="1166666" y="4708095"/>
          <a:ext cx="6096000" cy="37084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8605298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3792494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936172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661973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36021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s[0]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s[1]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s[2]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51433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s[3]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s[4]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00818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323879"/>
              </p:ext>
            </p:extLst>
          </p:nvPr>
        </p:nvGraphicFramePr>
        <p:xfrm>
          <a:off x="1166666" y="6131206"/>
          <a:ext cx="6096000" cy="37084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8605298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3792494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936172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661973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36021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s[-5]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s[-4]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s[-3]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s[-2]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s[-1]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988780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/>
          <p:nvPr/>
        </p:nvCxnSpPr>
        <p:spPr bwMode="auto">
          <a:xfrm>
            <a:off x="1756611" y="5078935"/>
            <a:ext cx="0" cy="3785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 bwMode="auto">
          <a:xfrm>
            <a:off x="3011104" y="5078934"/>
            <a:ext cx="0" cy="3785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 bwMode="auto">
          <a:xfrm>
            <a:off x="4214666" y="5078935"/>
            <a:ext cx="0" cy="3785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 bwMode="auto">
          <a:xfrm>
            <a:off x="5428649" y="5078935"/>
            <a:ext cx="0" cy="3785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>
            <a:off x="6639828" y="5078935"/>
            <a:ext cx="0" cy="3785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 flipV="1">
            <a:off x="1756611" y="5790490"/>
            <a:ext cx="0" cy="40105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 flipV="1">
            <a:off x="3011104" y="5790490"/>
            <a:ext cx="0" cy="40105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flipV="1">
            <a:off x="4214666" y="5790490"/>
            <a:ext cx="0" cy="40105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 flipV="1">
            <a:off x="5433462" y="5780778"/>
            <a:ext cx="0" cy="40105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 bwMode="auto">
          <a:xfrm flipV="1">
            <a:off x="6639828" y="5776946"/>
            <a:ext cx="0" cy="40105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01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55057" y="1053890"/>
            <a:ext cx="1533625" cy="479447"/>
          </a:xfrm>
        </p:spPr>
        <p:txBody>
          <a:bodyPr/>
          <a:lstStyle/>
          <a:p>
            <a:pPr marL="0" indent="0" fontAlgn="auto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zh-CN" altLang="en-US" sz="2400">
                <a:solidFill>
                  <a:srgbClr val="FF0000"/>
                </a:solidFill>
              </a:rPr>
              <a:t>不能越界</a:t>
            </a:r>
            <a:endParaRPr lang="zh-CN" altLang="en-US" sz="2800" b="0" kern="1200" dirty="0">
              <a:solidFill>
                <a:srgbClr val="FF0000"/>
              </a:solidFill>
              <a:latin typeface="Verdan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>
                <a:solidFill>
                  <a:srgbClr val="000000"/>
                </a:solidFill>
              </a:rPr>
              <a:t>访问列表元素</a:t>
            </a:r>
            <a:r>
              <a:rPr lang="en-US" altLang="zh-CN" dirty="0">
                <a:solidFill>
                  <a:srgbClr val="000000"/>
                </a:solidFill>
              </a:rPr>
              <a:t>——</a:t>
            </a:r>
            <a:r>
              <a:rPr lang="zh-CN" altLang="en-US" dirty="0">
                <a:solidFill>
                  <a:srgbClr val="000000"/>
                </a:solidFill>
              </a:rPr>
              <a:t>索引（</a:t>
            </a:r>
            <a:r>
              <a:rPr lang="en-US" altLang="zh-CN" dirty="0">
                <a:solidFill>
                  <a:srgbClr val="000000"/>
                </a:solidFill>
              </a:rPr>
              <a:t>index</a:t>
            </a:r>
            <a:r>
              <a:rPr lang="zh-CN" altLang="en-US" dirty="0">
                <a:solidFill>
                  <a:srgbClr val="000000"/>
                </a:solidFill>
              </a:rPr>
              <a:t>）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602296" y="1735803"/>
            <a:ext cx="3980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ls1 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= [10, 20, 30, 40, 50, 60, 70, 80]</a:t>
            </a:r>
            <a:endParaRPr lang="zh-CN" altLang="en-US" sz="1600" dirty="0"/>
          </a:p>
        </p:txBody>
      </p:sp>
      <p:sp>
        <p:nvSpPr>
          <p:cNvPr id="17" name="矩形 16"/>
          <p:cNvSpPr/>
          <p:nvPr/>
        </p:nvSpPr>
        <p:spPr>
          <a:xfrm>
            <a:off x="304800" y="376240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遍历列表元素</a:t>
            </a:r>
            <a:endParaRPr lang="zh-CN" altLang="en-US" sz="1500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6231" y="5700635"/>
            <a:ext cx="2626300" cy="8730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for </a:t>
            </a:r>
            <a:r>
              <a:rPr lang="en-US" altLang="zh-CN" kern="0" dirty="0" err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in range(</a:t>
            </a:r>
            <a:r>
              <a:rPr lang="en-US" altLang="zh-CN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len(ls1)</a:t>
            </a: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):</a:t>
            </a:r>
            <a:endParaRPr lang="en-US" altLang="zh-CN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print(ls1[i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])</a:t>
            </a:r>
            <a:endParaRPr lang="zh-CN" altLang="en-US" sz="1350" dirty="0"/>
          </a:p>
        </p:txBody>
      </p:sp>
      <p:sp>
        <p:nvSpPr>
          <p:cNvPr id="20" name="矩形 19"/>
          <p:cNvSpPr/>
          <p:nvPr/>
        </p:nvSpPr>
        <p:spPr>
          <a:xfrm>
            <a:off x="825688" y="4368491"/>
            <a:ext cx="1406154" cy="8730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for a </a:t>
            </a: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in ls1:</a:t>
            </a:r>
            <a:endParaRPr lang="en-US" altLang="zh-CN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print(a)</a:t>
            </a:r>
            <a:endParaRPr lang="zh-CN" altLang="en-US" sz="1350" dirty="0"/>
          </a:p>
        </p:txBody>
      </p:sp>
      <p:sp>
        <p:nvSpPr>
          <p:cNvPr id="22" name="矩形 21"/>
          <p:cNvSpPr/>
          <p:nvPr/>
        </p:nvSpPr>
        <p:spPr>
          <a:xfrm>
            <a:off x="4702558" y="3856727"/>
            <a:ext cx="38209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如何得到逆序的</a:t>
            </a:r>
            <a:r>
              <a:rPr lang="zh-CN" altLang="en-US" ker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输出？</a:t>
            </a:r>
            <a:endParaRPr lang="en-US" altLang="zh-CN" kern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175" y="2307602"/>
            <a:ext cx="5578765" cy="101994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矩形 22"/>
          <p:cNvSpPr/>
          <p:nvPr/>
        </p:nvSpPr>
        <p:spPr>
          <a:xfrm>
            <a:off x="4663439" y="5700635"/>
            <a:ext cx="3518034" cy="8730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for i in range(len(ls1)-1, -1, -1):</a:t>
            </a:r>
          </a:p>
          <a:p>
            <a:pPr>
              <a:lnSpc>
                <a:spcPct val="150000"/>
              </a:lnSpc>
            </a:pP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print(ls1[i])</a:t>
            </a:r>
            <a:endParaRPr lang="zh-CN" altLang="en-US" sz="1350" dirty="0"/>
          </a:p>
        </p:txBody>
      </p:sp>
      <p:sp>
        <p:nvSpPr>
          <p:cNvPr id="24" name="矩形 23"/>
          <p:cNvSpPr/>
          <p:nvPr/>
        </p:nvSpPr>
        <p:spPr>
          <a:xfrm>
            <a:off x="4663439" y="4318040"/>
            <a:ext cx="3643163" cy="8744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for i in range(-1, -</a:t>
            </a:r>
            <a:r>
              <a:rPr lang="en-US" altLang="zh-CN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len(</a:t>
            </a: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ls1</a:t>
            </a:r>
            <a:r>
              <a:rPr lang="en-US" altLang="zh-CN" ker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)-1, -1</a:t>
            </a: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ker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print(ls1[i])</a:t>
            </a:r>
            <a:endParaRPr lang="en-US" altLang="zh-CN" kern="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905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 animBg="1"/>
      <p:bldP spid="22" grpId="0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153939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已知列表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x=list(range(1,6))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，下列选项中可以取出最后一个元素的操作有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_______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923068" y="2814205"/>
            <a:ext cx="8923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x[4]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905000" y="3457144"/>
            <a:ext cx="101626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x[5]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923068" y="4208458"/>
            <a:ext cx="89232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x[6]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545999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243388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1250" y="496848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1919893" y="4968485"/>
            <a:ext cx="1540389" cy="5964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len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(x)]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51975" y="4406799"/>
            <a:ext cx="2737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list index out of range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右大括号 18"/>
          <p:cNvSpPr/>
          <p:nvPr/>
        </p:nvSpPr>
        <p:spPr bwMode="auto">
          <a:xfrm>
            <a:off x="3512298" y="3673231"/>
            <a:ext cx="484554" cy="1809604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52168" y="2073932"/>
            <a:ext cx="34429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&gt;&gt;&gt; list(range(1,6))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[1, 2, 3, 4, 5]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grpSp>
        <p:nvGrpSpPr>
          <p:cNvPr id="23" name="组合 22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50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22051" y="1083733"/>
            <a:ext cx="8649419" cy="1901007"/>
          </a:xfrm>
        </p:spPr>
        <p:txBody>
          <a:bodyPr/>
          <a:lstStyle/>
          <a:p>
            <a:r>
              <a:rPr lang="zh-CN" altLang="en-US" dirty="0"/>
              <a:t>分片（切片，</a:t>
            </a:r>
            <a:r>
              <a:rPr lang="en-US" altLang="zh-CN" dirty="0"/>
              <a:t>slice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就是取出序列中某一范围内的元素，从而得到一个</a:t>
            </a:r>
            <a:r>
              <a:rPr lang="zh-CN" altLang="en-US" dirty="0">
                <a:solidFill>
                  <a:srgbClr val="FF0000"/>
                </a:solidFill>
              </a:rPr>
              <a:t>新的序列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这时可以使用以下形式的字符串索引编号</a:t>
            </a:r>
            <a:r>
              <a:rPr lang="en-US" altLang="zh-CN" dirty="0"/>
              <a:t>:  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b="1" dirty="0">
                <a:solidFill>
                  <a:srgbClr val="FF0000"/>
                </a:solidFill>
              </a:rPr>
              <a:t> i:j:k</a:t>
            </a:r>
          </a:p>
          <a:p>
            <a:pPr lvl="1"/>
            <a:r>
              <a:rPr lang="en-US" altLang="zh-CN" dirty="0" err="1"/>
              <a:t>i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zh-CN" altLang="en-US" dirty="0"/>
              <a:t>，</a:t>
            </a:r>
            <a:r>
              <a:rPr lang="en-US" altLang="zh-CN" dirty="0"/>
              <a:t>k</a:t>
            </a:r>
            <a:r>
              <a:rPr lang="zh-CN" altLang="en-US" dirty="0"/>
              <a:t>均为整数，其中</a:t>
            </a:r>
            <a:r>
              <a:rPr lang="en-US" altLang="zh-CN" dirty="0" err="1"/>
              <a:t>i</a:t>
            </a:r>
            <a:r>
              <a:rPr lang="zh-CN" altLang="en-US" dirty="0"/>
              <a:t>是索引起始位置，</a:t>
            </a:r>
            <a:r>
              <a:rPr lang="en-US" altLang="zh-CN" dirty="0"/>
              <a:t>j</a:t>
            </a:r>
            <a:r>
              <a:rPr lang="zh-CN" altLang="en-US" dirty="0"/>
              <a:t>是索引结束位置但不包括</a:t>
            </a:r>
            <a:r>
              <a:rPr lang="en-US" altLang="zh-CN" dirty="0"/>
              <a:t>j</a:t>
            </a:r>
            <a:r>
              <a:rPr lang="zh-CN" altLang="en-US" dirty="0"/>
              <a:t>位置上的字符，索引编号每次增加的步长为</a:t>
            </a:r>
            <a:r>
              <a:rPr lang="en-US" altLang="zh-CN" dirty="0"/>
              <a:t>k</a:t>
            </a:r>
            <a:r>
              <a:rPr lang="zh-CN" altLang="en-US" dirty="0"/>
              <a:t>。</a:t>
            </a:r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序列的分片</a:t>
            </a:r>
          </a:p>
        </p:txBody>
      </p:sp>
      <p:sp>
        <p:nvSpPr>
          <p:cNvPr id="4" name="矩形 3"/>
          <p:cNvSpPr/>
          <p:nvPr/>
        </p:nvSpPr>
        <p:spPr>
          <a:xfrm>
            <a:off x="683569" y="3211546"/>
            <a:ext cx="6338333" cy="3293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s=[1, 2, 1.0, 'x’, 'y']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s[2:4]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[1.0, 'x']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s[:4]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[1, 2, 1.0, 'x']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s[2:]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[1.0, 'x', 'y']</a:t>
            </a:r>
          </a:p>
          <a:p>
            <a:pPr>
              <a:lnSpc>
                <a:spcPts val="28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s[2::2]</a:t>
            </a:r>
          </a:p>
          <a:p>
            <a:pPr>
              <a:lnSpc>
                <a:spcPts val="28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[1.0, 'y']</a:t>
            </a:r>
          </a:p>
        </p:txBody>
      </p:sp>
    </p:spTree>
    <p:extLst>
      <p:ext uri="{BB962C8B-B14F-4D97-AF65-F5344CB8AC3E}">
        <p14:creationId xmlns:p14="http://schemas.microsoft.com/office/powerpoint/2010/main" val="323474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37" y="865578"/>
            <a:ext cx="8458200" cy="5992421"/>
          </a:xfr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aList = [3, 4, 5, 6, 7, 9, 11, 13, 15, 17]</a:t>
            </a:r>
          </a:p>
          <a:p>
            <a:pPr marL="0" indent="0">
              <a:buNone/>
            </a:pPr>
            <a:endParaRPr lang="en-US" altLang="zh-CN" sz="1800" dirty="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aList[::]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nsolas" panose="020B0609020204030204" charset="0"/>
              </a:rPr>
              <a:t>[3, 4, 5, 6, 7, 9, 11, 13, 15, 17]</a:t>
            </a:r>
          </a:p>
          <a:p>
            <a:pPr marL="0" indent="0">
              <a:buNone/>
            </a:pPr>
            <a:endParaRPr lang="en-US" altLang="zh-CN" sz="1800" dirty="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aList[::-1]            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nsolas" panose="020B0609020204030204" charset="0"/>
              </a:rPr>
              <a:t>[17, 15, 13, 11, 9, 7, 6, 5, 4, 3]</a:t>
            </a:r>
          </a:p>
          <a:p>
            <a:pPr marL="0" indent="0">
              <a:buNone/>
            </a:pPr>
            <a:endParaRPr lang="en-US" altLang="zh-CN" sz="1800" dirty="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aList[::2]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nsolas" panose="020B0609020204030204" charset="0"/>
              </a:rPr>
              <a:t>[3, 5, 7, 11, 15]</a:t>
            </a:r>
          </a:p>
          <a:p>
            <a:pPr marL="0" indent="0">
              <a:buNone/>
            </a:pPr>
            <a:endParaRPr lang="en-US" altLang="zh-CN" sz="1800" dirty="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aList[1::2]             </a:t>
            </a:r>
            <a:endParaRPr lang="en-US" altLang="zh-CN" sz="1800" dirty="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nsolas" panose="020B0609020204030204" charset="0"/>
              </a:rPr>
              <a:t>[4, 6, 9, 13, 17]</a:t>
            </a:r>
          </a:p>
          <a:p>
            <a:pPr marL="0" indent="0">
              <a:buNone/>
            </a:pPr>
            <a:endParaRPr lang="en-US" altLang="zh-CN" sz="1800" dirty="0"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zh-CN" altLang="en-US" sz="1800" dirty="0">
                <a:latin typeface="Consolas" panose="020B0609020204030204" charset="0"/>
              </a:rPr>
              <a:t>&gt;&gt;&gt; aList[</a:t>
            </a:r>
            <a:r>
              <a:rPr lang="en-US" altLang="zh-CN" sz="1800" dirty="0">
                <a:latin typeface="Consolas" panose="020B0609020204030204" charset="0"/>
              </a:rPr>
              <a:t>3</a:t>
            </a:r>
            <a:r>
              <a:rPr lang="zh-CN" altLang="en-US" sz="1800" dirty="0">
                <a:latin typeface="Consolas" panose="020B0609020204030204" charset="0"/>
              </a:rPr>
              <a:t>:100]              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C00000"/>
                </a:solidFill>
                <a:latin typeface="Consolas" panose="020B0609020204030204" charset="0"/>
              </a:rPr>
              <a:t>[6, 7, 9 , 11, 13, 15, 17]</a:t>
            </a:r>
            <a:endParaRPr lang="en-US" altLang="zh-CN" sz="1800" dirty="0">
              <a:solidFill>
                <a:srgbClr val="C00000"/>
              </a:solidFill>
              <a:latin typeface="Consolas" panose="020B0609020204030204" charset="0"/>
            </a:endParaRPr>
          </a:p>
          <a:p>
            <a:pPr marL="0" indent="0">
              <a:buNone/>
            </a:pPr>
            <a:endParaRPr lang="en-US" altLang="zh-CN" sz="1800" dirty="0">
              <a:solidFill>
                <a:srgbClr val="C00000"/>
              </a:solidFill>
              <a:latin typeface="Consolas" panose="020B0609020204030204" charset="0"/>
            </a:endParaRP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charset="0"/>
              </a:rPr>
              <a:t>&gt;&gt;&gt;</a:t>
            </a:r>
            <a:r>
              <a:rPr lang="en-US" altLang="zh-CN" sz="1800" dirty="0">
                <a:solidFill>
                  <a:srgbClr val="00B0F0"/>
                </a:solidFill>
                <a:latin typeface="Consolas" panose="020B0609020204030204" charset="0"/>
              </a:rPr>
              <a:t> </a:t>
            </a:r>
            <a:r>
              <a:rPr lang="zh-CN" altLang="en-US" sz="1800" dirty="0">
                <a:latin typeface="Consolas" panose="020B0609020204030204" charset="0"/>
              </a:rPr>
              <a:t>len(aList)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C00000"/>
                </a:solidFill>
                <a:latin typeface="Consolas" panose="020B0609020204030204" charset="0"/>
              </a:rPr>
              <a:t>10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序列的分片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80448" y="1420827"/>
            <a:ext cx="497434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创建一个包含原列表中所有元素的新列表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780449" y="2254987"/>
            <a:ext cx="4974346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创建一个包含原列表中所有元素的逆序列表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780449" y="3380767"/>
            <a:ext cx="497434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隔一个取一个，新列表仅包含偶数索引的元素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780448" y="4213674"/>
            <a:ext cx="4974346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隔一个取一个，新列表仅包含奇数索引的元素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3780449" y="5161827"/>
            <a:ext cx="5032147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分片结束位置大于列表长度时，从列表尾部截断</a:t>
            </a:r>
          </a:p>
        </p:txBody>
      </p:sp>
    </p:spTree>
    <p:extLst>
      <p:ext uri="{BB962C8B-B14F-4D97-AF65-F5344CB8AC3E}">
        <p14:creationId xmlns:p14="http://schemas.microsoft.com/office/powerpoint/2010/main" val="341713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x=list(range(1,10))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x[1::2]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[2, 4, 6, 8]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[1, 3, 5, 7, 9]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[2, 4, 6, 8, 10]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[1, 3, 5, 7 ]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59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14425" y="885257"/>
            <a:ext cx="6301443" cy="14921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 </a:t>
            </a:r>
            <a:r>
              <a:rPr lang="zh-CN" altLang="en-US" sz="2400" dirty="0">
                <a:latin typeface="Consolas" panose="020B0609020204030204" charset="0"/>
              </a:rPr>
              <a:t>aList = [</a:t>
            </a:r>
            <a:r>
              <a:rPr lang="en-US" altLang="zh-CN" sz="2400" dirty="0">
                <a:latin typeface="Consolas" panose="020B0609020204030204" charset="0"/>
              </a:rPr>
              <a:t>10</a:t>
            </a:r>
            <a:r>
              <a:rPr lang="zh-CN" altLang="en-US" sz="2400" dirty="0">
                <a:latin typeface="Consolas" panose="020B0609020204030204" charset="0"/>
              </a:rPr>
              <a:t>,</a:t>
            </a:r>
            <a:r>
              <a:rPr lang="en-US" altLang="zh-CN" sz="2400" dirty="0">
                <a:latin typeface="Consolas" panose="020B0609020204030204" charset="0"/>
              </a:rPr>
              <a:t>20</a:t>
            </a:r>
            <a:r>
              <a:rPr lang="zh-CN" altLang="en-US" sz="2400" dirty="0">
                <a:latin typeface="Consolas" panose="020B0609020204030204" charset="0"/>
              </a:rPr>
              <a:t>,</a:t>
            </a:r>
            <a:r>
              <a:rPr lang="en-US" altLang="zh-CN" sz="2400" dirty="0">
                <a:latin typeface="Consolas" panose="020B0609020204030204" charset="0"/>
              </a:rPr>
              <a:t>30</a:t>
            </a:r>
            <a:r>
              <a:rPr lang="zh-CN" altLang="en-US" sz="2400" dirty="0">
                <a:latin typeface="Consolas" panose="020B0609020204030204" charset="0"/>
              </a:rPr>
              <a:t>,</a:t>
            </a:r>
            <a:r>
              <a:rPr lang="en-US" altLang="zh-CN" sz="2400" dirty="0">
                <a:latin typeface="Consolas" panose="020B0609020204030204" charset="0"/>
              </a:rPr>
              <a:t>40</a:t>
            </a:r>
            <a:r>
              <a:rPr lang="zh-CN" altLang="en-US" sz="2400" dirty="0">
                <a:latin typeface="Consolas" panose="020B0609020204030204" charset="0"/>
              </a:rPr>
              <a:t>,</a:t>
            </a:r>
            <a:r>
              <a:rPr lang="en-US" altLang="zh-CN" sz="2400" dirty="0">
                <a:latin typeface="Consolas" panose="020B0609020204030204" charset="0"/>
              </a:rPr>
              <a:t>50</a:t>
            </a:r>
            <a:r>
              <a:rPr lang="zh-CN" altLang="en-US" sz="2400" dirty="0">
                <a:latin typeface="Consolas" panose="020B0609020204030204" charset="0"/>
              </a:rPr>
              <a:t>,</a:t>
            </a:r>
            <a:r>
              <a:rPr lang="en-US" altLang="zh-CN" sz="2400" dirty="0">
                <a:latin typeface="Consolas" panose="020B0609020204030204" charset="0"/>
              </a:rPr>
              <a:t>60,</a:t>
            </a:r>
            <a:r>
              <a:rPr lang="zh-CN" altLang="en-US" sz="2400" dirty="0">
                <a:latin typeface="Consolas" panose="020B0609020204030204" charset="0"/>
              </a:rPr>
              <a:t>7</a:t>
            </a:r>
            <a:r>
              <a:rPr lang="en-US" altLang="zh-CN" sz="2400" dirty="0">
                <a:latin typeface="Consolas" panose="020B0609020204030204" charset="0"/>
              </a:rPr>
              <a:t>0</a:t>
            </a:r>
            <a:r>
              <a:rPr lang="zh-CN" altLang="en-US" sz="2400" dirty="0">
                <a:latin typeface="Consolas" panose="020B0609020204030204" charset="0"/>
              </a:rPr>
              <a:t>]，</a:t>
            </a:r>
            <a:endParaRPr lang="en-US" altLang="zh-CN" sz="2400" dirty="0"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Consolas" panose="020B0609020204030204" charset="0"/>
              </a:rPr>
              <a:t>求 aList[3:-</a:t>
            </a:r>
            <a:r>
              <a:rPr lang="en-US" altLang="zh-CN" sz="2400" dirty="0">
                <a:latin typeface="Consolas" panose="020B0609020204030204" charset="0"/>
              </a:rPr>
              <a:t>5</a:t>
            </a:r>
            <a:r>
              <a:rPr lang="zh-CN" altLang="en-US" sz="2400" dirty="0">
                <a:latin typeface="Consolas" panose="020B0609020204030204" charset="0"/>
              </a:rPr>
              <a:t>:-1] 的值</a:t>
            </a:r>
            <a:endParaRPr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2"/>
            <a:ext cx="198310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13925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[40]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[10,20,30]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-15729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A068F62-21E4-4D99-B7FC-E5EDC9EE040B}"/>
              </a:ext>
            </a:extLst>
          </p:cNvPr>
          <p:cNvCxnSpPr/>
          <p:nvPr/>
        </p:nvCxnSpPr>
        <p:spPr bwMode="auto">
          <a:xfrm>
            <a:off x="4110334" y="729509"/>
            <a:ext cx="461666" cy="5368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5CC844A-543F-4C4E-8FFF-B44A0D3DB26F}"/>
              </a:ext>
            </a:extLst>
          </p:cNvPr>
          <p:cNvCxnSpPr/>
          <p:nvPr/>
        </p:nvCxnSpPr>
        <p:spPr bwMode="auto">
          <a:xfrm flipH="1">
            <a:off x="5079977" y="643056"/>
            <a:ext cx="238373" cy="6233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FB2E533-5BC9-43C9-944E-D4044AEA4D75}"/>
              </a:ext>
            </a:extLst>
          </p:cNvPr>
          <p:cNvSpPr txBox="1"/>
          <p:nvPr/>
        </p:nvSpPr>
        <p:spPr>
          <a:xfrm>
            <a:off x="3732829" y="416825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70F76A-388B-41F8-842B-C3B365834916}"/>
              </a:ext>
            </a:extLst>
          </p:cNvPr>
          <p:cNvSpPr txBox="1"/>
          <p:nvPr/>
        </p:nvSpPr>
        <p:spPr>
          <a:xfrm>
            <a:off x="4994188" y="33145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begin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7CF1ED0-C954-45FD-837C-3CCFF6BC5D1F}"/>
              </a:ext>
            </a:extLst>
          </p:cNvPr>
          <p:cNvSpPr txBox="1"/>
          <p:nvPr/>
        </p:nvSpPr>
        <p:spPr>
          <a:xfrm>
            <a:off x="3741220" y="2591752"/>
            <a:ext cx="5205096" cy="313932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aList</a:t>
            </a:r>
            <a:r>
              <a:rPr lang="en-US" altLang="zh-CN" dirty="0"/>
              <a:t>[3:-5:-1]</a:t>
            </a:r>
            <a:r>
              <a:rPr lang="zh-CN" altLang="en-US" dirty="0"/>
              <a:t>中的开始位置</a:t>
            </a:r>
            <a:r>
              <a:rPr lang="en-US" altLang="zh-CN" dirty="0"/>
              <a:t>3</a:t>
            </a:r>
            <a:r>
              <a:rPr lang="zh-CN" altLang="en-US" dirty="0"/>
              <a:t>让</a:t>
            </a:r>
            <a:r>
              <a:rPr lang="en-US" altLang="zh-CN" dirty="0"/>
              <a:t>begin</a:t>
            </a:r>
            <a:r>
              <a:rPr lang="zh-CN" altLang="en-US" dirty="0"/>
              <a:t>指向列表的第三个元素</a:t>
            </a:r>
            <a:r>
              <a:rPr lang="en-US" altLang="zh-CN" dirty="0"/>
              <a:t>40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变量</a:t>
            </a:r>
            <a:r>
              <a:rPr lang="en-US" altLang="zh-CN" dirty="0"/>
              <a:t>begin</a:t>
            </a:r>
            <a:r>
              <a:rPr lang="zh-CN" altLang="en-US" dirty="0"/>
              <a:t>的值不是开始位置</a:t>
            </a:r>
            <a:r>
              <a:rPr lang="en-US" altLang="zh-CN" dirty="0"/>
              <a:t>3</a:t>
            </a:r>
            <a:r>
              <a:rPr lang="zh-CN" altLang="en-US" dirty="0"/>
              <a:t>，而是</a:t>
            </a:r>
            <a:r>
              <a:rPr lang="en-US" altLang="zh-CN" dirty="0"/>
              <a:t>40</a:t>
            </a:r>
            <a:r>
              <a:rPr lang="zh-CN" altLang="en-US" dirty="0"/>
              <a:t>那个元素的内存地址。</a:t>
            </a:r>
            <a:r>
              <a:rPr lang="en-US" altLang="zh-CN" dirty="0"/>
              <a:t> </a:t>
            </a:r>
            <a:r>
              <a:rPr lang="en-US" altLang="zh-CN" dirty="0" err="1"/>
              <a:t>aList</a:t>
            </a:r>
            <a:r>
              <a:rPr lang="en-US" altLang="zh-CN" dirty="0"/>
              <a:t>[-4:-5:-1]</a:t>
            </a:r>
            <a:r>
              <a:rPr lang="zh-CN" altLang="en-US" dirty="0"/>
              <a:t>效果一样。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 err="1"/>
              <a:t>aList</a:t>
            </a:r>
            <a:r>
              <a:rPr lang="en-US" altLang="zh-CN" dirty="0"/>
              <a:t>[3:-5:-1]</a:t>
            </a:r>
            <a:r>
              <a:rPr lang="zh-CN" altLang="en-US" dirty="0"/>
              <a:t>中的结束位置</a:t>
            </a:r>
            <a:r>
              <a:rPr lang="en-US" altLang="zh-CN" dirty="0"/>
              <a:t>-5</a:t>
            </a:r>
            <a:r>
              <a:rPr lang="zh-CN" altLang="en-US" dirty="0"/>
              <a:t>让</a:t>
            </a:r>
            <a:r>
              <a:rPr lang="en-US" altLang="zh-CN" dirty="0"/>
              <a:t>end</a:t>
            </a:r>
            <a:r>
              <a:rPr lang="zh-CN" altLang="en-US" dirty="0"/>
              <a:t>指向列表的第二个元素</a:t>
            </a:r>
            <a:r>
              <a:rPr lang="en-US" altLang="zh-CN" dirty="0"/>
              <a:t>30</a:t>
            </a:r>
            <a:r>
              <a:rPr lang="zh-CN" altLang="en-US" dirty="0"/>
              <a:t>。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zh-CN" altLang="en-US" dirty="0"/>
              <a:t>变量</a:t>
            </a:r>
            <a:r>
              <a:rPr lang="en-US" altLang="zh-CN" dirty="0"/>
              <a:t>end</a:t>
            </a:r>
            <a:r>
              <a:rPr lang="zh-CN" altLang="en-US" dirty="0"/>
              <a:t>的值不是结束位置</a:t>
            </a:r>
            <a:r>
              <a:rPr lang="en-US" altLang="zh-CN" dirty="0"/>
              <a:t>-5</a:t>
            </a:r>
            <a:r>
              <a:rPr lang="zh-CN" altLang="en-US" dirty="0"/>
              <a:t>，而是</a:t>
            </a:r>
            <a:r>
              <a:rPr lang="en-US" altLang="zh-CN" dirty="0"/>
              <a:t>30</a:t>
            </a:r>
            <a:r>
              <a:rPr lang="zh-CN" altLang="en-US" dirty="0"/>
              <a:t>那个元素的内存地址。</a:t>
            </a:r>
            <a:r>
              <a:rPr lang="en-US" altLang="zh-CN" dirty="0" err="1"/>
              <a:t>aList</a:t>
            </a:r>
            <a:r>
              <a:rPr lang="en-US" altLang="zh-CN" dirty="0"/>
              <a:t>[3:2:-1]</a:t>
            </a:r>
            <a:r>
              <a:rPr lang="zh-CN" altLang="en-US" dirty="0"/>
              <a:t>效果一样。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）因为步长（</a:t>
            </a:r>
            <a:r>
              <a:rPr lang="en-US" altLang="zh-CN" dirty="0"/>
              <a:t>-1</a:t>
            </a:r>
            <a:r>
              <a:rPr lang="zh-CN" altLang="en-US" dirty="0"/>
              <a:t>）为负数，所以不断进行如下的判断：</a:t>
            </a:r>
            <a:r>
              <a:rPr lang="en-US" altLang="zh-CN" dirty="0"/>
              <a:t>begin &gt; end</a:t>
            </a:r>
            <a:r>
              <a:rPr lang="zh-CN" altLang="en-US" dirty="0"/>
              <a:t>，直至判断为假。否则每次取出</a:t>
            </a:r>
            <a:r>
              <a:rPr lang="en-US" altLang="zh-CN" dirty="0"/>
              <a:t>begin</a:t>
            </a:r>
            <a:r>
              <a:rPr lang="zh-CN" altLang="en-US" dirty="0"/>
              <a:t>所指的元素，并让</a:t>
            </a:r>
            <a:r>
              <a:rPr lang="en-US" altLang="zh-CN" dirty="0"/>
              <a:t>begin += </a:t>
            </a:r>
            <a:r>
              <a:rPr lang="zh-CN" altLang="en-US" dirty="0"/>
              <a:t>步长。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3260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 </a:t>
            </a:r>
            <a:r>
              <a:rPr lang="zh-CN" altLang="en-US" sz="2800" dirty="0">
                <a:latin typeface="Consolas" panose="020B0609020204030204" charset="0"/>
              </a:rPr>
              <a:t>aList = [</a:t>
            </a:r>
            <a:r>
              <a:rPr lang="en-US" altLang="zh-CN" sz="2800" dirty="0">
                <a:latin typeface="Consolas" panose="020B0609020204030204" charset="0"/>
              </a:rPr>
              <a:t>1</a:t>
            </a:r>
            <a:r>
              <a:rPr lang="zh-CN" altLang="en-US" sz="2800" dirty="0">
                <a:latin typeface="Consolas" panose="020B0609020204030204" charset="0"/>
              </a:rPr>
              <a:t>,</a:t>
            </a:r>
            <a:r>
              <a:rPr lang="en-US" altLang="zh-CN" sz="2800" dirty="0">
                <a:latin typeface="Consolas" panose="020B0609020204030204" charset="0"/>
              </a:rPr>
              <a:t>2</a:t>
            </a:r>
            <a:r>
              <a:rPr lang="zh-CN" altLang="en-US" sz="2800" dirty="0">
                <a:latin typeface="Consolas" panose="020B0609020204030204" charset="0"/>
              </a:rPr>
              <a:t>,</a:t>
            </a:r>
            <a:r>
              <a:rPr lang="en-US" altLang="zh-CN" sz="2800" dirty="0">
                <a:latin typeface="Consolas" panose="020B0609020204030204" charset="0"/>
              </a:rPr>
              <a:t>3</a:t>
            </a:r>
            <a:r>
              <a:rPr lang="zh-CN" altLang="en-US" sz="2800" dirty="0">
                <a:latin typeface="Consolas" panose="020B0609020204030204" charset="0"/>
              </a:rPr>
              <a:t>,</a:t>
            </a:r>
            <a:r>
              <a:rPr lang="en-US" altLang="zh-CN" sz="2800" dirty="0">
                <a:latin typeface="Consolas" panose="020B0609020204030204" charset="0"/>
              </a:rPr>
              <a:t>4</a:t>
            </a:r>
            <a:r>
              <a:rPr lang="zh-CN" altLang="en-US" sz="2800" dirty="0">
                <a:latin typeface="Consolas" panose="020B0609020204030204" charset="0"/>
              </a:rPr>
              <a:t>,</a:t>
            </a:r>
            <a:r>
              <a:rPr lang="en-US" altLang="zh-CN" sz="2800" dirty="0">
                <a:latin typeface="Consolas" panose="020B0609020204030204" charset="0"/>
              </a:rPr>
              <a:t>5</a:t>
            </a:r>
            <a:r>
              <a:rPr lang="zh-CN" altLang="en-US" sz="2800" dirty="0">
                <a:latin typeface="Consolas" panose="020B0609020204030204" charset="0"/>
              </a:rPr>
              <a:t>,</a:t>
            </a:r>
            <a:r>
              <a:rPr lang="en-US" altLang="zh-CN" sz="2800" dirty="0">
                <a:latin typeface="Consolas" panose="020B0609020204030204" charset="0"/>
              </a:rPr>
              <a:t>6,</a:t>
            </a:r>
            <a:r>
              <a:rPr lang="zh-CN" altLang="en-US" sz="2800" dirty="0">
                <a:latin typeface="Consolas" panose="020B0609020204030204" charset="0"/>
              </a:rPr>
              <a:t>7]，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下列说法中</a:t>
            </a:r>
            <a:r>
              <a:rPr lang="zh-CN" altLang="en-US" sz="2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的是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aList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[:100]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a[:]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的值相等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aList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[100]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aList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[:-100]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latin typeface="Consolas" panose="020B0609020204030204" charset="0"/>
              </a:rPr>
              <a:t>aList[3:-</a:t>
            </a:r>
            <a:r>
              <a:rPr lang="en-US" altLang="zh-CN" sz="2800" dirty="0">
                <a:latin typeface="Consolas" panose="020B0609020204030204" charset="0"/>
              </a:rPr>
              <a:t>3</a:t>
            </a:r>
            <a:r>
              <a:rPr lang="zh-CN" altLang="en-US" sz="2800" dirty="0">
                <a:latin typeface="Consolas" panose="020B0609020204030204" charset="0"/>
              </a:rPr>
              <a:t>]的值是</a:t>
            </a:r>
            <a:r>
              <a:rPr lang="en-US" altLang="zh-CN" sz="2800" dirty="0">
                <a:latin typeface="Consolas" panose="020B0609020204030204" charset="0"/>
              </a:rPr>
              <a:t>[4]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693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 sz="quarter"/>
          </p:nvPr>
        </p:nvSpPr>
        <p:spPr>
          <a:xfrm>
            <a:off x="52939" y="1864846"/>
            <a:ext cx="8723313" cy="1123950"/>
          </a:xfrm>
        </p:spPr>
        <p:txBody>
          <a:bodyPr/>
          <a:lstStyle/>
          <a:p>
            <a:r>
              <a:rPr lang="zh-CN" altLang="en-US" dirty="0"/>
              <a:t>列表的分片操作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1771049" y="3277401"/>
            <a:ext cx="6087979" cy="276726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与字符串的分片不同，</a:t>
            </a:r>
            <a:r>
              <a:rPr lang="zh-CN" altLang="en-US" dirty="0">
                <a:solidFill>
                  <a:srgbClr val="FF0000"/>
                </a:solidFill>
              </a:rPr>
              <a:t>列表的分片是可以</a:t>
            </a:r>
            <a:r>
              <a:rPr lang="zh-CN" altLang="en-US">
                <a:solidFill>
                  <a:srgbClr val="FF0000"/>
                </a:solidFill>
              </a:rPr>
              <a:t>修改的</a:t>
            </a:r>
            <a:endParaRPr lang="en-US" altLang="zh-CN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利用分片，修改列表数据：</a:t>
            </a:r>
            <a:endParaRPr lang="en-US" altLang="zh-CN"/>
          </a:p>
          <a:p>
            <a:pPr indent="25716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华文仿宋" panose="02010600040101010101" pitchFamily="2" charset="-122"/>
                <a:ea typeface="华文仿宋" panose="02010600040101010101" pitchFamily="2" charset="-122"/>
              </a:rPr>
              <a:t>插入</a:t>
            </a:r>
            <a:endParaRPr lang="en-US" altLang="zh-CN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indent="25716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华文仿宋" panose="02010600040101010101" pitchFamily="2" charset="-122"/>
                <a:ea typeface="华文仿宋" panose="02010600040101010101" pitchFamily="2" charset="-122"/>
              </a:rPr>
              <a:t>修改</a:t>
            </a:r>
            <a:endParaRPr lang="en-US" altLang="zh-CN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indent="25716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华文仿宋" panose="02010600040101010101" pitchFamily="2" charset="-122"/>
                <a:ea typeface="华文仿宋" panose="02010600040101010101" pitchFamily="2" charset="-122"/>
              </a:rPr>
              <a:t>删除</a:t>
            </a:r>
            <a:endParaRPr lang="en-US" altLang="zh-CN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indent="257168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729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89296" y="817469"/>
            <a:ext cx="8458200" cy="1213461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/>
              <a:t>可以</a:t>
            </a:r>
            <a:r>
              <a:rPr lang="zh-CN" altLang="en-US" dirty="0"/>
              <a:t>使用切片操作在列表任意位置插入新元素，不影响列表对象的内存地址，属于原地操作，不会创建新的列表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插入新元素：</a:t>
            </a:r>
            <a:r>
              <a:rPr lang="zh-CN" altLang="en-US">
                <a:solidFill>
                  <a:srgbClr val="FF0000"/>
                </a:solidFill>
              </a:rPr>
              <a:t>首、尾、单元素</a:t>
            </a:r>
            <a:r>
              <a:rPr lang="zh-CN" altLang="en-US"/>
              <a:t>切片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zh-CN" altLang="en-US">
                <a:solidFill>
                  <a:srgbClr val="FF0000"/>
                </a:solidFill>
              </a:rPr>
              <a:t>新值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7616" y="2111113"/>
            <a:ext cx="8149880" cy="4369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 = [3, 5, 7]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</a:t>
            </a:r>
            <a:r>
              <a:rPr lang="en-US" altLang="zh-CN" dirty="0">
                <a:latin typeface="Consolas" panose="020B0609020204030204" charset="0"/>
              </a:rPr>
              <a:t>3</a:t>
            </a:r>
            <a:r>
              <a:rPr lang="zh-CN" altLang="en-US" dirty="0">
                <a:latin typeface="Consolas" panose="020B0609020204030204" charset="0"/>
              </a:rPr>
              <a:t>:] = [9]</a:t>
            </a:r>
            <a:endParaRPr lang="en-US" altLang="zh-CN" dirty="0"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fi-FI" altLang="zh-CN" dirty="0">
                <a:latin typeface="Consolas" panose="020B0609020204030204" charset="0"/>
              </a:rPr>
              <a:t>&gt;&gt;&gt; aList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</a:pPr>
            <a:r>
              <a:rPr lang="fi-FI" altLang="zh-CN" b="1" dirty="0">
                <a:solidFill>
                  <a:srgbClr val="C00000"/>
                </a:solidFill>
                <a:latin typeface="Consolas" panose="020B0609020204030204" charset="0"/>
              </a:rPr>
              <a:t>[3, 5, 7, 9]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aList[:0] = [1, 2]</a:t>
            </a:r>
            <a:endParaRPr lang="en-US" altLang="zh-CN" dirty="0"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fi-FI" altLang="zh-CN" dirty="0">
                <a:latin typeface="Consolas" panose="020B0609020204030204" charset="0"/>
              </a:rPr>
              <a:t>&gt;&gt;&gt; aList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</a:pPr>
            <a:r>
              <a:rPr lang="fi-FI" altLang="zh-CN" b="1" dirty="0">
                <a:solidFill>
                  <a:srgbClr val="C00000"/>
                </a:solidFill>
                <a:latin typeface="Consolas" panose="020B0609020204030204" charset="0"/>
              </a:rPr>
              <a:t>[1, 2, 3, 5, 7, 9]</a:t>
            </a:r>
            <a:endParaRPr lang="zh-CN" altLang="en-US" b="1" dirty="0">
              <a:solidFill>
                <a:srgbClr val="C00000"/>
              </a:solidFill>
              <a:latin typeface="Consolas" panose="020B060902020403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aList[3:3] = [4]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[1, 2, 3, 4, 5, 7, 9]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949879" y="2597680"/>
            <a:ext cx="275016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在原列表尾部增加元素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949879" y="3942299"/>
            <a:ext cx="2983230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在原列表头部插入多个元素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136791" y="5286918"/>
            <a:ext cx="2983230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在原列表中间位置插入元素</a:t>
            </a:r>
          </a:p>
        </p:txBody>
      </p:sp>
    </p:spTree>
    <p:extLst>
      <p:ext uri="{BB962C8B-B14F-4D97-AF65-F5344CB8AC3E}">
        <p14:creationId xmlns:p14="http://schemas.microsoft.com/office/powerpoint/2010/main" val="162840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4901"/>
          </a:xfrm>
        </p:spPr>
        <p:txBody>
          <a:bodyPr/>
          <a:lstStyle/>
          <a:p>
            <a:pPr lvl="1"/>
            <a:r>
              <a:rPr lang="zh-CN" altLang="en-US" dirty="0"/>
              <a:t>使用分片</a:t>
            </a:r>
            <a:r>
              <a:rPr lang="zh-CN" altLang="en-US" dirty="0">
                <a:solidFill>
                  <a:srgbClr val="FF0000"/>
                </a:solidFill>
              </a:rPr>
              <a:t>替换和修改</a:t>
            </a:r>
            <a:r>
              <a:rPr lang="zh-CN" altLang="en-US" dirty="0"/>
              <a:t>列表中的元素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修改列表元素：切片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zh-CN" altLang="en-US">
                <a:solidFill>
                  <a:srgbClr val="FF0000"/>
                </a:solidFill>
              </a:rPr>
              <a:t>新值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800" y="1580024"/>
            <a:ext cx="8497019" cy="459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 = [3, 5, 7, 9]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aList[:3] = [1, 2, 3]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[1, 2, 3, 9]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aList[3:] = [4, 5, 6]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[1, 2, 3, 4, 5, 6]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aList[::2] = [0</a:t>
            </a:r>
            <a:r>
              <a:rPr lang="en-US" altLang="zh-CN" dirty="0">
                <a:latin typeface="Consolas" panose="020B0609020204030204" charset="0"/>
              </a:rPr>
              <a:t>,0,0</a:t>
            </a:r>
            <a:r>
              <a:rPr lang="zh-CN" altLang="en-US" dirty="0">
                <a:latin typeface="Consolas" panose="020B0609020204030204" charset="0"/>
              </a:rPr>
              <a:t>]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[0, 2, 0, 4, 0, 6]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aList[::2] = ['a', 'b', 'c']    </a:t>
            </a:r>
          </a:p>
          <a:p>
            <a:pPr>
              <a:lnSpc>
                <a:spcPts val="27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>
              <a:lnSpc>
                <a:spcPts val="2700"/>
              </a:lnSpc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['a', 2, 'b', 4, 'c', 6]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903171" y="1993504"/>
            <a:ext cx="166023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替换</a:t>
            </a:r>
            <a:r>
              <a:rPr lang="zh-CN" altLang="en-US">
                <a:solidFill>
                  <a:srgbClr val="00B0F0"/>
                </a:solidFill>
                <a:latin typeface="Consolas" panose="020B0609020204030204" charset="0"/>
              </a:rPr>
              <a:t>列表元素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903171" y="3015569"/>
            <a:ext cx="4570482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分片连续，等号两边的列表长度可以不相等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903171" y="4037634"/>
            <a:ext cx="4605562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隔一个修改</a:t>
            </a:r>
            <a:r>
              <a:rPr lang="zh-CN" altLang="en-US">
                <a:solidFill>
                  <a:srgbClr val="00B0F0"/>
                </a:solidFill>
                <a:latin typeface="Consolas" panose="020B0609020204030204" charset="0"/>
              </a:rPr>
              <a:t>一个，等号两边的列表长度相等</a:t>
            </a:r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533900" y="5025197"/>
            <a:ext cx="393975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隔一个修改一个</a:t>
            </a:r>
          </a:p>
        </p:txBody>
      </p:sp>
    </p:spTree>
    <p:extLst>
      <p:ext uri="{BB962C8B-B14F-4D97-AF65-F5344CB8AC3E}">
        <p14:creationId xmlns:p14="http://schemas.microsoft.com/office/powerpoint/2010/main" val="270945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x=[1,2,3,4,5,6],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可以将前三个元素替换为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8,9,10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的操作有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，注意：此题为多选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02261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x[:3]=[8,9,10]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75404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x[1:3]=[8,9,10]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4520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x[2:0:-1]=[10,9,8]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0861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x[2::-1]=[10,9,8]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08690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818340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1638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37290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5" name="组合 24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0158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7612" y="1097150"/>
            <a:ext cx="8320177" cy="585001"/>
          </a:xfrm>
        </p:spPr>
        <p:txBody>
          <a:bodyPr>
            <a:normAutofit/>
          </a:bodyPr>
          <a:lstStyle/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使用切片</a:t>
            </a:r>
            <a:r>
              <a:rPr lang="zh-CN" altLang="en-US" b="1" dirty="0">
                <a:solidFill>
                  <a:srgbClr val="FF0000"/>
                </a:solidFill>
              </a:rPr>
              <a:t>删除列表</a:t>
            </a:r>
            <a:r>
              <a:rPr lang="zh-CN" altLang="en-US" dirty="0"/>
              <a:t>中的元素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删除列表元素：</a:t>
            </a:r>
            <a:r>
              <a:rPr lang="zh-CN" altLang="en-US">
                <a:solidFill>
                  <a:srgbClr val="FF0000"/>
                </a:solidFill>
              </a:rPr>
              <a:t>替换为</a:t>
            </a:r>
            <a:r>
              <a:rPr lang="en-US" altLang="zh-CN">
                <a:solidFill>
                  <a:srgbClr val="FF0000"/>
                </a:solidFill>
              </a:rPr>
              <a:t>[]  </a:t>
            </a:r>
            <a:r>
              <a:rPr lang="zh-CN" altLang="en-US"/>
              <a:t>或  </a:t>
            </a:r>
            <a:r>
              <a:rPr lang="en-US" altLang="zh-CN">
                <a:solidFill>
                  <a:srgbClr val="FF0000"/>
                </a:solidFill>
              </a:rPr>
              <a:t>del </a:t>
            </a:r>
            <a:r>
              <a:rPr lang="zh-CN" altLang="en-US">
                <a:solidFill>
                  <a:srgbClr val="FF0000"/>
                </a:solidFill>
              </a:rPr>
              <a:t>切片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568" y="1568665"/>
            <a:ext cx="8262023" cy="1402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 = [3, 5, 7, 9]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aList[:3] = []                  </a:t>
            </a:r>
            <a:endParaRPr lang="en-US" altLang="zh-CN" dirty="0">
              <a:latin typeface="Consolas" panose="020B0609020204030204" charset="0"/>
            </a:endParaRP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charset="0"/>
              </a:rPr>
              <a:t>[9]</a:t>
            </a:r>
          </a:p>
        </p:txBody>
      </p:sp>
      <p:sp>
        <p:nvSpPr>
          <p:cNvPr id="5" name="矩形 4"/>
          <p:cNvSpPr/>
          <p:nvPr/>
        </p:nvSpPr>
        <p:spPr>
          <a:xfrm>
            <a:off x="683568" y="2970715"/>
            <a:ext cx="8505646" cy="273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 = [3, 5, 7, 9, 11]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del aList[:3]                   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charset="0"/>
              </a:rPr>
              <a:t>[9, 11]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 = [3, 5, 7, 9, 11]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del aList[::2]                 </a:t>
            </a:r>
            <a:endParaRPr lang="en-US" altLang="zh-CN" dirty="0">
              <a:latin typeface="Consolas" panose="020B0609020204030204" charset="0"/>
            </a:endParaRPr>
          </a:p>
          <a:p>
            <a:pPr>
              <a:lnSpc>
                <a:spcPts val="2600"/>
              </a:lnSpc>
            </a:pPr>
            <a:r>
              <a:rPr lang="zh-CN" altLang="en-US" dirty="0">
                <a:latin typeface="Consolas" panose="020B0609020204030204" charset="0"/>
              </a:rPr>
              <a:t>&gt;&gt;&gt; aList</a:t>
            </a:r>
          </a:p>
          <a:p>
            <a:pPr>
              <a:lnSpc>
                <a:spcPts val="2600"/>
              </a:lnSpc>
            </a:pPr>
            <a:r>
              <a:rPr lang="zh-CN" altLang="en-US" dirty="0">
                <a:solidFill>
                  <a:srgbClr val="C00000"/>
                </a:solidFill>
                <a:latin typeface="Consolas" panose="020B0609020204030204" charset="0"/>
              </a:rPr>
              <a:t>[5, 9]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981451" y="2004384"/>
            <a:ext cx="241189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删除列表中前3个元素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3981451" y="3347048"/>
            <a:ext cx="2411898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删除列表中前3个元素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981451" y="4676269"/>
            <a:ext cx="3449360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分片元素不连续，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隔一个</a:t>
            </a:r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删一个</a:t>
            </a:r>
          </a:p>
        </p:txBody>
      </p:sp>
      <p:sp>
        <p:nvSpPr>
          <p:cNvPr id="9" name="矩形 8"/>
          <p:cNvSpPr/>
          <p:nvPr/>
        </p:nvSpPr>
        <p:spPr>
          <a:xfrm>
            <a:off x="2709752" y="5461225"/>
            <a:ext cx="16168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编号加</a:t>
            </a:r>
            <a:r>
              <a:rPr lang="en-US" altLang="zh-CN" sz="28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zh-CN" altLang="en-US" sz="2800" b="0" cap="none" spc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2849078" y="4932947"/>
            <a:ext cx="659330" cy="56789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 flipH="1">
            <a:off x="4100362" y="4989113"/>
            <a:ext cx="2425566" cy="5723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29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847914"/>
            <a:ext cx="8458200" cy="2547988"/>
          </a:xfrm>
        </p:spPr>
        <p:txBody>
          <a:bodyPr/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例题：编号为从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n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名士兵排成一行进行队列训练，训练规则如下：从</a:t>
            </a:r>
            <a:r>
              <a:rPr lang="en-US" altLang="zh-CN" dirty="0"/>
              <a:t>1</a:t>
            </a:r>
            <a:r>
              <a:rPr lang="zh-CN" altLang="en-US" dirty="0"/>
              <a:t>开始报数，凡报到</a:t>
            </a:r>
            <a:r>
              <a:rPr lang="en-US" altLang="zh-CN" dirty="0"/>
              <a:t>3</a:t>
            </a:r>
            <a:r>
              <a:rPr lang="zh-CN" altLang="en-US" dirty="0"/>
              <a:t>的倍数的士兵出列，剩下的士兵重复这个过程，请求出经过</a:t>
            </a:r>
            <a:r>
              <a:rPr lang="en-US" altLang="zh-CN" dirty="0"/>
              <a:t>5</a:t>
            </a:r>
            <a:r>
              <a:rPr lang="zh-CN" altLang="en-US" dirty="0"/>
              <a:t>轮之后剩下士兵的编号。</a:t>
            </a:r>
            <a:endParaRPr lang="en-US" altLang="zh-CN" dirty="0"/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dirty="0"/>
              <a:t>分析：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主要思路：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zh-CN" altLang="en-US" sz="2000" dirty="0"/>
              <a:t>创建一个列表，元素为</a:t>
            </a:r>
            <a:r>
              <a:rPr lang="en-US" altLang="zh-CN" sz="2000" dirty="0"/>
              <a:t>1,2,3,4,5,6,7…n</a:t>
            </a:r>
          </a:p>
          <a:p>
            <a:pPr lvl="2">
              <a:lnSpc>
                <a:spcPct val="100000"/>
              </a:lnSpc>
            </a:pPr>
            <a:r>
              <a:rPr lang="zh-CN" altLang="en-US" sz="2000" dirty="0"/>
              <a:t>利用列表分片操作，将列表中索引为</a:t>
            </a:r>
            <a:r>
              <a:rPr lang="en-US" altLang="zh-CN" sz="2000" dirty="0"/>
              <a:t>2,5,7…</a:t>
            </a:r>
            <a:r>
              <a:rPr lang="zh-CN" altLang="en-US" sz="2000" dirty="0"/>
              <a:t>的元素删掉，重复</a:t>
            </a:r>
            <a:r>
              <a:rPr lang="en-US" altLang="zh-CN" sz="2000" dirty="0"/>
              <a:t>5</a:t>
            </a:r>
            <a:r>
              <a:rPr lang="zh-CN" altLang="en-US" sz="2000" dirty="0"/>
              <a:t>次</a:t>
            </a:r>
          </a:p>
        </p:txBody>
      </p:sp>
      <p:sp>
        <p:nvSpPr>
          <p:cNvPr id="6" name="矩形 5"/>
          <p:cNvSpPr/>
          <p:nvPr/>
        </p:nvSpPr>
        <p:spPr>
          <a:xfrm>
            <a:off x="304800" y="3878182"/>
            <a:ext cx="3443377" cy="17543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/>
              <a:t>[1, 2, 3, 4, 5, 6, 7, 8, 9, 10]</a:t>
            </a:r>
          </a:p>
          <a:p>
            <a:r>
              <a:rPr lang="en-US" altLang="zh-CN" dirty="0"/>
              <a:t>[1, 2, 4, 5, 7, 8, 10]</a:t>
            </a:r>
          </a:p>
          <a:p>
            <a:r>
              <a:rPr lang="en-US" altLang="zh-CN" dirty="0"/>
              <a:t>[1, 2, 5, 7, 10]</a:t>
            </a:r>
          </a:p>
          <a:p>
            <a:r>
              <a:rPr lang="en-US" altLang="zh-CN" dirty="0"/>
              <a:t>[1, 2, 7, 10]</a:t>
            </a:r>
          </a:p>
          <a:p>
            <a:r>
              <a:rPr lang="en-US" altLang="zh-CN" dirty="0"/>
              <a:t>[1, 2, 10]</a:t>
            </a:r>
          </a:p>
          <a:p>
            <a:r>
              <a:rPr lang="en-US" altLang="zh-CN" dirty="0"/>
              <a:t>[1, 2]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013364" y="3878182"/>
            <a:ext cx="496474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sz="2000" b="1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err="1">
                <a:solidFill>
                  <a:srgbClr val="204A87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>
                <a:solidFill>
                  <a:srgbClr val="204A87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>
                <a:solidFill>
                  <a:srgbClr val="4E9A06"/>
                </a:solidFill>
                <a:latin typeface="Consolas" panose="020B0609020204030204" pitchFamily="49" charset="0"/>
              </a:rPr>
              <a:t>"input </a:t>
            </a:r>
            <a:r>
              <a:rPr lang="en-US" altLang="zh-CN" sz="2000" b="1" dirty="0">
                <a:solidFill>
                  <a:srgbClr val="4E9A06"/>
                </a:solidFill>
                <a:latin typeface="Consolas" panose="020B0609020204030204" pitchFamily="49" charset="0"/>
              </a:rPr>
              <a:t>a number:"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aList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list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range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,n</a:t>
            </a:r>
            <a:r>
              <a:rPr lang="en-US" altLang="zh-CN" sz="2000" b="1" dirty="0">
                <a:solidFill>
                  <a:srgbClr val="CE5C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in range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5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    del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aList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000" b="1" dirty="0">
                <a:solidFill>
                  <a:srgbClr val="0000CF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aList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3151759" y="20837"/>
            <a:ext cx="11079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sp>
        <p:nvSpPr>
          <p:cNvPr id="3" name="矩形 2"/>
          <p:cNvSpPr/>
          <p:nvPr/>
        </p:nvSpPr>
        <p:spPr>
          <a:xfrm>
            <a:off x="2188194" y="4570679"/>
            <a:ext cx="1465466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Consolas" panose="020B0609020204030204" charset="0"/>
              </a:rPr>
              <a:t>隔</a:t>
            </a:r>
            <a:r>
              <a:rPr lang="en-US" altLang="zh-CN" b="1">
                <a:solidFill>
                  <a:schemeClr val="bg1"/>
                </a:solidFill>
                <a:latin typeface="Consolas" panose="020B0609020204030204" charset="0"/>
              </a:rPr>
              <a:t>2</a:t>
            </a:r>
            <a:r>
              <a:rPr lang="zh-CN" altLang="en-US" b="1">
                <a:solidFill>
                  <a:schemeClr val="bg1"/>
                </a:solidFill>
                <a:latin typeface="Consolas" panose="020B0609020204030204" charset="0"/>
              </a:rPr>
              <a:t>个删一个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17284" y="5908800"/>
            <a:ext cx="1616804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编号加</a:t>
            </a:r>
            <a:r>
              <a:rPr lang="en-US" altLang="zh-CN" sz="28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zh-CN" altLang="en-US" sz="2800" b="0" cap="none" spc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572703" y="664143"/>
            <a:ext cx="7666522" cy="30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45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499" y="853785"/>
            <a:ext cx="8787888" cy="2695253"/>
          </a:xfrm>
        </p:spPr>
        <p:txBody>
          <a:bodyPr/>
          <a:lstStyle/>
          <a:p>
            <a:pPr marL="0" indent="-30003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切片替换  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>
                <a:solidFill>
                  <a:srgbClr val="0070C0"/>
                </a:solidFill>
              </a:rPr>
              <a:t>A[ :3] = [91,92]                           A[2:4] = [91,92,93,94]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00"/>
                </a:solidFill>
              </a:rPr>
              <a:t> A  [</a:t>
            </a:r>
            <a:r>
              <a:rPr lang="en-US" altLang="zh-CN" dirty="0">
                <a:solidFill>
                  <a:srgbClr val="FF0000"/>
                </a:solidFill>
              </a:rPr>
              <a:t>91,92,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40, 50, 60, 70, 80]      [10, 20,</a:t>
            </a:r>
            <a:r>
              <a:rPr lang="en-US" altLang="zh-CN" dirty="0">
                <a:solidFill>
                  <a:srgbClr val="FF0000"/>
                </a:solidFill>
              </a:rPr>
              <a:t> 91,92,93,94</a:t>
            </a:r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, 50, 60, 70, 80]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-30003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当列表增加或删除元素时，列表对象自动进行内存的扩展或收缩</a:t>
            </a:r>
            <a:r>
              <a:rPr lang="zh-CN" altLang="en-US" dirty="0"/>
              <a:t>，从而保证相邻元素之间没有缝隙。Python列表的这个</a:t>
            </a:r>
            <a:r>
              <a:rPr lang="zh-CN" altLang="en-US" dirty="0">
                <a:solidFill>
                  <a:srgbClr val="FF0000"/>
                </a:solidFill>
              </a:rPr>
              <a:t>内存自动管理</a:t>
            </a:r>
            <a:r>
              <a:rPr lang="zh-CN" altLang="en-US" dirty="0"/>
              <a:t>功能可以大幅度减少程序员的负担。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列表：增强的数组</a:t>
            </a:r>
          </a:p>
        </p:txBody>
      </p:sp>
      <p:sp>
        <p:nvSpPr>
          <p:cNvPr id="4" name="矩形 3"/>
          <p:cNvSpPr/>
          <p:nvPr/>
        </p:nvSpPr>
        <p:spPr>
          <a:xfrm>
            <a:off x="213499" y="5483688"/>
            <a:ext cx="838487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68" lvl="1" indent="-257168" fontAlgn="auto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Font typeface="Wingdings" pitchFamily="2" charset="2"/>
              <a:buChar char="v"/>
            </a:pPr>
            <a:r>
              <a:rPr lang="zh-CN" altLang="en-US" dirty="0">
                <a:solidFill>
                  <a:srgbClr val="FF0000"/>
                </a:solidFill>
              </a:rPr>
              <a:t>插入和删除非尾部元素时涉及到列表中大量元素的移动</a:t>
            </a:r>
            <a:r>
              <a:rPr lang="zh-CN" altLang="en-US" dirty="0"/>
              <a:t>，会严重影响效率，此外还会</a:t>
            </a:r>
            <a:r>
              <a:rPr lang="zh-CN" altLang="en-US" dirty="0">
                <a:solidFill>
                  <a:srgbClr val="FF0000"/>
                </a:solidFill>
              </a:rPr>
              <a:t>改变后面的元素在列表中的索引，</a:t>
            </a:r>
            <a:r>
              <a:rPr lang="zh-CN" altLang="en-US" dirty="0"/>
              <a:t>可能会导致意外的错误结果。除非确实有必要，否则</a:t>
            </a:r>
            <a:r>
              <a:rPr lang="zh-CN" altLang="en-US" dirty="0">
                <a:solidFill>
                  <a:srgbClr val="FF0000"/>
                </a:solidFill>
              </a:rPr>
              <a:t>应尽量从列表尾部进行元素的追加与删除操作</a:t>
            </a:r>
            <a:r>
              <a:rPr lang="zh-CN" altLang="en-US" dirty="0"/>
              <a:t>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82372" y="4559068"/>
            <a:ext cx="6912948" cy="820058"/>
            <a:chOff x="614368" y="1444601"/>
            <a:chExt cx="6625289" cy="1093410"/>
          </a:xfrm>
        </p:grpSpPr>
        <p:sp>
          <p:nvSpPr>
            <p:cNvPr id="6" name="文本框 5"/>
            <p:cNvSpPr txBox="1"/>
            <p:nvPr/>
          </p:nvSpPr>
          <p:spPr>
            <a:xfrm>
              <a:off x="1125206" y="1969010"/>
              <a:ext cx="5288837" cy="451405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1       2     10    20    30     40    50   60     70    80</a:t>
              </a:r>
              <a:endParaRPr lang="zh-CN" altLang="en-US" sz="1600" dirty="0"/>
            </a:p>
          </p:txBody>
        </p:sp>
        <p:cxnSp>
          <p:nvCxnSpPr>
            <p:cNvPr id="7" name="直接连接符 6"/>
            <p:cNvCxnSpPr/>
            <p:nvPr/>
          </p:nvCxnSpPr>
          <p:spPr bwMode="auto">
            <a:xfrm flipH="1">
              <a:off x="1635978" y="1946177"/>
              <a:ext cx="1775" cy="44957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接连接符 7"/>
            <p:cNvCxnSpPr/>
            <p:nvPr/>
          </p:nvCxnSpPr>
          <p:spPr bwMode="auto">
            <a:xfrm flipH="1">
              <a:off x="2148275" y="2008089"/>
              <a:ext cx="7833" cy="4442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8"/>
            <p:cNvCxnSpPr/>
            <p:nvPr/>
          </p:nvCxnSpPr>
          <p:spPr bwMode="auto">
            <a:xfrm flipH="1">
              <a:off x="2666947" y="1998955"/>
              <a:ext cx="1" cy="42146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3209450" y="2018190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3748515" y="2004134"/>
              <a:ext cx="3439" cy="39891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4261675" y="2013039"/>
              <a:ext cx="3004" cy="35671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4782781" y="2008089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5851718" y="2018190"/>
              <a:ext cx="0" cy="3708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矩形 14"/>
            <p:cNvSpPr/>
            <p:nvPr/>
          </p:nvSpPr>
          <p:spPr>
            <a:xfrm>
              <a:off x="614368" y="1922458"/>
              <a:ext cx="398208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kern="0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A</a:t>
              </a:r>
              <a:endParaRPr lang="zh-CN" altLang="en-US" sz="16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25206" y="1444601"/>
              <a:ext cx="6114451" cy="49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accent1">
                      <a:lumMod val="75000"/>
                    </a:schemeClr>
                  </a:solidFill>
                </a:rPr>
                <a:t>0      1     2    3     4      5     6    7      8     9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170199" y="3657017"/>
            <a:ext cx="38762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 = [10, 20, 30, 40, 50, 60, 70, 80]</a:t>
            </a:r>
            <a:endParaRPr lang="zh-CN" altLang="en-US" sz="1600" dirty="0"/>
          </a:p>
        </p:txBody>
      </p:sp>
      <p:sp>
        <p:nvSpPr>
          <p:cNvPr id="18" name="矩形 17"/>
          <p:cNvSpPr/>
          <p:nvPr/>
        </p:nvSpPr>
        <p:spPr>
          <a:xfrm>
            <a:off x="1170199" y="4025232"/>
            <a:ext cx="1756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A[:0]= [1, 2]</a:t>
            </a:r>
            <a:endParaRPr lang="zh-CN" altLang="en-US" sz="1600" dirty="0"/>
          </a:p>
        </p:txBody>
      </p:sp>
      <p:cxnSp>
        <p:nvCxnSpPr>
          <p:cNvPr id="21" name="直接连接符 20"/>
          <p:cNvCxnSpPr/>
          <p:nvPr/>
        </p:nvCxnSpPr>
        <p:spPr bwMode="auto">
          <a:xfrm>
            <a:off x="5859557" y="4991061"/>
            <a:ext cx="4833" cy="26187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2581443" y="4402657"/>
            <a:ext cx="24204" cy="117202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文本框 24"/>
          <p:cNvSpPr txBox="1"/>
          <p:nvPr/>
        </p:nvSpPr>
        <p:spPr>
          <a:xfrm>
            <a:off x="5046452" y="3819113"/>
            <a:ext cx="174588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插入</a:t>
            </a:r>
            <a:r>
              <a:rPr lang="en-US" altLang="zh-CN"/>
              <a:t>2</a:t>
            </a:r>
            <a:r>
              <a:rPr lang="zh-CN" altLang="en-US"/>
              <a:t>个元素</a:t>
            </a:r>
          </a:p>
        </p:txBody>
      </p:sp>
      <p:cxnSp>
        <p:nvCxnSpPr>
          <p:cNvPr id="27" name="直接箭头连接符 26"/>
          <p:cNvCxnSpPr>
            <a:cxnSpLocks/>
            <a:stCxn id="25" idx="1"/>
          </p:cNvCxnSpPr>
          <p:nvPr/>
        </p:nvCxnSpPr>
        <p:spPr bwMode="auto">
          <a:xfrm flipH="1">
            <a:off x="2516697" y="4003779"/>
            <a:ext cx="2529755" cy="230094"/>
          </a:xfrm>
          <a:prstGeom prst="straightConnector1">
            <a:avLst/>
          </a:prstGeom>
          <a:ln w="12700"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cxnSpLocks/>
            <a:stCxn id="25" idx="1"/>
          </p:cNvCxnSpPr>
          <p:nvPr/>
        </p:nvCxnSpPr>
        <p:spPr bwMode="auto">
          <a:xfrm flipH="1">
            <a:off x="2581443" y="4003779"/>
            <a:ext cx="2465009" cy="634383"/>
          </a:xfrm>
          <a:prstGeom prst="straightConnector1">
            <a:avLst/>
          </a:prstGeom>
          <a:ln w="19050"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FA07F45-8348-453B-BEC4-F85E75DDBE47}"/>
              </a:ext>
            </a:extLst>
          </p:cNvPr>
          <p:cNvSpPr/>
          <p:nvPr/>
        </p:nvSpPr>
        <p:spPr>
          <a:xfrm>
            <a:off x="1641688" y="995566"/>
            <a:ext cx="38762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A = [10, 20, 30, 40, 50, 60, 70, 80]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6.1.2 </a:t>
            </a:r>
            <a:r>
              <a:rPr lang="zh-CN" altLang="en-US"/>
              <a:t>序列的计算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724444"/>
          </a:xfrm>
        </p:spPr>
        <p:txBody>
          <a:bodyPr>
            <a:noAutofit/>
          </a:bodyPr>
          <a:lstStyle/>
          <a:p>
            <a:r>
              <a:rPr lang="en-US" altLang="zh-CN"/>
              <a:t>+</a:t>
            </a:r>
          </a:p>
          <a:p>
            <a:r>
              <a:rPr lang="en-US" altLang="zh-CN"/>
              <a:t>*</a:t>
            </a:r>
          </a:p>
          <a:p>
            <a:r>
              <a:rPr lang="zh-CN" altLang="en-US"/>
              <a:t>比较</a:t>
            </a:r>
            <a:endParaRPr lang="en-US" altLang="zh-CN"/>
          </a:p>
          <a:p>
            <a:r>
              <a:rPr lang="en-US" altLang="zh-CN"/>
              <a:t>in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892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4480" y="1071271"/>
            <a:ext cx="8630728" cy="1456270"/>
          </a:xfrm>
        </p:spPr>
        <p:txBody>
          <a:bodyPr>
            <a:normAutofit/>
          </a:bodyPr>
          <a:lstStyle/>
          <a:p>
            <a:pPr indent="-228594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使用加号可以进行序列的连接操作，得到一个</a:t>
            </a:r>
            <a:r>
              <a:rPr lang="zh-CN" altLang="en-US" dirty="0">
                <a:solidFill>
                  <a:srgbClr val="FF0000"/>
                </a:solidFill>
              </a:rPr>
              <a:t>新列表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 indent="-228594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单纯的加运算涉及大量元素的复制，效率非常低。</a:t>
            </a:r>
            <a:endParaRPr lang="en-US" altLang="zh-CN" dirty="0"/>
          </a:p>
          <a:p>
            <a:pPr lvl="1" indent="-228594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使用复合赋值运算符+=实现列表追加元素时属于原地操作，效率更高。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列表对象支持的运算符</a:t>
            </a:r>
          </a:p>
        </p:txBody>
      </p:sp>
      <p:sp>
        <p:nvSpPr>
          <p:cNvPr id="4" name="矩形 3"/>
          <p:cNvSpPr/>
          <p:nvPr/>
        </p:nvSpPr>
        <p:spPr>
          <a:xfrm>
            <a:off x="463665" y="2527541"/>
            <a:ext cx="788454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x = [1, 2, 3]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id(x)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53868168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 = x + [4] </a:t>
            </a:r>
            <a:endParaRPr lang="en-US" altLang="zh-CN" dirty="0">
              <a:latin typeface="Consolas" panose="020B0609020204030204" charset="0"/>
            </a:endParaRPr>
          </a:p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[1, 2, 3, 4]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id(x)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53875720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 += [5] </a:t>
            </a:r>
            <a:endParaRPr lang="en-US" altLang="zh-CN" dirty="0">
              <a:latin typeface="Consolas" panose="020B0609020204030204" charset="0"/>
            </a:endParaRPr>
          </a:p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[1, 2, 3, 4, 5]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id(x)</a:t>
            </a:r>
          </a:p>
          <a:p>
            <a:r>
              <a:rPr lang="zh-CN" altLang="en-US" b="1" dirty="0">
                <a:solidFill>
                  <a:srgbClr val="C00000"/>
                </a:solidFill>
                <a:latin typeface="Consolas" panose="020B0609020204030204" charset="0"/>
              </a:rPr>
              <a:t>53875720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146545" y="3477247"/>
            <a:ext cx="254885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连接两个列表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4146543" y="4346956"/>
            <a:ext cx="4664171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内存地址发生改变，创建了一个新列表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146545" y="4855655"/>
            <a:ext cx="2548856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为列表追加元素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4146545" y="5568665"/>
            <a:ext cx="2548855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内存地址不变</a:t>
            </a:r>
          </a:p>
        </p:txBody>
      </p:sp>
    </p:spTree>
    <p:extLst>
      <p:ext uri="{BB962C8B-B14F-4D97-AF65-F5344CB8AC3E}">
        <p14:creationId xmlns:p14="http://schemas.microsoft.com/office/powerpoint/2010/main" val="317950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0926" y="819697"/>
            <a:ext cx="8570343" cy="1007698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整数</a:t>
            </a:r>
            <a:r>
              <a:rPr lang="en-US" altLang="zh-CN" dirty="0"/>
              <a:t>n</a:t>
            </a:r>
            <a:r>
              <a:rPr lang="zh-CN" altLang="en-US" dirty="0"/>
              <a:t>乘以一个序列会</a:t>
            </a:r>
            <a:r>
              <a:rPr lang="zh-CN" altLang="en-US" dirty="0">
                <a:solidFill>
                  <a:srgbClr val="FF0000"/>
                </a:solidFill>
              </a:rPr>
              <a:t>生成新的序列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运算符</a:t>
            </a:r>
            <a:r>
              <a:rPr lang="zh-CN" altLang="en-US" b="1" dirty="0">
                <a:solidFill>
                  <a:srgbClr val="FF0000"/>
                </a:solidFill>
              </a:rPr>
              <a:t>*=</a:t>
            </a:r>
            <a:r>
              <a:rPr lang="zh-CN" altLang="en-US" dirty="0"/>
              <a:t>也可以用于重复追加列表元素，属于</a:t>
            </a:r>
            <a:r>
              <a:rPr lang="zh-CN" altLang="en-US" b="1" dirty="0">
                <a:solidFill>
                  <a:srgbClr val="FF0000"/>
                </a:solidFill>
              </a:rPr>
              <a:t>原地操作</a:t>
            </a:r>
            <a:r>
              <a:rPr lang="zh-CN" altLang="en-US" dirty="0"/>
              <a:t>，效率较高。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列表对象支持的运算符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57532" y="2226028"/>
            <a:ext cx="7910423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charset="0"/>
              </a:rPr>
              <a:t>&gt;&gt;&gt; x = [1, 2, 3, 4]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id(x)</a:t>
            </a:r>
          </a:p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54497224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 = x * 2                           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[1, 2, 3, 4, 1, 2, 3, 4]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id(x)                               </a:t>
            </a:r>
          </a:p>
          <a:p>
            <a:r>
              <a:rPr lang="zh-CN" altLang="en-US">
                <a:solidFill>
                  <a:srgbClr val="00B0F0"/>
                </a:solidFill>
                <a:latin typeface="Consolas" panose="020B0609020204030204" charset="0"/>
              </a:rPr>
              <a:t>54603912</a:t>
            </a:r>
            <a:endParaRPr lang="en-US" altLang="zh-CN">
              <a:solidFill>
                <a:srgbClr val="00B0F0"/>
              </a:solidFill>
              <a:latin typeface="Consolas" panose="020B0609020204030204" charset="0"/>
            </a:endParaRPr>
          </a:p>
          <a:p>
            <a:endParaRPr lang="zh-CN" altLang="en-US" dirty="0">
              <a:solidFill>
                <a:srgbClr val="00B0F0"/>
              </a:solidFill>
              <a:latin typeface="Consolas" panose="020B0609020204030204" charset="0"/>
            </a:endParaRPr>
          </a:p>
          <a:p>
            <a:r>
              <a:rPr lang="zh-CN" altLang="en-US" dirty="0">
                <a:latin typeface="Consolas" panose="020B0609020204030204" charset="0"/>
              </a:rPr>
              <a:t>&gt;&gt;&gt; x *= 2                              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x</a:t>
            </a:r>
          </a:p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[1, 2, 3, 4, 1, 2, 3, 4, 1, 2, 3, 4, 1, 2, 3, 4]</a:t>
            </a:r>
          </a:p>
          <a:p>
            <a:r>
              <a:rPr lang="zh-CN" altLang="en-US" dirty="0">
                <a:latin typeface="Consolas" panose="020B0609020204030204" charset="0"/>
              </a:rPr>
              <a:t>&gt;&gt;&gt; id(x)                               </a:t>
            </a:r>
          </a:p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54603912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4697104" y="3186283"/>
            <a:ext cx="275016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元素重复，返回新列表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97103" y="4015212"/>
            <a:ext cx="275016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地址发生改变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697102" y="4869637"/>
            <a:ext cx="275016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元素重复追加，原地进行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697103" y="5926222"/>
            <a:ext cx="2750164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  <a:latin typeface="Consolas" panose="020B0609020204030204" charset="0"/>
              </a:rPr>
              <a:t>地址不变</a:t>
            </a:r>
            <a:endParaRPr lang="zh-CN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1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1"/>
            <a:ext cx="7315200" cy="16991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下列方法中可以得到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个元素的列表的选项有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()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，注意此题为多选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44948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[]*5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20862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[0]*5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396777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list(range(1,5))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477219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[1]+[2]+['ab']+[None]+[5]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513774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272922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032070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836484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[1+2+3+4+5]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矩形 2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E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6621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14426" y="929729"/>
            <a:ext cx="8458200" cy="2271942"/>
          </a:xfrm>
        </p:spPr>
        <p:txBody>
          <a:bodyPr/>
          <a:lstStyle/>
          <a:p>
            <a:r>
              <a:rPr lang="zh-CN" altLang="en-US" dirty="0"/>
              <a:t>比较关系运算</a:t>
            </a:r>
            <a:endParaRPr lang="en-US" altLang="zh-CN" dirty="0"/>
          </a:p>
          <a:p>
            <a:pPr lvl="1"/>
            <a:r>
              <a:rPr lang="zh-CN" altLang="en-US" dirty="0"/>
              <a:t>只有类型相同的两个序列对象可以进行比较，规则与字符串类似：</a:t>
            </a:r>
            <a:endParaRPr lang="en-US" altLang="zh-CN" dirty="0"/>
          </a:p>
          <a:p>
            <a:pPr lvl="2"/>
            <a:r>
              <a:rPr lang="zh-CN" altLang="en-US" dirty="0"/>
              <a:t>从前往后进行比较，只有对应元素类型相同的序列可以比较</a:t>
            </a:r>
            <a:endParaRPr lang="en-US" altLang="zh-CN" dirty="0"/>
          </a:p>
          <a:p>
            <a:pPr lvl="2"/>
            <a:r>
              <a:rPr lang="zh-CN" altLang="en-US" dirty="0"/>
              <a:t>若当前的元素不同，则元素值比较小的序列较小</a:t>
            </a:r>
            <a:endParaRPr lang="en-US" altLang="zh-CN" dirty="0"/>
          </a:p>
          <a:p>
            <a:pPr lvl="2"/>
            <a:r>
              <a:rPr lang="zh-CN" altLang="en-US" dirty="0"/>
              <a:t>若当前的元素的相等，则比较下一个元素；若没有下一个元素，则长度较小的序列较小，若两个序列长度一样，则相等。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序列的关系运算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88975" y="3236526"/>
            <a:ext cx="8814114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[1,'2']==[1,'2']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[1,2]&lt;[1,2,3]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&gt;&gt;&gt; [1,3] &lt; [1,'3']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File "&lt;pyshell#8&gt;", line 1, in &lt;module&gt;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[1,3] &lt; [1,'3']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: '&lt;' not supported between instances of '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' and '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945905" y="4928375"/>
            <a:ext cx="398540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3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和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'3'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类型不同，不能比较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994030" y="3501218"/>
            <a:ext cx="398540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1==1</a:t>
            </a:r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，</a:t>
            </a:r>
            <a:r>
              <a:rPr lang="en-US" altLang="zh-CN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'2'=='2'</a:t>
            </a:r>
            <a:endParaRPr lang="zh-CN" altLang="en-US" kern="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61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159135"/>
          </a:xfrm>
        </p:spPr>
        <p:txBody>
          <a:bodyPr/>
          <a:lstStyle/>
          <a:p>
            <a:r>
              <a:rPr lang="zh-CN" altLang="en-US" dirty="0"/>
              <a:t>成员关系运算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Python</a:t>
            </a:r>
            <a:r>
              <a:rPr lang="zh-CN" altLang="en-US" dirty="0"/>
              <a:t>使用</a:t>
            </a:r>
            <a:r>
              <a:rPr lang="en-US" altLang="zh-CN" dirty="0"/>
              <a:t>in</a:t>
            </a:r>
            <a:r>
              <a:rPr lang="zh-CN" altLang="en-US" dirty="0"/>
              <a:t>运算符检查元素的成员资格，并返回逻辑型的结果（</a:t>
            </a:r>
            <a:r>
              <a:rPr lang="en-US" altLang="zh-CN" dirty="0"/>
              <a:t>True</a:t>
            </a:r>
            <a:r>
              <a:rPr lang="zh-CN" altLang="en-US" dirty="0"/>
              <a:t>或</a:t>
            </a:r>
            <a:r>
              <a:rPr lang="en-US" altLang="zh-CN" dirty="0"/>
              <a:t>False</a:t>
            </a:r>
            <a:r>
              <a:rPr lang="zh-CN" altLang="en-US" dirty="0"/>
              <a:t>）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序列的关系运算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843658" y="2790674"/>
            <a:ext cx="4572000" cy="2229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3 in [1,2,3]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True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3 not in [1,2,3]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283519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下列表达式的值是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True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的有（），此题可以多选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928813" y="252015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[1, 2] &lt;= [1, 2, 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928813" y="337740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 2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 &lt;= [ 1, 2, '3' 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928813" y="423465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['1', '3']&lt;=['12']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928813" y="509190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[1, 2, 1] &lt;= [ 1, 2, '3' 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214438" y="2584449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214438" y="3441699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214438" y="4298949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214438" y="515619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2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9103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下列表达式的值是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True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的有（）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此题可以多选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[3] in [1,2,3]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'3' in '123'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 in [123]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 in [1,2,3]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2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38330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  <p:tag name="RAINPROBLEMTYPE" val="MultipleChoice"/>
  <p:tag name="RAINPROBLEM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  <p:tag name="RAINPROBLEMTYPE" val="MultipleChoiceMA"/>
  <p:tag name="RAINPROBLEM" val="MultipleChoiceM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95A2A35-674A-40AD-A83A-DE29BAA59257}" vid="{E14F0F36-DC56-4341-802B-8D7414312C92}"/>
    </a:ext>
  </a:extLst>
</a:theme>
</file>

<file path=ppt/theme/theme2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3366</TotalTime>
  <Words>3777</Words>
  <Application>Microsoft Office PowerPoint</Application>
  <PresentationFormat>全屏显示(4:3)</PresentationFormat>
  <Paragraphs>476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51" baseType="lpstr">
      <vt:lpstr>等线</vt:lpstr>
      <vt:lpstr>等线 Light</vt:lpstr>
      <vt:lpstr>华文仿宋</vt:lpstr>
      <vt:lpstr>楷体</vt:lpstr>
      <vt:lpstr>微软雅黑</vt:lpstr>
      <vt:lpstr>微软雅黑</vt:lpstr>
      <vt:lpstr>Arial</vt:lpstr>
      <vt:lpstr>Calibri</vt:lpstr>
      <vt:lpstr>Consolas</vt:lpstr>
      <vt:lpstr>Courier New</vt:lpstr>
      <vt:lpstr>Garamond</vt:lpstr>
      <vt:lpstr>Times New Roman</vt:lpstr>
      <vt:lpstr>Verdana</vt:lpstr>
      <vt:lpstr>Wingdings</vt:lpstr>
      <vt:lpstr>主题1</vt:lpstr>
      <vt:lpstr>环保</vt:lpstr>
      <vt:lpstr>Office 主题​​</vt:lpstr>
      <vt:lpstr>第6章  列表与元组</vt:lpstr>
      <vt:lpstr>第3章  详解Python序列结构</vt:lpstr>
      <vt:lpstr>range对象</vt:lpstr>
      <vt:lpstr>列表：增强的数组</vt:lpstr>
      <vt:lpstr>列表：增强的数组</vt:lpstr>
      <vt:lpstr>列表的定义</vt:lpstr>
      <vt:lpstr>列表创建1</vt:lpstr>
      <vt:lpstr>列表创建 2</vt:lpstr>
      <vt:lpstr>PowerPoint 演示文稿</vt:lpstr>
      <vt:lpstr>列表删除</vt:lpstr>
      <vt:lpstr>6.1.1 序列的索引与切片</vt:lpstr>
      <vt:lpstr>序列的索引</vt:lpstr>
      <vt:lpstr>访问列表元素——索引（index）</vt:lpstr>
      <vt:lpstr>PowerPoint 演示文稿</vt:lpstr>
      <vt:lpstr>序列的分片</vt:lpstr>
      <vt:lpstr>序列的分片</vt:lpstr>
      <vt:lpstr>PowerPoint 演示文稿</vt:lpstr>
      <vt:lpstr>PowerPoint 演示文稿</vt:lpstr>
      <vt:lpstr>PowerPoint 演示文稿</vt:lpstr>
      <vt:lpstr>列表的分片操作</vt:lpstr>
      <vt:lpstr>插入新元素：首、尾、单元素切片=新值</vt:lpstr>
      <vt:lpstr>修改列表元素：切片=新值</vt:lpstr>
      <vt:lpstr>PowerPoint 演示文稿</vt:lpstr>
      <vt:lpstr>删除列表元素：替换为[]  或  del 切片</vt:lpstr>
      <vt:lpstr>PowerPoint 演示文稿</vt:lpstr>
      <vt:lpstr>列表：增强的数组</vt:lpstr>
      <vt:lpstr>6.1.2 序列的计算</vt:lpstr>
      <vt:lpstr>列表对象支持的运算符</vt:lpstr>
      <vt:lpstr>列表对象支持的运算符</vt:lpstr>
      <vt:lpstr>PowerPoint 演示文稿</vt:lpstr>
      <vt:lpstr>序列的关系运算 </vt:lpstr>
      <vt:lpstr>序列的关系运算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详解Python序列结构</dc:title>
  <dc:creator>Dong</dc:creator>
  <cp:lastModifiedBy>cyj</cp:lastModifiedBy>
  <cp:revision>718</cp:revision>
  <cp:lastPrinted>2019-10-16T14:42:59Z</cp:lastPrinted>
  <dcterms:created xsi:type="dcterms:W3CDTF">2015-05-05T08:02:00Z</dcterms:created>
  <dcterms:modified xsi:type="dcterms:W3CDTF">2024-11-22T04:30:55Z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