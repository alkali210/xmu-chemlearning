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6" r:id="rId2"/>
    <p:sldMasterId id="2147483688" r:id="rId3"/>
    <p:sldMasterId id="2147483700" r:id="rId4"/>
  </p:sldMasterIdLst>
  <p:notesMasterIdLst>
    <p:notesMasterId r:id="rId18"/>
  </p:notesMasterIdLst>
  <p:handoutMasterIdLst>
    <p:handoutMasterId r:id="rId19"/>
  </p:handoutMasterIdLst>
  <p:sldIdLst>
    <p:sldId id="848" r:id="rId5"/>
    <p:sldId id="1907" r:id="rId6"/>
    <p:sldId id="1908" r:id="rId7"/>
    <p:sldId id="1946" r:id="rId8"/>
    <p:sldId id="1912" r:id="rId9"/>
    <p:sldId id="1945" r:id="rId10"/>
    <p:sldId id="1948" r:id="rId11"/>
    <p:sldId id="1947" r:id="rId12"/>
    <p:sldId id="1913" r:id="rId13"/>
    <p:sldId id="1911" r:id="rId14"/>
    <p:sldId id="1949" r:id="rId15"/>
    <p:sldId id="1914" r:id="rId16"/>
    <p:sldId id="1932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678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5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3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61692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123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8442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976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6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7132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40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967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5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0978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46972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2926920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637208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84403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8043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6534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67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417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0960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3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920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2711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860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775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2932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24673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03033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7872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8699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4695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2078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403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8641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4103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7283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918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628693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482005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3709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4152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7184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906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283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474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1241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4646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713013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453847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7176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214045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14921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470020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969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915203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427817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idle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hyperlink" Target="idle" TargetMode="Externa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hyperlink" Target="idle" TargetMode="Externa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0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hyperlink" Target="idle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>
            <a:hlinkClick r:id="rId17" action="ppaction://program"/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圆角矩形 2">
            <a:hlinkClick r:id="rId17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2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199" indent="-214308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29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21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12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圆角矩形 6">
            <a:hlinkClick r:id="rId13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867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圆角矩形 6">
            <a:hlinkClick r:id="rId13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297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圆角矩形 11">
            <a:hlinkClick r:id="rId22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2029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8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4557" y="2013994"/>
            <a:ext cx="5308866" cy="1515533"/>
          </a:xfrm>
        </p:spPr>
        <p:txBody>
          <a:bodyPr/>
          <a:lstStyle/>
          <a:p>
            <a:pPr fontAlgn="auto">
              <a:lnSpc>
                <a:spcPct val="120000"/>
              </a:lnSpc>
            </a:pPr>
            <a:r>
              <a:rPr lang="en-US" altLang="zh-CN" sz="4400">
                <a:latin typeface="楷体" panose="02010609060101010101" pitchFamily="49" charset="-122"/>
                <a:ea typeface="楷体" panose="02010609060101010101" pitchFamily="49" charset="-122"/>
              </a:rPr>
              <a:t>6.1.3 </a:t>
            </a:r>
            <a:r>
              <a:rPr lang="zh-CN" altLang="en-US" sz="4400">
                <a:latin typeface="楷体" panose="02010609060101010101" pitchFamily="49" charset="-122"/>
                <a:ea typeface="楷体" panose="02010609060101010101" pitchFamily="49" charset="-122"/>
              </a:rPr>
              <a:t>序列处理函数</a:t>
            </a:r>
            <a:endParaRPr lang="zh-CN" altLang="en-US" sz="4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43142"/>
          </a:xfrm>
        </p:spPr>
        <p:txBody>
          <a:bodyPr/>
          <a:lstStyle/>
          <a:p>
            <a:r>
              <a:rPr lang="en-US" altLang="zh-CN" dirty="0" err="1"/>
              <a:t>len</a:t>
            </a:r>
            <a:r>
              <a:rPr lang="en-US" altLang="zh-CN" dirty="0"/>
              <a:t>(), max(), min()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可用于序列的内置函数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491705" y="1636961"/>
            <a:ext cx="4572000" cy="242630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s=[1,2,3,4,5,6]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len(s)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pitchFamily="49" charset="0"/>
              </a:rPr>
              <a:t>6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max(s)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pitchFamily="49" charset="0"/>
              </a:rPr>
              <a:t>6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min(s)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2777705" y="2018897"/>
            <a:ext cx="398540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返回序列的长度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777704" y="2645801"/>
            <a:ext cx="398540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返回序列中值最大的元素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2756857" y="3282004"/>
            <a:ext cx="398540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返回序列中值最小的元素</a:t>
            </a:r>
          </a:p>
        </p:txBody>
      </p:sp>
      <p:sp>
        <p:nvSpPr>
          <p:cNvPr id="8" name="矩形 7"/>
          <p:cNvSpPr/>
          <p:nvPr/>
        </p:nvSpPr>
        <p:spPr>
          <a:xfrm>
            <a:off x="491705" y="4162190"/>
            <a:ext cx="78414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&gt;&gt;&gt; s=[1,'ab',3]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&gt;&gt;&gt; max(s)</a:t>
            </a:r>
          </a:p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Traceback (most recent call last):</a:t>
            </a:r>
          </a:p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  File "&lt;pyshell#19&gt;", line 1, in &lt;module&gt;</a:t>
            </a:r>
          </a:p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    max(s)</a:t>
            </a:r>
          </a:p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TypeError: '&gt;' not supported between instances of 'str' and 'int'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777704" y="4317666"/>
            <a:ext cx="4951564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元素的值无法比较时，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max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和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min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会报错</a:t>
            </a:r>
          </a:p>
        </p:txBody>
      </p:sp>
    </p:spTree>
    <p:extLst>
      <p:ext uri="{BB962C8B-B14F-4D97-AF65-F5344CB8AC3E}">
        <p14:creationId xmlns:p14="http://schemas.microsoft.com/office/powerpoint/2010/main" val="1663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77648"/>
          </a:xfrm>
        </p:spPr>
        <p:txBody>
          <a:bodyPr/>
          <a:lstStyle/>
          <a:p>
            <a:r>
              <a:rPr lang="en-US" altLang="zh-CN" sz="2400"/>
              <a:t>sum()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可用于序列的内置函数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444004" y="2112139"/>
            <a:ext cx="322803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&gt;&gt;&gt; s=[1,3,2,6,5]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&gt;&gt;&gt; sum(s)</a:t>
            </a:r>
          </a:p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rgbClr val="C00000"/>
                </a:solidFill>
                <a:latin typeface="Consolas" panose="020B0609020204030204" pitchFamily="49" charset="0"/>
              </a:rPr>
              <a:t>17</a:t>
            </a:r>
            <a:endParaRPr lang="en-US" altLang="zh-CN" sz="2400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504336" y="2819641"/>
            <a:ext cx="2304510" cy="442674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返回序列的和</a:t>
            </a:r>
          </a:p>
        </p:txBody>
      </p:sp>
    </p:spTree>
    <p:extLst>
      <p:ext uri="{BB962C8B-B14F-4D97-AF65-F5344CB8AC3E}">
        <p14:creationId xmlns:p14="http://schemas.microsoft.com/office/powerpoint/2010/main" val="162469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78459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1800" b="0" dirty="0"/>
              <a:t>现有某班级</a:t>
            </a:r>
            <a:r>
              <a:rPr lang="en-US" altLang="zh-CN" sz="1800" b="0" dirty="0"/>
              <a:t>Python</a:t>
            </a:r>
            <a:r>
              <a:rPr lang="zh-CN" altLang="en-US" sz="1800" b="0" dirty="0"/>
              <a:t>考试成绩，请你帮老师做一下成绩统计，找出最高分、最低分，算出平均分</a:t>
            </a:r>
            <a:endParaRPr lang="en-US" altLang="zh-CN" sz="18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1800"/>
              <a:t>             80 </a:t>
            </a:r>
            <a:r>
              <a:rPr lang="en-US" altLang="zh-CN" sz="1800" dirty="0"/>
              <a:t>95 75 85 90 55 66 88 100 58</a:t>
            </a: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882316" y="3256611"/>
            <a:ext cx="4762902" cy="240065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/>
              <a:t>lst</a:t>
            </a:r>
            <a:r>
              <a:rPr lang="en-US" altLang="zh-CN" sz="2000" dirty="0"/>
              <a:t> </a:t>
            </a:r>
            <a:r>
              <a:rPr lang="en-US" altLang="zh-CN" sz="2000"/>
              <a:t>= input</a:t>
            </a:r>
            <a:r>
              <a:rPr lang="en-US" altLang="zh-CN" sz="2000" dirty="0"/>
              <a:t>().</a:t>
            </a:r>
            <a:r>
              <a:rPr lang="en-US" altLang="zh-CN" sz="2000"/>
              <a:t>split()</a:t>
            </a:r>
          </a:p>
          <a:p>
            <a:pPr>
              <a:lnSpc>
                <a:spcPct val="150000"/>
              </a:lnSpc>
            </a:pPr>
            <a:r>
              <a:rPr lang="en-US" altLang="zh-CN" sz="2000"/>
              <a:t>lst=[int(x) for x in lst]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Max = </a:t>
            </a:r>
            <a:r>
              <a:rPr lang="en-US" altLang="zh-CN" sz="2000" dirty="0">
                <a:solidFill>
                  <a:srgbClr val="0000FF"/>
                </a:solidFill>
              </a:rPr>
              <a:t>max</a:t>
            </a:r>
            <a:r>
              <a:rPr lang="en-US" altLang="zh-CN" sz="2000" dirty="0"/>
              <a:t>(</a:t>
            </a:r>
            <a:r>
              <a:rPr lang="en-US" altLang="zh-CN" sz="2000" dirty="0" err="1"/>
              <a:t>lst</a:t>
            </a:r>
            <a:r>
              <a:rPr lang="en-US" altLang="zh-CN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Min = </a:t>
            </a:r>
            <a:r>
              <a:rPr lang="en-US" altLang="zh-CN" sz="2000" dirty="0">
                <a:solidFill>
                  <a:srgbClr val="0000FF"/>
                </a:solidFill>
              </a:rPr>
              <a:t>min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lst</a:t>
            </a:r>
            <a:r>
              <a:rPr lang="en-US" altLang="zh-CN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Ave = </a:t>
            </a:r>
            <a:r>
              <a:rPr lang="en-US" altLang="zh-CN" sz="2000" dirty="0">
                <a:solidFill>
                  <a:srgbClr val="0000FF"/>
                </a:solidFill>
              </a:rPr>
              <a:t>sum</a:t>
            </a:r>
            <a:r>
              <a:rPr lang="en-US" altLang="zh-CN" sz="2000" dirty="0"/>
              <a:t>(</a:t>
            </a:r>
            <a:r>
              <a:rPr lang="en-US" altLang="zh-CN" sz="2000" dirty="0" err="1"/>
              <a:t>lst</a:t>
            </a:r>
            <a:r>
              <a:rPr lang="en-US" altLang="zh-CN" sz="2000" dirty="0"/>
              <a:t>) / </a:t>
            </a:r>
            <a:r>
              <a:rPr lang="en-US" altLang="zh-CN" sz="2000" dirty="0" err="1">
                <a:solidFill>
                  <a:srgbClr val="0000FF"/>
                </a:solidFill>
              </a:rPr>
              <a:t>len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lst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3185592" y="-33738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例题</a:t>
            </a:r>
            <a:endParaRPr lang="zh-CN" altLang="en-US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rgbClr val="FFFF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296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3992" y="1230130"/>
            <a:ext cx="7549414" cy="2150355"/>
          </a:xfrm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dirty="0"/>
              <a:t>例题：求</a:t>
            </a:r>
            <a:r>
              <a:rPr lang="en-US" altLang="zh-CN" sz="2400" dirty="0"/>
              <a:t>m</a:t>
            </a:r>
            <a:r>
              <a:rPr lang="zh-CN" altLang="en-US" sz="2400" dirty="0"/>
              <a:t>到</a:t>
            </a:r>
            <a:r>
              <a:rPr lang="en-US" altLang="zh-CN" sz="2400" dirty="0"/>
              <a:t>n</a:t>
            </a:r>
            <a:r>
              <a:rPr lang="zh-CN" altLang="en-US" sz="2400" dirty="0"/>
              <a:t>的自然数列之和，</a:t>
            </a:r>
            <a:r>
              <a:rPr lang="en-US" altLang="zh-CN" sz="2400" dirty="0"/>
              <a:t>m</a:t>
            </a:r>
            <a:r>
              <a:rPr lang="zh-CN" altLang="en-US" sz="2400" dirty="0"/>
              <a:t>和</a:t>
            </a:r>
            <a:r>
              <a:rPr lang="en-US" altLang="zh-CN" sz="2400" dirty="0"/>
              <a:t>n</a:t>
            </a:r>
            <a:r>
              <a:rPr lang="zh-CN" altLang="en-US" sz="2400" dirty="0"/>
              <a:t>由用户输入，且保证</a:t>
            </a:r>
            <a:r>
              <a:rPr lang="en-US" altLang="zh-CN" sz="2400" dirty="0"/>
              <a:t>m&lt;n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dirty="0"/>
              <a:t>分析：</a:t>
            </a:r>
            <a:endParaRPr lang="en-US" altLang="zh-CN" sz="24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利用</a:t>
            </a:r>
            <a:r>
              <a:rPr lang="en-US" altLang="zh-CN" sz="2000" dirty="0"/>
              <a:t>range</a:t>
            </a:r>
            <a:r>
              <a:rPr lang="zh-CN" altLang="en-US" sz="2000" dirty="0"/>
              <a:t>函数创建</a:t>
            </a:r>
            <a:r>
              <a:rPr lang="en-US" altLang="zh-CN" sz="2000" dirty="0"/>
              <a:t>m</a:t>
            </a:r>
            <a:r>
              <a:rPr lang="zh-CN" altLang="en-US" sz="2000" dirty="0"/>
              <a:t>到</a:t>
            </a:r>
            <a:r>
              <a:rPr lang="en-US" altLang="zh-CN" sz="2000" dirty="0"/>
              <a:t>n</a:t>
            </a:r>
            <a:r>
              <a:rPr lang="zh-CN" altLang="en-US" sz="2000" dirty="0"/>
              <a:t>的序列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利用</a:t>
            </a:r>
            <a:r>
              <a:rPr lang="en-US" altLang="zh-CN" sz="2000" dirty="0"/>
              <a:t>sum</a:t>
            </a:r>
            <a:r>
              <a:rPr lang="zh-CN" altLang="en-US" sz="2000" dirty="0"/>
              <a:t>求和</a:t>
            </a:r>
          </a:p>
        </p:txBody>
      </p:sp>
      <p:sp>
        <p:nvSpPr>
          <p:cNvPr id="4" name="矩形 3"/>
          <p:cNvSpPr/>
          <p:nvPr/>
        </p:nvSpPr>
        <p:spPr>
          <a:xfrm>
            <a:off x="683568" y="3708225"/>
            <a:ext cx="6737139" cy="1889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,n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input 2 numbers:"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split()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(m)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(n)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range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(m,n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4490587" y="5189158"/>
            <a:ext cx="368219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注意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range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第二个参数必须是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n+1</a:t>
            </a:r>
            <a:endParaRPr lang="zh-CN" altLang="en-US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20927" y="20837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</p:spTree>
    <p:extLst>
      <p:ext uri="{BB962C8B-B14F-4D97-AF65-F5344CB8AC3E}">
        <p14:creationId xmlns:p14="http://schemas.microsoft.com/office/powerpoint/2010/main" val="104775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26195" y="1054858"/>
            <a:ext cx="8864866" cy="20098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dirty="0"/>
              <a:t>例题：计算某月某日是一年的第几天，不考虑闰年</a:t>
            </a:r>
            <a:endParaRPr lang="en-US" altLang="zh-CN" sz="2400" dirty="0"/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dirty="0"/>
              <a:t>分析：</a:t>
            </a:r>
            <a:endParaRPr lang="en-US" altLang="zh-CN" sz="24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每月的天数没有规律，可以考虑将其存放在列表</a:t>
            </a:r>
            <a:r>
              <a:rPr lang="en-US" altLang="zh-CN" sz="2000" dirty="0"/>
              <a:t>calendar</a:t>
            </a:r>
            <a:r>
              <a:rPr lang="zh-CN" altLang="en-US" sz="2000" dirty="0"/>
              <a:t>中作为数据查询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第</a:t>
            </a:r>
            <a:r>
              <a:rPr lang="en-US" altLang="zh-CN" sz="2000" dirty="0"/>
              <a:t>n</a:t>
            </a:r>
            <a:r>
              <a:rPr lang="zh-CN" altLang="en-US" sz="2000" dirty="0"/>
              <a:t>月</a:t>
            </a:r>
            <a:r>
              <a:rPr lang="en-US" altLang="zh-CN" sz="2000" dirty="0"/>
              <a:t>m</a:t>
            </a:r>
            <a:r>
              <a:rPr lang="zh-CN" altLang="en-US" sz="2000" dirty="0"/>
              <a:t>天是</a:t>
            </a:r>
            <a:r>
              <a:rPr lang="en-US" altLang="zh-CN" sz="2000" dirty="0"/>
              <a:t>month</a:t>
            </a:r>
            <a:r>
              <a:rPr lang="zh-CN" altLang="en-US" sz="2000" dirty="0"/>
              <a:t>的前</a:t>
            </a:r>
            <a:r>
              <a:rPr lang="en-US" altLang="zh-CN" sz="2000" dirty="0"/>
              <a:t>n-1</a:t>
            </a:r>
            <a:r>
              <a:rPr lang="zh-CN" altLang="en-US" sz="2000" dirty="0"/>
              <a:t>个月的天数之和</a:t>
            </a:r>
            <a:r>
              <a:rPr lang="en-US" altLang="zh-CN" sz="2000" dirty="0"/>
              <a:t>+m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可以用</a:t>
            </a:r>
            <a:r>
              <a:rPr lang="en-US" altLang="zh-CN" sz="2000" dirty="0"/>
              <a:t>sum</a:t>
            </a:r>
            <a:r>
              <a:rPr lang="zh-CN" altLang="en-US" sz="2000" dirty="0"/>
              <a:t>求和</a:t>
            </a:r>
          </a:p>
        </p:txBody>
      </p:sp>
      <p:sp>
        <p:nvSpPr>
          <p:cNvPr id="4" name="矩形 3"/>
          <p:cNvSpPr/>
          <p:nvPr/>
        </p:nvSpPr>
        <p:spPr>
          <a:xfrm>
            <a:off x="206943" y="3124019"/>
            <a:ext cx="890336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calendar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31 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28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30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30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30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30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,n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input month and day: "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split()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(m)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day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(n)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= </a:t>
            </a: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(calendar[:month])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day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(result)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2709913" y="4146557"/>
            <a:ext cx="2772754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别忘了将输入转成整数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7314208" y="3754026"/>
            <a:ext cx="1665361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别忘了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</a:rPr>
              <a:t>split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5374949" y="5147143"/>
            <a:ext cx="3388051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用</a:t>
            </a:r>
            <a:r>
              <a:rPr lang="en-US" altLang="zh-CN" dirty="0">
                <a:solidFill>
                  <a:srgbClr val="00B0F0"/>
                </a:solidFill>
              </a:rPr>
              <a:t>sum</a:t>
            </a:r>
            <a:r>
              <a:rPr lang="zh-CN" altLang="en-US" dirty="0">
                <a:solidFill>
                  <a:srgbClr val="00B0F0"/>
                </a:solidFill>
              </a:rPr>
              <a:t>求前</a:t>
            </a:r>
            <a:r>
              <a:rPr lang="en-US" altLang="zh-CN" dirty="0">
                <a:solidFill>
                  <a:srgbClr val="00B0F0"/>
                </a:solidFill>
              </a:rPr>
              <a:t>n-1</a:t>
            </a:r>
            <a:r>
              <a:rPr lang="zh-CN" altLang="en-US" dirty="0">
                <a:solidFill>
                  <a:srgbClr val="00B0F0"/>
                </a:solidFill>
              </a:rPr>
              <a:t>个月天数之和</a:t>
            </a:r>
          </a:p>
        </p:txBody>
      </p:sp>
      <p:sp>
        <p:nvSpPr>
          <p:cNvPr id="8" name="矩形 7"/>
          <p:cNvSpPr/>
          <p:nvPr/>
        </p:nvSpPr>
        <p:spPr>
          <a:xfrm>
            <a:off x="1792531" y="105001"/>
            <a:ext cx="413446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  <a:r>
              <a:rPr lang="en-US" altLang="zh-CN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----</a:t>
            </a:r>
            <a:r>
              <a:rPr lang="zh-CN" altLang="en-US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分片求和</a:t>
            </a:r>
            <a:r>
              <a:rPr lang="en-US" altLang="zh-CN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  <a:endParaRPr lang="zh-CN" altLang="en-US" sz="36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44439" y="868317"/>
            <a:ext cx="7697038" cy="20098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78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85336" y="1199983"/>
            <a:ext cx="7886700" cy="315996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例题：计算某年某月某日是一年的第几天，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考虑闰年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3260" y="1958491"/>
            <a:ext cx="7625927" cy="420281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calendar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28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y,m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split()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year =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(y)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month 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 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(m)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day 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 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(n)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(calendar[:month])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day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if year % 4 == 0 and year % 100 !=0 or year % 400 == 0: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    if month &gt;2: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        result += 1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(result)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244439" y="868317"/>
            <a:ext cx="7697038" cy="20098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643339" y="174841"/>
            <a:ext cx="413446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  <a:r>
              <a:rPr lang="en-US" altLang="zh-CN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----</a:t>
            </a:r>
            <a:r>
              <a:rPr lang="zh-CN" altLang="en-US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分片求和</a:t>
            </a:r>
            <a:r>
              <a:rPr lang="en-US" altLang="zh-CN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  <a:endParaRPr lang="zh-CN" altLang="en-US" sz="36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531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77648"/>
          </a:xfrm>
        </p:spPr>
        <p:txBody>
          <a:bodyPr/>
          <a:lstStyle/>
          <a:p>
            <a:r>
              <a:rPr lang="en-US" altLang="zh-CN"/>
              <a:t>sorted</a:t>
            </a:r>
            <a:r>
              <a:rPr lang="en-US" altLang="zh-CN" dirty="0"/>
              <a:t>()</a:t>
            </a:r>
            <a:r>
              <a:rPr lang="zh-CN" altLang="en-US" dirty="0"/>
              <a:t>，</a:t>
            </a:r>
            <a:r>
              <a:rPr lang="en-US" altLang="zh-CN" dirty="0"/>
              <a:t>reversed()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序列</a:t>
            </a:r>
            <a:r>
              <a:rPr lang="zh-CN" altLang="en-US" dirty="0"/>
              <a:t>的</a:t>
            </a:r>
            <a:r>
              <a:rPr lang="zh-CN" altLang="en-US"/>
              <a:t>内置函数：</a:t>
            </a:r>
            <a:r>
              <a:rPr lang="zh-CN" altLang="en-US" sz="2800">
                <a:solidFill>
                  <a:srgbClr val="FF0000"/>
                </a:solidFill>
              </a:rPr>
              <a:t>排序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1064" y="1561381"/>
            <a:ext cx="8459638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Consolas" panose="020B0609020204030204" pitchFamily="49" charset="0"/>
              </a:rPr>
              <a:t>&gt;&gt;&gt; </a:t>
            </a:r>
            <a:r>
              <a:rPr lang="en-US" altLang="zh-CN" dirty="0">
                <a:latin typeface="Consolas" panose="020B0609020204030204" pitchFamily="49" charset="0"/>
              </a:rPr>
              <a:t>sorted(s)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[1, 2, 3, 5, 6]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sorted(s,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reverse=True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[6, 5, 3, 2, 1]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[1, 3, 2, 6, 5]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reversed(s)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altLang="zh-CN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list_reverseiterator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object at 0x000002096E0F0908&gt;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for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in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reversed(s)</a:t>
            </a:r>
            <a:r>
              <a:rPr lang="en-US" altLang="zh-CN" dirty="0"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print(</a:t>
            </a:r>
            <a:r>
              <a:rPr lang="en-US" altLang="zh-CN" dirty="0" err="1">
                <a:latin typeface="Consolas" panose="020B0609020204030204" pitchFamily="49" charset="0"/>
              </a:rPr>
              <a:t>i,end</a:t>
            </a:r>
            <a:r>
              <a:rPr lang="en-US" altLang="zh-CN" dirty="0">
                <a:latin typeface="Consolas" panose="020B0609020204030204" pitchFamily="49" charset="0"/>
              </a:rPr>
              <a:t>=' ')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5 6 2 3 1 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138576" y="1603156"/>
            <a:ext cx="5624424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返回一个排好序的新序列，默认是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从小到大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排序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027097" y="2480693"/>
            <a:ext cx="473590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返回排好序的新序列，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从大到小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排序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041529" y="3358230"/>
            <a:ext cx="5624424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sorted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函数对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s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无影响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998216" y="4088630"/>
            <a:ext cx="5619392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返回一个逆序遍历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s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的可迭代对象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976776" y="5007942"/>
            <a:ext cx="4873926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可将其用于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for in 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循环或者作为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list/tuple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48553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72177" y="986074"/>
            <a:ext cx="8458200" cy="1262652"/>
          </a:xfrm>
        </p:spPr>
        <p:txBody>
          <a:bodyPr/>
          <a:lstStyle/>
          <a:p>
            <a:pPr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例题：求一个列表中最大的三个数和最小的三个数</a:t>
            </a:r>
            <a:endParaRPr lang="en-US" altLang="zh-CN" dirty="0"/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对列表从大到小排序，输出前三个数，以及最后三个数</a:t>
            </a:r>
          </a:p>
        </p:txBody>
      </p:sp>
      <p:sp>
        <p:nvSpPr>
          <p:cNvPr id="4" name="矩形 3"/>
          <p:cNvSpPr/>
          <p:nvPr/>
        </p:nvSpPr>
        <p:spPr>
          <a:xfrm>
            <a:off x="683569" y="2346385"/>
            <a:ext cx="6553200" cy="3760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num_list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5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6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4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2.5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6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new_list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sorted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num_list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reverse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3465A4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"max 3 numbers:"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 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new_list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[: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3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]: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    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end</a:t>
            </a:r>
            <a:r>
              <a:rPr lang="en-US" altLang="zh-CN" b="1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>
                <a:solidFill>
                  <a:srgbClr val="4E9A06"/>
                </a:solidFill>
                <a:latin typeface="Consolas" panose="020B0609020204030204" pitchFamily="49" charset="0"/>
              </a:rPr>
              <a:t>' '</a:t>
            </a:r>
            <a:r>
              <a:rPr lang="en-US" altLang="zh-CN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600"/>
              </a:lnSpc>
            </a:pP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b="1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600"/>
              </a:lnSpc>
            </a:pP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"min 3 numbers:"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 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new_list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[: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4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]: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    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 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728787" y="2692832"/>
            <a:ext cx="303421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从大到小排序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565157" y="4331765"/>
            <a:ext cx="303421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换行</a:t>
            </a:r>
          </a:p>
        </p:txBody>
      </p:sp>
      <p:sp>
        <p:nvSpPr>
          <p:cNvPr id="7" name="矩形 6"/>
          <p:cNvSpPr/>
          <p:nvPr/>
        </p:nvSpPr>
        <p:spPr>
          <a:xfrm>
            <a:off x="3049167" y="20837"/>
            <a:ext cx="131318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244439" y="868317"/>
            <a:ext cx="7697038" cy="20098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61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0679" y="1031975"/>
            <a:ext cx="8458200" cy="989330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400"/>
              </a:spcBef>
            </a:pPr>
            <a:r>
              <a:rPr lang="zh-CN" altLang="en-US" sz="1800" dirty="0"/>
              <a:t>enumerate()函数</a:t>
            </a:r>
            <a:r>
              <a:rPr lang="zh-CN" altLang="en-US" sz="1800" dirty="0">
                <a:cs typeface="Times New Roman"/>
              </a:rPr>
              <a:t>返回可以遍历序列的</a:t>
            </a:r>
            <a:r>
              <a:rPr lang="zh-CN" altLang="en-US" sz="1800" dirty="0">
                <a:solidFill>
                  <a:srgbClr val="FF0000"/>
                </a:solidFill>
                <a:cs typeface="Times New Roman"/>
              </a:rPr>
              <a:t>可迭代对象</a:t>
            </a:r>
            <a:r>
              <a:rPr lang="zh-CN" altLang="en-US" sz="1800" dirty="0">
                <a:cs typeface="Times New Roman"/>
              </a:rPr>
              <a:t>，可以通过</a:t>
            </a:r>
            <a:r>
              <a:rPr lang="en-US" altLang="zh-CN" sz="1800" dirty="0">
                <a:cs typeface="Times New Roman"/>
              </a:rPr>
              <a:t>for in </a:t>
            </a:r>
            <a:r>
              <a:rPr lang="zh-CN" altLang="en-US" sz="1800" dirty="0">
                <a:cs typeface="Times New Roman"/>
              </a:rPr>
              <a:t>循环访问列中的每个元素及其索引</a:t>
            </a:r>
            <a:endParaRPr lang="zh-CN" altLang="en-US" sz="18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可用于序列的内置函数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683569" y="1983689"/>
            <a:ext cx="65626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s=['a','b','</a:t>
            </a:r>
            <a:r>
              <a:rPr lang="zh-CN" altLang="en-US">
                <a:latin typeface="Consolas" panose="020B0609020204030204" pitchFamily="49" charset="0"/>
              </a:rPr>
              <a:t>c']</a:t>
            </a:r>
            <a:endParaRPr lang="en-US" altLang="zh-CN"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['a', 'b', 'c']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altLang="zh-CN">
                <a:latin typeface="Consolas" panose="020B0609020204030204" pitchFamily="49" charset="0"/>
              </a:rPr>
              <a:t>&gt;&gt;&gt;enumerate(s)</a:t>
            </a:r>
          </a:p>
          <a:p>
            <a:pPr>
              <a:lnSpc>
                <a:spcPct val="200000"/>
              </a:lnSpc>
            </a:pP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&lt;enumerate object at 0x03645BC0&gt;</a:t>
            </a:r>
          </a:p>
          <a:p>
            <a:pPr>
              <a:lnSpc>
                <a:spcPct val="200000"/>
              </a:lnSpc>
            </a:pPr>
            <a:r>
              <a:rPr lang="en-US" altLang="zh-CN">
                <a:latin typeface="Consolas" panose="020B0609020204030204" pitchFamily="49" charset="0"/>
              </a:rPr>
              <a:t>&gt;&gt;&gt; list(enumerate(s))</a:t>
            </a:r>
          </a:p>
          <a:p>
            <a:pPr>
              <a:lnSpc>
                <a:spcPct val="200000"/>
              </a:lnSpc>
            </a:pP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[(0, 'a'), (1, 'b'), (2, 'c')]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510462" y="4396500"/>
            <a:ext cx="1410102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(</a:t>
            </a:r>
            <a:r>
              <a:rPr lang="zh-CN" altLang="en-US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索引 </a:t>
            </a:r>
            <a:r>
              <a:rPr lang="en-US" altLang="zh-CN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, </a:t>
            </a:r>
            <a:r>
              <a:rPr lang="zh-CN" altLang="en-US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元素</a:t>
            </a:r>
            <a:r>
              <a:rPr lang="en-US" altLang="zh-CN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)</a:t>
            </a:r>
            <a:endParaRPr lang="zh-CN" altLang="en-US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cxnSp>
        <p:nvCxnSpPr>
          <p:cNvPr id="9" name="直接箭头连接符 8"/>
          <p:cNvCxnSpPr>
            <a:stCxn id="6" idx="1"/>
          </p:cNvCxnSpPr>
          <p:nvPr/>
        </p:nvCxnSpPr>
        <p:spPr bwMode="auto">
          <a:xfrm flipH="1">
            <a:off x="3633537" y="4600812"/>
            <a:ext cx="1876925" cy="3898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45DDDD2-04B3-4868-BBBA-E059B56E3AA8}"/>
              </a:ext>
            </a:extLst>
          </p:cNvPr>
          <p:cNvSpPr txBox="1"/>
          <p:nvPr/>
        </p:nvSpPr>
        <p:spPr>
          <a:xfrm>
            <a:off x="683569" y="5982391"/>
            <a:ext cx="687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该可迭代对象每次返回一个元组，每个元组有两项：序号和元素。</a:t>
            </a:r>
          </a:p>
        </p:txBody>
      </p:sp>
    </p:spTree>
    <p:extLst>
      <p:ext uri="{BB962C8B-B14F-4D97-AF65-F5344CB8AC3E}">
        <p14:creationId xmlns:p14="http://schemas.microsoft.com/office/powerpoint/2010/main" val="389502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0679" y="1031975"/>
            <a:ext cx="8458200" cy="543090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400"/>
              </a:spcBef>
            </a:pPr>
            <a:r>
              <a:rPr lang="zh-CN" altLang="en-US" sz="1800" dirty="0"/>
              <a:t>enumerate</a:t>
            </a:r>
            <a:r>
              <a:rPr lang="zh-CN" altLang="en-US" sz="1800"/>
              <a:t>()函数</a:t>
            </a:r>
            <a:r>
              <a:rPr lang="zh-CN" altLang="en-US" sz="1800">
                <a:cs typeface="Times New Roman"/>
              </a:rPr>
              <a:t>：通过</a:t>
            </a:r>
            <a:r>
              <a:rPr lang="en-US" altLang="zh-CN" sz="1800" dirty="0">
                <a:cs typeface="Times New Roman"/>
              </a:rPr>
              <a:t>for in </a:t>
            </a:r>
            <a:r>
              <a:rPr lang="zh-CN" altLang="en-US" sz="1800" dirty="0">
                <a:cs typeface="Times New Roman"/>
              </a:rPr>
              <a:t>循环访问列中的每个元素及其索引</a:t>
            </a:r>
            <a:endParaRPr lang="zh-CN" altLang="en-US" sz="18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可用于序列的内置函数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683569" y="1983689"/>
            <a:ext cx="65626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&gt;&gt;&gt; s=['a','b','c']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&gt;&gt;&gt; for x in s: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print(x, end=' ')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a b c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&gt;&gt;&gt; for x in enumerate(s):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print(x, end=' ')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(0, 'a') (1, 'b') (2, 'c')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for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, x in enumerate(s):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print(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, x)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0 a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1 b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2 c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405937" y="4651570"/>
            <a:ext cx="4542195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x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是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s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中的元素，</a:t>
            </a:r>
            <a:r>
              <a:rPr lang="en-US" altLang="zh-CN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i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是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x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的索引，注意先后顺序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405937" y="3370410"/>
            <a:ext cx="4542195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x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是二元组，前面的是索引，后面的是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s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中的元素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4405937" y="2268426"/>
            <a:ext cx="4542195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x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是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s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中的元素</a:t>
            </a:r>
          </a:p>
        </p:txBody>
      </p:sp>
    </p:spTree>
    <p:extLst>
      <p:ext uri="{BB962C8B-B14F-4D97-AF65-F5344CB8AC3E}">
        <p14:creationId xmlns:p14="http://schemas.microsoft.com/office/powerpoint/2010/main" val="380194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可以使用序列解包功能对多个变量同时进行赋值。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Consolas" panose="020B0609020204030204" charset="0"/>
              </a:rPr>
              <a:t>&gt;&gt;&gt; x, y, z = 1, 2, 3               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多个变量同时赋值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Consolas" panose="020B0609020204030204" charset="0"/>
              </a:rPr>
              <a:t>&gt;&gt;&gt; v_tuple = (False, 3.5, 'exp')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Consolas" panose="020B0609020204030204" charset="0"/>
              </a:rPr>
              <a:t>&gt;&gt;&gt; (x, y, z) = v_tuple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Consolas" panose="020B0609020204030204" charset="0"/>
              </a:rPr>
              <a:t>&gt;&gt;&gt; x, y, z = v_tuple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Consolas" panose="020B0609020204030204" charset="0"/>
              </a:rPr>
              <a:t>&gt;&gt;&gt; x, y = y, </a:t>
            </a:r>
            <a:r>
              <a:rPr lang="en-US" altLang="zh-CN">
                <a:latin typeface="Consolas" panose="020B0609020204030204" charset="0"/>
              </a:rPr>
              <a:t>x               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交换两个变量的值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Consolas" panose="020B0609020204030204" charset="0"/>
              </a:rPr>
              <a:t>&gt;&gt;&gt; x, y, z = range(3</a:t>
            </a:r>
            <a:r>
              <a:rPr lang="zh-CN" altLang="en-US">
                <a:latin typeface="Consolas" panose="020B0609020204030204" charset="0"/>
              </a:rPr>
              <a:t>)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#可以对range对象进行序列解包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序列解包  </a:t>
            </a:r>
            <a:r>
              <a:rPr lang="en-US" altLang="zh-CN" dirty="0"/>
              <a:t>Sequence unpacking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197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24026" y="833706"/>
            <a:ext cx="7315200" cy="142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a=b=0,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执行下列语句后，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174698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=1,2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4001253"/>
            <a:ext cx="1828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=[1,2]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5038374"/>
            <a:ext cx="187211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=1,2,3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5351646" y="2863849"/>
            <a:ext cx="270951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c,a,b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=range(3)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06554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102667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637271" y="2928142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5351646" y="4079039"/>
            <a:ext cx="202130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a,b,c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=1,2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矩形 24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4637271" y="4143332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E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2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07169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95A2A35-674A-40AD-A83A-DE29BAA59257}" vid="{E14F0F36-DC56-4341-802B-8D7414312C9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2148</TotalTime>
  <Words>1281</Words>
  <Application>Microsoft Office PowerPoint</Application>
  <PresentationFormat>全屏显示(4:3)</PresentationFormat>
  <Paragraphs>158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等线</vt:lpstr>
      <vt:lpstr>等线 Light</vt:lpstr>
      <vt:lpstr>楷体</vt:lpstr>
      <vt:lpstr>Microsoft Yahei</vt:lpstr>
      <vt:lpstr>Microsoft Yahei</vt:lpstr>
      <vt:lpstr>Arial</vt:lpstr>
      <vt:lpstr>Calibri</vt:lpstr>
      <vt:lpstr>Consolas</vt:lpstr>
      <vt:lpstr>Courier New</vt:lpstr>
      <vt:lpstr>Garamond</vt:lpstr>
      <vt:lpstr>Verdana</vt:lpstr>
      <vt:lpstr>Wingdings</vt:lpstr>
      <vt:lpstr>主题1</vt:lpstr>
      <vt:lpstr>Office 主题​​</vt:lpstr>
      <vt:lpstr>1_Office 主题​​</vt:lpstr>
      <vt:lpstr>环保</vt:lpstr>
      <vt:lpstr>6.1.3 序列处理函数</vt:lpstr>
      <vt:lpstr>可用于序列的内置函数</vt:lpstr>
      <vt:lpstr>可用于序列的内置函数</vt:lpstr>
      <vt:lpstr>PowerPoint 演示文稿</vt:lpstr>
      <vt:lpstr>PowerPoint 演示文稿</vt:lpstr>
      <vt:lpstr>PowerPoint 演示文稿</vt:lpstr>
      <vt:lpstr>PowerPoint 演示文稿</vt:lpstr>
      <vt:lpstr>序列的内置函数：排序</vt:lpstr>
      <vt:lpstr>PowerPoint 演示文稿</vt:lpstr>
      <vt:lpstr>可用于序列的内置函数</vt:lpstr>
      <vt:lpstr>可用于序列的内置函数</vt:lpstr>
      <vt:lpstr>序列解包  Sequence unpacking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详解Python序列结构</dc:title>
  <dc:creator>Dong</dc:creator>
  <cp:lastModifiedBy>cyj</cp:lastModifiedBy>
  <cp:revision>676</cp:revision>
  <cp:lastPrinted>2019-10-16T14:42:59Z</cp:lastPrinted>
  <dcterms:created xsi:type="dcterms:W3CDTF">2015-05-05T08:02:00Z</dcterms:created>
  <dcterms:modified xsi:type="dcterms:W3CDTF">2024-11-22T04:38:49Z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