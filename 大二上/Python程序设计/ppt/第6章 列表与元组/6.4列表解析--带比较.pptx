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688" r:id="rId2"/>
    <p:sldMasterId id="2147483700" r:id="rId3"/>
  </p:sldMasterIdLst>
  <p:notesMasterIdLst>
    <p:notesMasterId r:id="rId15"/>
  </p:notesMasterIdLst>
  <p:handoutMasterIdLst>
    <p:handoutMasterId r:id="rId16"/>
  </p:handoutMasterIdLst>
  <p:sldIdLst>
    <p:sldId id="1946" r:id="rId4"/>
    <p:sldId id="1948" r:id="rId5"/>
    <p:sldId id="1949" r:id="rId6"/>
    <p:sldId id="1915" r:id="rId7"/>
    <p:sldId id="1922" r:id="rId8"/>
    <p:sldId id="1950" r:id="rId9"/>
    <p:sldId id="1917" r:id="rId10"/>
    <p:sldId id="1918" r:id="rId11"/>
    <p:sldId id="1923" r:id="rId12"/>
    <p:sldId id="1924" r:id="rId13"/>
    <p:sldId id="1947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0678" autoAdjust="0"/>
  </p:normalViewPr>
  <p:slideViewPr>
    <p:cSldViewPr snapToGrid="0">
      <p:cViewPr varScale="1">
        <p:scale>
          <a:sx n="114" d="100"/>
          <a:sy n="114" d="100"/>
        </p:scale>
        <p:origin x="15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0566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3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28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41" name="AutoShape 2405"/>
          <p:cNvSpPr>
            <a:spLocks noChangeArrowheads="1"/>
          </p:cNvSpPr>
          <p:nvPr/>
        </p:nvSpPr>
        <p:spPr bwMode="gray">
          <a:xfrm>
            <a:off x="0" y="1752600"/>
            <a:ext cx="9144000" cy="2514600"/>
          </a:xfrm>
          <a:prstGeom prst="flowChartDocument">
            <a:avLst/>
          </a:prstGeom>
          <a:ln>
            <a:noFill/>
          </a:ln>
          <a:effectLst>
            <a:glow rad="63500">
              <a:schemeClr val="accent2">
                <a:alpha val="45000"/>
                <a:satMod val="12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40" name="AutoShape 2404"/>
          <p:cNvSpPr>
            <a:spLocks noChangeArrowheads="1"/>
          </p:cNvSpPr>
          <p:nvPr/>
        </p:nvSpPr>
        <p:spPr bwMode="gray">
          <a:xfrm>
            <a:off x="0" y="304800"/>
            <a:ext cx="9144000" cy="2209800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1" name="AutoShape 2395"/>
          <p:cNvSpPr>
            <a:spLocks noChangeArrowheads="1"/>
          </p:cNvSpPr>
          <p:nvPr/>
        </p:nvSpPr>
        <p:spPr bwMode="gray">
          <a:xfrm>
            <a:off x="0" y="0"/>
            <a:ext cx="9144000" cy="2057400"/>
          </a:xfrm>
          <a:prstGeom prst="flowChartDocument">
            <a:avLst/>
          </a:prstGeom>
          <a:gradFill rotWithShape="0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0" name="Oval 2394"/>
          <p:cNvSpPr>
            <a:spLocks noChangeArrowheads="1"/>
          </p:cNvSpPr>
          <p:nvPr/>
        </p:nvSpPr>
        <p:spPr bwMode="gray">
          <a:xfrm>
            <a:off x="722313" y="1752600"/>
            <a:ext cx="552450" cy="508000"/>
          </a:xfrm>
          <a:prstGeom prst="ellipse">
            <a:avLst/>
          </a:prstGeom>
          <a:gradFill rotWithShape="0">
            <a:gsLst>
              <a:gs pos="0">
                <a:srgbClr val="86B9FF"/>
              </a:gs>
              <a:gs pos="12000">
                <a:schemeClr val="hlink">
                  <a:alpha val="53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4" name="Oval 2398"/>
          <p:cNvSpPr>
            <a:spLocks noChangeArrowheads="1"/>
          </p:cNvSpPr>
          <p:nvPr/>
        </p:nvSpPr>
        <p:spPr bwMode="gray">
          <a:xfrm>
            <a:off x="2971800" y="1773239"/>
            <a:ext cx="230188" cy="207963"/>
          </a:xfrm>
          <a:prstGeom prst="ellipse">
            <a:avLst/>
          </a:prstGeom>
          <a:gradFill rotWithShape="0">
            <a:gsLst>
              <a:gs pos="27000">
                <a:schemeClr val="hlink">
                  <a:alpha val="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67935" name="Oval 2399"/>
          <p:cNvSpPr>
            <a:spLocks noChangeArrowheads="1"/>
          </p:cNvSpPr>
          <p:nvPr/>
        </p:nvSpPr>
        <p:spPr bwMode="gray">
          <a:xfrm>
            <a:off x="2247903" y="2271713"/>
            <a:ext cx="538163" cy="495300"/>
          </a:xfrm>
          <a:prstGeom prst="ellipse">
            <a:avLst/>
          </a:prstGeom>
          <a:gradFill rotWithShape="0">
            <a:gsLst>
              <a:gs pos="13000">
                <a:schemeClr val="hlink">
                  <a:alpha val="58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15" name="Rectangle 536"/>
          <p:cNvSpPr txBox="1">
            <a:spLocks noChangeArrowheads="1"/>
          </p:cNvSpPr>
          <p:nvPr/>
        </p:nvSpPr>
        <p:spPr bwMode="black">
          <a:xfrm>
            <a:off x="2247902" y="4405858"/>
            <a:ext cx="5295379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1" rIns="68580" bIns="34291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altLang="ko-KR" sz="3600" dirty="0"/>
          </a:p>
        </p:txBody>
      </p:sp>
      <p:sp>
        <p:nvSpPr>
          <p:cNvPr id="16" name="Rectangle 536"/>
          <p:cNvSpPr txBox="1">
            <a:spLocks noChangeArrowheads="1"/>
          </p:cNvSpPr>
          <p:nvPr/>
        </p:nvSpPr>
        <p:spPr bwMode="black">
          <a:xfrm>
            <a:off x="2067138" y="4234408"/>
            <a:ext cx="5009728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1" rIns="68580" bIns="34291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361692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4953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51237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84428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1"/>
            </a:lvl4pPr>
            <a:lvl5pPr>
              <a:defRPr sz="1351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976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4498"/>
            <a:ext cx="8229600" cy="6383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1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966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15329"/>
            <a:ext cx="744473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7132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40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967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4572000" y="6477000"/>
            <a:ext cx="5334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356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0978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943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46972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单击图标添加图表</a:t>
            </a:r>
          </a:p>
        </p:txBody>
      </p:sp>
    </p:spTree>
    <p:extLst>
      <p:ext uri="{BB962C8B-B14F-4D97-AF65-F5344CB8AC3E}">
        <p14:creationId xmlns:p14="http://schemas.microsoft.com/office/powerpoint/2010/main" val="2926920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3637208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984403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380431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03033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7872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869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4695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2078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4032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8641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4103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7283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918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7891-4A7C-4A51-86F1-5BDD3946FBDA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628693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482005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3709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4152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7184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1906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9283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474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1241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4646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713013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453847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7176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214045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814921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470020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9690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91520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idle" TargetMode="Externa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hyperlink" Target="idle" TargetMode="Externa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21" Type="http://schemas.openxmlformats.org/officeDocument/2006/relationships/hyperlink" Target="idle" TargetMode="Externa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4" name="Rectangle 246"/>
          <p:cNvSpPr>
            <a:spLocks noChangeArrowheads="1"/>
          </p:cNvSpPr>
          <p:nvPr/>
        </p:nvSpPr>
        <p:spPr bwMode="gray">
          <a:xfrm>
            <a:off x="0" y="0"/>
            <a:ext cx="9144000" cy="8382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2117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2538" name="Rectangle 250"/>
          <p:cNvSpPr>
            <a:spLocks noChangeArrowheads="1"/>
          </p:cNvSpPr>
          <p:nvPr/>
        </p:nvSpPr>
        <p:spPr bwMode="white">
          <a:xfrm>
            <a:off x="0" y="990600"/>
            <a:ext cx="9144000" cy="3657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1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/>
          </p:nvPr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ko-KR" dirty="0"/>
          </a:p>
        </p:txBody>
      </p:sp>
      <p:pic>
        <p:nvPicPr>
          <p:cNvPr id="12548" name="Picture 260" descr="http://astroleaks.lamost.org/wp-content/uploads/2012/03/Logo_Python.png">
            <a:hlinkClick r:id="rId17" action="ppaction://program"/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632464" cy="6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圆角矩形 2">
            <a:hlinkClick r:id="rId17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24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557199" indent="-214308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857229" indent="-17144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1200121" indent="-17144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543012" indent="-171446" algn="l" rtl="0" eaLnBrk="1" fontAlgn="base" hangingPunct="1">
        <a:lnSpc>
          <a:spcPts val="26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8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67891-4A7C-4A51-86F1-5BDD3946FBDA}" type="datetimeFigureOut">
              <a:rPr lang="zh-CN" altLang="en-US" smtClean="0"/>
              <a:t>2024/11/23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C078E-ED68-4DCD-863D-A80433A43C6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圆角矩形 6">
            <a:hlinkClick r:id="rId13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2977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圆角矩形 11">
            <a:hlinkClick r:id="rId21" action="ppaction://program"/>
          </p:cNvPr>
          <p:cNvSpPr/>
          <p:nvPr userDrawn="1"/>
        </p:nvSpPr>
        <p:spPr>
          <a:xfrm>
            <a:off x="0" y="57665"/>
            <a:ext cx="568411" cy="691431"/>
          </a:xfrm>
          <a:prstGeom prst="roundRect">
            <a:avLst/>
          </a:prstGeom>
          <a:ln>
            <a:noFill/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2029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列表解析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x-none">
                <a:latin typeface="宋体" panose="02010600030101010101" pitchFamily="2" charset="-122"/>
                <a:sym typeface="+mn-ea"/>
              </a:rPr>
              <a:t>快速生成满足特定需求的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新</a:t>
            </a:r>
            <a:r>
              <a:rPr lang="en-US" altLang="x-none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列表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045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700" dirty="0"/>
              <a:t>回顾</a:t>
            </a:r>
            <a:r>
              <a:rPr lang="en-US" altLang="zh-CN" sz="2700" dirty="0"/>
              <a:t>——</a:t>
            </a:r>
            <a:r>
              <a:rPr lang="zh-CN" altLang="en-US" sz="2700" dirty="0"/>
              <a:t>创建列表</a:t>
            </a:r>
          </a:p>
        </p:txBody>
      </p:sp>
      <p:sp>
        <p:nvSpPr>
          <p:cNvPr id="5" name="矩形 4"/>
          <p:cNvSpPr/>
          <p:nvPr/>
        </p:nvSpPr>
        <p:spPr>
          <a:xfrm>
            <a:off x="628649" y="1182185"/>
            <a:ext cx="2143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创建空列表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lst1</a:t>
            </a:r>
          </a:p>
        </p:txBody>
      </p:sp>
      <p:sp>
        <p:nvSpPr>
          <p:cNvPr id="6" name="矩形 5"/>
          <p:cNvSpPr/>
          <p:nvPr/>
        </p:nvSpPr>
        <p:spPr>
          <a:xfrm>
            <a:off x="1728784" y="1720905"/>
            <a:ext cx="13532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lst1 = []  </a:t>
            </a:r>
          </a:p>
          <a:p>
            <a:pPr lvl="0"/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lst1 = list()</a:t>
            </a:r>
          </a:p>
        </p:txBody>
      </p:sp>
      <p:sp>
        <p:nvSpPr>
          <p:cNvPr id="7" name="矩形 6"/>
          <p:cNvSpPr/>
          <p:nvPr/>
        </p:nvSpPr>
        <p:spPr>
          <a:xfrm>
            <a:off x="556460" y="2664138"/>
            <a:ext cx="35535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创建列表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lst2,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元素值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1~5</a:t>
            </a:r>
          </a:p>
        </p:txBody>
      </p:sp>
      <p:sp>
        <p:nvSpPr>
          <p:cNvPr id="8" name="矩形 7"/>
          <p:cNvSpPr/>
          <p:nvPr/>
        </p:nvSpPr>
        <p:spPr>
          <a:xfrm>
            <a:off x="1700417" y="3357104"/>
            <a:ext cx="25394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lst2 = [1, 2, 3, 4, 5] </a:t>
            </a:r>
          </a:p>
          <a:p>
            <a:pPr lvl="0"/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lst2 = list(range(1, 6))</a:t>
            </a:r>
          </a:p>
        </p:txBody>
      </p:sp>
      <p:sp>
        <p:nvSpPr>
          <p:cNvPr id="9" name="矩形 8"/>
          <p:cNvSpPr/>
          <p:nvPr/>
        </p:nvSpPr>
        <p:spPr>
          <a:xfrm>
            <a:off x="556460" y="4346504"/>
            <a:ext cx="41406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创建列表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lst3, 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个元素，值为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10" name="矩形 9"/>
          <p:cNvSpPr/>
          <p:nvPr/>
        </p:nvSpPr>
        <p:spPr>
          <a:xfrm>
            <a:off x="1700417" y="4830696"/>
            <a:ext cx="1685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lst3 = [0] * 10</a:t>
            </a:r>
          </a:p>
        </p:txBody>
      </p:sp>
      <p:sp>
        <p:nvSpPr>
          <p:cNvPr id="11" name="矩形 10"/>
          <p:cNvSpPr/>
          <p:nvPr/>
        </p:nvSpPr>
        <p:spPr>
          <a:xfrm>
            <a:off x="600197" y="5447281"/>
            <a:ext cx="54497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输入一行英文句子，将单词存放在列表 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words</a:t>
            </a:r>
          </a:p>
        </p:txBody>
      </p:sp>
      <p:sp>
        <p:nvSpPr>
          <p:cNvPr id="12" name="矩形 11"/>
          <p:cNvSpPr/>
          <p:nvPr/>
        </p:nvSpPr>
        <p:spPr>
          <a:xfrm>
            <a:off x="1700417" y="6153802"/>
            <a:ext cx="25707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words </a:t>
            </a:r>
            <a:r>
              <a:rPr lang="en-US" altLang="zh-CN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input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().</a:t>
            </a:r>
            <a:r>
              <a:rPr lang="en-US" altLang="zh-CN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split()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844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回顾</a:t>
            </a:r>
            <a:r>
              <a:rPr lang="en-US" altLang="zh-CN"/>
              <a:t>——</a:t>
            </a:r>
            <a:r>
              <a:rPr lang="zh-CN" altLang="en-US"/>
              <a:t>创建列表</a:t>
            </a:r>
          </a:p>
        </p:txBody>
      </p:sp>
      <p:sp>
        <p:nvSpPr>
          <p:cNvPr id="3" name="矩形 2"/>
          <p:cNvSpPr/>
          <p:nvPr/>
        </p:nvSpPr>
        <p:spPr>
          <a:xfrm>
            <a:off x="584462" y="1567349"/>
            <a:ext cx="67530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创建列表 </a:t>
            </a:r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10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个元素，值为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25, ……,100</a:t>
            </a:r>
          </a:p>
        </p:txBody>
      </p:sp>
      <p:sp>
        <p:nvSpPr>
          <p:cNvPr id="4" name="矩形 3"/>
          <p:cNvSpPr/>
          <p:nvPr/>
        </p:nvSpPr>
        <p:spPr>
          <a:xfrm>
            <a:off x="933295" y="2593205"/>
            <a:ext cx="6467111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[1, 2*2, 3*3, 4*4, 5*5, 6*6, 7*7, 8*8, 9*9, 10*10] </a:t>
            </a:r>
          </a:p>
        </p:txBody>
      </p:sp>
      <p:sp>
        <p:nvSpPr>
          <p:cNvPr id="5" name="矩形 4"/>
          <p:cNvSpPr/>
          <p:nvPr/>
        </p:nvSpPr>
        <p:spPr>
          <a:xfrm>
            <a:off x="933293" y="4364227"/>
            <a:ext cx="7156741" cy="175432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</a:pPr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[]    #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空列表</a:t>
            </a:r>
            <a:endParaRPr lang="en-US" altLang="zh-CN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in range(1, 11):			</a:t>
            </a:r>
          </a:p>
          <a:p>
            <a:pPr lvl="0">
              <a:lnSpc>
                <a:spcPct val="200000"/>
              </a:lnSpc>
            </a:pP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lst2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.append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* </a:t>
            </a:r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     </a:t>
            </a:r>
            <a:r>
              <a:rPr lang="en-US" altLang="zh-CN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append()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方法，往列表</a:t>
            </a:r>
            <a:r>
              <a:rPr lang="zh-CN" altLang="en-US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添加元素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33294" y="3515590"/>
            <a:ext cx="6467111" cy="36933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[</a:t>
            </a:r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* </a:t>
            </a:r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for </a:t>
            </a:r>
            <a:r>
              <a:rPr lang="en-US" altLang="zh-CN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in range(1, 11)]		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列表解析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238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187190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列表解析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(List Comprehension</a:t>
            </a:r>
            <a:r>
              <a:rPr lang="zh-CN" altLang="en-US" b="0" dirty="0">
                <a:latin typeface="宋体" panose="02010600030101010101" pitchFamily="2" charset="-122"/>
                <a:sym typeface="+mn-ea"/>
              </a:rPr>
              <a:t>，又称</a:t>
            </a:r>
            <a:r>
              <a:rPr lang="en-US" altLang="x-none" b="0" dirty="0" err="1">
                <a:latin typeface="宋体" panose="02010600030101010101" pitchFamily="2" charset="-122"/>
                <a:sym typeface="+mn-ea"/>
              </a:rPr>
              <a:t>列表推导</a:t>
            </a:r>
            <a:r>
              <a:rPr lang="zh-CN" altLang="en-US" b="0" dirty="0">
                <a:latin typeface="宋体" panose="02010600030101010101" pitchFamily="2" charset="-122"/>
                <a:sym typeface="+mn-ea"/>
              </a:rPr>
              <a:t>）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x-none" dirty="0" err="1">
                <a:latin typeface="宋体" panose="02010600030101010101" pitchFamily="2" charset="-122"/>
                <a:sym typeface="+mn-ea"/>
              </a:rPr>
              <a:t>使用非常简洁的方式来快速生成满足特定需求的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新</a:t>
            </a:r>
            <a:r>
              <a:rPr lang="en-US" altLang="x-none" dirty="0" err="1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列表</a:t>
            </a:r>
            <a:r>
              <a:rPr lang="en-US" altLang="x-none" dirty="0" err="1">
                <a:latin typeface="宋体" panose="02010600030101010101" pitchFamily="2" charset="-122"/>
                <a:sym typeface="+mn-ea"/>
              </a:rPr>
              <a:t>，代码具有非常强的可读性</a:t>
            </a:r>
            <a:r>
              <a:rPr lang="en-US" altLang="x-none" dirty="0">
                <a:latin typeface="宋体" panose="02010600030101010101" pitchFamily="2" charset="-122"/>
                <a:sym typeface="+mn-ea"/>
              </a:rPr>
              <a:t>。</a:t>
            </a:r>
            <a:endParaRPr lang="en-US" altLang="x-none" noProof="1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sym typeface="+mn-ea"/>
              </a:rPr>
              <a:t>列表解析的语法形式为：</a:t>
            </a:r>
            <a:endParaRPr lang="zh-CN" altLang="en-US" noProof="1">
              <a:latin typeface="宋体" panose="02010600030101010101" pitchFamily="2" charset="-122"/>
            </a:endParaRPr>
          </a:p>
          <a:p>
            <a:pPr marL="1905" indent="-344797">
              <a:lnSpc>
                <a:spcPct val="80000"/>
              </a:lnSpc>
              <a:buNone/>
            </a:pPr>
            <a:endParaRPr lang="en-US" altLang="zh-CN" dirty="0"/>
          </a:p>
          <a:p>
            <a:pPr marL="1905" indent="-344797">
              <a:lnSpc>
                <a:spcPct val="80000"/>
              </a:lnSpc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列表解析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692805" y="3302083"/>
            <a:ext cx="2373746" cy="1021556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从</a:t>
            </a:r>
            <a:r>
              <a:rPr lang="en-US" altLang="x-none" b="1" dirty="0">
                <a:solidFill>
                  <a:schemeClr val="bg1"/>
                </a:solidFill>
                <a:latin typeface="Consolas" panose="020B0609020204030204" charset="0"/>
                <a:sym typeface="+mn-ea"/>
              </a:rPr>
              <a:t>sequence</a:t>
            </a:r>
            <a:r>
              <a:rPr lang="zh-CN" altLang="en-US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中按顺序取出一个值赋给</a:t>
            </a:r>
            <a:r>
              <a:rPr lang="en-US" altLang="zh-CN" b="1" dirty="0">
                <a:solidFill>
                  <a:schemeClr val="bg1"/>
                </a:solidFill>
                <a:latin typeface="Consolas" panose="020B0609020204030204" charset="0"/>
                <a:sym typeface="+mn-ea"/>
              </a:rPr>
              <a:t>variable</a:t>
            </a:r>
            <a:endParaRPr lang="zh-CN" altLang="en-US" b="1" kern="0" dirty="0">
              <a:solidFill>
                <a:schemeClr val="bg1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92805" y="4649852"/>
            <a:ext cx="2373746" cy="715089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zh-CN" altLang="en-US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判断</a:t>
            </a:r>
            <a:r>
              <a:rPr lang="en-US" altLang="zh-CN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  <a:sym typeface="+mn-ea"/>
              </a:rPr>
              <a:t>condition</a:t>
            </a:r>
            <a:r>
              <a:rPr lang="zh-CN" altLang="en-US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是否为</a:t>
            </a:r>
            <a:r>
              <a:rPr lang="en-US" altLang="zh-CN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True</a:t>
            </a:r>
            <a:endParaRPr lang="zh-CN" altLang="en-US" b="1" kern="0" dirty="0">
              <a:solidFill>
                <a:schemeClr val="bg1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692805" y="6110958"/>
            <a:ext cx="2373746" cy="408623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zh-CN" altLang="en-US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计算</a:t>
            </a:r>
            <a:r>
              <a:rPr lang="en-US" altLang="zh-CN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expression</a:t>
            </a:r>
            <a:endParaRPr lang="zh-CN" altLang="en-US" b="1" kern="0" dirty="0">
              <a:solidFill>
                <a:schemeClr val="bg1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3569" y="2559468"/>
            <a:ext cx="75183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x-none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[ 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expression</a:t>
            </a:r>
            <a:r>
              <a:rPr lang="en-US" altLang="x-none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 </a:t>
            </a:r>
            <a:r>
              <a:rPr lang="en-US" altLang="x-none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for</a:t>
            </a:r>
            <a:r>
              <a:rPr lang="en-US" altLang="x-none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 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variable</a:t>
            </a:r>
            <a:r>
              <a:rPr lang="en-US" altLang="x-none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 </a:t>
            </a:r>
            <a:r>
              <a:rPr lang="en-US" altLang="x-none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in</a:t>
            </a:r>
            <a:r>
              <a:rPr lang="en-US" altLang="x-none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 sequence </a:t>
            </a:r>
            <a:r>
              <a:rPr lang="en-US" altLang="x-none" b="1" dirty="0">
                <a:solidFill>
                  <a:srgbClr val="C00000"/>
                </a:solidFill>
                <a:latin typeface="Consolas" panose="020B0609020204030204" charset="0"/>
                <a:sym typeface="+mn-ea"/>
              </a:rPr>
              <a:t>if</a:t>
            </a:r>
            <a:r>
              <a:rPr lang="en-US" altLang="x-none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 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condition</a:t>
            </a:r>
            <a:r>
              <a:rPr lang="en-US" altLang="x-none" dirty="0">
                <a:solidFill>
                  <a:srgbClr val="7030A0"/>
                </a:solidFill>
                <a:latin typeface="Consolas" panose="020B0609020204030204" charset="0"/>
                <a:sym typeface="+mn-ea"/>
              </a:rPr>
              <a:t>]          </a:t>
            </a:r>
            <a:endParaRPr lang="en-US" altLang="x-none" noProof="1">
              <a:solidFill>
                <a:srgbClr val="7030A0"/>
              </a:solidFill>
              <a:latin typeface="Consolas" panose="020B0609020204030204" charset="0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2068945" y="2844800"/>
            <a:ext cx="6299200" cy="767355"/>
            <a:chOff x="2068945" y="2844800"/>
            <a:chExt cx="6299200" cy="767355"/>
          </a:xfrm>
        </p:grpSpPr>
        <p:sp>
          <p:nvSpPr>
            <p:cNvPr id="8" name="圆角矩形 7"/>
            <p:cNvSpPr/>
            <p:nvPr/>
          </p:nvSpPr>
          <p:spPr>
            <a:xfrm>
              <a:off x="6363855" y="3203532"/>
              <a:ext cx="2004290" cy="408623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en-US" kern="0" dirty="0">
                  <a:solidFill>
                    <a:srgbClr val="800000"/>
                  </a:solidFill>
                  <a:latin typeface="Courier New"/>
                  <a:ea typeface="宋体"/>
                  <a:cs typeface="Times New Roman"/>
                </a:rPr>
                <a:t>表达式</a:t>
              </a:r>
            </a:p>
          </p:txBody>
        </p:sp>
        <p:cxnSp>
          <p:nvCxnSpPr>
            <p:cNvPr id="10" name="直接箭头连接符 9"/>
            <p:cNvCxnSpPr>
              <a:stCxn id="8" idx="0"/>
            </p:cNvCxnSpPr>
            <p:nvPr/>
          </p:nvCxnSpPr>
          <p:spPr bwMode="auto">
            <a:xfrm flipH="1" flipV="1">
              <a:off x="6714836" y="2844800"/>
              <a:ext cx="651164" cy="3587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直接箭头连接符 11"/>
            <p:cNvCxnSpPr>
              <a:stCxn id="8" idx="0"/>
            </p:cNvCxnSpPr>
            <p:nvPr/>
          </p:nvCxnSpPr>
          <p:spPr bwMode="auto">
            <a:xfrm flipH="1" flipV="1">
              <a:off x="2068945" y="2844800"/>
              <a:ext cx="5297055" cy="3587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7" name="组合 36"/>
          <p:cNvGrpSpPr/>
          <p:nvPr/>
        </p:nvGrpSpPr>
        <p:grpSpPr>
          <a:xfrm>
            <a:off x="5144655" y="2124009"/>
            <a:ext cx="3999345" cy="527577"/>
            <a:chOff x="5144655" y="2124009"/>
            <a:chExt cx="3999345" cy="527577"/>
          </a:xfrm>
        </p:grpSpPr>
        <p:sp>
          <p:nvSpPr>
            <p:cNvPr id="14" name="圆角矩形 13"/>
            <p:cNvSpPr/>
            <p:nvPr/>
          </p:nvSpPr>
          <p:spPr>
            <a:xfrm>
              <a:off x="6086763" y="2124009"/>
              <a:ext cx="3057237" cy="408623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en-US" kern="0" dirty="0">
                  <a:solidFill>
                    <a:srgbClr val="800000"/>
                  </a:solidFill>
                  <a:latin typeface="Courier New"/>
                  <a:ea typeface="宋体"/>
                  <a:cs typeface="Times New Roman"/>
                </a:rPr>
                <a:t>序列：列表元组之类的对象</a:t>
              </a:r>
            </a:p>
          </p:txBody>
        </p:sp>
        <p:cxnSp>
          <p:nvCxnSpPr>
            <p:cNvPr id="16" name="直接箭头连接符 15"/>
            <p:cNvCxnSpPr/>
            <p:nvPr/>
          </p:nvCxnSpPr>
          <p:spPr bwMode="auto">
            <a:xfrm flipH="1">
              <a:off x="5144655" y="2366254"/>
              <a:ext cx="923636" cy="2853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6" name="组合 35"/>
          <p:cNvGrpSpPr/>
          <p:nvPr/>
        </p:nvGrpSpPr>
        <p:grpSpPr>
          <a:xfrm>
            <a:off x="3888510" y="2844801"/>
            <a:ext cx="1505525" cy="729659"/>
            <a:chOff x="3888510" y="2844801"/>
            <a:chExt cx="1505525" cy="729659"/>
          </a:xfrm>
        </p:grpSpPr>
        <p:sp>
          <p:nvSpPr>
            <p:cNvPr id="17" name="圆角矩形 16"/>
            <p:cNvSpPr/>
            <p:nvPr/>
          </p:nvSpPr>
          <p:spPr>
            <a:xfrm>
              <a:off x="4294909" y="3165837"/>
              <a:ext cx="1099126" cy="408623"/>
            </a:xfrm>
            <a:prstGeom prst="roundRect">
              <a:avLst/>
            </a:prstGeom>
            <a:ln>
              <a:solidFill>
                <a:schemeClr val="accent1"/>
              </a:solidFill>
            </a:ln>
          </p:spPr>
          <p:txBody>
            <a:bodyPr rtlCol="0" anchor="ctr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en-US" kern="0" dirty="0">
                  <a:solidFill>
                    <a:srgbClr val="800000"/>
                  </a:solidFill>
                  <a:latin typeface="Courier New"/>
                  <a:ea typeface="宋体"/>
                  <a:cs typeface="Times New Roman"/>
                </a:rPr>
                <a:t>变量</a:t>
              </a:r>
            </a:p>
          </p:txBody>
        </p:sp>
        <p:cxnSp>
          <p:nvCxnSpPr>
            <p:cNvPr id="19" name="直接箭头连接符 18"/>
            <p:cNvCxnSpPr>
              <a:stCxn id="17" idx="0"/>
            </p:cNvCxnSpPr>
            <p:nvPr/>
          </p:nvCxnSpPr>
          <p:spPr bwMode="auto">
            <a:xfrm flipH="1" flipV="1">
              <a:off x="3888510" y="2844801"/>
              <a:ext cx="955962" cy="32103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22" name="直接箭头连接符 21"/>
          <p:cNvCxnSpPr>
            <a:stCxn id="4" idx="2"/>
            <a:endCxn id="5" idx="0"/>
          </p:cNvCxnSpPr>
          <p:nvPr/>
        </p:nvCxnSpPr>
        <p:spPr bwMode="auto">
          <a:xfrm>
            <a:off x="1879678" y="4323639"/>
            <a:ext cx="0" cy="3262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直接箭头连接符 23"/>
          <p:cNvCxnSpPr>
            <a:stCxn id="5" idx="2"/>
            <a:endCxn id="6" idx="0"/>
          </p:cNvCxnSpPr>
          <p:nvPr/>
        </p:nvCxnSpPr>
        <p:spPr bwMode="auto">
          <a:xfrm>
            <a:off x="1879678" y="5364941"/>
            <a:ext cx="0" cy="7460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矩形 25"/>
          <p:cNvSpPr/>
          <p:nvPr/>
        </p:nvSpPr>
        <p:spPr>
          <a:xfrm>
            <a:off x="1879678" y="5517669"/>
            <a:ext cx="840509" cy="36933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True</a:t>
            </a:r>
            <a:endParaRPr lang="zh-CN" altLang="en-US" kern="0" dirty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cxnSp>
        <p:nvCxnSpPr>
          <p:cNvPr id="28" name="直接箭头连接符 27"/>
          <p:cNvCxnSpPr>
            <a:stCxn id="5" idx="3"/>
            <a:endCxn id="4" idx="3"/>
          </p:cNvCxnSpPr>
          <p:nvPr/>
        </p:nvCxnSpPr>
        <p:spPr bwMode="auto">
          <a:xfrm flipV="1">
            <a:off x="3066551" y="3812861"/>
            <a:ext cx="12700" cy="1194536"/>
          </a:xfrm>
          <a:prstGeom prst="bentConnector3">
            <a:avLst>
              <a:gd name="adj1" fmla="val 180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矩形 31"/>
          <p:cNvSpPr/>
          <p:nvPr/>
        </p:nvSpPr>
        <p:spPr>
          <a:xfrm>
            <a:off x="3297423" y="4246705"/>
            <a:ext cx="932872" cy="36933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False</a:t>
            </a:r>
            <a:endParaRPr lang="zh-CN" altLang="en-US" kern="0" dirty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cxnSp>
        <p:nvCxnSpPr>
          <p:cNvPr id="34" name="直接连接符 33"/>
          <p:cNvCxnSpPr>
            <a:stCxn id="6" idx="3"/>
          </p:cNvCxnSpPr>
          <p:nvPr/>
        </p:nvCxnSpPr>
        <p:spPr bwMode="auto">
          <a:xfrm flipV="1">
            <a:off x="3066551" y="5007396"/>
            <a:ext cx="230872" cy="130787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直接箭头连接符 39"/>
          <p:cNvCxnSpPr>
            <a:endCxn id="44" idx="0"/>
          </p:cNvCxnSpPr>
          <p:nvPr/>
        </p:nvCxnSpPr>
        <p:spPr bwMode="auto">
          <a:xfrm>
            <a:off x="3066551" y="4062710"/>
            <a:ext cx="3297304" cy="467340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矩形 40"/>
          <p:cNvSpPr/>
          <p:nvPr/>
        </p:nvSpPr>
        <p:spPr>
          <a:xfrm>
            <a:off x="3685346" y="3697339"/>
            <a:ext cx="2327526" cy="36933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kern="0" dirty="0">
                <a:solidFill>
                  <a:srgbClr val="800000"/>
                </a:solidFill>
                <a:latin typeface="Courier New"/>
                <a:ea typeface="宋体"/>
                <a:cs typeface="Times New Roman"/>
              </a:rPr>
              <a:t>所有元素处理完毕</a:t>
            </a:r>
          </a:p>
        </p:txBody>
      </p:sp>
      <p:sp>
        <p:nvSpPr>
          <p:cNvPr id="44" name="圆角矩形 43"/>
          <p:cNvSpPr/>
          <p:nvPr/>
        </p:nvSpPr>
        <p:spPr>
          <a:xfrm>
            <a:off x="5176982" y="4530050"/>
            <a:ext cx="2373746" cy="715089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zh-CN" altLang="en-US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所有的</a:t>
            </a:r>
            <a:r>
              <a:rPr lang="en-US" altLang="zh-CN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expression</a:t>
            </a:r>
            <a:r>
              <a:rPr lang="zh-CN" altLang="en-US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结果</a:t>
            </a:r>
            <a:r>
              <a:rPr lang="zh-CN" altLang="en-US" b="1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组成</a:t>
            </a:r>
            <a:r>
              <a:rPr lang="zh-CN" altLang="en-US" kern="0" dirty="0">
                <a:solidFill>
                  <a:schemeClr val="bg1"/>
                </a:solidFill>
                <a:latin typeface="Courier New"/>
                <a:ea typeface="宋体"/>
                <a:cs typeface="Times New Roman"/>
              </a:rPr>
              <a:t>一个新列表</a:t>
            </a:r>
          </a:p>
        </p:txBody>
      </p:sp>
    </p:spTree>
    <p:extLst>
      <p:ext uri="{BB962C8B-B14F-4D97-AF65-F5344CB8AC3E}">
        <p14:creationId xmlns:p14="http://schemas.microsoft.com/office/powerpoint/2010/main" val="375774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26" grpId="0" animBg="1"/>
      <p:bldP spid="32" grpId="0" animBg="1"/>
      <p:bldP spid="41" grpId="0" animBg="1"/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3298" y="1054018"/>
            <a:ext cx="8678174" cy="1870337"/>
          </a:xfrm>
        </p:spPr>
        <p:txBody>
          <a:bodyPr>
            <a:norm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2400"/>
              <a:t>使用</a:t>
            </a:r>
            <a:r>
              <a:rPr lang="zh-CN" altLang="en-US" sz="2400">
                <a:solidFill>
                  <a:srgbClr val="FF0000"/>
                </a:solidFill>
              </a:rPr>
              <a:t>if子句</a:t>
            </a:r>
            <a:r>
              <a:rPr lang="zh-CN" altLang="en-US" sz="2400"/>
              <a:t>，筛选符合条件的元素</a:t>
            </a:r>
            <a:endParaRPr lang="zh-CN" altLang="en-US"/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/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/>
              <a:t>下面的代码用于从列表中选择符合条件的元素组成新的列表：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列表解析</a:t>
            </a:r>
          </a:p>
        </p:txBody>
      </p:sp>
      <p:sp>
        <p:nvSpPr>
          <p:cNvPr id="4" name="矩形 3"/>
          <p:cNvSpPr/>
          <p:nvPr/>
        </p:nvSpPr>
        <p:spPr>
          <a:xfrm>
            <a:off x="422694" y="3017577"/>
            <a:ext cx="7634378" cy="280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Consolas" panose="020B0609020204030204" pitchFamily="49" charset="0"/>
              </a:rPr>
              <a:t>&gt;&gt;&gt; aList = [x*x for x in range(10)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if x%2==0 </a:t>
            </a:r>
            <a:r>
              <a:rPr lang="zh-CN" altLang="en-US" dirty="0"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160000"/>
              </a:lnSpc>
            </a:pPr>
            <a:r>
              <a:rPr lang="fi-FI" altLang="zh-CN" dirty="0">
                <a:latin typeface="Consolas" panose="020B0609020204030204" pitchFamily="49" charset="0"/>
              </a:rPr>
              <a:t>&gt;&gt;&gt; aList</a:t>
            </a:r>
          </a:p>
          <a:p>
            <a:pPr>
              <a:lnSpc>
                <a:spcPct val="160000"/>
              </a:lnSpc>
            </a:pPr>
            <a:r>
              <a:rPr lang="fi-FI" altLang="zh-CN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[0, 4, 16, 36, 64]</a:t>
            </a:r>
          </a:p>
          <a:p>
            <a:pPr>
              <a:lnSpc>
                <a:spcPct val="160000"/>
              </a:lnSpc>
            </a:pPr>
            <a:r>
              <a:rPr lang="zh-CN" altLang="en-US" dirty="0">
                <a:latin typeface="Consolas" panose="020B0609020204030204" pitchFamily="49" charset="0"/>
              </a:rPr>
              <a:t>等价于</a:t>
            </a:r>
            <a:endParaRPr lang="en-US" altLang="zh-CN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&gt;&gt;&gt; aList = []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&gt;&gt;&gt; for x in range(10):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        </a:t>
            </a:r>
            <a:r>
              <a:rPr lang="en-US" altLang="zh-CN" dirty="0">
                <a:latin typeface="Consolas" panose="020B0609020204030204" pitchFamily="49" charset="0"/>
              </a:rPr>
              <a:t>if x%2==0:</a:t>
            </a:r>
          </a:p>
          <a:p>
            <a:r>
              <a:rPr lang="en-US" altLang="zh-CN" dirty="0">
                <a:latin typeface="Consolas" panose="020B0609020204030204" pitchFamily="49" charset="0"/>
              </a:rPr>
              <a:t>             </a:t>
            </a:r>
            <a:r>
              <a:rPr lang="zh-CN" altLang="en-US" dirty="0">
                <a:latin typeface="Consolas" panose="020B0609020204030204" pitchFamily="49" charset="0"/>
              </a:rPr>
              <a:t>aList.append(x*x)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349225" y="3512342"/>
            <a:ext cx="3034213" cy="40862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r>
              <a:rPr lang="zh-CN" altLang="en-US" kern="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/>
              </a:rPr>
              <a:t>只计算偶数的平方和</a:t>
            </a:r>
          </a:p>
        </p:txBody>
      </p:sp>
    </p:spTree>
    <p:extLst>
      <p:ext uri="{BB962C8B-B14F-4D97-AF65-F5344CB8AC3E}">
        <p14:creationId xmlns:p14="http://schemas.microsoft.com/office/powerpoint/2010/main" val="196189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4294967295"/>
          </p:nvPr>
        </p:nvSpPr>
        <p:spPr>
          <a:xfrm>
            <a:off x="261487" y="1045511"/>
            <a:ext cx="8458200" cy="455613"/>
          </a:xfrm>
        </p:spPr>
        <p:txBody>
          <a:bodyPr/>
          <a:lstStyle/>
          <a:p>
            <a:r>
              <a:rPr lang="zh-CN" altLang="en-US" sz="2100" dirty="0"/>
              <a:t>例题：输入若干个正整数，整数之间用空格间隔，输出其中</a:t>
            </a:r>
            <a:r>
              <a:rPr lang="zh-CN" altLang="en-US" sz="2100"/>
              <a:t>的偶数</a:t>
            </a:r>
            <a:endParaRPr lang="zh-CN" altLang="en-US" sz="2100" dirty="0"/>
          </a:p>
        </p:txBody>
      </p:sp>
      <p:sp>
        <p:nvSpPr>
          <p:cNvPr id="4" name="矩形 3"/>
          <p:cNvSpPr/>
          <p:nvPr/>
        </p:nvSpPr>
        <p:spPr>
          <a:xfrm>
            <a:off x="611204" y="2938728"/>
            <a:ext cx="3999298" cy="2554545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b="1" dirty="0" err="1">
                <a:latin typeface="Consolas" panose="020B0609020204030204" pitchFamily="49" charset="0"/>
              </a:rPr>
              <a:t>numList</a:t>
            </a:r>
            <a:r>
              <a:rPr lang="en-US" altLang="zh-CN" sz="2000" b="1" dirty="0">
                <a:latin typeface="Consolas" panose="020B0609020204030204" pitchFamily="49" charset="0"/>
              </a:rPr>
              <a:t> </a:t>
            </a:r>
            <a:r>
              <a:rPr lang="en-US" altLang="zh-CN" sz="2000" b="1">
                <a:latin typeface="Consolas" panose="020B0609020204030204" pitchFamily="49" charset="0"/>
              </a:rPr>
              <a:t>= input</a:t>
            </a:r>
            <a:r>
              <a:rPr lang="en-US" altLang="zh-CN" sz="2000" b="1" dirty="0">
                <a:latin typeface="Consolas" panose="020B0609020204030204" pitchFamily="49" charset="0"/>
              </a:rPr>
              <a:t>().</a:t>
            </a:r>
            <a:r>
              <a:rPr lang="en-US" altLang="zh-CN" sz="2000" b="1">
                <a:latin typeface="Consolas" panose="020B0609020204030204" pitchFamily="49" charset="0"/>
              </a:rPr>
              <a:t>split()</a:t>
            </a:r>
          </a:p>
          <a:p>
            <a:pPr>
              <a:lnSpc>
                <a:spcPct val="200000"/>
              </a:lnSpc>
            </a:pPr>
            <a:r>
              <a:rPr lang="en-US" altLang="zh-CN" sz="2000" b="1">
                <a:latin typeface="Consolas" panose="020B0609020204030204" pitchFamily="49" charset="0"/>
              </a:rPr>
              <a:t>for </a:t>
            </a:r>
            <a:r>
              <a:rPr lang="en-US" altLang="zh-CN" sz="2000" b="1" dirty="0" err="1"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latin typeface="Consolas" panose="020B0609020204030204" pitchFamily="49" charset="0"/>
              </a:rPr>
              <a:t> in </a:t>
            </a:r>
            <a:r>
              <a:rPr lang="en-US" altLang="zh-CN" sz="2000" b="1" dirty="0" err="1">
                <a:latin typeface="Consolas" panose="020B0609020204030204" pitchFamily="49" charset="0"/>
              </a:rPr>
              <a:t>numList</a:t>
            </a:r>
            <a:r>
              <a:rPr lang="en-US" altLang="zh-CN" sz="2000" b="1" dirty="0">
                <a:latin typeface="Consolas" panose="020B0609020204030204" pitchFamily="49" charset="0"/>
              </a:rPr>
              <a:t> :</a:t>
            </a: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rgbClr val="008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2000" b="1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2000" b="1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Consolas" panose="020B0609020204030204" pitchFamily="49" charset="0"/>
              </a:rPr>
              <a:t>int(i)%2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==0:</a:t>
            </a: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rgbClr val="666666"/>
                </a:solidFill>
                <a:latin typeface="Consolas" panose="020B0609020204030204" pitchFamily="49" charset="0"/>
              </a:rPr>
              <a:t>		</a:t>
            </a:r>
            <a:r>
              <a:rPr lang="en-US" altLang="zh-CN" sz="2000" b="1" dirty="0">
                <a:latin typeface="Consolas" panose="020B0609020204030204" pitchFamily="49" charset="0"/>
              </a:rPr>
              <a:t>print(</a:t>
            </a:r>
            <a:r>
              <a:rPr lang="en-US" altLang="zh-CN" sz="2000" b="1" dirty="0" err="1">
                <a:latin typeface="Consolas" panose="020B0609020204030204" pitchFamily="49" charset="0"/>
              </a:rPr>
              <a:t>i</a:t>
            </a:r>
            <a:r>
              <a:rPr lang="en-US" altLang="zh-CN" sz="2000" b="1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矩形 7"/>
          <p:cNvSpPr/>
          <p:nvPr/>
        </p:nvSpPr>
        <p:spPr>
          <a:xfrm>
            <a:off x="5058075" y="3090662"/>
            <a:ext cx="365721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</a:rPr>
              <a:t>['1','2','3','4','5','6','7','78']</a:t>
            </a:r>
            <a:endParaRPr lang="en-US" altLang="zh-CN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b="1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</a:rPr>
              <a:t>[</a:t>
            </a:r>
            <a:r>
              <a:rPr lang="en-US" altLang="zh-CN" b="1" dirty="0">
                <a:solidFill>
                  <a:srgbClr val="C00000"/>
                </a:solidFill>
              </a:rPr>
              <a:t>2, 4, 6, 78]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4307" y="1861791"/>
            <a:ext cx="3435682" cy="5539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/>
              <a:t>input</a:t>
            </a:r>
            <a:r>
              <a:rPr lang="zh-CN" altLang="en-US" sz="2000" b="1"/>
              <a:t>：</a:t>
            </a:r>
            <a:r>
              <a:rPr lang="en-US" altLang="zh-CN" sz="2000" b="1"/>
              <a:t>1 </a:t>
            </a:r>
            <a:r>
              <a:rPr lang="en-US" altLang="zh-CN" sz="2000" b="1" dirty="0"/>
              <a:t>2 3 4 5 6 </a:t>
            </a:r>
            <a:r>
              <a:rPr lang="en-US" altLang="zh-CN" sz="2000" b="1"/>
              <a:t>7 78</a:t>
            </a:r>
            <a:endParaRPr lang="en-US" altLang="zh-CN" sz="2000" b="1" dirty="0"/>
          </a:p>
        </p:txBody>
      </p:sp>
      <p:sp>
        <p:nvSpPr>
          <p:cNvPr id="11" name="矩形 10"/>
          <p:cNvSpPr/>
          <p:nvPr/>
        </p:nvSpPr>
        <p:spPr>
          <a:xfrm>
            <a:off x="2920927" y="20837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例题</a:t>
            </a:r>
          </a:p>
        </p:txBody>
      </p:sp>
      <p:sp>
        <p:nvSpPr>
          <p:cNvPr id="12" name="线形标注 1 11"/>
          <p:cNvSpPr/>
          <p:nvPr/>
        </p:nvSpPr>
        <p:spPr>
          <a:xfrm>
            <a:off x="5392359" y="5493273"/>
            <a:ext cx="2380041" cy="753523"/>
          </a:xfrm>
          <a:prstGeom prst="borderCallout1">
            <a:avLst>
              <a:gd name="adj1" fmla="val 18750"/>
              <a:gd name="adj2" fmla="val -8333"/>
              <a:gd name="adj3" fmla="val -191515"/>
              <a:gd name="adj4" fmla="val -89872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/>
              <a:t>用列表解析式改写</a:t>
            </a:r>
          </a:p>
        </p:txBody>
      </p:sp>
    </p:spTree>
    <p:extLst>
      <p:ext uri="{BB962C8B-B14F-4D97-AF65-F5344CB8AC3E}">
        <p14:creationId xmlns:p14="http://schemas.microsoft.com/office/powerpoint/2010/main" val="102718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532631"/>
          </a:xfrm>
        </p:spPr>
        <p:txBody>
          <a:bodyPr/>
          <a:lstStyle/>
          <a:p>
            <a:r>
              <a:rPr lang="zh-CN" altLang="en-US" dirty="0"/>
              <a:t>例题：输入若干个正整数，整数之间用空格间隔，输出其中的偶数</a:t>
            </a: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71813" y="2440956"/>
            <a:ext cx="5418848" cy="136357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b="1" dirty="0" err="1">
                <a:latin typeface="Consolas" panose="020B0609020204030204" pitchFamily="49" charset="0"/>
              </a:rPr>
              <a:t>numList</a:t>
            </a:r>
            <a:r>
              <a:rPr lang="en-US" altLang="zh-CN" b="1" dirty="0">
                <a:latin typeface="Consolas" panose="020B0609020204030204" pitchFamily="49" charset="0"/>
              </a:rPr>
              <a:t>=[</a:t>
            </a:r>
            <a:r>
              <a:rPr lang="en-US" altLang="zh-CN" b="1" dirty="0" err="1"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latin typeface="Consolas" panose="020B0609020204030204" pitchFamily="49" charset="0"/>
              </a:rPr>
              <a:t>) for </a:t>
            </a:r>
            <a:r>
              <a:rPr lang="en-US" altLang="zh-CN" b="1" dirty="0" err="1"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latin typeface="Consolas" panose="020B0609020204030204" pitchFamily="49" charset="0"/>
              </a:rPr>
              <a:t> in input().split()]</a:t>
            </a:r>
          </a:p>
          <a:p>
            <a:pPr>
              <a:lnSpc>
                <a:spcPct val="250000"/>
              </a:lnSpc>
            </a:pPr>
            <a:r>
              <a:rPr lang="en-US" altLang="zh-CN" b="1" dirty="0">
                <a:latin typeface="Consolas" panose="020B0609020204030204" pitchFamily="49" charset="0"/>
              </a:rPr>
              <a:t>print([</a:t>
            </a:r>
            <a:r>
              <a:rPr lang="en-US" altLang="zh-CN" b="1" dirty="0" err="1"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latin typeface="Consolas" panose="020B0609020204030204" pitchFamily="49" charset="0"/>
              </a:rPr>
              <a:t> for </a:t>
            </a:r>
            <a:r>
              <a:rPr lang="en-US" altLang="zh-CN" b="1" dirty="0" err="1"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latin typeface="Consolas" panose="020B0609020204030204" pitchFamily="49" charset="0"/>
              </a:rPr>
              <a:t> in </a:t>
            </a:r>
            <a:r>
              <a:rPr lang="en-US" altLang="zh-CN" b="1" dirty="0" err="1">
                <a:latin typeface="Consolas" panose="020B0609020204030204" pitchFamily="49" charset="0"/>
              </a:rPr>
              <a:t>numList</a:t>
            </a:r>
            <a:r>
              <a:rPr lang="en-US" altLang="zh-CN" b="1" dirty="0"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if i%2==0</a:t>
            </a:r>
            <a:r>
              <a:rPr lang="en-US" altLang="zh-CN" b="1" dirty="0"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7" name="矩形 6"/>
          <p:cNvSpPr/>
          <p:nvPr/>
        </p:nvSpPr>
        <p:spPr>
          <a:xfrm>
            <a:off x="553425" y="4926619"/>
            <a:ext cx="6583505" cy="112120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 err="1">
                <a:latin typeface="Consolas" panose="020B0609020204030204" pitchFamily="49" charset="0"/>
              </a:rPr>
              <a:t>numList</a:t>
            </a:r>
            <a:r>
              <a:rPr lang="en-US" altLang="zh-CN" dirty="0">
                <a:latin typeface="Consolas" panose="020B0609020204030204" pitchFamily="49" charset="0"/>
              </a:rPr>
              <a:t>=[</a:t>
            </a:r>
            <a:r>
              <a:rPr lang="en-US" altLang="zh-CN" dirty="0" err="1">
                <a:latin typeface="Consolas" panose="020B0609020204030204" pitchFamily="49" charset="0"/>
              </a:rPr>
              <a:t>i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latin typeface="Consolas" panose="020B0609020204030204" pitchFamily="49" charset="0"/>
              </a:rPr>
              <a:t>for </a:t>
            </a:r>
            <a:r>
              <a:rPr lang="en-US" altLang="zh-CN" b="1" dirty="0" err="1"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latin typeface="Consolas" panose="020B0609020204030204" pitchFamily="49" charset="0"/>
              </a:rPr>
              <a:t> in input().split() 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Consolas" panose="020B0609020204030204" pitchFamily="49" charset="0"/>
              </a:rPr>
              <a:t>)%2==0</a:t>
            </a:r>
            <a:r>
              <a:rPr lang="en-US" altLang="zh-CN" b="1" dirty="0">
                <a:latin typeface="Consolas" panose="020B0609020204030204" pitchFamily="49" charset="0"/>
              </a:rPr>
              <a:t>]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rgbClr val="00800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CN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numList</a:t>
            </a:r>
            <a:r>
              <a:rPr lang="en-US" altLang="zh-CN" b="1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矩形 7"/>
          <p:cNvSpPr/>
          <p:nvPr/>
        </p:nvSpPr>
        <p:spPr>
          <a:xfrm>
            <a:off x="2920927" y="20837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例题</a:t>
            </a:r>
          </a:p>
        </p:txBody>
      </p:sp>
      <p:sp>
        <p:nvSpPr>
          <p:cNvPr id="3" name="矩形 2"/>
          <p:cNvSpPr/>
          <p:nvPr/>
        </p:nvSpPr>
        <p:spPr>
          <a:xfrm>
            <a:off x="524147" y="2019632"/>
            <a:ext cx="14157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400" b="1" cap="none" spc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方法一：</a:t>
            </a:r>
          </a:p>
        </p:txBody>
      </p:sp>
      <p:sp>
        <p:nvSpPr>
          <p:cNvPr id="5" name="矩形 4"/>
          <p:cNvSpPr/>
          <p:nvPr/>
        </p:nvSpPr>
        <p:spPr>
          <a:xfrm>
            <a:off x="481867" y="434003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方法二：</a:t>
            </a: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5847347" y="2945331"/>
            <a:ext cx="813510" cy="96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6660857" y="2619610"/>
            <a:ext cx="1948941" cy="1123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>
                <a:solidFill>
                  <a:schemeClr val="tx2">
                    <a:lumMod val="60000"/>
                    <a:lumOff val="40000"/>
                  </a:schemeClr>
                </a:solidFill>
              </a:rPr>
              <a:t>[1,2,3,4,5,6,7,78]</a:t>
            </a:r>
            <a:endParaRPr lang="en-US" altLang="zh-C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[2, 4, 6, 78]</a:t>
            </a:r>
            <a:endParaRPr lang="zh-CN" altLang="en-US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72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3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1867866"/>
          </a:xfrm>
        </p:spPr>
        <p:txBody>
          <a:bodyPr/>
          <a:lstStyle/>
          <a:p>
            <a:r>
              <a:rPr lang="zh-CN" altLang="en-US" dirty="0"/>
              <a:t>例题：判断一个正整数是不是质数</a:t>
            </a:r>
            <a:endParaRPr lang="en-US" altLang="zh-CN" dirty="0"/>
          </a:p>
          <a:p>
            <a:r>
              <a:rPr lang="zh-CN" altLang="en-US" dirty="0"/>
              <a:t>分析：</a:t>
            </a:r>
            <a:endParaRPr lang="en-US" altLang="zh-CN" dirty="0"/>
          </a:p>
          <a:p>
            <a:pPr lvl="1"/>
            <a:r>
              <a:rPr lang="zh-CN" altLang="en-US" dirty="0"/>
              <a:t>读取输入，并用</a:t>
            </a:r>
            <a:r>
              <a:rPr lang="en-US" altLang="zh-CN" dirty="0" err="1"/>
              <a:t>int</a:t>
            </a:r>
            <a:r>
              <a:rPr lang="zh-CN" altLang="en-US" dirty="0"/>
              <a:t>转成整数</a:t>
            </a:r>
            <a:r>
              <a:rPr lang="en-US" altLang="zh-CN" dirty="0"/>
              <a:t>n</a:t>
            </a:r>
          </a:p>
          <a:p>
            <a:pPr lvl="1"/>
            <a:r>
              <a:rPr lang="zh-CN" altLang="en-US" dirty="0"/>
              <a:t>根据质数的定义，用从</a:t>
            </a:r>
            <a:r>
              <a:rPr lang="en-US" altLang="zh-CN" dirty="0"/>
              <a:t>2</a:t>
            </a:r>
            <a:r>
              <a:rPr lang="zh-CN" altLang="en-US" dirty="0"/>
              <a:t>到</a:t>
            </a:r>
            <a:r>
              <a:rPr lang="en-US" altLang="zh-CN" dirty="0"/>
              <a:t>n-1</a:t>
            </a:r>
            <a:r>
              <a:rPr lang="zh-CN" altLang="en-US" dirty="0"/>
              <a:t>的每个数除</a:t>
            </a:r>
            <a:r>
              <a:rPr lang="en-US" altLang="zh-CN" dirty="0"/>
              <a:t>n</a:t>
            </a:r>
            <a:r>
              <a:rPr lang="zh-CN" altLang="en-US" dirty="0"/>
              <a:t>，并将能整除的数作为因子留下</a:t>
            </a:r>
            <a:endParaRPr lang="en-US" altLang="zh-CN" dirty="0"/>
          </a:p>
          <a:p>
            <a:pPr lvl="1"/>
            <a:r>
              <a:rPr lang="zh-CN" altLang="en-US" dirty="0"/>
              <a:t>看看所有因子的数量是不是为零，为零就说明</a:t>
            </a:r>
            <a:r>
              <a:rPr lang="en-US" altLang="zh-CN" dirty="0"/>
              <a:t>n</a:t>
            </a:r>
            <a:r>
              <a:rPr lang="zh-CN" altLang="en-US" dirty="0"/>
              <a:t>是质数。</a:t>
            </a: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3568" y="3311956"/>
            <a:ext cx="708421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Consolas" panose="020B0609020204030204" pitchFamily="49" charset="0"/>
              </a:rPr>
              <a:t>n </a:t>
            </a:r>
            <a:r>
              <a:rPr lang="en-US" altLang="zh-CN" b="1" dirty="0">
                <a:solidFill>
                  <a:srgbClr val="666666"/>
                </a:solidFill>
                <a:latin typeface="Consolas" panose="020B0609020204030204" pitchFamily="49" charset="0"/>
              </a:rPr>
              <a:t>= </a:t>
            </a:r>
            <a:r>
              <a:rPr lang="en-US" altLang="zh-CN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8000"/>
                </a:solidFill>
                <a:latin typeface="Consolas" panose="020B0609020204030204" pitchFamily="49" charset="0"/>
              </a:rPr>
              <a:t>(input(</a:t>
            </a:r>
            <a:r>
              <a:rPr lang="en-US" altLang="zh-CN" b="1" dirty="0">
                <a:solidFill>
                  <a:srgbClr val="BA2121"/>
                </a:solidFill>
                <a:latin typeface="Consolas" panose="020B0609020204030204" pitchFamily="49" charset="0"/>
              </a:rPr>
              <a:t>"</a:t>
            </a:r>
            <a:r>
              <a:rPr lang="zh-CN" altLang="en-US" b="1" dirty="0">
                <a:solidFill>
                  <a:srgbClr val="BA2121"/>
                </a:solidFill>
                <a:latin typeface="Consolas" panose="020B0609020204030204" pitchFamily="49" charset="0"/>
              </a:rPr>
              <a:t>请输入一个正整数：</a:t>
            </a:r>
            <a:r>
              <a:rPr lang="en-US" altLang="zh-CN" b="1" dirty="0">
                <a:solidFill>
                  <a:srgbClr val="BA2121"/>
                </a:solidFill>
                <a:latin typeface="Consolas" panose="020B0609020204030204" pitchFamily="49" charset="0"/>
              </a:rPr>
              <a:t>"))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Consolas" panose="020B0609020204030204" pitchFamily="49" charset="0"/>
              </a:rPr>
              <a:t>s </a:t>
            </a:r>
            <a:r>
              <a:rPr lang="en-US" altLang="zh-CN" b="1" dirty="0">
                <a:solidFill>
                  <a:srgbClr val="666666"/>
                </a:solidFill>
                <a:latin typeface="Consolas" panose="020B0609020204030204" pitchFamily="49" charset="0"/>
              </a:rPr>
              <a:t>= [</a:t>
            </a:r>
            <a:r>
              <a:rPr lang="en-US" altLang="zh-CN" b="1" dirty="0" err="1">
                <a:solidFill>
                  <a:srgbClr val="666666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666666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8000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AA22FF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b="1" dirty="0">
                <a:solidFill>
                  <a:srgbClr val="008000"/>
                </a:solidFill>
                <a:latin typeface="Consolas" panose="020B0609020204030204" pitchFamily="49" charset="0"/>
              </a:rPr>
              <a:t>range(</a:t>
            </a:r>
            <a:r>
              <a:rPr lang="en-US" altLang="zh-CN" b="1" dirty="0">
                <a:solidFill>
                  <a:srgbClr val="666666"/>
                </a:solidFill>
                <a:latin typeface="Consolas" panose="020B0609020204030204" pitchFamily="49" charset="0"/>
              </a:rPr>
              <a:t>2, n) </a:t>
            </a:r>
            <a:r>
              <a:rPr lang="en-US" altLang="zh-CN" b="1" dirty="0">
                <a:solidFill>
                  <a:srgbClr val="008000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n</a:t>
            </a:r>
            <a:r>
              <a:rPr lang="en-US" altLang="zh-CN" b="1" dirty="0" err="1">
                <a:solidFill>
                  <a:srgbClr val="666666"/>
                </a:solidFill>
                <a:latin typeface="Consolas" panose="020B0609020204030204" pitchFamily="49" charset="0"/>
              </a:rPr>
              <a:t>%i</a:t>
            </a:r>
            <a:r>
              <a:rPr lang="en-US" altLang="zh-CN" b="1" dirty="0">
                <a:solidFill>
                  <a:srgbClr val="666666"/>
                </a:solidFill>
                <a:latin typeface="Consolas" panose="020B0609020204030204" pitchFamily="49" charset="0"/>
              </a:rPr>
              <a:t>==0]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8000"/>
                </a:solidFill>
                <a:latin typeface="Consolas" panose="020B0609020204030204" pitchFamily="49" charset="0"/>
              </a:rPr>
              <a:t>print(</a:t>
            </a:r>
            <a:r>
              <a:rPr lang="en-US" altLang="zh-CN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len</a:t>
            </a:r>
            <a:r>
              <a:rPr lang="en-US" altLang="zh-CN" b="1" dirty="0">
                <a:solidFill>
                  <a:srgbClr val="008000"/>
                </a:solidFill>
                <a:latin typeface="Consolas" panose="020B0609020204030204" pitchFamily="49" charset="0"/>
              </a:rPr>
              <a:t>(s)</a:t>
            </a:r>
            <a:r>
              <a:rPr lang="en-US" altLang="zh-CN" b="1" dirty="0">
                <a:solidFill>
                  <a:srgbClr val="666666"/>
                </a:solidFill>
                <a:latin typeface="Consolas" panose="020B0609020204030204" pitchFamily="49" charset="0"/>
              </a:rPr>
              <a:t>==0)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3656525" y="4112967"/>
            <a:ext cx="2547852" cy="937465"/>
            <a:chOff x="3656525" y="2715492"/>
            <a:chExt cx="2547852" cy="937465"/>
          </a:xfrm>
        </p:grpSpPr>
        <p:sp>
          <p:nvSpPr>
            <p:cNvPr id="7" name="圆角矩形 6"/>
            <p:cNvSpPr/>
            <p:nvPr/>
          </p:nvSpPr>
          <p:spPr>
            <a:xfrm>
              <a:off x="3656525" y="3244334"/>
              <a:ext cx="2547852" cy="40862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B0F0"/>
                  </a:solidFill>
                  <a:latin typeface="Consolas" panose="020B0609020204030204" pitchFamily="49" charset="0"/>
                </a:rPr>
                <a:t>优化：</a:t>
              </a:r>
              <a:r>
                <a:rPr lang="en-US" altLang="zh-CN" b="1" dirty="0" err="1">
                  <a:solidFill>
                    <a:srgbClr val="00B0F0"/>
                  </a:solidFill>
                  <a:latin typeface="Consolas" panose="020B0609020204030204" pitchFamily="49" charset="0"/>
                </a:rPr>
                <a:t>int</a:t>
              </a:r>
              <a:r>
                <a:rPr lang="en-US" altLang="zh-CN" b="1" dirty="0">
                  <a:solidFill>
                    <a:srgbClr val="00B0F0"/>
                  </a:solidFill>
                  <a:latin typeface="Consolas" panose="020B0609020204030204" pitchFamily="49" charset="0"/>
                </a:rPr>
                <a:t>(n**0.5+1)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 bwMode="auto">
            <a:xfrm flipH="1" flipV="1">
              <a:off x="4064001" y="2715492"/>
              <a:ext cx="866450" cy="52884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8" name="矩形 7"/>
          <p:cNvSpPr/>
          <p:nvPr/>
        </p:nvSpPr>
        <p:spPr>
          <a:xfrm>
            <a:off x="2920927" y="20837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例题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451" y="5451795"/>
            <a:ext cx="4165600" cy="1181100"/>
          </a:xfrm>
          <a:prstGeom prst="rect">
            <a:avLst/>
          </a:prstGeom>
          <a:noFill/>
          <a:ln>
            <a:noFill/>
          </a:ln>
          <a:effectLst>
            <a:softEdge rad="190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922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1733" y="1002257"/>
            <a:ext cx="8604848" cy="5674587"/>
          </a:xfrm>
        </p:spPr>
        <p:txBody>
          <a:bodyPr>
            <a:norm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同时遍历多个列表或可迭代对象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333333"/>
                </a:solidFill>
                <a:latin typeface="Consolas" panose="020B0609020204030204" pitchFamily="49" charset="0"/>
              </a:rPr>
              <a:t>&gt;&gt;&gt; [(x, y) </a:t>
            </a:r>
            <a:r>
              <a:rPr lang="en-US" altLang="zh-CN" sz="1800" dirty="0">
                <a:solidFill>
                  <a:srgbClr val="008800"/>
                </a:solidFill>
                <a:latin typeface="Consolas" panose="020B0609020204030204" pitchFamily="49" charset="0"/>
              </a:rPr>
              <a:t>for x 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in [</a:t>
            </a:r>
            <a:r>
              <a:rPr lang="en-US" altLang="zh-CN" sz="1800" dirty="0">
                <a:solidFill>
                  <a:srgbClr val="0000DD"/>
                </a:solidFill>
                <a:latin typeface="Consolas" panose="020B0609020204030204" pitchFamily="49" charset="0"/>
              </a:rPr>
              <a:t>1, 2, 3] </a:t>
            </a:r>
            <a:r>
              <a:rPr lang="en-US" altLang="zh-CN" sz="1800" dirty="0">
                <a:solidFill>
                  <a:srgbClr val="008800"/>
                </a:solidFill>
                <a:latin typeface="Consolas" panose="020B0609020204030204" pitchFamily="49" charset="0"/>
              </a:rPr>
              <a:t>for y 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in [</a:t>
            </a:r>
            <a:r>
              <a:rPr lang="en-US" altLang="zh-CN" sz="1800" dirty="0">
                <a:solidFill>
                  <a:srgbClr val="0000DD"/>
                </a:solidFill>
                <a:latin typeface="Consolas" panose="020B0609020204030204" pitchFamily="49" charset="0"/>
              </a:rPr>
              <a:t>3, 1, 4] </a:t>
            </a:r>
            <a:r>
              <a:rPr lang="en-US" altLang="zh-CN" sz="1800" dirty="0">
                <a:solidFill>
                  <a:srgbClr val="008800"/>
                </a:solidFill>
                <a:latin typeface="Consolas" panose="020B0609020204030204" pitchFamily="49" charset="0"/>
              </a:rPr>
              <a:t>if x </a:t>
            </a:r>
            <a:r>
              <a:rPr lang="en-US" altLang="zh-CN" sz="1800" dirty="0">
                <a:solidFill>
                  <a:srgbClr val="333333"/>
                </a:solidFill>
                <a:latin typeface="Consolas" panose="020B0609020204030204" pitchFamily="49" charset="0"/>
              </a:rPr>
              <a:t>!= y]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B0F0"/>
                </a:solidFill>
                <a:latin typeface="Consolas" panose="020B0609020204030204" charset="0"/>
              </a:rPr>
              <a:t>[(1, 3), (1, 4), (2, 3), (2, 1), (2, 4), (3, 1), (3, 4)]</a:t>
            </a:r>
          </a:p>
          <a:p>
            <a:pPr marL="0" indent="0" fontAlgn="auto">
              <a:spcBef>
                <a:spcPts val="0"/>
              </a:spcBef>
              <a:buNone/>
            </a:pPr>
            <a:endParaRPr lang="en-US" altLang="zh-CN" sz="1800" dirty="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spcBef>
                <a:spcPts val="0"/>
              </a:spcBef>
              <a:buNone/>
            </a:pPr>
            <a:endParaRPr lang="zh-CN" altLang="en-US" sz="1800" dirty="0">
              <a:solidFill>
                <a:srgbClr val="00B0F0"/>
              </a:solidFill>
              <a:latin typeface="Consolas" panose="020B0609020204030204" charset="0"/>
            </a:endParaRPr>
          </a:p>
          <a:p>
            <a:pPr marL="0" indent="0" fontAlgn="auto">
              <a:spcBef>
                <a:spcPts val="0"/>
              </a:spcBef>
              <a:buNone/>
            </a:pPr>
            <a:r>
              <a:rPr lang="zh-CN" altLang="en-US" sz="1800" dirty="0"/>
              <a:t>对于包含多个循环的列表推导式，一定要清楚多个循环的执行顺序或“嵌套关系”。例如，上面第一个列表推导式等价于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333333"/>
                </a:solidFill>
                <a:latin typeface="Consolas" panose="020B0609020204030204" pitchFamily="49" charset="0"/>
              </a:rPr>
              <a:t>&gt;&gt;&gt; result = []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333333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CN" sz="1800" dirty="0">
                <a:solidFill>
                  <a:srgbClr val="008800"/>
                </a:solidFill>
                <a:latin typeface="Consolas" panose="020B0609020204030204" pitchFamily="49" charset="0"/>
              </a:rPr>
              <a:t>for x 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in [</a:t>
            </a:r>
            <a:r>
              <a:rPr lang="en-US" altLang="zh-CN" sz="1800" dirty="0">
                <a:solidFill>
                  <a:srgbClr val="0000DD"/>
                </a:solidFill>
                <a:latin typeface="Consolas" panose="020B0609020204030204" pitchFamily="49" charset="0"/>
              </a:rPr>
              <a:t>1, 2, 3]: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  </a:t>
            </a:r>
            <a:r>
              <a:rPr lang="en-US" altLang="zh-CN" sz="1800" dirty="0">
                <a:solidFill>
                  <a:srgbClr val="008800"/>
                </a:solidFill>
                <a:latin typeface="Consolas" panose="020B0609020204030204" pitchFamily="49" charset="0"/>
              </a:rPr>
              <a:t>for y </a:t>
            </a:r>
            <a:r>
              <a:rPr lang="en-US" altLang="zh-CN" sz="1800" dirty="0">
                <a:solidFill>
                  <a:srgbClr val="000000"/>
                </a:solidFill>
                <a:latin typeface="Consolas" panose="020B0609020204030204" pitchFamily="49" charset="0"/>
              </a:rPr>
              <a:t>in [</a:t>
            </a:r>
            <a:r>
              <a:rPr lang="en-US" altLang="zh-CN" sz="1800" dirty="0">
                <a:solidFill>
                  <a:srgbClr val="0000DD"/>
                </a:solidFill>
                <a:latin typeface="Consolas" panose="020B0609020204030204" pitchFamily="49" charset="0"/>
              </a:rPr>
              <a:t>3, 1, 4]: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      </a:t>
            </a:r>
            <a:r>
              <a:rPr lang="en-US" altLang="zh-CN" sz="1800" dirty="0">
                <a:solidFill>
                  <a:srgbClr val="008800"/>
                </a:solidFill>
                <a:latin typeface="Consolas" panose="020B0609020204030204" pitchFamily="49" charset="0"/>
              </a:rPr>
              <a:t>if x </a:t>
            </a:r>
            <a:r>
              <a:rPr lang="en-US" altLang="zh-CN" sz="1800" dirty="0">
                <a:solidFill>
                  <a:srgbClr val="333333"/>
                </a:solidFill>
                <a:latin typeface="Consolas" panose="020B0609020204030204" pitchFamily="49" charset="0"/>
              </a:rPr>
              <a:t>!= y: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           </a:t>
            </a:r>
            <a:r>
              <a:rPr lang="en-US" altLang="zh-CN" sz="1800" dirty="0" err="1">
                <a:latin typeface="Consolas" panose="020B0609020204030204" pitchFamily="49" charset="0"/>
              </a:rPr>
              <a:t>result</a:t>
            </a:r>
            <a:r>
              <a:rPr lang="en-US" altLang="zh-CN" sz="1800" dirty="0" err="1">
                <a:solidFill>
                  <a:srgbClr val="333333"/>
                </a:solidFill>
                <a:latin typeface="Consolas" panose="020B0609020204030204" pitchFamily="49" charset="0"/>
              </a:rPr>
              <a:t>.append</a:t>
            </a:r>
            <a:r>
              <a:rPr lang="en-US" altLang="zh-CN" sz="1800" dirty="0">
                <a:solidFill>
                  <a:srgbClr val="333333"/>
                </a:solidFill>
                <a:latin typeface="Consolas" panose="020B0609020204030204" pitchFamily="49" charset="0"/>
              </a:rPr>
              <a:t>((</a:t>
            </a:r>
            <a:r>
              <a:rPr lang="en-US" altLang="zh-CN" sz="1800" dirty="0" err="1">
                <a:solidFill>
                  <a:srgbClr val="333333"/>
                </a:solidFill>
                <a:latin typeface="Consolas" panose="020B0609020204030204" pitchFamily="49" charset="0"/>
              </a:rPr>
              <a:t>x,y</a:t>
            </a:r>
            <a:r>
              <a:rPr lang="en-US" altLang="zh-CN" sz="1800" dirty="0">
                <a:solidFill>
                  <a:srgbClr val="333333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333333"/>
                </a:solidFill>
                <a:latin typeface="Consolas" panose="020B0609020204030204" pitchFamily="49" charset="0"/>
              </a:rPr>
              <a:t>&gt;&gt;&gt; result</a:t>
            </a:r>
          </a:p>
          <a:p>
            <a:pPr marL="0" indent="0" fontAlgn="auto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B0F0"/>
                </a:solidFill>
                <a:latin typeface="Consolas" panose="020B0609020204030204" charset="0"/>
              </a:rPr>
              <a:t>[(1, 3), (1, 4), (2, 3), (2, 1), (2, 4), (3, 1), (3, 4)]</a:t>
            </a:r>
            <a:endParaRPr lang="en-US" altLang="zh-CN" sz="1800" dirty="0">
              <a:solidFill>
                <a:srgbClr val="00B0F0"/>
              </a:solidFill>
              <a:latin typeface="Consolas" panose="020B06090202040302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列表解析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501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083733"/>
            <a:ext cx="8458200" cy="2202931"/>
          </a:xfrm>
        </p:spPr>
        <p:txBody>
          <a:bodyPr/>
          <a:lstStyle/>
          <a:p>
            <a:r>
              <a:rPr lang="zh-CN" altLang="en-US" dirty="0"/>
              <a:t>例题：一个年级有</a:t>
            </a:r>
            <a:r>
              <a:rPr lang="en-US" altLang="zh-CN" dirty="0"/>
              <a:t>ABCD</a:t>
            </a:r>
            <a:r>
              <a:rPr lang="zh-CN" altLang="en-US" dirty="0"/>
              <a:t>四个班，现在要进行班级对抗赛，请打印出所有的对战组合</a:t>
            </a:r>
            <a:endParaRPr lang="en-US" altLang="zh-CN" dirty="0"/>
          </a:p>
          <a:p>
            <a:r>
              <a:rPr lang="zh-CN" altLang="en-US" dirty="0"/>
              <a:t>分析：</a:t>
            </a:r>
            <a:endParaRPr lang="en-US" altLang="zh-CN" dirty="0"/>
          </a:p>
          <a:p>
            <a:pPr lvl="1"/>
            <a:r>
              <a:rPr lang="zh-CN" altLang="en-US" dirty="0"/>
              <a:t>四个班组成一个列表</a:t>
            </a:r>
            <a:r>
              <a:rPr lang="en-US" altLang="zh-CN" dirty="0"/>
              <a:t>s=[A,B,C,D]</a:t>
            </a:r>
          </a:p>
          <a:p>
            <a:pPr lvl="1"/>
            <a:r>
              <a:rPr lang="zh-CN" altLang="en-US" dirty="0"/>
              <a:t>通过循环列出所有组合：</a:t>
            </a:r>
            <a:r>
              <a:rPr lang="en-US" altLang="zh-CN" dirty="0"/>
              <a:t>for x in s</a:t>
            </a:r>
            <a:r>
              <a:rPr lang="zh-CN" altLang="en-US" dirty="0"/>
              <a:t>：</a:t>
            </a:r>
            <a:r>
              <a:rPr lang="en-US" altLang="zh-CN" dirty="0"/>
              <a:t>for y in s: </a:t>
            </a:r>
            <a:r>
              <a:rPr lang="en-US" altLang="zh-CN" dirty="0" err="1"/>
              <a:t>x,y</a:t>
            </a:r>
            <a:endParaRPr lang="en-US" altLang="zh-CN" dirty="0"/>
          </a:p>
          <a:p>
            <a:pPr lvl="1"/>
            <a:r>
              <a:rPr lang="zh-CN" altLang="en-US" dirty="0"/>
              <a:t>为了过滤掉重复项，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须满足</a:t>
            </a:r>
            <a:r>
              <a:rPr lang="en-US" altLang="zh-CN" dirty="0"/>
              <a:t>x&lt;y                                                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列表解析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3569" y="3633111"/>
            <a:ext cx="66488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b="1" dirty="0">
                <a:solidFill>
                  <a:srgbClr val="4E9A06"/>
                </a:solidFill>
                <a:latin typeface="Consolas" panose="020B0609020204030204" pitchFamily="49" charset="0"/>
              </a:rPr>
              <a:t>"ABCD"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print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([(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x,y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x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s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for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y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in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s </a:t>
            </a:r>
            <a:r>
              <a:rPr lang="en-US" altLang="zh-CN" b="1" dirty="0">
                <a:solidFill>
                  <a:srgbClr val="204A87"/>
                </a:solidFill>
                <a:latin typeface="Consolas" panose="020B0609020204030204" pitchFamily="49" charset="0"/>
              </a:rPr>
              <a:t>if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CN" b="1" dirty="0">
                <a:solidFill>
                  <a:srgbClr val="CE5C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y])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6170064" y="1710388"/>
            <a:ext cx="2274435" cy="4524315"/>
            <a:chOff x="5853870" y="1718934"/>
            <a:chExt cx="2274435" cy="4524315"/>
          </a:xfrm>
        </p:grpSpPr>
        <p:sp>
          <p:nvSpPr>
            <p:cNvPr id="5" name="矩形 4"/>
            <p:cNvSpPr/>
            <p:nvPr/>
          </p:nvSpPr>
          <p:spPr>
            <a:xfrm>
              <a:off x="7039154" y="1718934"/>
              <a:ext cx="1089151" cy="452431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</a:rPr>
                <a:t>('A', 'A')</a:t>
              </a:r>
            </a:p>
            <a:p>
              <a:r>
                <a:rPr lang="en-US" altLang="zh-CN" dirty="0">
                  <a:solidFill>
                    <a:srgbClr val="C00000"/>
                  </a:solidFill>
                </a:rPr>
                <a:t>('A', 'B')</a:t>
              </a:r>
            </a:p>
            <a:p>
              <a:r>
                <a:rPr lang="en-US" altLang="zh-CN" dirty="0">
                  <a:solidFill>
                    <a:srgbClr val="C00000"/>
                  </a:solidFill>
                </a:rPr>
                <a:t>('A', 'C')</a:t>
              </a:r>
            </a:p>
            <a:p>
              <a:r>
                <a:rPr lang="en-US" altLang="zh-CN" dirty="0">
                  <a:solidFill>
                    <a:srgbClr val="C00000"/>
                  </a:solidFill>
                </a:rPr>
                <a:t>('A', 'D')</a:t>
              </a:r>
            </a:p>
            <a:p>
              <a:r>
                <a:rPr lang="en-US" altLang="zh-CN" dirty="0">
                  <a:solidFill>
                    <a:srgbClr val="C00000"/>
                  </a:solidFill>
                </a:rPr>
                <a:t>('B', 'A')</a:t>
              </a:r>
            </a:p>
            <a:p>
              <a:r>
                <a:rPr lang="en-US" altLang="zh-CN" dirty="0">
                  <a:solidFill>
                    <a:srgbClr val="C00000"/>
                  </a:solidFill>
                </a:rPr>
                <a:t>('B', 'B')</a:t>
              </a:r>
            </a:p>
            <a:p>
              <a:r>
                <a:rPr lang="en-US" altLang="zh-CN" dirty="0">
                  <a:solidFill>
                    <a:srgbClr val="C00000"/>
                  </a:solidFill>
                </a:rPr>
                <a:t>('B', 'C')</a:t>
              </a:r>
            </a:p>
            <a:p>
              <a:r>
                <a:rPr lang="en-US" altLang="zh-CN" dirty="0">
                  <a:solidFill>
                    <a:srgbClr val="C00000"/>
                  </a:solidFill>
                </a:rPr>
                <a:t>('B', 'D')</a:t>
              </a:r>
            </a:p>
            <a:p>
              <a:r>
                <a:rPr lang="en-US" altLang="zh-CN" dirty="0">
                  <a:solidFill>
                    <a:srgbClr val="C00000"/>
                  </a:solidFill>
                </a:rPr>
                <a:t>('C', 'A')</a:t>
              </a:r>
            </a:p>
            <a:p>
              <a:r>
                <a:rPr lang="en-US" altLang="zh-CN" dirty="0">
                  <a:solidFill>
                    <a:srgbClr val="C00000"/>
                  </a:solidFill>
                </a:rPr>
                <a:t>('C', 'B')</a:t>
              </a:r>
            </a:p>
            <a:p>
              <a:r>
                <a:rPr lang="en-US" altLang="zh-CN" dirty="0">
                  <a:solidFill>
                    <a:srgbClr val="C00000"/>
                  </a:solidFill>
                </a:rPr>
                <a:t>('C', 'C')</a:t>
              </a:r>
            </a:p>
            <a:p>
              <a:r>
                <a:rPr lang="en-US" altLang="zh-CN" dirty="0">
                  <a:solidFill>
                    <a:srgbClr val="C00000"/>
                  </a:solidFill>
                </a:rPr>
                <a:t>('C', 'D')</a:t>
              </a:r>
            </a:p>
            <a:p>
              <a:r>
                <a:rPr lang="en-US" altLang="zh-CN" dirty="0">
                  <a:solidFill>
                    <a:srgbClr val="C00000"/>
                  </a:solidFill>
                </a:rPr>
                <a:t>('D', 'A')</a:t>
              </a:r>
            </a:p>
            <a:p>
              <a:r>
                <a:rPr lang="en-US" altLang="zh-CN" dirty="0">
                  <a:solidFill>
                    <a:srgbClr val="C00000"/>
                  </a:solidFill>
                </a:rPr>
                <a:t>('D', 'B')</a:t>
              </a:r>
            </a:p>
            <a:p>
              <a:r>
                <a:rPr lang="en-US" altLang="zh-CN" dirty="0">
                  <a:solidFill>
                    <a:srgbClr val="C00000"/>
                  </a:solidFill>
                </a:rPr>
                <a:t>('D', 'C')</a:t>
              </a:r>
            </a:p>
            <a:p>
              <a:r>
                <a:rPr lang="en-US" altLang="zh-CN" dirty="0">
                  <a:solidFill>
                    <a:srgbClr val="C00000"/>
                  </a:solidFill>
                </a:rPr>
                <a:t>('D', 'D')</a:t>
              </a:r>
              <a:endParaRPr lang="zh-CN" altLang="en-US" dirty="0">
                <a:solidFill>
                  <a:srgbClr val="C00000"/>
                </a:solidFill>
              </a:endParaRPr>
            </a:p>
          </p:txBody>
        </p:sp>
        <p:cxnSp>
          <p:nvCxnSpPr>
            <p:cNvPr id="8" name="直接箭头连接符 7"/>
            <p:cNvCxnSpPr/>
            <p:nvPr/>
          </p:nvCxnSpPr>
          <p:spPr bwMode="auto">
            <a:xfrm flipV="1">
              <a:off x="5853870" y="2734654"/>
              <a:ext cx="1185284" cy="8546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6" name="矩形 5"/>
          <p:cNvSpPr/>
          <p:nvPr/>
        </p:nvSpPr>
        <p:spPr>
          <a:xfrm>
            <a:off x="304800" y="4902888"/>
            <a:ext cx="687091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[('A', 'B'), ('A', 'C'), ('A', 'D'), ('B', 'C'), ('B', 'D'), ('C', 'D')]</a:t>
            </a:r>
          </a:p>
        </p:txBody>
      </p:sp>
    </p:spTree>
    <p:extLst>
      <p:ext uri="{BB962C8B-B14F-4D97-AF65-F5344CB8AC3E}">
        <p14:creationId xmlns:p14="http://schemas.microsoft.com/office/powerpoint/2010/main" val="169358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6837" y="826485"/>
            <a:ext cx="8458200" cy="1872244"/>
          </a:xfrm>
        </p:spPr>
        <p:txBody>
          <a:bodyPr/>
          <a:lstStyle/>
          <a:p>
            <a:r>
              <a:rPr lang="zh-CN" altLang="en-US" dirty="0"/>
              <a:t>输入格式</a:t>
            </a:r>
            <a:r>
              <a:rPr lang="en-US" altLang="zh-CN" dirty="0"/>
              <a:t>:  </a:t>
            </a:r>
            <a:r>
              <a:rPr lang="zh-CN" altLang="en-US" dirty="0"/>
              <a:t>列表，有</a:t>
            </a:r>
            <a:r>
              <a:rPr lang="en-US" altLang="zh-CN" dirty="0"/>
              <a:t>10</a:t>
            </a:r>
            <a:r>
              <a:rPr lang="zh-CN" altLang="en-US" dirty="0"/>
              <a:t>个整数元素</a:t>
            </a:r>
          </a:p>
          <a:p>
            <a:r>
              <a:rPr lang="zh-CN" altLang="en-US" dirty="0"/>
              <a:t>输出格式</a:t>
            </a:r>
            <a:r>
              <a:rPr lang="en-US" altLang="zh-CN" dirty="0"/>
              <a:t>: </a:t>
            </a:r>
            <a:r>
              <a:rPr lang="zh-CN" altLang="en-US" dirty="0"/>
              <a:t>输出每个元素，用逗号分隔。</a:t>
            </a:r>
            <a:r>
              <a:rPr lang="zh-CN" altLang="en-US" dirty="0">
                <a:solidFill>
                  <a:srgbClr val="FF0000"/>
                </a:solidFill>
              </a:rPr>
              <a:t>最后一个数后面没有逗号</a:t>
            </a:r>
            <a:r>
              <a:rPr lang="zh-CN" altLang="en-US" dirty="0"/>
              <a:t>。</a:t>
            </a:r>
          </a:p>
          <a:p>
            <a:endParaRPr lang="zh-CN" altLang="en-US" dirty="0"/>
          </a:p>
          <a:p>
            <a:r>
              <a:rPr lang="zh-CN" altLang="en-US" dirty="0"/>
              <a:t>输入样例</a:t>
            </a:r>
            <a:r>
              <a:rPr lang="en-US" altLang="zh-CN" dirty="0"/>
              <a:t>: [1,2,3,4,5,6,7,8,9,10]</a:t>
            </a:r>
          </a:p>
          <a:p>
            <a:r>
              <a:rPr lang="zh-CN" altLang="en-US" dirty="0"/>
              <a:t>输出样例</a:t>
            </a:r>
            <a:r>
              <a:rPr lang="en-US" altLang="zh-CN" dirty="0"/>
              <a:t>: 1,2,3,4,5,6,7,8,9,10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如何处理输出格式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6837" y="2878943"/>
            <a:ext cx="3392906" cy="1415772"/>
          </a:xfrm>
          <a:prstGeom prst="rect">
            <a:avLst/>
          </a:prstGeom>
          <a:solidFill>
            <a:schemeClr val="accent3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&gt;&gt;&gt;A = eval(input())     </a:t>
            </a:r>
            <a:r>
              <a:rPr lang="en-US" altLang="zh-CN" sz="1600" dirty="0">
                <a:ln w="0"/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[1,2,3,4,5,6,7,8,9,10]</a:t>
            </a:r>
          </a:p>
          <a:p>
            <a:endParaRPr lang="en-US" altLang="zh-C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&gt;&gt;&gt;print(A)		            </a:t>
            </a:r>
          </a:p>
          <a:p>
            <a:r>
              <a:rPr lang="en-US" altLang="zh-CN" sz="1600" dirty="0">
                <a:ln w="0"/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[1,2,3,4,5,6,7,8,9,10]</a:t>
            </a:r>
          </a:p>
        </p:txBody>
      </p:sp>
      <p:sp>
        <p:nvSpPr>
          <p:cNvPr id="7" name="矩形 6"/>
          <p:cNvSpPr/>
          <p:nvPr/>
        </p:nvSpPr>
        <p:spPr>
          <a:xfrm>
            <a:off x="4774592" y="1775399"/>
            <a:ext cx="3667299" cy="92333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dirty="0">
                <a:solidFill>
                  <a:srgbClr val="000000"/>
                </a:solidFill>
              </a:rPr>
              <a:t>for x in A[:-1]:	</a:t>
            </a:r>
            <a:r>
              <a:rPr lang="en-US" altLang="zh-CN">
                <a:solidFill>
                  <a:srgbClr val="000000"/>
                </a:solidFill>
              </a:rPr>
              <a:t>	 </a:t>
            </a:r>
            <a:endParaRPr lang="en-US" altLang="zh-CN" dirty="0">
              <a:solidFill>
                <a:srgbClr val="000000"/>
              </a:solidFill>
            </a:endParaRPr>
          </a:p>
          <a:p>
            <a:pPr lvl="0"/>
            <a:r>
              <a:rPr lang="en-US" altLang="zh-CN" dirty="0">
                <a:solidFill>
                  <a:srgbClr val="000000"/>
                </a:solidFill>
              </a:rPr>
              <a:t>     print(x, end = ',')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</a:rPr>
              <a:t>print(A[-1])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4774592" y="2943434"/>
            <a:ext cx="3864033" cy="1200329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</a:rPr>
              <a:t>for </a:t>
            </a:r>
            <a:r>
              <a:rPr lang="en-US" altLang="zh-CN" sz="1600" dirty="0" err="1">
                <a:solidFill>
                  <a:srgbClr val="000000"/>
                </a:solidFill>
              </a:rPr>
              <a:t>i</a:t>
            </a:r>
            <a:r>
              <a:rPr lang="en-US" altLang="zh-CN" sz="1600" dirty="0">
                <a:solidFill>
                  <a:srgbClr val="000000"/>
                </a:solidFill>
              </a:rPr>
              <a:t> in range(</a:t>
            </a:r>
            <a:r>
              <a:rPr lang="en-US" altLang="zh-CN" sz="1600" dirty="0" err="1">
                <a:solidFill>
                  <a:srgbClr val="000000"/>
                </a:solidFill>
              </a:rPr>
              <a:t>len</a:t>
            </a:r>
            <a:r>
              <a:rPr lang="en-US" altLang="zh-CN" sz="1600" dirty="0">
                <a:solidFill>
                  <a:srgbClr val="000000"/>
                </a:solidFill>
              </a:rPr>
              <a:t>(A) - 1) :</a:t>
            </a:r>
            <a:r>
              <a:rPr lang="en-US" altLang="zh-CN" sz="1600">
                <a:solidFill>
                  <a:srgbClr val="000000"/>
                </a:solidFill>
              </a:rPr>
              <a:t>	 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</a:rPr>
              <a:t>     print(A[</a:t>
            </a:r>
            <a:r>
              <a:rPr lang="en-US" altLang="zh-CN" sz="1600" dirty="0" err="1">
                <a:solidFill>
                  <a:srgbClr val="000000"/>
                </a:solidFill>
              </a:rPr>
              <a:t>i</a:t>
            </a:r>
            <a:r>
              <a:rPr lang="en-US" altLang="zh-CN" sz="1600" dirty="0">
                <a:solidFill>
                  <a:srgbClr val="000000"/>
                </a:solidFill>
              </a:rPr>
              <a:t>], end = ',')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</a:rPr>
              <a:t>print(A[</a:t>
            </a:r>
            <a:r>
              <a:rPr lang="en-US" altLang="zh-CN" sz="1600" dirty="0" err="1">
                <a:solidFill>
                  <a:srgbClr val="000000"/>
                </a:solidFill>
              </a:rPr>
              <a:t>len</a:t>
            </a:r>
            <a:r>
              <a:rPr lang="en-US" altLang="zh-CN" sz="1600" dirty="0">
                <a:solidFill>
                  <a:srgbClr val="000000"/>
                </a:solidFill>
              </a:rPr>
              <a:t>(A)-1])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74592" y="4606112"/>
            <a:ext cx="3864033" cy="36933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print(','.join([str(x) for x in A]))  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76837" y="4572599"/>
            <a:ext cx="2978618" cy="646331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en-US" altLang="zh-CN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 x in A:		 </a:t>
            </a:r>
          </a:p>
          <a:p>
            <a:r>
              <a:rPr lang="en-US" altLang="zh-CN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print(x, end = ',')</a:t>
            </a:r>
            <a:endParaRPr lang="zh-CN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3395" y="5391836"/>
            <a:ext cx="2765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n w="0"/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1,2,3,4,5,6,7,8,9,10</a:t>
            </a:r>
            <a:r>
              <a:rPr lang="zh-CN" altLang="en-US">
                <a:ln w="0"/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</a:t>
            </a:r>
            <a:endParaRPr lang="en-US" altLang="zh-CN" dirty="0">
              <a:ln w="0"/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43775" y="3776059"/>
            <a:ext cx="527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>
                <a:solidFill>
                  <a:srgbClr val="C00000"/>
                </a:solidFill>
                <a:latin typeface="Bradley Hand ITC" panose="03070402050302030203" pitchFamily="66" charset="0"/>
              </a:rPr>
              <a:t>x</a:t>
            </a:r>
            <a:endParaRPr lang="zh-CN" altLang="en-US" sz="5400" b="1">
              <a:solidFill>
                <a:srgbClr val="C0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60541" y="5240725"/>
            <a:ext cx="527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>
                <a:solidFill>
                  <a:srgbClr val="C00000"/>
                </a:solidFill>
                <a:latin typeface="Bradley Hand ITC" panose="03070402050302030203" pitchFamily="66" charset="0"/>
              </a:rPr>
              <a:t>x</a:t>
            </a:r>
            <a:endParaRPr lang="zh-CN" altLang="en-US" sz="5400" b="1">
              <a:solidFill>
                <a:srgbClr val="C0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963659" y="5158629"/>
            <a:ext cx="3319914" cy="374571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join()</a:t>
            </a:r>
            <a:r>
              <a:rPr lang="zh-CN" altLang="en-US" sz="1600" dirty="0">
                <a:solidFill>
                  <a:srgbClr val="FF0000"/>
                </a:solidFill>
              </a:rPr>
              <a:t>里面的列表元素须为字符串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385367" y="6070241"/>
            <a:ext cx="3340976" cy="408623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最后一</a:t>
            </a:r>
            <a:r>
              <a:rPr lang="zh-CN" altLang="en-US">
                <a:solidFill>
                  <a:srgbClr val="C00000"/>
                </a:solidFill>
              </a:rPr>
              <a:t>个数后面多一个逗号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716273" y="1619893"/>
            <a:ext cx="92235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方法一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716273" y="2854235"/>
            <a:ext cx="92235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方法二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716272" y="4190271"/>
            <a:ext cx="92235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/>
              <a:t>方法三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98043C-A90C-483A-A6A7-153C9A9E32C7}"/>
              </a:ext>
            </a:extLst>
          </p:cNvPr>
          <p:cNvSpPr/>
          <p:nvPr/>
        </p:nvSpPr>
        <p:spPr>
          <a:xfrm>
            <a:off x="4774592" y="6033796"/>
            <a:ext cx="3864033" cy="36933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print(*a, </a:t>
            </a:r>
            <a:r>
              <a:rPr lang="en-US" altLang="zh-CN" dirty="0" err="1"/>
              <a:t>sep</a:t>
            </a:r>
            <a:r>
              <a:rPr lang="en-US" altLang="zh-CN" dirty="0"/>
              <a:t>=',')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9C2CBDF-41F9-450B-AA46-F1091661A118}"/>
              </a:ext>
            </a:extLst>
          </p:cNvPr>
          <p:cNvSpPr txBox="1"/>
          <p:nvPr/>
        </p:nvSpPr>
        <p:spPr>
          <a:xfrm>
            <a:off x="7716272" y="5617955"/>
            <a:ext cx="92235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方法四</a:t>
            </a:r>
          </a:p>
        </p:txBody>
      </p:sp>
    </p:spTree>
    <p:extLst>
      <p:ext uri="{BB962C8B-B14F-4D97-AF65-F5344CB8AC3E}">
        <p14:creationId xmlns:p14="http://schemas.microsoft.com/office/powerpoint/2010/main" val="1188004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3" grpId="0" animBg="1"/>
      <p:bldP spid="17" grpId="0" animBg="1"/>
    </p:bldLst>
  </p:timing>
</p:sld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主题1">
  <a:themeElements>
    <a:clrScheme name="自定义 3">
      <a:dk1>
        <a:srgbClr val="000000"/>
      </a:dk1>
      <a:lt1>
        <a:srgbClr val="FFFFFF"/>
      </a:lt1>
      <a:dk2>
        <a:srgbClr val="003468"/>
      </a:dk2>
      <a:lt2>
        <a:srgbClr val="969696"/>
      </a:lt2>
      <a:accent1>
        <a:srgbClr val="99CC00"/>
      </a:accent1>
      <a:accent2>
        <a:srgbClr val="6699FF"/>
      </a:accent2>
      <a:accent3>
        <a:srgbClr val="FFFFFF"/>
      </a:accent3>
      <a:accent4>
        <a:srgbClr val="000000"/>
      </a:accent4>
      <a:accent5>
        <a:srgbClr val="CAE2AA"/>
      </a:accent5>
      <a:accent6>
        <a:srgbClr val="5C8AE7"/>
      </a:accent6>
      <a:hlink>
        <a:srgbClr val="00B0F0"/>
      </a:hlink>
      <a:folHlink>
        <a:srgbClr val="00B0F0"/>
      </a:folHlink>
    </a:clrScheme>
    <a:fontScheme name="024betty_wav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>
        <a:spAutoFit/>
      </a:bodyPr>
      <a:lstStyle>
        <a:defPPr>
          <a:spcAft>
            <a:spcPts val="0"/>
          </a:spcAft>
          <a:defRPr kern="0">
            <a:solidFill>
              <a:srgbClr val="800000"/>
            </a:solidFill>
            <a:latin typeface="Courier New"/>
            <a:ea typeface="宋体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024betty_wave 1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FF99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2D597A"/>
        </a:accent6>
        <a:hlink>
          <a:srgbClr val="66CAE2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33CC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2D2D8A"/>
        </a:accent6>
        <a:hlink>
          <a:srgbClr val="9999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3">
        <a:dk1>
          <a:srgbClr val="000000"/>
        </a:dk1>
        <a:lt1>
          <a:srgbClr val="FFFFFF"/>
        </a:lt1>
        <a:dk2>
          <a:srgbClr val="003468"/>
        </a:dk2>
        <a:lt2>
          <a:srgbClr val="969696"/>
        </a:lt2>
        <a:accent1>
          <a:srgbClr val="99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5C8AE7"/>
        </a:accent6>
        <a:hlink>
          <a:srgbClr val="99CCFF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4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CCCC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597A"/>
        </a:accent6>
        <a:hlink>
          <a:srgbClr val="66CAE2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F95A2A35-674A-40AD-A83A-DE29BAA59257}" vid="{E14F0F36-DC56-4341-802B-8D7414312C92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2140</TotalTime>
  <Words>1245</Words>
  <Application>Microsoft Office PowerPoint</Application>
  <PresentationFormat>全屏显示(4:3)</PresentationFormat>
  <Paragraphs>147</Paragraphs>
  <Slides>11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等线</vt:lpstr>
      <vt:lpstr>等线 Light</vt:lpstr>
      <vt:lpstr>宋体</vt:lpstr>
      <vt:lpstr>微软雅黑</vt:lpstr>
      <vt:lpstr>Arial</vt:lpstr>
      <vt:lpstr>Bradley Hand ITC</vt:lpstr>
      <vt:lpstr>Calibri</vt:lpstr>
      <vt:lpstr>Consolas</vt:lpstr>
      <vt:lpstr>Courier New</vt:lpstr>
      <vt:lpstr>Garamond</vt:lpstr>
      <vt:lpstr>Verdana</vt:lpstr>
      <vt:lpstr>Wingdings</vt:lpstr>
      <vt:lpstr>主题1</vt:lpstr>
      <vt:lpstr>1_Office 主题​​</vt:lpstr>
      <vt:lpstr>环保</vt:lpstr>
      <vt:lpstr>列表解析</vt:lpstr>
      <vt:lpstr>回顾——创建列表</vt:lpstr>
      <vt:lpstr>回顾——创建列表</vt:lpstr>
      <vt:lpstr>列表解析</vt:lpstr>
      <vt:lpstr>列表解析</vt:lpstr>
      <vt:lpstr>PowerPoint 演示文稿</vt:lpstr>
      <vt:lpstr>PowerPoint 演示文稿</vt:lpstr>
      <vt:lpstr>PowerPoint 演示文稿</vt:lpstr>
      <vt:lpstr>列表解析</vt:lpstr>
      <vt:lpstr>列表解析</vt:lpstr>
      <vt:lpstr>如何处理输出格式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 详解Python序列结构</dc:title>
  <dc:creator>Dong</dc:creator>
  <cp:lastModifiedBy>cyj</cp:lastModifiedBy>
  <cp:revision>678</cp:revision>
  <cp:lastPrinted>2019-10-16T14:42:59Z</cp:lastPrinted>
  <dcterms:created xsi:type="dcterms:W3CDTF">2015-05-05T08:02:00Z</dcterms:created>
  <dcterms:modified xsi:type="dcterms:W3CDTF">2024-11-23T14:23:46Z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1033-10.2.0.5978</vt:lpwstr>
  </property>
</Properties>
</file>