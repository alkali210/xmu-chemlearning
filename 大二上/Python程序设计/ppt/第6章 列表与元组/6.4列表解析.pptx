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88" r:id="rId3"/>
    <p:sldMasterId id="2147483700" r:id="rId4"/>
  </p:sldMasterIdLst>
  <p:notesMasterIdLst>
    <p:notesMasterId r:id="rId12"/>
  </p:notesMasterIdLst>
  <p:handoutMasterIdLst>
    <p:handoutMasterId r:id="rId13"/>
  </p:handoutMasterIdLst>
  <p:sldIdLst>
    <p:sldId id="1946" r:id="rId5"/>
    <p:sldId id="1915" r:id="rId6"/>
    <p:sldId id="1920" r:id="rId7"/>
    <p:sldId id="1921" r:id="rId8"/>
    <p:sldId id="1947" r:id="rId9"/>
    <p:sldId id="1922" r:id="rId10"/>
    <p:sldId id="1923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28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2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6534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7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17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960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20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271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860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775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293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2467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03033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7872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8699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695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07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03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8641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103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7283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91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28693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8200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370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415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184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906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283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474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1241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646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13013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453847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176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14045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14921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70020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69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1520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21" Type="http://schemas.openxmlformats.org/officeDocument/2006/relationships/hyperlink" Target="idle" TargetMode="Externa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86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97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圆角矩形 11">
            <a:hlinkClick r:id="rId21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202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列表解析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>
                <a:latin typeface="宋体" panose="02010600030101010101" pitchFamily="2" charset="-122"/>
                <a:sym typeface="+mn-ea"/>
              </a:rPr>
              <a:t>快速生成满足特定需求的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</a:t>
            </a:r>
            <a:r>
              <a:rPr lang="en-US" altLang="x-none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列表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45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8172" y="707766"/>
            <a:ext cx="8458200" cy="187190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(List Comprehension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，又称</a:t>
            </a:r>
            <a:r>
              <a:rPr lang="en-US" altLang="x-none" b="0" dirty="0" err="1">
                <a:latin typeface="宋体" panose="02010600030101010101" pitchFamily="2" charset="-122"/>
                <a:sym typeface="+mn-ea"/>
              </a:rPr>
              <a:t>列表推导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）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x-none" dirty="0" err="1">
                <a:latin typeface="宋体" panose="02010600030101010101" pitchFamily="2" charset="-122"/>
                <a:sym typeface="+mn-ea"/>
              </a:rPr>
              <a:t>使用非常简洁的方式来快速生成满足特定需求的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</a:t>
            </a:r>
            <a:r>
              <a:rPr lang="en-US" altLang="x-none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列表</a:t>
            </a:r>
            <a:r>
              <a:rPr lang="en-US" altLang="x-none">
                <a:latin typeface="宋体" panose="02010600030101010101" pitchFamily="2" charset="-122"/>
                <a:sym typeface="+mn-ea"/>
              </a:rPr>
              <a:t>。</a:t>
            </a:r>
            <a:endParaRPr lang="en-US" altLang="x-none" noProof="1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列表解析的语法形式为：</a:t>
            </a:r>
            <a:endParaRPr lang="zh-CN" altLang="en-US" noProof="1">
              <a:latin typeface="宋体" panose="02010600030101010101" pitchFamily="2" charset="-122"/>
            </a:endParaRPr>
          </a:p>
          <a:p>
            <a:pPr marL="1905" indent="-344797">
              <a:lnSpc>
                <a:spcPct val="80000"/>
              </a:lnSpc>
              <a:buNone/>
            </a:pPr>
            <a:endParaRPr lang="en-US" altLang="zh-CN" dirty="0"/>
          </a:p>
          <a:p>
            <a:pPr marL="1905" indent="-344797">
              <a:lnSpc>
                <a:spcPct val="80000"/>
              </a:lnSpc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列表解析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54303" y="3190875"/>
            <a:ext cx="2373746" cy="1021556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从</a:t>
            </a:r>
            <a:r>
              <a:rPr lang="en-US" altLang="x-none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sequence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中按顺序取出一个值赋给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variable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54303" y="4946679"/>
            <a:ext cx="2373746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计算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4377" y="2460314"/>
            <a:ext cx="75183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[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expression</a:t>
            </a:r>
            <a:r>
              <a:rPr lang="en-US" altLang="x-none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sz="2000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for</a:t>
            </a:r>
            <a:r>
              <a:rPr lang="en-US" altLang="x-none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variable</a:t>
            </a:r>
            <a:r>
              <a:rPr lang="en-US" altLang="x-none" sz="2000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sz="2000" b="1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in</a:t>
            </a:r>
            <a:r>
              <a:rPr lang="en-US" altLang="x-none" sz="200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sequence]          </a:t>
            </a:r>
            <a:endParaRPr lang="en-US" altLang="x-none" sz="2000" noProof="1">
              <a:solidFill>
                <a:srgbClr val="7030A0"/>
              </a:solidFill>
              <a:latin typeface="Consolas" panose="020B060902020403020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158066" y="1786221"/>
            <a:ext cx="2473742" cy="809584"/>
            <a:chOff x="5144655" y="1842002"/>
            <a:chExt cx="2473742" cy="809584"/>
          </a:xfrm>
        </p:grpSpPr>
        <p:sp>
          <p:nvSpPr>
            <p:cNvPr id="14" name="圆角矩形 13"/>
            <p:cNvSpPr/>
            <p:nvPr/>
          </p:nvSpPr>
          <p:spPr>
            <a:xfrm>
              <a:off x="6149328" y="1842002"/>
              <a:ext cx="1469069" cy="408623"/>
            </a:xfrm>
            <a:prstGeom prst="round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遍历序列</a:t>
              </a:r>
              <a:endPara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cxnSp>
          <p:nvCxnSpPr>
            <p:cNvPr id="16" name="直接箭头连接符 15"/>
            <p:cNvCxnSpPr>
              <a:stCxn id="14" idx="1"/>
            </p:cNvCxnSpPr>
            <p:nvPr/>
          </p:nvCxnSpPr>
          <p:spPr bwMode="auto">
            <a:xfrm flipH="1">
              <a:off x="5144655" y="2046314"/>
              <a:ext cx="1004673" cy="605272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none" w="med" len="med"/>
              <a:tailEnd type="triangle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4" name="直接箭头连接符 23"/>
          <p:cNvCxnSpPr/>
          <p:nvPr/>
        </p:nvCxnSpPr>
        <p:spPr bwMode="auto">
          <a:xfrm>
            <a:off x="1841176" y="4212431"/>
            <a:ext cx="0" cy="746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/>
          <p:nvPr/>
        </p:nvCxnSpPr>
        <p:spPr bwMode="auto">
          <a:xfrm rot="5400000" flipH="1" flipV="1">
            <a:off x="1848692" y="4882652"/>
            <a:ext cx="2893042" cy="434962"/>
          </a:xfrm>
          <a:prstGeom prst="bentConnector3">
            <a:avLst>
              <a:gd name="adj1" fmla="val 275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圆角矩形 43"/>
          <p:cNvSpPr/>
          <p:nvPr/>
        </p:nvSpPr>
        <p:spPr>
          <a:xfrm>
            <a:off x="703986" y="6080114"/>
            <a:ext cx="2373746" cy="71508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altLang="zh-CN" kern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r>
              <a:rPr lang="zh-CN" altLang="en-US" kern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结果</a:t>
            </a:r>
            <a:r>
              <a:rPr lang="zh-CN" altLang="en-US" b="1" kern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添加入</a:t>
            </a:r>
            <a:r>
              <a:rPr lang="zh-CN" altLang="en-US" kern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新</a:t>
            </a:r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列表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>
            <a:off x="1827885" y="5355302"/>
            <a:ext cx="0" cy="746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 flipH="1">
            <a:off x="3028049" y="3659164"/>
            <a:ext cx="4846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矩形 17"/>
          <p:cNvSpPr/>
          <p:nvPr/>
        </p:nvSpPr>
        <p:spPr>
          <a:xfrm>
            <a:off x="3800763" y="3799988"/>
            <a:ext cx="5049666" cy="1121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[x*x for x in range(10)]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charset="0"/>
              </a:rPr>
              <a:t>[0, 1, 4, 9, 16, 25, 36, 49, 64, 81]</a:t>
            </a:r>
          </a:p>
        </p:txBody>
      </p:sp>
      <p:cxnSp>
        <p:nvCxnSpPr>
          <p:cNvPr id="21" name="直接连接符 20"/>
          <p:cNvCxnSpPr/>
          <p:nvPr/>
        </p:nvCxnSpPr>
        <p:spPr bwMode="auto">
          <a:xfrm>
            <a:off x="2454442" y="2794021"/>
            <a:ext cx="331109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7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44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8231" y="764474"/>
            <a:ext cx="5325979" cy="3576520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例题：输入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一组整数</a:t>
            </a:r>
            <a:r>
              <a:rPr lang="zh-CN" altLang="en-US" dirty="0"/>
              <a:t>，</a:t>
            </a:r>
            <a:r>
              <a:rPr lang="zh-CN" altLang="en-US"/>
              <a:t>中间用</a:t>
            </a:r>
            <a:r>
              <a:rPr lang="zh-CN" altLang="en-US" b="1"/>
              <a:t>空格</a:t>
            </a:r>
            <a:r>
              <a:rPr lang="zh-CN" altLang="en-US"/>
              <a:t>间隔</a:t>
            </a:r>
            <a:r>
              <a:rPr lang="zh-CN" altLang="en-US" dirty="0"/>
              <a:t>，求这组整数的和</a:t>
            </a:r>
            <a:endParaRPr lang="en-US" altLang="zh-CN" dirty="0"/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分析：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input</a:t>
            </a:r>
            <a:r>
              <a:rPr lang="zh-CN" altLang="en-US" dirty="0"/>
              <a:t>可以将整行作为一个字符串读取进来，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用</a:t>
            </a:r>
            <a:r>
              <a:rPr lang="en-US" altLang="zh-CN" dirty="0"/>
              <a:t>split</a:t>
            </a:r>
            <a:r>
              <a:rPr lang="zh-CN" altLang="en-US" dirty="0"/>
              <a:t>将其分割为列表（此时列表中的每个元素都是字符串，无法求和）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利用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列表解析和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，将列表中的每个元素转为整数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用</a:t>
            </a:r>
            <a:r>
              <a:rPr lang="en-US" altLang="zh-CN"/>
              <a:t>sum</a:t>
            </a:r>
            <a:r>
              <a:rPr lang="zh-CN" altLang="en-US"/>
              <a:t>求和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8243" y="4434915"/>
            <a:ext cx="61744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4E9A06"/>
                </a:solidFill>
                <a:latin typeface="Consolas" panose="020B0609020204030204" pitchFamily="49" charset="0"/>
              </a:rPr>
              <a:t>"Please input numbers:"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sz="2000" b="1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s1</a:t>
            </a:r>
            <a:r>
              <a:rPr lang="en-US" altLang="zh-CN" sz="2000" b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split(</a:t>
            </a:r>
            <a:r>
              <a:rPr lang="en-US" altLang="zh-CN" sz="2000" b="1">
                <a:solidFill>
                  <a:srgbClr val="4E9A06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(xs))</a:t>
            </a:r>
            <a:endParaRPr lang="en-US" altLang="zh-CN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00463" y="20837"/>
            <a:ext cx="12105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sp>
        <p:nvSpPr>
          <p:cNvPr id="6" name="线形标注 1 5"/>
          <p:cNvSpPr/>
          <p:nvPr/>
        </p:nvSpPr>
        <p:spPr>
          <a:xfrm>
            <a:off x="5046391" y="5576315"/>
            <a:ext cx="3909915" cy="1106905"/>
          </a:xfrm>
          <a:prstGeom prst="borderCallout1">
            <a:avLst>
              <a:gd name="adj1" fmla="val 18750"/>
              <a:gd name="adj2" fmla="val -8333"/>
              <a:gd name="adj3" fmla="val -29239"/>
              <a:gd name="adj4" fmla="val -9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/>
              <a:t>用于类型转换：列表所有元素转</a:t>
            </a:r>
            <a:r>
              <a:rPr lang="en-US" altLang="zh-CN"/>
              <a:t>int</a:t>
            </a:r>
            <a:r>
              <a:rPr lang="zh-CN" altLang="en-US"/>
              <a:t>型</a:t>
            </a:r>
          </a:p>
        </p:txBody>
      </p:sp>
      <p:sp>
        <p:nvSpPr>
          <p:cNvPr id="8" name="矩形 7"/>
          <p:cNvSpPr/>
          <p:nvPr/>
        </p:nvSpPr>
        <p:spPr>
          <a:xfrm>
            <a:off x="5355296" y="2457235"/>
            <a:ext cx="3886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[80, 95, 75, 85, 90, 55, 66, 88, 100, 58]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7298356" y="1975196"/>
            <a:ext cx="0" cy="488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314105" y="1528126"/>
            <a:ext cx="38298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/>
              <a:t>“80 95 75 85 90 55 66 88 100 58”</a:t>
            </a:r>
          </a:p>
        </p:txBody>
      </p:sp>
    </p:spTree>
    <p:extLst>
      <p:ext uri="{BB962C8B-B14F-4D97-AF65-F5344CB8AC3E}">
        <p14:creationId xmlns:p14="http://schemas.microsoft.com/office/powerpoint/2010/main" val="361358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42237" y="775725"/>
            <a:ext cx="8458200" cy="3387202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zh-CN" altLang="en-US" sz="2000" dirty="0"/>
              <a:t>例题： 输入一个三位正整数，判断它是不是水仙花数（各位数的立方和等于它本身，例如：</a:t>
            </a:r>
            <a:r>
              <a:rPr lang="en-US" altLang="zh-CN" sz="2000" dirty="0"/>
              <a:t>1^3 + 5^3+ 3^3 = 153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160000"/>
              </a:lnSpc>
            </a:pPr>
            <a:r>
              <a:rPr lang="zh-CN" altLang="en-US" sz="2000" dirty="0"/>
              <a:t>分析：</a:t>
            </a:r>
            <a:endParaRPr lang="en-US" altLang="zh-CN" sz="2000" dirty="0"/>
          </a:p>
          <a:p>
            <a:pPr lvl="1">
              <a:lnSpc>
                <a:spcPct val="160000"/>
              </a:lnSpc>
            </a:pPr>
            <a:r>
              <a:rPr lang="zh-CN" altLang="en-US" sz="1600" dirty="0"/>
              <a:t>假设输入的是</a:t>
            </a:r>
            <a:r>
              <a:rPr lang="en-US" altLang="zh-CN" sz="1600" dirty="0"/>
              <a:t>153</a:t>
            </a:r>
            <a:r>
              <a:rPr lang="zh-CN" altLang="en-US" sz="1600" dirty="0"/>
              <a:t>，那么</a:t>
            </a:r>
            <a:r>
              <a:rPr lang="en-US" altLang="zh-CN" sz="1600" dirty="0"/>
              <a:t>input()</a:t>
            </a:r>
            <a:r>
              <a:rPr lang="zh-CN" altLang="en-US" sz="1600" dirty="0"/>
              <a:t>读入的数据为字符串</a:t>
            </a:r>
            <a:r>
              <a:rPr lang="en-US" altLang="zh-CN" sz="1600" dirty="0"/>
              <a:t>'153'</a:t>
            </a:r>
          </a:p>
          <a:p>
            <a:pPr lvl="1">
              <a:lnSpc>
                <a:spcPct val="160000"/>
              </a:lnSpc>
            </a:pPr>
            <a:r>
              <a:rPr lang="zh-CN" altLang="en-US" sz="1600" dirty="0"/>
              <a:t>将</a:t>
            </a:r>
            <a:r>
              <a:rPr lang="en-US" altLang="zh-CN" sz="1600" dirty="0"/>
              <a:t>'153'</a:t>
            </a:r>
            <a:r>
              <a:rPr lang="zh-CN" altLang="en-US" sz="1600" dirty="0"/>
              <a:t>视为一个序列，则每个元素的值依次为 </a:t>
            </a:r>
            <a:r>
              <a:rPr lang="en-US" altLang="zh-CN" sz="1600" dirty="0"/>
              <a:t>'1', '5', '3'</a:t>
            </a:r>
            <a:r>
              <a:rPr lang="zh-CN" altLang="en-US" sz="1600" dirty="0"/>
              <a:t>，分别对应百位，十位，个位</a:t>
            </a:r>
            <a:endParaRPr lang="en-US" altLang="zh-CN" sz="1600" dirty="0"/>
          </a:p>
          <a:p>
            <a:pPr lvl="1">
              <a:lnSpc>
                <a:spcPct val="160000"/>
              </a:lnSpc>
            </a:pPr>
            <a:r>
              <a:rPr lang="zh-CN" altLang="en-US" sz="1600" dirty="0"/>
              <a:t>用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列表解析和</a:t>
            </a:r>
            <a:r>
              <a:rPr lang="en-US" altLang="zh-CN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将各元素转换为整数</a:t>
            </a:r>
            <a:r>
              <a:rPr lang="zh-CN" altLang="en-US" sz="1600" dirty="0"/>
              <a:t>，并用</a:t>
            </a:r>
            <a:r>
              <a:rPr lang="en-US" altLang="zh-CN" sz="1600" dirty="0"/>
              <a:t>sum</a:t>
            </a:r>
            <a:r>
              <a:rPr lang="zh-CN" altLang="en-US" sz="1600" dirty="0"/>
              <a:t>求各位立方和</a:t>
            </a:r>
            <a:endParaRPr lang="en-US" altLang="zh-CN" sz="1600" dirty="0"/>
          </a:p>
          <a:p>
            <a:pPr lvl="1">
              <a:lnSpc>
                <a:spcPct val="160000"/>
              </a:lnSpc>
            </a:pPr>
            <a:r>
              <a:rPr lang="zh-CN" altLang="en-US" sz="1600" dirty="0"/>
              <a:t>判断各位立方和是否等于其本身</a:t>
            </a:r>
          </a:p>
        </p:txBody>
      </p:sp>
      <p:sp>
        <p:nvSpPr>
          <p:cNvPr id="4" name="矩形 3"/>
          <p:cNvSpPr/>
          <p:nvPr/>
        </p:nvSpPr>
        <p:spPr>
          <a:xfrm>
            <a:off x="985999" y="4499236"/>
            <a:ext cx="66501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Consolas" panose="020B0609020204030204" pitchFamily="49" charset="0"/>
              </a:rPr>
              <a:t>num_string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666666"/>
                </a:solidFill>
                <a:latin typeface="Consolas" panose="020B0609020204030204" pitchFamily="49" charset="0"/>
              </a:rPr>
              <a:t>= 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input(</a:t>
            </a:r>
            <a:r>
              <a:rPr lang="en-US" altLang="zh-CN" sz="2000" b="1" dirty="0">
                <a:solidFill>
                  <a:srgbClr val="BA2121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2000" b="1" dirty="0">
                <a:solidFill>
                  <a:srgbClr val="BA2121"/>
                </a:solidFill>
                <a:latin typeface="Consolas" panose="020B0609020204030204" pitchFamily="49" charset="0"/>
              </a:rPr>
              <a:t>请输入一个三位正整数：</a:t>
            </a:r>
            <a:r>
              <a:rPr lang="en-US" altLang="zh-CN" sz="2000" b="1" dirty="0">
                <a:solidFill>
                  <a:srgbClr val="BA2121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s </a:t>
            </a:r>
            <a:r>
              <a:rPr lang="en-US" altLang="zh-CN" sz="2000" b="1" dirty="0">
                <a:solidFill>
                  <a:srgbClr val="666666"/>
                </a:solidFill>
                <a:latin typeface="Consolas" panose="020B0609020204030204" pitchFamily="49" charset="0"/>
              </a:rPr>
              <a:t>= [</a:t>
            </a:r>
            <a:r>
              <a:rPr lang="en-US" altLang="zh-CN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000" b="1" dirty="0">
                <a:solidFill>
                  <a:srgbClr val="666666"/>
                </a:solidFill>
                <a:latin typeface="Consolas" panose="020B0609020204030204" pitchFamily="49" charset="0"/>
              </a:rPr>
              <a:t>**3 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AA22FF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sz="2000" b="1" dirty="0" err="1">
                <a:latin typeface="Consolas" panose="020B0609020204030204" pitchFamily="49" charset="0"/>
              </a:rPr>
              <a:t>num_string</a:t>
            </a:r>
            <a:r>
              <a:rPr lang="en-US" altLang="zh-CN" sz="2000" b="1" dirty="0">
                <a:solidFill>
                  <a:srgbClr val="AA22FF"/>
                </a:solidFill>
                <a:latin typeface="Consolas" panose="020B0609020204030204" pitchFamily="49" charset="0"/>
              </a:rPr>
              <a:t>] 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print(sum(s)</a:t>
            </a:r>
            <a:r>
              <a:rPr lang="en-US" altLang="zh-CN" sz="2000" b="1" dirty="0">
                <a:solidFill>
                  <a:srgbClr val="666666"/>
                </a:solidFill>
                <a:latin typeface="Consolas" panose="020B0609020204030204" pitchFamily="49" charset="0"/>
              </a:rPr>
              <a:t>==</a:t>
            </a:r>
            <a:r>
              <a:rPr lang="en-US" altLang="zh-CN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latin typeface="Consolas" panose="020B0609020204030204" pitchFamily="49" charset="0"/>
              </a:rPr>
              <a:t>num_string</a:t>
            </a: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5" name="矩形 4"/>
          <p:cNvSpPr/>
          <p:nvPr/>
        </p:nvSpPr>
        <p:spPr>
          <a:xfrm>
            <a:off x="3100463" y="20837"/>
            <a:ext cx="12105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275694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87190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(List Comprehension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，又称</a:t>
            </a:r>
            <a:r>
              <a:rPr lang="en-US" altLang="x-none" b="0" dirty="0" err="1">
                <a:latin typeface="宋体" panose="02010600030101010101" pitchFamily="2" charset="-122"/>
                <a:sym typeface="+mn-ea"/>
              </a:rPr>
              <a:t>列表推导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）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x-none" dirty="0" err="1">
                <a:latin typeface="宋体" panose="02010600030101010101" pitchFamily="2" charset="-122"/>
                <a:sym typeface="+mn-ea"/>
              </a:rPr>
              <a:t>使用非常简洁的方式来快速生成满足特定需求的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</a:t>
            </a:r>
            <a:r>
              <a:rPr lang="en-US" altLang="x-none" dirty="0" err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列表</a:t>
            </a:r>
            <a:r>
              <a:rPr lang="en-US" altLang="x-none" dirty="0" err="1">
                <a:latin typeface="宋体" panose="02010600030101010101" pitchFamily="2" charset="-122"/>
                <a:sym typeface="+mn-ea"/>
              </a:rPr>
              <a:t>，代码具有非常强的可读性</a:t>
            </a:r>
            <a:r>
              <a:rPr lang="en-US" altLang="x-none" dirty="0">
                <a:latin typeface="宋体" panose="02010600030101010101" pitchFamily="2" charset="-122"/>
                <a:sym typeface="+mn-ea"/>
              </a:rPr>
              <a:t>。</a:t>
            </a:r>
            <a:endParaRPr lang="en-US" altLang="x-none" noProof="1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列表解析的语法形式为：</a:t>
            </a:r>
            <a:endParaRPr lang="zh-CN" altLang="en-US" noProof="1">
              <a:latin typeface="宋体" panose="02010600030101010101" pitchFamily="2" charset="-122"/>
            </a:endParaRPr>
          </a:p>
          <a:p>
            <a:pPr marL="1905" indent="-344797">
              <a:lnSpc>
                <a:spcPct val="80000"/>
              </a:lnSpc>
              <a:buNone/>
            </a:pPr>
            <a:endParaRPr lang="en-US" altLang="zh-CN" dirty="0"/>
          </a:p>
          <a:p>
            <a:pPr marL="1905" indent="-344797">
              <a:lnSpc>
                <a:spcPct val="80000"/>
              </a:lnSpc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列表解析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92805" y="3302083"/>
            <a:ext cx="2373746" cy="1021556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从</a:t>
            </a:r>
            <a:r>
              <a:rPr lang="en-US" altLang="x-none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sequence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中按顺序取出一个值赋给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variable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92805" y="4649852"/>
            <a:ext cx="2373746" cy="71508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判断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  <a:sym typeface="+mn-ea"/>
              </a:rPr>
              <a:t>condition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是否为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True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92805" y="6110958"/>
            <a:ext cx="2373746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计算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9" y="2559468"/>
            <a:ext cx="751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[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expression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for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variable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in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sequence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if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condition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]          </a:t>
            </a:r>
            <a:endParaRPr lang="en-US" altLang="x-none" noProof="1">
              <a:solidFill>
                <a:srgbClr val="7030A0"/>
              </a:solidFill>
              <a:latin typeface="Consolas" panose="020B0609020204030204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2068945" y="2844800"/>
            <a:ext cx="6299200" cy="767355"/>
            <a:chOff x="2068945" y="2844800"/>
            <a:chExt cx="6299200" cy="767355"/>
          </a:xfrm>
        </p:grpSpPr>
        <p:sp>
          <p:nvSpPr>
            <p:cNvPr id="8" name="圆角矩形 7"/>
            <p:cNvSpPr/>
            <p:nvPr/>
          </p:nvSpPr>
          <p:spPr>
            <a:xfrm>
              <a:off x="6363855" y="3203532"/>
              <a:ext cx="2004290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表达式</a:t>
              </a:r>
            </a:p>
          </p:txBody>
        </p:sp>
        <p:cxnSp>
          <p:nvCxnSpPr>
            <p:cNvPr id="10" name="直接箭头连接符 9"/>
            <p:cNvCxnSpPr>
              <a:stCxn id="8" idx="0"/>
            </p:cNvCxnSpPr>
            <p:nvPr/>
          </p:nvCxnSpPr>
          <p:spPr bwMode="auto">
            <a:xfrm flipH="1" flipV="1">
              <a:off x="6714836" y="2844800"/>
              <a:ext cx="651164" cy="3587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箭头连接符 11"/>
            <p:cNvCxnSpPr>
              <a:stCxn id="8" idx="0"/>
            </p:cNvCxnSpPr>
            <p:nvPr/>
          </p:nvCxnSpPr>
          <p:spPr bwMode="auto">
            <a:xfrm flipH="1" flipV="1">
              <a:off x="2068945" y="2844800"/>
              <a:ext cx="5297055" cy="3587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组合 36"/>
          <p:cNvGrpSpPr/>
          <p:nvPr/>
        </p:nvGrpSpPr>
        <p:grpSpPr>
          <a:xfrm>
            <a:off x="5144655" y="2124009"/>
            <a:ext cx="3999345" cy="527577"/>
            <a:chOff x="5144655" y="2124009"/>
            <a:chExt cx="3999345" cy="527577"/>
          </a:xfrm>
        </p:grpSpPr>
        <p:sp>
          <p:nvSpPr>
            <p:cNvPr id="14" name="圆角矩形 13"/>
            <p:cNvSpPr/>
            <p:nvPr/>
          </p:nvSpPr>
          <p:spPr>
            <a:xfrm>
              <a:off x="6086763" y="2124009"/>
              <a:ext cx="3057237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序列：列表元组之类的对象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H="1">
              <a:off x="5144655" y="2366254"/>
              <a:ext cx="923636" cy="2853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6" name="组合 35"/>
          <p:cNvGrpSpPr/>
          <p:nvPr/>
        </p:nvGrpSpPr>
        <p:grpSpPr>
          <a:xfrm>
            <a:off x="3888510" y="2844801"/>
            <a:ext cx="1505525" cy="729659"/>
            <a:chOff x="3888510" y="2844801"/>
            <a:chExt cx="1505525" cy="729659"/>
          </a:xfrm>
        </p:grpSpPr>
        <p:sp>
          <p:nvSpPr>
            <p:cNvPr id="17" name="圆角矩形 16"/>
            <p:cNvSpPr/>
            <p:nvPr/>
          </p:nvSpPr>
          <p:spPr>
            <a:xfrm>
              <a:off x="4294909" y="3165837"/>
              <a:ext cx="1099126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变量</a:t>
              </a:r>
            </a:p>
          </p:txBody>
        </p:sp>
        <p:cxnSp>
          <p:nvCxnSpPr>
            <p:cNvPr id="19" name="直接箭头连接符 18"/>
            <p:cNvCxnSpPr>
              <a:stCxn id="17" idx="0"/>
            </p:cNvCxnSpPr>
            <p:nvPr/>
          </p:nvCxnSpPr>
          <p:spPr bwMode="auto">
            <a:xfrm flipH="1" flipV="1">
              <a:off x="3888510" y="2844801"/>
              <a:ext cx="955962" cy="3210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" name="直接箭头连接符 21"/>
          <p:cNvCxnSpPr>
            <a:stCxn id="4" idx="2"/>
            <a:endCxn id="5" idx="0"/>
          </p:cNvCxnSpPr>
          <p:nvPr/>
        </p:nvCxnSpPr>
        <p:spPr bwMode="auto">
          <a:xfrm>
            <a:off x="1879678" y="4323639"/>
            <a:ext cx="0" cy="3262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3"/>
          <p:cNvCxnSpPr>
            <a:stCxn id="5" idx="2"/>
            <a:endCxn id="6" idx="0"/>
          </p:cNvCxnSpPr>
          <p:nvPr/>
        </p:nvCxnSpPr>
        <p:spPr bwMode="auto">
          <a:xfrm>
            <a:off x="1879678" y="5364941"/>
            <a:ext cx="0" cy="746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矩形 25"/>
          <p:cNvSpPr/>
          <p:nvPr/>
        </p:nvSpPr>
        <p:spPr>
          <a:xfrm>
            <a:off x="1879678" y="5517669"/>
            <a:ext cx="840509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True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28" name="直接箭头连接符 27"/>
          <p:cNvCxnSpPr>
            <a:stCxn id="5" idx="3"/>
            <a:endCxn id="4" idx="3"/>
          </p:cNvCxnSpPr>
          <p:nvPr/>
        </p:nvCxnSpPr>
        <p:spPr bwMode="auto">
          <a:xfrm flipV="1">
            <a:off x="3066551" y="3812861"/>
            <a:ext cx="12700" cy="1194536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31"/>
          <p:cNvSpPr/>
          <p:nvPr/>
        </p:nvSpPr>
        <p:spPr>
          <a:xfrm>
            <a:off x="3297423" y="4246705"/>
            <a:ext cx="932872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False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34" name="直接连接符 33"/>
          <p:cNvCxnSpPr>
            <a:stCxn id="6" idx="3"/>
          </p:cNvCxnSpPr>
          <p:nvPr/>
        </p:nvCxnSpPr>
        <p:spPr bwMode="auto">
          <a:xfrm flipV="1">
            <a:off x="3066551" y="5007396"/>
            <a:ext cx="230872" cy="130787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箭头连接符 39"/>
          <p:cNvCxnSpPr>
            <a:endCxn id="44" idx="0"/>
          </p:cNvCxnSpPr>
          <p:nvPr/>
        </p:nvCxnSpPr>
        <p:spPr bwMode="auto">
          <a:xfrm>
            <a:off x="3066551" y="4062710"/>
            <a:ext cx="3297304" cy="46734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矩形 40"/>
          <p:cNvSpPr/>
          <p:nvPr/>
        </p:nvSpPr>
        <p:spPr>
          <a:xfrm>
            <a:off x="3685346" y="3697339"/>
            <a:ext cx="2327526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所有元素处理完毕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5176982" y="4530050"/>
            <a:ext cx="2373746" cy="71508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所有的</a:t>
            </a:r>
            <a:r>
              <a:rPr lang="en-US" altLang="zh-CN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结果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组成</a:t>
            </a:r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一个新列表</a:t>
            </a:r>
          </a:p>
        </p:txBody>
      </p:sp>
    </p:spTree>
    <p:extLst>
      <p:ext uri="{BB962C8B-B14F-4D97-AF65-F5344CB8AC3E}">
        <p14:creationId xmlns:p14="http://schemas.microsoft.com/office/powerpoint/2010/main" val="38038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6" grpId="0" animBg="1"/>
      <p:bldP spid="32" grpId="0" animBg="1"/>
      <p:bldP spid="41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298" y="1054018"/>
            <a:ext cx="8678174" cy="1870337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/>
              <a:t>使用</a:t>
            </a:r>
            <a:r>
              <a:rPr lang="zh-CN" altLang="en-US" sz="2400">
                <a:solidFill>
                  <a:srgbClr val="FF0000"/>
                </a:solidFill>
              </a:rPr>
              <a:t>if子句</a:t>
            </a:r>
            <a:r>
              <a:rPr lang="zh-CN" altLang="en-US" sz="2400"/>
              <a:t>，筛选符合条件的元素</a:t>
            </a:r>
            <a:endParaRPr lang="zh-CN" altLang="en-US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/>
              <a:t>下面的代码用于从列表中选择符合条件的元素组成新的列表：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列表解析</a:t>
            </a:r>
          </a:p>
        </p:txBody>
      </p:sp>
      <p:sp>
        <p:nvSpPr>
          <p:cNvPr id="4" name="矩形 3"/>
          <p:cNvSpPr/>
          <p:nvPr/>
        </p:nvSpPr>
        <p:spPr>
          <a:xfrm>
            <a:off x="422694" y="3017577"/>
            <a:ext cx="7634378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&gt;&gt;&gt; aList = [x*x for x in range(10)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if x%2==0 </a:t>
            </a:r>
            <a:r>
              <a:rPr lang="zh-CN" altLang="en-US" dirty="0"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60000"/>
              </a:lnSpc>
            </a:pPr>
            <a:r>
              <a:rPr lang="fi-FI" altLang="zh-CN" dirty="0">
                <a:latin typeface="Consolas" panose="020B0609020204030204" pitchFamily="49" charset="0"/>
              </a:rPr>
              <a:t>&gt;&gt;&gt; aList</a:t>
            </a:r>
          </a:p>
          <a:p>
            <a:pPr>
              <a:lnSpc>
                <a:spcPct val="160000"/>
              </a:lnSpc>
            </a:pPr>
            <a:r>
              <a:rPr lang="fi-FI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[0, 4, 16, 36, 64]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等价于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&gt;&gt;&gt; aList = []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&gt;&gt;&gt; for x in range(10):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    </a:t>
            </a:r>
            <a:r>
              <a:rPr lang="en-US" altLang="zh-CN" dirty="0">
                <a:latin typeface="Consolas" panose="020B0609020204030204" pitchFamily="49" charset="0"/>
              </a:rPr>
              <a:t>if x%2==0: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   </a:t>
            </a:r>
            <a:r>
              <a:rPr lang="zh-CN" altLang="en-US" dirty="0">
                <a:latin typeface="Consolas" panose="020B0609020204030204" pitchFamily="49" charset="0"/>
              </a:rPr>
              <a:t>aList.append(x*x)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349225" y="3512342"/>
            <a:ext cx="303421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只计算偶数的平方和</a:t>
            </a:r>
          </a:p>
        </p:txBody>
      </p:sp>
    </p:spTree>
    <p:extLst>
      <p:ext uri="{BB962C8B-B14F-4D97-AF65-F5344CB8AC3E}">
        <p14:creationId xmlns:p14="http://schemas.microsoft.com/office/powerpoint/2010/main" val="196189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733" y="1002257"/>
            <a:ext cx="8604848" cy="5674587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同时遍历多个列表或可迭代对象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[(x, y)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x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1, 2, 3]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y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3, 1, 4]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if x 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!= y]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B0F0"/>
                </a:solidFill>
                <a:latin typeface="Consolas" panose="020B0609020204030204" charset="0"/>
              </a:rPr>
              <a:t>[(1, 3), (1, 4), (2, 3), (2, 1), (2, 4), (3, 1), (3, 4)]</a:t>
            </a:r>
          </a:p>
          <a:p>
            <a:pPr marL="0" indent="0" fontAlgn="auto">
              <a:spcBef>
                <a:spcPts val="0"/>
              </a:spcBef>
              <a:buNone/>
            </a:pPr>
            <a:endParaRPr lang="en-US" altLang="zh-CN" sz="18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sz="18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zh-CN" altLang="en-US" sz="1800" dirty="0"/>
              <a:t>对于包含多个循环的列表推导式，一定要清楚多个循环的执行顺序或“嵌套关系”。例如，上面第一个列表推导式等价于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result = []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x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1, 2, 3]: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y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3, 1, 4]: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if x 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!= y: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   </a:t>
            </a:r>
            <a:r>
              <a:rPr lang="en-US" altLang="zh-CN" sz="1800" dirty="0" err="1">
                <a:latin typeface="Consolas" panose="020B0609020204030204" pitchFamily="49" charset="0"/>
              </a:rPr>
              <a:t>result</a:t>
            </a:r>
            <a:r>
              <a:rPr lang="en-US" altLang="zh-CN" sz="1800" dirty="0" err="1">
                <a:solidFill>
                  <a:srgbClr val="333333"/>
                </a:solidFill>
                <a:latin typeface="Consolas" panose="020B0609020204030204" pitchFamily="49" charset="0"/>
              </a:rPr>
              <a:t>.append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((</a:t>
            </a:r>
            <a:r>
              <a:rPr lang="en-US" altLang="zh-CN" sz="1800" dirty="0" err="1">
                <a:solidFill>
                  <a:srgbClr val="333333"/>
                </a:solidFill>
                <a:latin typeface="Consolas" panose="020B0609020204030204" pitchFamily="49" charset="0"/>
              </a:rPr>
              <a:t>x,y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result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[(1, 3), (1, 4), (2, 3), (2, 1), (2, 4), (3, 1), (3, 4)]</a:t>
            </a:r>
            <a:endParaRPr lang="en-US" altLang="zh-CN" sz="180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列表解析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0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2140</TotalTime>
  <Words>749</Words>
  <Application>Microsoft Office PowerPoint</Application>
  <PresentationFormat>全屏显示(4:3)</PresentationFormat>
  <Paragraphs>78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等线</vt:lpstr>
      <vt:lpstr>等线 Light</vt:lpstr>
      <vt:lpstr>宋体</vt:lpstr>
      <vt:lpstr>微软雅黑</vt:lpstr>
      <vt:lpstr>Arial</vt:lpstr>
      <vt:lpstr>Calibri</vt:lpstr>
      <vt:lpstr>Consolas</vt:lpstr>
      <vt:lpstr>Courier New</vt:lpstr>
      <vt:lpstr>Garamond</vt:lpstr>
      <vt:lpstr>Verdana</vt:lpstr>
      <vt:lpstr>Wingdings</vt:lpstr>
      <vt:lpstr>主题1</vt:lpstr>
      <vt:lpstr>Office 主题​​</vt:lpstr>
      <vt:lpstr>1_Office 主题​​</vt:lpstr>
      <vt:lpstr>环保</vt:lpstr>
      <vt:lpstr>列表解析</vt:lpstr>
      <vt:lpstr>列表解析</vt:lpstr>
      <vt:lpstr>PowerPoint 演示文稿</vt:lpstr>
      <vt:lpstr>PowerPoint 演示文稿</vt:lpstr>
      <vt:lpstr>列表解析</vt:lpstr>
      <vt:lpstr>列表解析</vt:lpstr>
      <vt:lpstr>列表解析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673</cp:revision>
  <cp:lastPrinted>2019-10-16T14:42:59Z</cp:lastPrinted>
  <dcterms:created xsi:type="dcterms:W3CDTF">2015-05-05T08:02:00Z</dcterms:created>
  <dcterms:modified xsi:type="dcterms:W3CDTF">2024-11-19T05:53:54Z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