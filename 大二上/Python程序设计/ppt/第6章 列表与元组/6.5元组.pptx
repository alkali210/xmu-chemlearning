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1906" r:id="rId2"/>
    <p:sldId id="1925" r:id="rId3"/>
    <p:sldId id="1927" r:id="rId4"/>
    <p:sldId id="1926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1" Type="http://schemas.openxmlformats.org/officeDocument/2006/relationships/image" Target="../media/image4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元组（tuple）相当于一个</a:t>
            </a:r>
            <a:r>
              <a:rPr lang="zh-CN" altLang="en-US" dirty="0">
                <a:solidFill>
                  <a:srgbClr val="FF0000"/>
                </a:solidFill>
              </a:rPr>
              <a:t>不可变的</a:t>
            </a:r>
            <a:r>
              <a:rPr lang="zh-CN" altLang="en-US" dirty="0"/>
              <a:t>轻量级列表。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从形式上，元组的所有元素放在一对</a:t>
            </a:r>
            <a:r>
              <a:rPr lang="zh-CN" altLang="en-US" dirty="0">
                <a:solidFill>
                  <a:srgbClr val="FF0000"/>
                </a:solidFill>
              </a:rPr>
              <a:t>圆括号</a:t>
            </a:r>
            <a:r>
              <a:rPr lang="zh-CN" altLang="en-US" dirty="0"/>
              <a:t>中，元素之间使用</a:t>
            </a:r>
            <a:r>
              <a:rPr lang="zh-CN" altLang="en-US" dirty="0">
                <a:solidFill>
                  <a:srgbClr val="FF0000"/>
                </a:solidFill>
              </a:rPr>
              <a:t>逗号</a:t>
            </a:r>
            <a:r>
              <a:rPr lang="zh-CN" altLang="en-US" dirty="0"/>
              <a:t>分隔，如果元组中只有一个元素则必须在最后增加一个</a:t>
            </a:r>
            <a:r>
              <a:rPr lang="zh-CN" altLang="en-US" dirty="0">
                <a:solidFill>
                  <a:srgbClr val="FF0000"/>
                </a:solidFill>
              </a:rPr>
              <a:t>逗号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元组是不可变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immutable</a:t>
            </a:r>
            <a:r>
              <a:rPr lang="en-US" altLang="zh-CN" dirty="0"/>
              <a:t>)</a:t>
            </a:r>
            <a:r>
              <a:rPr lang="zh-CN" altLang="en-US" dirty="0"/>
              <a:t>的序列类型，不可以直接修改元组中元素的值，也无法为元组增加或删除元素。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endParaRPr lang="en-US" altLang="zh-CN" b="1" dirty="0"/>
          </a:p>
          <a:p>
            <a:pPr lvl="1" fontAlgn="auto">
              <a:lnSpc>
                <a:spcPct val="150000"/>
              </a:lnSpc>
            </a:pPr>
            <a:endParaRPr lang="zh-CN" altLang="en-US" b="1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</a:p>
        </p:txBody>
      </p:sp>
      <p:sp>
        <p:nvSpPr>
          <p:cNvPr id="4" name="矩形 3"/>
          <p:cNvSpPr/>
          <p:nvPr/>
        </p:nvSpPr>
        <p:spPr>
          <a:xfrm>
            <a:off x="862642" y="3465495"/>
            <a:ext cx="770338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s=(1,2,3)       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type(s)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&lt;class 'tuple'&gt;</a:t>
            </a:r>
            <a:endParaRPr lang="en-US" altLang="zh-CN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t=(1,)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&gt;&gt;&gt; </a:t>
            </a:r>
            <a:r>
              <a:rPr lang="en-US" altLang="zh-CN" dirty="0" err="1">
                <a:latin typeface="Consolas" panose="020B0609020204030204" pitchFamily="49" charset="0"/>
              </a:rPr>
              <a:t>s+t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(1, 2, 3, 1)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933468" y="4333963"/>
            <a:ext cx="392519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元组的类型为</a:t>
            </a:r>
            <a:r>
              <a:rPr lang="en-US" altLang="zh-CN" b="1" dirty="0">
                <a:solidFill>
                  <a:srgbClr val="00B0F0"/>
                </a:solidFill>
                <a:latin typeface="Consolas" panose="020B0609020204030204" pitchFamily="49" charset="0"/>
              </a:rPr>
              <a:t>tuple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933468" y="3663059"/>
            <a:ext cx="392519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元组的定界符为圆括号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3933468" y="5275217"/>
            <a:ext cx="392519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  <a:latin typeface="Consolas" panose="020B0609020204030204" pitchFamily="49" charset="0"/>
              </a:rPr>
              <a:t>元组支持加法、乘法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3933467" y="4797583"/>
            <a:ext cx="3925195" cy="40862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F0"/>
                </a:solidFill>
              </a:rPr>
              <a:t>定义单个元素的元组时，须加逗号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DAB369-60EE-492B-B62D-B96E18306B8A}"/>
              </a:ext>
            </a:extLst>
          </p:cNvPr>
          <p:cNvSpPr txBox="1"/>
          <p:nvPr/>
        </p:nvSpPr>
        <p:spPr>
          <a:xfrm>
            <a:off x="3933467" y="35956"/>
            <a:ext cx="4982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&gt;&gt;&gt;a = ‘hello’</a:t>
            </a:r>
          </a:p>
          <a:p>
            <a:r>
              <a:rPr lang="en-US" altLang="zh-CN" dirty="0"/>
              <a:t>&gt;&gt;&gt;a[0]=‘d’   #</a:t>
            </a:r>
            <a:r>
              <a:rPr lang="zh-CN" altLang="en-US" dirty="0"/>
              <a:t>错误，因为字符串不能修改</a:t>
            </a:r>
            <a:endParaRPr lang="en-US" altLang="zh-CN" dirty="0"/>
          </a:p>
          <a:p>
            <a:r>
              <a:rPr lang="en-US" altLang="zh-CN" dirty="0"/>
              <a:t>&gt;&gt;&gt; s=(1,2,3) </a:t>
            </a:r>
          </a:p>
          <a:p>
            <a:r>
              <a:rPr lang="en-US" altLang="zh-CN" dirty="0"/>
              <a:t>&gt;&gt;&gt; s[0]=100 #</a:t>
            </a:r>
            <a:r>
              <a:rPr lang="zh-CN" altLang="en-US" dirty="0"/>
              <a:t>错误</a:t>
            </a:r>
            <a:r>
              <a:rPr lang="zh-CN" altLang="en-US"/>
              <a:t>，因为元组不能</a:t>
            </a:r>
            <a:r>
              <a:rPr lang="zh-CN" altLang="en-US" dirty="0"/>
              <a:t>修改</a:t>
            </a:r>
          </a:p>
        </p:txBody>
      </p:sp>
    </p:spTree>
    <p:extLst>
      <p:ext uri="{BB962C8B-B14F-4D97-AF65-F5344CB8AC3E}">
        <p14:creationId xmlns:p14="http://schemas.microsoft.com/office/powerpoint/2010/main" val="239842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dirty="0"/>
              <a:t>元组中的数据一旦定义就不允许更改，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元组</a:t>
            </a:r>
            <a:r>
              <a:rPr lang="zh-CN" altLang="en-US" dirty="0">
                <a:solidFill>
                  <a:srgbClr val="FF0000"/>
                </a:solidFill>
              </a:rPr>
              <a:t>没有</a:t>
            </a:r>
            <a:r>
              <a:rPr lang="en-US" altLang="zh-CN" dirty="0"/>
              <a:t>append()</a:t>
            </a:r>
            <a:r>
              <a:rPr lang="zh-CN" altLang="en-US" dirty="0"/>
              <a:t>方法、</a:t>
            </a:r>
            <a:r>
              <a:rPr lang="en-US" altLang="zh-CN" dirty="0"/>
              <a:t>extend()</a:t>
            </a:r>
            <a:r>
              <a:rPr lang="zh-CN" altLang="en-US" dirty="0"/>
              <a:t>方法或</a:t>
            </a:r>
            <a:r>
              <a:rPr lang="en-US" altLang="zh-CN" dirty="0"/>
              <a:t>insert()</a:t>
            </a:r>
            <a:r>
              <a:rPr lang="zh-CN" altLang="en-US" dirty="0"/>
              <a:t>方法；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>
                <a:solidFill>
                  <a:srgbClr val="FF0000"/>
                </a:solidFill>
              </a:rPr>
              <a:t>无法</a:t>
            </a:r>
            <a:r>
              <a:rPr lang="zh-CN" altLang="en-US" dirty="0"/>
              <a:t>向元组中</a:t>
            </a:r>
            <a:r>
              <a:rPr lang="zh-CN" altLang="en-US" dirty="0">
                <a:solidFill>
                  <a:srgbClr val="FF0000"/>
                </a:solidFill>
              </a:rPr>
              <a:t>添加</a:t>
            </a:r>
            <a:r>
              <a:rPr lang="zh-CN" altLang="en-US" dirty="0"/>
              <a:t>元素；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元组也</a:t>
            </a:r>
            <a:r>
              <a:rPr lang="zh-CN" altLang="en-US" dirty="0">
                <a:solidFill>
                  <a:srgbClr val="FF0000"/>
                </a:solidFill>
              </a:rPr>
              <a:t>没</a:t>
            </a:r>
            <a:r>
              <a:rPr lang="zh-CN" altLang="en-US" dirty="0"/>
              <a:t>有</a:t>
            </a:r>
            <a:r>
              <a:rPr lang="en-US" altLang="zh-CN" dirty="0"/>
              <a:t>pop()</a:t>
            </a:r>
            <a:r>
              <a:rPr lang="zh-CN" altLang="en-US" dirty="0"/>
              <a:t>方法或</a:t>
            </a:r>
            <a:r>
              <a:rPr lang="en-US" altLang="zh-CN" dirty="0"/>
              <a:t>remove()</a:t>
            </a:r>
            <a:r>
              <a:rPr lang="zh-CN" altLang="en-US" dirty="0"/>
              <a:t>方法，</a:t>
            </a:r>
            <a:r>
              <a:rPr lang="zh-CN" altLang="en-US" dirty="0">
                <a:solidFill>
                  <a:srgbClr val="FF0000"/>
                </a:solidFill>
              </a:rPr>
              <a:t>不能</a:t>
            </a:r>
            <a:r>
              <a:rPr lang="zh-CN" altLang="en-US" dirty="0"/>
              <a:t>从元组中</a:t>
            </a:r>
            <a:r>
              <a:rPr lang="zh-CN" altLang="en-US" dirty="0">
                <a:solidFill>
                  <a:srgbClr val="FF0000"/>
                </a:solidFill>
              </a:rPr>
              <a:t>删除</a:t>
            </a:r>
            <a:r>
              <a:rPr lang="zh-CN" altLang="en-US" dirty="0"/>
              <a:t>元素；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元组也</a:t>
            </a:r>
            <a:r>
              <a:rPr lang="zh-CN" altLang="en-US" dirty="0">
                <a:solidFill>
                  <a:srgbClr val="FF0000"/>
                </a:solidFill>
              </a:rPr>
              <a:t>没有</a:t>
            </a:r>
            <a:r>
              <a:rPr lang="en-US" altLang="zh-CN" dirty="0"/>
              <a:t>sort()</a:t>
            </a:r>
            <a:r>
              <a:rPr lang="zh-CN" altLang="en-US" dirty="0"/>
              <a:t>方法或</a:t>
            </a:r>
            <a:r>
              <a:rPr lang="en-US" altLang="zh-CN" dirty="0"/>
              <a:t>reverse()</a:t>
            </a:r>
            <a:r>
              <a:rPr lang="zh-CN" altLang="en-US" dirty="0"/>
              <a:t>方法，</a:t>
            </a:r>
            <a:r>
              <a:rPr lang="zh-CN" altLang="en-US" dirty="0">
                <a:solidFill>
                  <a:srgbClr val="FF0000"/>
                </a:solidFill>
              </a:rPr>
              <a:t>不能修</a:t>
            </a:r>
            <a:r>
              <a:rPr lang="zh-CN" altLang="en-US" dirty="0"/>
              <a:t>改元组的值。</a:t>
            </a:r>
          </a:p>
          <a:p>
            <a:pPr>
              <a:lnSpc>
                <a:spcPts val="2800"/>
              </a:lnSpc>
            </a:pPr>
            <a:r>
              <a:rPr lang="zh-CN" altLang="en-US" dirty="0"/>
              <a:t>删除元组的元素是不可能的，但可以使用</a:t>
            </a:r>
            <a:r>
              <a:rPr lang="en-US" altLang="zh-CN" dirty="0"/>
              <a:t>del</a:t>
            </a:r>
            <a:r>
              <a:rPr lang="zh-CN" altLang="en-US" dirty="0"/>
              <a:t>语句删除整个元组。</a:t>
            </a:r>
            <a:endParaRPr lang="en-US" altLang="zh-CN" dirty="0"/>
          </a:p>
          <a:p>
            <a:pPr>
              <a:lnSpc>
                <a:spcPts val="2800"/>
              </a:lnSpc>
            </a:pPr>
            <a:r>
              <a:rPr lang="zh-CN" altLang="en-US" dirty="0"/>
              <a:t>元组和列表可以通过</a:t>
            </a:r>
            <a:r>
              <a:rPr lang="en-US" altLang="zh-CN" sz="1800" dirty="0">
                <a:solidFill>
                  <a:srgbClr val="FF0000"/>
                </a:solidFill>
              </a:rPr>
              <a:t>list()</a:t>
            </a:r>
            <a:r>
              <a:rPr lang="zh-CN" altLang="en-US" sz="1800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和</a:t>
            </a:r>
            <a:r>
              <a:rPr lang="en-US" altLang="zh-CN" sz="1800" dirty="0">
                <a:solidFill>
                  <a:srgbClr val="FF0000"/>
                </a:solidFill>
              </a:rPr>
              <a:t>tuple()</a:t>
            </a:r>
            <a:r>
              <a:rPr lang="zh-CN" altLang="en-US" sz="1800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实现相互转换。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en-US" altLang="zh-CN" dirty="0"/>
              <a:t>list()</a:t>
            </a:r>
            <a:r>
              <a:rPr lang="zh-CN" altLang="en-US" dirty="0"/>
              <a:t>函数接收一个元组参数，返回一个包含同样元素的列表；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en-US" altLang="zh-CN" dirty="0"/>
              <a:t>tuple()</a:t>
            </a:r>
            <a:r>
              <a:rPr lang="zh-CN" altLang="en-US" dirty="0"/>
              <a:t>函数接收一个列表参数，返回一个包含同样元素的元组。</a:t>
            </a:r>
            <a:endParaRPr lang="en-US" altLang="zh-CN" dirty="0"/>
          </a:p>
          <a:p>
            <a:pPr lvl="1">
              <a:lnSpc>
                <a:spcPts val="2800"/>
              </a:lnSpc>
            </a:pPr>
            <a:r>
              <a:rPr lang="zh-CN" altLang="en-US" dirty="0"/>
              <a:t>从实现效果上看，</a:t>
            </a:r>
            <a:r>
              <a:rPr lang="en-US" altLang="zh-CN" dirty="0"/>
              <a:t>tuple()</a:t>
            </a:r>
            <a:r>
              <a:rPr lang="zh-CN" altLang="en-US" dirty="0"/>
              <a:t>函数冻结列表，达到保护的目的，而</a:t>
            </a:r>
            <a:r>
              <a:rPr lang="en-US" altLang="zh-CN" dirty="0"/>
              <a:t>list()</a:t>
            </a:r>
            <a:r>
              <a:rPr lang="zh-CN" altLang="en-US" dirty="0"/>
              <a:t>函数融化元组，达到修改的目的。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</a:t>
            </a:r>
          </a:p>
        </p:txBody>
      </p:sp>
    </p:spTree>
    <p:extLst>
      <p:ext uri="{BB962C8B-B14F-4D97-AF65-F5344CB8AC3E}">
        <p14:creationId xmlns:p14="http://schemas.microsoft.com/office/powerpoint/2010/main" val="402636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001027" y="837636"/>
            <a:ext cx="4278429" cy="9050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下列哪些说法是错误的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525905" y="2083419"/>
            <a:ext cx="375355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(3,4).sort()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会报错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473234" y="3944703"/>
            <a:ext cx="375355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(1,2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)*3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将得到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个元素的元组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525905" y="2876374"/>
            <a:ext cx="375355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sorted((1,2))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不会报错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525905" y="5013033"/>
            <a:ext cx="375355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(1)*6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将得到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个元素的元组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11530" y="214771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A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11530" y="300496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B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92580" y="4064342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C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11530" y="501303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D</a:t>
            </a:r>
            <a:endParaRPr lang="zh-CN" altLang="en-US" sz="1600" kern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Times New Roman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txBody>
          <a:bodyPr rtlCol="0" anchor="ctr" anchorCtr="1"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ker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33788" y="5737982"/>
            <a:ext cx="1946258" cy="840558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71436" y="4077125"/>
            <a:ext cx="2205789" cy="488783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20" name="文本框 19"/>
          <p:cNvSpPr txBox="1"/>
          <p:nvPr/>
        </p:nvSpPr>
        <p:spPr>
          <a:xfrm>
            <a:off x="5188017" y="1969556"/>
            <a:ext cx="237262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元组不可修改，</a:t>
            </a:r>
            <a:r>
              <a:rPr lang="en-US" altLang="zh-CN"/>
              <a:t>sort</a:t>
            </a:r>
            <a:r>
              <a:rPr lang="zh-CN" altLang="en-US"/>
              <a:t>方法原地操作，报错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221972" y="2846973"/>
            <a:ext cx="263224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sorted</a:t>
            </a:r>
            <a:r>
              <a:rPr lang="zh-CN" altLang="en-US"/>
              <a:t>函数非原地操作，产生新列表，正确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5271436" y="4928382"/>
            <a:ext cx="2930091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/>
              <a:t>若元组只有一个元素，后面要加</a:t>
            </a:r>
            <a:r>
              <a:rPr lang="zh-CN" altLang="en-US">
                <a:solidFill>
                  <a:srgbClr val="C00000"/>
                </a:solidFill>
              </a:rPr>
              <a:t>逗号</a:t>
            </a:r>
          </a:p>
        </p:txBody>
      </p:sp>
      <p:cxnSp>
        <p:nvCxnSpPr>
          <p:cNvPr id="24" name="直接箭头连接符 23"/>
          <p:cNvCxnSpPr>
            <a:stCxn id="20" idx="1"/>
          </p:cNvCxnSpPr>
          <p:nvPr/>
        </p:nvCxnSpPr>
        <p:spPr bwMode="auto">
          <a:xfrm flipH="1">
            <a:off x="3980047" y="2292722"/>
            <a:ext cx="1207970" cy="1121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>
            <a:stCxn id="21" idx="1"/>
          </p:cNvCxnSpPr>
          <p:nvPr/>
        </p:nvCxnSpPr>
        <p:spPr bwMode="auto">
          <a:xfrm flipH="1">
            <a:off x="4153302" y="3170139"/>
            <a:ext cx="1068670" cy="705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/>
          <p:cNvCxnSpPr>
            <a:stCxn id="22" idx="1"/>
          </p:cNvCxnSpPr>
          <p:nvPr/>
        </p:nvCxnSpPr>
        <p:spPr bwMode="auto">
          <a:xfrm flipH="1">
            <a:off x="4615314" y="5251548"/>
            <a:ext cx="656122" cy="904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>
                  <a:solidFill>
                    <a:schemeClr val="accent1"/>
                  </a:solidFill>
                </a14:hiddenLine>
              </a:ext>
            </a:extLst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endParaRPr lang="zh-CN" altLang="en-US" kern="0">
                <a:solidFill>
                  <a:srgbClr val="800000"/>
                </a:solidFill>
                <a:latin typeface="Courier New"/>
                <a:ea typeface="宋体"/>
                <a:cs typeface="Times New Roman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275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dirty="0"/>
              <a:t>元组和列表的主要区别：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列表可以修改，功能更强，但开销也较大。元组的访问效率较列表高，涉及到不需要修改的数据时，应尽量使用元组，以提高效率、节省资源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元组用圆括号标记起始范围，而列表用方括号标记起始范围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元组的元素</a:t>
            </a:r>
            <a:r>
              <a:rPr lang="zh-CN" altLang="en-US" dirty="0">
                <a:solidFill>
                  <a:srgbClr val="FF0000"/>
                </a:solidFill>
              </a:rPr>
              <a:t>不可以修改</a:t>
            </a:r>
            <a:r>
              <a:rPr lang="zh-CN" altLang="en-US" dirty="0"/>
              <a:t>，而列表元素可以修改，即元组及其元素是</a:t>
            </a:r>
            <a:r>
              <a:rPr lang="zh-CN" altLang="en-US" dirty="0">
                <a:solidFill>
                  <a:srgbClr val="FF0000"/>
                </a:solidFill>
              </a:rPr>
              <a:t>只读</a:t>
            </a:r>
            <a:r>
              <a:rPr lang="zh-CN" altLang="en-US" dirty="0"/>
              <a:t>的</a:t>
            </a:r>
            <a:endParaRPr lang="en-US" altLang="zh-CN" dirty="0"/>
          </a:p>
          <a:p>
            <a:pPr lvl="1" fontAlgn="auto">
              <a:lnSpc>
                <a:spcPct val="150000"/>
              </a:lnSpc>
            </a:pPr>
            <a:r>
              <a:rPr lang="zh-CN" altLang="en-US" dirty="0"/>
              <a:t>元组可以在字典中当作关键字使用，而列表不能当作字典关键字使用，因为列表不是不可改变的。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元组和列表</a:t>
            </a:r>
          </a:p>
        </p:txBody>
      </p:sp>
    </p:spTree>
    <p:extLst>
      <p:ext uri="{BB962C8B-B14F-4D97-AF65-F5344CB8AC3E}">
        <p14:creationId xmlns:p14="http://schemas.microsoft.com/office/powerpoint/2010/main" val="14952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2080</TotalTime>
  <Words>535</Words>
  <Application>Microsoft Office PowerPoint</Application>
  <PresentationFormat>全屏显示(4:3)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微软雅黑</vt:lpstr>
      <vt:lpstr>微软雅黑</vt:lpstr>
      <vt:lpstr>Calibri</vt:lpstr>
      <vt:lpstr>Consolas</vt:lpstr>
      <vt:lpstr>Courier New</vt:lpstr>
      <vt:lpstr>Verdana</vt:lpstr>
      <vt:lpstr>Wingdings</vt:lpstr>
      <vt:lpstr>主题1</vt:lpstr>
      <vt:lpstr>元组</vt:lpstr>
      <vt:lpstr>元组</vt:lpstr>
      <vt:lpstr>PowerPoint 演示文稿</vt:lpstr>
      <vt:lpstr>元组和列表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666</cp:revision>
  <cp:lastPrinted>2019-10-16T14:42:59Z</cp:lastPrinted>
  <dcterms:created xsi:type="dcterms:W3CDTF">2015-05-05T08:02:00Z</dcterms:created>
  <dcterms:modified xsi:type="dcterms:W3CDTF">2024-11-19T05:57:24Z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