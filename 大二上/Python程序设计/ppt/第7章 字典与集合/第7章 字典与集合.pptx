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  <p:sldMasterId id="2147483676" r:id="rId2"/>
  </p:sldMasterIdLst>
  <p:notesMasterIdLst>
    <p:notesMasterId r:id="rId44"/>
  </p:notesMasterIdLst>
  <p:handoutMasterIdLst>
    <p:handoutMasterId r:id="rId45"/>
  </p:handoutMasterIdLst>
  <p:sldIdLst>
    <p:sldId id="848" r:id="rId3"/>
    <p:sldId id="1909" r:id="rId4"/>
    <p:sldId id="1910" r:id="rId5"/>
    <p:sldId id="1824" r:id="rId6"/>
    <p:sldId id="1825" r:id="rId7"/>
    <p:sldId id="1878" r:id="rId8"/>
    <p:sldId id="1883" r:id="rId9"/>
    <p:sldId id="1880" r:id="rId10"/>
    <p:sldId id="1829" r:id="rId11"/>
    <p:sldId id="1894" r:id="rId12"/>
    <p:sldId id="1881" r:id="rId13"/>
    <p:sldId id="1893" r:id="rId14"/>
    <p:sldId id="1831" r:id="rId15"/>
    <p:sldId id="1905" r:id="rId16"/>
    <p:sldId id="1884" r:id="rId17"/>
    <p:sldId id="1872" r:id="rId18"/>
    <p:sldId id="1906" r:id="rId19"/>
    <p:sldId id="1885" r:id="rId20"/>
    <p:sldId id="1886" r:id="rId21"/>
    <p:sldId id="1907" r:id="rId22"/>
    <p:sldId id="1887" r:id="rId23"/>
    <p:sldId id="1911" r:id="rId24"/>
    <p:sldId id="1912" r:id="rId25"/>
    <p:sldId id="1908" r:id="rId26"/>
    <p:sldId id="1871" r:id="rId27"/>
    <p:sldId id="1879" r:id="rId28"/>
    <p:sldId id="1904" r:id="rId29"/>
    <p:sldId id="1892" r:id="rId30"/>
    <p:sldId id="1897" r:id="rId31"/>
    <p:sldId id="1890" r:id="rId32"/>
    <p:sldId id="1898" r:id="rId33"/>
    <p:sldId id="1899" r:id="rId34"/>
    <p:sldId id="1891" r:id="rId35"/>
    <p:sldId id="1895" r:id="rId36"/>
    <p:sldId id="1896" r:id="rId37"/>
    <p:sldId id="1903" r:id="rId38"/>
    <p:sldId id="1900" r:id="rId39"/>
    <p:sldId id="1901" r:id="rId40"/>
    <p:sldId id="1889" r:id="rId41"/>
    <p:sldId id="1902" r:id="rId42"/>
    <p:sldId id="1773" r:id="rId4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0678" autoAdjust="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0566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3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41" name="AutoShape 2405"/>
          <p:cNvSpPr>
            <a:spLocks noChangeArrowheads="1"/>
          </p:cNvSpPr>
          <p:nvPr/>
        </p:nvSpPr>
        <p:spPr bwMode="gray">
          <a:xfrm>
            <a:off x="0" y="1752600"/>
            <a:ext cx="9144000" cy="2514600"/>
          </a:xfrm>
          <a:prstGeom prst="flowChartDocument">
            <a:avLst/>
          </a:prstGeom>
          <a:ln>
            <a:noFill/>
          </a:ln>
          <a:effectLst>
            <a:glow rad="63500">
              <a:schemeClr val="accent2">
                <a:alpha val="45000"/>
                <a:satMod val="12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40" name="AutoShape 2404"/>
          <p:cNvSpPr>
            <a:spLocks noChangeArrowheads="1"/>
          </p:cNvSpPr>
          <p:nvPr/>
        </p:nvSpPr>
        <p:spPr bwMode="gray">
          <a:xfrm>
            <a:off x="0" y="304800"/>
            <a:ext cx="9144000" cy="2209800"/>
          </a:xfrm>
          <a:prstGeom prst="flowChartDocumen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1" name="AutoShape 2395"/>
          <p:cNvSpPr>
            <a:spLocks noChangeArrowheads="1"/>
          </p:cNvSpPr>
          <p:nvPr/>
        </p:nvSpPr>
        <p:spPr bwMode="gray">
          <a:xfrm>
            <a:off x="0" y="0"/>
            <a:ext cx="9144000" cy="2057400"/>
          </a:xfrm>
          <a:prstGeom prst="flowChartDocument">
            <a:avLst/>
          </a:prstGeom>
          <a:gradFill rotWithShape="0">
            <a:gsLst>
              <a:gs pos="0">
                <a:schemeClr val="accent2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0" name="Oval 2394"/>
          <p:cNvSpPr>
            <a:spLocks noChangeArrowheads="1"/>
          </p:cNvSpPr>
          <p:nvPr/>
        </p:nvSpPr>
        <p:spPr bwMode="gray">
          <a:xfrm>
            <a:off x="722313" y="1752600"/>
            <a:ext cx="552450" cy="508000"/>
          </a:xfrm>
          <a:prstGeom prst="ellipse">
            <a:avLst/>
          </a:prstGeom>
          <a:gradFill rotWithShape="0">
            <a:gsLst>
              <a:gs pos="0">
                <a:srgbClr val="86B9FF"/>
              </a:gs>
              <a:gs pos="12000">
                <a:schemeClr val="hlink">
                  <a:alpha val="53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4" name="Oval 2398"/>
          <p:cNvSpPr>
            <a:spLocks noChangeArrowheads="1"/>
          </p:cNvSpPr>
          <p:nvPr/>
        </p:nvSpPr>
        <p:spPr bwMode="gray">
          <a:xfrm>
            <a:off x="2971800" y="1773239"/>
            <a:ext cx="230188" cy="207963"/>
          </a:xfrm>
          <a:prstGeom prst="ellipse">
            <a:avLst/>
          </a:prstGeom>
          <a:gradFill rotWithShape="0">
            <a:gsLst>
              <a:gs pos="27000">
                <a:schemeClr val="hlink">
                  <a:alpha val="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5" name="Oval 2399"/>
          <p:cNvSpPr>
            <a:spLocks noChangeArrowheads="1"/>
          </p:cNvSpPr>
          <p:nvPr/>
        </p:nvSpPr>
        <p:spPr bwMode="gray">
          <a:xfrm>
            <a:off x="2247903" y="2271713"/>
            <a:ext cx="538163" cy="495300"/>
          </a:xfrm>
          <a:prstGeom prst="ellipse">
            <a:avLst/>
          </a:prstGeom>
          <a:gradFill rotWithShape="0">
            <a:gsLst>
              <a:gs pos="13000">
                <a:schemeClr val="hlink">
                  <a:alpha val="58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15" name="Rectangle 536"/>
          <p:cNvSpPr txBox="1">
            <a:spLocks noChangeArrowheads="1"/>
          </p:cNvSpPr>
          <p:nvPr/>
        </p:nvSpPr>
        <p:spPr bwMode="black">
          <a:xfrm>
            <a:off x="2247902" y="4405858"/>
            <a:ext cx="5295379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1" rIns="68580" bIns="34291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endParaRPr lang="en-US" altLang="ko-KR" sz="3600" dirty="0"/>
          </a:p>
        </p:txBody>
      </p:sp>
      <p:sp>
        <p:nvSpPr>
          <p:cNvPr id="16" name="Rectangle 536"/>
          <p:cNvSpPr txBox="1">
            <a:spLocks noChangeArrowheads="1"/>
          </p:cNvSpPr>
          <p:nvPr/>
        </p:nvSpPr>
        <p:spPr bwMode="black">
          <a:xfrm>
            <a:off x="2067138" y="4234408"/>
            <a:ext cx="5009728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1" rIns="68580" bIns="34291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3616924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4953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5123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84428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976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14498"/>
            <a:ext cx="8229600" cy="63832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966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15329"/>
            <a:ext cx="744473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7132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40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9675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4572000" y="6477000"/>
            <a:ext cx="5334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356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0978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943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943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46972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单击图标添加图表</a:t>
            </a:r>
          </a:p>
        </p:txBody>
      </p:sp>
    </p:spTree>
    <p:extLst>
      <p:ext uri="{BB962C8B-B14F-4D97-AF65-F5344CB8AC3E}">
        <p14:creationId xmlns:p14="http://schemas.microsoft.com/office/powerpoint/2010/main" val="2926920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3637208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84403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380431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3852909B-09F8-4BD5-AF55-A665955BBD60}" type="datetimeFigureOut">
              <a:rPr lang="en-US" dirty="0"/>
              <a:t>11/26/2024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41867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A65E-2E7B-45D1-A4B9-0680C068B11A}" type="datetimeFigureOut">
              <a:rPr lang="en-US" dirty="0"/>
              <a:t>11/26/2024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5181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AC75D96E-8D7E-422E-A2A8-D28C1B4E7B86}" type="datetimeFigureOut">
              <a:rPr lang="en-US" dirty="0"/>
              <a:t>11/26/2024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0214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3118-2D63-46DE-A5FD-62B7769B1823}" type="datetimeFigureOut">
              <a:rPr lang="en-US" dirty="0"/>
              <a:t>11/26/2024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9257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A95C9-E353-4D5F-9DEE-820E2A1F9C49}" type="datetimeFigureOut">
              <a:rPr lang="en-US" dirty="0"/>
              <a:t>11/26/2024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774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55670-3E6A-43D3-8215-C1C48E0C9650}" type="datetimeFigureOut">
              <a:rPr lang="en-US" dirty="0"/>
              <a:t>11/26/2024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518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34154-F461-49B9-A649-5772D9210BB9}" type="datetimeFigureOut">
              <a:rPr lang="en-US" dirty="0"/>
              <a:t>11/26/2024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6109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A1323-B5E5-4968-904B-943CFA4A926F}" type="datetimeFigureOut">
              <a:rPr lang="en-US" dirty="0"/>
              <a:t>11/26/2024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5292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2EE3-1862-478D-ABFA-CE4447D28533}" type="datetimeFigureOut">
              <a:rPr lang="en-US" dirty="0"/>
              <a:t>11/26/2024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276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0DD0-2A6F-4F79-890C-FFB39C5316A3}" type="datetimeFigureOut">
              <a:rPr lang="en-US" dirty="0"/>
              <a:t>11/26/2024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715013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D6FD3-7618-407B-9AD1-F22D2D250FF2}" type="datetimeFigureOut">
              <a:rPr lang="en-US" dirty="0"/>
              <a:t>11/26/2024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975184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85AEE-FEBA-4707-9A7F-B8CF33FA2E44}" type="datetimeFigureOut">
              <a:rPr lang="en-US" dirty="0"/>
              <a:t>11/26/2024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2860191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DBA2-4164-48AA-BE36-C02775701CCE}" type="datetimeFigureOut">
              <a:rPr lang="en-US" dirty="0"/>
              <a:t>11/26/2024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313135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2D7-2A52-40FE-9D68-7AA14F989445}" type="datetimeFigureOut">
              <a:rPr lang="en-US" dirty="0"/>
              <a:t>11/26/2024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044424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A9BF-74C6-453E-9062-D3583FAE2170}" type="datetimeFigureOut">
              <a:rPr lang="en-US" dirty="0"/>
              <a:t>11/26/2024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719434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D82FE-38CB-4EF0-933A-9DB1E0083DE7}" type="datetimeFigureOut">
              <a:rPr lang="en-US" dirty="0"/>
              <a:t>11/26/2024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2553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C8C4D7EC-FC7F-48C5-AE2E-706146BC4953}" type="datetimeFigureOut">
              <a:rPr lang="en-US" dirty="0"/>
              <a:t>11/26/2024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50293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idle" TargetMode="Externa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hyperlink" Target="idle" TargetMode="Externa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4" name="Rectangle 246"/>
          <p:cNvSpPr>
            <a:spLocks noChangeArrowheads="1"/>
          </p:cNvSpPr>
          <p:nvPr/>
        </p:nvSpPr>
        <p:spPr bwMode="gray">
          <a:xfrm>
            <a:off x="0" y="0"/>
            <a:ext cx="9144000" cy="838200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2117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12538" name="Rectangle 250"/>
          <p:cNvSpPr>
            <a:spLocks noChangeArrowheads="1"/>
          </p:cNvSpPr>
          <p:nvPr/>
        </p:nvSpPr>
        <p:spPr bwMode="white">
          <a:xfrm>
            <a:off x="0" y="990600"/>
            <a:ext cx="9144000" cy="3657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12310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458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 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12309" name="Rectangle 21"/>
          <p:cNvSpPr>
            <a:spLocks noGrp="1" noChangeArrowheads="1"/>
          </p:cNvSpPr>
          <p:nvPr>
            <p:ph type="title"/>
          </p:nvPr>
        </p:nvSpPr>
        <p:spPr bwMode="gray">
          <a:xfrm>
            <a:off x="683569" y="127686"/>
            <a:ext cx="744473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ko-KR"/>
          </a:p>
        </p:txBody>
      </p:sp>
      <p:pic>
        <p:nvPicPr>
          <p:cNvPr id="12548" name="Picture 260" descr="http://astroleaks.lamost.org/wp-content/uploads/2012/03/Logo_Python.png">
            <a:hlinkClick r:id="rId17" action="ppaction://program"/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632464" cy="63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圆角矩形 2">
            <a:hlinkClick r:id="rId17" action="ppaction://program"/>
          </p:cNvPr>
          <p:cNvSpPr/>
          <p:nvPr userDrawn="1"/>
        </p:nvSpPr>
        <p:spPr>
          <a:xfrm>
            <a:off x="0" y="57665"/>
            <a:ext cx="568411" cy="691431"/>
          </a:xfrm>
          <a:prstGeom prst="roundRect">
            <a:avLst/>
          </a:prstGeom>
          <a:ln>
            <a:noFill/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24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 b="1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557199" indent="-214308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2pPr>
      <a:lvl3pPr marL="857229" indent="-171446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3pPr>
      <a:lvl4pPr marL="1200121" indent="-171446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4pPr>
      <a:lvl5pPr marL="1543012" indent="-171446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E9B1F-4A78-4DE2-B1E7-52FA32BE5580}" type="datetimeFigureOut">
              <a:rPr lang="en-US" dirty="0"/>
              <a:t>11/26/2024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圆角矩形 7">
            <a:hlinkClick r:id="rId20" action="ppaction://program"/>
          </p:cNvPr>
          <p:cNvSpPr/>
          <p:nvPr userDrawn="1"/>
        </p:nvSpPr>
        <p:spPr>
          <a:xfrm>
            <a:off x="0" y="57665"/>
            <a:ext cx="568411" cy="691431"/>
          </a:xfrm>
          <a:prstGeom prst="roundRect">
            <a:avLst/>
          </a:prstGeom>
          <a:ln>
            <a:noFill/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37458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5.tm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image" Target="../media/image5.tmp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pPr fontAlgn="auto">
              <a:lnSpc>
                <a:spcPct val="12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章  字典和集合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如何存放每个同学的</a:t>
            </a:r>
            <a:r>
              <a:rPr lang="zh-CN" altLang="en-US" dirty="0">
                <a:solidFill>
                  <a:srgbClr val="0000FF"/>
                </a:solidFill>
              </a:rPr>
              <a:t>学号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成绩</a:t>
            </a:r>
            <a:r>
              <a:rPr lang="zh-CN" altLang="en-US" dirty="0"/>
              <a:t>？</a:t>
            </a:r>
            <a:r>
              <a:rPr lang="en-US" altLang="zh-CN" dirty="0"/>
              <a:t>——</a:t>
            </a:r>
            <a:r>
              <a:rPr lang="zh-CN" altLang="en-US" dirty="0">
                <a:solidFill>
                  <a:srgbClr val="0000FF"/>
                </a:solidFill>
              </a:rPr>
              <a:t>方法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/>
              <a:t>：用</a:t>
            </a:r>
            <a:r>
              <a:rPr lang="en-US" altLang="zh-CN" dirty="0"/>
              <a:t>2</a:t>
            </a:r>
            <a:r>
              <a:rPr lang="zh-CN" altLang="en-US" dirty="0"/>
              <a:t>个列表，长度相同、索引对应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问题的引入</a:t>
            </a:r>
          </a:p>
        </p:txBody>
      </p:sp>
      <p:sp>
        <p:nvSpPr>
          <p:cNvPr id="4" name="矩形 3"/>
          <p:cNvSpPr/>
          <p:nvPr/>
        </p:nvSpPr>
        <p:spPr>
          <a:xfrm>
            <a:off x="509154" y="2222385"/>
            <a:ext cx="59623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zh-CN" sz="1350" dirty="0"/>
              <a:t>&gt;&gt;&gt; ls</a:t>
            </a:r>
            <a:r>
              <a:rPr lang="en-US" altLang="zh-CN" sz="1350" dirty="0"/>
              <a:t>t</a:t>
            </a:r>
            <a:r>
              <a:rPr lang="fr-FR" altLang="zh-CN" sz="1350" dirty="0"/>
              <a:t>1 = ['100001', '100002', '100003', '100004'</a:t>
            </a:r>
            <a:r>
              <a:rPr lang="zh-CN" altLang="en-US" sz="1350" dirty="0"/>
              <a:t>，</a:t>
            </a:r>
            <a:r>
              <a:rPr lang="fr-FR" altLang="zh-CN" sz="1350" dirty="0"/>
              <a:t> '100005']</a:t>
            </a:r>
          </a:p>
          <a:p>
            <a:r>
              <a:rPr lang="fr-FR" altLang="zh-CN" sz="1350" dirty="0"/>
              <a:t>&gt;&gt;&gt; lst2 = [95, 90, 85, 92, 80]</a:t>
            </a:r>
            <a:endParaRPr lang="zh-CN" altLang="en-US" sz="1350" dirty="0"/>
          </a:p>
        </p:txBody>
      </p:sp>
      <p:sp>
        <p:nvSpPr>
          <p:cNvPr id="5" name="矩形 4"/>
          <p:cNvSpPr/>
          <p:nvPr/>
        </p:nvSpPr>
        <p:spPr>
          <a:xfrm>
            <a:off x="509153" y="2661803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350" dirty="0"/>
              <a:t>&gt;&gt;&gt; for </a:t>
            </a:r>
            <a:r>
              <a:rPr lang="en-US" altLang="zh-CN" sz="1350" dirty="0" err="1"/>
              <a:t>i</a:t>
            </a:r>
            <a:r>
              <a:rPr lang="en-US" altLang="zh-CN" sz="1350" dirty="0"/>
              <a:t> in range(</a:t>
            </a:r>
            <a:r>
              <a:rPr lang="en-US" altLang="zh-CN" sz="1350" dirty="0" err="1"/>
              <a:t>len</a:t>
            </a:r>
            <a:r>
              <a:rPr lang="en-US" altLang="zh-CN" sz="1350" dirty="0"/>
              <a:t>(lst1)):</a:t>
            </a:r>
          </a:p>
          <a:p>
            <a:r>
              <a:rPr lang="en-US" altLang="zh-CN" sz="1350" dirty="0"/>
              <a:t>	print(lst1[</a:t>
            </a:r>
            <a:r>
              <a:rPr lang="en-US" altLang="zh-CN" sz="1350" dirty="0" err="1"/>
              <a:t>i</a:t>
            </a:r>
            <a:r>
              <a:rPr lang="en-US" altLang="zh-CN" sz="1350" dirty="0"/>
              <a:t>], lst2[</a:t>
            </a:r>
            <a:r>
              <a:rPr lang="en-US" altLang="zh-CN" sz="1350" dirty="0" err="1"/>
              <a:t>i</a:t>
            </a:r>
            <a:r>
              <a:rPr lang="en-US" altLang="zh-CN" sz="1350" dirty="0"/>
              <a:t>])</a:t>
            </a:r>
          </a:p>
          <a:p>
            <a:endParaRPr lang="en-US" altLang="zh-CN" sz="1350" dirty="0"/>
          </a:p>
          <a:p>
            <a:r>
              <a:rPr lang="en-US" altLang="zh-CN" sz="1350" dirty="0">
                <a:solidFill>
                  <a:srgbClr val="0000FF"/>
                </a:solidFill>
              </a:rPr>
              <a:t>100001 95</a:t>
            </a:r>
          </a:p>
          <a:p>
            <a:r>
              <a:rPr lang="en-US" altLang="zh-CN" sz="1350" dirty="0">
                <a:solidFill>
                  <a:srgbClr val="0000FF"/>
                </a:solidFill>
              </a:rPr>
              <a:t>100002 90</a:t>
            </a:r>
          </a:p>
          <a:p>
            <a:r>
              <a:rPr lang="en-US" altLang="zh-CN" sz="1350" dirty="0">
                <a:solidFill>
                  <a:srgbClr val="0000FF"/>
                </a:solidFill>
              </a:rPr>
              <a:t>100003 85</a:t>
            </a:r>
          </a:p>
          <a:p>
            <a:r>
              <a:rPr lang="en-US" altLang="zh-CN" sz="1350" dirty="0">
                <a:solidFill>
                  <a:srgbClr val="0000FF"/>
                </a:solidFill>
              </a:rPr>
              <a:t>100004 92</a:t>
            </a:r>
          </a:p>
          <a:p>
            <a:r>
              <a:rPr lang="en-US" altLang="zh-CN" sz="1350" dirty="0">
                <a:solidFill>
                  <a:srgbClr val="0000FF"/>
                </a:solidFill>
              </a:rPr>
              <a:t>100005 80</a:t>
            </a:r>
            <a:endParaRPr lang="zh-CN" altLang="en-US" sz="1350" dirty="0">
              <a:solidFill>
                <a:srgbClr val="0000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09153" y="4692302"/>
            <a:ext cx="8113223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350" dirty="0"/>
              <a:t>&gt;&gt;&gt; </a:t>
            </a:r>
            <a:r>
              <a:rPr lang="sv-SE" altLang="zh-CN" sz="1350" dirty="0"/>
              <a:t>lst = [('100001', 95), ('100002', 90), ('100003', 85), ('100004', 92), ('100005', 80)]</a:t>
            </a:r>
          </a:p>
        </p:txBody>
      </p:sp>
      <p:sp>
        <p:nvSpPr>
          <p:cNvPr id="7" name="矩形 6"/>
          <p:cNvSpPr/>
          <p:nvPr/>
        </p:nvSpPr>
        <p:spPr>
          <a:xfrm>
            <a:off x="304800" y="4392633"/>
            <a:ext cx="532325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2876" indent="-192876" fontAlgn="base"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Font typeface="Wingdings" pitchFamily="2" charset="2"/>
              <a:buChar char="v"/>
            </a:pPr>
            <a:r>
              <a:rPr lang="en-US" altLang="zh-CN" sz="1500" b="1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en-US" altLang="zh-CN" sz="1500" b="1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：用</a:t>
            </a:r>
            <a:r>
              <a:rPr lang="en-US" altLang="zh-CN" sz="1500" b="1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500" b="1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个列表，列表元素为元组（或者 子列表）</a:t>
            </a:r>
          </a:p>
        </p:txBody>
      </p:sp>
      <p:sp>
        <p:nvSpPr>
          <p:cNvPr id="8" name="矩形 7"/>
          <p:cNvSpPr/>
          <p:nvPr/>
        </p:nvSpPr>
        <p:spPr>
          <a:xfrm>
            <a:off x="509153" y="5038345"/>
            <a:ext cx="4572000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350" dirty="0"/>
              <a:t>&gt;&gt;&gt; for </a:t>
            </a:r>
            <a:r>
              <a:rPr lang="en-US" altLang="zh-CN" sz="1350" dirty="0" err="1"/>
              <a:t>i</a:t>
            </a:r>
            <a:r>
              <a:rPr lang="en-US" altLang="zh-CN" sz="1350" dirty="0"/>
              <a:t> in range(</a:t>
            </a:r>
            <a:r>
              <a:rPr lang="en-US" altLang="zh-CN" sz="1350" dirty="0" err="1"/>
              <a:t>len</a:t>
            </a:r>
            <a:r>
              <a:rPr lang="en-US" altLang="zh-CN" sz="1350" dirty="0"/>
              <a:t>(</a:t>
            </a:r>
            <a:r>
              <a:rPr lang="en-US" altLang="zh-CN" sz="1350" dirty="0" err="1"/>
              <a:t>lst</a:t>
            </a:r>
            <a:r>
              <a:rPr lang="en-US" altLang="zh-CN" sz="1350" dirty="0"/>
              <a:t>)):</a:t>
            </a:r>
          </a:p>
          <a:p>
            <a:r>
              <a:rPr lang="en-US" altLang="zh-CN" sz="1350" dirty="0"/>
              <a:t>	print(</a:t>
            </a:r>
            <a:r>
              <a:rPr lang="en-US" altLang="zh-CN" sz="1350" dirty="0" err="1"/>
              <a:t>lst</a:t>
            </a:r>
            <a:r>
              <a:rPr lang="en-US" altLang="zh-CN" sz="1350" dirty="0"/>
              <a:t>[</a:t>
            </a:r>
            <a:r>
              <a:rPr lang="en-US" altLang="zh-CN" sz="1350" dirty="0" err="1"/>
              <a:t>i</a:t>
            </a:r>
            <a:r>
              <a:rPr lang="en-US" altLang="zh-CN" sz="1350" dirty="0"/>
              <a:t>][0], </a:t>
            </a:r>
            <a:r>
              <a:rPr lang="en-US" altLang="zh-CN" sz="1350" dirty="0" err="1"/>
              <a:t>lst</a:t>
            </a:r>
            <a:r>
              <a:rPr lang="en-US" altLang="zh-CN" sz="1350" dirty="0"/>
              <a:t>[</a:t>
            </a:r>
            <a:r>
              <a:rPr lang="en-US" altLang="zh-CN" sz="1350" dirty="0" err="1"/>
              <a:t>i</a:t>
            </a:r>
            <a:r>
              <a:rPr lang="en-US" altLang="zh-CN" sz="1350" dirty="0"/>
              <a:t>][1])</a:t>
            </a:r>
          </a:p>
        </p:txBody>
      </p:sp>
    </p:spTree>
    <p:extLst>
      <p:ext uri="{BB962C8B-B14F-4D97-AF65-F5344CB8AC3E}">
        <p14:creationId xmlns:p14="http://schemas.microsoft.com/office/powerpoint/2010/main" val="2692539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>
                <a:solidFill>
                  <a:srgbClr val="000000"/>
                </a:solidFill>
              </a:rPr>
              <a:t>——</a:t>
            </a:r>
            <a:r>
              <a:rPr lang="zh-CN" altLang="en-US" dirty="0">
                <a:solidFill>
                  <a:srgbClr val="000000"/>
                </a:solidFill>
              </a:rPr>
              <a:t>方法</a:t>
            </a:r>
            <a:r>
              <a:rPr lang="en-US" altLang="zh-CN" dirty="0">
                <a:solidFill>
                  <a:srgbClr val="000000"/>
                </a:solidFill>
              </a:rPr>
              <a:t>3</a:t>
            </a:r>
            <a:r>
              <a:rPr lang="zh-CN" altLang="en-US" dirty="0">
                <a:solidFill>
                  <a:srgbClr val="000000"/>
                </a:solidFill>
              </a:rPr>
              <a:t>：用</a:t>
            </a:r>
            <a:r>
              <a:rPr lang="zh-CN" altLang="en-US" dirty="0">
                <a:solidFill>
                  <a:srgbClr val="0000FF"/>
                </a:solidFill>
              </a:rPr>
              <a:t>字典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04799" y="2164161"/>
            <a:ext cx="8753996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350" b="1" dirty="0"/>
              <a:t>&gt;&gt;&gt; d = {'100001':95,  '100002': 90,  '100003': 85,  '100004': 92,  '100005': 80}</a:t>
            </a:r>
            <a:endParaRPr lang="zh-CN" altLang="en-US" sz="1350" b="1" dirty="0"/>
          </a:p>
        </p:txBody>
      </p:sp>
      <p:sp>
        <p:nvSpPr>
          <p:cNvPr id="5" name="圆角矩形 4"/>
          <p:cNvSpPr/>
          <p:nvPr/>
        </p:nvSpPr>
        <p:spPr>
          <a:xfrm>
            <a:off x="1103005" y="2451475"/>
            <a:ext cx="2762414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b="1" kern="0" dirty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键</a:t>
            </a:r>
            <a:r>
              <a:rPr lang="en-US" altLang="zh-CN" b="1" kern="0" dirty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(key) : </a:t>
            </a:r>
            <a:r>
              <a:rPr lang="zh-CN" altLang="en-US" b="1" kern="0" dirty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值</a:t>
            </a:r>
            <a:r>
              <a:rPr lang="en-US" altLang="zh-CN" b="1" kern="0" dirty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(value)</a:t>
            </a:r>
            <a:endParaRPr lang="zh-CN" altLang="en-US" b="1" kern="0" dirty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4799" y="3357795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350" dirty="0"/>
              <a:t>&gt;&gt;&gt; for x in d:</a:t>
            </a:r>
          </a:p>
          <a:p>
            <a:r>
              <a:rPr lang="en-US" altLang="zh-CN" sz="1350" dirty="0"/>
              <a:t>	print(x, d[x])</a:t>
            </a:r>
          </a:p>
          <a:p>
            <a:endParaRPr lang="en-US" altLang="zh-CN" sz="1350" dirty="0"/>
          </a:p>
          <a:p>
            <a:r>
              <a:rPr lang="en-US" altLang="zh-CN" sz="1350" dirty="0">
                <a:solidFill>
                  <a:srgbClr val="0000FF"/>
                </a:solidFill>
              </a:rPr>
              <a:t>100001 95</a:t>
            </a:r>
          </a:p>
          <a:p>
            <a:r>
              <a:rPr lang="en-US" altLang="zh-CN" sz="1350" dirty="0">
                <a:solidFill>
                  <a:srgbClr val="0000FF"/>
                </a:solidFill>
              </a:rPr>
              <a:t>100002 90</a:t>
            </a:r>
          </a:p>
          <a:p>
            <a:r>
              <a:rPr lang="en-US" altLang="zh-CN" sz="1350" dirty="0">
                <a:solidFill>
                  <a:srgbClr val="0000FF"/>
                </a:solidFill>
              </a:rPr>
              <a:t>100003 85</a:t>
            </a:r>
          </a:p>
          <a:p>
            <a:r>
              <a:rPr lang="en-US" altLang="zh-CN" sz="1350" dirty="0">
                <a:solidFill>
                  <a:srgbClr val="0000FF"/>
                </a:solidFill>
              </a:rPr>
              <a:t>100004 92</a:t>
            </a:r>
          </a:p>
          <a:p>
            <a:r>
              <a:rPr lang="en-US" altLang="zh-CN" sz="1350" dirty="0">
                <a:solidFill>
                  <a:srgbClr val="0000FF"/>
                </a:solidFill>
              </a:rPr>
              <a:t>100005 80</a:t>
            </a:r>
            <a:endParaRPr lang="zh-CN" altLang="en-US" sz="135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000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6174" y="997469"/>
            <a:ext cx="8458200" cy="1909633"/>
          </a:xfrm>
        </p:spPr>
        <p:txBody>
          <a:bodyPr/>
          <a:lstStyle/>
          <a:p>
            <a:pPr fontAlgn="auto">
              <a:lnSpc>
                <a:spcPts val="2800"/>
              </a:lnSpc>
              <a:spcBef>
                <a:spcPts val="0"/>
              </a:spcBef>
            </a:pPr>
            <a:r>
              <a:rPr lang="zh-CN" altLang="en-US" dirty="0"/>
              <a:t>字典（dictionary）是包含若干“键:值”元素的</a:t>
            </a:r>
            <a:r>
              <a:rPr lang="zh-CN" altLang="en-US" dirty="0">
                <a:solidFill>
                  <a:srgbClr val="FF0000"/>
                </a:solidFill>
              </a:rPr>
              <a:t>无序可变序列</a:t>
            </a:r>
            <a:r>
              <a:rPr lang="zh-CN" altLang="en-US" dirty="0"/>
              <a:t>，字典中的</a:t>
            </a:r>
            <a:r>
              <a:rPr lang="zh-CN" altLang="en-US" dirty="0">
                <a:solidFill>
                  <a:srgbClr val="FF0000"/>
                </a:solidFill>
              </a:rPr>
              <a:t>每个元素包含用冒号分隔开的“键”和“值”两部分</a:t>
            </a:r>
            <a:r>
              <a:rPr lang="zh-CN" altLang="en-US" dirty="0"/>
              <a:t>，表示一种映射或对应关系，也称关联数组。定义字典时，每个元素的“键”和“值”之间用冒号分隔，不同元素之间用逗号分隔，所有的元素放在一对</a:t>
            </a:r>
            <a:r>
              <a:rPr lang="zh-CN" altLang="en-US" dirty="0">
                <a:solidFill>
                  <a:srgbClr val="FF0000"/>
                </a:solidFill>
              </a:rPr>
              <a:t>大括号</a:t>
            </a:r>
            <a:r>
              <a:rPr lang="zh-CN" altLang="en-US" dirty="0"/>
              <a:t>“｛｝”中。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字典的定义</a:t>
            </a:r>
          </a:p>
        </p:txBody>
      </p:sp>
      <p:sp>
        <p:nvSpPr>
          <p:cNvPr id="4" name="矩形 3"/>
          <p:cNvSpPr/>
          <p:nvPr/>
        </p:nvSpPr>
        <p:spPr>
          <a:xfrm>
            <a:off x="888520" y="3142719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000" b="1" dirty="0">
                <a:latin typeface="Consolas" panose="020B0609020204030204" pitchFamily="49" charset="0"/>
              </a:rPr>
              <a:t>&gt;&gt;&gt; {</a:t>
            </a:r>
            <a:r>
              <a:rPr lang="zh-CN" altLang="en-US" sz="2000" b="1" dirty="0">
                <a:solidFill>
                  <a:srgbClr val="00B0F0"/>
                </a:solidFill>
                <a:latin typeface="Consolas" panose="020B0609020204030204" pitchFamily="49" charset="0"/>
              </a:rPr>
              <a:t>'a'</a:t>
            </a:r>
            <a:r>
              <a:rPr lang="zh-CN" altLang="en-US" sz="2000" b="1" dirty="0">
                <a:latin typeface="Consolas" panose="020B0609020204030204" pitchFamily="49" charset="0"/>
              </a:rPr>
              <a:t>:</a:t>
            </a:r>
            <a:r>
              <a:rPr lang="zh-CN" altLang="en-US" sz="2000" b="1" dirty="0">
                <a:solidFill>
                  <a:srgbClr val="FFC000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2000" b="1" dirty="0">
                <a:solidFill>
                  <a:srgbClr val="FFC000"/>
                </a:solidFill>
                <a:latin typeface="Consolas" panose="020B0609020204030204" pitchFamily="49" charset="0"/>
              </a:rPr>
              <a:t>2</a:t>
            </a:r>
            <a:r>
              <a:rPr lang="zh-CN" altLang="en-US" sz="2000" b="1" dirty="0">
                <a:latin typeface="Consolas" panose="020B0609020204030204" pitchFamily="49" charset="0"/>
              </a:rPr>
              <a:t>,</a:t>
            </a:r>
            <a:r>
              <a:rPr lang="zh-CN" altLang="en-US" sz="2000" b="1" dirty="0">
                <a:solidFill>
                  <a:srgbClr val="00B0F0"/>
                </a:solidFill>
                <a:latin typeface="Consolas" panose="020B0609020204030204" pitchFamily="49" charset="0"/>
              </a:rPr>
              <a:t>'b'</a:t>
            </a:r>
            <a:r>
              <a:rPr lang="zh-CN" altLang="en-US" sz="2000" b="1" dirty="0">
                <a:latin typeface="Consolas" panose="020B0609020204030204" pitchFamily="49" charset="0"/>
              </a:rPr>
              <a:t>:</a:t>
            </a:r>
            <a:r>
              <a:rPr lang="en-US" altLang="zh-CN" sz="2000" b="1" dirty="0">
                <a:solidFill>
                  <a:srgbClr val="FFC000"/>
                </a:solidFill>
                <a:latin typeface="Consolas" panose="020B0609020204030204" pitchFamily="49" charset="0"/>
              </a:rPr>
              <a:t>12</a:t>
            </a:r>
            <a:r>
              <a:rPr lang="zh-CN" altLang="en-US" sz="2000" b="1" dirty="0">
                <a:latin typeface="Consolas" panose="020B0609020204030204" pitchFamily="49" charset="0"/>
              </a:rPr>
              <a:t>, </a:t>
            </a:r>
            <a:r>
              <a:rPr lang="zh-CN" altLang="en-US" sz="2000" b="1" dirty="0">
                <a:solidFill>
                  <a:srgbClr val="00B0F0"/>
                </a:solidFill>
                <a:latin typeface="Consolas" panose="020B0609020204030204" pitchFamily="49" charset="0"/>
              </a:rPr>
              <a:t>3</a:t>
            </a:r>
            <a:r>
              <a:rPr lang="zh-CN" altLang="en-US" sz="2000" b="1" dirty="0">
                <a:latin typeface="Consolas" panose="020B0609020204030204" pitchFamily="49" charset="0"/>
              </a:rPr>
              <a:t>:</a:t>
            </a:r>
            <a:r>
              <a:rPr lang="zh-CN" altLang="en-US" sz="2000" b="1" dirty="0">
                <a:solidFill>
                  <a:srgbClr val="FFC000"/>
                </a:solidFill>
                <a:latin typeface="Consolas" panose="020B0609020204030204" pitchFamily="49" charset="0"/>
              </a:rPr>
              <a:t>'cd'</a:t>
            </a:r>
            <a:r>
              <a:rPr lang="zh-CN" altLang="en-US" sz="20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内容占位符 1"/>
          <p:cNvSpPr txBox="1">
            <a:spLocks/>
          </p:cNvSpPr>
          <p:nvPr/>
        </p:nvSpPr>
        <p:spPr bwMode="auto">
          <a:xfrm>
            <a:off x="416943" y="4062391"/>
            <a:ext cx="8458200" cy="140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0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kern="0" dirty="0">
                <a:solidFill>
                  <a:srgbClr val="FF0000"/>
                </a:solidFill>
              </a:rPr>
              <a:t>字典中元素的“键”可以是Python中任意不可变数据</a:t>
            </a:r>
            <a:r>
              <a:rPr lang="zh-CN" altLang="en-US" kern="0" dirty="0"/>
              <a:t>，例如整数、实数、复数、字符串、元组等类型等可哈希数据，但不能使用列表、集合、字典或其他可变类型作为字典的“键”。另外，</a:t>
            </a:r>
            <a:r>
              <a:rPr lang="zh-CN" altLang="en-US" kern="0" dirty="0">
                <a:solidFill>
                  <a:srgbClr val="FF0000"/>
                </a:solidFill>
              </a:rPr>
              <a:t>字典中的“键”不允许重复</a:t>
            </a:r>
            <a:r>
              <a:rPr lang="zh-CN" altLang="en-US" kern="0" dirty="0"/>
              <a:t>，而“值”是可以重复的。</a:t>
            </a:r>
          </a:p>
          <a:p>
            <a:endParaRPr lang="zh-CN" altLang="en-US" kern="0" dirty="0"/>
          </a:p>
        </p:txBody>
      </p:sp>
      <p:sp>
        <p:nvSpPr>
          <p:cNvPr id="6" name="圆角矩形 5"/>
          <p:cNvSpPr/>
          <p:nvPr/>
        </p:nvSpPr>
        <p:spPr>
          <a:xfrm>
            <a:off x="5391509" y="2633779"/>
            <a:ext cx="1362974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kern="0" dirty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键</a:t>
            </a:r>
            <a:r>
              <a:rPr lang="en-US" altLang="zh-CN" kern="0" dirty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(key)</a:t>
            </a:r>
            <a:endParaRPr lang="zh-CN" altLang="en-US" kern="0" dirty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391509" y="3498271"/>
            <a:ext cx="1362974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kern="0" dirty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值</a:t>
            </a:r>
            <a:r>
              <a:rPr lang="en-US" altLang="zh-CN" kern="0" dirty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(value)</a:t>
            </a:r>
            <a:endParaRPr lang="zh-CN" altLang="en-US" kern="0" dirty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cxnSp>
        <p:nvCxnSpPr>
          <p:cNvPr id="9" name="直接箭头连接符 8"/>
          <p:cNvCxnSpPr>
            <a:stCxn id="6" idx="1"/>
          </p:cNvCxnSpPr>
          <p:nvPr/>
        </p:nvCxnSpPr>
        <p:spPr bwMode="auto">
          <a:xfrm flipH="1">
            <a:off x="1906438" y="2838091"/>
            <a:ext cx="3485071" cy="3781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箭头连接符 10"/>
          <p:cNvCxnSpPr>
            <a:stCxn id="6" idx="1"/>
          </p:cNvCxnSpPr>
          <p:nvPr/>
        </p:nvCxnSpPr>
        <p:spPr bwMode="auto">
          <a:xfrm flipH="1">
            <a:off x="2881223" y="2838091"/>
            <a:ext cx="2510286" cy="39337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6" idx="1"/>
          </p:cNvCxnSpPr>
          <p:nvPr/>
        </p:nvCxnSpPr>
        <p:spPr bwMode="auto">
          <a:xfrm flipH="1">
            <a:off x="3877573" y="2838091"/>
            <a:ext cx="1513936" cy="40862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直接箭头连接符 14"/>
          <p:cNvCxnSpPr>
            <a:stCxn id="7" idx="1"/>
          </p:cNvCxnSpPr>
          <p:nvPr/>
        </p:nvCxnSpPr>
        <p:spPr bwMode="auto">
          <a:xfrm flipH="1" flipV="1">
            <a:off x="2415396" y="3482217"/>
            <a:ext cx="2976113" cy="2203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直接箭头连接符 16"/>
          <p:cNvCxnSpPr>
            <a:stCxn id="7" idx="1"/>
          </p:cNvCxnSpPr>
          <p:nvPr/>
        </p:nvCxnSpPr>
        <p:spPr bwMode="auto">
          <a:xfrm flipH="1" flipV="1">
            <a:off x="3407434" y="3466966"/>
            <a:ext cx="1984075" cy="2356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直接箭头连接符 18"/>
          <p:cNvCxnSpPr>
            <a:stCxn id="7" idx="1"/>
          </p:cNvCxnSpPr>
          <p:nvPr/>
        </p:nvCxnSpPr>
        <p:spPr bwMode="auto">
          <a:xfrm flipH="1" flipV="1">
            <a:off x="4235570" y="3435775"/>
            <a:ext cx="1155939" cy="2668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9974" y="1105777"/>
            <a:ext cx="8751498" cy="990442"/>
          </a:xfrm>
        </p:spPr>
        <p:txBody>
          <a:bodyPr>
            <a:no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使用赋值运算符“=”将一个字典赋值给一个变量即可创建一个字典变量。</a:t>
            </a:r>
            <a:endParaRPr lang="zh-CN" altLang="en-US" sz="1800" dirty="0">
              <a:latin typeface="Consolas" panose="020B0609020204030204" charset="0"/>
            </a:endParaRPr>
          </a:p>
          <a:p>
            <a:pPr fontAlgn="auto">
              <a:lnSpc>
                <a:spcPct val="160000"/>
              </a:lnSpc>
              <a:spcBef>
                <a:spcPts val="0"/>
              </a:spcBef>
            </a:pPr>
            <a:r>
              <a:rPr lang="zh-CN" altLang="en-US" dirty="0"/>
              <a:t>使用内置类dict以不同形式创建字典。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字典的创建</a:t>
            </a:r>
          </a:p>
        </p:txBody>
      </p:sp>
      <p:sp>
        <p:nvSpPr>
          <p:cNvPr id="4" name="矩形 3"/>
          <p:cNvSpPr/>
          <p:nvPr/>
        </p:nvSpPr>
        <p:spPr>
          <a:xfrm>
            <a:off x="241539" y="2096219"/>
            <a:ext cx="8902461" cy="3787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</a:t>
            </a:r>
            <a:r>
              <a:rPr lang="en-US" altLang="zh-CN" dirty="0">
                <a:latin typeface="Consolas" panose="020B0609020204030204" charset="0"/>
              </a:rPr>
              <a:t>x={'name':'lucy','age':40}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x = {}                           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#空字典</a:t>
            </a:r>
            <a:endParaRPr lang="en-US" altLang="zh-CN" dirty="0">
              <a:latin typeface="Consolas" panose="020B060902020403020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charset="0"/>
              </a:rPr>
              <a:t>&gt;&gt;&gt; </a:t>
            </a:r>
            <a:r>
              <a:rPr lang="zh-CN" altLang="en-US" dirty="0">
                <a:latin typeface="Consolas" panose="020B0609020204030204" charset="0"/>
              </a:rPr>
              <a:t>x = dict()                       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#空字典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type(x)                          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#查看对象类型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Consolas" panose="020B0609020204030204" charset="0"/>
              </a:rPr>
              <a:t>&lt;class 'dict'&gt;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charset="0"/>
              </a:rPr>
              <a:t>&gt;&gt;&gt; </a:t>
            </a:r>
            <a:r>
              <a:rPr lang="en-US" altLang="zh-CN" dirty="0" err="1">
                <a:latin typeface="Consolas" panose="020B0609020204030204" charset="0"/>
              </a:rPr>
              <a:t>dict</a:t>
            </a:r>
            <a:r>
              <a:rPr lang="en-US" altLang="zh-CN" dirty="0">
                <a:latin typeface="Consolas" panose="020B0609020204030204" charset="0"/>
              </a:rPr>
              <a:t>((['x',1],['y',2]))          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#使用列表或元组创建字典</a:t>
            </a:r>
            <a:r>
              <a:rPr lang="en-US" altLang="zh-CN" dirty="0">
                <a:latin typeface="Consolas" panose="020B0609020204030204" charset="0"/>
              </a:rPr>
              <a:t> 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C00000"/>
                </a:solidFill>
                <a:latin typeface="Consolas" panose="020B0609020204030204" charset="0"/>
              </a:rPr>
              <a:t>{'x': 1, 'y': 2}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dict(name='Dong', age=39)        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#以关键参数的形式创建字典</a:t>
            </a:r>
            <a:endParaRPr lang="en-US" altLang="zh-CN" dirty="0">
              <a:solidFill>
                <a:srgbClr val="00B0F0"/>
              </a:solidFill>
              <a:latin typeface="Consolas" panose="020B060902020403020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C00000"/>
                </a:solidFill>
                <a:latin typeface="Consolas" panose="020B0609020204030204" charset="0"/>
              </a:rPr>
              <a:t>{'name': 'Dong', 'age': 39}</a:t>
            </a:r>
            <a:endParaRPr lang="zh-CN" altLang="en-US" dirty="0">
              <a:solidFill>
                <a:srgbClr val="C00000"/>
              </a:solidFill>
              <a:latin typeface="Consolas" panose="020B0609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2073535"/>
          </a:xfrm>
        </p:spPr>
        <p:txBody>
          <a:bodyPr/>
          <a:lstStyle/>
          <a:p>
            <a:r>
              <a:rPr lang="zh-CN" altLang="en-US" dirty="0"/>
              <a:t>字典的索引</a:t>
            </a:r>
          </a:p>
          <a:p>
            <a:pPr lvl="1"/>
            <a:r>
              <a:rPr lang="zh-CN" altLang="en-US" dirty="0"/>
              <a:t>与以连续整数为索引的序列不同，字典以</a:t>
            </a:r>
            <a:r>
              <a:rPr lang="zh-CN" altLang="en-US" b="1" dirty="0">
                <a:solidFill>
                  <a:srgbClr val="FF0000"/>
                </a:solidFill>
              </a:rPr>
              <a:t>关键字</a:t>
            </a:r>
            <a:r>
              <a:rPr lang="zh-CN" altLang="en-US" dirty="0"/>
              <a:t>为索引，通过关键字来访问字典的元素</a:t>
            </a:r>
            <a:endParaRPr lang="en-US" altLang="zh-CN" dirty="0"/>
          </a:p>
          <a:p>
            <a:pPr marL="342891" lvl="1" indent="0">
              <a:buNone/>
            </a:pPr>
            <a:r>
              <a:rPr lang="zh-CN" altLang="en-US" dirty="0"/>
              <a:t>             </a:t>
            </a:r>
            <a:r>
              <a:rPr lang="zh-CN" altLang="en-US" b="1" dirty="0">
                <a:solidFill>
                  <a:srgbClr val="C00000"/>
                </a:solidFill>
              </a:rPr>
              <a:t>字典名</a:t>
            </a:r>
            <a:r>
              <a:rPr lang="en-US" altLang="zh-CN" b="1" dirty="0">
                <a:solidFill>
                  <a:srgbClr val="C00000"/>
                </a:solidFill>
              </a:rPr>
              <a:t>[</a:t>
            </a:r>
            <a:r>
              <a:rPr lang="zh-CN" altLang="en-US" b="1" dirty="0">
                <a:solidFill>
                  <a:srgbClr val="C00000"/>
                </a:solidFill>
              </a:rPr>
              <a:t>关键字</a:t>
            </a:r>
            <a:r>
              <a:rPr lang="en-US" altLang="zh-CN" b="1" dirty="0">
                <a:solidFill>
                  <a:srgbClr val="C00000"/>
                </a:solidFill>
              </a:rPr>
              <a:t>]</a:t>
            </a:r>
          </a:p>
          <a:p>
            <a:pPr lvl="1"/>
            <a:r>
              <a:rPr lang="zh-CN" altLang="en-US" dirty="0"/>
              <a:t>如果关键字不在字典中，会引发一个</a:t>
            </a:r>
            <a:r>
              <a:rPr lang="en-US" altLang="zh-CN" dirty="0" err="1"/>
              <a:t>KeyError</a:t>
            </a:r>
            <a:r>
              <a:rPr lang="zh-CN" altLang="en-US" dirty="0"/>
              <a:t>错误。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字典的索引</a:t>
            </a:r>
          </a:p>
        </p:txBody>
      </p:sp>
      <p:sp>
        <p:nvSpPr>
          <p:cNvPr id="4" name="矩形 3"/>
          <p:cNvSpPr/>
          <p:nvPr/>
        </p:nvSpPr>
        <p:spPr>
          <a:xfrm>
            <a:off x="759125" y="3157268"/>
            <a:ext cx="81174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&gt;&gt;&gt; d={'a':1,'b':2, 3:'cd'}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&gt;&gt;&gt; d['a']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1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&gt;&gt;&gt; d['aa']</a:t>
            </a:r>
          </a:p>
          <a:p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Traceback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(most recent call last):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 File "&lt;pyshell#57&gt;", line 1, in &lt;module&gt;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   d['aa']</a:t>
            </a:r>
          </a:p>
          <a:p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KeyError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: 'aa'</a:t>
            </a:r>
            <a:endParaRPr lang="zh-CN" alt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172250" y="3977579"/>
            <a:ext cx="4523177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aa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不是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d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的关键字</a:t>
            </a:r>
            <a:endParaRPr lang="en-US" altLang="zh-CN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14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6674" y="899600"/>
            <a:ext cx="8458200" cy="1780237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/>
              <a:t>当索引的关键字不在字典中时会产生错误，所以有时我们需要通过</a:t>
            </a:r>
            <a:r>
              <a:rPr lang="en-US" altLang="zh-CN" dirty="0"/>
              <a:t>in</a:t>
            </a:r>
            <a:r>
              <a:rPr lang="zh-CN" altLang="en-US" dirty="0"/>
              <a:t>运算符判断</a:t>
            </a:r>
            <a:r>
              <a:rPr lang="zh-CN" altLang="en-US" dirty="0">
                <a:solidFill>
                  <a:srgbClr val="FF0000"/>
                </a:solidFill>
              </a:rPr>
              <a:t>关键字是否存在于字典</a:t>
            </a:r>
            <a:r>
              <a:rPr lang="zh-CN" altLang="en-US" dirty="0"/>
              <a:t>中。</a:t>
            </a:r>
          </a:p>
          <a:p>
            <a:pPr lvl="1">
              <a:lnSpc>
                <a:spcPct val="200000"/>
              </a:lnSpc>
            </a:pPr>
            <a:r>
              <a:rPr lang="zh-CN" altLang="en-US" dirty="0"/>
              <a:t>关键字 </a:t>
            </a:r>
            <a:r>
              <a:rPr lang="en-US" altLang="zh-CN" dirty="0"/>
              <a:t>in </a:t>
            </a:r>
            <a:r>
              <a:rPr lang="zh-CN" altLang="en-US" dirty="0"/>
              <a:t>字典，值为</a:t>
            </a:r>
            <a:r>
              <a:rPr lang="en-US" altLang="zh-CN" dirty="0"/>
              <a:t>True</a:t>
            </a:r>
            <a:r>
              <a:rPr lang="zh-CN" altLang="en-US" dirty="0"/>
              <a:t>，则表示关键字存在于字典中。</a:t>
            </a:r>
          </a:p>
          <a:p>
            <a:pPr lvl="1">
              <a:lnSpc>
                <a:spcPct val="200000"/>
              </a:lnSpc>
            </a:pPr>
            <a:r>
              <a:rPr lang="zh-CN" altLang="en-US" dirty="0"/>
              <a:t>关键字 </a:t>
            </a:r>
            <a:r>
              <a:rPr lang="en-US" altLang="zh-CN" dirty="0"/>
              <a:t>not in </a:t>
            </a:r>
            <a:r>
              <a:rPr lang="zh-CN" altLang="en-US" dirty="0"/>
              <a:t>字典，值为</a:t>
            </a:r>
            <a:r>
              <a:rPr lang="en-US" altLang="zh-CN" dirty="0"/>
              <a:t>True</a:t>
            </a:r>
            <a:r>
              <a:rPr lang="zh-CN" altLang="en-US" dirty="0"/>
              <a:t>，则表示关键字不存在于字典</a:t>
            </a:r>
            <a:r>
              <a:rPr lang="zh-CN" altLang="en-US"/>
              <a:t>中。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字典的键测试</a:t>
            </a:r>
          </a:p>
        </p:txBody>
      </p:sp>
      <p:sp>
        <p:nvSpPr>
          <p:cNvPr id="4" name="矩形 3"/>
          <p:cNvSpPr/>
          <p:nvPr/>
        </p:nvSpPr>
        <p:spPr>
          <a:xfrm>
            <a:off x="611380" y="3687713"/>
            <a:ext cx="3965433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dict1={'a':1,'b':2,'c':3}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'b' in dict1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True</a:t>
            </a:r>
          </a:p>
        </p:txBody>
      </p:sp>
      <p:sp>
        <p:nvSpPr>
          <p:cNvPr id="5" name="线形标注 1 4"/>
          <p:cNvSpPr/>
          <p:nvPr/>
        </p:nvSpPr>
        <p:spPr>
          <a:xfrm>
            <a:off x="5683717" y="3756963"/>
            <a:ext cx="3195588" cy="1200329"/>
          </a:xfrm>
          <a:prstGeom prst="borderCallout1">
            <a:avLst>
              <a:gd name="adj1" fmla="val 18750"/>
              <a:gd name="adj2" fmla="val -8333"/>
              <a:gd name="adj3" fmla="val -132476"/>
              <a:gd name="adj4" fmla="val -68454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只判断</a:t>
            </a:r>
            <a:r>
              <a:rPr lang="en-US" altLang="zh-CN" kern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key in dict</a:t>
            </a:r>
          </a:p>
          <a:p>
            <a:pPr marL="285750" indent="-285750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不判断</a:t>
            </a:r>
            <a:r>
              <a:rPr lang="en-US" altLang="zh-CN" kern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value in dict</a:t>
            </a: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27031" y="5237832"/>
            <a:ext cx="20790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Consolas" panose="020B0609020204030204" pitchFamily="49" charset="0"/>
              </a:rPr>
              <a:t>&gt;&gt;&gt; 1 in dict1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False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773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4864" y="1183415"/>
            <a:ext cx="8673861" cy="1024947"/>
          </a:xfr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为了避免产生</a:t>
            </a:r>
            <a:r>
              <a:rPr lang="en-US" altLang="zh-CN" dirty="0" err="1"/>
              <a:t>KeyError</a:t>
            </a:r>
            <a:r>
              <a:rPr lang="zh-CN" altLang="en-US" dirty="0"/>
              <a:t>错误，字典提供了一个get()方法用来返回指定关键字对应的值，并且允许指定该键不存在时返回特定的值。</a:t>
            </a:r>
          </a:p>
          <a:p>
            <a:pPr marL="0" indent="0" fontAlgn="auto">
              <a:spcBef>
                <a:spcPts val="0"/>
              </a:spcBef>
              <a:buNone/>
            </a:pPr>
            <a:endParaRPr lang="zh-CN" altLang="en-US" dirty="0"/>
          </a:p>
          <a:p>
            <a:pPr marL="0" indent="0" fontAlgn="auto">
              <a:spcBef>
                <a:spcPts val="0"/>
              </a:spcBef>
              <a:buNone/>
            </a:pPr>
            <a:endParaRPr lang="zh-CN" altLang="en-US" sz="1800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</a:t>
            </a:r>
            <a:r>
              <a:rPr lang="zh-CN" altLang="en-US"/>
              <a:t>其他访问方法：</a:t>
            </a:r>
            <a:r>
              <a:rPr lang="en-US" altLang="zh-CN"/>
              <a:t>get()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93788" y="2559987"/>
            <a:ext cx="808949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&gt;&gt;&gt; </a:t>
            </a:r>
            <a:r>
              <a:rPr lang="en-US" altLang="zh-CN" dirty="0">
                <a:latin typeface="Consolas" panose="020B0609020204030204" pitchFamily="49" charset="0"/>
              </a:rPr>
              <a:t>d</a:t>
            </a:r>
            <a:r>
              <a:rPr lang="zh-CN" altLang="en-US" dirty="0">
                <a:latin typeface="Consolas" panose="020B0609020204030204" pitchFamily="49" charset="0"/>
              </a:rPr>
              <a:t>.get('</a:t>
            </a:r>
            <a:r>
              <a:rPr lang="en-US" altLang="zh-CN" dirty="0">
                <a:latin typeface="Consolas" panose="020B0609020204030204" pitchFamily="49" charset="0"/>
              </a:rPr>
              <a:t>a</a:t>
            </a:r>
            <a:r>
              <a:rPr lang="zh-CN" altLang="en-US" dirty="0">
                <a:latin typeface="Consolas" panose="020B0609020204030204" pitchFamily="49" charset="0"/>
              </a:rPr>
              <a:t>')          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1</a:t>
            </a:r>
            <a:endParaRPr lang="zh-CN" altLang="en-US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print(</a:t>
            </a:r>
            <a:r>
              <a:rPr lang="en-US" altLang="zh-CN" dirty="0" err="1">
                <a:latin typeface="Consolas" panose="020B0609020204030204" pitchFamily="49" charset="0"/>
              </a:rPr>
              <a:t>d.get</a:t>
            </a:r>
            <a:r>
              <a:rPr lang="en-US" altLang="zh-CN" dirty="0">
                <a:latin typeface="Consolas" panose="020B0609020204030204" pitchFamily="49" charset="0"/>
              </a:rPr>
              <a:t>('aa'))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latin typeface="Consolas" panose="020B0609020204030204" pitchFamily="49" charset="0"/>
              </a:rPr>
              <a:t>d.get</a:t>
            </a:r>
            <a:r>
              <a:rPr lang="en-US" altLang="zh-CN" dirty="0">
                <a:latin typeface="Consolas" panose="020B0609020204030204" pitchFamily="49" charset="0"/>
              </a:rPr>
              <a:t>('aa</a:t>
            </a:r>
            <a:r>
              <a:rPr lang="en-US" altLang="zh-CN">
                <a:latin typeface="Consolas" panose="020B0609020204030204" pitchFamily="49" charset="0"/>
              </a:rPr>
              <a:t>', 'Not </a:t>
            </a:r>
            <a:r>
              <a:rPr lang="en-US" altLang="zh-CN" dirty="0">
                <a:latin typeface="Consolas" panose="020B0609020204030204" pitchFamily="49" charset="0"/>
              </a:rPr>
              <a:t>exists!')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'Not exists!'</a:t>
            </a:r>
            <a:endParaRPr lang="zh-CN" altLang="en-US" b="1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846224" y="2621882"/>
            <a:ext cx="5004478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如果字典中存在该键，则返回对应的值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3846224" y="3444025"/>
            <a:ext cx="5004478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如果字典中不存在该键，则返回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None</a:t>
            </a:r>
            <a:endParaRPr lang="zh-CN" altLang="en-US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846224" y="4640553"/>
            <a:ext cx="5004478" cy="71508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>
                <a:solidFill>
                  <a:srgbClr val="00B0F0"/>
                </a:solidFill>
                <a:latin typeface="Consolas" panose="020B0609020204030204" pitchFamily="49" charset="0"/>
              </a:rPr>
              <a:t>如果字典中不存在</a:t>
            </a:r>
            <a:r>
              <a:rPr lang="en-US" altLang="zh-CN">
                <a:solidFill>
                  <a:srgbClr val="00B0F0"/>
                </a:solidFill>
                <a:latin typeface="Consolas" panose="020B0609020204030204" pitchFamily="49" charset="0"/>
              </a:rPr>
              <a:t>'aa'</a:t>
            </a:r>
            <a:r>
              <a:rPr lang="zh-CN" altLang="en-US">
                <a:solidFill>
                  <a:srgbClr val="00B0F0"/>
                </a:solidFill>
                <a:latin typeface="Consolas" panose="020B0609020204030204" pitchFamily="49" charset="0"/>
              </a:rPr>
              <a:t>，指定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了第二个参数，则返回第二个参数</a:t>
            </a:r>
          </a:p>
        </p:txBody>
      </p:sp>
      <p:sp>
        <p:nvSpPr>
          <p:cNvPr id="8" name="矩形 7"/>
          <p:cNvSpPr/>
          <p:nvPr/>
        </p:nvSpPr>
        <p:spPr>
          <a:xfrm>
            <a:off x="493789" y="5614282"/>
            <a:ext cx="246598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Consolas" panose="020B0609020204030204" pitchFamily="49" charset="0"/>
              </a:rPr>
              <a:t>&gt;&gt;&gt; d.get('aa', 0)</a:t>
            </a:r>
          </a:p>
          <a:p>
            <a:pPr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latin typeface="Consolas" panose="020B0609020204030204" pitchFamily="49" charset="0"/>
              </a:rPr>
              <a:t>0</a:t>
            </a:r>
            <a:endParaRPr lang="zh-CN" altLang="en-US" b="1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238228" y="5632769"/>
            <a:ext cx="3605334" cy="102155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</a:rPr>
              <a:t>编程常见用法</a:t>
            </a:r>
            <a:r>
              <a:rPr lang="zh-CN" altLang="en-US">
                <a:solidFill>
                  <a:srgbClr val="00B0F0"/>
                </a:solidFill>
                <a:latin typeface="Consolas" panose="020B0609020204030204" pitchFamily="49" charset="0"/>
              </a:rPr>
              <a:t>：</a:t>
            </a:r>
            <a:endParaRPr lang="en-US" altLang="zh-CN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r>
              <a:rPr lang="zh-CN" altLang="en-US">
                <a:solidFill>
                  <a:srgbClr val="00B0F0"/>
                </a:solidFill>
                <a:latin typeface="Consolas" panose="020B0609020204030204" pitchFamily="49" charset="0"/>
              </a:rPr>
              <a:t>第二个参数</a:t>
            </a: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</a:rPr>
              <a:t>置为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zh-CN" altLang="en-US">
                <a:solidFill>
                  <a:srgbClr val="00B0F0"/>
                </a:solidFill>
                <a:latin typeface="Consolas" panose="020B0609020204030204" pitchFamily="49" charset="0"/>
              </a:rPr>
              <a:t>，作为</a:t>
            </a:r>
            <a:r>
              <a:rPr lang="en-US" altLang="zh-CN">
                <a:solidFill>
                  <a:srgbClr val="00B0F0"/>
                </a:solidFill>
                <a:latin typeface="Consolas" panose="020B0609020204030204" pitchFamily="49" charset="0"/>
              </a:rPr>
              <a:t>'aa'</a:t>
            </a:r>
            <a:r>
              <a:rPr lang="zh-CN" altLang="en-US">
                <a:solidFill>
                  <a:srgbClr val="00B0F0"/>
                </a:solidFill>
                <a:latin typeface="Consolas" panose="020B0609020204030204" pitchFamily="49" charset="0"/>
              </a:rPr>
              <a:t>出现次数的</a:t>
            </a: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</a:rPr>
              <a:t>初始值</a:t>
            </a:r>
            <a:r>
              <a:rPr lang="zh-CN" altLang="en-US">
                <a:solidFill>
                  <a:srgbClr val="00B0F0"/>
                </a:solidFill>
                <a:latin typeface="Consolas" panose="020B0609020204030204" pitchFamily="49" charset="0"/>
              </a:rPr>
              <a:t>，用于</a:t>
            </a: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</a:rPr>
              <a:t>累加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586378" y="5035270"/>
            <a:ext cx="56618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b="1">
                <a:solidFill>
                  <a:srgbClr val="FF0000"/>
                </a:solidFill>
                <a:latin typeface="Consolas" panose="020B0609020204030204" pitchFamily="49" charset="0"/>
              </a:rPr>
              <a:t>√</a:t>
            </a:r>
            <a:endParaRPr lang="zh-CN" altLang="en-US" sz="54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81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20131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更新字典值的语句为：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                 </a:t>
            </a:r>
            <a:r>
              <a:rPr lang="zh-CN" altLang="en-US" dirty="0">
                <a:solidFill>
                  <a:srgbClr val="C00000"/>
                </a:solidFill>
              </a:rPr>
              <a:t>字典名</a:t>
            </a:r>
            <a:r>
              <a:rPr lang="en-US" altLang="zh-CN" dirty="0">
                <a:solidFill>
                  <a:srgbClr val="C00000"/>
                </a:solidFill>
              </a:rPr>
              <a:t>[</a:t>
            </a:r>
            <a:r>
              <a:rPr lang="zh-CN" altLang="en-US" dirty="0">
                <a:solidFill>
                  <a:srgbClr val="C00000"/>
                </a:solidFill>
              </a:rPr>
              <a:t>关键字</a:t>
            </a:r>
            <a:r>
              <a:rPr lang="en-US" altLang="zh-CN" dirty="0">
                <a:solidFill>
                  <a:srgbClr val="C00000"/>
                </a:solidFill>
              </a:rPr>
              <a:t>]=</a:t>
            </a:r>
            <a:r>
              <a:rPr lang="zh-CN" altLang="en-US" dirty="0">
                <a:solidFill>
                  <a:srgbClr val="C00000"/>
                </a:solidFill>
              </a:rPr>
              <a:t>值</a:t>
            </a:r>
            <a:endParaRPr lang="en-US" altLang="zh-CN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dirty="0"/>
              <a:t>若该关键字存在，则更新该键对应的值；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若该关键字不存在，则表示添加一个新的键值对，也就是添加一个新元素。</a:t>
            </a:r>
          </a:p>
          <a:p>
            <a:pPr marL="0" indent="0">
              <a:buNone/>
            </a:pPr>
            <a:endParaRPr lang="zh-CN" altLang="en-US" sz="1800" dirty="0">
              <a:latin typeface="Consolas" panose="020B060902020403020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字典的更新</a:t>
            </a:r>
          </a:p>
        </p:txBody>
      </p:sp>
      <p:sp>
        <p:nvSpPr>
          <p:cNvPr id="4" name="矩形 3"/>
          <p:cNvSpPr/>
          <p:nvPr/>
        </p:nvSpPr>
        <p:spPr>
          <a:xfrm>
            <a:off x="683569" y="3269411"/>
            <a:ext cx="8079431" cy="2956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aDict = {'age': 35, 'name': 'Dong', 'sex': 'male'}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aDict['age'] = 39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aDict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Consolas" panose="020B0609020204030204" charset="0"/>
              </a:rPr>
              <a:t>{'age': 39, 'name': 'Dong', 'sex': 'male'}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aDict['address'] = 'SDIBT'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aDict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Consolas" panose="020B0609020204030204" charset="0"/>
              </a:rPr>
              <a:t>{'age': 39, 'address': 'SDIBT', 'name': 'Dong', 'sex': 'male'}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538671" y="3763519"/>
            <a:ext cx="3366816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</a:rPr>
              <a:t>age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已存在，修改已有的元素值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5538671" y="5004984"/>
            <a:ext cx="3366816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</a:rPr>
              <a:t>address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不存在，添加新元素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870518"/>
            <a:ext cx="7315200" cy="14440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已知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是个</a:t>
            </a:r>
            <a:r>
              <a:rPr lang="zh-CN" altLang="en-US" sz="2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空字典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，执行下列语句后，会产生</a:t>
            </a:r>
            <a:r>
              <a:rPr lang="zh-CN" altLang="en-US" sz="2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错误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的是（）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753202" y="2467677"/>
            <a:ext cx="1790299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d.get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(1,2)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753202" y="3324927"/>
            <a:ext cx="148229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d[1]=2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753202" y="4182177"/>
            <a:ext cx="156410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d[1]+=2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753202" y="5039427"/>
            <a:ext cx="114059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 in d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038827" y="253197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A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038827" y="338922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B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038827" y="424647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C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038827" y="510372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D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1206500" y="6279356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" name="矩形 1"/>
          <p:cNvSpPr/>
          <p:nvPr/>
        </p:nvSpPr>
        <p:spPr>
          <a:xfrm>
            <a:off x="7012511" y="3711003"/>
            <a:ext cx="1818765" cy="87306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/>
              <a:t>通过</a:t>
            </a:r>
            <a:r>
              <a:rPr lang="en-US" altLang="zh-CN" b="1">
                <a:solidFill>
                  <a:srgbClr val="FFFF00"/>
                </a:solidFill>
              </a:rPr>
              <a:t>key</a:t>
            </a:r>
            <a:r>
              <a:rPr lang="zh-CN" altLang="en-US"/>
              <a:t>来访问字典的元素</a:t>
            </a:r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3664183" y="4357334"/>
            <a:ext cx="2551105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FF0000"/>
                </a:solidFill>
              </a:rPr>
              <a:t>取值</a:t>
            </a:r>
            <a:r>
              <a:rPr lang="zh-CN" altLang="en-US" sz="1600"/>
              <a:t>：引发</a:t>
            </a:r>
            <a:r>
              <a:rPr lang="en-US" altLang="zh-CN" sz="1600"/>
              <a:t>KeyError</a:t>
            </a:r>
            <a:r>
              <a:rPr lang="zh-CN" altLang="en-US" sz="1600"/>
              <a:t>错误</a:t>
            </a:r>
          </a:p>
        </p:txBody>
      </p:sp>
      <p:sp>
        <p:nvSpPr>
          <p:cNvPr id="20" name="矩形 19"/>
          <p:cNvSpPr/>
          <p:nvPr/>
        </p:nvSpPr>
        <p:spPr>
          <a:xfrm>
            <a:off x="3661716" y="3565016"/>
            <a:ext cx="2844800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FF0000"/>
                </a:solidFill>
              </a:rPr>
              <a:t>赋值</a:t>
            </a:r>
            <a:r>
              <a:rPr lang="zh-CN" altLang="en-US" sz="1600"/>
              <a:t>：添加一个</a:t>
            </a:r>
            <a:r>
              <a:rPr lang="en-US" altLang="zh-CN" sz="1600"/>
              <a:t>key:value</a:t>
            </a:r>
            <a:r>
              <a:rPr lang="zh-CN" altLang="en-US" sz="1600"/>
              <a:t>对</a:t>
            </a:r>
          </a:p>
        </p:txBody>
      </p:sp>
      <p:sp>
        <p:nvSpPr>
          <p:cNvPr id="21" name="矩形 20"/>
          <p:cNvSpPr/>
          <p:nvPr/>
        </p:nvSpPr>
        <p:spPr>
          <a:xfrm>
            <a:off x="2064952" y="1538949"/>
            <a:ext cx="174695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marL="0" lvl="1"/>
            <a:r>
              <a:rPr lang="en-US" altLang="zh-CN"/>
              <a:t>key</a:t>
            </a:r>
            <a:r>
              <a:rPr lang="zh-CN" altLang="en-US"/>
              <a:t>不在字典中</a:t>
            </a:r>
            <a:endParaRPr lang="en-US" altLang="zh-CN" dirty="0"/>
          </a:p>
        </p:txBody>
      </p:sp>
      <p:sp>
        <p:nvSpPr>
          <p:cNvPr id="22" name="右大括号 21"/>
          <p:cNvSpPr/>
          <p:nvPr/>
        </p:nvSpPr>
        <p:spPr bwMode="auto">
          <a:xfrm>
            <a:off x="6609152" y="3677304"/>
            <a:ext cx="245444" cy="1018584"/>
          </a:xfrm>
          <a:prstGeom prst="rightBrace">
            <a:avLst/>
          </a:prstGeom>
          <a:solidFill>
            <a:schemeClr val="bg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3818126" y="5111093"/>
            <a:ext cx="1777465" cy="43266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rtlCol="0" anchor="ctr" anchorCtr="0">
            <a:noAutofit/>
          </a:bodyPr>
          <a:lstStyle/>
          <a:p>
            <a:r>
              <a:rPr lang="en-US" altLang="zh-CN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d[1]=</a:t>
            </a:r>
            <a:r>
              <a:rPr lang="en-US" altLang="zh-CN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d[1]</a:t>
            </a:r>
            <a:r>
              <a:rPr lang="en-US" altLang="zh-CN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+2</a:t>
            </a:r>
            <a:endParaRPr lang="zh-CN" altLang="en-US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cxnSp>
        <p:nvCxnSpPr>
          <p:cNvPr id="25" name="直接箭头连接符 24"/>
          <p:cNvCxnSpPr>
            <a:endCxn id="23" idx="0"/>
          </p:cNvCxnSpPr>
          <p:nvPr/>
        </p:nvCxnSpPr>
        <p:spPr bwMode="auto">
          <a:xfrm>
            <a:off x="4066260" y="4649456"/>
            <a:ext cx="640599" cy="461637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7" name="爆炸形 1 26"/>
          <p:cNvSpPr/>
          <p:nvPr/>
        </p:nvSpPr>
        <p:spPr>
          <a:xfrm>
            <a:off x="4878385" y="5164346"/>
            <a:ext cx="3985188" cy="1815227"/>
          </a:xfrm>
          <a:prstGeom prst="irregularSeal1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不存在</a:t>
            </a:r>
            <a:r>
              <a:rPr lang="en-US" altLang="zh-CN" kern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key=1</a:t>
            </a:r>
            <a:r>
              <a: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，无法取出对应的值</a:t>
            </a:r>
          </a:p>
        </p:txBody>
      </p:sp>
      <p:sp>
        <p:nvSpPr>
          <p:cNvPr id="29" name="矩形 28"/>
          <p:cNvSpPr/>
          <p:nvPr/>
        </p:nvSpPr>
        <p:spPr>
          <a:xfrm>
            <a:off x="3661716" y="2628728"/>
            <a:ext cx="1656242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FF0000"/>
                </a:solidFill>
                <a:latin typeface="Consolas" panose="020B0609020204030204" pitchFamily="49" charset="0"/>
              </a:rPr>
              <a:t>返回第二个参数</a:t>
            </a:r>
            <a:endParaRPr lang="zh-CN" altLang="en-US" sz="1600">
              <a:solidFill>
                <a:srgbClr val="FF0000"/>
              </a:solidFill>
            </a:endParaRPr>
          </a:p>
        </p:txBody>
      </p:sp>
      <p:grpSp>
        <p:nvGrpSpPr>
          <p:cNvPr id="19" name="组合 18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714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20" grpId="0" animBg="1"/>
      <p:bldP spid="21" grpId="0" animBg="1"/>
      <p:bldP spid="22" grpId="0" animBg="1"/>
      <p:bldP spid="23" grpId="0" animBg="1"/>
      <p:bldP spid="27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2119" y="1114405"/>
            <a:ext cx="8656605" cy="2016984"/>
          </a:xfrm>
        </p:spPr>
        <p:txBody>
          <a:bodyPr/>
          <a:lstStyle/>
          <a:p>
            <a:pPr fontAlgn="auto">
              <a:lnSpc>
                <a:spcPct val="150000"/>
              </a:lnSpc>
            </a:pPr>
            <a:r>
              <a:rPr lang="zh-CN" altLang="en-US" dirty="0"/>
              <a:t>批量更新</a:t>
            </a:r>
            <a:endParaRPr lang="en-US" altLang="zh-CN" dirty="0"/>
          </a:p>
          <a:p>
            <a:pPr lvl="1" fontAlgn="auto">
              <a:lnSpc>
                <a:spcPct val="150000"/>
              </a:lnSpc>
            </a:pPr>
            <a:r>
              <a:rPr lang="zh-CN" altLang="en-US" dirty="0"/>
              <a:t>字典的</a:t>
            </a:r>
            <a:r>
              <a:rPr lang="zh-CN" altLang="en-US" b="1" dirty="0">
                <a:solidFill>
                  <a:srgbClr val="FF0000"/>
                </a:solidFill>
              </a:rPr>
              <a:t>update()方法</a:t>
            </a:r>
            <a:r>
              <a:rPr lang="zh-CN" altLang="en-US" dirty="0"/>
              <a:t>可以将另一个字典的内容一次性全部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添加</a:t>
            </a:r>
            <a:r>
              <a:rPr lang="zh-CN" altLang="en-US" dirty="0"/>
              <a:t>到当前字典对象</a:t>
            </a:r>
            <a:endParaRPr lang="en-US" altLang="zh-CN" dirty="0"/>
          </a:p>
          <a:p>
            <a:pPr lvl="1" fontAlgn="auto">
              <a:lnSpc>
                <a:spcPct val="150000"/>
              </a:lnSpc>
            </a:pPr>
            <a:r>
              <a:rPr lang="zh-CN" altLang="en-US" dirty="0"/>
              <a:t>如果两个字典中存在相同的“键”，则以另一个字典中的“值”为准对当前字典进行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更新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endParaRPr lang="zh-CN" altLang="en-US" sz="1800" dirty="0">
              <a:latin typeface="Consolas" panose="020B060902020403020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字典的更新</a:t>
            </a:r>
          </a:p>
        </p:txBody>
      </p:sp>
      <p:sp>
        <p:nvSpPr>
          <p:cNvPr id="4" name="矩形 3"/>
          <p:cNvSpPr/>
          <p:nvPr/>
        </p:nvSpPr>
        <p:spPr>
          <a:xfrm>
            <a:off x="547781" y="3131389"/>
            <a:ext cx="8035504" cy="1709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aDict = {'age': 37, 'score': [98, 97], 'name': 'Dong'}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aDict.update({'a':97, 'age':39}) </a:t>
            </a:r>
            <a:endParaRPr lang="en-US" altLang="zh-CN" dirty="0">
              <a:latin typeface="Consolas" panose="020B060902020403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aDict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C00000"/>
                </a:solidFill>
                <a:latin typeface="Consolas" panose="020B0609020204030204" charset="0"/>
              </a:rPr>
              <a:t>{'age': 39, 'score': [98, 97], 'name': 'Dong', 'a': 97}</a:t>
            </a:r>
            <a:endParaRPr lang="zh-CN" altLang="en-US" dirty="0">
              <a:solidFill>
                <a:srgbClr val="C00000"/>
              </a:solidFill>
              <a:latin typeface="Consolas" panose="020B0609020204030204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309099" y="5238326"/>
            <a:ext cx="4198585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修改age键的值，同时添加新元素a:97</a:t>
            </a:r>
          </a:p>
        </p:txBody>
      </p:sp>
    </p:spTree>
    <p:extLst>
      <p:ext uri="{BB962C8B-B14F-4D97-AF65-F5344CB8AC3E}">
        <p14:creationId xmlns:p14="http://schemas.microsoft.com/office/powerpoint/2010/main" val="128240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457200" y="847512"/>
            <a:ext cx="7810901" cy="10239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已知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是个空字典，下列修改字典的方式中，</a:t>
            </a:r>
            <a:r>
              <a:rPr lang="zh-CN" altLang="en-US" sz="2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错误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的是（）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689235" y="2478054"/>
            <a:ext cx="204055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d.update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({2:1})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689235" y="3532187"/>
            <a:ext cx="204055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d[2]=1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689235" y="4546921"/>
            <a:ext cx="204055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d.get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(2)=1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689235" y="5572125"/>
            <a:ext cx="204055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d={2,1}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974859" y="2542347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A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974859" y="359648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B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974859" y="4611214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C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974859" y="5636418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D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" name="矩形 1"/>
          <p:cNvSpPr/>
          <p:nvPr/>
        </p:nvSpPr>
        <p:spPr>
          <a:xfrm>
            <a:off x="1776161" y="6150768"/>
            <a:ext cx="17854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/>
              <a:t>&gt;&gt;&gt; type(d)</a:t>
            </a:r>
          </a:p>
          <a:p>
            <a:r>
              <a:rPr lang="en-US" altLang="zh-CN"/>
              <a:t>&lt;class '</a:t>
            </a:r>
            <a:r>
              <a:rPr lang="en-US" altLang="zh-CN">
                <a:solidFill>
                  <a:srgbClr val="FF0000"/>
                </a:solidFill>
              </a:rPr>
              <a:t>set</a:t>
            </a:r>
            <a:r>
              <a:rPr lang="en-US" altLang="zh-CN"/>
              <a:t>'&gt;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667225" y="4674431"/>
            <a:ext cx="538737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get()方法用来返回指定</a:t>
            </a:r>
            <a:r>
              <a:rPr lang="en-US" altLang="zh-CN">
                <a:solidFill>
                  <a:srgbClr val="FF0000"/>
                </a:solidFill>
              </a:rPr>
              <a:t>key</a:t>
            </a:r>
            <a:r>
              <a:rPr lang="zh-CN" altLang="en-US"/>
              <a:t>对应的值，</a:t>
            </a:r>
            <a:r>
              <a:rPr lang="zh-CN" altLang="en-US">
                <a:solidFill>
                  <a:srgbClr val="FF0000"/>
                </a:solidFill>
              </a:rPr>
              <a:t>不能赋值</a:t>
            </a:r>
          </a:p>
        </p:txBody>
      </p:sp>
      <p:sp>
        <p:nvSpPr>
          <p:cNvPr id="20" name="矩形 19"/>
          <p:cNvSpPr/>
          <p:nvPr/>
        </p:nvSpPr>
        <p:spPr>
          <a:xfrm>
            <a:off x="4432433" y="3092765"/>
            <a:ext cx="1858201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更新字典的值</a:t>
            </a:r>
          </a:p>
        </p:txBody>
      </p:sp>
      <p:sp>
        <p:nvSpPr>
          <p:cNvPr id="21" name="右大括号 20"/>
          <p:cNvSpPr/>
          <p:nvPr/>
        </p:nvSpPr>
        <p:spPr bwMode="auto">
          <a:xfrm>
            <a:off x="3729791" y="2732745"/>
            <a:ext cx="553451" cy="1349031"/>
          </a:xfrm>
          <a:prstGeom prst="rightBrac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667225" y="5759895"/>
            <a:ext cx="139653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转为集合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4118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20" grpId="0" animBg="1"/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468264" cy="486275"/>
          </a:xfrm>
        </p:spPr>
        <p:txBody>
          <a:bodyPr>
            <a:normAutofit/>
          </a:bodyPr>
          <a:lstStyle/>
          <a:p>
            <a:pPr fontAlgn="auto">
              <a:spcBef>
                <a:spcPts val="0"/>
              </a:spcBef>
            </a:pPr>
            <a:r>
              <a:rPr lang="zh-CN" altLang="en-US" dirty="0"/>
              <a:t>如果需要删除字典中指定的元素，可以使用del命令。</a:t>
            </a:r>
          </a:p>
          <a:p>
            <a:pPr marL="0" indent="0" fontAlgn="auto">
              <a:spcBef>
                <a:spcPts val="0"/>
              </a:spcBef>
              <a:buNone/>
            </a:pPr>
            <a:endParaRPr lang="zh-CN" altLang="en-US" sz="1800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字典元素的删除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21102" y="1637914"/>
            <a:ext cx="815196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aDict = {'age': 37, 'score': [98, 97], 'name': 'Dong'}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&gt;&gt;&gt; del aDict['age'] 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&gt;&gt;&gt; aDict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{'score': [98, 97], 'name': 'Dong'}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4697083" y="2192713"/>
            <a:ext cx="2434557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删除键为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</a:rPr>
              <a:t>age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的元素值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304800" y="3544554"/>
            <a:ext cx="8468264" cy="48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0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557199" indent="-214308" algn="l" rtl="0" eaLnBrk="1" fontAlgn="base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857229" indent="-171446" algn="l" rtl="0" eaLnBrk="1" fontAlgn="base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200121" indent="-171446" algn="l" rtl="0" eaLnBrk="1" fontAlgn="base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1543012" indent="-171446" algn="l" rtl="0" eaLnBrk="1" fontAlgn="base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fontAlgn="auto">
              <a:spcBef>
                <a:spcPts val="0"/>
              </a:spcBef>
            </a:pPr>
            <a:r>
              <a:rPr lang="zh-CN" altLang="en-US" kern="0" dirty="0"/>
              <a:t>如果需要删除字典中所有的元素，可以使用</a:t>
            </a:r>
            <a:r>
              <a:rPr lang="en-US" altLang="zh-CN" kern="0" dirty="0"/>
              <a:t>clear</a:t>
            </a:r>
            <a:r>
              <a:rPr lang="zh-CN" altLang="en-US" kern="0" dirty="0"/>
              <a:t>方法。</a:t>
            </a:r>
          </a:p>
          <a:p>
            <a:pPr marL="0" indent="0" fontAlgn="auto">
              <a:spcBef>
                <a:spcPts val="0"/>
              </a:spcBef>
              <a:buFont typeface="Wingdings" pitchFamily="2" charset="2"/>
              <a:buNone/>
            </a:pPr>
            <a:endParaRPr lang="zh-CN" altLang="en-US" sz="1800" kern="0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1102" y="4164308"/>
            <a:ext cx="768613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&gt;&gt;&gt; aDict = {'age': 37, 'score': [98, 97], 'name': 'Dong'}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&gt;&gt;&gt; aDict.clear()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&gt;&gt;&gt; aDict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{}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5879" y="1083733"/>
            <a:ext cx="8941868" cy="456309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0" dirty="0"/>
              <a:t>population={"</a:t>
            </a:r>
            <a:r>
              <a:rPr lang="zh-CN" altLang="en-US" b="0" dirty="0"/>
              <a:t>福州</a:t>
            </a:r>
            <a:r>
              <a:rPr lang="en-US" altLang="zh-CN" b="0" dirty="0"/>
              <a:t>":710.1,"</a:t>
            </a:r>
            <a:r>
              <a:rPr lang="zh-CN" altLang="en-US" b="0" dirty="0"/>
              <a:t>南昌</a:t>
            </a:r>
            <a:r>
              <a:rPr lang="en-US" altLang="zh-CN" b="0" dirty="0"/>
              <a:t>":536,"</a:t>
            </a:r>
            <a:r>
              <a:rPr lang="zh-CN" altLang="en-US" b="0" dirty="0"/>
              <a:t>厦门</a:t>
            </a:r>
            <a:r>
              <a:rPr lang="en-US" altLang="zh-CN" b="0" dirty="0"/>
              <a:t>":261.1,"</a:t>
            </a:r>
            <a:r>
              <a:rPr lang="zh-CN" altLang="en-US" b="0" dirty="0"/>
              <a:t>成都</a:t>
            </a:r>
            <a:r>
              <a:rPr lang="en-US" altLang="zh-CN" b="0" dirty="0"/>
              <a:t>":1500.1}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例题</a:t>
            </a:r>
            <a:r>
              <a:rPr lang="en-US" altLang="zh-CN"/>
              <a:t>1</a:t>
            </a:r>
            <a:r>
              <a:rPr lang="zh-CN" altLang="en-US"/>
              <a:t>：城市人口字典</a:t>
            </a:r>
          </a:p>
        </p:txBody>
      </p:sp>
      <p:sp>
        <p:nvSpPr>
          <p:cNvPr id="5" name="矩形 4"/>
          <p:cNvSpPr/>
          <p:nvPr/>
        </p:nvSpPr>
        <p:spPr>
          <a:xfrm>
            <a:off x="2492987" y="1634689"/>
            <a:ext cx="3825899" cy="369332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题目</a:t>
            </a:r>
            <a:r>
              <a:rPr lang="en-US" altLang="zh-CN">
                <a:solidFill>
                  <a:srgbClr val="C00000"/>
                </a:solidFill>
              </a:rPr>
              <a:t>1</a:t>
            </a:r>
            <a:r>
              <a:rPr lang="zh-CN" altLang="en-US">
                <a:solidFill>
                  <a:srgbClr val="C00000"/>
                </a:solidFill>
              </a:rPr>
              <a:t>：</a:t>
            </a:r>
            <a:r>
              <a:rPr lang="zh-CN" altLang="en-US"/>
              <a:t>修改“南昌”的人口为</a:t>
            </a:r>
            <a:r>
              <a:rPr lang="en-US" altLang="zh-CN"/>
              <a:t>540</a:t>
            </a:r>
            <a:r>
              <a:rPr lang="zh-CN" altLang="en-US"/>
              <a:t>万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2026119" y="3422829"/>
            <a:ext cx="5028180" cy="338554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</a:rPr>
              <a:t>题目</a:t>
            </a:r>
            <a:r>
              <a:rPr lang="en-US" altLang="zh-CN" sz="1600">
                <a:solidFill>
                  <a:srgbClr val="C00000"/>
                </a:solidFill>
              </a:rPr>
              <a:t>2</a:t>
            </a:r>
            <a:r>
              <a:rPr lang="zh-CN" altLang="en-US" sz="1600">
                <a:solidFill>
                  <a:srgbClr val="C00000"/>
                </a:solidFill>
              </a:rPr>
              <a:t>：</a:t>
            </a:r>
            <a:r>
              <a:rPr lang="zh-CN" altLang="en-US" sz="1600"/>
              <a:t>向字典新增一个城市“杭州”，人口数</a:t>
            </a:r>
            <a:r>
              <a:rPr lang="en-US" altLang="zh-CN" sz="1600"/>
              <a:t>795.4</a:t>
            </a:r>
            <a:r>
              <a:rPr lang="zh-CN" altLang="en-US" sz="1600"/>
              <a:t>万</a:t>
            </a:r>
            <a:endParaRPr lang="en-US" altLang="zh-CN" sz="1600"/>
          </a:p>
        </p:txBody>
      </p:sp>
      <p:sp>
        <p:nvSpPr>
          <p:cNvPr id="11" name="矩形 10"/>
          <p:cNvSpPr/>
          <p:nvPr/>
        </p:nvSpPr>
        <p:spPr>
          <a:xfrm>
            <a:off x="2618122" y="5122390"/>
            <a:ext cx="3575627" cy="338554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</a:rPr>
              <a:t>题目</a:t>
            </a:r>
            <a:r>
              <a:rPr lang="en-US" altLang="zh-CN" sz="1600">
                <a:solidFill>
                  <a:srgbClr val="C00000"/>
                </a:solidFill>
              </a:rPr>
              <a:t>3</a:t>
            </a:r>
            <a:r>
              <a:rPr lang="zh-CN" altLang="en-US" sz="1600">
                <a:solidFill>
                  <a:srgbClr val="C00000"/>
                </a:solidFill>
              </a:rPr>
              <a:t>：</a:t>
            </a:r>
            <a:r>
              <a:rPr lang="zh-CN" altLang="en-US" sz="1600"/>
              <a:t>输入城市名，显示其人口数：</a:t>
            </a:r>
            <a:endParaRPr lang="en-US" altLang="zh-CN" sz="1600"/>
          </a:p>
        </p:txBody>
      </p:sp>
      <p:cxnSp>
        <p:nvCxnSpPr>
          <p:cNvPr id="16" name="直接连接符 15"/>
          <p:cNvCxnSpPr/>
          <p:nvPr/>
        </p:nvCxnSpPr>
        <p:spPr bwMode="auto">
          <a:xfrm>
            <a:off x="66230" y="5062888"/>
            <a:ext cx="79745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直接连接符 17"/>
          <p:cNvCxnSpPr>
            <a:stCxn id="5" idx="2"/>
          </p:cNvCxnSpPr>
          <p:nvPr/>
        </p:nvCxnSpPr>
        <p:spPr bwMode="auto">
          <a:xfrm>
            <a:off x="4405937" y="2004021"/>
            <a:ext cx="0" cy="135870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接连接符 19"/>
          <p:cNvCxnSpPr/>
          <p:nvPr/>
        </p:nvCxnSpPr>
        <p:spPr bwMode="auto">
          <a:xfrm>
            <a:off x="23235" y="1634689"/>
            <a:ext cx="79745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矩形 21"/>
          <p:cNvSpPr/>
          <p:nvPr/>
        </p:nvSpPr>
        <p:spPr>
          <a:xfrm>
            <a:off x="859096" y="2357315"/>
            <a:ext cx="3036369" cy="4575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</a:rPr>
              <a:t>population[</a:t>
            </a:r>
            <a:r>
              <a:rPr lang="en-US" altLang="zh-CN"/>
              <a:t>"</a:t>
            </a:r>
            <a:r>
              <a:rPr lang="zh-CN" altLang="en-US"/>
              <a:t>南昌</a:t>
            </a:r>
            <a:r>
              <a:rPr lang="en-US" altLang="zh-CN"/>
              <a:t>"</a:t>
            </a:r>
            <a:r>
              <a:rPr lang="en-US" altLang="zh-CN">
                <a:solidFill>
                  <a:srgbClr val="C00000"/>
                </a:solidFill>
              </a:rPr>
              <a:t>]=540</a:t>
            </a:r>
          </a:p>
        </p:txBody>
      </p:sp>
      <p:sp>
        <p:nvSpPr>
          <p:cNvPr id="24" name="矩形 23"/>
          <p:cNvSpPr/>
          <p:nvPr/>
        </p:nvSpPr>
        <p:spPr>
          <a:xfrm>
            <a:off x="753496" y="4068468"/>
            <a:ext cx="329999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</a:rPr>
              <a:t>population[</a:t>
            </a:r>
            <a:r>
              <a:rPr lang="en-US" altLang="zh-CN"/>
              <a:t>"</a:t>
            </a:r>
            <a:r>
              <a:rPr lang="zh-CN" altLang="en-US"/>
              <a:t>杭州</a:t>
            </a:r>
            <a:r>
              <a:rPr lang="en-US" altLang="zh-CN"/>
              <a:t>"</a:t>
            </a:r>
            <a:r>
              <a:rPr lang="en-US" altLang="zh-CN">
                <a:solidFill>
                  <a:srgbClr val="C00000"/>
                </a:solidFill>
              </a:rPr>
              <a:t>]=795.4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894718" y="5638243"/>
            <a:ext cx="41595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</a:rPr>
              <a:t>name=input("</a:t>
            </a:r>
            <a:r>
              <a:rPr lang="zh-CN" altLang="en-US">
                <a:solidFill>
                  <a:srgbClr val="C00000"/>
                </a:solidFill>
              </a:rPr>
              <a:t>请输入要查的城市名</a:t>
            </a:r>
            <a:r>
              <a:rPr lang="en-US" altLang="zh-CN">
                <a:solidFill>
                  <a:srgbClr val="C00000"/>
                </a:solidFill>
              </a:rPr>
              <a:t>")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</a:rPr>
              <a:t>print(population[</a:t>
            </a:r>
            <a:r>
              <a:rPr lang="en-US" altLang="zh-CN"/>
              <a:t>name</a:t>
            </a:r>
            <a:r>
              <a:rPr lang="en-US" altLang="zh-CN">
                <a:solidFill>
                  <a:srgbClr val="C00000"/>
                </a:solidFill>
              </a:rPr>
              <a:t>])</a:t>
            </a:r>
            <a:endParaRPr lang="zh-CN" altLang="en-US">
              <a:solidFill>
                <a:srgbClr val="C00000"/>
              </a:solidFill>
            </a:endParaRPr>
          </a:p>
        </p:txBody>
      </p:sp>
      <p:cxnSp>
        <p:nvCxnSpPr>
          <p:cNvPr id="27" name="直接连接符 26"/>
          <p:cNvCxnSpPr/>
          <p:nvPr/>
        </p:nvCxnSpPr>
        <p:spPr bwMode="auto">
          <a:xfrm>
            <a:off x="-34517" y="3396113"/>
            <a:ext cx="79745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矩形 27"/>
          <p:cNvSpPr/>
          <p:nvPr/>
        </p:nvSpPr>
        <p:spPr>
          <a:xfrm>
            <a:off x="4463410" y="4018278"/>
            <a:ext cx="428718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</a:rPr>
              <a:t>population.update([</a:t>
            </a:r>
            <a:r>
              <a:rPr lang="en-US" altLang="zh-CN"/>
              <a:t>"</a:t>
            </a:r>
            <a:r>
              <a:rPr lang="zh-CN" altLang="en-US"/>
              <a:t>杭州</a:t>
            </a:r>
            <a:r>
              <a:rPr lang="en-US" altLang="zh-CN"/>
              <a:t>"</a:t>
            </a:r>
            <a:r>
              <a:rPr lang="en-US" altLang="zh-CN">
                <a:solidFill>
                  <a:srgbClr val="C00000"/>
                </a:solidFill>
              </a:rPr>
              <a:t>:795.4])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541824" y="2323218"/>
            <a:ext cx="428718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</a:rPr>
              <a:t>population.update([</a:t>
            </a:r>
            <a:r>
              <a:rPr lang="en-US" altLang="zh-CN"/>
              <a:t>"</a:t>
            </a:r>
            <a:r>
              <a:rPr lang="zh-CN" altLang="en-US"/>
              <a:t>南昌</a:t>
            </a:r>
            <a:r>
              <a:rPr lang="en-US" altLang="zh-CN"/>
              <a:t>"</a:t>
            </a:r>
            <a:r>
              <a:rPr lang="en-US" altLang="zh-CN">
                <a:solidFill>
                  <a:srgbClr val="C00000"/>
                </a:solidFill>
              </a:rPr>
              <a:t>:540])</a:t>
            </a:r>
            <a:endParaRPr lang="zh-CN" altLang="en-US">
              <a:solidFill>
                <a:srgbClr val="C00000"/>
              </a:solidFill>
            </a:endParaRPr>
          </a:p>
        </p:txBody>
      </p:sp>
      <p:cxnSp>
        <p:nvCxnSpPr>
          <p:cNvPr id="33" name="直接连接符 32"/>
          <p:cNvCxnSpPr/>
          <p:nvPr/>
        </p:nvCxnSpPr>
        <p:spPr bwMode="auto">
          <a:xfrm>
            <a:off x="4405937" y="3761383"/>
            <a:ext cx="4946" cy="133076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28939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6" grpId="0"/>
      <p:bldP spid="28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1719852"/>
          </a:xfrm>
        </p:spPr>
        <p:txBody>
          <a:bodyPr/>
          <a:lstStyle/>
          <a:p>
            <a:r>
              <a:rPr lang="en-US" altLang="zh-CN" dirty="0"/>
              <a:t>keys()</a:t>
            </a:r>
            <a:r>
              <a:rPr lang="zh-CN" altLang="en-US" dirty="0"/>
              <a:t>、</a:t>
            </a:r>
            <a:r>
              <a:rPr lang="en-US" altLang="zh-CN" dirty="0"/>
              <a:t>values()</a:t>
            </a:r>
            <a:r>
              <a:rPr lang="zh-CN" altLang="en-US" dirty="0"/>
              <a:t>、</a:t>
            </a:r>
            <a:r>
              <a:rPr lang="en-US" altLang="zh-CN" dirty="0"/>
              <a:t>items()</a:t>
            </a:r>
            <a:r>
              <a:rPr lang="zh-CN" altLang="en-US" dirty="0"/>
              <a:t>方法</a:t>
            </a:r>
          </a:p>
          <a:p>
            <a:pPr lvl="1"/>
            <a:r>
              <a:rPr lang="en-US" altLang="zh-CN" dirty="0"/>
              <a:t>keys()</a:t>
            </a:r>
            <a:r>
              <a:rPr lang="zh-CN" altLang="en-US" dirty="0"/>
              <a:t>：返回一个包含字典</a:t>
            </a:r>
            <a:r>
              <a:rPr lang="zh-CN" altLang="en-US" dirty="0">
                <a:solidFill>
                  <a:srgbClr val="FF0000"/>
                </a:solidFill>
              </a:rPr>
              <a:t>所有关键字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可迭代对象</a:t>
            </a:r>
            <a:r>
              <a:rPr lang="zh-CN" altLang="en-US" dirty="0"/>
              <a:t>。</a:t>
            </a:r>
          </a:p>
          <a:p>
            <a:pPr lvl="1"/>
            <a:r>
              <a:rPr lang="en-US" altLang="zh-CN" dirty="0"/>
              <a:t>values()</a:t>
            </a:r>
            <a:r>
              <a:rPr lang="zh-CN" altLang="en-US" dirty="0"/>
              <a:t>：返回一个包含字典</a:t>
            </a:r>
            <a:r>
              <a:rPr lang="zh-CN" altLang="en-US" dirty="0">
                <a:solidFill>
                  <a:srgbClr val="FF0000"/>
                </a:solidFill>
              </a:rPr>
              <a:t>所有值</a:t>
            </a:r>
            <a:r>
              <a:rPr lang="zh-CN" altLang="en-US" dirty="0"/>
              <a:t>的可</a:t>
            </a:r>
            <a:r>
              <a:rPr lang="zh-CN" altLang="en-US" dirty="0">
                <a:solidFill>
                  <a:srgbClr val="FF0000"/>
                </a:solidFill>
              </a:rPr>
              <a:t>迭代对象</a:t>
            </a:r>
            <a:r>
              <a:rPr lang="zh-CN" altLang="en-US" dirty="0"/>
              <a:t>。</a:t>
            </a:r>
          </a:p>
          <a:p>
            <a:pPr lvl="1"/>
            <a:r>
              <a:rPr lang="en-US" altLang="zh-CN" dirty="0"/>
              <a:t>items()</a:t>
            </a:r>
            <a:r>
              <a:rPr lang="zh-CN" altLang="en-US" dirty="0"/>
              <a:t>：返回一个包含所有元素</a:t>
            </a:r>
            <a:r>
              <a:rPr lang="zh-CN" altLang="en-US" dirty="0">
                <a:solidFill>
                  <a:srgbClr val="FF0000"/>
                </a:solidFill>
              </a:rPr>
              <a:t>（关键字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zh-CN" altLang="en-US" dirty="0">
                <a:solidFill>
                  <a:srgbClr val="FF0000"/>
                </a:solidFill>
              </a:rPr>
              <a:t>值）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可迭代对象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字典本身也可以作为所有关键字的可迭代对象，等于</a:t>
            </a:r>
            <a:r>
              <a:rPr lang="en-US" altLang="zh-CN" dirty="0"/>
              <a:t>keys()</a:t>
            </a:r>
            <a:endParaRPr lang="zh-CN" altLang="en-US" dirty="0"/>
          </a:p>
          <a:p>
            <a:pPr>
              <a:lnSpc>
                <a:spcPts val="2800"/>
              </a:lnSpc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字典的遍历</a:t>
            </a:r>
          </a:p>
        </p:txBody>
      </p:sp>
      <p:sp>
        <p:nvSpPr>
          <p:cNvPr id="5" name="矩形 4"/>
          <p:cNvSpPr/>
          <p:nvPr/>
        </p:nvSpPr>
        <p:spPr>
          <a:xfrm>
            <a:off x="466545" y="3150032"/>
            <a:ext cx="8556685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latin typeface="Consolas" panose="020B0609020204030204" pitchFamily="49" charset="0"/>
              </a:rPr>
              <a:t>aDict</a:t>
            </a:r>
            <a:r>
              <a:rPr lang="en-US" altLang="zh-CN" dirty="0">
                <a:latin typeface="Consolas" panose="020B0609020204030204" pitchFamily="49" charset="0"/>
              </a:rPr>
              <a:t> = {'age': 37, 'score': [98, 97], 'name': 'Dong'}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latin typeface="Consolas" panose="020B0609020204030204" pitchFamily="49" charset="0"/>
              </a:rPr>
              <a:t>aDict.keys</a:t>
            </a:r>
            <a:r>
              <a:rPr lang="en-US" altLang="zh-CN" dirty="0"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800"/>
              </a:lnSpc>
            </a:pP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dict_keys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(['age', 'score', 'name'])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list(</a:t>
            </a:r>
            <a:r>
              <a:rPr lang="en-US" altLang="zh-CN" dirty="0" err="1">
                <a:latin typeface="Consolas" panose="020B0609020204030204" pitchFamily="49" charset="0"/>
              </a:rPr>
              <a:t>aDict.keys</a:t>
            </a:r>
            <a:r>
              <a:rPr lang="en-US" altLang="zh-CN" dirty="0"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28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['age', 'score', 'name']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list(</a:t>
            </a:r>
            <a:r>
              <a:rPr lang="en-US" altLang="zh-CN" dirty="0" err="1">
                <a:latin typeface="Consolas" panose="020B0609020204030204" pitchFamily="49" charset="0"/>
              </a:rPr>
              <a:t>aDict.values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28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[37, [98, 97], 'Dong']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list(</a:t>
            </a:r>
            <a:r>
              <a:rPr lang="en-US" altLang="zh-CN" dirty="0" err="1">
                <a:latin typeface="Consolas" panose="020B0609020204030204" pitchFamily="49" charset="0"/>
              </a:rPr>
              <a:t>aDict.items</a:t>
            </a:r>
            <a:r>
              <a:rPr lang="en-US" altLang="zh-CN" dirty="0"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28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[('age', 37), ('score', [98, 97]), ('name', 'Dong')]</a:t>
            </a:r>
            <a:endParaRPr lang="zh-CN" altLang="en-US" b="1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281578" y="3547061"/>
            <a:ext cx="3705045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</a:rPr>
              <a:t>keys()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返回的是可迭代对象</a:t>
            </a:r>
            <a:endParaRPr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4281578" y="4601917"/>
            <a:ext cx="4481422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可用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</a:rPr>
              <a:t>list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生成列表，列表中元素是关键字</a:t>
            </a:r>
            <a:endParaRPr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4281578" y="5654618"/>
            <a:ext cx="4481422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得到的元素是由键和值组成的二元组</a:t>
            </a:r>
          </a:p>
        </p:txBody>
      </p:sp>
    </p:spTree>
    <p:extLst>
      <p:ext uri="{BB962C8B-B14F-4D97-AF65-F5344CB8AC3E}">
        <p14:creationId xmlns:p14="http://schemas.microsoft.com/office/powerpoint/2010/main" val="264344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266933"/>
          </a:xfrm>
        </p:spPr>
        <p:txBody>
          <a:bodyPr/>
          <a:lstStyle/>
          <a:p>
            <a:r>
              <a:rPr lang="en-US" altLang="zh-CN" dirty="0"/>
              <a:t>keys(),values(),items()</a:t>
            </a:r>
            <a:r>
              <a:rPr lang="zh-CN" altLang="en-US" dirty="0"/>
              <a:t>均可用</a:t>
            </a:r>
            <a:r>
              <a:rPr lang="en-US" altLang="zh-CN" dirty="0"/>
              <a:t>for</a:t>
            </a:r>
            <a:r>
              <a:rPr lang="zh-CN" altLang="en-US" dirty="0"/>
              <a:t>循环遍历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字典的遍历</a:t>
            </a:r>
          </a:p>
        </p:txBody>
      </p:sp>
      <p:sp>
        <p:nvSpPr>
          <p:cNvPr id="5" name="矩形 4"/>
          <p:cNvSpPr/>
          <p:nvPr/>
        </p:nvSpPr>
        <p:spPr>
          <a:xfrm>
            <a:off x="304800" y="1554977"/>
            <a:ext cx="865727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Consolas" panose="020B0609020204030204" pitchFamily="49" charset="0"/>
              </a:rPr>
              <a:t>&gt;&gt;&gt; for k in </a:t>
            </a:r>
            <a:r>
              <a:rPr lang="en-US" altLang="zh-CN" b="1" dirty="0" err="1">
                <a:latin typeface="Consolas" panose="020B0609020204030204" pitchFamily="49" charset="0"/>
              </a:rPr>
              <a:t>aDict</a:t>
            </a:r>
            <a:r>
              <a:rPr lang="en-US" altLang="zh-CN" b="1" dirty="0">
                <a:latin typeface="Consolas" panose="020B0609020204030204" pitchFamily="49" charset="0"/>
              </a:rPr>
              <a:t>:  print(k, end=',')</a:t>
            </a:r>
          </a:p>
          <a:p>
            <a:pPr>
              <a:lnSpc>
                <a:spcPct val="150000"/>
              </a:lnSpc>
            </a:pP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age,score,name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Consolas" panose="020B0609020204030204" pitchFamily="49" charset="0"/>
              </a:rPr>
              <a:t>&gt;&gt;&gt; for k in </a:t>
            </a:r>
            <a:r>
              <a:rPr lang="en-US" altLang="zh-CN" b="1" dirty="0" err="1">
                <a:latin typeface="Consolas" panose="020B0609020204030204" pitchFamily="49" charset="0"/>
              </a:rPr>
              <a:t>aDict.keys</a:t>
            </a:r>
            <a:r>
              <a:rPr lang="en-US" altLang="zh-CN" b="1" dirty="0">
                <a:latin typeface="Consolas" panose="020B0609020204030204" pitchFamily="49" charset="0"/>
              </a:rPr>
              <a:t>():  print(k, end=',')</a:t>
            </a:r>
          </a:p>
          <a:p>
            <a:pPr>
              <a:lnSpc>
                <a:spcPct val="150000"/>
              </a:lnSpc>
            </a:pP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age,score,name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Consolas" panose="020B0609020204030204" pitchFamily="49" charset="0"/>
              </a:rPr>
              <a:t>&gt;&gt;&gt; for k in </a:t>
            </a:r>
            <a:r>
              <a:rPr lang="en-US" altLang="zh-CN" b="1" dirty="0" err="1">
                <a:latin typeface="Consolas" panose="020B0609020204030204" pitchFamily="49" charset="0"/>
              </a:rPr>
              <a:t>aDict.values</a:t>
            </a:r>
            <a:r>
              <a:rPr lang="en-US" altLang="zh-CN" b="1" dirty="0">
                <a:latin typeface="Consolas" panose="020B0609020204030204" pitchFamily="49" charset="0"/>
              </a:rPr>
              <a:t>():  print(k, end=',')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37,[98, 97],Dong,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Consolas" panose="020B0609020204030204" pitchFamily="49" charset="0"/>
              </a:rPr>
              <a:t>&gt;&gt;&gt; for k in </a:t>
            </a:r>
            <a:r>
              <a:rPr lang="en-US" altLang="zh-CN" b="1" dirty="0" err="1">
                <a:latin typeface="Consolas" panose="020B0609020204030204" pitchFamily="49" charset="0"/>
              </a:rPr>
              <a:t>aDict.items</a:t>
            </a:r>
            <a:r>
              <a:rPr lang="en-US" altLang="zh-CN" b="1" dirty="0">
                <a:latin typeface="Consolas" panose="020B0609020204030204" pitchFamily="49" charset="0"/>
              </a:rPr>
              <a:t>():  print(k, end=',')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('age', 37),('score', [98, 97]),('name', 'Dong'),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Consolas" panose="020B0609020204030204" pitchFamily="49" charset="0"/>
              </a:rPr>
              <a:t>&gt;&gt;&gt; for </a:t>
            </a:r>
            <a:r>
              <a:rPr lang="en-US" altLang="zh-CN" b="1" dirty="0" err="1">
                <a:latin typeface="Consolas" panose="020B0609020204030204" pitchFamily="49" charset="0"/>
              </a:rPr>
              <a:t>k,v</a:t>
            </a:r>
            <a:r>
              <a:rPr lang="en-US" altLang="zh-CN" b="1" dirty="0">
                <a:latin typeface="Consolas" panose="020B0609020204030204" pitchFamily="49" charset="0"/>
              </a:rPr>
              <a:t> in </a:t>
            </a:r>
            <a:r>
              <a:rPr lang="en-US" altLang="zh-CN" b="1" dirty="0" err="1">
                <a:latin typeface="Consolas" panose="020B0609020204030204" pitchFamily="49" charset="0"/>
              </a:rPr>
              <a:t>aDict.items</a:t>
            </a:r>
            <a:r>
              <a:rPr lang="en-US" altLang="zh-CN" b="1" dirty="0">
                <a:latin typeface="Consolas" panose="020B0609020204030204" pitchFamily="49" charset="0"/>
              </a:rPr>
              <a:t>():  print(</a:t>
            </a:r>
            <a:r>
              <a:rPr lang="en-US" altLang="zh-CN" b="1" dirty="0" err="1">
                <a:latin typeface="Consolas" panose="020B0609020204030204" pitchFamily="49" charset="0"/>
              </a:rPr>
              <a:t>k,v</a:t>
            </a:r>
            <a:r>
              <a:rPr lang="en-US" altLang="zh-CN" b="1" dirty="0">
                <a:latin typeface="Consolas" panose="020B0609020204030204" pitchFamily="49" charset="0"/>
              </a:rPr>
              <a:t>, end=',')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age 37,score [98, 97],name Dong,</a:t>
            </a:r>
            <a:endParaRPr lang="zh-CN" altLang="en-US" b="1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158113" y="2054194"/>
            <a:ext cx="4380766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>
                <a:solidFill>
                  <a:srgbClr val="00B0F0"/>
                </a:solidFill>
              </a:rPr>
              <a:t>for</a:t>
            </a:r>
            <a:r>
              <a:rPr lang="zh-CN" altLang="en-US">
                <a:solidFill>
                  <a:srgbClr val="00B0F0"/>
                </a:solidFill>
              </a:rPr>
              <a:t>循环 </a:t>
            </a:r>
            <a:r>
              <a:rPr lang="en-US" altLang="zh-CN">
                <a:solidFill>
                  <a:srgbClr val="00B0F0"/>
                </a:solidFill>
              </a:rPr>
              <a:t>in </a:t>
            </a:r>
            <a:r>
              <a:rPr lang="zh-CN" altLang="en-US">
                <a:solidFill>
                  <a:srgbClr val="FF0000"/>
                </a:solidFill>
              </a:rPr>
              <a:t>字典对象</a:t>
            </a:r>
            <a:r>
              <a:rPr lang="zh-CN" altLang="en-US">
                <a:solidFill>
                  <a:srgbClr val="00B0F0"/>
                </a:solidFill>
              </a:rPr>
              <a:t>，可用遍历</a:t>
            </a:r>
            <a:r>
              <a:rPr lang="zh-CN" altLang="en-US" dirty="0">
                <a:solidFill>
                  <a:srgbClr val="00B0F0"/>
                </a:solidFill>
              </a:rPr>
              <a:t>所有</a:t>
            </a:r>
            <a:r>
              <a:rPr lang="zh-CN" altLang="en-US">
                <a:solidFill>
                  <a:srgbClr val="00B0F0"/>
                </a:solidFill>
              </a:rPr>
              <a:t>的键</a:t>
            </a:r>
            <a:endParaRPr lang="zh-CN" altLang="en-US" dirty="0">
              <a:solidFill>
                <a:srgbClr val="00B0F0"/>
              </a:solidFill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AD29332-7560-430F-AA52-90A2860A071D}"/>
              </a:ext>
            </a:extLst>
          </p:cNvPr>
          <p:cNvCxnSpPr/>
          <p:nvPr/>
        </p:nvCxnSpPr>
        <p:spPr bwMode="auto">
          <a:xfrm flipH="1" flipV="1">
            <a:off x="1661020" y="5301842"/>
            <a:ext cx="629174" cy="7550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DB4400E9-CABC-4CDE-8599-5A3A6C1EDA9F}"/>
              </a:ext>
            </a:extLst>
          </p:cNvPr>
          <p:cNvSpPr txBox="1"/>
          <p:nvPr/>
        </p:nvSpPr>
        <p:spPr>
          <a:xfrm>
            <a:off x="2348917" y="5989739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元组解包：</a:t>
            </a:r>
            <a:r>
              <a:rPr lang="zh-CN" altLang="en-US" dirty="0"/>
              <a:t>将元组中的元素赋值给多个变量。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01871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5879" y="1083733"/>
            <a:ext cx="8941868" cy="456309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0"/>
              <a:t>population={"</a:t>
            </a:r>
            <a:r>
              <a:rPr lang="zh-CN" altLang="en-US" b="0"/>
              <a:t>福州</a:t>
            </a:r>
            <a:r>
              <a:rPr lang="en-US" altLang="zh-CN" b="0"/>
              <a:t>":710.1,"</a:t>
            </a:r>
            <a:r>
              <a:rPr lang="zh-CN" altLang="en-US" b="0"/>
              <a:t>南昌</a:t>
            </a:r>
            <a:r>
              <a:rPr lang="en-US" altLang="zh-CN" b="0"/>
              <a:t>":536,"</a:t>
            </a:r>
            <a:r>
              <a:rPr lang="zh-CN" altLang="en-US" b="0"/>
              <a:t>厦门</a:t>
            </a:r>
            <a:r>
              <a:rPr lang="en-US" altLang="zh-CN" b="0"/>
              <a:t>":261.1,"</a:t>
            </a:r>
            <a:r>
              <a:rPr lang="zh-CN" altLang="en-US" b="0"/>
              <a:t>成都</a:t>
            </a:r>
            <a:r>
              <a:rPr lang="en-US" altLang="zh-CN" b="0"/>
              <a:t>":1500.1}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例题</a:t>
            </a:r>
            <a:r>
              <a:rPr lang="en-US" altLang="zh-CN"/>
              <a:t>2</a:t>
            </a:r>
            <a:r>
              <a:rPr lang="zh-CN" altLang="en-US"/>
              <a:t>：输出城市与人口</a:t>
            </a:r>
          </a:p>
        </p:txBody>
      </p:sp>
      <p:sp>
        <p:nvSpPr>
          <p:cNvPr id="5" name="矩形 4"/>
          <p:cNvSpPr/>
          <p:nvPr/>
        </p:nvSpPr>
        <p:spPr>
          <a:xfrm>
            <a:off x="23235" y="1695577"/>
            <a:ext cx="150718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/>
              <a:t>请输出城市名：</a:t>
            </a:r>
            <a:endParaRPr lang="en-US" altLang="zh-CN" sz="1600"/>
          </a:p>
        </p:txBody>
      </p:sp>
      <p:sp>
        <p:nvSpPr>
          <p:cNvPr id="6" name="矩形 5"/>
          <p:cNvSpPr/>
          <p:nvPr/>
        </p:nvSpPr>
        <p:spPr>
          <a:xfrm>
            <a:off x="-43313" y="4018828"/>
            <a:ext cx="33046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/>
              <a:t>请输出各城市的人口数：</a:t>
            </a:r>
            <a:endParaRPr lang="en-US" altLang="zh-CN" sz="16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632" y="1753597"/>
            <a:ext cx="2253845" cy="26578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40" y="4358475"/>
            <a:ext cx="3105802" cy="289961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897552" y="1723193"/>
            <a:ext cx="251287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/>
              <a:t>请输出城市名和人口数：</a:t>
            </a:r>
            <a:endParaRPr lang="en-US" altLang="zh-CN" sz="16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054" y="1695577"/>
            <a:ext cx="1864917" cy="956997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084" y="3938647"/>
            <a:ext cx="1435623" cy="904137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3770954" y="4052162"/>
            <a:ext cx="25365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/>
              <a:t>请输出城市名和人口数：</a:t>
            </a:r>
            <a:endParaRPr lang="en-US" altLang="zh-CN" sz="1600"/>
          </a:p>
        </p:txBody>
      </p:sp>
      <p:cxnSp>
        <p:nvCxnSpPr>
          <p:cNvPr id="16" name="直接连接符 15"/>
          <p:cNvCxnSpPr/>
          <p:nvPr/>
        </p:nvCxnSpPr>
        <p:spPr bwMode="auto">
          <a:xfrm>
            <a:off x="-43313" y="3960796"/>
            <a:ext cx="79745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直接连接符 17"/>
          <p:cNvCxnSpPr/>
          <p:nvPr/>
        </p:nvCxnSpPr>
        <p:spPr bwMode="auto">
          <a:xfrm>
            <a:off x="3897553" y="1669983"/>
            <a:ext cx="679" cy="518801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接连接符 19"/>
          <p:cNvCxnSpPr/>
          <p:nvPr/>
        </p:nvCxnSpPr>
        <p:spPr bwMode="auto">
          <a:xfrm>
            <a:off x="23235" y="1634689"/>
            <a:ext cx="79745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矩形 21"/>
          <p:cNvSpPr/>
          <p:nvPr/>
        </p:nvSpPr>
        <p:spPr>
          <a:xfrm>
            <a:off x="962163" y="2060526"/>
            <a:ext cx="2338640" cy="8309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C00000"/>
                </a:solidFill>
              </a:rPr>
              <a:t>for i in population :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C00000"/>
                </a:solidFill>
              </a:rPr>
              <a:t>     print(i,end='</a:t>
            </a:r>
            <a:r>
              <a:rPr lang="zh-CN" altLang="en-US" sz="1600">
                <a:solidFill>
                  <a:srgbClr val="C00000"/>
                </a:solidFill>
              </a:rPr>
              <a:t>、</a:t>
            </a:r>
            <a:r>
              <a:rPr lang="en-US" altLang="zh-CN" sz="1600">
                <a:solidFill>
                  <a:srgbClr val="C00000"/>
                </a:solidFill>
              </a:rPr>
              <a:t>')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238949" y="2913526"/>
            <a:ext cx="32918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</a:rPr>
              <a:t>for i in population.items():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</a:rPr>
              <a:t>     print(i)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70974" y="5468395"/>
            <a:ext cx="329999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</a:rPr>
              <a:t>for i in population.values():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</a:rPr>
              <a:t>     print(i,end='</a:t>
            </a:r>
            <a:r>
              <a:rPr lang="zh-CN" altLang="en-US">
                <a:solidFill>
                  <a:srgbClr val="C00000"/>
                </a:solidFill>
              </a:rPr>
              <a:t>、</a:t>
            </a:r>
            <a:r>
              <a:rPr lang="en-US" altLang="zh-CN">
                <a:solidFill>
                  <a:srgbClr val="C00000"/>
                </a:solidFill>
              </a:rPr>
              <a:t>')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436663" y="5976226"/>
            <a:ext cx="3332968" cy="78630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C00000"/>
                </a:solidFill>
              </a:rPr>
              <a:t>for </a:t>
            </a:r>
            <a:r>
              <a:rPr lang="en-US" altLang="zh-CN" sz="1600" dirty="0" err="1">
                <a:solidFill>
                  <a:srgbClr val="C00000"/>
                </a:solidFill>
              </a:rPr>
              <a:t>i</a:t>
            </a:r>
            <a:r>
              <a:rPr lang="en-US" altLang="zh-CN" sz="1600" dirty="0">
                <a:solidFill>
                  <a:srgbClr val="C00000"/>
                </a:solidFill>
              </a:rPr>
              <a:t> in </a:t>
            </a:r>
            <a:r>
              <a:rPr lang="en-US" altLang="zh-CN" sz="1600" dirty="0" err="1">
                <a:solidFill>
                  <a:srgbClr val="C00000"/>
                </a:solidFill>
              </a:rPr>
              <a:t>population.items</a:t>
            </a:r>
            <a:r>
              <a:rPr lang="en-US" altLang="zh-CN" sz="1600" dirty="0">
                <a:solidFill>
                  <a:srgbClr val="C00000"/>
                </a:solidFill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C00000"/>
                </a:solidFill>
              </a:rPr>
              <a:t>     print(</a:t>
            </a:r>
            <a:r>
              <a:rPr lang="en-US" altLang="zh-CN" sz="1600" dirty="0"/>
              <a:t>*</a:t>
            </a:r>
            <a:r>
              <a:rPr lang="en-US" altLang="zh-CN" sz="1600" dirty="0" err="1">
                <a:solidFill>
                  <a:srgbClr val="C00000"/>
                </a:solidFill>
              </a:rPr>
              <a:t>i</a:t>
            </a:r>
            <a:r>
              <a:rPr lang="en-US" altLang="zh-CN" sz="1600" dirty="0">
                <a:solidFill>
                  <a:srgbClr val="C00000"/>
                </a:solidFill>
              </a:rPr>
              <a:t>)   </a:t>
            </a:r>
            <a:r>
              <a:rPr lang="en-US" altLang="zh-CN" sz="1600" dirty="0">
                <a:solidFill>
                  <a:srgbClr val="00B050"/>
                </a:solidFill>
              </a:rPr>
              <a:t>#*</a:t>
            </a:r>
            <a:r>
              <a:rPr lang="zh-CN" altLang="en-US" sz="1600" dirty="0">
                <a:solidFill>
                  <a:srgbClr val="00B050"/>
                </a:solidFill>
              </a:rPr>
              <a:t>解包可迭代对象</a:t>
            </a:r>
          </a:p>
        </p:txBody>
      </p:sp>
      <p:sp>
        <p:nvSpPr>
          <p:cNvPr id="19" name="矩形 18"/>
          <p:cNvSpPr/>
          <p:nvPr/>
        </p:nvSpPr>
        <p:spPr>
          <a:xfrm>
            <a:off x="919212" y="3084669"/>
            <a:ext cx="2978339" cy="8309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C00000"/>
                </a:solidFill>
              </a:rPr>
              <a:t>for i in population.keys() :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C00000"/>
                </a:solidFill>
              </a:rPr>
              <a:t>     print(i,end='</a:t>
            </a:r>
            <a:r>
              <a:rPr lang="zh-CN" altLang="en-US" sz="1600">
                <a:solidFill>
                  <a:srgbClr val="C00000"/>
                </a:solidFill>
              </a:rPr>
              <a:t>、</a:t>
            </a:r>
            <a:r>
              <a:rPr lang="en-US" altLang="zh-CN" sz="1600">
                <a:solidFill>
                  <a:srgbClr val="C00000"/>
                </a:solidFill>
              </a:rPr>
              <a:t>')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8056" y="2092898"/>
            <a:ext cx="95410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0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方法一</a:t>
            </a:r>
          </a:p>
        </p:txBody>
      </p:sp>
      <p:sp>
        <p:nvSpPr>
          <p:cNvPr id="21" name="矩形 20"/>
          <p:cNvSpPr/>
          <p:nvPr/>
        </p:nvSpPr>
        <p:spPr>
          <a:xfrm>
            <a:off x="3206" y="3083127"/>
            <a:ext cx="9476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0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方法二</a:t>
            </a:r>
          </a:p>
        </p:txBody>
      </p:sp>
      <p:sp>
        <p:nvSpPr>
          <p:cNvPr id="26" name="矩形 25"/>
          <p:cNvSpPr/>
          <p:nvPr/>
        </p:nvSpPr>
        <p:spPr>
          <a:xfrm>
            <a:off x="5436662" y="5028849"/>
            <a:ext cx="3333648" cy="7812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C00000"/>
                </a:solidFill>
              </a:rPr>
              <a:t>for i,j in population.items():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C00000"/>
                </a:solidFill>
              </a:rPr>
              <a:t>     print(i,j,sep=' ')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307843" y="5024193"/>
            <a:ext cx="95410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0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方法一</a:t>
            </a:r>
          </a:p>
        </p:txBody>
      </p:sp>
      <p:sp>
        <p:nvSpPr>
          <p:cNvPr id="28" name="矩形 27"/>
          <p:cNvSpPr/>
          <p:nvPr/>
        </p:nvSpPr>
        <p:spPr>
          <a:xfrm>
            <a:off x="4354758" y="5927614"/>
            <a:ext cx="9476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0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方法二</a:t>
            </a:r>
          </a:p>
        </p:txBody>
      </p:sp>
    </p:spTree>
    <p:extLst>
      <p:ext uri="{BB962C8B-B14F-4D97-AF65-F5344CB8AC3E}">
        <p14:creationId xmlns:p14="http://schemas.microsoft.com/office/powerpoint/2010/main" val="2226430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/>
      <p:bldP spid="25" grpId="0" animBg="1"/>
      <p:bldP spid="19" grpId="0" animBg="1"/>
      <p:bldP spid="2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417263"/>
          </a:xfrm>
        </p:spPr>
        <p:txBody>
          <a:bodyPr/>
          <a:lstStyle/>
          <a:p>
            <a:r>
              <a:rPr lang="en-US" altLang="zh-CN" dirty="0"/>
              <a:t>copy()</a:t>
            </a:r>
            <a:r>
              <a:rPr lang="zh-CN" altLang="en-US" dirty="0"/>
              <a:t>可以返回当前字典的副本，注意：简单的赋值不能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字典的复制</a:t>
            </a:r>
          </a:p>
        </p:txBody>
      </p:sp>
      <p:sp>
        <p:nvSpPr>
          <p:cNvPr id="4" name="矩形 3"/>
          <p:cNvSpPr/>
          <p:nvPr/>
        </p:nvSpPr>
        <p:spPr>
          <a:xfrm>
            <a:off x="304800" y="1586676"/>
            <a:ext cx="8997351" cy="5093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latin typeface="Consolas" panose="020B0609020204030204" pitchFamily="49" charset="0"/>
              </a:rPr>
              <a:t>aDict</a:t>
            </a:r>
            <a:r>
              <a:rPr lang="en-US" altLang="zh-CN" dirty="0">
                <a:latin typeface="Consolas" panose="020B0609020204030204" pitchFamily="49" charset="0"/>
              </a:rPr>
              <a:t> = {'age': 37, 'score': [98, 97], 'name': 'Dong'}</a:t>
            </a:r>
          </a:p>
          <a:p>
            <a:pPr>
              <a:lnSpc>
                <a:spcPts val="26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d=</a:t>
            </a:r>
            <a:r>
              <a:rPr lang="en-US" altLang="zh-CN" dirty="0" err="1">
                <a:latin typeface="Consolas" panose="020B0609020204030204" pitchFamily="49" charset="0"/>
              </a:rPr>
              <a:t>aDict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id(d),id(</a:t>
            </a:r>
            <a:r>
              <a:rPr lang="en-US" altLang="zh-CN" dirty="0" err="1">
                <a:latin typeface="Consolas" panose="020B0609020204030204" pitchFamily="49" charset="0"/>
              </a:rPr>
              <a:t>aDict</a:t>
            </a:r>
            <a:r>
              <a:rPr lang="en-US" altLang="zh-CN" dirty="0"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(2239524983016, 2239524983016)</a:t>
            </a:r>
          </a:p>
          <a:p>
            <a:pPr>
              <a:lnSpc>
                <a:spcPts val="26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d['age']=44</a:t>
            </a:r>
          </a:p>
          <a:p>
            <a:pPr>
              <a:lnSpc>
                <a:spcPts val="26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d</a:t>
            </a:r>
            <a:r>
              <a:rPr lang="zh-CN" altLang="en-US" dirty="0">
                <a:latin typeface="Consolas" panose="020B0609020204030204" pitchFamily="49" charset="0"/>
              </a:rPr>
              <a:t>，</a:t>
            </a:r>
            <a:r>
              <a:rPr lang="en-US" altLang="zh-CN" dirty="0" err="1">
                <a:latin typeface="Consolas" panose="020B0609020204030204" pitchFamily="49" charset="0"/>
              </a:rPr>
              <a:t>aDict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{'age': 44, 'score': [98, 97], 'name': 'Dong'}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{'age': 44, 'score': [98, 97], 'name': 'Dong'}</a:t>
            </a:r>
          </a:p>
          <a:p>
            <a:pPr>
              <a:lnSpc>
                <a:spcPts val="26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d=</a:t>
            </a:r>
            <a:r>
              <a:rPr lang="en-US" altLang="zh-CN" dirty="0" err="1">
                <a:latin typeface="Consolas" panose="020B0609020204030204" pitchFamily="49" charset="0"/>
              </a:rPr>
              <a:t>aDict.copy</a:t>
            </a:r>
            <a:r>
              <a:rPr lang="en-US" altLang="zh-CN" dirty="0"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6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id(d),id(</a:t>
            </a:r>
            <a:r>
              <a:rPr lang="en-US" altLang="zh-CN" dirty="0" err="1">
                <a:latin typeface="Consolas" panose="020B0609020204030204" pitchFamily="49" charset="0"/>
              </a:rPr>
              <a:t>aDict</a:t>
            </a:r>
            <a:r>
              <a:rPr lang="en-US" altLang="zh-CN" dirty="0"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(2239525075928, 2239524983016)</a:t>
            </a:r>
          </a:p>
          <a:p>
            <a:pPr>
              <a:lnSpc>
                <a:spcPts val="26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d['age']=60</a:t>
            </a:r>
          </a:p>
          <a:p>
            <a:pPr>
              <a:lnSpc>
                <a:spcPts val="26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latin typeface="Consolas" panose="020B0609020204030204" pitchFamily="49" charset="0"/>
              </a:rPr>
              <a:t>d,aDict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{'age': 60, 'score': [98, 97], 'name': 'Dong'}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{'age': 44, 'score': [98, 97], 'name': 'Dong'}</a:t>
            </a:r>
            <a:endParaRPr lang="zh-CN" altLang="en-US" b="1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114135" y="2227777"/>
            <a:ext cx="5648866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赋值后，</a:t>
            </a:r>
            <a:r>
              <a:rPr lang="en-US" altLang="zh-CN" dirty="0">
                <a:solidFill>
                  <a:srgbClr val="00B0F0"/>
                </a:solidFill>
              </a:rPr>
              <a:t>d</a:t>
            </a:r>
            <a:r>
              <a:rPr lang="zh-CN" altLang="en-US" dirty="0">
                <a:solidFill>
                  <a:srgbClr val="00B0F0"/>
                </a:solidFill>
              </a:rPr>
              <a:t>和</a:t>
            </a:r>
            <a:r>
              <a:rPr lang="en-US" altLang="zh-CN" dirty="0" err="1">
                <a:solidFill>
                  <a:srgbClr val="00B0F0"/>
                </a:solidFill>
              </a:rPr>
              <a:t>aDict</a:t>
            </a:r>
            <a:r>
              <a:rPr lang="zh-CN" altLang="en-US" dirty="0">
                <a:solidFill>
                  <a:srgbClr val="00B0F0"/>
                </a:solidFill>
              </a:rPr>
              <a:t>实际是同一个字典对象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3114134" y="3262410"/>
            <a:ext cx="5648866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对</a:t>
            </a:r>
            <a:r>
              <a:rPr lang="en-US" altLang="zh-CN" dirty="0">
                <a:solidFill>
                  <a:srgbClr val="00B0F0"/>
                </a:solidFill>
              </a:rPr>
              <a:t>d</a:t>
            </a:r>
            <a:r>
              <a:rPr lang="zh-CN" altLang="en-US" dirty="0">
                <a:solidFill>
                  <a:srgbClr val="00B0F0"/>
                </a:solidFill>
              </a:rPr>
              <a:t>的修改，会影响到</a:t>
            </a:r>
            <a:r>
              <a:rPr lang="en-US" altLang="zh-CN" dirty="0" err="1">
                <a:solidFill>
                  <a:srgbClr val="00B0F0"/>
                </a:solidFill>
              </a:rPr>
              <a:t>aDict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114134" y="4562771"/>
            <a:ext cx="5648866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</a:rPr>
              <a:t>copy()</a:t>
            </a:r>
            <a:r>
              <a:rPr lang="zh-CN" altLang="en-US" dirty="0">
                <a:solidFill>
                  <a:srgbClr val="00B0F0"/>
                </a:solidFill>
              </a:rPr>
              <a:t>后，</a:t>
            </a:r>
            <a:r>
              <a:rPr lang="en-US" altLang="zh-CN" dirty="0">
                <a:solidFill>
                  <a:srgbClr val="00B0F0"/>
                </a:solidFill>
              </a:rPr>
              <a:t>d</a:t>
            </a:r>
            <a:r>
              <a:rPr lang="zh-CN" altLang="en-US" dirty="0">
                <a:solidFill>
                  <a:srgbClr val="00B0F0"/>
                </a:solidFill>
              </a:rPr>
              <a:t>和</a:t>
            </a:r>
            <a:r>
              <a:rPr lang="en-US" altLang="zh-CN" dirty="0" err="1">
                <a:solidFill>
                  <a:srgbClr val="00B0F0"/>
                </a:solidFill>
              </a:rPr>
              <a:t>aDict</a:t>
            </a:r>
            <a:r>
              <a:rPr lang="zh-CN" altLang="en-US" dirty="0">
                <a:solidFill>
                  <a:srgbClr val="00B0F0"/>
                </a:solidFill>
              </a:rPr>
              <a:t>是不同的字典对象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3114134" y="5500220"/>
            <a:ext cx="5648866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</a:rPr>
              <a:t>copy()</a:t>
            </a:r>
            <a:r>
              <a:rPr lang="zh-CN" altLang="en-US" dirty="0">
                <a:solidFill>
                  <a:srgbClr val="00B0F0"/>
                </a:solidFill>
              </a:rPr>
              <a:t>后，对</a:t>
            </a:r>
            <a:r>
              <a:rPr lang="en-US" altLang="zh-CN" dirty="0">
                <a:solidFill>
                  <a:srgbClr val="00B0F0"/>
                </a:solidFill>
              </a:rPr>
              <a:t>d</a:t>
            </a:r>
            <a:r>
              <a:rPr lang="zh-CN" altLang="en-US" dirty="0">
                <a:solidFill>
                  <a:srgbClr val="00B0F0"/>
                </a:solidFill>
              </a:rPr>
              <a:t>的修改不会影响到</a:t>
            </a:r>
            <a:r>
              <a:rPr lang="en-US" altLang="zh-CN" dirty="0" err="1">
                <a:solidFill>
                  <a:srgbClr val="00B0F0"/>
                </a:solidFill>
              </a:rPr>
              <a:t>aDict</a:t>
            </a:r>
            <a:endParaRPr lang="zh-CN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83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可用于字典的内置函数</a:t>
            </a:r>
          </a:p>
        </p:txBody>
      </p:sp>
      <p:sp>
        <p:nvSpPr>
          <p:cNvPr id="4" name="矩形 3"/>
          <p:cNvSpPr/>
          <p:nvPr/>
        </p:nvSpPr>
        <p:spPr>
          <a:xfrm>
            <a:off x="399309" y="1041300"/>
            <a:ext cx="892787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b="1" dirty="0">
                <a:latin typeface="Consolas" panose="020B0609020204030204" pitchFamily="49" charset="0"/>
              </a:rPr>
              <a:t>&gt;&gt;&gt; my_dict = {'data1':100,'data2':-54,'data3':247}</a:t>
            </a:r>
          </a:p>
          <a:p>
            <a:pPr>
              <a:lnSpc>
                <a:spcPts val="2800"/>
              </a:lnSpc>
            </a:pPr>
            <a:r>
              <a:rPr lang="zh-CN" altLang="en-US" b="1" dirty="0">
                <a:latin typeface="Consolas" panose="020B0609020204030204" pitchFamily="49" charset="0"/>
              </a:rPr>
              <a:t>&gt;&gt;&gt; print(sum(my_dict.values()))</a:t>
            </a:r>
          </a:p>
          <a:p>
            <a:pPr>
              <a:lnSpc>
                <a:spcPts val="2800"/>
              </a:lnSpc>
            </a:pP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293</a:t>
            </a:r>
            <a:endParaRPr lang="en-US" altLang="zh-CN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>
              <a:lnSpc>
                <a:spcPts val="2800"/>
              </a:lnSpc>
            </a:pPr>
            <a:r>
              <a:rPr lang="zh-CN" altLang="en-US" b="1" dirty="0">
                <a:latin typeface="Consolas" panose="020B0609020204030204" pitchFamily="49" charset="0"/>
              </a:rPr>
              <a:t>&gt;&gt;&gt; </a:t>
            </a:r>
            <a:r>
              <a:rPr lang="en-US" altLang="zh-CN" b="1" dirty="0" err="1">
                <a:latin typeface="Consolas" panose="020B0609020204030204" pitchFamily="49" charset="0"/>
              </a:rPr>
              <a:t>my_dict</a:t>
            </a:r>
            <a:r>
              <a:rPr lang="en-US" altLang="zh-CN" b="1" dirty="0">
                <a:latin typeface="Consolas" panose="020B0609020204030204" pitchFamily="49" charset="0"/>
              </a:rPr>
              <a:t> = {'x':500, 'y':5874, 'z': 560}</a:t>
            </a:r>
          </a:p>
          <a:p>
            <a:pPr>
              <a:lnSpc>
                <a:spcPts val="2800"/>
              </a:lnSpc>
            </a:pPr>
            <a:r>
              <a:rPr lang="en-US" altLang="zh-CN" b="1" dirty="0">
                <a:latin typeface="Consolas" panose="020B0609020204030204" pitchFamily="49" charset="0"/>
              </a:rPr>
              <a:t>&gt;&gt;&gt; print(max(</a:t>
            </a:r>
            <a:r>
              <a:rPr lang="en-US" altLang="zh-CN" b="1" dirty="0" err="1">
                <a:latin typeface="Consolas" panose="020B0609020204030204" pitchFamily="49" charset="0"/>
              </a:rPr>
              <a:t>my_dict.values</a:t>
            </a:r>
            <a:r>
              <a:rPr lang="en-US" altLang="zh-CN" b="1" dirty="0">
                <a:latin typeface="Consolas" panose="020B0609020204030204" pitchFamily="49" charset="0"/>
              </a:rPr>
              <a:t>()),min(</a:t>
            </a:r>
            <a:r>
              <a:rPr lang="en-US" altLang="zh-CN" b="1" dirty="0" err="1">
                <a:latin typeface="Consolas" panose="020B0609020204030204" pitchFamily="49" charset="0"/>
              </a:rPr>
              <a:t>my_dict.values</a:t>
            </a:r>
            <a:r>
              <a:rPr lang="en-US" altLang="zh-CN" b="1" dirty="0">
                <a:latin typeface="Consolas" panose="020B0609020204030204" pitchFamily="49" charset="0"/>
              </a:rPr>
              <a:t>()))</a:t>
            </a:r>
          </a:p>
          <a:p>
            <a:pPr>
              <a:lnSpc>
                <a:spcPts val="28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5874 500</a:t>
            </a:r>
          </a:p>
          <a:p>
            <a:pPr>
              <a:lnSpc>
                <a:spcPts val="2800"/>
              </a:lnSpc>
            </a:pPr>
            <a:r>
              <a:rPr lang="zh-CN" altLang="en-US" b="1" dirty="0">
                <a:latin typeface="Consolas" panose="020B0609020204030204" pitchFamily="49" charset="0"/>
              </a:rPr>
              <a:t>&gt;&gt;&gt; </a:t>
            </a:r>
            <a:r>
              <a:rPr lang="en-US" altLang="zh-CN" b="1" dirty="0">
                <a:latin typeface="Consolas" panose="020B0609020204030204" pitchFamily="49" charset="0"/>
              </a:rPr>
              <a:t>key_max = max(my_dict.keys(),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key=my_dict.get</a:t>
            </a:r>
            <a:r>
              <a:rPr lang="en-US" altLang="zh-CN" b="1" dirty="0">
                <a:latin typeface="Consolas" panose="020B0609020204030204" pitchFamily="49" charset="0"/>
              </a:rPr>
              <a:t>) </a:t>
            </a:r>
          </a:p>
          <a:p>
            <a:pPr>
              <a:lnSpc>
                <a:spcPts val="2800"/>
              </a:lnSpc>
            </a:pPr>
            <a:r>
              <a:rPr lang="zh-CN" altLang="en-US" b="1" dirty="0">
                <a:latin typeface="Consolas" panose="020B0609020204030204" pitchFamily="49" charset="0"/>
              </a:rPr>
              <a:t>&gt;&gt;&gt; </a:t>
            </a:r>
            <a:r>
              <a:rPr lang="en-US" altLang="zh-CN" b="1" dirty="0" err="1">
                <a:latin typeface="Consolas" panose="020B0609020204030204" pitchFamily="49" charset="0"/>
              </a:rPr>
              <a:t>key_min</a:t>
            </a:r>
            <a:r>
              <a:rPr lang="en-US" altLang="zh-CN" b="1" dirty="0">
                <a:latin typeface="Consolas" panose="020B0609020204030204" pitchFamily="49" charset="0"/>
              </a:rPr>
              <a:t> = min(</a:t>
            </a:r>
            <a:r>
              <a:rPr lang="en-US" altLang="zh-CN" b="1" dirty="0" err="1">
                <a:latin typeface="Consolas" panose="020B0609020204030204" pitchFamily="49" charset="0"/>
              </a:rPr>
              <a:t>my_dict.keys</a:t>
            </a:r>
            <a:r>
              <a:rPr lang="en-US" altLang="zh-CN" b="1" dirty="0">
                <a:latin typeface="Consolas" panose="020B0609020204030204" pitchFamily="49" charset="0"/>
              </a:rPr>
              <a:t>(),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key=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my_dict.get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800"/>
              </a:lnSpc>
            </a:pPr>
            <a:r>
              <a:rPr lang="en-US" altLang="zh-CN" b="1" dirty="0">
                <a:latin typeface="Consolas" panose="020B0609020204030204" pitchFamily="49" charset="0"/>
              </a:rPr>
              <a:t>&gt;&gt;&gt; print(</a:t>
            </a:r>
            <a:r>
              <a:rPr lang="en-US" altLang="zh-CN" b="1" dirty="0" err="1">
                <a:latin typeface="Consolas" panose="020B0609020204030204" pitchFamily="49" charset="0"/>
              </a:rPr>
              <a:t>key_max</a:t>
            </a:r>
            <a:r>
              <a:rPr lang="en-US" altLang="zh-CN" b="1" dirty="0">
                <a:latin typeface="Consolas" panose="020B0609020204030204" pitchFamily="49" charset="0"/>
              </a:rPr>
              <a:t>, </a:t>
            </a:r>
            <a:r>
              <a:rPr lang="en-US" altLang="zh-CN" b="1" dirty="0" err="1">
                <a:latin typeface="Consolas" panose="020B0609020204030204" pitchFamily="49" charset="0"/>
              </a:rPr>
              <a:t>key_min</a:t>
            </a:r>
            <a:r>
              <a:rPr lang="en-US" altLang="zh-CN" b="1" dirty="0"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8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y x</a:t>
            </a:r>
          </a:p>
          <a:p>
            <a:pPr>
              <a:lnSpc>
                <a:spcPts val="2800"/>
              </a:lnSpc>
            </a:pPr>
            <a:r>
              <a:rPr lang="zh-CN" altLang="en-US" b="1" dirty="0">
                <a:latin typeface="Consolas" panose="020B0609020204030204" pitchFamily="49" charset="0"/>
              </a:rPr>
              <a:t>&gt;&gt;&gt; </a:t>
            </a:r>
            <a:r>
              <a:rPr lang="en-US" altLang="zh-CN" b="1" dirty="0">
                <a:latin typeface="Consolas" panose="020B0609020204030204" pitchFamily="49" charset="0"/>
              </a:rPr>
              <a:t>print(</a:t>
            </a:r>
            <a:r>
              <a:rPr lang="en-US" altLang="zh-CN" b="1" dirty="0" err="1">
                <a:latin typeface="Consolas" panose="020B0609020204030204" pitchFamily="49" charset="0"/>
              </a:rPr>
              <a:t>my_dict</a:t>
            </a:r>
            <a:r>
              <a:rPr lang="en-US" altLang="zh-CN" b="1" dirty="0">
                <a:latin typeface="Consolas" panose="020B0609020204030204" pitchFamily="49" charset="0"/>
              </a:rPr>
              <a:t>[</a:t>
            </a:r>
            <a:r>
              <a:rPr lang="en-US" altLang="zh-CN" b="1" dirty="0" err="1">
                <a:latin typeface="Consolas" panose="020B0609020204030204" pitchFamily="49" charset="0"/>
              </a:rPr>
              <a:t>key_max</a:t>
            </a:r>
            <a:r>
              <a:rPr lang="en-US" altLang="zh-CN" b="1" dirty="0">
                <a:latin typeface="Consolas" panose="020B0609020204030204" pitchFamily="49" charset="0"/>
              </a:rPr>
              <a:t>], </a:t>
            </a:r>
            <a:r>
              <a:rPr lang="en-US" altLang="zh-CN" b="1" dirty="0" err="1">
                <a:latin typeface="Consolas" panose="020B0609020204030204" pitchFamily="49" charset="0"/>
              </a:rPr>
              <a:t>my_dict</a:t>
            </a:r>
            <a:r>
              <a:rPr lang="en-US" altLang="zh-CN" b="1" dirty="0">
                <a:latin typeface="Consolas" panose="020B0609020204030204" pitchFamily="49" charset="0"/>
              </a:rPr>
              <a:t>[</a:t>
            </a:r>
            <a:r>
              <a:rPr lang="en-US" altLang="zh-CN" b="1" dirty="0" err="1">
                <a:latin typeface="Consolas" panose="020B0609020204030204" pitchFamily="49" charset="0"/>
              </a:rPr>
              <a:t>key_min</a:t>
            </a:r>
            <a:r>
              <a:rPr lang="en-US" altLang="zh-CN" b="1" dirty="0"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28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5874 500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4863245" y="1407448"/>
            <a:ext cx="1282182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</a:rPr>
              <a:t>对值求和</a:t>
            </a:r>
            <a:endParaRPr lang="en-US" altLang="zh-CN" b="1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065969" y="2076308"/>
            <a:ext cx="2750165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</a:rPr>
              <a:t>求最大和最小的值及其键</a:t>
            </a:r>
            <a:endParaRPr lang="en-US" altLang="zh-CN" b="1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436180" y="4258927"/>
            <a:ext cx="6627597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通过指定</a:t>
            </a:r>
            <a:r>
              <a:rPr lang="en-US" altLang="zh-CN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max/min</a:t>
            </a:r>
            <a:r>
              <a:rPr lang="zh-CN" altLang="en-US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key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参数，求字典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value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最大</a:t>
            </a:r>
            <a:r>
              <a:rPr lang="en-US" altLang="zh-CN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小值对应的</a:t>
            </a:r>
            <a:r>
              <a:rPr lang="en-US" altLang="zh-CN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key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6828852" y="3229583"/>
            <a:ext cx="1987282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Consolas" panose="020B0609020204030204" pitchFamily="49" charset="0"/>
              </a:rPr>
              <a:t>get</a:t>
            </a:r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</a:rPr>
              <a:t>后面没有括号</a:t>
            </a:r>
            <a:endParaRPr lang="en-US" altLang="zh-CN" b="1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880BEC-6A2A-4C5F-A356-BBC3A4EAB267}"/>
              </a:ext>
            </a:extLst>
          </p:cNvPr>
          <p:cNvSpPr txBox="1"/>
          <p:nvPr/>
        </p:nvSpPr>
        <p:spPr>
          <a:xfrm>
            <a:off x="399309" y="5724481"/>
            <a:ext cx="4611840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&gt;&gt;&gt;</a:t>
            </a:r>
            <a:r>
              <a:rPr lang="en-US" altLang="zh-CN" dirty="0" err="1">
                <a:solidFill>
                  <a:srgbClr val="00B050"/>
                </a:solidFill>
              </a:rPr>
              <a:t>key_max</a:t>
            </a:r>
            <a:r>
              <a:rPr lang="en-US" altLang="zh-CN" dirty="0">
                <a:solidFill>
                  <a:srgbClr val="00B050"/>
                </a:solidFill>
              </a:rPr>
              <a:t> = max(</a:t>
            </a:r>
            <a:r>
              <a:rPr lang="en-US" altLang="zh-CN" dirty="0" err="1">
                <a:solidFill>
                  <a:srgbClr val="00B050"/>
                </a:solidFill>
              </a:rPr>
              <a:t>my_dict.keys</a:t>
            </a:r>
            <a:r>
              <a:rPr lang="en-US" altLang="zh-CN" dirty="0">
                <a:solidFill>
                  <a:srgbClr val="00B050"/>
                </a:solidFill>
              </a:rPr>
              <a:t>())</a:t>
            </a:r>
          </a:p>
          <a:p>
            <a:r>
              <a:rPr lang="en-US" altLang="zh-CN" dirty="0">
                <a:solidFill>
                  <a:srgbClr val="00B050"/>
                </a:solidFill>
              </a:rPr>
              <a:t>&gt;&gt;&gt;</a:t>
            </a:r>
            <a:r>
              <a:rPr lang="en-US" altLang="zh-CN" dirty="0" err="1">
                <a:solidFill>
                  <a:srgbClr val="00B050"/>
                </a:solidFill>
              </a:rPr>
              <a:t>key_max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'z'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6B2F62-8EA2-4918-ABE2-DE748E9F0EB5}"/>
              </a:ext>
            </a:extLst>
          </p:cNvPr>
          <p:cNvSpPr txBox="1"/>
          <p:nvPr/>
        </p:nvSpPr>
        <p:spPr>
          <a:xfrm>
            <a:off x="5209564" y="5813571"/>
            <a:ext cx="3112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这是三个字符串</a:t>
            </a:r>
            <a:r>
              <a:rPr lang="en-US" altLang="zh-CN" dirty="0">
                <a:solidFill>
                  <a:srgbClr val="00B050"/>
                </a:solidFill>
              </a:rPr>
              <a:t>’x’</a:t>
            </a:r>
            <a:r>
              <a:rPr lang="zh-CN" altLang="en-US" dirty="0">
                <a:solidFill>
                  <a:srgbClr val="00B050"/>
                </a:solidFill>
              </a:rPr>
              <a:t>、</a:t>
            </a:r>
            <a:r>
              <a:rPr lang="en-US" altLang="zh-CN" dirty="0">
                <a:solidFill>
                  <a:srgbClr val="00B050"/>
                </a:solidFill>
              </a:rPr>
              <a:t>’y’</a:t>
            </a:r>
            <a:r>
              <a:rPr lang="zh-CN" altLang="en-US" dirty="0">
                <a:solidFill>
                  <a:srgbClr val="00B050"/>
                </a:solidFill>
              </a:rPr>
              <a:t>、</a:t>
            </a:r>
            <a:r>
              <a:rPr lang="en-US" altLang="zh-CN" dirty="0">
                <a:solidFill>
                  <a:srgbClr val="00B050"/>
                </a:solidFill>
              </a:rPr>
              <a:t>’z</a:t>
            </a:r>
            <a:r>
              <a:rPr lang="zh-CN" altLang="en-US" dirty="0">
                <a:solidFill>
                  <a:srgbClr val="00B050"/>
                </a:solidFill>
              </a:rPr>
              <a:t>’在比大小。</a:t>
            </a:r>
          </a:p>
        </p:txBody>
      </p:sp>
    </p:spTree>
    <p:extLst>
      <p:ext uri="{BB962C8B-B14F-4D97-AF65-F5344CB8AC3E}">
        <p14:creationId xmlns:p14="http://schemas.microsoft.com/office/powerpoint/2010/main" val="898104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5879" y="1083733"/>
            <a:ext cx="8941868" cy="45630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b="0"/>
              <a:t>population={"</a:t>
            </a:r>
            <a:r>
              <a:rPr lang="zh-CN" altLang="en-US" sz="1800" b="0"/>
              <a:t>福州</a:t>
            </a:r>
            <a:r>
              <a:rPr lang="en-US" altLang="zh-CN" sz="1800" b="0"/>
              <a:t>":710.1,"</a:t>
            </a:r>
            <a:r>
              <a:rPr lang="zh-CN" altLang="en-US" sz="1800" b="0"/>
              <a:t>南昌</a:t>
            </a:r>
            <a:r>
              <a:rPr lang="en-US" altLang="zh-CN" sz="1800" b="0"/>
              <a:t>":536,"</a:t>
            </a:r>
            <a:r>
              <a:rPr lang="zh-CN" altLang="en-US" sz="1800" b="0"/>
              <a:t>厦门</a:t>
            </a:r>
            <a:r>
              <a:rPr lang="en-US" altLang="zh-CN" sz="1800" b="0"/>
              <a:t>":261.1,"</a:t>
            </a:r>
            <a:r>
              <a:rPr lang="zh-CN" altLang="en-US" sz="1800" b="0"/>
              <a:t>成都</a:t>
            </a:r>
            <a:r>
              <a:rPr lang="en-US" altLang="zh-CN" sz="1800" b="0"/>
              <a:t>":1500.1, "</a:t>
            </a:r>
            <a:r>
              <a:rPr lang="zh-CN" altLang="en-US" sz="1800" b="0"/>
              <a:t>杭州</a:t>
            </a:r>
            <a:r>
              <a:rPr lang="en-US" altLang="zh-CN" sz="1800" b="0"/>
              <a:t>":795.4}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例题</a:t>
            </a:r>
            <a:r>
              <a:rPr lang="en-US" altLang="zh-CN"/>
              <a:t>3</a:t>
            </a:r>
            <a:r>
              <a:rPr lang="zh-CN" altLang="en-US"/>
              <a:t>：城市与人口的最值</a:t>
            </a:r>
          </a:p>
        </p:txBody>
      </p:sp>
      <p:sp>
        <p:nvSpPr>
          <p:cNvPr id="5" name="矩形 4"/>
          <p:cNvSpPr/>
          <p:nvPr/>
        </p:nvSpPr>
        <p:spPr>
          <a:xfrm>
            <a:off x="105879" y="1970621"/>
            <a:ext cx="32966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</a:rPr>
              <a:t>题目</a:t>
            </a:r>
            <a:r>
              <a:rPr lang="en-US" altLang="zh-CN" sz="1600">
                <a:solidFill>
                  <a:srgbClr val="C00000"/>
                </a:solidFill>
              </a:rPr>
              <a:t>1</a:t>
            </a:r>
            <a:r>
              <a:rPr lang="zh-CN" altLang="en-US" sz="1600">
                <a:solidFill>
                  <a:srgbClr val="C00000"/>
                </a:solidFill>
              </a:rPr>
              <a:t>：</a:t>
            </a:r>
            <a:r>
              <a:rPr lang="zh-CN" altLang="en-US" sz="1600"/>
              <a:t>输出最多、最少的人口数：</a:t>
            </a:r>
            <a:endParaRPr lang="en-US" altLang="zh-CN" sz="1600"/>
          </a:p>
        </p:txBody>
      </p:sp>
      <p:cxnSp>
        <p:nvCxnSpPr>
          <p:cNvPr id="18" name="直接连接符 17"/>
          <p:cNvCxnSpPr/>
          <p:nvPr/>
        </p:nvCxnSpPr>
        <p:spPr bwMode="auto">
          <a:xfrm>
            <a:off x="4918509" y="1636100"/>
            <a:ext cx="33689" cy="269572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接连接符 19"/>
          <p:cNvCxnSpPr/>
          <p:nvPr/>
        </p:nvCxnSpPr>
        <p:spPr bwMode="auto">
          <a:xfrm>
            <a:off x="23235" y="1634689"/>
            <a:ext cx="79745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矩形 21"/>
          <p:cNvSpPr/>
          <p:nvPr/>
        </p:nvSpPr>
        <p:spPr>
          <a:xfrm>
            <a:off x="23234" y="2718211"/>
            <a:ext cx="4788167" cy="457561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/>
              <a:t>print(</a:t>
            </a:r>
            <a:r>
              <a:rPr lang="en-US" altLang="zh-CN">
                <a:solidFill>
                  <a:srgbClr val="C00000"/>
                </a:solidFill>
              </a:rPr>
              <a:t>max</a:t>
            </a:r>
            <a:r>
              <a:rPr lang="en-US" altLang="zh-CN"/>
              <a:t>(population.values()))</a:t>
            </a:r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071009" y="1583683"/>
            <a:ext cx="329999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</a:rPr>
              <a:t>max1=0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</a:rPr>
              <a:t>min1=999999999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</a:rPr>
              <a:t>for i in population.values():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</a:rPr>
              <a:t>     if i&gt;max1:max1=i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</a:rPr>
              <a:t>     if i&lt;min1:min1=i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</a:rPr>
              <a:t>print(max1,min1,sep='\n')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6221" y="4862881"/>
            <a:ext cx="284028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</a:rPr>
              <a:t>题目</a:t>
            </a:r>
            <a:r>
              <a:rPr lang="en-US" altLang="zh-CN" sz="1600">
                <a:solidFill>
                  <a:srgbClr val="C00000"/>
                </a:solidFill>
              </a:rPr>
              <a:t>2</a:t>
            </a:r>
            <a:r>
              <a:rPr lang="zh-CN" altLang="en-US" sz="1600">
                <a:solidFill>
                  <a:srgbClr val="C00000"/>
                </a:solidFill>
              </a:rPr>
              <a:t>：</a:t>
            </a:r>
            <a:r>
              <a:rPr lang="zh-CN" altLang="en-US" sz="1600"/>
              <a:t>输出人口最多的城市：</a:t>
            </a:r>
            <a:endParaRPr lang="en-US" altLang="zh-CN" sz="1600"/>
          </a:p>
        </p:txBody>
      </p:sp>
      <p:sp>
        <p:nvSpPr>
          <p:cNvPr id="21" name="矩形 20"/>
          <p:cNvSpPr/>
          <p:nvPr/>
        </p:nvSpPr>
        <p:spPr>
          <a:xfrm>
            <a:off x="105879" y="5324022"/>
            <a:ext cx="608607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</a:rPr>
              <a:t>print(max(</a:t>
            </a:r>
            <a:r>
              <a:rPr lang="en-US" altLang="zh-CN"/>
              <a:t>population.keys(),key=population.get</a:t>
            </a:r>
            <a:r>
              <a:rPr lang="en-US" altLang="zh-CN">
                <a:solidFill>
                  <a:srgbClr val="C00000"/>
                </a:solidFill>
              </a:rPr>
              <a:t>))</a:t>
            </a:r>
            <a:endParaRPr lang="zh-CN" altLang="en-US">
              <a:solidFill>
                <a:srgbClr val="C00000"/>
              </a:solidFill>
            </a:endParaRPr>
          </a:p>
        </p:txBody>
      </p:sp>
      <p:cxnSp>
        <p:nvCxnSpPr>
          <p:cNvPr id="27" name="直接连接符 26"/>
          <p:cNvCxnSpPr/>
          <p:nvPr/>
        </p:nvCxnSpPr>
        <p:spPr bwMode="auto">
          <a:xfrm>
            <a:off x="0" y="4331821"/>
            <a:ext cx="79745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126" y="4843955"/>
            <a:ext cx="643629" cy="285244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37049" y="3383931"/>
            <a:ext cx="4788167" cy="507831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/>
              <a:t>print(</a:t>
            </a:r>
            <a:r>
              <a:rPr lang="en-US" altLang="zh-CN">
                <a:solidFill>
                  <a:srgbClr val="C00000"/>
                </a:solidFill>
              </a:rPr>
              <a:t>min</a:t>
            </a:r>
            <a:r>
              <a:rPr lang="en-US" altLang="zh-CN"/>
              <a:t>(population.values()))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191" y="1836963"/>
            <a:ext cx="708615" cy="28110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6191" y="2288122"/>
            <a:ext cx="686934" cy="25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82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  <p:bldP spid="21" grpId="0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可用于字典的内置函数</a:t>
            </a:r>
          </a:p>
        </p:txBody>
      </p:sp>
      <p:sp>
        <p:nvSpPr>
          <p:cNvPr id="5" name="矩形 4"/>
          <p:cNvSpPr/>
          <p:nvPr/>
        </p:nvSpPr>
        <p:spPr>
          <a:xfrm>
            <a:off x="-38501" y="2185215"/>
            <a:ext cx="90669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latin typeface="Consolas" panose="020B0609020204030204" pitchFamily="49" charset="0"/>
              </a:rPr>
              <a:t>sorted</a:t>
            </a:r>
            <a:r>
              <a:rPr lang="zh-CN" altLang="en-US" sz="2400" b="1" dirty="0">
                <a:latin typeface="Consolas" panose="020B0609020204030204" pitchFamily="49" charset="0"/>
              </a:rPr>
              <a:t>(my_dict.keys(), key=</a:t>
            </a:r>
            <a:r>
              <a:rPr lang="zh-CN" alt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my_dict.get</a:t>
            </a:r>
            <a:r>
              <a:rPr lang="zh-CN" altLang="en-US" sz="2400" b="1" dirty="0">
                <a:latin typeface="Consolas" panose="020B0609020204030204" pitchFamily="49" charset="0"/>
              </a:rPr>
              <a:t>, reverse=</a:t>
            </a:r>
            <a:r>
              <a:rPr lang="zh-CN" altLang="en-US" sz="2400" b="1">
                <a:latin typeface="Consolas" panose="020B0609020204030204" pitchFamily="49" charset="0"/>
              </a:rPr>
              <a:t>True)</a:t>
            </a:r>
            <a:endParaRPr lang="zh-CN" altLang="en-US" sz="2400" b="1" dirty="0">
              <a:latin typeface="Consolas" panose="020B0609020204030204" pitchFamily="49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312118" y="3478574"/>
            <a:ext cx="3248526" cy="89669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</a:t>
            </a:r>
            <a:r>
              <a:rPr lang="en-US" altLang="zh-CN" sz="20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key</a:t>
            </a:r>
            <a:r>
              <a:rPr lang="zh-CN" altLang="en-US" sz="20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的参数值为依据排序，</a:t>
            </a:r>
            <a:endParaRPr lang="en-US" altLang="zh-CN" sz="2000" b="1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2800"/>
              </a:lnSpc>
            </a:pPr>
            <a:r>
              <a:rPr lang="zh-CN" altLang="en-US" sz="20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默认按字典的</a:t>
            </a:r>
            <a:r>
              <a:rPr lang="en-US" altLang="zh-CN" sz="20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key</a:t>
            </a:r>
            <a:r>
              <a:rPr lang="zh-CN" altLang="en-US" sz="20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排序</a:t>
            </a:r>
            <a:endParaRPr lang="en-US" altLang="zh-CN" sz="2000" b="1" dirty="0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50257" y="3478574"/>
            <a:ext cx="3633537" cy="896699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0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sorted</a:t>
            </a:r>
            <a:r>
              <a:rPr lang="zh-CN" altLang="en-US" sz="20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结果为列表，</a:t>
            </a:r>
            <a:endParaRPr lang="en-US" altLang="zh-CN" sz="2000" b="1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2800"/>
              </a:lnSpc>
            </a:pPr>
            <a:r>
              <a:rPr lang="zh-CN" altLang="en-US" sz="20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设置放在列表中的字典子对象</a:t>
            </a:r>
            <a:endParaRPr lang="en-US" altLang="zh-CN" sz="2000" b="1" dirty="0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936381" y="1110944"/>
            <a:ext cx="3130617" cy="4994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0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True</a:t>
            </a:r>
            <a:r>
              <a:rPr lang="zh-CN" altLang="en-US" sz="20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为降序，默认为升序</a:t>
            </a:r>
            <a:endParaRPr lang="en-US" altLang="zh-CN" sz="2000" b="1" dirty="0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6" name="直接箭头连接符 5"/>
          <p:cNvCxnSpPr>
            <a:stCxn id="8" idx="2"/>
          </p:cNvCxnSpPr>
          <p:nvPr/>
        </p:nvCxnSpPr>
        <p:spPr bwMode="auto">
          <a:xfrm flipH="1">
            <a:off x="7498080" y="1610372"/>
            <a:ext cx="3610" cy="916260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4" idx="0"/>
          </p:cNvCxnSpPr>
          <p:nvPr/>
        </p:nvCxnSpPr>
        <p:spPr bwMode="auto">
          <a:xfrm flipH="1" flipV="1">
            <a:off x="5669281" y="2719138"/>
            <a:ext cx="267100" cy="759436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7" idx="0"/>
          </p:cNvCxnSpPr>
          <p:nvPr/>
        </p:nvCxnSpPr>
        <p:spPr bwMode="auto">
          <a:xfrm flipV="1">
            <a:off x="2067026" y="2719138"/>
            <a:ext cx="7219" cy="759436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28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31545" y="963417"/>
            <a:ext cx="8458200" cy="49530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&gt;&gt;&gt; d = {'</a:t>
            </a:r>
            <a:r>
              <a:rPr lang="en-US" altLang="zh-CN" dirty="0" err="1"/>
              <a:t>abc</a:t>
            </a:r>
            <a:r>
              <a:rPr lang="en-US" altLang="zh-CN" dirty="0"/>
              <a:t>': 2, '</a:t>
            </a:r>
            <a:r>
              <a:rPr lang="en-US" altLang="zh-CN" dirty="0" err="1"/>
              <a:t>abb</a:t>
            </a:r>
            <a:r>
              <a:rPr lang="en-US" altLang="zh-CN" dirty="0"/>
              <a:t>': 10, 'bag': 2, 'cat': 4, '</a:t>
            </a:r>
            <a:r>
              <a:rPr lang="en-US" altLang="zh-CN" dirty="0" err="1"/>
              <a:t>acc</a:t>
            </a:r>
            <a:r>
              <a:rPr lang="en-US" altLang="zh-CN" dirty="0"/>
              <a:t>': 2}</a:t>
            </a:r>
          </a:p>
          <a:p>
            <a:pPr marL="0" indent="0">
              <a:buNone/>
            </a:pPr>
            <a:r>
              <a:rPr lang="en-US" altLang="zh-CN" dirty="0"/>
              <a:t>&gt;&gt;&gt; </a:t>
            </a:r>
            <a:r>
              <a:rPr lang="en-US" altLang="zh-CN" dirty="0">
                <a:solidFill>
                  <a:srgbClr val="FF0000"/>
                </a:solidFill>
              </a:rPr>
              <a:t>sorted</a:t>
            </a:r>
            <a:r>
              <a:rPr lang="en-US" altLang="zh-CN" dirty="0"/>
              <a:t>(</a:t>
            </a:r>
            <a:r>
              <a:rPr lang="en-US" altLang="zh-CN" dirty="0" err="1"/>
              <a:t>d.keys</a:t>
            </a:r>
            <a:r>
              <a:rPr lang="en-US" altLang="zh-CN" dirty="0"/>
              <a:t>())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['</a:t>
            </a:r>
            <a:r>
              <a:rPr lang="en-US" altLang="zh-CN" dirty="0" err="1">
                <a:solidFill>
                  <a:srgbClr val="0000FF"/>
                </a:solidFill>
              </a:rPr>
              <a:t>abb</a:t>
            </a:r>
            <a:r>
              <a:rPr lang="en-US" altLang="zh-CN" dirty="0">
                <a:solidFill>
                  <a:srgbClr val="0000FF"/>
                </a:solidFill>
              </a:rPr>
              <a:t>', '</a:t>
            </a:r>
            <a:r>
              <a:rPr lang="en-US" altLang="zh-CN" dirty="0" err="1">
                <a:solidFill>
                  <a:srgbClr val="0000FF"/>
                </a:solidFill>
              </a:rPr>
              <a:t>abc</a:t>
            </a:r>
            <a:r>
              <a:rPr lang="en-US" altLang="zh-CN" dirty="0">
                <a:solidFill>
                  <a:srgbClr val="0000FF"/>
                </a:solidFill>
              </a:rPr>
              <a:t>', '</a:t>
            </a:r>
            <a:r>
              <a:rPr lang="en-US" altLang="zh-CN" dirty="0" err="1">
                <a:solidFill>
                  <a:srgbClr val="0000FF"/>
                </a:solidFill>
              </a:rPr>
              <a:t>acc</a:t>
            </a:r>
            <a:r>
              <a:rPr lang="en-US" altLang="zh-CN" dirty="0">
                <a:solidFill>
                  <a:srgbClr val="0000FF"/>
                </a:solidFill>
              </a:rPr>
              <a:t>', 'bag', 'cat']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 </a:t>
            </a:r>
            <a:r>
              <a:rPr lang="en-US" altLang="zh-CN" dirty="0">
                <a:solidFill>
                  <a:srgbClr val="FF0000"/>
                </a:solidFill>
              </a:rPr>
              <a:t>sorted</a:t>
            </a:r>
            <a:r>
              <a:rPr lang="en-US" altLang="zh-CN" dirty="0"/>
              <a:t>(</a:t>
            </a:r>
            <a:r>
              <a:rPr lang="en-US" altLang="zh-CN" dirty="0" err="1"/>
              <a:t>d.keys</a:t>
            </a:r>
            <a:r>
              <a:rPr lang="en-US" altLang="zh-CN" dirty="0"/>
              <a:t>(), </a:t>
            </a:r>
            <a:r>
              <a:rPr lang="en-US" altLang="zh-CN" dirty="0">
                <a:solidFill>
                  <a:srgbClr val="FF0000"/>
                </a:solidFill>
              </a:rPr>
              <a:t>key = </a:t>
            </a:r>
            <a:r>
              <a:rPr lang="en-US" altLang="zh-CN" dirty="0" err="1">
                <a:solidFill>
                  <a:srgbClr val="FF0000"/>
                </a:solidFill>
              </a:rPr>
              <a:t>d.get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['</a:t>
            </a:r>
            <a:r>
              <a:rPr lang="en-US" altLang="zh-CN" dirty="0" err="1">
                <a:solidFill>
                  <a:srgbClr val="0000FF"/>
                </a:solidFill>
              </a:rPr>
              <a:t>abc</a:t>
            </a:r>
            <a:r>
              <a:rPr lang="en-US" altLang="zh-CN" dirty="0">
                <a:solidFill>
                  <a:srgbClr val="0000FF"/>
                </a:solidFill>
              </a:rPr>
              <a:t>', 'bag', '</a:t>
            </a:r>
            <a:r>
              <a:rPr lang="en-US" altLang="zh-CN" dirty="0" err="1">
                <a:solidFill>
                  <a:srgbClr val="0000FF"/>
                </a:solidFill>
              </a:rPr>
              <a:t>acc</a:t>
            </a:r>
            <a:r>
              <a:rPr lang="en-US" altLang="zh-CN" dirty="0">
                <a:solidFill>
                  <a:srgbClr val="0000FF"/>
                </a:solidFill>
              </a:rPr>
              <a:t>', 'cat', '</a:t>
            </a:r>
            <a:r>
              <a:rPr lang="en-US" altLang="zh-CN" dirty="0" err="1">
                <a:solidFill>
                  <a:srgbClr val="0000FF"/>
                </a:solidFill>
              </a:rPr>
              <a:t>abb</a:t>
            </a:r>
            <a:r>
              <a:rPr lang="en-US" altLang="zh-CN" dirty="0">
                <a:solidFill>
                  <a:srgbClr val="0000FF"/>
                </a:solidFill>
              </a:rPr>
              <a:t>']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 </a:t>
            </a:r>
            <a:r>
              <a:rPr lang="en-US" altLang="zh-CN" dirty="0">
                <a:solidFill>
                  <a:srgbClr val="FF0000"/>
                </a:solidFill>
              </a:rPr>
              <a:t>sorted</a:t>
            </a:r>
            <a:r>
              <a:rPr lang="en-US" altLang="zh-CN" dirty="0"/>
              <a:t>(</a:t>
            </a:r>
            <a:r>
              <a:rPr lang="en-US" altLang="zh-CN" dirty="0" err="1"/>
              <a:t>d.keys</a:t>
            </a:r>
            <a:r>
              <a:rPr lang="en-US" altLang="zh-CN" dirty="0">
                <a:solidFill>
                  <a:srgbClr val="FF0000"/>
                </a:solidFill>
              </a:rPr>
              <a:t>(), key = </a:t>
            </a:r>
            <a:r>
              <a:rPr lang="en-US" altLang="zh-CN" dirty="0" err="1">
                <a:solidFill>
                  <a:srgbClr val="FF0000"/>
                </a:solidFill>
              </a:rPr>
              <a:t>d.get</a:t>
            </a:r>
            <a:r>
              <a:rPr lang="en-US" altLang="zh-CN" dirty="0"/>
              <a:t>, reverse = </a:t>
            </a:r>
            <a:r>
              <a:rPr lang="en-US" altLang="zh-CN" dirty="0">
                <a:solidFill>
                  <a:srgbClr val="FF0000"/>
                </a:solidFill>
              </a:rPr>
              <a:t>True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['</a:t>
            </a:r>
            <a:r>
              <a:rPr lang="en-US" altLang="zh-CN" dirty="0" err="1">
                <a:solidFill>
                  <a:srgbClr val="0000FF"/>
                </a:solidFill>
              </a:rPr>
              <a:t>abb</a:t>
            </a:r>
            <a:r>
              <a:rPr lang="en-US" altLang="zh-CN" dirty="0">
                <a:solidFill>
                  <a:srgbClr val="0000FF"/>
                </a:solidFill>
              </a:rPr>
              <a:t>', 'cat', '</a:t>
            </a:r>
            <a:r>
              <a:rPr lang="en-US" altLang="zh-CN" dirty="0" err="1">
                <a:solidFill>
                  <a:srgbClr val="0000FF"/>
                </a:solidFill>
              </a:rPr>
              <a:t>abc</a:t>
            </a:r>
            <a:r>
              <a:rPr lang="en-US" altLang="zh-CN" dirty="0">
                <a:solidFill>
                  <a:srgbClr val="0000FF"/>
                </a:solidFill>
              </a:rPr>
              <a:t>', 'bag', '</a:t>
            </a:r>
            <a:r>
              <a:rPr lang="en-US" altLang="zh-CN" dirty="0" err="1">
                <a:solidFill>
                  <a:srgbClr val="0000FF"/>
                </a:solidFill>
              </a:rPr>
              <a:t>acc</a:t>
            </a:r>
            <a:r>
              <a:rPr lang="en-US" altLang="zh-CN" dirty="0">
                <a:solidFill>
                  <a:srgbClr val="0000FF"/>
                </a:solidFill>
              </a:rPr>
              <a:t>']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 </a:t>
            </a:r>
            <a:r>
              <a:rPr lang="en-US" altLang="zh-CN" dirty="0">
                <a:solidFill>
                  <a:srgbClr val="FF0000"/>
                </a:solidFill>
              </a:rPr>
              <a:t>sorted</a:t>
            </a:r>
            <a:r>
              <a:rPr lang="en-US" altLang="zh-CN" dirty="0"/>
              <a:t>(</a:t>
            </a:r>
            <a:r>
              <a:rPr lang="en-US" altLang="zh-CN" dirty="0" err="1"/>
              <a:t>d.values</a:t>
            </a:r>
            <a:r>
              <a:rPr lang="en-US" altLang="zh-CN" dirty="0"/>
              <a:t>())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[2, 2, 2, 4, 10]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 sorted(</a:t>
            </a:r>
            <a:r>
              <a:rPr lang="en-US" altLang="zh-CN" dirty="0" err="1"/>
              <a:t>d.items</a:t>
            </a:r>
            <a:r>
              <a:rPr lang="en-US" altLang="zh-CN" dirty="0"/>
              <a:t>())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[('</a:t>
            </a:r>
            <a:r>
              <a:rPr lang="en-US" altLang="zh-CN" dirty="0" err="1">
                <a:solidFill>
                  <a:srgbClr val="0000FF"/>
                </a:solidFill>
              </a:rPr>
              <a:t>abb</a:t>
            </a:r>
            <a:r>
              <a:rPr lang="en-US" altLang="zh-CN" dirty="0">
                <a:solidFill>
                  <a:srgbClr val="0000FF"/>
                </a:solidFill>
              </a:rPr>
              <a:t>', 10), ('</a:t>
            </a:r>
            <a:r>
              <a:rPr lang="en-US" altLang="zh-CN" dirty="0" err="1">
                <a:solidFill>
                  <a:srgbClr val="0000FF"/>
                </a:solidFill>
              </a:rPr>
              <a:t>abc</a:t>
            </a:r>
            <a:r>
              <a:rPr lang="en-US" altLang="zh-CN" dirty="0">
                <a:solidFill>
                  <a:srgbClr val="0000FF"/>
                </a:solidFill>
              </a:rPr>
              <a:t>', 2), ('</a:t>
            </a:r>
            <a:r>
              <a:rPr lang="en-US" altLang="zh-CN" dirty="0" err="1">
                <a:solidFill>
                  <a:srgbClr val="0000FF"/>
                </a:solidFill>
              </a:rPr>
              <a:t>acc</a:t>
            </a:r>
            <a:r>
              <a:rPr lang="en-US" altLang="zh-CN" dirty="0">
                <a:solidFill>
                  <a:srgbClr val="0000FF"/>
                </a:solidFill>
              </a:rPr>
              <a:t>', 2), ('bag', 2), ('cat', 4)]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sorted()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226486" y="2856687"/>
            <a:ext cx="4917514" cy="69806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zh-CN" altLang="en-US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通过指定</a:t>
            </a:r>
            <a:r>
              <a:rPr lang="en-US" altLang="zh-CN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sorted</a:t>
            </a:r>
            <a:r>
              <a:rPr lang="zh-CN" altLang="en-US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key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参数，依据</a:t>
            </a:r>
            <a:r>
              <a:rPr lang="en-US" altLang="zh-CN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value</a:t>
            </a:r>
            <a:r>
              <a:rPr lang="zh-CN" altLang="en-US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对字典的</a:t>
            </a:r>
            <a:r>
              <a:rPr lang="en-US" altLang="zh-CN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key</a:t>
            </a:r>
            <a:r>
              <a:rPr lang="zh-CN" altLang="en-US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排序</a:t>
            </a:r>
            <a:endParaRPr lang="en-US" altLang="zh-CN" b="1" dirty="0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668253" y="1794877"/>
            <a:ext cx="4373686" cy="40011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以字典的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key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为依据，将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key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按升序排序</a:t>
            </a:r>
            <a:endParaRPr lang="en-US" altLang="zh-CN" b="1" dirty="0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115166" y="4084537"/>
            <a:ext cx="877587" cy="40011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zh-CN" altLang="en-US" sz="2000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逆序</a:t>
            </a:r>
            <a:endParaRPr lang="en-US" altLang="zh-CN" sz="2000" b="1" dirty="0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103571" y="4892607"/>
            <a:ext cx="4373686" cy="40011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依据字典的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key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升序，对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value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排序</a:t>
            </a:r>
            <a:endParaRPr lang="en-US" altLang="zh-CN" b="1" dirty="0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3414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6674" y="1905000"/>
            <a:ext cx="8458200" cy="4953000"/>
          </a:xfrm>
        </p:spPr>
        <p:txBody>
          <a:bodyPr/>
          <a:lstStyle/>
          <a:p>
            <a:r>
              <a:rPr lang="en-US" altLang="zh-CN" dirty="0"/>
              <a:t>&gt;&gt;&gt; sorted(</a:t>
            </a:r>
            <a:r>
              <a:rPr lang="en-US" altLang="zh-CN" dirty="0" err="1"/>
              <a:t>d.items</a:t>
            </a:r>
            <a:r>
              <a:rPr lang="en-US" altLang="zh-CN" dirty="0"/>
              <a:t>(), key = </a:t>
            </a:r>
            <a:r>
              <a:rPr lang="en-US" altLang="zh-CN" dirty="0">
                <a:solidFill>
                  <a:srgbClr val="FF3300"/>
                </a:solidFill>
              </a:rPr>
              <a:t>lambda x:x[0]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[('</a:t>
            </a:r>
            <a:r>
              <a:rPr lang="en-US" altLang="zh-CN" dirty="0" err="1"/>
              <a:t>abb</a:t>
            </a:r>
            <a:r>
              <a:rPr lang="en-US" altLang="zh-CN" dirty="0"/>
              <a:t>', 10), ('</a:t>
            </a:r>
            <a:r>
              <a:rPr lang="en-US" altLang="zh-CN" dirty="0" err="1"/>
              <a:t>abc</a:t>
            </a:r>
            <a:r>
              <a:rPr lang="en-US" altLang="zh-CN" dirty="0"/>
              <a:t>', 2), ('</a:t>
            </a:r>
            <a:r>
              <a:rPr lang="en-US" altLang="zh-CN" dirty="0" err="1"/>
              <a:t>acc</a:t>
            </a:r>
            <a:r>
              <a:rPr lang="en-US" altLang="zh-CN" dirty="0"/>
              <a:t>', 2), ('bag', 2), ('cat', 4)]</a:t>
            </a:r>
          </a:p>
          <a:p>
            <a:endParaRPr lang="en-US" altLang="zh-CN"/>
          </a:p>
          <a:p>
            <a:endParaRPr lang="en-US" altLang="zh-CN"/>
          </a:p>
          <a:p>
            <a:endParaRPr lang="en-US" altLang="zh-CN" dirty="0"/>
          </a:p>
          <a:p>
            <a:r>
              <a:rPr lang="en-US" altLang="zh-CN" dirty="0"/>
              <a:t>&gt;&gt;&gt; sorted(</a:t>
            </a:r>
            <a:r>
              <a:rPr lang="en-US" altLang="zh-CN" dirty="0" err="1"/>
              <a:t>d.items</a:t>
            </a:r>
            <a:r>
              <a:rPr lang="en-US" altLang="zh-CN" dirty="0"/>
              <a:t>(), key = lambda x:</a:t>
            </a:r>
            <a:r>
              <a:rPr lang="en-US" altLang="zh-CN" dirty="0">
                <a:solidFill>
                  <a:srgbClr val="FF3300"/>
                </a:solidFill>
              </a:rPr>
              <a:t>x[1]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[('</a:t>
            </a:r>
            <a:r>
              <a:rPr lang="en-US" altLang="zh-CN" dirty="0" err="1"/>
              <a:t>abc</a:t>
            </a:r>
            <a:r>
              <a:rPr lang="en-US" altLang="zh-CN" dirty="0"/>
              <a:t>', 2), ('bag', 2), ('</a:t>
            </a:r>
            <a:r>
              <a:rPr lang="en-US" altLang="zh-CN" dirty="0" err="1"/>
              <a:t>acc</a:t>
            </a:r>
            <a:r>
              <a:rPr lang="en-US" altLang="zh-CN" dirty="0"/>
              <a:t>', 2), ('cat', 4), ('</a:t>
            </a:r>
            <a:r>
              <a:rPr lang="en-US" altLang="zh-CN" dirty="0" err="1"/>
              <a:t>abb</a:t>
            </a:r>
            <a:r>
              <a:rPr lang="en-US" altLang="zh-CN" dirty="0"/>
              <a:t>', 10)]</a:t>
            </a:r>
          </a:p>
          <a:p>
            <a:endParaRPr lang="en-US" altLang="zh-CN" dirty="0"/>
          </a:p>
          <a:p>
            <a:r>
              <a:rPr lang="en-US" altLang="zh-CN" dirty="0"/>
              <a:t>&gt;&gt;&gt; sorted(</a:t>
            </a:r>
            <a:r>
              <a:rPr lang="en-US" altLang="zh-CN" dirty="0" err="1"/>
              <a:t>d.items</a:t>
            </a:r>
            <a:r>
              <a:rPr lang="en-US" altLang="zh-CN" dirty="0"/>
              <a:t>(), key = </a:t>
            </a:r>
            <a:r>
              <a:rPr lang="en-US" altLang="zh-CN" dirty="0">
                <a:solidFill>
                  <a:srgbClr val="FF3300"/>
                </a:solidFill>
              </a:rPr>
              <a:t>lambda x:x[1], reverse = True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[('</a:t>
            </a:r>
            <a:r>
              <a:rPr lang="en-US" altLang="zh-CN" dirty="0" err="1"/>
              <a:t>abb</a:t>
            </a:r>
            <a:r>
              <a:rPr lang="en-US" altLang="zh-CN" dirty="0"/>
              <a:t>', 10), ('cat', 4), ('</a:t>
            </a:r>
            <a:r>
              <a:rPr lang="en-US" altLang="zh-CN" dirty="0" err="1"/>
              <a:t>abc</a:t>
            </a:r>
            <a:r>
              <a:rPr lang="en-US" altLang="zh-CN" dirty="0"/>
              <a:t>', 2), ('bag', 2), ('</a:t>
            </a:r>
            <a:r>
              <a:rPr lang="en-US" altLang="zh-CN" dirty="0" err="1"/>
              <a:t>acc</a:t>
            </a:r>
            <a:r>
              <a:rPr lang="en-US" altLang="zh-CN" dirty="0"/>
              <a:t>', 2)]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3944755" y="984751"/>
            <a:ext cx="4373686" cy="40011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依据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item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的第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个元素升序，对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item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排序</a:t>
            </a:r>
            <a:endParaRPr lang="en-US" altLang="zh-CN" b="1" dirty="0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6" name="直接箭头连接符 5"/>
          <p:cNvCxnSpPr>
            <a:stCxn id="4" idx="2"/>
          </p:cNvCxnSpPr>
          <p:nvPr/>
        </p:nvCxnSpPr>
        <p:spPr bwMode="auto">
          <a:xfrm flipH="1">
            <a:off x="5746282" y="1384861"/>
            <a:ext cx="385316" cy="602756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/>
        </p:nvSpPr>
        <p:spPr>
          <a:xfrm>
            <a:off x="4034591" y="2855260"/>
            <a:ext cx="4373686" cy="40011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依据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item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的第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个元素升序，对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item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排序</a:t>
            </a:r>
            <a:endParaRPr lang="en-US" altLang="zh-CN" b="1" dirty="0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8" name="直接箭头连接符 7"/>
          <p:cNvCxnSpPr>
            <a:stCxn id="7" idx="2"/>
          </p:cNvCxnSpPr>
          <p:nvPr/>
        </p:nvCxnSpPr>
        <p:spPr bwMode="auto">
          <a:xfrm flipH="1">
            <a:off x="5836118" y="3255370"/>
            <a:ext cx="385316" cy="602756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98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5879" y="958957"/>
            <a:ext cx="8941868" cy="45630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b="0"/>
              <a:t>population={"</a:t>
            </a:r>
            <a:r>
              <a:rPr lang="zh-CN" altLang="en-US" sz="1800" b="0"/>
              <a:t>福州</a:t>
            </a:r>
            <a:r>
              <a:rPr lang="en-US" altLang="zh-CN" sz="1800" b="0"/>
              <a:t>":710.1,"</a:t>
            </a:r>
            <a:r>
              <a:rPr lang="zh-CN" altLang="en-US" sz="1800" b="0"/>
              <a:t>南昌</a:t>
            </a:r>
            <a:r>
              <a:rPr lang="en-US" altLang="zh-CN" sz="1800" b="0"/>
              <a:t>":536,"</a:t>
            </a:r>
            <a:r>
              <a:rPr lang="zh-CN" altLang="en-US" sz="1800" b="0"/>
              <a:t>厦门</a:t>
            </a:r>
            <a:r>
              <a:rPr lang="en-US" altLang="zh-CN" sz="1800" b="0"/>
              <a:t>":261.1,"</a:t>
            </a:r>
            <a:r>
              <a:rPr lang="zh-CN" altLang="en-US" sz="1800" b="0"/>
              <a:t>成都</a:t>
            </a:r>
            <a:r>
              <a:rPr lang="en-US" altLang="zh-CN" sz="1800" b="0"/>
              <a:t>":1500.1, "</a:t>
            </a:r>
            <a:r>
              <a:rPr lang="zh-CN" altLang="en-US" sz="1800" b="0"/>
              <a:t>杭州</a:t>
            </a:r>
            <a:r>
              <a:rPr lang="en-US" altLang="zh-CN" sz="1800" b="0"/>
              <a:t>":795.4}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例题</a:t>
            </a:r>
            <a:r>
              <a:rPr lang="en-US" altLang="zh-CN"/>
              <a:t>4</a:t>
            </a:r>
            <a:r>
              <a:rPr lang="zh-CN" altLang="en-US"/>
              <a:t>：城市与人口的排序</a:t>
            </a:r>
          </a:p>
        </p:txBody>
      </p:sp>
      <p:sp>
        <p:nvSpPr>
          <p:cNvPr id="6" name="矩形 5"/>
          <p:cNvSpPr/>
          <p:nvPr/>
        </p:nvSpPr>
        <p:spPr>
          <a:xfrm>
            <a:off x="-48125" y="1646235"/>
            <a:ext cx="37682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</a:rPr>
              <a:t>题目</a:t>
            </a:r>
            <a:r>
              <a:rPr lang="en-US" altLang="zh-CN" sz="1600">
                <a:solidFill>
                  <a:srgbClr val="C00000"/>
                </a:solidFill>
              </a:rPr>
              <a:t>1</a:t>
            </a:r>
            <a:r>
              <a:rPr lang="zh-CN" altLang="en-US" sz="1600">
                <a:solidFill>
                  <a:srgbClr val="C00000"/>
                </a:solidFill>
              </a:rPr>
              <a:t>：</a:t>
            </a:r>
            <a:r>
              <a:rPr lang="zh-CN" altLang="en-US" sz="1600"/>
              <a:t>将字典的城市按人口升序排序：</a:t>
            </a:r>
            <a:endParaRPr lang="en-US" altLang="zh-CN" sz="1600"/>
          </a:p>
        </p:txBody>
      </p:sp>
      <p:cxnSp>
        <p:nvCxnSpPr>
          <p:cNvPr id="16" name="直接连接符 15"/>
          <p:cNvCxnSpPr/>
          <p:nvPr/>
        </p:nvCxnSpPr>
        <p:spPr bwMode="auto">
          <a:xfrm>
            <a:off x="105879" y="2817448"/>
            <a:ext cx="79745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接连接符 19"/>
          <p:cNvCxnSpPr/>
          <p:nvPr/>
        </p:nvCxnSpPr>
        <p:spPr bwMode="auto">
          <a:xfrm>
            <a:off x="0" y="1533624"/>
            <a:ext cx="79745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矩形 23"/>
          <p:cNvSpPr/>
          <p:nvPr/>
        </p:nvSpPr>
        <p:spPr>
          <a:xfrm>
            <a:off x="223760" y="3600956"/>
            <a:ext cx="8364354" cy="267765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/>
              <a:t>population={"</a:t>
            </a:r>
            <a:r>
              <a:rPr lang="zh-CN" altLang="en-US" sz="1600"/>
              <a:t>福州</a:t>
            </a:r>
            <a:r>
              <a:rPr lang="en-US" altLang="zh-CN" sz="1600"/>
              <a:t>":710.1,"</a:t>
            </a:r>
            <a:r>
              <a:rPr lang="zh-CN" altLang="en-US" sz="1600"/>
              <a:t>南昌</a:t>
            </a:r>
            <a:r>
              <a:rPr lang="en-US" altLang="zh-CN" sz="1600"/>
              <a:t>":536,"</a:t>
            </a:r>
            <a:r>
              <a:rPr lang="zh-CN" altLang="en-US" sz="1600"/>
              <a:t>厦门</a:t>
            </a:r>
            <a:r>
              <a:rPr lang="en-US" altLang="zh-CN" sz="1600"/>
              <a:t>":261.1,"</a:t>
            </a:r>
            <a:r>
              <a:rPr lang="zh-CN" altLang="en-US" sz="1600"/>
              <a:t>成都</a:t>
            </a:r>
            <a:r>
              <a:rPr lang="en-US" altLang="zh-CN" sz="1600"/>
              <a:t>":1500.1, "</a:t>
            </a:r>
            <a:r>
              <a:rPr lang="zh-CN" altLang="en-US" sz="1600"/>
              <a:t>杭州</a:t>
            </a:r>
            <a:r>
              <a:rPr lang="en-US" altLang="zh-CN" sz="1600"/>
              <a:t>":795.4}</a:t>
            </a:r>
          </a:p>
          <a:p>
            <a:pPr>
              <a:lnSpc>
                <a:spcPct val="150000"/>
              </a:lnSpc>
            </a:pPr>
            <a:r>
              <a:rPr lang="en-US" altLang="zh-CN" sz="1600"/>
              <a:t>list1=sorted(population.keys(),key=population.get)</a:t>
            </a:r>
          </a:p>
          <a:p>
            <a:pPr>
              <a:lnSpc>
                <a:spcPct val="150000"/>
              </a:lnSpc>
            </a:pPr>
            <a:r>
              <a:rPr lang="en-US" altLang="zh-CN" sz="1600"/>
              <a:t>list2=[]</a:t>
            </a:r>
          </a:p>
          <a:p>
            <a:pPr>
              <a:lnSpc>
                <a:spcPct val="150000"/>
              </a:lnSpc>
            </a:pPr>
            <a:r>
              <a:rPr lang="en-US" altLang="zh-CN" sz="1600"/>
              <a:t>for i in list1:</a:t>
            </a:r>
          </a:p>
          <a:p>
            <a:pPr>
              <a:lnSpc>
                <a:spcPct val="150000"/>
              </a:lnSpc>
            </a:pPr>
            <a:r>
              <a:rPr lang="en-US" altLang="zh-CN" sz="1600"/>
              <a:t>     list2.append((i, population[i]))</a:t>
            </a:r>
          </a:p>
          <a:p>
            <a:pPr>
              <a:lnSpc>
                <a:spcPct val="150000"/>
              </a:lnSpc>
            </a:pPr>
            <a:r>
              <a:rPr lang="en-US" altLang="zh-CN" sz="1600"/>
              <a:t>     </a:t>
            </a:r>
          </a:p>
          <a:p>
            <a:pPr>
              <a:lnSpc>
                <a:spcPct val="150000"/>
              </a:lnSpc>
            </a:pPr>
            <a:r>
              <a:rPr lang="en-US" altLang="zh-CN" sz="1600"/>
              <a:t>print(list2)</a:t>
            </a:r>
            <a:endParaRPr lang="zh-CN" altLang="en-US" sz="1600"/>
          </a:p>
        </p:txBody>
      </p:sp>
      <p:sp>
        <p:nvSpPr>
          <p:cNvPr id="26" name="矩形 25"/>
          <p:cNvSpPr/>
          <p:nvPr/>
        </p:nvSpPr>
        <p:spPr>
          <a:xfrm>
            <a:off x="911966" y="2135618"/>
            <a:ext cx="561633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/>
              <a:t>print(sorted(population.keys(),key=population.get))</a:t>
            </a:r>
            <a:endParaRPr lang="zh-CN" altLang="en-US" sz="160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135" y="1710673"/>
            <a:ext cx="5064712" cy="29020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80" y="3142469"/>
            <a:ext cx="8730942" cy="355559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-48125" y="2836374"/>
            <a:ext cx="33046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</a:rPr>
              <a:t>题目</a:t>
            </a:r>
            <a:r>
              <a:rPr lang="en-US" altLang="zh-CN" sz="1600">
                <a:solidFill>
                  <a:srgbClr val="C00000"/>
                </a:solidFill>
              </a:rPr>
              <a:t>2</a:t>
            </a:r>
            <a:r>
              <a:rPr lang="zh-CN" altLang="en-US" sz="1600">
                <a:solidFill>
                  <a:srgbClr val="C00000"/>
                </a:solidFill>
              </a:rPr>
              <a:t>：</a:t>
            </a:r>
            <a:r>
              <a:rPr lang="zh-CN" altLang="en-US" sz="1600"/>
              <a:t>将字典按人口升序排序：</a:t>
            </a:r>
            <a:endParaRPr lang="en-US" altLang="zh-CN" sz="1600"/>
          </a:p>
        </p:txBody>
      </p:sp>
      <p:sp>
        <p:nvSpPr>
          <p:cNvPr id="8" name="矩形 7"/>
          <p:cNvSpPr/>
          <p:nvPr/>
        </p:nvSpPr>
        <p:spPr>
          <a:xfrm>
            <a:off x="223760" y="6484468"/>
            <a:ext cx="699275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/>
              <a:t>print(sorted(population.items(),key=</a:t>
            </a:r>
            <a:r>
              <a:rPr lang="zh-CN" altLang="en-US">
                <a:solidFill>
                  <a:srgbClr val="C00000"/>
                </a:solidFill>
              </a:rPr>
              <a:t>lambda </a:t>
            </a:r>
            <a:r>
              <a:rPr lang="zh-CN" altLang="en-US"/>
              <a:t>num:num[1]))</a:t>
            </a:r>
          </a:p>
        </p:txBody>
      </p:sp>
      <p:cxnSp>
        <p:nvCxnSpPr>
          <p:cNvPr id="25" name="直接连接符 24"/>
          <p:cNvCxnSpPr/>
          <p:nvPr/>
        </p:nvCxnSpPr>
        <p:spPr bwMode="auto">
          <a:xfrm>
            <a:off x="105878" y="6362753"/>
            <a:ext cx="79745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文本框 9"/>
          <p:cNvSpPr txBox="1"/>
          <p:nvPr/>
        </p:nvSpPr>
        <p:spPr>
          <a:xfrm>
            <a:off x="7618396" y="6012208"/>
            <a:ext cx="116703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匿名函数</a:t>
            </a:r>
          </a:p>
        </p:txBody>
      </p:sp>
      <p:cxnSp>
        <p:nvCxnSpPr>
          <p:cNvPr id="12" name="直接箭头连接符 11"/>
          <p:cNvCxnSpPr>
            <a:endCxn id="8" idx="3"/>
          </p:cNvCxnSpPr>
          <p:nvPr/>
        </p:nvCxnSpPr>
        <p:spPr bwMode="auto">
          <a:xfrm flipH="1">
            <a:off x="7216513" y="6169794"/>
            <a:ext cx="377820" cy="499340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4463688" y="4445675"/>
            <a:ext cx="2191665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</a:t>
            </a:r>
            <a:r>
              <a:rPr lang="zh-CN" altLang="en-US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的顺序确定，值的顺序就确定了</a:t>
            </a:r>
          </a:p>
        </p:txBody>
      </p:sp>
      <p:cxnSp>
        <p:nvCxnSpPr>
          <p:cNvPr id="9" name="直接箭头连接符 8"/>
          <p:cNvCxnSpPr>
            <a:stCxn id="4" idx="1"/>
          </p:cNvCxnSpPr>
          <p:nvPr/>
        </p:nvCxnSpPr>
        <p:spPr bwMode="auto">
          <a:xfrm flipH="1">
            <a:off x="3022333" y="4768841"/>
            <a:ext cx="1441355" cy="456390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16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8" grpId="0" animBg="1"/>
      <p:bldP spid="10" grpId="0" animBg="1"/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字典的常用方法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087050"/>
              </p:ext>
            </p:extLst>
          </p:nvPr>
        </p:nvGraphicFramePr>
        <p:xfrm>
          <a:off x="306184" y="1186642"/>
          <a:ext cx="8458200" cy="51511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229100">
                  <a:extLst>
                    <a:ext uri="{9D8B030D-6E8A-4147-A177-3AD203B41FA5}">
                      <a16:colId xmlns:a16="http://schemas.microsoft.com/office/drawing/2014/main" val="3295427079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1370711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effectLst/>
                        </a:rPr>
                        <a:t>len(d)</a:t>
                      </a:r>
                      <a:endParaRPr lang="en-US" sz="16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>
                          <a:effectLst/>
                        </a:rPr>
                        <a:t>返回字典</a:t>
                      </a:r>
                      <a:r>
                        <a:rPr lang="en-US" altLang="zh-CN" sz="1600">
                          <a:effectLst/>
                        </a:rPr>
                        <a:t>d</a:t>
                      </a:r>
                      <a:r>
                        <a:rPr lang="zh-CN" altLang="en-US" sz="1600">
                          <a:effectLst/>
                        </a:rPr>
                        <a:t>中键值对的个数</a:t>
                      </a:r>
                      <a:r>
                        <a:rPr lang="en-US" altLang="zh-CN" sz="1600">
                          <a:effectLst/>
                        </a:rPr>
                        <a:t>.</a:t>
                      </a:r>
                      <a:endParaRPr lang="en-US" altLang="zh-CN" sz="16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8813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effectLst/>
                        </a:rPr>
                        <a:t>d[key]</a:t>
                      </a:r>
                      <a:endParaRPr lang="en-US" sz="16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>
                          <a:effectLst/>
                        </a:rPr>
                        <a:t>返回字典</a:t>
                      </a:r>
                      <a:r>
                        <a:rPr lang="en-US" altLang="zh-CN" sz="1600">
                          <a:effectLst/>
                        </a:rPr>
                        <a:t>d</a:t>
                      </a:r>
                      <a:r>
                        <a:rPr lang="zh-CN" altLang="en-US" sz="1600">
                          <a:effectLst/>
                        </a:rPr>
                        <a:t>中键</a:t>
                      </a:r>
                      <a:r>
                        <a:rPr lang="en-US" altLang="zh-CN" sz="1600">
                          <a:effectLst/>
                        </a:rPr>
                        <a:t>key</a:t>
                      </a:r>
                      <a:r>
                        <a:rPr lang="zh-CN" altLang="en-US" sz="1600">
                          <a:effectLst/>
                        </a:rPr>
                        <a:t>所对应的值，如果</a:t>
                      </a:r>
                      <a:r>
                        <a:rPr lang="en-US" altLang="zh-CN" sz="1600">
                          <a:effectLst/>
                        </a:rPr>
                        <a:t>key</a:t>
                      </a:r>
                      <a:r>
                        <a:rPr lang="zh-CN" altLang="en-US" sz="1600">
                          <a:effectLst/>
                        </a:rPr>
                        <a:t>不在字典中则产生异常</a:t>
                      </a:r>
                      <a:r>
                        <a:rPr lang="en-US" altLang="zh-CN" sz="1600">
                          <a:effectLst/>
                        </a:rPr>
                        <a:t>KeyError.</a:t>
                      </a:r>
                      <a:endParaRPr lang="en-US" altLang="zh-CN" sz="16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6936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effectLst/>
                        </a:rPr>
                        <a:t>d[key] = value</a:t>
                      </a:r>
                      <a:endParaRPr lang="en-US" sz="16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>
                          <a:effectLst/>
                        </a:rPr>
                        <a:t>设置字典</a:t>
                      </a:r>
                      <a:r>
                        <a:rPr lang="en-US" altLang="zh-CN" sz="1600">
                          <a:effectLst/>
                        </a:rPr>
                        <a:t>d</a:t>
                      </a:r>
                      <a:r>
                        <a:rPr lang="zh-CN" altLang="en-US" sz="1600">
                          <a:effectLst/>
                        </a:rPr>
                        <a:t>中键</a:t>
                      </a:r>
                      <a:r>
                        <a:rPr lang="en-US" altLang="zh-CN" sz="1600">
                          <a:effectLst/>
                        </a:rPr>
                        <a:t>key</a:t>
                      </a:r>
                      <a:r>
                        <a:rPr lang="zh-CN" altLang="en-US" sz="1600">
                          <a:effectLst/>
                        </a:rPr>
                        <a:t>所对应的值为</a:t>
                      </a:r>
                      <a:r>
                        <a:rPr lang="en-US" altLang="zh-CN" sz="1600">
                          <a:effectLst/>
                        </a:rPr>
                        <a:t>value.</a:t>
                      </a:r>
                      <a:endParaRPr lang="en-US" altLang="zh-CN" sz="16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862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effectLst/>
                        </a:rPr>
                        <a:t>del d[key]</a:t>
                      </a:r>
                      <a:endParaRPr lang="en-US" sz="16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>
                          <a:effectLst/>
                        </a:rPr>
                        <a:t>从字典</a:t>
                      </a:r>
                      <a:r>
                        <a:rPr lang="en-US" altLang="zh-CN" sz="1600">
                          <a:effectLst/>
                        </a:rPr>
                        <a:t>d</a:t>
                      </a:r>
                      <a:r>
                        <a:rPr lang="zh-CN" altLang="en-US" sz="1600">
                          <a:effectLst/>
                        </a:rPr>
                        <a:t>中删除键</a:t>
                      </a:r>
                      <a:r>
                        <a:rPr lang="en-US" altLang="zh-CN" sz="1600">
                          <a:effectLst/>
                        </a:rPr>
                        <a:t>key</a:t>
                      </a:r>
                      <a:r>
                        <a:rPr lang="zh-CN" altLang="en-US" sz="1600">
                          <a:effectLst/>
                        </a:rPr>
                        <a:t>，如果</a:t>
                      </a:r>
                      <a:r>
                        <a:rPr lang="en-US" altLang="zh-CN" sz="1600">
                          <a:effectLst/>
                        </a:rPr>
                        <a:t>key</a:t>
                      </a:r>
                      <a:r>
                        <a:rPr lang="zh-CN" altLang="en-US" sz="1600">
                          <a:effectLst/>
                        </a:rPr>
                        <a:t>不在字典中则产生异常</a:t>
                      </a:r>
                      <a:r>
                        <a:rPr lang="en-US" altLang="zh-CN" sz="1600">
                          <a:effectLst/>
                        </a:rPr>
                        <a:t>KeyError.</a:t>
                      </a:r>
                      <a:endParaRPr lang="en-US" altLang="zh-CN" sz="16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6018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effectLst/>
                        </a:rPr>
                        <a:t>key in d</a:t>
                      </a:r>
                      <a:endParaRPr lang="en-US" sz="16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>
                          <a:effectLst/>
                        </a:rPr>
                        <a:t>测试键</a:t>
                      </a:r>
                      <a:r>
                        <a:rPr lang="en-US" altLang="zh-CN" sz="1600">
                          <a:effectLst/>
                        </a:rPr>
                        <a:t>key</a:t>
                      </a:r>
                      <a:r>
                        <a:rPr lang="zh-CN" altLang="en-US" sz="1600">
                          <a:effectLst/>
                        </a:rPr>
                        <a:t>是否在字典中，在则返回</a:t>
                      </a:r>
                      <a:r>
                        <a:rPr lang="en-US" altLang="zh-CN" sz="1600">
                          <a:effectLst/>
                        </a:rPr>
                        <a:t>True</a:t>
                      </a:r>
                      <a:r>
                        <a:rPr lang="zh-CN" altLang="en-US" sz="1600">
                          <a:effectLst/>
                        </a:rPr>
                        <a:t>，否则返回</a:t>
                      </a:r>
                      <a:r>
                        <a:rPr lang="en-US" altLang="zh-CN" sz="1600">
                          <a:effectLst/>
                        </a:rPr>
                        <a:t>False.</a:t>
                      </a:r>
                      <a:endParaRPr lang="en-US" altLang="zh-CN" sz="16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362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effectLst/>
                        </a:rPr>
                        <a:t>clear()</a:t>
                      </a:r>
                      <a:endParaRPr lang="en-US" sz="16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>
                          <a:effectLst/>
                        </a:rPr>
                        <a:t>从字典中清除所有键值对</a:t>
                      </a:r>
                      <a:r>
                        <a:rPr lang="en-US" altLang="zh-CN" sz="1600">
                          <a:effectLst/>
                        </a:rPr>
                        <a:t>.</a:t>
                      </a:r>
                      <a:endParaRPr lang="en-US" altLang="zh-CN" sz="16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927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effectLst/>
                        </a:rPr>
                        <a:t>copy()</a:t>
                      </a:r>
                      <a:endParaRPr lang="en-US" sz="16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>
                          <a:effectLst/>
                        </a:rPr>
                        <a:t>返回字典的浅拷贝</a:t>
                      </a:r>
                      <a:r>
                        <a:rPr lang="en-US" altLang="zh-CN" sz="1600">
                          <a:effectLst/>
                        </a:rPr>
                        <a:t>.</a:t>
                      </a:r>
                      <a:endParaRPr lang="en-US" altLang="zh-CN" sz="16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7477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effectLst/>
                        </a:rPr>
                        <a:t>get(key[, default])</a:t>
                      </a:r>
                      <a:endParaRPr lang="en-US" sz="16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>
                          <a:effectLst/>
                        </a:rPr>
                        <a:t>返回键</a:t>
                      </a:r>
                      <a:r>
                        <a:rPr lang="en-US" altLang="zh-CN" sz="1600">
                          <a:effectLst/>
                        </a:rPr>
                        <a:t>key</a:t>
                      </a:r>
                      <a:r>
                        <a:rPr lang="zh-CN" altLang="en-US" sz="1600">
                          <a:effectLst/>
                        </a:rPr>
                        <a:t>所对应的值</a:t>
                      </a:r>
                      <a:r>
                        <a:rPr lang="en-US" altLang="zh-CN" sz="1600">
                          <a:effectLst/>
                        </a:rPr>
                        <a:t>,</a:t>
                      </a:r>
                      <a:r>
                        <a:rPr lang="zh-CN" altLang="en-US" sz="1600">
                          <a:effectLst/>
                        </a:rPr>
                        <a:t>如果</a:t>
                      </a:r>
                      <a:r>
                        <a:rPr lang="en-US" altLang="zh-CN" sz="1600">
                          <a:effectLst/>
                        </a:rPr>
                        <a:t>key</a:t>
                      </a:r>
                      <a:r>
                        <a:rPr lang="zh-CN" altLang="en-US" sz="1600">
                          <a:effectLst/>
                        </a:rPr>
                        <a:t>不在字典中则返回</a:t>
                      </a:r>
                      <a:r>
                        <a:rPr lang="en-US" altLang="zh-CN" sz="1600">
                          <a:effectLst/>
                        </a:rPr>
                        <a:t>default</a:t>
                      </a:r>
                      <a:r>
                        <a:rPr lang="zh-CN" altLang="en-US" sz="1600">
                          <a:effectLst/>
                        </a:rPr>
                        <a:t>作为默认值，如果</a:t>
                      </a:r>
                      <a:r>
                        <a:rPr lang="en-US" altLang="zh-CN" sz="1600">
                          <a:effectLst/>
                        </a:rPr>
                        <a:t>default</a:t>
                      </a:r>
                      <a:r>
                        <a:rPr lang="zh-CN" altLang="en-US" sz="1600">
                          <a:effectLst/>
                        </a:rPr>
                        <a:t>没有设置，则返回</a:t>
                      </a:r>
                      <a:r>
                        <a:rPr lang="en-US" altLang="zh-CN" sz="1600">
                          <a:effectLst/>
                        </a:rPr>
                        <a:t>None</a:t>
                      </a:r>
                      <a:endParaRPr lang="en-US" altLang="zh-CN" sz="16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610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effectLst/>
                        </a:rPr>
                        <a:t>items()</a:t>
                      </a:r>
                      <a:endParaRPr lang="en-US" sz="16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>
                          <a:effectLst/>
                        </a:rPr>
                        <a:t>返回可遍历的键和值的迭代，键和值以二个元素的元组的方式存放</a:t>
                      </a:r>
                      <a:r>
                        <a:rPr lang="en-US" altLang="zh-CN" sz="1600">
                          <a:effectLst/>
                        </a:rPr>
                        <a:t>.</a:t>
                      </a:r>
                      <a:endParaRPr lang="en-US" altLang="zh-CN" sz="16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2371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effectLst/>
                        </a:rPr>
                        <a:t>keys()</a:t>
                      </a:r>
                      <a:endParaRPr lang="en-US" sz="16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>
                          <a:effectLst/>
                        </a:rPr>
                        <a:t>返回可遍历的键的迭代</a:t>
                      </a:r>
                      <a:r>
                        <a:rPr lang="en-US" altLang="zh-CN" sz="1600">
                          <a:effectLst/>
                        </a:rPr>
                        <a:t>.</a:t>
                      </a:r>
                      <a:endParaRPr lang="en-US" altLang="zh-CN" sz="16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934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effectLst/>
                        </a:rPr>
                        <a:t>values()</a:t>
                      </a:r>
                      <a:endParaRPr lang="en-US" sz="16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dirty="0">
                          <a:effectLst/>
                        </a:rPr>
                        <a:t>返回可遍历的值的迭代</a:t>
                      </a:r>
                      <a:r>
                        <a:rPr lang="en-US" altLang="zh-CN" sz="1600" dirty="0">
                          <a:effectLst/>
                        </a:rPr>
                        <a:t>.</a:t>
                      </a:r>
                      <a:endParaRPr lang="en-US" altLang="zh-CN" sz="1600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4562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0887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字典与序列的区别</a:t>
            </a:r>
          </a:p>
          <a:p>
            <a:pPr lvl="1"/>
            <a:r>
              <a:rPr lang="zh-CN" altLang="en-US" dirty="0"/>
              <a:t>存取和访问数据的方式不同。</a:t>
            </a:r>
          </a:p>
          <a:p>
            <a:pPr lvl="1"/>
            <a:r>
              <a:rPr lang="zh-CN" altLang="en-US" dirty="0"/>
              <a:t>列表、元组是有序的数据集合体，而字典是无序的数据集合体。</a:t>
            </a:r>
          </a:p>
          <a:p>
            <a:pPr lvl="1"/>
            <a:r>
              <a:rPr lang="zh-CN" altLang="en-US" dirty="0"/>
              <a:t>字典是可变类型，可以在原处增长或缩短，无需生成一份副本。</a:t>
            </a:r>
          </a:p>
          <a:p>
            <a:pPr lvl="1"/>
            <a:r>
              <a:rPr lang="zh-CN" altLang="en-US" dirty="0"/>
              <a:t>字典是异构的，可以包含任何类型的数据，如列表、元组或其他字典，支持任意层次的嵌套。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字典与序列的区别</a:t>
            </a:r>
          </a:p>
        </p:txBody>
      </p:sp>
    </p:spTree>
    <p:extLst>
      <p:ext uri="{BB962C8B-B14F-4D97-AF65-F5344CB8AC3E}">
        <p14:creationId xmlns:p14="http://schemas.microsoft.com/office/powerpoint/2010/main" val="87046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字典的应用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0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839071"/>
          </a:xfrm>
        </p:spPr>
        <p:txBody>
          <a:bodyPr/>
          <a:lstStyle/>
          <a:p>
            <a:r>
              <a:rPr lang="zh-CN" altLang="en-US"/>
              <a:t>例题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zh-CN" altLang="en-US" dirty="0"/>
              <a:t>输入两个同样长度的列表，一个作为字典的键，另一个作为字典的值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1 </a:t>
            </a:r>
            <a:r>
              <a:rPr lang="zh-CN" altLang="en-US"/>
              <a:t>按要求创建字典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3570" y="2187723"/>
            <a:ext cx="3378292" cy="33718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xs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split()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ys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split()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rdict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{}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range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xs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)):</a:t>
            </a:r>
          </a:p>
          <a:p>
            <a:pPr lvl="1">
              <a:lnSpc>
                <a:spcPct val="150000"/>
              </a:lnSpc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rdict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xs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]]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rdict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文本框 4"/>
          <p:cNvSpPr txBox="1"/>
          <p:nvPr/>
        </p:nvSpPr>
        <p:spPr>
          <a:xfrm rot="21432658">
            <a:off x="5168766" y="3696101"/>
            <a:ext cx="2261937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向字典添加元素，类似于列表的</a:t>
            </a:r>
            <a:r>
              <a:rPr lang="en-US" altLang="zh-CN"/>
              <a:t>append</a:t>
            </a:r>
            <a:endParaRPr lang="zh-CN" altLang="en-US"/>
          </a:p>
        </p:txBody>
      </p:sp>
      <p:cxnSp>
        <p:nvCxnSpPr>
          <p:cNvPr id="7" name="直接箭头连接符 6"/>
          <p:cNvCxnSpPr>
            <a:stCxn id="5" idx="1"/>
          </p:cNvCxnSpPr>
          <p:nvPr/>
        </p:nvCxnSpPr>
        <p:spPr bwMode="auto">
          <a:xfrm flipH="1">
            <a:off x="3455469" y="4074298"/>
            <a:ext cx="1714637" cy="46401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28999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/>
              <a:t>例</a:t>
            </a:r>
            <a:r>
              <a:rPr lang="en-US" altLang="zh-CN" sz="2800"/>
              <a:t>2 </a:t>
            </a:r>
            <a:r>
              <a:rPr lang="zh-CN" altLang="en-US" sz="2800"/>
              <a:t>用字典索引</a:t>
            </a:r>
            <a:r>
              <a:rPr lang="zh-CN" altLang="en-US" sz="2800">
                <a:solidFill>
                  <a:srgbClr val="FF0000"/>
                </a:solidFill>
              </a:rPr>
              <a:t>代替分支语句</a:t>
            </a:r>
            <a:endParaRPr lang="zh-CN" altLang="en-US" sz="1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2925189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输入一个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的数字，输出对应的星期名的缩写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days={1:"Mon",2:"Tue",3:"Wed",4:"Thu",5:"Fri",6:"Sat", 7:"Sun"}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(input())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print(days[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564105" y="4532508"/>
            <a:ext cx="6121668" cy="13388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lis1=["Mon","Tue","Wed","Thu","Fri","Sat", "Sun"]</a:t>
            </a:r>
          </a:p>
          <a:p>
            <a:pPr>
              <a:lnSpc>
                <a:spcPct val="150000"/>
              </a:lnSpc>
            </a:pPr>
            <a:r>
              <a:rPr lang="zh-CN" altLang="en-US"/>
              <a:t>num=int(input())</a:t>
            </a:r>
          </a:p>
          <a:p>
            <a:pPr>
              <a:lnSpc>
                <a:spcPct val="150000"/>
              </a:lnSpc>
            </a:pPr>
            <a:r>
              <a:rPr lang="zh-CN" altLang="en-US"/>
              <a:t>print(lis1[num-1])</a:t>
            </a:r>
          </a:p>
        </p:txBody>
      </p:sp>
      <p:sp>
        <p:nvSpPr>
          <p:cNvPr id="6" name="矩形 5"/>
          <p:cNvSpPr/>
          <p:nvPr/>
        </p:nvSpPr>
        <p:spPr>
          <a:xfrm>
            <a:off x="3072232" y="2964581"/>
            <a:ext cx="272698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2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字典方法</a:t>
            </a:r>
          </a:p>
        </p:txBody>
      </p:sp>
      <p:sp>
        <p:nvSpPr>
          <p:cNvPr id="7" name="矩形 6"/>
          <p:cNvSpPr/>
          <p:nvPr/>
        </p:nvSpPr>
        <p:spPr>
          <a:xfrm>
            <a:off x="4712897" y="5137816"/>
            <a:ext cx="182614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列表</a:t>
            </a:r>
            <a:r>
              <a:rPr lang="zh-CN" altLang="en-US" sz="32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方法</a:t>
            </a:r>
          </a:p>
        </p:txBody>
      </p:sp>
    </p:spTree>
    <p:extLst>
      <p:ext uri="{BB962C8B-B14F-4D97-AF65-F5344CB8AC3E}">
        <p14:creationId xmlns:p14="http://schemas.microsoft.com/office/powerpoint/2010/main" val="29456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1610040"/>
          </a:xfrm>
        </p:spPr>
        <p:txBody>
          <a:bodyPr/>
          <a:lstStyle/>
          <a:p>
            <a:r>
              <a:rPr lang="zh-CN" altLang="en-US" dirty="0"/>
              <a:t>例题：将输入的阿拉伯数字转成中文，例如</a:t>
            </a:r>
            <a:r>
              <a:rPr lang="en-US" altLang="zh-CN" dirty="0"/>
              <a:t>123</a:t>
            </a:r>
            <a:r>
              <a:rPr lang="zh-CN" altLang="en-US" dirty="0"/>
              <a:t>转为一二三</a:t>
            </a:r>
            <a:endParaRPr lang="en-US" altLang="zh-CN" dirty="0"/>
          </a:p>
          <a:p>
            <a:r>
              <a:rPr lang="zh-CN" altLang="en-US" dirty="0"/>
              <a:t>分析：</a:t>
            </a:r>
            <a:endParaRPr lang="en-US" altLang="zh-CN" dirty="0"/>
          </a:p>
          <a:p>
            <a:pPr lvl="1"/>
            <a:r>
              <a:rPr lang="zh-CN" altLang="en-US" dirty="0"/>
              <a:t>定义字典：</a:t>
            </a:r>
            <a:r>
              <a:rPr lang="en-US" altLang="zh-CN" dirty="0"/>
              <a:t>Num2Chinese={0:</a:t>
            </a:r>
            <a:r>
              <a:rPr lang="en-US" altLang="zh-CN" dirty="0">
                <a:latin typeface="Consolas" panose="020B0609020204030204" pitchFamily="49" charset="0"/>
              </a:rPr>
              <a:t>’</a:t>
            </a:r>
            <a:r>
              <a:rPr lang="zh-CN" altLang="en-US" dirty="0">
                <a:latin typeface="Consolas" panose="020B0609020204030204" pitchFamily="49" charset="0"/>
              </a:rPr>
              <a:t>零</a:t>
            </a:r>
            <a:r>
              <a:rPr lang="en-US" altLang="zh-CN" dirty="0">
                <a:latin typeface="Consolas" panose="020B0609020204030204" pitchFamily="49" charset="0"/>
              </a:rPr>
              <a:t>’,</a:t>
            </a:r>
            <a:r>
              <a:rPr lang="en-US" altLang="zh-CN" dirty="0"/>
              <a:t> 1:</a:t>
            </a:r>
            <a:r>
              <a:rPr lang="en-US" altLang="zh-CN" dirty="0">
                <a:latin typeface="Consolas" panose="020B0609020204030204" pitchFamily="49" charset="0"/>
              </a:rPr>
              <a:t>’</a:t>
            </a:r>
            <a:r>
              <a:rPr lang="zh-CN" altLang="en-US" dirty="0">
                <a:latin typeface="Consolas" panose="020B0609020204030204" pitchFamily="49" charset="0"/>
              </a:rPr>
              <a:t>一</a:t>
            </a:r>
            <a:r>
              <a:rPr lang="en-US" altLang="zh-CN" dirty="0">
                <a:latin typeface="Consolas" panose="020B0609020204030204" pitchFamily="49" charset="0"/>
              </a:rPr>
              <a:t>’,…</a:t>
            </a:r>
            <a:r>
              <a:rPr lang="en-US" altLang="zh-CN" dirty="0"/>
              <a:t>}</a:t>
            </a:r>
          </a:p>
          <a:p>
            <a:pPr lvl="1"/>
            <a:r>
              <a:rPr lang="zh-CN" altLang="en-US" dirty="0"/>
              <a:t>将输入的数的每一位提取出来，利用前面定义的字典转成中文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3 </a:t>
            </a:r>
            <a:r>
              <a:rPr lang="zh-CN" altLang="en-US"/>
              <a:t>字典索引</a:t>
            </a:r>
            <a:r>
              <a:rPr lang="zh-CN" altLang="en-US">
                <a:solidFill>
                  <a:srgbClr val="FF0000"/>
                </a:solidFill>
              </a:rPr>
              <a:t>代替分支语句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3568" y="2900914"/>
            <a:ext cx="7949685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“Please input a number: ”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  #</a:t>
            </a:r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例如，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s=‘234’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Num2Chinese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:'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零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:'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一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2: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二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3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:'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三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4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:'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四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5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:'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五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6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:'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六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7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:'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七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8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:'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八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9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:'</a:t>
            </a:r>
            <a:r>
              <a:rPr lang="zh-CN" altLang="en-US" b="1" dirty="0">
                <a:solidFill>
                  <a:srgbClr val="4E9A06"/>
                </a:solidFill>
                <a:latin typeface="Consolas" panose="020B0609020204030204" pitchFamily="49" charset="0"/>
              </a:rPr>
              <a:t>九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chi_list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[Num2Chinese[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(k)]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k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s]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''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join(chi_list))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899718" y="4522573"/>
            <a:ext cx="6021860" cy="1463092"/>
            <a:chOff x="2899718" y="4522573"/>
            <a:chExt cx="6021860" cy="1463092"/>
          </a:xfrm>
        </p:grpSpPr>
        <p:sp>
          <p:nvSpPr>
            <p:cNvPr id="5" name="圆角矩形 4"/>
            <p:cNvSpPr/>
            <p:nvPr/>
          </p:nvSpPr>
          <p:spPr>
            <a:xfrm>
              <a:off x="2899718" y="5486237"/>
              <a:ext cx="6021860" cy="499428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en-US" altLang="zh-CN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k</a:t>
              </a:r>
              <a:r>
                <a:rPr lang="zh-CN" altLang="en-US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是</a:t>
              </a:r>
              <a:r>
                <a:rPr lang="zh-CN" altLang="en-US" b="1" dirty="0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字符串，</a:t>
              </a:r>
              <a:r>
                <a:rPr lang="en-US" altLang="zh-CN" b="1" dirty="0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Num2Chinese</a:t>
              </a:r>
              <a:r>
                <a:rPr lang="zh-CN" altLang="en-US" b="1" dirty="0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的键是整数，所以要做类型转换</a:t>
              </a:r>
              <a:endParaRPr lang="en-US" altLang="zh-CN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7" name="直接箭头连接符 6"/>
            <p:cNvCxnSpPr>
              <a:stCxn id="5" idx="0"/>
            </p:cNvCxnSpPr>
            <p:nvPr/>
          </p:nvCxnSpPr>
          <p:spPr bwMode="auto">
            <a:xfrm flipH="1" flipV="1">
              <a:off x="3880022" y="4522573"/>
              <a:ext cx="2030626" cy="963664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6608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2800" dirty="0"/>
              <a:t>例</a:t>
            </a:r>
            <a:r>
              <a:rPr lang="en-US" altLang="zh-CN" sz="2800" dirty="0"/>
              <a:t>4 </a:t>
            </a:r>
            <a:r>
              <a:rPr lang="zh-CN" altLang="en-US" sz="2800" dirty="0"/>
              <a:t>分类</a:t>
            </a:r>
            <a:r>
              <a:rPr lang="zh-CN" altLang="en-US" sz="2800" dirty="0">
                <a:solidFill>
                  <a:srgbClr val="FF0000"/>
                </a:solidFill>
              </a:rPr>
              <a:t>计数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66974" y="4682807"/>
            <a:ext cx="7756358" cy="2098307"/>
          </a:xfrm>
          <a:ln>
            <a:solidFill>
              <a:schemeClr val="accent2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diccount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={char:0 for char in "</a:t>
            </a:r>
            <a:r>
              <a:rPr lang="en-US" altLang="zh-CN" sz="18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"}           </a:t>
            </a:r>
            <a:r>
              <a:rPr lang="en-US" altLang="zh-CN" sz="1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用字典</a:t>
            </a:r>
            <a:r>
              <a:rPr lang="zh-CN" altLang="en-US" sz="1800" dirty="0">
                <a:solidFill>
                  <a:srgbClr val="00B050"/>
                </a:solidFill>
              </a:rPr>
              <a:t>推导式进行</a:t>
            </a:r>
            <a:r>
              <a:rPr lang="zh-CN" altLang="en-US" sz="1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8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s=input()                                                     </a:t>
            </a:r>
            <a:r>
              <a:rPr lang="en-US" altLang="zh-CN" sz="1800" dirty="0">
                <a:solidFill>
                  <a:srgbClr val="00B050"/>
                </a:solidFill>
              </a:rPr>
              <a:t>#</a:t>
            </a:r>
            <a:r>
              <a:rPr lang="zh-CN" altLang="en-US" sz="1800" dirty="0">
                <a:solidFill>
                  <a:srgbClr val="00B050"/>
                </a:solidFill>
              </a:rPr>
              <a:t>也称为字典解析式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lst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=[char for char in s if 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ord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("a")&lt;=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ord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(char)&lt;=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ord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("c")] </a:t>
            </a: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for char in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lst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8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diccount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[char]+=1 </a:t>
            </a: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print(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diccount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84945" y="862085"/>
            <a:ext cx="61264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/>
              <a:t>输入一行字符，求字符</a:t>
            </a:r>
            <a:r>
              <a:rPr lang="en-US" altLang="zh-CN" sz="2000" b="1"/>
              <a:t>”a”,”b”</a:t>
            </a:r>
            <a:r>
              <a:rPr lang="zh-CN" altLang="en-US" sz="2000" b="1"/>
              <a:t>和</a:t>
            </a:r>
            <a:r>
              <a:rPr lang="en-US" altLang="zh-CN" sz="2000" b="1"/>
              <a:t>”c”</a:t>
            </a:r>
            <a:r>
              <a:rPr lang="zh-CN" altLang="en-US" sz="2000" b="1"/>
              <a:t>出现的次数</a:t>
            </a:r>
            <a:endParaRPr lang="zh-CN" altLang="en-US" sz="2000" b="1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1138621" y="1604008"/>
            <a:ext cx="7973756" cy="255389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0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557199" indent="-214308" algn="l" rtl="0" eaLnBrk="1" fontAlgn="base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857229" indent="-171446" algn="l" rtl="0" eaLnBrk="1" fontAlgn="base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200121" indent="-171446" algn="l" rtl="0" eaLnBrk="1" fontAlgn="base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1543012" indent="-171446" algn="l" rtl="0" eaLnBrk="1" fontAlgn="base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altLang="zh-CN" sz="1800" kern="0" dirty="0" err="1">
                <a:solidFill>
                  <a:srgbClr val="C00000"/>
                </a:solidFill>
              </a:rPr>
              <a:t>diccount</a:t>
            </a:r>
            <a:r>
              <a:rPr lang="en-US" altLang="zh-CN" sz="1800" kern="0" dirty="0">
                <a:solidFill>
                  <a:srgbClr val="C00000"/>
                </a:solidFill>
              </a:rPr>
              <a:t>={}           </a:t>
            </a:r>
            <a:r>
              <a:rPr lang="en-US" altLang="zh-CN" sz="1800" kern="0" dirty="0">
                <a:solidFill>
                  <a:srgbClr val="00B050"/>
                </a:solidFill>
              </a:rPr>
              <a:t>#</a:t>
            </a:r>
            <a:r>
              <a:rPr lang="zh-CN" altLang="en-US" sz="1800" kern="0" dirty="0">
                <a:solidFill>
                  <a:srgbClr val="00B050"/>
                </a:solidFill>
              </a:rPr>
              <a:t>空字典 </a:t>
            </a:r>
            <a:endParaRPr lang="en-US" altLang="zh-CN" sz="1800" kern="0" dirty="0">
              <a:solidFill>
                <a:srgbClr val="00B050"/>
              </a:solidFill>
            </a:endParaRPr>
          </a:p>
          <a:p>
            <a:pPr marL="0" indent="0">
              <a:buFont typeface="Wingdings" pitchFamily="2" charset="2"/>
              <a:buNone/>
            </a:pPr>
            <a:r>
              <a:rPr lang="zh-CN" altLang="en-US" sz="1800" kern="0" dirty="0"/>
              <a:t> </a:t>
            </a:r>
            <a:r>
              <a:rPr lang="en-US" altLang="zh-CN" sz="1800" kern="0" dirty="0"/>
              <a:t>s=input() 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1800" kern="0" dirty="0"/>
              <a:t> </a:t>
            </a:r>
            <a:r>
              <a:rPr lang="en-US" altLang="zh-CN" sz="1800" kern="0" dirty="0" err="1"/>
              <a:t>lst</a:t>
            </a:r>
            <a:r>
              <a:rPr lang="en-US" altLang="zh-CN" sz="1800" kern="0" dirty="0"/>
              <a:t>=[char for char in s if  </a:t>
            </a:r>
            <a:r>
              <a:rPr lang="en-US" altLang="zh-CN" sz="1800" kern="0" dirty="0" err="1"/>
              <a:t>ord</a:t>
            </a:r>
            <a:r>
              <a:rPr lang="en-US" altLang="zh-CN" sz="1800" kern="0" dirty="0"/>
              <a:t>("a")&lt;=</a:t>
            </a:r>
            <a:r>
              <a:rPr lang="en-US" altLang="zh-CN" sz="1800" kern="0" dirty="0" err="1"/>
              <a:t>ord</a:t>
            </a:r>
            <a:r>
              <a:rPr lang="en-US" altLang="zh-CN" sz="1800" kern="0" dirty="0"/>
              <a:t>(char)&lt;=</a:t>
            </a:r>
            <a:r>
              <a:rPr lang="en-US" altLang="zh-CN" sz="1800" kern="0" dirty="0" err="1"/>
              <a:t>ord</a:t>
            </a:r>
            <a:r>
              <a:rPr lang="en-US" altLang="zh-CN" sz="1800" kern="0" dirty="0"/>
              <a:t>("c")] 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1800" kern="0" dirty="0"/>
              <a:t> for char in </a:t>
            </a:r>
            <a:r>
              <a:rPr lang="en-US" altLang="zh-CN" sz="1800" kern="0" dirty="0" err="1"/>
              <a:t>lst</a:t>
            </a:r>
            <a:r>
              <a:rPr lang="en-US" altLang="zh-CN" sz="1800" kern="0" dirty="0"/>
              <a:t>: 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1800" kern="0" dirty="0"/>
              <a:t>	</a:t>
            </a:r>
            <a:r>
              <a:rPr lang="en-US" altLang="zh-CN" sz="1800" kern="0" dirty="0" err="1"/>
              <a:t>diccount</a:t>
            </a:r>
            <a:r>
              <a:rPr lang="en-US" altLang="zh-CN" sz="1800" kern="0" dirty="0"/>
              <a:t>[char]=</a:t>
            </a:r>
            <a:r>
              <a:rPr lang="en-US" altLang="zh-CN" sz="1800" kern="0" dirty="0" err="1">
                <a:solidFill>
                  <a:srgbClr val="C00000"/>
                </a:solidFill>
              </a:rPr>
              <a:t>diccount.get</a:t>
            </a:r>
            <a:r>
              <a:rPr lang="en-US" altLang="zh-CN" sz="1800" kern="0" dirty="0">
                <a:solidFill>
                  <a:srgbClr val="C00000"/>
                </a:solidFill>
              </a:rPr>
              <a:t>(char,0)+1 </a:t>
            </a:r>
          </a:p>
          <a:p>
            <a:pPr marL="0" indent="0">
              <a:buNone/>
            </a:pPr>
            <a:r>
              <a:rPr lang="en-US" altLang="zh-CN" sz="1800" kern="0" dirty="0"/>
              <a:t> print(</a:t>
            </a:r>
            <a:r>
              <a:rPr lang="en-US" altLang="zh-CN" sz="1800" kern="0" dirty="0" err="1"/>
              <a:t>diccount</a:t>
            </a:r>
            <a:r>
              <a:rPr lang="en-US" altLang="zh-CN" sz="1800" kern="0" dirty="0"/>
              <a:t>)      # </a:t>
            </a:r>
            <a:r>
              <a:rPr lang="zh-CN" altLang="en-US" sz="1800" kern="0" dirty="0"/>
              <a:t>不可以</a:t>
            </a:r>
            <a:r>
              <a:rPr lang="en-US" altLang="zh-CN" sz="1800" kern="0" dirty="0" err="1"/>
              <a:t>diccount</a:t>
            </a:r>
            <a:r>
              <a:rPr lang="en-US" altLang="zh-CN" sz="1800" kern="0" dirty="0"/>
              <a:t>[char]=</a:t>
            </a:r>
            <a:r>
              <a:rPr lang="en-US" altLang="zh-CN" sz="1800" kern="0" dirty="0" err="1">
                <a:solidFill>
                  <a:srgbClr val="C00000"/>
                </a:solidFill>
              </a:rPr>
              <a:t>diccount</a:t>
            </a:r>
            <a:r>
              <a:rPr lang="en-US" altLang="zh-CN" sz="1800" kern="0" dirty="0">
                <a:solidFill>
                  <a:srgbClr val="C00000"/>
                </a:solidFill>
              </a:rPr>
              <a:t> [char]+1 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sz="1800" kern="0" dirty="0"/>
              <a:t>                                </a:t>
            </a:r>
            <a:r>
              <a:rPr lang="en-US" altLang="zh-CN" sz="1800" kern="0" dirty="0"/>
              <a:t># </a:t>
            </a:r>
            <a:r>
              <a:rPr lang="zh-CN" altLang="en-US" sz="1800" kern="0" dirty="0"/>
              <a:t>因为第一次计算表达式右边的</a:t>
            </a:r>
            <a:r>
              <a:rPr lang="en-US" altLang="zh-CN" sz="1800" kern="0" dirty="0" err="1"/>
              <a:t>diccount</a:t>
            </a:r>
            <a:r>
              <a:rPr lang="en-US" altLang="zh-CN" sz="1800" kern="0" dirty="0"/>
              <a:t>[char]</a:t>
            </a:r>
            <a:r>
              <a:rPr lang="zh-CN" altLang="en-US" sz="1800" kern="0" dirty="0"/>
              <a:t>的时候</a:t>
            </a:r>
            <a:endParaRPr lang="en-US" altLang="zh-CN" sz="1800" kern="0" dirty="0"/>
          </a:p>
          <a:p>
            <a:pPr marL="0" indent="0">
              <a:buFont typeface="Wingdings" pitchFamily="2" charset="2"/>
              <a:buNone/>
            </a:pPr>
            <a:r>
              <a:rPr lang="zh-CN" altLang="en-US" sz="1800" kern="0" dirty="0"/>
              <a:t>                                </a:t>
            </a:r>
            <a:r>
              <a:rPr lang="en-US" altLang="zh-CN" sz="1800" kern="0" dirty="0"/>
              <a:t># </a:t>
            </a:r>
            <a:r>
              <a:rPr lang="zh-CN" altLang="en-US" sz="1800" kern="0" dirty="0"/>
              <a:t>会抛出异常，字典还没有该键值对。</a:t>
            </a:r>
          </a:p>
        </p:txBody>
      </p:sp>
      <p:sp>
        <p:nvSpPr>
          <p:cNvPr id="7" name="矩形 6"/>
          <p:cNvSpPr/>
          <p:nvPr/>
        </p:nvSpPr>
        <p:spPr>
          <a:xfrm>
            <a:off x="127365" y="1369962"/>
            <a:ext cx="954107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0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方法一</a:t>
            </a:r>
            <a:endParaRPr lang="zh-CN" altLang="en-US" sz="2000" b="0" cap="none" spc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7365" y="4245561"/>
            <a:ext cx="947695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0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方法二</a:t>
            </a:r>
            <a:endParaRPr lang="zh-CN" altLang="en-US" sz="2000" b="0" cap="none" spc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矩形 8"/>
          <p:cNvSpPr/>
          <p:nvPr/>
        </p:nvSpPr>
        <p:spPr>
          <a:xfrm>
            <a:off x="7905916" y="1108352"/>
            <a:ext cx="78579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b="1">
                <a:solidFill>
                  <a:srgbClr val="C00000"/>
                </a:solidFill>
              </a:rPr>
              <a:t>√</a:t>
            </a:r>
            <a:endParaRPr lang="zh-CN" altLang="en-US" sz="5400">
              <a:solidFill>
                <a:srgbClr val="C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D9AA8EB-7597-4D0D-8486-C89335473EA3}"/>
              </a:ext>
            </a:extLst>
          </p:cNvPr>
          <p:cNvSpPr txBox="1"/>
          <p:nvPr/>
        </p:nvSpPr>
        <p:spPr>
          <a:xfrm>
            <a:off x="966974" y="4313475"/>
            <a:ext cx="4643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diccount</a:t>
            </a:r>
            <a:r>
              <a:rPr lang="en-US" altLang="zh-CN" sz="1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={'a':0, 'b':0, 'c':0} 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696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2800"/>
              <a:t>例</a:t>
            </a:r>
            <a:r>
              <a:rPr lang="en-US" altLang="zh-CN" sz="2800"/>
              <a:t>5 </a:t>
            </a:r>
            <a:r>
              <a:rPr lang="zh-CN" altLang="en-US" sz="2800"/>
              <a:t>输入</a:t>
            </a:r>
            <a:r>
              <a:rPr lang="zh-CN" altLang="en-US" sz="2800" dirty="0"/>
              <a:t>一行字符，求每个字符出现</a:t>
            </a:r>
            <a:r>
              <a:rPr lang="zh-CN" altLang="en-US" sz="2800"/>
              <a:t>的次数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5743" y="1060031"/>
            <a:ext cx="7886700" cy="24371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建字典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dicchar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键是字符，值是字符出现的次数。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由于不能预知出现哪些字符，所以 不能预先初始化字典。 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字典的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函数：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get()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 数返回指定键的值，如果值 不在字典中返回默认值。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countchar.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(c,0)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函数返回 键为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不在字典中返回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矩形 4"/>
          <p:cNvSpPr/>
          <p:nvPr/>
        </p:nvSpPr>
        <p:spPr>
          <a:xfrm>
            <a:off x="2186721" y="3819951"/>
            <a:ext cx="5989939" cy="216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=input()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countchar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={}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for c in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countchar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[c]=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countchar.get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(c,0)+1 </a:t>
            </a: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print(countchar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43666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6 </a:t>
            </a:r>
            <a:r>
              <a:rPr lang="zh-CN" altLang="en-US"/>
              <a:t>分类计数</a:t>
            </a:r>
            <a:r>
              <a:rPr lang="en-US" altLang="zh-CN"/>
              <a:t>+</a:t>
            </a:r>
            <a:r>
              <a:rPr lang="zh-CN" altLang="en-US"/>
              <a:t>排序</a:t>
            </a:r>
            <a:r>
              <a:rPr lang="en-US" altLang="zh-CN"/>
              <a:t>+</a:t>
            </a:r>
            <a:r>
              <a:rPr lang="zh-CN" altLang="en-US"/>
              <a:t>切片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26122" y="1011855"/>
            <a:ext cx="863499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Consolas" panose="020B0609020204030204" pitchFamily="49" charset="0"/>
              </a:rPr>
              <a:t>例题：统计一段英文中的字符个数，输出数量最多的</a:t>
            </a:r>
            <a:r>
              <a:rPr lang="en-US" altLang="zh-CN" b="1" dirty="0">
                <a:latin typeface="Consolas" panose="020B0609020204030204" pitchFamily="49" charset="0"/>
              </a:rPr>
              <a:t>5</a:t>
            </a:r>
            <a:r>
              <a:rPr lang="zh-CN" altLang="en-US" b="1" dirty="0">
                <a:latin typeface="Consolas" panose="020B0609020204030204" pitchFamily="49" charset="0"/>
              </a:rPr>
              <a:t>个字符，字母不区分大小写</a:t>
            </a:r>
            <a:endParaRPr lang="en-US" altLang="zh-CN" b="1" dirty="0">
              <a:latin typeface="Consolas" panose="020B0609020204030204" pitchFamily="49" charset="0"/>
            </a:endParaRPr>
          </a:p>
          <a:p>
            <a:r>
              <a:rPr lang="zh-CN" altLang="en-US" b="1" dirty="0">
                <a:latin typeface="Consolas" panose="020B0609020204030204" pitchFamily="49" charset="0"/>
              </a:rPr>
              <a:t>分析：</a:t>
            </a:r>
            <a:endParaRPr lang="en-US" altLang="zh-CN" b="1" dirty="0">
              <a:latin typeface="Consolas" panose="020B0609020204030204" pitchFamily="49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b="1" dirty="0">
                <a:latin typeface="Consolas" panose="020B0609020204030204" pitchFamily="49" charset="0"/>
              </a:rPr>
              <a:t>遍历字符串，将其每个字符转为小写</a:t>
            </a:r>
            <a:endParaRPr lang="en-US" altLang="zh-CN" b="1" dirty="0">
              <a:latin typeface="Consolas" panose="020B0609020204030204" pitchFamily="49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b="1" dirty="0">
                <a:latin typeface="Consolas" panose="020B0609020204030204" pitchFamily="49" charset="0"/>
              </a:rPr>
              <a:t>每个字符作为字典的键，出现的次数作为字典的值，</a:t>
            </a:r>
            <a:r>
              <a:rPr lang="zh-CN" alt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初始值应为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en-US" b="1" dirty="0">
                <a:latin typeface="Consolas" panose="020B0609020204030204" pitchFamily="49" charset="0"/>
              </a:rPr>
              <a:t>遍历字符串，每出现一次就将值增加</a:t>
            </a:r>
            <a:r>
              <a:rPr lang="en-US" altLang="zh-CN" b="1" dirty="0">
                <a:latin typeface="Consolas" panose="020B0609020204030204" pitchFamily="49" charset="0"/>
              </a:rPr>
              <a:t>1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en-US" b="1" dirty="0">
                <a:latin typeface="Consolas" panose="020B0609020204030204" pitchFamily="49" charset="0"/>
              </a:rPr>
              <a:t>根据字典的值排序，将值最大的</a:t>
            </a:r>
            <a:r>
              <a:rPr lang="en-US" altLang="zh-CN" b="1" dirty="0">
                <a:latin typeface="Consolas" panose="020B0609020204030204" pitchFamily="49" charset="0"/>
              </a:rPr>
              <a:t>5</a:t>
            </a:r>
            <a:r>
              <a:rPr lang="zh-CN" altLang="en-US" b="1" dirty="0">
                <a:latin typeface="Consolas" panose="020B0609020204030204" pitchFamily="49" charset="0"/>
              </a:rPr>
              <a:t>个元素的键输出</a:t>
            </a:r>
            <a:endParaRPr lang="en-US" altLang="zh-CN" b="1" dirty="0">
              <a:latin typeface="Consolas" panose="020B0609020204030204" pitchFamily="49" charset="0"/>
            </a:endParaRPr>
          </a:p>
          <a:p>
            <a:endParaRPr lang="en-US" altLang="zh-CN" b="1" dirty="0"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6121" y="2757982"/>
            <a:ext cx="8634999" cy="3786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'''It is a truth universally acknowledged, that a single man in possession of a good fortune, ...'''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wcounter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{}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w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lower():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wcounter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[w]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wcounter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get(w,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del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wcounter[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 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key_list 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sorted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(wcounter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keys(), key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wcounter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get, reverse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3465A4"/>
                </a:solidFill>
                <a:latin typeface="Consolas" panose="020B0609020204030204" pitchFamily="49" charset="0"/>
              </a:rPr>
              <a:t>True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k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key_list[: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5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(k, wcounter[k]</a:t>
            </a:r>
            <a:r>
              <a:rPr lang="zh-CN" altLang="en-US" b="1" dirty="0">
                <a:solidFill>
                  <a:srgbClr val="A40000"/>
                </a:solidFill>
                <a:latin typeface="Consolas" panose="020B0609020204030204" pitchFamily="49" charset="0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end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','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矩形 1"/>
          <p:cNvSpPr/>
          <p:nvPr/>
        </p:nvSpPr>
        <p:spPr>
          <a:xfrm>
            <a:off x="5409398" y="2363002"/>
            <a:ext cx="283945" cy="3416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81125" y="5297103"/>
            <a:ext cx="776437" cy="3416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cxnSp>
        <p:nvCxnSpPr>
          <p:cNvPr id="8" name="直接箭头连接符 7"/>
          <p:cNvCxnSpPr>
            <a:stCxn id="2" idx="2"/>
          </p:cNvCxnSpPr>
          <p:nvPr/>
        </p:nvCxnSpPr>
        <p:spPr bwMode="auto">
          <a:xfrm flipH="1">
            <a:off x="4182177" y="2704699"/>
            <a:ext cx="1369194" cy="25747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矩形 6"/>
          <p:cNvSpPr/>
          <p:nvPr/>
        </p:nvSpPr>
        <p:spPr>
          <a:xfrm>
            <a:off x="255070" y="5297103"/>
            <a:ext cx="1183908" cy="381802"/>
          </a:xfrm>
          <a:prstGeom prst="rect">
            <a:avLst/>
          </a:prstGeom>
          <a:ln w="57150">
            <a:solidFill>
              <a:srgbClr val="00B050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53904" y="5733449"/>
            <a:ext cx="516555" cy="381802"/>
          </a:xfrm>
          <a:prstGeom prst="rect">
            <a:avLst/>
          </a:prstGeom>
          <a:ln w="57150">
            <a:solidFill>
              <a:srgbClr val="00B050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58461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1035624"/>
          </a:xfrm>
        </p:spPr>
        <p:txBody>
          <a:bodyPr/>
          <a:lstStyle/>
          <a:p>
            <a:r>
              <a:rPr lang="zh-CN" altLang="en-US" dirty="0"/>
              <a:t>例题：输入若干行数据，每行数据包括学生的名字，数学，语文和英语成绩，中间用空格间隔，输入</a:t>
            </a:r>
            <a:r>
              <a:rPr lang="en-US" altLang="zh-CN" dirty="0"/>
              <a:t>end</a:t>
            </a:r>
            <a:r>
              <a:rPr lang="zh-CN" altLang="en-US" dirty="0"/>
              <a:t>结束。请编程计算每名学生的平均分，并输出平均分最高的学生，若有多个则全部输出</a:t>
            </a:r>
            <a:endParaRPr lang="en-US" altLang="zh-CN" dirty="0"/>
          </a:p>
          <a:p>
            <a:r>
              <a:rPr lang="zh-CN" altLang="en-US" dirty="0"/>
              <a:t>分析：</a:t>
            </a:r>
            <a:endParaRPr lang="en-US" altLang="zh-CN" dirty="0"/>
          </a:p>
          <a:p>
            <a:pPr lvl="1"/>
            <a:r>
              <a:rPr lang="zh-CN" altLang="en-US" dirty="0"/>
              <a:t>读取一行，判断该行是否等于</a:t>
            </a:r>
            <a:r>
              <a:rPr lang="en-US" altLang="zh-CN" dirty="0"/>
              <a:t>end</a:t>
            </a:r>
            <a:r>
              <a:rPr lang="zh-CN" altLang="en-US" dirty="0"/>
              <a:t>，如果是</a:t>
            </a:r>
            <a:r>
              <a:rPr lang="en-US" altLang="zh-CN" dirty="0"/>
              <a:t>end</a:t>
            </a:r>
            <a:r>
              <a:rPr lang="zh-CN" altLang="en-US" dirty="0"/>
              <a:t>，则结束输入</a:t>
            </a:r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/>
              <a:t>split()</a:t>
            </a:r>
            <a:r>
              <a:rPr lang="zh-CN" altLang="en-US" dirty="0"/>
              <a:t>函数将该行分解为列表，第一个元素为学生姓名，剩下的元素为成绩，须转成数值并计算平均分</a:t>
            </a:r>
            <a:endParaRPr lang="en-US" altLang="zh-CN" dirty="0"/>
          </a:p>
          <a:p>
            <a:pPr lvl="1"/>
            <a:r>
              <a:rPr lang="zh-CN" altLang="en-US" dirty="0"/>
              <a:t>将姓名和成绩保存到字典中，前者为键，后者为值</a:t>
            </a:r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/>
              <a:t>max</a:t>
            </a:r>
            <a:r>
              <a:rPr lang="zh-CN" altLang="en-US" dirty="0"/>
              <a:t>函数取得最高分</a:t>
            </a:r>
            <a:endParaRPr lang="en-US" altLang="zh-CN" dirty="0"/>
          </a:p>
          <a:p>
            <a:pPr lvl="1"/>
            <a:r>
              <a:rPr lang="zh-CN" altLang="en-US" dirty="0"/>
              <a:t>遍历字典找出值为最高分的元素，输出姓名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7 sum max min </a:t>
            </a:r>
            <a:r>
              <a:rPr lang="zh-CN" altLang="en-US"/>
              <a:t>与字典索引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4212AD-C511-42FC-A0CC-D6BB5C99E755}"/>
              </a:ext>
            </a:extLst>
          </p:cNvPr>
          <p:cNvSpPr txBox="1"/>
          <p:nvPr/>
        </p:nvSpPr>
        <p:spPr>
          <a:xfrm>
            <a:off x="989901" y="5368954"/>
            <a:ext cx="21034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张三   </a:t>
            </a:r>
            <a:r>
              <a:rPr lang="en-US" altLang="zh-CN" dirty="0"/>
              <a:t>80  65  78</a:t>
            </a:r>
          </a:p>
          <a:p>
            <a:r>
              <a:rPr lang="zh-CN" altLang="en-US" dirty="0"/>
              <a:t>李四   </a:t>
            </a:r>
            <a:r>
              <a:rPr lang="en-US" altLang="zh-CN" dirty="0"/>
              <a:t>93  76  69</a:t>
            </a:r>
          </a:p>
          <a:p>
            <a:r>
              <a:rPr lang="en-US" altLang="zh-CN" dirty="0"/>
              <a:t>end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9215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字典的应用</a:t>
            </a:r>
          </a:p>
        </p:txBody>
      </p:sp>
      <p:sp>
        <p:nvSpPr>
          <p:cNvPr id="5" name="矩形 4"/>
          <p:cNvSpPr/>
          <p:nvPr/>
        </p:nvSpPr>
        <p:spPr>
          <a:xfrm>
            <a:off x="401558" y="1204957"/>
            <a:ext cx="826805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result_list</a:t>
            </a:r>
            <a:r>
              <a:rPr lang="en-US" altLang="zh-CN" b="1" kern="0" dirty="0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=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{}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while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kern="0" dirty="0">
                <a:solidFill>
                  <a:srgbClr val="3465A4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True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: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	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line</a:t>
            </a:r>
            <a:r>
              <a:rPr lang="en-US" altLang="zh-CN" b="1" kern="0" dirty="0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=</a:t>
            </a:r>
            <a:r>
              <a:rPr lang="en-US" altLang="zh-CN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input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	</a:t>
            </a:r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line</a:t>
            </a:r>
            <a:r>
              <a:rPr lang="en-US" altLang="zh-CN" b="1" kern="0" dirty="0" err="1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.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strip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()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b="1" kern="0" dirty="0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==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kern="0" dirty="0">
                <a:solidFill>
                  <a:srgbClr val="4E9A06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'end'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: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		</a:t>
            </a:r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break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	</a:t>
            </a:r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else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: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		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record</a:t>
            </a:r>
            <a:r>
              <a:rPr lang="en-US" altLang="zh-CN" b="1" kern="0" dirty="0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=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line</a:t>
            </a:r>
            <a:r>
              <a:rPr lang="en-US" altLang="zh-CN" b="1" kern="0" dirty="0" err="1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.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split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		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scores</a:t>
            </a:r>
            <a:r>
              <a:rPr lang="en-US" altLang="zh-CN" b="1" kern="0" dirty="0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=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kern="0" dirty="0" err="1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x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x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in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record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b="1" kern="0" dirty="0">
                <a:solidFill>
                  <a:srgbClr val="0000C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1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:]]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		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result_list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record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b="1" kern="0" dirty="0">
                <a:solidFill>
                  <a:srgbClr val="0000C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0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]]</a:t>
            </a:r>
            <a:r>
              <a:rPr lang="en-US" altLang="zh-CN" b="1" kern="0" dirty="0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=</a:t>
            </a:r>
            <a:r>
              <a:rPr lang="en-US" altLang="zh-CN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sum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scores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  <a:r>
              <a:rPr lang="en-US" altLang="zh-CN" b="1" kern="0" dirty="0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/</a:t>
            </a:r>
            <a:r>
              <a:rPr lang="en-US" altLang="zh-CN" kern="0" dirty="0" err="1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len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scores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 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kern="0" dirty="0">
              <a:solidFill>
                <a:srgbClr val="000000"/>
              </a:solidFill>
              <a:latin typeface="Consolas" panose="020B0609020204030204" pitchFamily="49" charset="0"/>
              <a:ea typeface="等线" panose="02010600030101010101" pitchFamily="2" charset="-122"/>
              <a:cs typeface="Consolas" panose="020B0609020204030204" pitchFamily="49" charset="0"/>
            </a:endParaRPr>
          </a:p>
          <a:p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max_score</a:t>
            </a:r>
            <a:r>
              <a:rPr lang="en-US" altLang="zh-CN" b="1" kern="0" dirty="0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=</a:t>
            </a:r>
            <a:r>
              <a:rPr lang="en-US" altLang="zh-CN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max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result_list</a:t>
            </a:r>
            <a:r>
              <a:rPr lang="en-US" altLang="zh-CN" b="1" kern="0" dirty="0" err="1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.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values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())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x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in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result_list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: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	</a:t>
            </a:r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result_list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x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]</a:t>
            </a:r>
            <a:r>
              <a:rPr lang="en-US" altLang="zh-CN" b="1" kern="0" dirty="0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==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max_score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: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		</a:t>
            </a:r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print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x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,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max_score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01558" y="5622970"/>
            <a:ext cx="6021860" cy="89669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这个地方不是一定要用字典，字典的好处是可以通过姓名快速检索出他的成绩，方便进一步的处理</a:t>
            </a:r>
            <a:endParaRPr lang="en-US" altLang="zh-CN" b="1" dirty="0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8943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集合</a:t>
            </a: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7678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3538601"/>
          </a:xfrm>
        </p:spPr>
        <p:txBody>
          <a:bodyPr/>
          <a:lstStyle/>
          <a:p>
            <a:pPr fontAlgn="auto">
              <a:lnSpc>
                <a:spcPct val="150000"/>
              </a:lnSpc>
            </a:pPr>
            <a:r>
              <a:rPr lang="zh-CN" altLang="en-US" dirty="0"/>
              <a:t>集合（set）属于Python</a:t>
            </a:r>
            <a:r>
              <a:rPr lang="zh-CN" altLang="en-US" dirty="0">
                <a:solidFill>
                  <a:srgbClr val="FF0000"/>
                </a:solidFill>
              </a:rPr>
              <a:t>无序可变序列</a:t>
            </a:r>
            <a:r>
              <a:rPr lang="zh-CN" altLang="en-US" dirty="0"/>
              <a:t>，使用一对</a:t>
            </a:r>
            <a:r>
              <a:rPr lang="zh-CN" altLang="en-US" dirty="0">
                <a:solidFill>
                  <a:srgbClr val="FF0000"/>
                </a:solidFill>
              </a:rPr>
              <a:t>大括号</a:t>
            </a:r>
            <a:r>
              <a:rPr lang="zh-CN" altLang="en-US" dirty="0"/>
              <a:t>作为定界符，元素之间使用</a:t>
            </a:r>
            <a:r>
              <a:rPr lang="zh-CN" altLang="en-US" dirty="0">
                <a:solidFill>
                  <a:srgbClr val="FF0000"/>
                </a:solidFill>
              </a:rPr>
              <a:t>逗号</a:t>
            </a:r>
            <a:r>
              <a:rPr lang="zh-CN" altLang="en-US" dirty="0"/>
              <a:t>分隔，同一个集合内的每个元素都是唯一的，</a:t>
            </a:r>
            <a:r>
              <a:rPr lang="zh-CN" altLang="en-US" dirty="0">
                <a:solidFill>
                  <a:srgbClr val="FF0000"/>
                </a:solidFill>
              </a:rPr>
              <a:t>元素之间不允许重复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 fontAlgn="auto">
              <a:lnSpc>
                <a:spcPct val="150000"/>
              </a:lnSpc>
              <a:buNone/>
            </a:pPr>
            <a:endParaRPr lang="en-US" altLang="zh-CN" dirty="0"/>
          </a:p>
          <a:p>
            <a:pPr marL="0" indent="0" fontAlgn="auto">
              <a:lnSpc>
                <a:spcPct val="150000"/>
              </a:lnSpc>
              <a:buNone/>
            </a:pPr>
            <a:endParaRPr lang="zh-CN" altLang="en-US" dirty="0"/>
          </a:p>
          <a:p>
            <a:pPr fontAlgn="auto">
              <a:lnSpc>
                <a:spcPct val="150000"/>
              </a:lnSpc>
            </a:pPr>
            <a:r>
              <a:rPr lang="zh-CN" altLang="en-US" dirty="0"/>
              <a:t>集合中只能包含数字、字符串、元组等</a:t>
            </a:r>
            <a:r>
              <a:rPr lang="zh-CN" altLang="en-US" dirty="0">
                <a:solidFill>
                  <a:srgbClr val="FF0000"/>
                </a:solidFill>
              </a:rPr>
              <a:t>不可变类型</a:t>
            </a:r>
            <a:r>
              <a:rPr lang="zh-CN" altLang="en-US" dirty="0"/>
              <a:t>（或者说可哈希）的数据，而不能包含列表、字典、集合等可变类型的数据。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F1C3D6-0FB0-4F29-A6FC-17CEA8DACE9D}"/>
              </a:ext>
            </a:extLst>
          </p:cNvPr>
          <p:cNvSpPr txBox="1"/>
          <p:nvPr/>
        </p:nvSpPr>
        <p:spPr>
          <a:xfrm>
            <a:off x="1354823" y="262564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  集合</a:t>
            </a:r>
            <a:r>
              <a:rPr lang="en-US" altLang="zh-CN" dirty="0"/>
              <a:t>{0, 1, 2, 7}</a:t>
            </a:r>
          </a:p>
          <a:p>
            <a:r>
              <a:rPr lang="zh-CN" altLang="en-US" dirty="0"/>
              <a:t>和集合</a:t>
            </a:r>
            <a:r>
              <a:rPr lang="en-US" altLang="zh-CN" dirty="0"/>
              <a:t>{1, 0, 2, 7}</a:t>
            </a:r>
            <a:r>
              <a:rPr lang="zh-CN" altLang="en-US" dirty="0"/>
              <a:t>是一样的。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50EDC8F-C287-405A-BBCA-9DA2A0142FDF}"/>
              </a:ext>
            </a:extLst>
          </p:cNvPr>
          <p:cNvSpPr txBox="1"/>
          <p:nvPr/>
        </p:nvSpPr>
        <p:spPr>
          <a:xfrm>
            <a:off x="1577130" y="4874004"/>
            <a:ext cx="428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集合</a:t>
            </a:r>
            <a:r>
              <a:rPr lang="en-US" altLang="zh-CN" dirty="0"/>
              <a:t>{[1,2], [1,2,3], 4, 5}</a:t>
            </a:r>
            <a:r>
              <a:rPr lang="zh-CN" altLang="en-US" dirty="0"/>
              <a:t>是非法的。</a:t>
            </a:r>
          </a:p>
        </p:txBody>
      </p:sp>
    </p:spTree>
    <p:extLst>
      <p:ext uri="{BB962C8B-B14F-4D97-AF65-F5344CB8AC3E}">
        <p14:creationId xmlns:p14="http://schemas.microsoft.com/office/powerpoint/2010/main" val="2962601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8805" y="952211"/>
            <a:ext cx="8846389" cy="5778103"/>
          </a:xfrm>
        </p:spPr>
        <p:txBody>
          <a:bodyPr>
            <a:norm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直接将集合赋值给变量即可创建一个集合对象。</a:t>
            </a:r>
          </a:p>
          <a:p>
            <a:pPr marL="0" indent="0" fontAlgn="auto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Consolas" panose="020B0609020204030204" charset="0"/>
              </a:rPr>
              <a:t>&gt;&gt;&gt; a = {3, 5}  </a:t>
            </a:r>
            <a:r>
              <a:rPr lang="zh-CN" altLang="en-US" sz="1800" dirty="0">
                <a:solidFill>
                  <a:srgbClr val="00B0F0"/>
                </a:solidFill>
                <a:latin typeface="Consolas" panose="020B0609020204030204" charset="0"/>
              </a:rPr>
              <a:t>#创建集合对象</a:t>
            </a:r>
          </a:p>
          <a:p>
            <a:pPr marL="0" indent="0" fontAlgn="auto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Consolas" panose="020B0609020204030204" charset="0"/>
              </a:rPr>
              <a:t>&gt;&gt;&gt; type(a)     </a:t>
            </a:r>
            <a:r>
              <a:rPr lang="zh-CN" altLang="en-US" sz="1800" dirty="0">
                <a:solidFill>
                  <a:srgbClr val="00B0F0"/>
                </a:solidFill>
                <a:latin typeface="Consolas" panose="020B0609020204030204" charset="0"/>
              </a:rPr>
              <a:t>#查看对象类型</a:t>
            </a:r>
          </a:p>
          <a:p>
            <a:pPr marL="0" indent="0" fontAlgn="auto"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C00000"/>
                </a:solidFill>
                <a:latin typeface="Consolas" panose="020B0609020204030204" charset="0"/>
              </a:rPr>
              <a:t>&lt;class 'set'&gt;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/>
              <a:t>集合经常被用来去除重复数据，我们可以用set()函数将列表、元组、字符串、等可迭代对象转换为集合，原对象中的重复元素，则在转换为集合的时候只保留一个；如果原序列或迭代对象中有不可哈希的值，无法转换成为集合，抛出异常。</a:t>
            </a:r>
          </a:p>
          <a:p>
            <a:pPr marL="0" indent="0" fontAlgn="auto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Consolas" panose="020B0609020204030204" charset="0"/>
              </a:rPr>
              <a:t>&gt;&gt;&gt; a_set = set(range(8, 14))              </a:t>
            </a:r>
            <a:r>
              <a:rPr lang="zh-CN" altLang="en-US" sz="1800" dirty="0">
                <a:solidFill>
                  <a:srgbClr val="00B0F0"/>
                </a:solidFill>
                <a:latin typeface="Consolas" panose="020B0609020204030204" charset="0"/>
              </a:rPr>
              <a:t>#把range对象转换为集合</a:t>
            </a:r>
          </a:p>
          <a:p>
            <a:pPr marL="0" indent="0" fontAlgn="auto">
              <a:spcBef>
                <a:spcPts val="0"/>
              </a:spcBef>
              <a:buNone/>
            </a:pPr>
            <a:r>
              <a:rPr lang="zh-CN" altLang="en-US" sz="1800" dirty="0">
                <a:latin typeface="Consolas" panose="020B0609020204030204" charset="0"/>
              </a:rPr>
              <a:t>&gt;&gt;&gt; a_set</a:t>
            </a:r>
          </a:p>
          <a:p>
            <a:pPr marL="0" indent="0" fontAlgn="auto"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C00000"/>
                </a:solidFill>
                <a:latin typeface="Consolas" panose="020B0609020204030204" charset="0"/>
              </a:rPr>
              <a:t>{8, 9, 10, 11, 12, 13}</a:t>
            </a:r>
          </a:p>
          <a:p>
            <a:pPr marL="0" indent="0" fontAlgn="auto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Consolas" panose="020B0609020204030204" charset="0"/>
              </a:rPr>
              <a:t>&gt;&gt;&gt; b_set = set([0, 1, 2, 0, 1, 2, 7, 8])  </a:t>
            </a:r>
            <a:r>
              <a:rPr lang="zh-CN" altLang="en-US" sz="1800" dirty="0">
                <a:solidFill>
                  <a:srgbClr val="00B0F0"/>
                </a:solidFill>
                <a:latin typeface="Consolas" panose="020B0609020204030204" charset="0"/>
              </a:rPr>
              <a:t>#转换时自动去掉重复元素</a:t>
            </a:r>
          </a:p>
          <a:p>
            <a:pPr marL="0" indent="0" fontAlgn="auto">
              <a:spcBef>
                <a:spcPts val="0"/>
              </a:spcBef>
              <a:buNone/>
            </a:pPr>
            <a:r>
              <a:rPr lang="zh-CN" altLang="en-US" sz="1800" dirty="0">
                <a:latin typeface="Consolas" panose="020B0609020204030204" charset="0"/>
              </a:rPr>
              <a:t>&gt;&gt;&gt; b_set</a:t>
            </a:r>
          </a:p>
          <a:p>
            <a:pPr marL="0" indent="0" fontAlgn="auto"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00B0F0"/>
                </a:solidFill>
                <a:latin typeface="Consolas" panose="020B0609020204030204" charset="0"/>
              </a:rPr>
              <a:t>{0, 1, 2, 7, 8}</a:t>
            </a:r>
          </a:p>
          <a:p>
            <a:pPr marL="0" indent="0" fontAlgn="auto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Consolas" panose="020B0609020204030204" charset="0"/>
              </a:rPr>
              <a:t>&gt;&gt;&gt; x = set()                              </a:t>
            </a:r>
            <a:r>
              <a:rPr lang="zh-CN" altLang="en-US" sz="1800" dirty="0">
                <a:solidFill>
                  <a:srgbClr val="00B0F0"/>
                </a:solidFill>
                <a:latin typeface="Consolas" panose="020B0609020204030204" charset="0"/>
              </a:rPr>
              <a:t>#空集合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集合对象的创建与删除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774E43-726B-4C9C-973F-4B6C8DC16594}"/>
              </a:ext>
            </a:extLst>
          </p:cNvPr>
          <p:cNvSpPr txBox="1"/>
          <p:nvPr/>
        </p:nvSpPr>
        <p:spPr>
          <a:xfrm>
            <a:off x="6300132" y="1602297"/>
            <a:ext cx="2521844" cy="1200329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&gt;&gt;&gt;a = [1,2,1,2,3]</a:t>
            </a:r>
          </a:p>
          <a:p>
            <a:r>
              <a:rPr lang="en-US" altLang="zh-CN" dirty="0"/>
              <a:t>&gt;&gt;&gt;b = list(set(a))</a:t>
            </a:r>
          </a:p>
          <a:p>
            <a:r>
              <a:rPr lang="en-US" altLang="zh-CN" dirty="0"/>
              <a:t>&gt;&gt;&gt;b</a:t>
            </a:r>
          </a:p>
          <a:p>
            <a:r>
              <a:rPr lang="en-US" altLang="zh-CN" dirty="0"/>
              <a:t>[1, 2, 3]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944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1616738"/>
          </a:xfrm>
        </p:spPr>
        <p:txBody>
          <a:bodyPr/>
          <a:lstStyle/>
          <a:p>
            <a:r>
              <a:rPr lang="zh-CN" altLang="en-US" dirty="0"/>
              <a:t>例题：读取用户的输入的一行英文句子，统计句子中有多少不同的单词</a:t>
            </a:r>
            <a:endParaRPr lang="en-US" altLang="zh-CN" dirty="0"/>
          </a:p>
          <a:p>
            <a:r>
              <a:rPr lang="zh-CN" altLang="en-US" dirty="0"/>
              <a:t>分析：</a:t>
            </a:r>
            <a:endParaRPr lang="en-US" altLang="zh-CN" dirty="0"/>
          </a:p>
          <a:p>
            <a:pPr lvl="1"/>
            <a:r>
              <a:rPr lang="zh-CN" altLang="en-US" dirty="0"/>
              <a:t>先用</a:t>
            </a:r>
            <a:r>
              <a:rPr lang="en-US" altLang="zh-CN" dirty="0"/>
              <a:t>split()</a:t>
            </a:r>
            <a:r>
              <a:rPr lang="zh-CN" altLang="en-US" dirty="0"/>
              <a:t>将输入的单词切割成列表</a:t>
            </a:r>
            <a:endParaRPr lang="en-US" altLang="zh-CN" dirty="0"/>
          </a:p>
          <a:p>
            <a:pPr lvl="1"/>
            <a:r>
              <a:rPr lang="zh-CN" altLang="en-US" dirty="0"/>
              <a:t>遍历列表，将列表中的单词转成小写</a:t>
            </a:r>
            <a:endParaRPr lang="en-US" altLang="zh-CN" dirty="0"/>
          </a:p>
          <a:p>
            <a:pPr lvl="1"/>
            <a:r>
              <a:rPr lang="zh-CN" altLang="en-US" dirty="0"/>
              <a:t>用</a:t>
            </a:r>
            <a:r>
              <a:rPr lang="en-US" altLang="zh-CN" dirty="0"/>
              <a:t>set</a:t>
            </a:r>
            <a:r>
              <a:rPr lang="zh-CN" altLang="en-US" dirty="0"/>
              <a:t>转成集合去重</a:t>
            </a:r>
            <a:endParaRPr lang="en-US" altLang="zh-CN" dirty="0"/>
          </a:p>
          <a:p>
            <a:pPr lvl="1"/>
            <a:r>
              <a:rPr lang="zh-CN" altLang="en-US" dirty="0"/>
              <a:t>统计集合中元素的数量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集合的应用</a:t>
            </a:r>
          </a:p>
        </p:txBody>
      </p:sp>
      <p:sp>
        <p:nvSpPr>
          <p:cNvPr id="4" name="矩形 3"/>
          <p:cNvSpPr/>
          <p:nvPr/>
        </p:nvSpPr>
        <p:spPr>
          <a:xfrm>
            <a:off x="683569" y="3790978"/>
            <a:ext cx="7597306" cy="1709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"Please input a sentence: "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word_list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w</a:t>
            </a:r>
            <a:r>
              <a:rPr lang="en-US" altLang="zh-CN" b="1" dirty="0" err="1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lower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w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b="1" dirty="0" err="1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split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()]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ws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set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word_list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ws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5" name="矩形 4"/>
          <p:cNvSpPr/>
          <p:nvPr/>
        </p:nvSpPr>
        <p:spPr>
          <a:xfrm rot="20626424">
            <a:off x="4861143" y="2461015"/>
            <a:ext cx="4155305" cy="58477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Set</a:t>
            </a:r>
            <a:r>
              <a:rPr lang="zh-CN" altLang="en-US" sz="3200" b="0" cap="none" spc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重要功能：去重复</a:t>
            </a:r>
          </a:p>
        </p:txBody>
      </p:sp>
    </p:spTree>
    <p:extLst>
      <p:ext uri="{BB962C8B-B14F-4D97-AF65-F5344CB8AC3E}">
        <p14:creationId xmlns:p14="http://schemas.microsoft.com/office/powerpoint/2010/main" val="3613051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集合运算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30" y="1898422"/>
            <a:ext cx="6375690" cy="404979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1BB4BEB-976F-4B7E-9A6F-4BF7F91FE55D}"/>
              </a:ext>
            </a:extLst>
          </p:cNvPr>
          <p:cNvSpPr txBox="1"/>
          <p:nvPr/>
        </p:nvSpPr>
        <p:spPr>
          <a:xfrm>
            <a:off x="6609456" y="1189331"/>
            <a:ext cx="2364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 = {1, 2, 3,</a:t>
            </a:r>
            <a:r>
              <a:rPr lang="zh-CN" altLang="en-US" dirty="0"/>
              <a:t> </a:t>
            </a:r>
            <a:r>
              <a:rPr lang="en-US" altLang="zh-CN" dirty="0"/>
              <a:t>4, 5}</a:t>
            </a:r>
          </a:p>
          <a:p>
            <a:r>
              <a:rPr lang="en-US" altLang="zh-CN" dirty="0"/>
              <a:t>b = {2, 4, 6}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E0AA9A-AC9F-49B2-AC62-2579EB300AC4}"/>
              </a:ext>
            </a:extLst>
          </p:cNvPr>
          <p:cNvSpPr txBox="1"/>
          <p:nvPr/>
        </p:nvSpPr>
        <p:spPr>
          <a:xfrm>
            <a:off x="6694415" y="2621059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 – b = {1, 3, 5}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B023F4-EE76-4023-B53C-6E037BF43AA0}"/>
              </a:ext>
            </a:extLst>
          </p:cNvPr>
          <p:cNvSpPr txBox="1"/>
          <p:nvPr/>
        </p:nvSpPr>
        <p:spPr>
          <a:xfrm>
            <a:off x="6694415" y="3101199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 &amp; b = {2, 4}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B56A040-B2B4-4A59-B779-8042C1B073B9}"/>
              </a:ext>
            </a:extLst>
          </p:cNvPr>
          <p:cNvSpPr txBox="1"/>
          <p:nvPr/>
        </p:nvSpPr>
        <p:spPr>
          <a:xfrm>
            <a:off x="6694415" y="3562593"/>
            <a:ext cx="2449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 | b={1,2,3,4,5,6}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706173-2B0F-4D49-B28A-8D44B1DAF877}"/>
              </a:ext>
            </a:extLst>
          </p:cNvPr>
          <p:cNvSpPr txBox="1"/>
          <p:nvPr/>
        </p:nvSpPr>
        <p:spPr>
          <a:xfrm>
            <a:off x="6769916" y="4077050"/>
            <a:ext cx="1725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 != b </a:t>
            </a:r>
            <a:r>
              <a:rPr lang="zh-CN" altLang="en-US" dirty="0"/>
              <a:t>为</a:t>
            </a:r>
            <a:r>
              <a:rPr lang="en-US" altLang="zh-CN" dirty="0"/>
              <a:t>True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35B8544-386D-4A58-9D75-1412F873C079}"/>
              </a:ext>
            </a:extLst>
          </p:cNvPr>
          <p:cNvSpPr txBox="1"/>
          <p:nvPr/>
        </p:nvSpPr>
        <p:spPr>
          <a:xfrm>
            <a:off x="6769916" y="4530658"/>
            <a:ext cx="1821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 == b</a:t>
            </a:r>
            <a:r>
              <a:rPr lang="zh-CN" altLang="en-US" dirty="0"/>
              <a:t>为</a:t>
            </a:r>
            <a:r>
              <a:rPr lang="en-US" altLang="zh-CN" dirty="0"/>
              <a:t>False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90AB56F-E406-46B7-A8BB-9E99000A04E0}"/>
              </a:ext>
            </a:extLst>
          </p:cNvPr>
          <p:cNvSpPr txBox="1"/>
          <p:nvPr/>
        </p:nvSpPr>
        <p:spPr>
          <a:xfrm>
            <a:off x="6769916" y="5025306"/>
            <a:ext cx="1657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 in a </a:t>
            </a:r>
            <a:r>
              <a:rPr lang="zh-CN" altLang="en-US" dirty="0"/>
              <a:t>为</a:t>
            </a:r>
            <a:r>
              <a:rPr lang="en-US" altLang="zh-CN" dirty="0"/>
              <a:t>True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E1A7E3-06D6-43DC-85F9-5511E7B8D474}"/>
              </a:ext>
            </a:extLst>
          </p:cNvPr>
          <p:cNvSpPr txBox="1"/>
          <p:nvPr/>
        </p:nvSpPr>
        <p:spPr>
          <a:xfrm>
            <a:off x="6769916" y="5519955"/>
            <a:ext cx="2196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 not in a </a:t>
            </a:r>
            <a:r>
              <a:rPr lang="zh-CN" altLang="en-US" dirty="0"/>
              <a:t>为</a:t>
            </a:r>
            <a:r>
              <a:rPr lang="en-US" altLang="zh-CN" dirty="0"/>
              <a:t>False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A24BCE2-50F7-4B86-99D2-9F05B39FA860}"/>
              </a:ext>
            </a:extLst>
          </p:cNvPr>
          <p:cNvSpPr txBox="1"/>
          <p:nvPr/>
        </p:nvSpPr>
        <p:spPr>
          <a:xfrm>
            <a:off x="360727" y="6224631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集合部分的剩余内容不做要求，有兴趣自学。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56941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  详解</a:t>
            </a:r>
            <a:r>
              <a:rPr lang="en-US" altLang="zh-CN"/>
              <a:t>Python</a:t>
            </a:r>
            <a:r>
              <a:rPr lang="zh-CN" altLang="en-US"/>
              <a:t>序列结构</a:t>
            </a:r>
          </a:p>
        </p:txBody>
      </p:sp>
      <p:grpSp>
        <p:nvGrpSpPr>
          <p:cNvPr id="15361" name="画布 8"/>
          <p:cNvGrpSpPr/>
          <p:nvPr/>
        </p:nvGrpSpPr>
        <p:grpSpPr>
          <a:xfrm>
            <a:off x="361951" y="1679578"/>
            <a:ext cx="6751639" cy="4132263"/>
            <a:chOff x="0" y="0"/>
            <a:chExt cx="4302760" cy="3054985"/>
          </a:xfrm>
        </p:grpSpPr>
        <p:sp>
          <p:nvSpPr>
            <p:cNvPr id="15362" name="画布 8"/>
            <p:cNvSpPr/>
            <p:nvPr/>
          </p:nvSpPr>
          <p:spPr>
            <a:xfrm>
              <a:off x="0" y="0"/>
              <a:ext cx="4302760" cy="305498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文本框 9"/>
            <p:cNvSpPr txBox="1"/>
            <p:nvPr/>
          </p:nvSpPr>
          <p:spPr>
            <a:xfrm>
              <a:off x="95250" y="661035"/>
              <a:ext cx="734695" cy="28194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just" fontAlgn="base"/>
              <a:r>
                <a:rPr lang="en-US" altLang="zh-CN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有序序列</a:t>
              </a:r>
            </a:p>
          </p:txBody>
        </p:sp>
        <p:sp>
          <p:nvSpPr>
            <p:cNvPr id="10" name="文本框 10"/>
            <p:cNvSpPr txBox="1"/>
            <p:nvPr/>
          </p:nvSpPr>
          <p:spPr>
            <a:xfrm>
              <a:off x="104775" y="1510665"/>
              <a:ext cx="734695" cy="28194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just" fontAlgn="base"/>
              <a:r>
                <a:rPr lang="en-US" altLang="zh-CN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无序序列</a:t>
              </a:r>
            </a:p>
          </p:txBody>
        </p:sp>
        <p:sp>
          <p:nvSpPr>
            <p:cNvPr id="11" name="文本框 11"/>
            <p:cNvSpPr txBox="1"/>
            <p:nvPr/>
          </p:nvSpPr>
          <p:spPr>
            <a:xfrm>
              <a:off x="1545473" y="25351"/>
              <a:ext cx="1194211" cy="281204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列表</a:t>
              </a:r>
            </a:p>
          </p:txBody>
        </p:sp>
        <p:sp>
          <p:nvSpPr>
            <p:cNvPr id="12" name="文本框 12"/>
            <p:cNvSpPr txBox="1"/>
            <p:nvPr/>
          </p:nvSpPr>
          <p:spPr>
            <a:xfrm>
              <a:off x="1540617" y="512646"/>
              <a:ext cx="1198662" cy="281204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元组</a:t>
              </a:r>
            </a:p>
          </p:txBody>
        </p:sp>
        <p:sp>
          <p:nvSpPr>
            <p:cNvPr id="13" name="文本框 13"/>
            <p:cNvSpPr txBox="1"/>
            <p:nvPr/>
          </p:nvSpPr>
          <p:spPr>
            <a:xfrm>
              <a:off x="1540617" y="1001350"/>
              <a:ext cx="1198662" cy="281204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字符串</a:t>
              </a:r>
            </a:p>
          </p:txBody>
        </p:sp>
        <p:sp>
          <p:nvSpPr>
            <p:cNvPr id="14" name="文本框 14"/>
            <p:cNvSpPr txBox="1"/>
            <p:nvPr/>
          </p:nvSpPr>
          <p:spPr>
            <a:xfrm>
              <a:off x="1539807" y="1507893"/>
              <a:ext cx="1199876" cy="281204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字典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1539403" y="2043542"/>
              <a:ext cx="1200686" cy="281204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集合</a:t>
              </a:r>
            </a:p>
          </p:txBody>
        </p:sp>
        <p:sp>
          <p:nvSpPr>
            <p:cNvPr id="16" name="文本框 16"/>
            <p:cNvSpPr txBox="1"/>
            <p:nvPr/>
          </p:nvSpPr>
          <p:spPr>
            <a:xfrm>
              <a:off x="1539807" y="2526142"/>
              <a:ext cx="1200281" cy="499971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range、zip、map、enumerate等</a:t>
              </a:r>
            </a:p>
          </p:txBody>
        </p:sp>
        <p:sp>
          <p:nvSpPr>
            <p:cNvPr id="17" name="文本框 17"/>
            <p:cNvSpPr txBox="1"/>
            <p:nvPr/>
          </p:nvSpPr>
          <p:spPr>
            <a:xfrm>
              <a:off x="3305810" y="687705"/>
              <a:ext cx="915670" cy="28194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可变序列</a:t>
              </a:r>
            </a:p>
          </p:txBody>
        </p:sp>
        <p:sp>
          <p:nvSpPr>
            <p:cNvPr id="18" name="文本框 18"/>
            <p:cNvSpPr txBox="1"/>
            <p:nvPr/>
          </p:nvSpPr>
          <p:spPr>
            <a:xfrm>
              <a:off x="3305175" y="1513205"/>
              <a:ext cx="914400" cy="28194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不可变序列</a:t>
              </a:r>
            </a:p>
          </p:txBody>
        </p:sp>
        <p:cxnSp>
          <p:nvCxnSpPr>
            <p:cNvPr id="19" name="直接箭头连接符 19"/>
            <p:cNvCxnSpPr>
              <a:stCxn id="11" idx="3"/>
              <a:endCxn id="17" idx="1"/>
            </p:cNvCxnSpPr>
            <p:nvPr/>
          </p:nvCxnSpPr>
          <p:spPr>
            <a:xfrm>
              <a:off x="2739890" y="166370"/>
              <a:ext cx="565743" cy="662872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20"/>
            <p:cNvCxnSpPr>
              <a:stCxn id="14" idx="3"/>
              <a:endCxn id="17" idx="1"/>
            </p:cNvCxnSpPr>
            <p:nvPr/>
          </p:nvCxnSpPr>
          <p:spPr>
            <a:xfrm flipV="1">
              <a:off x="2739546" y="828955"/>
              <a:ext cx="566147" cy="81967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1"/>
            <p:cNvCxnSpPr>
              <a:stCxn id="15" idx="3"/>
              <a:endCxn id="17" idx="1"/>
            </p:cNvCxnSpPr>
            <p:nvPr/>
          </p:nvCxnSpPr>
          <p:spPr>
            <a:xfrm flipV="1">
              <a:off x="2740329" y="829081"/>
              <a:ext cx="565338" cy="1355319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2"/>
            <p:cNvCxnSpPr>
              <a:stCxn id="12" idx="3"/>
              <a:endCxn id="18" idx="1"/>
            </p:cNvCxnSpPr>
            <p:nvPr/>
          </p:nvCxnSpPr>
          <p:spPr>
            <a:xfrm>
              <a:off x="2739597" y="653415"/>
              <a:ext cx="565743" cy="100088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3"/>
            <p:cNvCxnSpPr>
              <a:stCxn id="13" idx="3"/>
              <a:endCxn id="18" idx="1"/>
            </p:cNvCxnSpPr>
            <p:nvPr/>
          </p:nvCxnSpPr>
          <p:spPr>
            <a:xfrm>
              <a:off x="2739571" y="1142365"/>
              <a:ext cx="565743" cy="51217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4"/>
            <p:cNvCxnSpPr>
              <a:stCxn id="16" idx="3"/>
              <a:endCxn id="18" idx="1"/>
            </p:cNvCxnSpPr>
            <p:nvPr/>
          </p:nvCxnSpPr>
          <p:spPr>
            <a:xfrm flipV="1">
              <a:off x="2739980" y="1654220"/>
              <a:ext cx="565338" cy="11220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5"/>
            <p:cNvCxnSpPr>
              <a:stCxn id="11" idx="1"/>
              <a:endCxn id="9" idx="3"/>
            </p:cNvCxnSpPr>
            <p:nvPr/>
          </p:nvCxnSpPr>
          <p:spPr>
            <a:xfrm flipH="1">
              <a:off x="829898" y="166370"/>
              <a:ext cx="715879" cy="63611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6"/>
            <p:cNvCxnSpPr>
              <a:stCxn id="12" idx="1"/>
              <a:endCxn id="9" idx="3"/>
            </p:cNvCxnSpPr>
            <p:nvPr/>
          </p:nvCxnSpPr>
          <p:spPr>
            <a:xfrm flipH="1">
              <a:off x="829675" y="653415"/>
              <a:ext cx="711023" cy="14881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7"/>
            <p:cNvCxnSpPr>
              <a:stCxn id="13" idx="1"/>
              <a:endCxn id="9" idx="3"/>
            </p:cNvCxnSpPr>
            <p:nvPr/>
          </p:nvCxnSpPr>
          <p:spPr>
            <a:xfrm flipH="1" flipV="1">
              <a:off x="829675" y="802479"/>
              <a:ext cx="711023" cy="33988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8"/>
            <p:cNvCxnSpPr>
              <a:stCxn id="16" idx="1"/>
              <a:endCxn id="9" idx="3"/>
            </p:cNvCxnSpPr>
            <p:nvPr/>
          </p:nvCxnSpPr>
          <p:spPr>
            <a:xfrm flipH="1" flipV="1">
              <a:off x="829849" y="802158"/>
              <a:ext cx="709809" cy="197406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9"/>
            <p:cNvCxnSpPr>
              <a:stCxn id="14" idx="1"/>
              <a:endCxn id="10" idx="3"/>
            </p:cNvCxnSpPr>
            <p:nvPr/>
          </p:nvCxnSpPr>
          <p:spPr>
            <a:xfrm flipH="1">
              <a:off x="839157" y="1648626"/>
              <a:ext cx="700501" cy="3286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30"/>
            <p:cNvCxnSpPr>
              <a:stCxn id="15" idx="1"/>
              <a:endCxn id="10" idx="3"/>
            </p:cNvCxnSpPr>
            <p:nvPr/>
          </p:nvCxnSpPr>
          <p:spPr>
            <a:xfrm flipH="1" flipV="1">
              <a:off x="838926" y="1652037"/>
              <a:ext cx="700501" cy="532363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主题1">
  <a:themeElements>
    <a:clrScheme name="自定义 3">
      <a:dk1>
        <a:srgbClr val="000000"/>
      </a:dk1>
      <a:lt1>
        <a:srgbClr val="FFFFFF"/>
      </a:lt1>
      <a:dk2>
        <a:srgbClr val="003468"/>
      </a:dk2>
      <a:lt2>
        <a:srgbClr val="969696"/>
      </a:lt2>
      <a:accent1>
        <a:srgbClr val="99CC00"/>
      </a:accent1>
      <a:accent2>
        <a:srgbClr val="6699FF"/>
      </a:accent2>
      <a:accent3>
        <a:srgbClr val="FFFFFF"/>
      </a:accent3>
      <a:accent4>
        <a:srgbClr val="000000"/>
      </a:accent4>
      <a:accent5>
        <a:srgbClr val="CAE2AA"/>
      </a:accent5>
      <a:accent6>
        <a:srgbClr val="5C8AE7"/>
      </a:accent6>
      <a:hlink>
        <a:srgbClr val="00B0F0"/>
      </a:hlink>
      <a:folHlink>
        <a:srgbClr val="00B0F0"/>
      </a:folHlink>
    </a:clrScheme>
    <a:fontScheme name="024betty_wav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>
        <a:spAutoFit/>
      </a:bodyPr>
      <a:lstStyle>
        <a:defPPr>
          <a:spcAft>
            <a:spcPts val="0"/>
          </a:spcAft>
          <a:defRPr kern="0">
            <a:solidFill>
              <a:srgbClr val="800000"/>
            </a:solidFill>
            <a:latin typeface="Courier New"/>
            <a:ea typeface="宋体"/>
            <a:cs typeface="Times New Roman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024betty_wave 1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FF99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2D597A"/>
        </a:accent6>
        <a:hlink>
          <a:srgbClr val="66CAE2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33CCCC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2D2D8A"/>
        </a:accent6>
        <a:hlink>
          <a:srgbClr val="9999FF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3">
        <a:dk1>
          <a:srgbClr val="000000"/>
        </a:dk1>
        <a:lt1>
          <a:srgbClr val="FFFFFF"/>
        </a:lt1>
        <a:dk2>
          <a:srgbClr val="003468"/>
        </a:dk2>
        <a:lt2>
          <a:srgbClr val="969696"/>
        </a:lt2>
        <a:accent1>
          <a:srgbClr val="99CC00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5C8AE7"/>
        </a:accent6>
        <a:hlink>
          <a:srgbClr val="99CCFF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4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CCCC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2D597A"/>
        </a:accent6>
        <a:hlink>
          <a:srgbClr val="66CAE2"/>
        </a:hlink>
        <a:folHlink>
          <a:srgbClr val="CCFF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F95A2A35-674A-40AD-A83A-DE29BAA59257}" vid="{E14F0F36-DC56-4341-802B-8D7414312C92}"/>
    </a:ext>
  </a:extLst>
</a:theme>
</file>

<file path=ppt/theme/theme2.xml><?xml version="1.0" encoding="utf-8"?>
<a:theme xmlns:a="http://schemas.openxmlformats.org/drawingml/2006/main" name="柏林">
  <a:themeElements>
    <a:clrScheme name="柏林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柏林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柏林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2943</TotalTime>
  <Words>5169</Words>
  <Application>Microsoft Office PowerPoint</Application>
  <PresentationFormat>全屏显示(4:3)</PresentationFormat>
  <Paragraphs>525</Paragraphs>
  <Slides>41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56" baseType="lpstr">
      <vt:lpstr>等线</vt:lpstr>
      <vt:lpstr>黑体</vt:lpstr>
      <vt:lpstr>楷体</vt:lpstr>
      <vt:lpstr>微软雅黑</vt:lpstr>
      <vt:lpstr>微软雅黑</vt:lpstr>
      <vt:lpstr>Arial</vt:lpstr>
      <vt:lpstr>Calibri</vt:lpstr>
      <vt:lpstr>Consolas</vt:lpstr>
      <vt:lpstr>Courier New</vt:lpstr>
      <vt:lpstr>Times New Roman</vt:lpstr>
      <vt:lpstr>Trebuchet MS</vt:lpstr>
      <vt:lpstr>Verdana</vt:lpstr>
      <vt:lpstr>Wingdings</vt:lpstr>
      <vt:lpstr>主题1</vt:lpstr>
      <vt:lpstr>柏林</vt:lpstr>
      <vt:lpstr>第7章  字典和集合</vt:lpstr>
      <vt:lpstr>问题的引入</vt:lpstr>
      <vt:lpstr>PowerPoint 演示文稿</vt:lpstr>
      <vt:lpstr>字典的定义</vt:lpstr>
      <vt:lpstr>字典的创建</vt:lpstr>
      <vt:lpstr>字典的索引</vt:lpstr>
      <vt:lpstr>字典的键测试</vt:lpstr>
      <vt:lpstr>字典的其他访问方法：get()</vt:lpstr>
      <vt:lpstr>字典的更新</vt:lpstr>
      <vt:lpstr>PowerPoint 演示文稿</vt:lpstr>
      <vt:lpstr>字典的更新</vt:lpstr>
      <vt:lpstr>PowerPoint 演示文稿</vt:lpstr>
      <vt:lpstr>字典元素的删除</vt:lpstr>
      <vt:lpstr>例题1：城市人口字典</vt:lpstr>
      <vt:lpstr>字典的遍历</vt:lpstr>
      <vt:lpstr>字典的遍历</vt:lpstr>
      <vt:lpstr>例题2：输出城市与人口</vt:lpstr>
      <vt:lpstr>字典的复制</vt:lpstr>
      <vt:lpstr>可用于字典的内置函数</vt:lpstr>
      <vt:lpstr>例题3：城市与人口的最值</vt:lpstr>
      <vt:lpstr>可用于字典的内置函数</vt:lpstr>
      <vt:lpstr>sorted()</vt:lpstr>
      <vt:lpstr>PowerPoint 演示文稿</vt:lpstr>
      <vt:lpstr>例题4：城市与人口的排序</vt:lpstr>
      <vt:lpstr>字典的常用方法</vt:lpstr>
      <vt:lpstr>字典与序列的区别</vt:lpstr>
      <vt:lpstr>字典的应用</vt:lpstr>
      <vt:lpstr>例1 按要求创建字典</vt:lpstr>
      <vt:lpstr>例2 用字典索引代替分支语句</vt:lpstr>
      <vt:lpstr>例3 字典索引代替分支语句</vt:lpstr>
      <vt:lpstr>例4 分类计数</vt:lpstr>
      <vt:lpstr>例5 输入一行字符，求每个字符出现的次数</vt:lpstr>
      <vt:lpstr>例6 分类计数+排序+切片</vt:lpstr>
      <vt:lpstr>例7 sum max min 与字典索引</vt:lpstr>
      <vt:lpstr>字典的应用</vt:lpstr>
      <vt:lpstr>集合</vt:lpstr>
      <vt:lpstr>集合</vt:lpstr>
      <vt:lpstr>集合对象的创建与删除</vt:lpstr>
      <vt:lpstr>集合的应用</vt:lpstr>
      <vt:lpstr>集合运算</vt:lpstr>
      <vt:lpstr>第3章  详解Python序列结构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 详解Python序列结构</dc:title>
  <dc:creator>Dong</dc:creator>
  <cp:lastModifiedBy>cyj</cp:lastModifiedBy>
  <cp:revision>635</cp:revision>
  <cp:lastPrinted>2019-11-14T15:44:24Z</cp:lastPrinted>
  <dcterms:created xsi:type="dcterms:W3CDTF">2015-05-05T08:02:00Z</dcterms:created>
  <dcterms:modified xsi:type="dcterms:W3CDTF">2024-11-26T15:38:32Z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1033-10.2.0.5978</vt:lpwstr>
  </property>
</Properties>
</file>