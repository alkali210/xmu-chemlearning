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425" r:id="rId2"/>
    <p:sldId id="426" r:id="rId3"/>
    <p:sldId id="463" r:id="rId4"/>
    <p:sldId id="464" r:id="rId5"/>
    <p:sldId id="465" r:id="rId6"/>
    <p:sldId id="466" r:id="rId7"/>
    <p:sldId id="467" r:id="rId8"/>
    <p:sldId id="430" r:id="rId9"/>
    <p:sldId id="431" r:id="rId10"/>
    <p:sldId id="433" r:id="rId11"/>
    <p:sldId id="436" r:id="rId12"/>
    <p:sldId id="437" r:id="rId13"/>
    <p:sldId id="414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794"/>
    <a:srgbClr val="FFFFCC"/>
    <a:srgbClr val="66FFCC"/>
    <a:srgbClr val="66FFFF"/>
    <a:srgbClr val="17385F"/>
    <a:srgbClr val="0033CC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5E73C-8546-4191-8953-8D133B8AD474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51E8A-F9F8-4534-B221-B771A591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791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1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1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7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213586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5698066"/>
          </a:xfrm>
        </p:spPr>
        <p:txBody>
          <a:bodyPr/>
          <a:lstStyle>
            <a:lvl1pPr>
              <a:lnSpc>
                <a:spcPts val="2800"/>
              </a:lnSpc>
              <a:defRPr/>
            </a:lvl1pPr>
            <a:lvl2pPr>
              <a:lnSpc>
                <a:spcPts val="2800"/>
              </a:lnSpc>
              <a:defRPr sz="1800" b="1"/>
            </a:lvl2pPr>
            <a:lvl3pPr>
              <a:lnSpc>
                <a:spcPts val="2800"/>
              </a:lnSpc>
              <a:defRPr/>
            </a:lvl3pPr>
            <a:lvl4pPr>
              <a:lnSpc>
                <a:spcPts val="2800"/>
              </a:lnSpc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47438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57544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828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7758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4007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65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3927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0B2EB-ABB7-41F5-A8C2-C05D23AA50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09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9604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99320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173572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1955949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04231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3673CA0-868D-4EE4-97C8-B8815C447DE6}" type="datetimeFigureOut">
              <a:rPr lang="zh-CN" altLang="en-US" smtClean="0"/>
              <a:pPr/>
              <a:t>2024/12/9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B2EB-ABB7-41F5-A8C2-C05D23AA50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0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13" name="Rectangle 25"/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4572000" y="647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chemeClr val="hlink"/>
                </a:solidFill>
                <a:latin typeface="+mn-lt"/>
                <a:ea typeface="굴림" pitchFamily="50" charset="-127"/>
              </a:defRPr>
            </a:lvl1pPr>
          </a:lstStyle>
          <a:p>
            <a:fld id="{CF00B2EB-ABB7-41F5-A8C2-C05D23AA509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ko-KR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231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75" indent="-257175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213" indent="-214313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变量作用域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变量起作用的代码范围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可以合法访问变量的范围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47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5.3  变量作用域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342" y="1551763"/>
            <a:ext cx="7886700" cy="4697931"/>
          </a:xfrm>
        </p:spPr>
        <p:txBody>
          <a:bodyPr>
            <a:normAutofit/>
          </a:bodyPr>
          <a:lstStyle/>
          <a:p>
            <a:pPr>
              <a:lnSpc>
                <a:spcPct val="300000"/>
              </a:lnSpc>
              <a:spcBef>
                <a:spcPct val="0"/>
              </a:spcBef>
              <a:buSzPct val="90000"/>
              <a:buFont typeface="Wingdings" panose="05000000000000000000" charset="0"/>
              <a:buChar char="§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它是一个空间概念。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300000"/>
              </a:lnSpc>
              <a:defRPr/>
            </a:pP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变量：在函数内定义</a:t>
            </a:r>
          </a:p>
          <a:p>
            <a:pPr>
              <a:lnSpc>
                <a:spcPct val="300000"/>
              </a:lnSpc>
              <a:spcBef>
                <a:spcPct val="0"/>
              </a:spcBef>
              <a:buSzPct val="90000"/>
              <a:buFont typeface="Wingdings" panose="05000000000000000000" charset="0"/>
              <a:buChar char="§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局部变量的引用比全局变量速度快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，应优先考虑使用。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702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1400613"/>
          </a:xfrm>
        </p:spPr>
        <p:txBody>
          <a:bodyPr/>
          <a:lstStyle/>
          <a:p>
            <a:pPr indent="0">
              <a:spcAft>
                <a:spcPts val="450"/>
              </a:spcAft>
              <a:buNone/>
            </a:pPr>
            <a:r>
              <a:rPr lang="zh-CN" altLang="en-US" sz="1800"/>
              <a:t>在</a:t>
            </a:r>
            <a:r>
              <a:rPr lang="zh-CN" altLang="en-US" sz="1800" dirty="0"/>
              <a:t>函数中定义的变量称为</a:t>
            </a:r>
            <a:r>
              <a:rPr lang="zh-CN" altLang="en-US" sz="1800" dirty="0">
                <a:solidFill>
                  <a:srgbClr val="FF0000"/>
                </a:solidFill>
              </a:rPr>
              <a:t>局部变量</a:t>
            </a:r>
            <a:r>
              <a:rPr lang="zh-CN" altLang="en-US" sz="1800" dirty="0"/>
              <a:t>，从定义的位置开始到所在函数结束都可以使用。在定义它的函数体之外不能使用。</a:t>
            </a:r>
            <a:endParaRPr lang="en-US" altLang="zh-CN" sz="1800" dirty="0"/>
          </a:p>
          <a:p>
            <a:pPr indent="0">
              <a:spcAft>
                <a:spcPts val="450"/>
              </a:spcAft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形参也是局部量</a:t>
            </a:r>
            <a:r>
              <a:rPr lang="zh-CN" altLang="en-US" sz="1800" dirty="0"/>
              <a:t>，只能在函数体</a:t>
            </a:r>
            <a:r>
              <a:rPr lang="zh-CN" altLang="en-US" sz="1800"/>
              <a:t>使用。</a:t>
            </a:r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8.5.1  </a:t>
            </a:r>
            <a:r>
              <a:rPr lang="zh-CN" altLang="en-US"/>
              <a:t>局部变量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592" y="2420888"/>
            <a:ext cx="704306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/>
              <a:t>def</a:t>
            </a:r>
            <a:r>
              <a:rPr lang="en-US" altLang="zh-CN" sz="2000" dirty="0"/>
              <a:t> fun(x):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m = 10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n = 20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x = </a:t>
            </a:r>
            <a:r>
              <a:rPr lang="en-US" altLang="zh-CN" sz="2000" dirty="0" err="1"/>
              <a:t>x+m+n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return x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print(fun(10))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print(</a:t>
            </a:r>
            <a:r>
              <a:rPr lang="en-US" altLang="zh-CN" sz="2000" dirty="0" err="1">
                <a:solidFill>
                  <a:srgbClr val="0033CC"/>
                </a:solidFill>
              </a:rPr>
              <a:t>m,n</a:t>
            </a:r>
            <a:r>
              <a:rPr lang="en-US" altLang="zh-CN" sz="2000"/>
              <a:t>)      </a:t>
            </a:r>
            <a:r>
              <a:rPr lang="en-US" altLang="zh-CN"/>
              <a:t>                       </a:t>
            </a:r>
            <a:r>
              <a:rPr lang="en-US" altLang="zh-CN">
                <a:solidFill>
                  <a:srgbClr val="C00000"/>
                </a:solidFill>
              </a:rPr>
              <a:t>#</a:t>
            </a:r>
            <a:r>
              <a:rPr lang="en-US" altLang="zh-CN" dirty="0" err="1">
                <a:solidFill>
                  <a:srgbClr val="C00000"/>
                </a:solidFill>
              </a:rPr>
              <a:t>NameError</a:t>
            </a:r>
            <a:r>
              <a:rPr lang="en-US" altLang="zh-CN" dirty="0">
                <a:solidFill>
                  <a:srgbClr val="C00000"/>
                </a:solidFill>
              </a:rPr>
              <a:t>: name 'm' is not defined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5856" y="3501008"/>
            <a:ext cx="4139275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m,n,x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是局部量，只能在函数</a:t>
            </a:r>
            <a:r>
              <a:rPr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内使用</a:t>
            </a:r>
          </a:p>
        </p:txBody>
      </p:sp>
      <p:sp>
        <p:nvSpPr>
          <p:cNvPr id="7" name="右大括号 6"/>
          <p:cNvSpPr/>
          <p:nvPr/>
        </p:nvSpPr>
        <p:spPr>
          <a:xfrm>
            <a:off x="2843808" y="2708920"/>
            <a:ext cx="288032" cy="1944216"/>
          </a:xfrm>
          <a:prstGeom prst="rightBrace">
            <a:avLst>
              <a:gd name="adj1" fmla="val 0"/>
              <a:gd name="adj2" fmla="val 51132"/>
            </a:avLst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655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608525"/>
          </a:xfrm>
        </p:spPr>
        <p:txBody>
          <a:bodyPr/>
          <a:lstStyle/>
          <a:p>
            <a:pPr marL="600075" indent="-342900"/>
            <a:r>
              <a:rPr lang="zh-CN" altLang="en-US"/>
              <a:t>在函数之</a:t>
            </a:r>
            <a:r>
              <a:rPr lang="zh-CN" altLang="en-US">
                <a:solidFill>
                  <a:srgbClr val="C00000"/>
                </a:solidFill>
              </a:rPr>
              <a:t>外</a:t>
            </a:r>
            <a:r>
              <a:rPr lang="zh-CN" altLang="en-US"/>
              <a:t>定义的变量称为</a:t>
            </a:r>
            <a:r>
              <a:rPr lang="zh-CN" altLang="en-US">
                <a:solidFill>
                  <a:srgbClr val="FF0000"/>
                </a:solidFill>
              </a:rPr>
              <a:t>全局变量</a:t>
            </a:r>
            <a:r>
              <a:rPr lang="zh-CN" altLang="en-US"/>
              <a:t>，它可以被多个函数引用</a:t>
            </a:r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8.5.2  </a:t>
            </a:r>
            <a:r>
              <a:rPr lang="zh-CN" altLang="en-US"/>
              <a:t>全局变量</a:t>
            </a:r>
          </a:p>
        </p:txBody>
      </p:sp>
      <p:sp>
        <p:nvSpPr>
          <p:cNvPr id="4" name="矩形 3"/>
          <p:cNvSpPr/>
          <p:nvPr/>
        </p:nvSpPr>
        <p:spPr>
          <a:xfrm>
            <a:off x="4405937" y="2348880"/>
            <a:ext cx="4075207" cy="8744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变量</a:t>
            </a:r>
            <a:r>
              <a:rPr lang="en-US" b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b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都是全局变量，在函数</a:t>
            </a:r>
            <a:r>
              <a:rPr lang="en-US" b="1" dirty="0">
                <a:latin typeface="微软雅黑" pitchFamily="34" charset="-122"/>
                <a:ea typeface="微软雅黑" pitchFamily="34" charset="-122"/>
              </a:rPr>
              <a:t>f1()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b="1" dirty="0">
                <a:latin typeface="微软雅黑" pitchFamily="34" charset="-122"/>
                <a:ea typeface="微软雅黑" pitchFamily="34" charset="-122"/>
              </a:rPr>
              <a:t>f2()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中可以直接引用全局变量</a:t>
            </a:r>
            <a:r>
              <a:rPr lang="en-US" b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b="1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7544" y="2402886"/>
            <a:ext cx="3294366" cy="3283976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s=1                   </a:t>
            </a:r>
            <a:r>
              <a:rPr lang="en-US" altLang="zh-CN" sz="1600" dirty="0">
                <a:solidFill>
                  <a:srgbClr val="C00000"/>
                </a:solidFill>
              </a:rPr>
              <a:t>#</a:t>
            </a:r>
            <a:r>
              <a:rPr lang="zh-TW" altLang="en-US" sz="1600" dirty="0">
                <a:solidFill>
                  <a:srgbClr val="C00000"/>
                </a:solidFill>
              </a:rPr>
              <a:t>全局变量定义</a:t>
            </a:r>
            <a:endParaRPr lang="zh-CN" altLang="en-US" sz="1600" dirty="0">
              <a:solidFill>
                <a:srgbClr val="C00000"/>
              </a:solidFill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 err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def</a:t>
            </a: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 f1():</a:t>
            </a:r>
            <a:endParaRPr lang="zh-CN" altLang="en-US" b="1" dirty="0">
              <a:solidFill>
                <a:srgbClr val="0033CC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    print(</a:t>
            </a:r>
            <a:r>
              <a:rPr lang="en-US" altLang="zh-CN" b="1" dirty="0" err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s,k</a:t>
            </a: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b="1" dirty="0">
              <a:solidFill>
                <a:srgbClr val="0033CC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endParaRPr lang="en-US" altLang="zh-CN" b="1" dirty="0">
              <a:solidFill>
                <a:srgbClr val="0033CC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k=10                 </a:t>
            </a:r>
            <a:r>
              <a:rPr lang="en-US" altLang="zh-CN" sz="1600" dirty="0">
                <a:solidFill>
                  <a:srgbClr val="C00000"/>
                </a:solidFill>
              </a:rPr>
              <a:t>#</a:t>
            </a:r>
            <a:r>
              <a:rPr lang="zh-TW" altLang="en-US" sz="1600" dirty="0">
                <a:solidFill>
                  <a:srgbClr val="C00000"/>
                </a:solidFill>
              </a:rPr>
              <a:t>全局变量定义</a:t>
            </a:r>
            <a:endParaRPr lang="zh-CN" altLang="en-US" sz="1600" dirty="0">
              <a:solidFill>
                <a:srgbClr val="C00000"/>
              </a:solidFill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 err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def</a:t>
            </a: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 f2():</a:t>
            </a:r>
            <a:endParaRPr lang="zh-CN" altLang="en-US" b="1" dirty="0">
              <a:solidFill>
                <a:srgbClr val="0033CC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   print(</a:t>
            </a:r>
            <a:r>
              <a:rPr lang="en-US" altLang="zh-CN" b="1" dirty="0" err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s,k</a:t>
            </a: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b="1" dirty="0">
              <a:solidFill>
                <a:srgbClr val="0033CC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endParaRPr lang="en-US" altLang="zh-CN" b="1" dirty="0">
              <a:solidFill>
                <a:srgbClr val="0033CC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f1()</a:t>
            </a:r>
            <a:endParaRPr lang="zh-CN" altLang="en-US" b="1" dirty="0">
              <a:solidFill>
                <a:srgbClr val="0033CC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f2()</a:t>
            </a:r>
            <a:endParaRPr lang="zh-CN" altLang="en-US" b="1" dirty="0">
              <a:solidFill>
                <a:srgbClr val="0033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44008" y="4437112"/>
            <a:ext cx="1944216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程序输出结果为：</a:t>
            </a:r>
          </a:p>
          <a:p>
            <a:r>
              <a:rPr lang="en-US" altLang="zh-CN" b="1">
                <a:solidFill>
                  <a:srgbClr val="0033CC"/>
                </a:solidFill>
                <a:latin typeface="Consolas" panose="020B0609020204030204" pitchFamily="49" charset="0"/>
              </a:rPr>
              <a:t>1 10</a:t>
            </a:r>
            <a:endParaRPr lang="zh-CN" altLang="en-US" b="1">
              <a:solidFill>
                <a:srgbClr val="0033CC"/>
              </a:solidFill>
              <a:latin typeface="Consolas" panose="020B0609020204030204" pitchFamily="49" charset="0"/>
            </a:endParaRPr>
          </a:p>
          <a:p>
            <a:r>
              <a:rPr lang="en-US" altLang="zh-CN" b="1">
                <a:solidFill>
                  <a:srgbClr val="0033CC"/>
                </a:solidFill>
                <a:latin typeface="Consolas" panose="020B0609020204030204" pitchFamily="49" charset="0"/>
              </a:rPr>
              <a:t>1 10</a:t>
            </a:r>
            <a:endParaRPr lang="zh-CN" altLang="en-US" b="1" dirty="0">
              <a:solidFill>
                <a:srgbClr val="0033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42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16016" y="703213"/>
            <a:ext cx="4248472" cy="1224135"/>
          </a:xfrm>
        </p:spPr>
        <p:txBody>
          <a:bodyPr/>
          <a:lstStyle/>
          <a:p>
            <a:r>
              <a:rPr lang="zh-CN" altLang="en-US" sz="2000" dirty="0"/>
              <a:t>在函数体中，如果要为全局变量重新赋值，可以使用</a:t>
            </a:r>
            <a:r>
              <a:rPr lang="en-US" altLang="zh-CN" sz="2000" dirty="0">
                <a:solidFill>
                  <a:srgbClr val="FF0000"/>
                </a:solidFill>
              </a:rPr>
              <a:t>global</a:t>
            </a:r>
            <a:r>
              <a:rPr lang="zh-CN" altLang="en-US" sz="2000" dirty="0"/>
              <a:t>语句，表明变量是全局变量。</a:t>
            </a:r>
          </a:p>
        </p:txBody>
      </p:sp>
      <p:sp>
        <p:nvSpPr>
          <p:cNvPr id="4" name="矩形 3"/>
          <p:cNvSpPr/>
          <p:nvPr/>
        </p:nvSpPr>
        <p:spPr>
          <a:xfrm>
            <a:off x="539553" y="1943815"/>
            <a:ext cx="3240360" cy="3323987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/>
              <a:t>s=1              </a:t>
            </a:r>
            <a:r>
              <a:rPr lang="en-US" altLang="zh-CN" sz="1600">
                <a:solidFill>
                  <a:srgbClr val="C00000"/>
                </a:solidFill>
              </a:rPr>
              <a:t>#</a:t>
            </a:r>
            <a:r>
              <a:rPr lang="zh-CN" altLang="en-US" sz="1600" dirty="0">
                <a:solidFill>
                  <a:srgbClr val="C00000"/>
                </a:solidFill>
              </a:rPr>
              <a:t>全局变量定义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def</a:t>
            </a:r>
            <a:r>
              <a:rPr lang="en-US" altLang="zh-CN" sz="2000" dirty="0"/>
              <a:t> f1():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FF0000"/>
                </a:solidFill>
              </a:rPr>
              <a:t>s = </a:t>
            </a:r>
            <a:r>
              <a:rPr lang="en-US" altLang="zh-CN" sz="2000">
                <a:solidFill>
                  <a:srgbClr val="FF0000"/>
                </a:solidFill>
              </a:rPr>
              <a:t>10          </a:t>
            </a:r>
            <a:r>
              <a:rPr lang="en-US" altLang="zh-CN" sz="1600">
                <a:solidFill>
                  <a:srgbClr val="C00000"/>
                </a:solidFill>
              </a:rPr>
              <a:t>#</a:t>
            </a:r>
            <a:r>
              <a:rPr lang="zh-CN" altLang="en-US" sz="1600">
                <a:solidFill>
                  <a:srgbClr val="C00000"/>
                </a:solidFill>
              </a:rPr>
              <a:t>局部变量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print(s)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f1()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print(s</a:t>
            </a:r>
            <a:r>
              <a:rPr lang="en-US" altLang="zh-CN" sz="2000"/>
              <a:t>)            </a:t>
            </a:r>
            <a:r>
              <a:rPr lang="en-US" altLang="zh-CN" sz="1600">
                <a:solidFill>
                  <a:srgbClr val="C00000"/>
                </a:solidFill>
              </a:rPr>
              <a:t>#</a:t>
            </a:r>
            <a:r>
              <a:rPr lang="zh-CN" altLang="en-US" sz="1600">
                <a:solidFill>
                  <a:srgbClr val="C00000"/>
                </a:solidFill>
              </a:rPr>
              <a:t>全局变量</a:t>
            </a:r>
            <a:endParaRPr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44" y="5949280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33CC"/>
                </a:solidFill>
              </a:rPr>
              <a:t>10</a:t>
            </a:r>
          </a:p>
          <a:p>
            <a:r>
              <a:rPr lang="en-US" altLang="zh-CN" dirty="0">
                <a:solidFill>
                  <a:srgbClr val="0033CC"/>
                </a:solidFill>
              </a:rPr>
              <a:t>1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45194" y="1927348"/>
            <a:ext cx="3240360" cy="3785652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/>
              <a:t>s=1              </a:t>
            </a:r>
            <a:r>
              <a:rPr lang="en-US" altLang="zh-CN" sz="1600">
                <a:solidFill>
                  <a:srgbClr val="C00000"/>
                </a:solidFill>
              </a:rPr>
              <a:t>#</a:t>
            </a:r>
            <a:r>
              <a:rPr lang="zh-CN" altLang="en-US" sz="1600" dirty="0">
                <a:solidFill>
                  <a:srgbClr val="C00000"/>
                </a:solidFill>
              </a:rPr>
              <a:t>全局变量定义</a:t>
            </a:r>
            <a:endParaRPr lang="zh-CN" altLang="en-US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def</a:t>
            </a:r>
            <a:r>
              <a:rPr lang="en-US" altLang="zh-CN" sz="2000" dirty="0"/>
              <a:t> f1():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FF0000"/>
                </a:solidFill>
              </a:rPr>
              <a:t>global s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s = 10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print(s)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f1()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print(s)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92080" y="5949280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33CC"/>
                </a:solidFill>
              </a:rPr>
              <a:t>10</a:t>
            </a:r>
          </a:p>
          <a:p>
            <a:r>
              <a:rPr lang="en-US" altLang="zh-CN" dirty="0">
                <a:solidFill>
                  <a:srgbClr val="0033CC"/>
                </a:solidFill>
              </a:rPr>
              <a:t>10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9" name="标题 2"/>
          <p:cNvSpPr txBox="1">
            <a:spLocks/>
          </p:cNvSpPr>
          <p:nvPr/>
        </p:nvSpPr>
        <p:spPr bwMode="gray">
          <a:xfrm>
            <a:off x="179513" y="836712"/>
            <a:ext cx="3960440" cy="1090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zh-CN" altLang="en-US" sz="1800" kern="0" dirty="0"/>
              <a:t>如果局部变量和全局变量</a:t>
            </a:r>
            <a:r>
              <a:rPr lang="zh-CN" altLang="en-US" sz="1800" kern="0" dirty="0">
                <a:solidFill>
                  <a:srgbClr val="FF0000"/>
                </a:solidFill>
              </a:rPr>
              <a:t>同名</a:t>
            </a:r>
            <a:r>
              <a:rPr lang="zh-CN" altLang="en-US" sz="1800" kern="0" dirty="0"/>
              <a:t>，在局部量作用范围内，全局量不起作用。</a:t>
            </a:r>
            <a:br>
              <a:rPr lang="en-US" altLang="zh-CN" sz="1800" kern="0" dirty="0"/>
            </a:br>
            <a:r>
              <a:rPr lang="zh-CN" altLang="en-US" sz="1800" kern="0" dirty="0"/>
              <a:t>同名局部量</a:t>
            </a:r>
            <a:r>
              <a:rPr lang="zh-CN" altLang="en-US" sz="1800" kern="0" dirty="0">
                <a:solidFill>
                  <a:srgbClr val="C00000"/>
                </a:solidFill>
              </a:rPr>
              <a:t>屏蔽全局量</a:t>
            </a:r>
            <a:r>
              <a:rPr lang="zh-CN" altLang="en-US" sz="1800" kern="0" dirty="0"/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869583" y="12953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kern="0"/>
              <a:t>局部变量和全局变量</a:t>
            </a:r>
            <a:r>
              <a:rPr lang="zh-CN" altLang="en-US" sz="2800" kern="0">
                <a:solidFill>
                  <a:srgbClr val="FF0000"/>
                </a:solidFill>
              </a:rPr>
              <a:t>同名</a:t>
            </a:r>
            <a:endParaRPr lang="zh-CN" altLang="en-US" sz="2800"/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4355976" y="836712"/>
            <a:ext cx="0" cy="60212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4908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局部变量示例</a:t>
            </a:r>
            <a:r>
              <a:rPr lang="en-US" altLang="zh-CN">
                <a:sym typeface="+mn-ea"/>
              </a:rPr>
              <a:t>——1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55406"/>
            <a:ext cx="9144000" cy="6013954"/>
          </a:xfrm>
        </p:spPr>
        <p:txBody>
          <a:bodyPr>
            <a:noAutofit/>
          </a:bodyPr>
          <a:lstStyle/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 = 3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 f():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x-none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print(x)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本意是先输出全局变量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的值，但是不允许这样做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x-none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 = 5 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有赋值操作，因此在整个作用域内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都是局部变量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x-none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print(x)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sym typeface="+mn-ea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f()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Traceback (most recent call last):</a:t>
            </a: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File "C:/Users/cyj/AppData/Local/Programs/Python/Python312/b.py", line 7, in &lt;module&gt;    f()</a:t>
            </a: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File "C:/Users/cyj/AppData/Local/Programs/Python/Python312/b.py", line 3, in f</a:t>
            </a: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print(x)           #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本意是先输出全局变量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的值，但是不允许这样做</a:t>
            </a: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UnboundLocalError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cannot access local variable 'x' where it is not associated with a value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40A588-A8BA-4707-8C43-ACA793F88AF7}"/>
              </a:ext>
            </a:extLst>
          </p:cNvPr>
          <p:cNvSpPr txBox="1"/>
          <p:nvPr/>
        </p:nvSpPr>
        <p:spPr>
          <a:xfrm>
            <a:off x="2267744" y="1124744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</a:t>
            </a:r>
            <a:r>
              <a:rPr lang="zh-CN" altLang="en-US" dirty="0"/>
              <a:t>该段代码放在文件 </a:t>
            </a:r>
            <a:r>
              <a:rPr lang="en-US" altLang="zh-CN" dirty="0"/>
              <a:t>b.py</a:t>
            </a:r>
            <a:r>
              <a:rPr lang="zh-CN" altLang="en-US" dirty="0"/>
              <a:t>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BDAC21-4060-4475-B0B7-562E5B945310}"/>
              </a:ext>
            </a:extLst>
          </p:cNvPr>
          <p:cNvSpPr txBox="1"/>
          <p:nvPr/>
        </p:nvSpPr>
        <p:spPr>
          <a:xfrm>
            <a:off x="2195736" y="2604390"/>
            <a:ext cx="5688631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在执行函数之前，</a:t>
            </a:r>
            <a:r>
              <a:rPr lang="en-US" altLang="zh-CN" dirty="0"/>
              <a:t>python</a:t>
            </a:r>
            <a:r>
              <a:rPr lang="zh-CN" altLang="en-US" dirty="0"/>
              <a:t>解释器会先分析函数的代码，并认定</a:t>
            </a:r>
            <a:r>
              <a:rPr lang="en-US" altLang="zh-CN" dirty="0"/>
              <a:t>x</a:t>
            </a:r>
            <a:r>
              <a:rPr lang="zh-CN" altLang="en-US" dirty="0"/>
              <a:t>为局部变量（因为没有</a:t>
            </a:r>
            <a:r>
              <a:rPr lang="en-US" altLang="zh-CN" dirty="0"/>
              <a:t>global x</a:t>
            </a:r>
            <a:r>
              <a:rPr lang="zh-CN" altLang="en-US" dirty="0"/>
              <a:t>且有赋值语句），而且在执行函数前就创建了这个变量。所以，在执行</a:t>
            </a:r>
            <a:r>
              <a:rPr lang="en-US" altLang="zh-CN" dirty="0"/>
              <a:t>print(x)</a:t>
            </a:r>
            <a:r>
              <a:rPr lang="zh-CN" altLang="en-US" dirty="0"/>
              <a:t>的时候，因为</a:t>
            </a:r>
            <a:r>
              <a:rPr lang="en-US" altLang="zh-CN" dirty="0"/>
              <a:t>x</a:t>
            </a:r>
            <a:r>
              <a:rPr lang="zh-CN" altLang="en-US" dirty="0"/>
              <a:t>是局部变量，而局部变量</a:t>
            </a:r>
            <a:r>
              <a:rPr lang="en-US" altLang="zh-CN" dirty="0"/>
              <a:t>x</a:t>
            </a:r>
            <a:r>
              <a:rPr lang="zh-CN" altLang="en-US" dirty="0"/>
              <a:t>在那时还没有赋值，所以报错。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8F4F04-60B3-44CF-AD3C-F8DE38270507}"/>
              </a:ext>
            </a:extLst>
          </p:cNvPr>
          <p:cNvSpPr txBox="1"/>
          <p:nvPr/>
        </p:nvSpPr>
        <p:spPr>
          <a:xfrm>
            <a:off x="3563888" y="127686"/>
            <a:ext cx="5400601" cy="646331"/>
          </a:xfrm>
          <a:prstGeom prst="rect">
            <a:avLst/>
          </a:prstGeom>
          <a:solidFill>
            <a:srgbClr val="92D050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不想在一个函数中的变量</a:t>
            </a:r>
            <a:r>
              <a:rPr lang="en-US" altLang="zh-CN" dirty="0"/>
              <a:t>x</a:t>
            </a:r>
            <a:r>
              <a:rPr lang="zh-CN" altLang="en-US" dirty="0"/>
              <a:t>一会儿是全局变量，一会儿是局部变量，容易让人搞混。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0ED5B72-4890-4C0C-AE67-F38FC58CF3FA}"/>
              </a:ext>
            </a:extLst>
          </p:cNvPr>
          <p:cNvCxnSpPr/>
          <p:nvPr/>
        </p:nvCxnSpPr>
        <p:spPr bwMode="auto">
          <a:xfrm>
            <a:off x="6156176" y="774017"/>
            <a:ext cx="648072" cy="9267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2761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局部变量示例</a:t>
            </a:r>
            <a:r>
              <a:rPr lang="en-US" altLang="zh-CN">
                <a:sym typeface="+mn-ea"/>
              </a:rPr>
              <a:t>——2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2587" y="1145105"/>
            <a:ext cx="7886700" cy="4888684"/>
          </a:xfrm>
        </p:spPr>
        <p:txBody>
          <a:bodyPr>
            <a:normAutofit fontScale="92500" lnSpcReduction="10000"/>
          </a:bodyPr>
          <a:lstStyle/>
          <a:p>
            <a:pPr fontAlgn="base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函数内可以使用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global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进行声明，将函数内的变量定义为全局变量。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fontAlgn="base">
              <a:lnSpc>
                <a:spcPct val="150000"/>
              </a:lnSpc>
              <a:spcBef>
                <a:spcPts val="0"/>
              </a:spcBef>
            </a:pP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 f():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global x</a:t>
            </a: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x-none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print(x)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x = 5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print(x)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ym typeface="+mn-ea"/>
              </a:rPr>
              <a:t>x = 3</a:t>
            </a:r>
            <a:endParaRPr lang="zh-CN" altLang="en-US" sz="1800" noProof="1"/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f()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print(x)</a:t>
            </a:r>
          </a:p>
          <a:p>
            <a:pPr marL="0" indent="0" fontAlgn="base"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16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</a:p>
          <a:p>
            <a:pPr marL="0" indent="0" fontAlgn="base"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5</a:t>
            </a:r>
          </a:p>
          <a:p>
            <a:pPr marL="0" indent="0" fontAlgn="base"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noProof="1">
                <a:solidFill>
                  <a:srgbClr val="00B0F0"/>
                </a:solidFill>
                <a:sym typeface="+mn-ea"/>
              </a:rPr>
              <a:t>    5</a:t>
            </a:r>
            <a:endParaRPr lang="en-US" altLang="zh-CN" sz="1600" noProof="1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645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ym typeface="+mn-ea"/>
              </a:rPr>
              <a:t>局部变量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示例</a:t>
            </a:r>
            <a:r>
              <a:rPr lang="en-US" altLang="zh-CN">
                <a:sym typeface="+mn-ea"/>
              </a:rPr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86773" y="1366589"/>
            <a:ext cx="4930902" cy="506828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22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demo():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20000"/>
              </a:lnSpc>
              <a:spcBef>
                <a:spcPct val="0"/>
              </a:spcBef>
              <a:buSzPct val="90000"/>
              <a:buNone/>
            </a:pPr>
            <a:r>
              <a:rPr lang="en-US" altLang="x-none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 = 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20000"/>
              </a:lnSpc>
              <a:spcBef>
                <a:spcPct val="0"/>
              </a:spcBef>
              <a:buSzPct val="90000"/>
              <a:buNone/>
            </a:pPr>
            <a:r>
              <a:rPr lang="en-US" altLang="x-none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 = 4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20000"/>
              </a:lnSpc>
              <a:spcBef>
                <a:spcPct val="0"/>
              </a:spcBef>
              <a:buSzPct val="90000"/>
              <a:buNone/>
            </a:pPr>
            <a:r>
              <a:rPr lang="en-US" altLang="x-none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demo()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3  4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NameError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name ‘x' is not defined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y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NameError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name 'y' is not defined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644902" y="2471455"/>
            <a:ext cx="2320214" cy="40011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1pPr>
            <a:lvl2pPr marL="742950" indent="-28575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2pPr>
            <a:lvl3pPr marL="11430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3pPr>
            <a:lvl4pPr marL="16002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4pPr>
            <a:lvl5pPr marL="20574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在此范围内有效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右大括号 5"/>
          <p:cNvSpPr/>
          <p:nvPr/>
        </p:nvSpPr>
        <p:spPr>
          <a:xfrm>
            <a:off x="4101737" y="1748122"/>
            <a:ext cx="450548" cy="1846776"/>
          </a:xfrm>
          <a:prstGeom prst="rightBrace">
            <a:avLst>
              <a:gd name="adj1" fmla="val 0"/>
              <a:gd name="adj2" fmla="val 51132"/>
            </a:avLst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894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ym typeface="+mn-ea"/>
              </a:rPr>
              <a:t>局部变量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示例</a:t>
            </a:r>
            <a:r>
              <a:rPr lang="en-US" altLang="zh-CN">
                <a:sym typeface="+mn-ea"/>
              </a:rPr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5686" y="1304276"/>
            <a:ext cx="4847299" cy="4150881"/>
          </a:xfrm>
        </p:spPr>
        <p:txBody>
          <a:bodyPr>
            <a:normAutofit/>
          </a:bodyPr>
          <a:lstStyle/>
          <a:p>
            <a:pPr>
              <a:lnSpc>
                <a:spcPct val="21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demo(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1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y = 4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10000"/>
              </a:lnSpc>
              <a:spcBef>
                <a:spcPct val="0"/>
              </a:spcBef>
              <a:buSzPct val="90000"/>
              <a:buNone/>
            </a:pPr>
            <a:r>
              <a:rPr lang="en-US" altLang="x-none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demo(3)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3  4</a:t>
            </a:r>
            <a:endParaRPr lang="en-US" altLang="zh-CN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x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NameError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name ‘x' is not defined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166436" y="2154113"/>
            <a:ext cx="2320214" cy="40011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1pPr>
            <a:lvl2pPr marL="742950" indent="-28575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2pPr>
            <a:lvl3pPr marL="11430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3pPr>
            <a:lvl4pPr marL="16002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4pPr>
            <a:lvl5pPr marL="20574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在此范围内有效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右大括号 5"/>
          <p:cNvSpPr/>
          <p:nvPr/>
        </p:nvSpPr>
        <p:spPr>
          <a:xfrm>
            <a:off x="4699823" y="1794996"/>
            <a:ext cx="400122" cy="1267074"/>
          </a:xfrm>
          <a:prstGeom prst="rightBrac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线形标注 2 6"/>
          <p:cNvSpPr/>
          <p:nvPr/>
        </p:nvSpPr>
        <p:spPr>
          <a:xfrm>
            <a:off x="339635" y="2437635"/>
            <a:ext cx="2013313" cy="893499"/>
          </a:xfrm>
          <a:prstGeom prst="borderCallout2">
            <a:avLst>
              <a:gd name="adj1" fmla="val 8809"/>
              <a:gd name="adj2" fmla="val 98978"/>
              <a:gd name="adj3" fmla="val -30373"/>
              <a:gd name="adj4" fmla="val 103380"/>
              <a:gd name="adj5" fmla="val -49489"/>
              <a:gd name="adj6" fmla="val 17974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形参也是局部变量</a:t>
            </a:r>
          </a:p>
        </p:txBody>
      </p:sp>
      <p:sp>
        <p:nvSpPr>
          <p:cNvPr id="8" name="矩形 7"/>
          <p:cNvSpPr/>
          <p:nvPr/>
        </p:nvSpPr>
        <p:spPr>
          <a:xfrm>
            <a:off x="1429076" y="5805046"/>
            <a:ext cx="5248657" cy="7848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ct val="0"/>
              </a:spcBef>
              <a:buSzPct val="90000"/>
              <a:buFont typeface="Wingdings" panose="05000000000000000000" charset="0"/>
              <a:buChar char="§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执行结束后，局部变量自动删除，不再可以使用。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998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ym typeface="+mn-ea"/>
              </a:rPr>
              <a:t>局部变量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示例</a:t>
            </a:r>
            <a:r>
              <a:rPr lang="en-US" altLang="zh-CN">
                <a:sym typeface="+mn-ea"/>
              </a:rPr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514" y="1679315"/>
            <a:ext cx="3671641" cy="3305467"/>
          </a:xfrm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2500"/>
          </a:bodyPr>
          <a:lstStyle/>
          <a:p>
            <a:pPr>
              <a:lnSpc>
                <a:spcPct val="21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area(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length,width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1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s = length*width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10000"/>
              </a:lnSpc>
              <a:spcBef>
                <a:spcPct val="0"/>
              </a:spcBef>
              <a:buSzPct val="90000"/>
              <a:buNone/>
            </a:pPr>
            <a:r>
              <a:rPr lang="en-US" altLang="x-none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length,width,s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area(3,4)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None/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3  4  12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067911" y="1679315"/>
            <a:ext cx="4659195" cy="3352493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10000"/>
              </a:lnSpc>
              <a:spcBef>
                <a:spcPct val="0"/>
              </a:spcBef>
              <a:buSzPct val="90000"/>
              <a:buFont typeface="Arial" panose="020B0604020202020204" pitchFamily="34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v(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length,width,heigth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10000"/>
              </a:lnSpc>
              <a:spcBef>
                <a:spcPct val="0"/>
              </a:spcBef>
              <a:buSzPct val="90000"/>
              <a:buFont typeface="Arial" panose="020B0604020202020204" pitchFamily="34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volumn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 length*width*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heigth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10000"/>
              </a:lnSpc>
              <a:spcBef>
                <a:spcPct val="0"/>
              </a:spcBef>
              <a:buSzPct val="90000"/>
              <a:buNone/>
            </a:pPr>
            <a:r>
              <a:rPr lang="en-US" altLang="x-none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length,width,height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volumn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Font typeface="Arial" panose="020B0604020202020204" pitchFamily="34" charset="0"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Font typeface="Arial" panose="020B0604020202020204" pitchFamily="34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v(1,2,5)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SzPct val="90000"/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1  2  5  10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93167" y="5724935"/>
            <a:ext cx="4665060" cy="4589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SzPct val="90000"/>
              <a:buFont typeface="Wingdings" panose="05000000000000000000" charset="0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不同作用域内变量名可以相同，互不影响。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352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ym typeface="+mn-ea"/>
              </a:rPr>
              <a:t>全局变量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37276" y="1549636"/>
            <a:ext cx="2065921" cy="517184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x=10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  f1(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):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y = 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 f2(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):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y = 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f1()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f2()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print(x)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zh-CN" altLang="en-US" sz="1600" dirty="0">
                <a:sym typeface="+mn-ea"/>
              </a:rPr>
              <a:t>运行结果如下：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10  1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10  2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166436" y="2154113"/>
            <a:ext cx="2320214" cy="40011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1pPr>
            <a:lvl2pPr marL="742950" indent="-28575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2pPr>
            <a:lvl3pPr marL="11430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3pPr>
            <a:lvl4pPr marL="16002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4pPr>
            <a:lvl5pPr marL="20574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在此范围内有效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右大括号 5"/>
          <p:cNvSpPr/>
          <p:nvPr/>
        </p:nvSpPr>
        <p:spPr>
          <a:xfrm>
            <a:off x="4603197" y="1583731"/>
            <a:ext cx="400122" cy="3501453"/>
          </a:xfrm>
          <a:prstGeom prst="rightBrac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862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ym typeface="+mn-ea"/>
              </a:rPr>
              <a:t>全局变量与局部变量同名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示例</a:t>
            </a:r>
            <a:r>
              <a:rPr lang="en-US" altLang="zh-CN">
                <a:sym typeface="+mn-ea"/>
              </a:rPr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0" y="1016013"/>
            <a:ext cx="2241246" cy="571430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x=10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 f1(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):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x=1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y = 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 f2(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):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x=2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y = 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x-none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f1()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f2()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print(x)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zh-CN" altLang="en-US" sz="1600" dirty="0">
                <a:sym typeface="+mn-ea"/>
              </a:rPr>
              <a:t>运行结果如下：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1   1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2   2</a:t>
            </a:r>
          </a:p>
          <a:p>
            <a:pPr>
              <a:lnSpc>
                <a:spcPct val="110000"/>
              </a:lnSpc>
              <a:spcBef>
                <a:spcPct val="0"/>
              </a:spcBef>
              <a:buSzPct val="90000"/>
              <a:buNone/>
            </a:pP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7952742" y="2930744"/>
            <a:ext cx="1072384" cy="30777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1pPr>
            <a:lvl2pPr marL="742950" indent="-28575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2pPr>
            <a:lvl3pPr marL="11430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3pPr>
            <a:lvl4pPr marL="16002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4pPr>
            <a:lvl5pPr marL="20574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全局变量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7450104" y="1112444"/>
            <a:ext cx="400122" cy="3936017"/>
          </a:xfrm>
          <a:prstGeom prst="rightBrac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4770" y="1549636"/>
            <a:ext cx="3567150" cy="16707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在某个作用域内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任意位置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只要有为变量赋值的操作，该变量在这个作用域内就是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局部变量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右大括号 7"/>
          <p:cNvSpPr/>
          <p:nvPr/>
        </p:nvSpPr>
        <p:spPr>
          <a:xfrm>
            <a:off x="6300191" y="1600470"/>
            <a:ext cx="215252" cy="764451"/>
          </a:xfrm>
          <a:prstGeom prst="rightBrace">
            <a:avLst>
              <a:gd name="adj1" fmla="val 298198"/>
              <a:gd name="adj2" fmla="val 36887"/>
            </a:avLst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右大括号 8"/>
          <p:cNvSpPr/>
          <p:nvPr/>
        </p:nvSpPr>
        <p:spPr>
          <a:xfrm>
            <a:off x="6321092" y="3238521"/>
            <a:ext cx="215252" cy="764451"/>
          </a:xfrm>
          <a:prstGeom prst="rightBrace">
            <a:avLst>
              <a:gd name="adj1" fmla="val 298198"/>
              <a:gd name="adj2" fmla="val 36887"/>
            </a:avLst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602372" y="1729774"/>
            <a:ext cx="986337" cy="30777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1pPr>
            <a:lvl2pPr marL="742950" indent="-28575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2pPr>
            <a:lvl3pPr marL="11430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3pPr>
            <a:lvl4pPr marL="16002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4pPr>
            <a:lvl5pPr marL="20574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6559434" y="3339978"/>
            <a:ext cx="1027268" cy="30777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1pPr>
            <a:lvl2pPr marL="742950" indent="-28575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2pPr>
            <a:lvl3pPr marL="11430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3pPr>
            <a:lvl4pPr marL="16002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4pPr>
            <a:lvl5pPr marL="2057400" indent="-228600" algn="ctr" eaLnBrk="0" hangingPunct="0"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897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51520" y="1500336"/>
            <a:ext cx="4152900" cy="49530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/>
              <a:t>例</a:t>
            </a:r>
            <a:r>
              <a:rPr lang="en-US" altLang="zh-CN" sz="2000" dirty="0"/>
              <a:t>8-7  </a:t>
            </a:r>
            <a:r>
              <a:rPr lang="zh-CN" altLang="en-US" sz="2000" dirty="0"/>
              <a:t>写出程序的输出结果。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x =‘’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def f():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global x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x='ABC'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</a:t>
            </a:r>
            <a:r>
              <a:rPr lang="en-US" altLang="zh-CN" sz="2000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def</a:t>
            </a: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g():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    global x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    x+='</a:t>
            </a:r>
            <a:r>
              <a:rPr lang="en-US" altLang="zh-CN" sz="2000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abc</a:t>
            </a: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'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    return x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return g()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print(f())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/>
              <a:t>程序输出结果如下：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ABCabc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4667572" y="1500336"/>
            <a:ext cx="4152900" cy="49530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/>
              <a:t>例</a:t>
            </a:r>
            <a:r>
              <a:rPr lang="en-US" altLang="zh-CN" sz="2000" dirty="0"/>
              <a:t>8-8</a:t>
            </a:r>
            <a:r>
              <a:rPr lang="zh-CN" altLang="en-US" sz="2000" dirty="0"/>
              <a:t>的程序可以写为：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def</a:t>
            </a: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f():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x='ABC'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</a:t>
            </a:r>
            <a:r>
              <a:rPr lang="en-US" altLang="zh-CN" sz="2000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def</a:t>
            </a: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g():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    nonlocal x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    x+='</a:t>
            </a:r>
            <a:r>
              <a:rPr lang="en-US" altLang="zh-CN" sz="2000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abc</a:t>
            </a: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'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    return x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return g()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en-US" altLang="zh-CN" sz="2000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print(f())</a:t>
            </a:r>
            <a:endParaRPr lang="zh-CN" altLang="en-US" sz="20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zh-CN" altLang="en-US" sz="2000" dirty="0"/>
              <a:t>程序输出结果与例</a:t>
            </a:r>
            <a:r>
              <a:rPr lang="en-US" altLang="zh-CN" sz="2000" dirty="0"/>
              <a:t>8-7</a:t>
            </a:r>
            <a:r>
              <a:rPr lang="zh-CN" altLang="en-US" sz="2000" dirty="0"/>
              <a:t>的输出结果相同。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1520" y="764704"/>
            <a:ext cx="8496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fr-FR" altLang="zh-CN" sz="2000" b="1" dirty="0">
                <a:latin typeface="微软雅黑" pitchFamily="34" charset="-122"/>
                <a:ea typeface="微软雅黑" pitchFamily="34" charset="-122"/>
              </a:rPr>
              <a:t>Python 3.x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引入了</a:t>
            </a:r>
            <a:r>
              <a:rPr lang="fr-FR" altLang="zh-CN" sz="2000" b="1" dirty="0">
                <a:latin typeface="微软雅黑" pitchFamily="34" charset="-122"/>
                <a:ea typeface="微软雅黑" pitchFamily="34" charset="-122"/>
              </a:rPr>
              <a:t>nonlocal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关键字，只要在内层函数中用</a:t>
            </a:r>
            <a:r>
              <a:rPr lang="fr-FR" altLang="zh-CN" sz="2000" b="1" dirty="0">
                <a:latin typeface="微软雅黑" pitchFamily="34" charset="-122"/>
                <a:ea typeface="微软雅黑" pitchFamily="34" charset="-122"/>
              </a:rPr>
              <a:t>nonlocal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语句说明变量，就可以让解释器在外层函数中修改变量的值。</a:t>
            </a:r>
          </a:p>
        </p:txBody>
      </p:sp>
    </p:spTree>
    <p:extLst>
      <p:ext uri="{BB962C8B-B14F-4D97-AF65-F5344CB8AC3E}">
        <p14:creationId xmlns:p14="http://schemas.microsoft.com/office/powerpoint/2010/main" val="388410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</p:bldLst>
  </p:timing>
</p:sld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08D67D16-F09F-4120-9902-8B6E13640965}" vid="{F004A0D0-0AA1-407E-8AAF-2472C67E5ED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3397</TotalTime>
  <Words>1158</Words>
  <Application>Microsoft Office PowerPoint</Application>
  <PresentationFormat>全屏显示(4:3)</PresentationFormat>
  <Paragraphs>206</Paragraphs>
  <Slides>13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微软雅黑</vt:lpstr>
      <vt:lpstr>Arial</vt:lpstr>
      <vt:lpstr>Consolas</vt:lpstr>
      <vt:lpstr>Verdana</vt:lpstr>
      <vt:lpstr>Wingdings</vt:lpstr>
      <vt:lpstr>主题1</vt:lpstr>
      <vt:lpstr>变量作用域</vt:lpstr>
      <vt:lpstr>5.3  变量作用域</vt:lpstr>
      <vt:lpstr>8.5.1  局部变量</vt:lpstr>
      <vt:lpstr>8.5.2  全局变量</vt:lpstr>
      <vt:lpstr>在函数体中，如果要为全局变量重新赋值，可以使用global语句，表明变量是全局变量。</vt:lpstr>
      <vt:lpstr>局部变量示例——1</vt:lpstr>
      <vt:lpstr>局部变量示例——2</vt:lpstr>
      <vt:lpstr>局部变量——示例1</vt:lpstr>
      <vt:lpstr>局部变量——示例2</vt:lpstr>
      <vt:lpstr>局部变量——示例3</vt:lpstr>
      <vt:lpstr>全局变量</vt:lpstr>
      <vt:lpstr>全局变量与局部变量同名——示例1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cyj</cp:lastModifiedBy>
  <cp:revision>181</cp:revision>
  <dcterms:created xsi:type="dcterms:W3CDTF">2016-08-25T03:48:37Z</dcterms:created>
  <dcterms:modified xsi:type="dcterms:W3CDTF">2024-12-09T16:12:17Z</dcterms:modified>
</cp:coreProperties>
</file>