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415" r:id="rId2"/>
    <p:sldId id="395" r:id="rId3"/>
    <p:sldId id="425" r:id="rId4"/>
    <p:sldId id="396" r:id="rId5"/>
    <p:sldId id="426" r:id="rId6"/>
    <p:sldId id="397" r:id="rId7"/>
    <p:sldId id="398" r:id="rId8"/>
    <p:sldId id="399" r:id="rId9"/>
    <p:sldId id="400" r:id="rId10"/>
    <p:sldId id="401" r:id="rId11"/>
    <p:sldId id="402" r:id="rId12"/>
    <p:sldId id="427" r:id="rId13"/>
    <p:sldId id="428" r:id="rId1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5794"/>
    <a:srgbClr val="17385F"/>
    <a:srgbClr val="0033CC"/>
    <a:srgbClr val="0000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2567" autoAdjust="0"/>
  </p:normalViewPr>
  <p:slideViewPr>
    <p:cSldViewPr>
      <p:cViewPr varScale="1">
        <p:scale>
          <a:sx n="114" d="100"/>
          <a:sy n="114" d="100"/>
        </p:scale>
        <p:origin x="150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95E73C-8546-4191-8953-8D133B8AD474}" type="datetimeFigureOut">
              <a:rPr lang="zh-CN" altLang="en-US" smtClean="0"/>
              <a:t>2024/12/10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651E8A-F9F8-4534-B221-B771A591F8DC}" type="slidenum">
              <a:rPr lang="zh-CN" altLang="en-US" smtClean="0"/>
              <a:t>‹#›</a:t>
            </a:fld>
            <a:endParaRPr lang="zh-CN" altLang="en-US"/>
          </a:p>
        </p:txBody>
      </p:sp>
    </p:spTree>
    <p:extLst>
      <p:ext uri="{BB962C8B-B14F-4D97-AF65-F5344CB8AC3E}">
        <p14:creationId xmlns:p14="http://schemas.microsoft.com/office/powerpoint/2010/main" val="3457791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a:solidFill>
                  <a:schemeClr val="tx1"/>
                </a:solidFill>
                <a:effectLst/>
                <a:latin typeface="+mn-lt"/>
                <a:ea typeface="+mn-ea"/>
                <a:cs typeface="+mn-cs"/>
              </a:rPr>
              <a:t>import</a:t>
            </a:r>
            <a:r>
              <a:rPr lang="zh-CN" altLang="en-US" sz="1200" b="0" i="0" kern="1200">
                <a:solidFill>
                  <a:schemeClr val="tx1"/>
                </a:solidFill>
                <a:effectLst/>
                <a:latin typeface="+mn-lt"/>
                <a:ea typeface="+mn-ea"/>
                <a:cs typeface="+mn-cs"/>
              </a:rPr>
              <a:t>的搜索顺序：</a:t>
            </a:r>
          </a:p>
          <a:p>
            <a:r>
              <a:rPr lang="zh-CN" altLang="en-US" sz="1200" b="0" i="0" kern="1200">
                <a:solidFill>
                  <a:schemeClr val="tx1"/>
                </a:solidFill>
                <a:effectLst/>
                <a:latin typeface="+mn-lt"/>
                <a:ea typeface="+mn-ea"/>
                <a:cs typeface="+mn-cs"/>
              </a:rPr>
              <a:t>首先判断这个</a:t>
            </a:r>
            <a:r>
              <a:rPr lang="en-US" altLang="zh-CN" sz="1200" b="0" i="0" kern="1200">
                <a:solidFill>
                  <a:schemeClr val="tx1"/>
                </a:solidFill>
                <a:effectLst/>
                <a:latin typeface="+mn-lt"/>
                <a:ea typeface="+mn-ea"/>
                <a:cs typeface="+mn-cs"/>
              </a:rPr>
              <a:t>module</a:t>
            </a:r>
            <a:r>
              <a:rPr lang="zh-CN" altLang="en-US" sz="1200" b="0" i="0" kern="1200">
                <a:solidFill>
                  <a:schemeClr val="tx1"/>
                </a:solidFill>
                <a:effectLst/>
                <a:latin typeface="+mn-lt"/>
                <a:ea typeface="+mn-ea"/>
                <a:cs typeface="+mn-cs"/>
              </a:rPr>
              <a:t>是不是</a:t>
            </a:r>
            <a:r>
              <a:rPr lang="en-US" altLang="zh-CN" sz="1200" b="0" i="0" kern="1200">
                <a:solidFill>
                  <a:schemeClr val="tx1"/>
                </a:solidFill>
                <a:effectLst/>
                <a:latin typeface="+mn-lt"/>
                <a:ea typeface="+mn-ea"/>
                <a:cs typeface="+mn-cs"/>
              </a:rPr>
              <a:t>built-in</a:t>
            </a:r>
            <a:r>
              <a:rPr lang="zh-CN" altLang="en-US" sz="1200" b="0" i="0" kern="1200">
                <a:solidFill>
                  <a:schemeClr val="tx1"/>
                </a:solidFill>
                <a:effectLst/>
                <a:latin typeface="+mn-lt"/>
                <a:ea typeface="+mn-ea"/>
                <a:cs typeface="+mn-cs"/>
              </a:rPr>
              <a:t>即内建模块，如果是则引入内建模块，如果不是则在一个称为</a:t>
            </a:r>
            <a:r>
              <a:rPr lang="en-US" altLang="zh-CN" sz="1200" b="0" i="0" kern="1200">
                <a:solidFill>
                  <a:schemeClr val="tx1"/>
                </a:solidFill>
                <a:effectLst/>
                <a:latin typeface="+mn-lt"/>
                <a:ea typeface="+mn-ea"/>
                <a:cs typeface="+mn-cs"/>
              </a:rPr>
              <a:t>sys.path</a:t>
            </a:r>
            <a:r>
              <a:rPr lang="zh-CN" altLang="en-US" sz="1200" b="0" i="0" kern="1200">
                <a:solidFill>
                  <a:schemeClr val="tx1"/>
                </a:solidFill>
                <a:effectLst/>
                <a:latin typeface="+mn-lt"/>
                <a:ea typeface="+mn-ea"/>
                <a:cs typeface="+mn-cs"/>
              </a:rPr>
              <a:t>的</a:t>
            </a:r>
            <a:r>
              <a:rPr lang="en-US" altLang="zh-CN" sz="1200" b="0" i="0" kern="1200">
                <a:solidFill>
                  <a:schemeClr val="tx1"/>
                </a:solidFill>
                <a:effectLst/>
                <a:latin typeface="+mn-lt"/>
                <a:ea typeface="+mn-ea"/>
                <a:cs typeface="+mn-cs"/>
              </a:rPr>
              <a:t>list</a:t>
            </a:r>
            <a:r>
              <a:rPr lang="zh-CN" altLang="en-US" sz="1200" b="0" i="0" kern="1200">
                <a:solidFill>
                  <a:schemeClr val="tx1"/>
                </a:solidFill>
                <a:effectLst/>
                <a:latin typeface="+mn-lt"/>
                <a:ea typeface="+mn-ea"/>
                <a:cs typeface="+mn-cs"/>
              </a:rPr>
              <a:t>中寻找</a:t>
            </a:r>
          </a:p>
          <a:p>
            <a:r>
              <a:rPr lang="en-US" altLang="zh-CN" sz="1200" b="0" i="0" kern="1200">
                <a:solidFill>
                  <a:schemeClr val="tx1"/>
                </a:solidFill>
                <a:effectLst/>
                <a:latin typeface="+mn-lt"/>
                <a:ea typeface="+mn-ea"/>
                <a:cs typeface="+mn-cs"/>
              </a:rPr>
              <a:t>sys.path</a:t>
            </a:r>
            <a:r>
              <a:rPr lang="zh-CN" altLang="en-US" sz="1200" b="0" i="0" kern="1200">
                <a:solidFill>
                  <a:schemeClr val="tx1"/>
                </a:solidFill>
                <a:effectLst/>
                <a:latin typeface="+mn-lt"/>
                <a:ea typeface="+mn-ea"/>
                <a:cs typeface="+mn-cs"/>
              </a:rPr>
              <a:t>在</a:t>
            </a:r>
            <a:r>
              <a:rPr lang="en-US" altLang="zh-CN" sz="1200" b="0" i="0" kern="1200">
                <a:solidFill>
                  <a:schemeClr val="tx1"/>
                </a:solidFill>
                <a:effectLst/>
                <a:latin typeface="+mn-lt"/>
                <a:ea typeface="+mn-ea"/>
                <a:cs typeface="+mn-cs"/>
              </a:rPr>
              <a:t>python</a:t>
            </a:r>
            <a:r>
              <a:rPr lang="zh-CN" altLang="en-US" sz="1200" b="0" i="0" kern="1200">
                <a:solidFill>
                  <a:schemeClr val="tx1"/>
                </a:solidFill>
                <a:effectLst/>
                <a:latin typeface="+mn-lt"/>
                <a:ea typeface="+mn-ea"/>
                <a:cs typeface="+mn-cs"/>
              </a:rPr>
              <a:t>脚本执行时动态生成，包括以下</a:t>
            </a:r>
            <a:r>
              <a:rPr lang="en-US" altLang="zh-CN" sz="1200" b="0" i="0" kern="1200">
                <a:solidFill>
                  <a:schemeClr val="tx1"/>
                </a:solidFill>
                <a:effectLst/>
                <a:latin typeface="+mn-lt"/>
                <a:ea typeface="+mn-ea"/>
                <a:cs typeface="+mn-cs"/>
              </a:rPr>
              <a:t>3</a:t>
            </a:r>
            <a:r>
              <a:rPr lang="zh-CN" altLang="en-US" sz="1200" b="0" i="0" kern="1200">
                <a:solidFill>
                  <a:schemeClr val="tx1"/>
                </a:solidFill>
                <a:effectLst/>
                <a:latin typeface="+mn-lt"/>
                <a:ea typeface="+mn-ea"/>
                <a:cs typeface="+mn-cs"/>
              </a:rPr>
              <a:t>个部分：</a:t>
            </a:r>
            <a:endParaRPr lang="en-US" altLang="zh-CN" sz="1200" b="0" i="0" kern="1200">
              <a:solidFill>
                <a:schemeClr val="tx1"/>
              </a:solidFill>
              <a:effectLst/>
              <a:latin typeface="+mn-lt"/>
              <a:ea typeface="+mn-ea"/>
              <a:cs typeface="+mn-cs"/>
            </a:endParaRPr>
          </a:p>
          <a:p>
            <a:r>
              <a:rPr lang="zh-CN" altLang="en-US" sz="1200" b="0" i="0" kern="1200">
                <a:solidFill>
                  <a:schemeClr val="tx1"/>
                </a:solidFill>
                <a:effectLst/>
                <a:latin typeface="+mn-lt"/>
                <a:ea typeface="+mn-ea"/>
                <a:cs typeface="+mn-cs"/>
              </a:rPr>
              <a:t>脚本执行的位置，即当前路径</a:t>
            </a:r>
          </a:p>
          <a:p>
            <a:r>
              <a:rPr lang="zh-CN" altLang="en-US" sz="1200" b="0" i="0" kern="1200">
                <a:solidFill>
                  <a:schemeClr val="tx1"/>
                </a:solidFill>
                <a:effectLst/>
                <a:latin typeface="+mn-lt"/>
                <a:ea typeface="+mn-ea"/>
                <a:cs typeface="+mn-cs"/>
              </a:rPr>
              <a:t>环境变量中的</a:t>
            </a:r>
            <a:r>
              <a:rPr lang="en-US" altLang="zh-CN" sz="1200" b="0" i="0" kern="1200">
                <a:solidFill>
                  <a:schemeClr val="tx1"/>
                </a:solidFill>
                <a:effectLst/>
                <a:latin typeface="+mn-lt"/>
                <a:ea typeface="+mn-ea"/>
                <a:cs typeface="+mn-cs"/>
              </a:rPr>
              <a:t>PYTHONPATH, </a:t>
            </a:r>
            <a:r>
              <a:rPr lang="zh-CN" altLang="en-US" sz="1200" b="0" i="0" kern="1200">
                <a:solidFill>
                  <a:schemeClr val="tx1"/>
                </a:solidFill>
                <a:effectLst/>
                <a:latin typeface="+mn-lt"/>
                <a:ea typeface="+mn-ea"/>
                <a:cs typeface="+mn-cs"/>
              </a:rPr>
              <a:t>即</a:t>
            </a:r>
            <a:r>
              <a:rPr lang="en-US" altLang="zh-CN" sz="1200" b="0" i="0" kern="1200">
                <a:solidFill>
                  <a:schemeClr val="tx1"/>
                </a:solidFill>
                <a:effectLst/>
                <a:latin typeface="+mn-lt"/>
                <a:ea typeface="+mn-ea"/>
                <a:cs typeface="+mn-cs"/>
              </a:rPr>
              <a:t>.bash_profilec.</a:t>
            </a:r>
          </a:p>
          <a:p>
            <a:r>
              <a:rPr lang="zh-CN" altLang="en-US" sz="1200" b="0" i="0" kern="1200">
                <a:solidFill>
                  <a:schemeClr val="tx1"/>
                </a:solidFill>
                <a:effectLst/>
                <a:latin typeface="+mn-lt"/>
                <a:ea typeface="+mn-ea"/>
                <a:cs typeface="+mn-cs"/>
              </a:rPr>
              <a:t>安装</a:t>
            </a:r>
            <a:r>
              <a:rPr lang="en-US" altLang="zh-CN" sz="1200" b="0" i="0" kern="1200">
                <a:solidFill>
                  <a:schemeClr val="tx1"/>
                </a:solidFill>
                <a:effectLst/>
                <a:latin typeface="+mn-lt"/>
                <a:ea typeface="+mn-ea"/>
                <a:cs typeface="+mn-cs"/>
              </a:rPr>
              <a:t>python</a:t>
            </a:r>
            <a:r>
              <a:rPr lang="zh-CN" altLang="en-US" sz="1200" b="0" i="0" kern="1200">
                <a:solidFill>
                  <a:schemeClr val="tx1"/>
                </a:solidFill>
                <a:effectLst/>
                <a:latin typeface="+mn-lt"/>
                <a:ea typeface="+mn-ea"/>
                <a:cs typeface="+mn-cs"/>
              </a:rPr>
              <a:t>时的依赖位置</a:t>
            </a:r>
          </a:p>
          <a:p>
            <a:endParaRPr lang="en-US" altLang="zh-CN"/>
          </a:p>
          <a:p>
            <a:endParaRPr lang="en-US" altLang="zh-CN"/>
          </a:p>
          <a:p>
            <a:r>
              <a:rPr lang="en-US" altLang="zh-CN"/>
              <a:t>sys.path</a:t>
            </a:r>
            <a:r>
              <a:rPr lang="zh-CN" altLang="en-US"/>
              <a:t>显示系统路径</a:t>
            </a:r>
          </a:p>
        </p:txBody>
      </p:sp>
      <p:sp>
        <p:nvSpPr>
          <p:cNvPr id="4" name="灯片编号占位符 3"/>
          <p:cNvSpPr>
            <a:spLocks noGrp="1"/>
          </p:cNvSpPr>
          <p:nvPr>
            <p:ph type="sldNum" sz="quarter" idx="10"/>
          </p:nvPr>
        </p:nvSpPr>
        <p:spPr/>
        <p:txBody>
          <a:bodyPr/>
          <a:lstStyle/>
          <a:p>
            <a:fld id="{EAB1D08E-0BC7-4D68-9E2D-B226E57CB297}" type="slidenum">
              <a:rPr lang="zh-CN" altLang="en-US" smtClean="0"/>
              <a:t>3</a:t>
            </a:fld>
            <a:endParaRPr lang="zh-CN" altLang="en-US"/>
          </a:p>
        </p:txBody>
      </p:sp>
    </p:spTree>
    <p:extLst>
      <p:ext uri="{BB962C8B-B14F-4D97-AF65-F5344CB8AC3E}">
        <p14:creationId xmlns:p14="http://schemas.microsoft.com/office/powerpoint/2010/main" val="1180027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67941" name="AutoShape 2405"/>
          <p:cNvSpPr>
            <a:spLocks noChangeArrowheads="1"/>
          </p:cNvSpPr>
          <p:nvPr/>
        </p:nvSpPr>
        <p:spPr bwMode="gray">
          <a:xfrm>
            <a:off x="0" y="1752600"/>
            <a:ext cx="9144000" cy="2514600"/>
          </a:xfrm>
          <a:prstGeom prst="flowChartDocument">
            <a:avLst/>
          </a:prstGeom>
          <a:ln>
            <a:noFill/>
          </a:ln>
          <a:effectLst>
            <a:glow rad="63500">
              <a:schemeClr val="accent2">
                <a:alpha val="45000"/>
                <a:satMod val="120000"/>
              </a:schemeClr>
            </a:glow>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2">
            <a:schemeClr val="accent2"/>
          </a:fillRef>
          <a:effectRef idx="1">
            <a:schemeClr val="accent2"/>
          </a:effectRef>
          <a:fontRef idx="minor">
            <a:schemeClr val="dk1"/>
          </a:fontRef>
        </p:style>
        <p:txBody>
          <a:bodyPr wrap="none" anchor="ctr"/>
          <a:lstStyle/>
          <a:p>
            <a:endParaRPr lang="zh-CN" altLang="en-US" sz="1350"/>
          </a:p>
        </p:txBody>
      </p:sp>
      <p:sp>
        <p:nvSpPr>
          <p:cNvPr id="67940" name="AutoShape 2404"/>
          <p:cNvSpPr>
            <a:spLocks noChangeArrowheads="1"/>
          </p:cNvSpPr>
          <p:nvPr/>
        </p:nvSpPr>
        <p:spPr bwMode="gray">
          <a:xfrm>
            <a:off x="0" y="304800"/>
            <a:ext cx="9144000" cy="2209800"/>
          </a:xfrm>
          <a:prstGeom prst="flowChartDocumen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8100000" algn="ctr" rotWithShape="0">
                    <a:schemeClr val="bg2"/>
                  </a:outerShdw>
                </a:effectLst>
              </a14:hiddenEffects>
            </a:ext>
          </a:extLst>
        </p:spPr>
        <p:txBody>
          <a:bodyPr wrap="none" anchor="ctr"/>
          <a:lstStyle/>
          <a:p>
            <a:endParaRPr lang="zh-CN" altLang="en-US" sz="1350"/>
          </a:p>
        </p:txBody>
      </p:sp>
      <p:sp>
        <p:nvSpPr>
          <p:cNvPr id="67931" name="AutoShape 2395"/>
          <p:cNvSpPr>
            <a:spLocks noChangeArrowheads="1"/>
          </p:cNvSpPr>
          <p:nvPr/>
        </p:nvSpPr>
        <p:spPr bwMode="gray">
          <a:xfrm>
            <a:off x="0" y="0"/>
            <a:ext cx="9144000" cy="2057400"/>
          </a:xfrm>
          <a:prstGeom prst="flowChartDocument">
            <a:avLst/>
          </a:prstGeom>
          <a:gradFill rotWithShape="0">
            <a:gsLst>
              <a:gs pos="0">
                <a:schemeClr val="accent2"/>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8100000" algn="ctr" rotWithShape="0">
                    <a:schemeClr val="bg2"/>
                  </a:outerShdw>
                </a:effectLst>
              </a14:hiddenEffects>
            </a:ext>
          </a:extLst>
        </p:spPr>
        <p:txBody>
          <a:bodyPr wrap="none" anchor="ctr"/>
          <a:lstStyle/>
          <a:p>
            <a:endParaRPr lang="zh-CN" altLang="en-US" sz="1350"/>
          </a:p>
        </p:txBody>
      </p:sp>
      <p:sp>
        <p:nvSpPr>
          <p:cNvPr id="67930" name="Oval 2394"/>
          <p:cNvSpPr>
            <a:spLocks noChangeArrowheads="1"/>
          </p:cNvSpPr>
          <p:nvPr/>
        </p:nvSpPr>
        <p:spPr bwMode="gray">
          <a:xfrm>
            <a:off x="722313" y="1752600"/>
            <a:ext cx="552450" cy="508000"/>
          </a:xfrm>
          <a:prstGeom prst="ellipse">
            <a:avLst/>
          </a:prstGeom>
          <a:gradFill rotWithShape="0">
            <a:gsLst>
              <a:gs pos="0">
                <a:srgbClr val="86B9FF"/>
              </a:gs>
              <a:gs pos="12000">
                <a:schemeClr val="hlink">
                  <a:alpha val="53000"/>
                </a:schemeClr>
              </a:gs>
              <a:gs pos="100000">
                <a:schemeClr val="accent2"/>
              </a:gs>
            </a:gsLst>
            <a:path path="rect">
              <a:fillToRect r="100000" b="100000"/>
            </a:path>
          </a:gradFill>
          <a:ln>
            <a:noFill/>
          </a:ln>
          <a:effectLst/>
        </p:spPr>
        <p:txBody>
          <a:bodyPr wrap="none" anchor="ctr"/>
          <a:lstStyle/>
          <a:p>
            <a:endParaRPr lang="zh-CN" altLang="en-US" sz="1350"/>
          </a:p>
        </p:txBody>
      </p:sp>
      <p:sp>
        <p:nvSpPr>
          <p:cNvPr id="67934" name="Oval 2398"/>
          <p:cNvSpPr>
            <a:spLocks noChangeArrowheads="1"/>
          </p:cNvSpPr>
          <p:nvPr/>
        </p:nvSpPr>
        <p:spPr bwMode="gray">
          <a:xfrm>
            <a:off x="2971800" y="1773239"/>
            <a:ext cx="230188" cy="207963"/>
          </a:xfrm>
          <a:prstGeom prst="ellipse">
            <a:avLst/>
          </a:prstGeom>
          <a:gradFill rotWithShape="0">
            <a:gsLst>
              <a:gs pos="27000">
                <a:schemeClr val="hlink">
                  <a:alpha val="0"/>
                </a:schemeClr>
              </a:gs>
              <a:gs pos="100000">
                <a:schemeClr val="accent2"/>
              </a:gs>
            </a:gsLst>
            <a:path path="rect">
              <a:fillToRect r="100000" b="100000"/>
            </a:path>
          </a:gradFill>
          <a:ln>
            <a:noFill/>
          </a:ln>
          <a:effectLst/>
        </p:spPr>
        <p:txBody>
          <a:bodyPr wrap="none" anchor="ctr"/>
          <a:lstStyle/>
          <a:p>
            <a:endParaRPr lang="zh-CN" altLang="en-US" sz="1350"/>
          </a:p>
        </p:txBody>
      </p:sp>
      <p:sp>
        <p:nvSpPr>
          <p:cNvPr id="67935" name="Oval 2399"/>
          <p:cNvSpPr>
            <a:spLocks noChangeArrowheads="1"/>
          </p:cNvSpPr>
          <p:nvPr/>
        </p:nvSpPr>
        <p:spPr bwMode="gray">
          <a:xfrm>
            <a:off x="2247901" y="2271713"/>
            <a:ext cx="538163" cy="495300"/>
          </a:xfrm>
          <a:prstGeom prst="ellipse">
            <a:avLst/>
          </a:prstGeom>
          <a:gradFill rotWithShape="0">
            <a:gsLst>
              <a:gs pos="13000">
                <a:schemeClr val="hlink">
                  <a:alpha val="58000"/>
                </a:schemeClr>
              </a:gs>
              <a:gs pos="100000">
                <a:schemeClr val="accent2"/>
              </a:gs>
            </a:gsLst>
            <a:path path="rect">
              <a:fillToRect r="100000" b="100000"/>
            </a:path>
          </a:gradFill>
          <a:ln>
            <a:noFill/>
          </a:ln>
          <a:effectLst/>
        </p:spPr>
        <p:txBody>
          <a:bodyPr wrap="none" anchor="ctr"/>
          <a:lstStyle/>
          <a:p>
            <a:endParaRPr lang="zh-CN" altLang="en-US" sz="1350"/>
          </a:p>
        </p:txBody>
      </p:sp>
      <p:sp>
        <p:nvSpPr>
          <p:cNvPr id="13848" name="Rectangle 536"/>
          <p:cNvSpPr>
            <a:spLocks noGrp="1" noChangeArrowheads="1"/>
          </p:cNvSpPr>
          <p:nvPr>
            <p:ph type="ctrTitle" sz="quarter"/>
          </p:nvPr>
        </p:nvSpPr>
        <p:spPr bwMode="black">
          <a:xfrm>
            <a:off x="210344" y="2519363"/>
            <a:ext cx="8723313" cy="1123950"/>
          </a:xfrm>
        </p:spPr>
        <p:txBody>
          <a:bodyPr/>
          <a:lstStyle>
            <a:lvl1pPr algn="ctr">
              <a:defRPr sz="3600">
                <a:solidFill>
                  <a:schemeClr val="tx1"/>
                </a:solidFill>
                <a:ea typeface="굴림" pitchFamily="50" charset="-127"/>
              </a:defRPr>
            </a:lvl1pPr>
          </a:lstStyle>
          <a:p>
            <a:pPr lvl="0"/>
            <a:r>
              <a:rPr lang="zh-CN" altLang="en-US" noProof="0"/>
              <a:t>单击此处编辑母版标题样式</a:t>
            </a:r>
            <a:endParaRPr lang="en-US" altLang="ko-KR" noProof="0" dirty="0"/>
          </a:p>
        </p:txBody>
      </p:sp>
      <p:sp>
        <p:nvSpPr>
          <p:cNvPr id="15" name="Rectangle 536"/>
          <p:cNvSpPr txBox="1">
            <a:spLocks noChangeArrowheads="1"/>
          </p:cNvSpPr>
          <p:nvPr/>
        </p:nvSpPr>
        <p:spPr bwMode="black">
          <a:xfrm>
            <a:off x="2247901" y="4405858"/>
            <a:ext cx="5295379"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bodyPr>
          <a:lstStyle>
            <a:lvl1pPr algn="r" rtl="0" eaLnBrk="1" fontAlgn="base" hangingPunct="1">
              <a:spcBef>
                <a:spcPct val="0"/>
              </a:spcBef>
              <a:spcAft>
                <a:spcPct val="0"/>
              </a:spcAft>
              <a:defRPr sz="4800" b="1">
                <a:solidFill>
                  <a:schemeClr val="tx1"/>
                </a:solidFill>
                <a:latin typeface="微软雅黑" pitchFamily="34" charset="-122"/>
                <a:ea typeface="굴림" pitchFamily="50" charset="-127"/>
                <a:cs typeface="+mj-cs"/>
              </a:defRPr>
            </a:lvl1pPr>
            <a:lvl2pPr algn="l" rtl="0" eaLnBrk="1" fontAlgn="base" hangingPunct="1">
              <a:spcBef>
                <a:spcPct val="0"/>
              </a:spcBef>
              <a:spcAft>
                <a:spcPct val="0"/>
              </a:spcAft>
              <a:defRPr sz="3200" b="1">
                <a:solidFill>
                  <a:schemeClr val="tx1"/>
                </a:solidFill>
                <a:latin typeface="Verdana" pitchFamily="34" charset="0"/>
              </a:defRPr>
            </a:lvl2pPr>
            <a:lvl3pPr algn="l" rtl="0" eaLnBrk="1" fontAlgn="base" hangingPunct="1">
              <a:spcBef>
                <a:spcPct val="0"/>
              </a:spcBef>
              <a:spcAft>
                <a:spcPct val="0"/>
              </a:spcAft>
              <a:defRPr sz="3200" b="1">
                <a:solidFill>
                  <a:schemeClr val="tx1"/>
                </a:solidFill>
                <a:latin typeface="Verdana" pitchFamily="34" charset="0"/>
              </a:defRPr>
            </a:lvl3pPr>
            <a:lvl4pPr algn="l" rtl="0" eaLnBrk="1" fontAlgn="base" hangingPunct="1">
              <a:spcBef>
                <a:spcPct val="0"/>
              </a:spcBef>
              <a:spcAft>
                <a:spcPct val="0"/>
              </a:spcAft>
              <a:defRPr sz="3200" b="1">
                <a:solidFill>
                  <a:schemeClr val="tx1"/>
                </a:solidFill>
                <a:latin typeface="Verdana" pitchFamily="34" charset="0"/>
              </a:defRPr>
            </a:lvl4pPr>
            <a:lvl5pPr algn="l" rtl="0" eaLnBrk="1" fontAlgn="base" hangingPunct="1">
              <a:spcBef>
                <a:spcPct val="0"/>
              </a:spcBef>
              <a:spcAft>
                <a:spcPct val="0"/>
              </a:spcAft>
              <a:defRPr sz="3200" b="1">
                <a:solidFill>
                  <a:schemeClr val="tx1"/>
                </a:solidFill>
                <a:latin typeface="Verdana" pitchFamily="34" charset="0"/>
              </a:defRPr>
            </a:lvl5pPr>
            <a:lvl6pPr marL="457200" algn="l" rtl="0" eaLnBrk="1" fontAlgn="base" hangingPunct="1">
              <a:spcBef>
                <a:spcPct val="0"/>
              </a:spcBef>
              <a:spcAft>
                <a:spcPct val="0"/>
              </a:spcAft>
              <a:defRPr sz="3200" b="1">
                <a:solidFill>
                  <a:schemeClr val="tx1"/>
                </a:solidFill>
                <a:latin typeface="Verdana" pitchFamily="34" charset="0"/>
              </a:defRPr>
            </a:lvl6pPr>
            <a:lvl7pPr marL="914400" algn="l" rtl="0" eaLnBrk="1" fontAlgn="base" hangingPunct="1">
              <a:spcBef>
                <a:spcPct val="0"/>
              </a:spcBef>
              <a:spcAft>
                <a:spcPct val="0"/>
              </a:spcAft>
              <a:defRPr sz="3200" b="1">
                <a:solidFill>
                  <a:schemeClr val="tx1"/>
                </a:solidFill>
                <a:latin typeface="Verdana" pitchFamily="34" charset="0"/>
              </a:defRPr>
            </a:lvl7pPr>
            <a:lvl8pPr marL="1371600" algn="l" rtl="0" eaLnBrk="1" fontAlgn="base" hangingPunct="1">
              <a:spcBef>
                <a:spcPct val="0"/>
              </a:spcBef>
              <a:spcAft>
                <a:spcPct val="0"/>
              </a:spcAft>
              <a:defRPr sz="3200" b="1">
                <a:solidFill>
                  <a:schemeClr val="tx1"/>
                </a:solidFill>
                <a:latin typeface="Verdana" pitchFamily="34" charset="0"/>
              </a:defRPr>
            </a:lvl8pPr>
            <a:lvl9pPr marL="1828800" algn="l" rtl="0" eaLnBrk="1" fontAlgn="base" hangingPunct="1">
              <a:spcBef>
                <a:spcPct val="0"/>
              </a:spcBef>
              <a:spcAft>
                <a:spcPct val="0"/>
              </a:spcAft>
              <a:defRPr sz="3200" b="1">
                <a:solidFill>
                  <a:schemeClr val="tx1"/>
                </a:solidFill>
                <a:latin typeface="Verdana" pitchFamily="34" charset="0"/>
              </a:defRPr>
            </a:lvl9pPr>
          </a:lstStyle>
          <a:p>
            <a:endParaRPr lang="en-US" altLang="ko-KR" sz="3600" dirty="0"/>
          </a:p>
        </p:txBody>
      </p:sp>
      <p:sp>
        <p:nvSpPr>
          <p:cNvPr id="16" name="Rectangle 536"/>
          <p:cNvSpPr txBox="1">
            <a:spLocks noChangeArrowheads="1"/>
          </p:cNvSpPr>
          <p:nvPr/>
        </p:nvSpPr>
        <p:spPr bwMode="black">
          <a:xfrm>
            <a:off x="2067137" y="4234408"/>
            <a:ext cx="5009728"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bodyPr>
          <a:lstStyle>
            <a:lvl1pPr algn="r" rtl="0" eaLnBrk="1" fontAlgn="base" hangingPunct="1">
              <a:spcBef>
                <a:spcPct val="0"/>
              </a:spcBef>
              <a:spcAft>
                <a:spcPct val="0"/>
              </a:spcAft>
              <a:defRPr sz="4800" b="1">
                <a:solidFill>
                  <a:schemeClr val="tx1"/>
                </a:solidFill>
                <a:latin typeface="微软雅黑" pitchFamily="34" charset="-122"/>
                <a:ea typeface="굴림" pitchFamily="50" charset="-127"/>
                <a:cs typeface="+mj-cs"/>
              </a:defRPr>
            </a:lvl1pPr>
            <a:lvl2pPr algn="l" rtl="0" eaLnBrk="1" fontAlgn="base" hangingPunct="1">
              <a:spcBef>
                <a:spcPct val="0"/>
              </a:spcBef>
              <a:spcAft>
                <a:spcPct val="0"/>
              </a:spcAft>
              <a:defRPr sz="3200" b="1">
                <a:solidFill>
                  <a:schemeClr val="tx1"/>
                </a:solidFill>
                <a:latin typeface="Verdana" pitchFamily="34" charset="0"/>
              </a:defRPr>
            </a:lvl2pPr>
            <a:lvl3pPr algn="l" rtl="0" eaLnBrk="1" fontAlgn="base" hangingPunct="1">
              <a:spcBef>
                <a:spcPct val="0"/>
              </a:spcBef>
              <a:spcAft>
                <a:spcPct val="0"/>
              </a:spcAft>
              <a:defRPr sz="3200" b="1">
                <a:solidFill>
                  <a:schemeClr val="tx1"/>
                </a:solidFill>
                <a:latin typeface="Verdana" pitchFamily="34" charset="0"/>
              </a:defRPr>
            </a:lvl3pPr>
            <a:lvl4pPr algn="l" rtl="0" eaLnBrk="1" fontAlgn="base" hangingPunct="1">
              <a:spcBef>
                <a:spcPct val="0"/>
              </a:spcBef>
              <a:spcAft>
                <a:spcPct val="0"/>
              </a:spcAft>
              <a:defRPr sz="3200" b="1">
                <a:solidFill>
                  <a:schemeClr val="tx1"/>
                </a:solidFill>
                <a:latin typeface="Verdana" pitchFamily="34" charset="0"/>
              </a:defRPr>
            </a:lvl4pPr>
            <a:lvl5pPr algn="l" rtl="0" eaLnBrk="1" fontAlgn="base" hangingPunct="1">
              <a:spcBef>
                <a:spcPct val="0"/>
              </a:spcBef>
              <a:spcAft>
                <a:spcPct val="0"/>
              </a:spcAft>
              <a:defRPr sz="3200" b="1">
                <a:solidFill>
                  <a:schemeClr val="tx1"/>
                </a:solidFill>
                <a:latin typeface="Verdana" pitchFamily="34" charset="0"/>
              </a:defRPr>
            </a:lvl5pPr>
            <a:lvl6pPr marL="457200" algn="l" rtl="0" eaLnBrk="1" fontAlgn="base" hangingPunct="1">
              <a:spcBef>
                <a:spcPct val="0"/>
              </a:spcBef>
              <a:spcAft>
                <a:spcPct val="0"/>
              </a:spcAft>
              <a:defRPr sz="3200" b="1">
                <a:solidFill>
                  <a:schemeClr val="tx1"/>
                </a:solidFill>
                <a:latin typeface="Verdana" pitchFamily="34" charset="0"/>
              </a:defRPr>
            </a:lvl6pPr>
            <a:lvl7pPr marL="914400" algn="l" rtl="0" eaLnBrk="1" fontAlgn="base" hangingPunct="1">
              <a:spcBef>
                <a:spcPct val="0"/>
              </a:spcBef>
              <a:spcAft>
                <a:spcPct val="0"/>
              </a:spcAft>
              <a:defRPr sz="3200" b="1">
                <a:solidFill>
                  <a:schemeClr val="tx1"/>
                </a:solidFill>
                <a:latin typeface="Verdana" pitchFamily="34" charset="0"/>
              </a:defRPr>
            </a:lvl7pPr>
            <a:lvl8pPr marL="1371600" algn="l" rtl="0" eaLnBrk="1" fontAlgn="base" hangingPunct="1">
              <a:spcBef>
                <a:spcPct val="0"/>
              </a:spcBef>
              <a:spcAft>
                <a:spcPct val="0"/>
              </a:spcAft>
              <a:defRPr sz="3200" b="1">
                <a:solidFill>
                  <a:schemeClr val="tx1"/>
                </a:solidFill>
                <a:latin typeface="Verdana" pitchFamily="34" charset="0"/>
              </a:defRPr>
            </a:lvl8pPr>
            <a:lvl9pPr marL="1828800" algn="l" rtl="0" eaLnBrk="1" fontAlgn="base" hangingPunct="1">
              <a:spcBef>
                <a:spcPct val="0"/>
              </a:spcBef>
              <a:spcAft>
                <a:spcPct val="0"/>
              </a:spcAft>
              <a:defRPr sz="3200" b="1">
                <a:solidFill>
                  <a:schemeClr val="tx1"/>
                </a:solidFill>
                <a:latin typeface="Verdana" pitchFamily="34" charset="0"/>
              </a:defRPr>
            </a:lvl9pPr>
          </a:lstStyle>
          <a:p>
            <a:pPr algn="ctr"/>
            <a:endParaRPr lang="en-US" altLang="ko-KR" sz="3600" dirty="0"/>
          </a:p>
        </p:txBody>
      </p:sp>
    </p:spTree>
    <p:extLst>
      <p:ext uri="{BB962C8B-B14F-4D97-AF65-F5344CB8AC3E}">
        <p14:creationId xmlns:p14="http://schemas.microsoft.com/office/powerpoint/2010/main" val="3213586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176837" y="948267"/>
            <a:ext cx="8780896" cy="5698066"/>
          </a:xfrm>
        </p:spPr>
        <p:txBody>
          <a:bodyPr/>
          <a:lstStyle>
            <a:lvl1pPr>
              <a:lnSpc>
                <a:spcPts val="2800"/>
              </a:lnSpc>
              <a:defRPr/>
            </a:lvl1pPr>
            <a:lvl2pPr>
              <a:lnSpc>
                <a:spcPts val="2800"/>
              </a:lnSpc>
              <a:defRPr sz="1800" b="1"/>
            </a:lvl2pPr>
            <a:lvl3pPr>
              <a:lnSpc>
                <a:spcPts val="2800"/>
              </a:lnSpc>
              <a:defRPr/>
            </a:lvl3pPr>
            <a:lvl4pPr>
              <a:lnSpc>
                <a:spcPts val="2800"/>
              </a:lnSpc>
              <a:defRPr/>
            </a:lvl4pPr>
            <a:lvl5pPr>
              <a:lnSpc>
                <a:spcPts val="2800"/>
              </a:lnSpc>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6" name="标题 5"/>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247438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编辑母版文本样式</a:t>
            </a:r>
          </a:p>
        </p:txBody>
      </p:sp>
    </p:spTree>
    <p:extLst>
      <p:ext uri="{BB962C8B-B14F-4D97-AF65-F5344CB8AC3E}">
        <p14:creationId xmlns:p14="http://schemas.microsoft.com/office/powerpoint/2010/main" val="2457544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1143000"/>
            <a:ext cx="4152900" cy="49530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6300" y="1143000"/>
            <a:ext cx="4152900" cy="49530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18280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83568" y="114498"/>
            <a:ext cx="8229600" cy="63832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77580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83569" y="115329"/>
            <a:ext cx="7444736" cy="609600"/>
          </a:xfrm>
        </p:spPr>
        <p:txBody>
          <a:bodyPr/>
          <a:lstStyle/>
          <a:p>
            <a:r>
              <a:rPr lang="zh-CN" altLang="en-US"/>
              <a:t>单击此处编辑母版标题样式</a:t>
            </a:r>
          </a:p>
        </p:txBody>
      </p:sp>
    </p:spTree>
    <p:extLst>
      <p:ext uri="{BB962C8B-B14F-4D97-AF65-F5344CB8AC3E}">
        <p14:creationId xmlns:p14="http://schemas.microsoft.com/office/powerpoint/2010/main" val="2640078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9659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编辑母版文本样式</a:t>
            </a:r>
          </a:p>
        </p:txBody>
      </p:sp>
    </p:spTree>
    <p:extLst>
      <p:ext uri="{BB962C8B-B14F-4D97-AF65-F5344CB8AC3E}">
        <p14:creationId xmlns:p14="http://schemas.microsoft.com/office/powerpoint/2010/main" val="4013927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编辑母版文本样式</a:t>
            </a:r>
          </a:p>
        </p:txBody>
      </p:sp>
      <p:sp>
        <p:nvSpPr>
          <p:cNvPr id="6" name="灯片编号占位符 5"/>
          <p:cNvSpPr>
            <a:spLocks noGrp="1"/>
          </p:cNvSpPr>
          <p:nvPr>
            <p:ph type="sldNum" sz="quarter" idx="11"/>
          </p:nvPr>
        </p:nvSpPr>
        <p:spPr/>
        <p:txBody>
          <a:bodyPr/>
          <a:lstStyle>
            <a:lvl1pPr>
              <a:defRPr/>
            </a:lvl1pPr>
          </a:lstStyle>
          <a:p>
            <a:fld id="{CF00B2EB-ABB7-41F5-A8C2-C05D23AA509A}" type="slidenum">
              <a:rPr lang="zh-CN" altLang="en-US" smtClean="0"/>
              <a:pPr/>
              <a:t>‹#›</a:t>
            </a:fld>
            <a:endParaRPr lang="zh-CN" altLang="en-US"/>
          </a:p>
        </p:txBody>
      </p:sp>
    </p:spTree>
    <p:extLst>
      <p:ext uri="{BB962C8B-B14F-4D97-AF65-F5344CB8AC3E}">
        <p14:creationId xmlns:p14="http://schemas.microsoft.com/office/powerpoint/2010/main" val="2618096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96043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5600" y="152400"/>
            <a:ext cx="2133600" cy="59436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248400" cy="594360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99320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675675" y="127686"/>
            <a:ext cx="7772400" cy="609600"/>
          </a:xfrm>
        </p:spPr>
        <p:txBody>
          <a:bodyPr/>
          <a:lstStyle/>
          <a:p>
            <a:r>
              <a:rPr lang="zh-CN" altLang="en-US"/>
              <a:t>单击此处编辑母版标题样式</a:t>
            </a:r>
          </a:p>
        </p:txBody>
      </p:sp>
      <p:sp>
        <p:nvSpPr>
          <p:cNvPr id="3" name="图表占位符 2"/>
          <p:cNvSpPr>
            <a:spLocks noGrp="1"/>
          </p:cNvSpPr>
          <p:nvPr>
            <p:ph type="chart" idx="1"/>
          </p:nvPr>
        </p:nvSpPr>
        <p:spPr>
          <a:xfrm>
            <a:off x="381000" y="1143000"/>
            <a:ext cx="8458200" cy="4953000"/>
          </a:xfrm>
        </p:spPr>
        <p:txBody>
          <a:bodyPr/>
          <a:lstStyle/>
          <a:p>
            <a:r>
              <a:rPr lang="zh-CN" altLang="en-US"/>
              <a:t>单击图标添加图表</a:t>
            </a:r>
          </a:p>
        </p:txBody>
      </p:sp>
    </p:spTree>
    <p:extLst>
      <p:ext uri="{BB962C8B-B14F-4D97-AF65-F5344CB8AC3E}">
        <p14:creationId xmlns:p14="http://schemas.microsoft.com/office/powerpoint/2010/main" val="17357222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75675" y="127686"/>
            <a:ext cx="7772400" cy="609600"/>
          </a:xfrm>
        </p:spPr>
        <p:txBody>
          <a:bodyPr/>
          <a:lstStyle/>
          <a:p>
            <a:r>
              <a:rPr lang="zh-CN" altLang="en-US"/>
              <a:t>单击此处编辑母版标题样式</a:t>
            </a:r>
          </a:p>
        </p:txBody>
      </p:sp>
      <p:sp>
        <p:nvSpPr>
          <p:cNvPr id="3" name="表格占位符 2"/>
          <p:cNvSpPr>
            <a:spLocks noGrp="1"/>
          </p:cNvSpPr>
          <p:nvPr>
            <p:ph type="tbl" idx="1"/>
          </p:nvPr>
        </p:nvSpPr>
        <p:spPr>
          <a:xfrm>
            <a:off x="381000" y="1143000"/>
            <a:ext cx="8458200" cy="4953000"/>
          </a:xfrm>
        </p:spPr>
        <p:txBody>
          <a:bodyPr/>
          <a:lstStyle/>
          <a:p>
            <a:r>
              <a:rPr lang="zh-CN" altLang="en-US"/>
              <a:t>单击图标添加表格</a:t>
            </a:r>
          </a:p>
        </p:txBody>
      </p:sp>
    </p:spTree>
    <p:extLst>
      <p:ext uri="{BB962C8B-B14F-4D97-AF65-F5344CB8AC3E}">
        <p14:creationId xmlns:p14="http://schemas.microsoft.com/office/powerpoint/2010/main" val="1955949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13848" name="Rectangle 536"/>
          <p:cNvSpPr>
            <a:spLocks noGrp="1" noChangeArrowheads="1"/>
          </p:cNvSpPr>
          <p:nvPr>
            <p:ph type="ctrTitle" sz="quarter"/>
          </p:nvPr>
        </p:nvSpPr>
        <p:spPr bwMode="black">
          <a:xfrm>
            <a:off x="210344" y="2519363"/>
            <a:ext cx="8723313" cy="1123950"/>
          </a:xfrm>
        </p:spPr>
        <p:txBody>
          <a:bodyPr/>
          <a:lstStyle>
            <a:lvl1pPr algn="ctr">
              <a:defRPr sz="3600">
                <a:solidFill>
                  <a:schemeClr val="tx1"/>
                </a:solidFill>
                <a:ea typeface="굴림" pitchFamily="50" charset="-127"/>
              </a:defRPr>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2104231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2534" name="Rectangle 246"/>
          <p:cNvSpPr>
            <a:spLocks noChangeArrowheads="1"/>
          </p:cNvSpPr>
          <p:nvPr/>
        </p:nvSpPr>
        <p:spPr bwMode="gray">
          <a:xfrm>
            <a:off x="0" y="0"/>
            <a:ext cx="9144000" cy="838200"/>
          </a:xfrm>
          <a:prstGeom prst="rect">
            <a:avLst/>
          </a:prstGeom>
          <a:gradFill rotWithShape="0">
            <a:gsLst>
              <a:gs pos="0">
                <a:schemeClr val="hlink"/>
              </a:gs>
              <a:gs pos="100000">
                <a:schemeClr val="hlink">
                  <a:gamma/>
                  <a:tint val="21176"/>
                  <a:invGamma/>
                </a:scheme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2310" name="Rectangle 22"/>
          <p:cNvSpPr>
            <a:spLocks noGrp="1" noChangeArrowheads="1"/>
          </p:cNvSpPr>
          <p:nvPr>
            <p:ph type="body" idx="1"/>
          </p:nvPr>
        </p:nvSpPr>
        <p:spPr bwMode="auto">
          <a:xfrm>
            <a:off x="381000" y="1143000"/>
            <a:ext cx="84582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ko-KR" dirty="0"/>
              <a:t> Click to edit Master text styles</a:t>
            </a:r>
          </a:p>
          <a:p>
            <a:pPr lvl="1"/>
            <a:r>
              <a:rPr lang="en-US" altLang="ko-KR" dirty="0"/>
              <a:t>Second level</a:t>
            </a:r>
          </a:p>
          <a:p>
            <a:pPr lvl="2"/>
            <a:r>
              <a:rPr lang="en-US" altLang="ko-KR" dirty="0"/>
              <a:t>Third level</a:t>
            </a:r>
          </a:p>
          <a:p>
            <a:pPr lvl="3"/>
            <a:r>
              <a:rPr lang="en-US" altLang="ko-KR" dirty="0"/>
              <a:t>Fourth level</a:t>
            </a:r>
          </a:p>
          <a:p>
            <a:pPr lvl="4"/>
            <a:r>
              <a:rPr lang="en-US" altLang="ko-KR" dirty="0"/>
              <a:t>Fifth level</a:t>
            </a:r>
          </a:p>
        </p:txBody>
      </p:sp>
      <p:sp>
        <p:nvSpPr>
          <p:cNvPr id="12313" name="Rectangle 25"/>
          <p:cNvSpPr>
            <a:spLocks noGrp="1" noChangeArrowheads="1"/>
          </p:cNvSpPr>
          <p:nvPr>
            <p:ph type="sldNum" sz="quarter" idx="4"/>
          </p:nvPr>
        </p:nvSpPr>
        <p:spPr bwMode="ltGray">
          <a:xfrm>
            <a:off x="4572000" y="6477000"/>
            <a:ext cx="533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900" b="1">
                <a:solidFill>
                  <a:schemeClr val="hlink"/>
                </a:solidFill>
                <a:latin typeface="+mn-lt"/>
                <a:ea typeface="굴림" pitchFamily="50" charset="-127"/>
              </a:defRPr>
            </a:lvl1pPr>
          </a:lstStyle>
          <a:p>
            <a:fld id="{CF00B2EB-ABB7-41F5-A8C2-C05D23AA509A}" type="slidenum">
              <a:rPr lang="zh-CN" altLang="en-US" smtClean="0"/>
              <a:pPr/>
              <a:t>‹#›</a:t>
            </a:fld>
            <a:endParaRPr lang="zh-CN" altLang="en-US"/>
          </a:p>
        </p:txBody>
      </p:sp>
      <p:sp>
        <p:nvSpPr>
          <p:cNvPr id="12309" name="Rectangle 21"/>
          <p:cNvSpPr>
            <a:spLocks noGrp="1" noChangeArrowheads="1"/>
          </p:cNvSpPr>
          <p:nvPr>
            <p:ph type="title"/>
          </p:nvPr>
        </p:nvSpPr>
        <p:spPr bwMode="gray">
          <a:xfrm>
            <a:off x="683569" y="127686"/>
            <a:ext cx="7444736"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ko-KR"/>
          </a:p>
        </p:txBody>
      </p:sp>
      <p:pic>
        <p:nvPicPr>
          <p:cNvPr id="12548" name="Picture 260" descr="http://astroleaks.lamost.org/wp-content/uploads/2012/03/Logo_Python.pn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0" y="116632"/>
            <a:ext cx="632464" cy="632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2315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rtl="0" eaLnBrk="1" fontAlgn="base" hangingPunct="1">
        <a:spcBef>
          <a:spcPct val="0"/>
        </a:spcBef>
        <a:spcAft>
          <a:spcPct val="0"/>
        </a:spcAft>
        <a:defRPr sz="2400" b="1">
          <a:solidFill>
            <a:schemeClr val="tx1"/>
          </a:solidFill>
          <a:latin typeface="微软雅黑" pitchFamily="34" charset="-122"/>
          <a:ea typeface="微软雅黑" pitchFamily="34" charset="-122"/>
          <a:cs typeface="+mj-cs"/>
        </a:defRPr>
      </a:lvl1pPr>
      <a:lvl2pPr algn="l" rtl="0" eaLnBrk="1" fontAlgn="base" hangingPunct="1">
        <a:spcBef>
          <a:spcPct val="0"/>
        </a:spcBef>
        <a:spcAft>
          <a:spcPct val="0"/>
        </a:spcAft>
        <a:defRPr sz="2400" b="1">
          <a:solidFill>
            <a:schemeClr val="tx1"/>
          </a:solidFill>
          <a:latin typeface="Verdana" pitchFamily="34" charset="0"/>
        </a:defRPr>
      </a:lvl2pPr>
      <a:lvl3pPr algn="l" rtl="0" eaLnBrk="1" fontAlgn="base" hangingPunct="1">
        <a:spcBef>
          <a:spcPct val="0"/>
        </a:spcBef>
        <a:spcAft>
          <a:spcPct val="0"/>
        </a:spcAft>
        <a:defRPr sz="2400" b="1">
          <a:solidFill>
            <a:schemeClr val="tx1"/>
          </a:solidFill>
          <a:latin typeface="Verdana" pitchFamily="34" charset="0"/>
        </a:defRPr>
      </a:lvl3pPr>
      <a:lvl4pPr algn="l" rtl="0" eaLnBrk="1" fontAlgn="base" hangingPunct="1">
        <a:spcBef>
          <a:spcPct val="0"/>
        </a:spcBef>
        <a:spcAft>
          <a:spcPct val="0"/>
        </a:spcAft>
        <a:defRPr sz="2400" b="1">
          <a:solidFill>
            <a:schemeClr val="tx1"/>
          </a:solidFill>
          <a:latin typeface="Verdana" pitchFamily="34" charset="0"/>
        </a:defRPr>
      </a:lvl4pPr>
      <a:lvl5pPr algn="l" rtl="0" eaLnBrk="1" fontAlgn="base" hangingPunct="1">
        <a:spcBef>
          <a:spcPct val="0"/>
        </a:spcBef>
        <a:spcAft>
          <a:spcPct val="0"/>
        </a:spcAft>
        <a:defRPr sz="2400" b="1">
          <a:solidFill>
            <a:schemeClr val="tx1"/>
          </a:solidFill>
          <a:latin typeface="Verdana" pitchFamily="34" charset="0"/>
        </a:defRPr>
      </a:lvl5pPr>
      <a:lvl6pPr marL="342900" algn="l" rtl="0" eaLnBrk="1" fontAlgn="base" hangingPunct="1">
        <a:spcBef>
          <a:spcPct val="0"/>
        </a:spcBef>
        <a:spcAft>
          <a:spcPct val="0"/>
        </a:spcAft>
        <a:defRPr sz="2400" b="1">
          <a:solidFill>
            <a:schemeClr val="tx1"/>
          </a:solidFill>
          <a:latin typeface="Verdana" pitchFamily="34" charset="0"/>
        </a:defRPr>
      </a:lvl6pPr>
      <a:lvl7pPr marL="685800" algn="l" rtl="0" eaLnBrk="1" fontAlgn="base" hangingPunct="1">
        <a:spcBef>
          <a:spcPct val="0"/>
        </a:spcBef>
        <a:spcAft>
          <a:spcPct val="0"/>
        </a:spcAft>
        <a:defRPr sz="2400" b="1">
          <a:solidFill>
            <a:schemeClr val="tx1"/>
          </a:solidFill>
          <a:latin typeface="Verdana" pitchFamily="34" charset="0"/>
        </a:defRPr>
      </a:lvl7pPr>
      <a:lvl8pPr marL="1028700" algn="l" rtl="0" eaLnBrk="1" fontAlgn="base" hangingPunct="1">
        <a:spcBef>
          <a:spcPct val="0"/>
        </a:spcBef>
        <a:spcAft>
          <a:spcPct val="0"/>
        </a:spcAft>
        <a:defRPr sz="2400" b="1">
          <a:solidFill>
            <a:schemeClr val="tx1"/>
          </a:solidFill>
          <a:latin typeface="Verdana" pitchFamily="34" charset="0"/>
        </a:defRPr>
      </a:lvl8pPr>
      <a:lvl9pPr marL="1371600" algn="l" rtl="0" eaLnBrk="1" fontAlgn="base" hangingPunct="1">
        <a:spcBef>
          <a:spcPct val="0"/>
        </a:spcBef>
        <a:spcAft>
          <a:spcPct val="0"/>
        </a:spcAft>
        <a:defRPr sz="2400" b="1">
          <a:solidFill>
            <a:schemeClr val="tx1"/>
          </a:solidFill>
          <a:latin typeface="Verdana" pitchFamily="34" charset="0"/>
        </a:defRPr>
      </a:lvl9pPr>
    </p:titleStyle>
    <p:bodyStyle>
      <a:lvl1pPr marL="257175" indent="-257175" algn="l" rtl="0" eaLnBrk="1" fontAlgn="base" hangingPunct="1">
        <a:lnSpc>
          <a:spcPts val="2800"/>
        </a:lnSpc>
        <a:spcBef>
          <a:spcPct val="20000"/>
        </a:spcBef>
        <a:spcAft>
          <a:spcPct val="0"/>
        </a:spcAft>
        <a:buClr>
          <a:schemeClr val="hlink"/>
        </a:buClr>
        <a:buFont typeface="Wingdings" pitchFamily="2" charset="2"/>
        <a:buChar char="v"/>
        <a:defRPr sz="2000" b="1">
          <a:solidFill>
            <a:schemeClr val="tx1"/>
          </a:solidFill>
          <a:latin typeface="微软雅黑" pitchFamily="34" charset="-122"/>
          <a:ea typeface="微软雅黑" pitchFamily="34" charset="-122"/>
          <a:cs typeface="+mn-cs"/>
        </a:defRPr>
      </a:lvl1pPr>
      <a:lvl2pPr marL="557213" indent="-214313" algn="l" rtl="0" eaLnBrk="1" fontAlgn="base" hangingPunct="1">
        <a:lnSpc>
          <a:spcPts val="2800"/>
        </a:lnSpc>
        <a:spcBef>
          <a:spcPct val="20000"/>
        </a:spcBef>
        <a:spcAft>
          <a:spcPct val="0"/>
        </a:spcAft>
        <a:buClr>
          <a:schemeClr val="accent1"/>
        </a:buClr>
        <a:buSzPct val="60000"/>
        <a:buFont typeface="Wingdings" pitchFamily="2" charset="2"/>
        <a:buChar char="n"/>
        <a:defRPr sz="2000">
          <a:solidFill>
            <a:schemeClr val="tx1"/>
          </a:solidFill>
          <a:latin typeface="微软雅黑" pitchFamily="34" charset="-122"/>
          <a:ea typeface="微软雅黑" pitchFamily="34" charset="-122"/>
        </a:defRPr>
      </a:lvl2pPr>
      <a:lvl3pPr marL="857250" indent="-171450" algn="l" rtl="0" eaLnBrk="1" fontAlgn="base" hangingPunct="1">
        <a:lnSpc>
          <a:spcPts val="2800"/>
        </a:lnSpc>
        <a:spcBef>
          <a:spcPct val="20000"/>
        </a:spcBef>
        <a:spcAft>
          <a:spcPct val="0"/>
        </a:spcAft>
        <a:buClr>
          <a:schemeClr val="accent2"/>
        </a:buClr>
        <a:buSzPct val="60000"/>
        <a:buFont typeface="Wingdings" pitchFamily="2" charset="2"/>
        <a:buChar char="n"/>
        <a:defRPr sz="2000">
          <a:solidFill>
            <a:schemeClr val="tx1"/>
          </a:solidFill>
          <a:latin typeface="微软雅黑" pitchFamily="34" charset="-122"/>
          <a:ea typeface="微软雅黑" pitchFamily="34" charset="-122"/>
        </a:defRPr>
      </a:lvl3pPr>
      <a:lvl4pPr marL="1200150" indent="-171450" algn="l" rtl="0" eaLnBrk="1" fontAlgn="base" hangingPunct="1">
        <a:lnSpc>
          <a:spcPts val="2800"/>
        </a:lnSpc>
        <a:spcBef>
          <a:spcPct val="20000"/>
        </a:spcBef>
        <a:spcAft>
          <a:spcPct val="0"/>
        </a:spcAft>
        <a:buClr>
          <a:schemeClr val="hlink"/>
        </a:buClr>
        <a:buSzPct val="60000"/>
        <a:buFont typeface="Wingdings" pitchFamily="2" charset="2"/>
        <a:buChar char="n"/>
        <a:defRPr sz="1600">
          <a:solidFill>
            <a:schemeClr val="tx1"/>
          </a:solidFill>
          <a:latin typeface="微软雅黑" pitchFamily="34" charset="-122"/>
          <a:ea typeface="微软雅黑" pitchFamily="34" charset="-122"/>
        </a:defRPr>
      </a:lvl4pPr>
      <a:lvl5pPr marL="1543050" indent="-171450" algn="l" rtl="0" eaLnBrk="1" fontAlgn="base" hangingPunct="1">
        <a:lnSpc>
          <a:spcPts val="2800"/>
        </a:lnSpc>
        <a:spcBef>
          <a:spcPct val="20000"/>
        </a:spcBef>
        <a:spcAft>
          <a:spcPct val="0"/>
        </a:spcAft>
        <a:buClr>
          <a:schemeClr val="hlink"/>
        </a:buClr>
        <a:buSzPct val="60000"/>
        <a:buFont typeface="Wingdings" pitchFamily="2" charset="2"/>
        <a:buChar char="n"/>
        <a:defRPr sz="1600">
          <a:solidFill>
            <a:schemeClr val="tx1"/>
          </a:solidFill>
          <a:latin typeface="微软雅黑" pitchFamily="34" charset="-122"/>
          <a:ea typeface="微软雅黑" pitchFamily="34" charset="-122"/>
        </a:defRPr>
      </a:lvl5pPr>
      <a:lvl6pPr marL="18859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6pPr>
      <a:lvl7pPr marL="22288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7pPr>
      <a:lvl8pPr marL="25717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8pPr>
      <a:lvl9pPr marL="29146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sz="quarter"/>
          </p:nvPr>
        </p:nvSpPr>
        <p:spPr/>
        <p:txBody>
          <a:bodyPr/>
          <a:lstStyle/>
          <a:p>
            <a:r>
              <a:rPr lang="zh-CN" altLang="zh-CN" dirty="0"/>
              <a:t>第</a:t>
            </a:r>
            <a:r>
              <a:rPr lang="en-US" altLang="zh-CN" dirty="0"/>
              <a:t>8</a:t>
            </a:r>
            <a:r>
              <a:rPr lang="zh-CN" altLang="zh-CN"/>
              <a:t>章</a:t>
            </a:r>
            <a:r>
              <a:rPr lang="en-US" altLang="zh-CN"/>
              <a:t>  </a:t>
            </a:r>
            <a:r>
              <a:rPr lang="zh-CN" altLang="zh-CN"/>
              <a:t>模块</a:t>
            </a:r>
            <a:endParaRPr lang="zh-CN" altLang="en-US" dirty="0"/>
          </a:p>
        </p:txBody>
      </p:sp>
    </p:spTree>
    <p:extLst>
      <p:ext uri="{BB962C8B-B14F-4D97-AF65-F5344CB8AC3E}">
        <p14:creationId xmlns:p14="http://schemas.microsoft.com/office/powerpoint/2010/main" val="332963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spcAft>
                <a:spcPts val="600"/>
              </a:spcAft>
            </a:pPr>
            <a:r>
              <a:rPr lang="en-US" altLang="zh-CN" kern="1200" dirty="0"/>
              <a:t>8.6.1  </a:t>
            </a:r>
            <a:r>
              <a:rPr lang="zh-CN" altLang="en-US" kern="1200" dirty="0"/>
              <a:t>模块的定义与使用</a:t>
            </a:r>
          </a:p>
          <a:p>
            <a:pPr marL="0" indent="0">
              <a:lnSpc>
                <a:spcPct val="150000"/>
              </a:lnSpc>
              <a:spcAft>
                <a:spcPts val="600"/>
              </a:spcAft>
              <a:buNone/>
            </a:pPr>
            <a:r>
              <a:rPr lang="en-US" altLang="zh-CN" kern="1200" dirty="0"/>
              <a:t>1</a:t>
            </a:r>
            <a:r>
              <a:rPr lang="zh-CN" altLang="en-US" kern="1200" dirty="0"/>
              <a:t>．标准库模块</a:t>
            </a:r>
          </a:p>
          <a:p>
            <a:pPr indent="0">
              <a:lnSpc>
                <a:spcPct val="150000"/>
              </a:lnSpc>
              <a:spcAft>
                <a:spcPts val="600"/>
              </a:spcAft>
              <a:buNone/>
            </a:pPr>
            <a:r>
              <a:rPr lang="zh-CN" altLang="en-US" kern="1200" dirty="0"/>
              <a:t>标准库模块是</a:t>
            </a:r>
            <a:r>
              <a:rPr lang="en-US" altLang="zh-CN" kern="1200" dirty="0"/>
              <a:t>Python</a:t>
            </a:r>
            <a:r>
              <a:rPr lang="zh-CN" altLang="en-US" kern="1200" dirty="0"/>
              <a:t>自带的函数模块，也称为标准链接库。</a:t>
            </a:r>
            <a:r>
              <a:rPr lang="en-US" altLang="zh-CN" kern="1200" dirty="0"/>
              <a:t>Python</a:t>
            </a:r>
            <a:r>
              <a:rPr lang="zh-CN" altLang="en-US" kern="1200" dirty="0"/>
              <a:t>提供了大量的标准库模块，实现了很多常见功能，包括数学运算、字符串处理、操作系统功能、网络和</a:t>
            </a:r>
            <a:r>
              <a:rPr lang="en-US" altLang="zh-CN" kern="1200" dirty="0"/>
              <a:t>Internet</a:t>
            </a:r>
            <a:r>
              <a:rPr lang="zh-CN" altLang="en-US" kern="1200" dirty="0"/>
              <a:t>编程、图形绘制、图形用户界面创建，等等，这些为应用程序开发提供了强大支持。</a:t>
            </a:r>
            <a:endParaRPr lang="en-US" altLang="zh-CN" kern="1200" dirty="0"/>
          </a:p>
          <a:p>
            <a:pPr marL="0" indent="0">
              <a:lnSpc>
                <a:spcPct val="150000"/>
              </a:lnSpc>
              <a:spcAft>
                <a:spcPts val="600"/>
              </a:spcAft>
              <a:buNone/>
            </a:pPr>
            <a:r>
              <a:rPr lang="en-US" altLang="zh-CN" kern="1200" dirty="0"/>
              <a:t>2</a:t>
            </a:r>
            <a:r>
              <a:rPr lang="zh-CN" altLang="en-US" kern="1200" dirty="0"/>
              <a:t>．用户自定义模块</a:t>
            </a:r>
          </a:p>
          <a:p>
            <a:pPr marL="0" indent="0">
              <a:lnSpc>
                <a:spcPct val="150000"/>
              </a:lnSpc>
              <a:spcAft>
                <a:spcPts val="600"/>
              </a:spcAft>
              <a:buNone/>
            </a:pPr>
            <a:r>
              <a:rPr lang="zh-CN" altLang="en-US" kern="1200" dirty="0"/>
              <a:t>用户自定义一个模块就是建立一个</a:t>
            </a:r>
            <a:r>
              <a:rPr lang="en-US" altLang="zh-CN" kern="1200" dirty="0"/>
              <a:t>Python</a:t>
            </a:r>
            <a:r>
              <a:rPr lang="zh-CN" altLang="en-US" kern="1200" dirty="0"/>
              <a:t>程序</a:t>
            </a:r>
            <a:r>
              <a:rPr lang="zh-CN" altLang="en-US" kern="1200"/>
              <a:t>文件。</a:t>
            </a:r>
            <a:endParaRPr lang="zh-CN" altLang="en-US" kern="1200" dirty="0"/>
          </a:p>
          <a:p>
            <a:endParaRPr lang="zh-CN" altLang="en-US" dirty="0"/>
          </a:p>
        </p:txBody>
      </p:sp>
      <p:sp>
        <p:nvSpPr>
          <p:cNvPr id="3" name="标题 2"/>
          <p:cNvSpPr>
            <a:spLocks noGrp="1"/>
          </p:cNvSpPr>
          <p:nvPr>
            <p:ph type="title"/>
          </p:nvPr>
        </p:nvSpPr>
        <p:spPr/>
        <p:txBody>
          <a:bodyPr/>
          <a:lstStyle/>
          <a:p>
            <a:r>
              <a:rPr lang="en-US" altLang="zh-CN" dirty="0">
                <a:solidFill>
                  <a:srgbClr val="245794"/>
                </a:solidFill>
              </a:rPr>
              <a:t>8.6  </a:t>
            </a:r>
            <a:r>
              <a:rPr lang="zh-CN" altLang="en-US" dirty="0">
                <a:solidFill>
                  <a:srgbClr val="245794"/>
                </a:solidFill>
              </a:rPr>
              <a:t>模块</a:t>
            </a:r>
            <a:endParaRPr lang="zh-CN" altLang="en-US" dirty="0"/>
          </a:p>
        </p:txBody>
      </p:sp>
    </p:spTree>
    <p:extLst>
      <p:ext uri="{BB962C8B-B14F-4D97-AF65-F5344CB8AC3E}">
        <p14:creationId xmlns:p14="http://schemas.microsoft.com/office/powerpoint/2010/main" val="16995735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E7F65CA-0EBC-4D9F-9B14-BA2941D0FBE3}"/>
              </a:ext>
            </a:extLst>
          </p:cNvPr>
          <p:cNvPicPr>
            <a:picLocks noChangeAspect="1"/>
          </p:cNvPicPr>
          <p:nvPr/>
        </p:nvPicPr>
        <p:blipFill>
          <a:blip r:embed="rId3"/>
          <a:stretch>
            <a:fillRect/>
          </a:stretch>
        </p:blipFill>
        <p:spPr>
          <a:xfrm>
            <a:off x="179513" y="4408327"/>
            <a:ext cx="3771900" cy="2314575"/>
          </a:xfrm>
          <a:prstGeom prst="rect">
            <a:avLst/>
          </a:prstGeom>
        </p:spPr>
      </p:pic>
      <p:sp>
        <p:nvSpPr>
          <p:cNvPr id="4" name="内容占位符 3"/>
          <p:cNvSpPr>
            <a:spLocks noGrp="1"/>
          </p:cNvSpPr>
          <p:nvPr>
            <p:ph idx="1"/>
          </p:nvPr>
        </p:nvSpPr>
        <p:spPr>
          <a:xfrm>
            <a:off x="73661" y="901501"/>
            <a:ext cx="8596768" cy="3096344"/>
          </a:xfrm>
          <a:solidFill>
            <a:schemeClr val="accent1">
              <a:lumMod val="20000"/>
              <a:lumOff val="80000"/>
            </a:schemeClr>
          </a:solidFill>
        </p:spPr>
        <p:txBody>
          <a:bodyPr>
            <a:normAutofit/>
          </a:bodyPr>
          <a:lstStyle/>
          <a:p>
            <a:pPr marL="685800" indent="-457200" fontAlgn="base">
              <a:lnSpc>
                <a:spcPct val="160000"/>
              </a:lnSpc>
              <a:spcBef>
                <a:spcPct val="0"/>
              </a:spcBef>
              <a:spcAft>
                <a:spcPts val="600"/>
              </a:spcAft>
              <a:buClr>
                <a:srgbClr val="7030A0"/>
              </a:buClr>
              <a:buSzPct val="60000"/>
              <a:buFont typeface="Wingdings" panose="05000000000000000000" pitchFamily="2" charset="2"/>
              <a:buChar char="u"/>
            </a:pPr>
            <a:r>
              <a:rPr lang="en-US" altLang="zh-CN" sz="2400" dirty="0">
                <a:solidFill>
                  <a:srgbClr val="245794"/>
                </a:solidFill>
                <a:latin typeface="+mn-ea"/>
              </a:rPr>
              <a:t>import</a:t>
            </a:r>
            <a:r>
              <a:rPr lang="zh-CN" altLang="en-US" sz="2400" dirty="0">
                <a:solidFill>
                  <a:srgbClr val="245794"/>
                </a:solidFill>
                <a:latin typeface="+mn-ea"/>
              </a:rPr>
              <a:t>  模块名</a:t>
            </a:r>
            <a:endParaRPr lang="en-US" altLang="zh-CN" sz="2400" dirty="0">
              <a:solidFill>
                <a:srgbClr val="245794"/>
              </a:solidFill>
              <a:latin typeface="+mn-ea"/>
            </a:endParaRPr>
          </a:p>
          <a:p>
            <a:pPr marL="1143000" lvl="1" indent="-457200" fontAlgn="base">
              <a:lnSpc>
                <a:spcPct val="160000"/>
              </a:lnSpc>
              <a:spcBef>
                <a:spcPct val="0"/>
              </a:spcBef>
              <a:spcAft>
                <a:spcPts val="600"/>
              </a:spcAft>
              <a:buClr>
                <a:srgbClr val="7030A0"/>
              </a:buClr>
              <a:buSzPct val="60000"/>
              <a:buFont typeface="Calibri" panose="020F0502020204030204" pitchFamily="34" charset="0"/>
              <a:buChar char="→"/>
            </a:pPr>
            <a:r>
              <a:rPr lang="zh-CN" altLang="en-US" sz="2000" dirty="0">
                <a:solidFill>
                  <a:srgbClr val="245794"/>
                </a:solidFill>
                <a:latin typeface="+mn-ea"/>
              </a:rPr>
              <a:t>将</a:t>
            </a:r>
            <a:r>
              <a:rPr lang="en-US" altLang="zh-CN" sz="2000" dirty="0">
                <a:solidFill>
                  <a:srgbClr val="245794"/>
                </a:solidFill>
                <a:latin typeface="+mn-ea"/>
              </a:rPr>
              <a:t>Python</a:t>
            </a:r>
            <a:r>
              <a:rPr lang="zh-CN" altLang="en-US" sz="2000" dirty="0">
                <a:solidFill>
                  <a:srgbClr val="245794"/>
                </a:solidFill>
                <a:latin typeface="+mn-ea"/>
              </a:rPr>
              <a:t>程序文件从磁盘加载到内存。</a:t>
            </a:r>
            <a:r>
              <a:rPr lang="zh-CN" altLang="en-US" sz="2000" dirty="0">
                <a:solidFill>
                  <a:srgbClr val="FF0000"/>
                </a:solidFill>
                <a:latin typeface="+mn-ea"/>
              </a:rPr>
              <a:t>（注：导入时，模块文件名不能加扩展名“</a:t>
            </a:r>
            <a:r>
              <a:rPr lang="en-US" altLang="zh-CN" sz="2000" dirty="0">
                <a:solidFill>
                  <a:srgbClr val="FF0000"/>
                </a:solidFill>
                <a:latin typeface="+mn-ea"/>
              </a:rPr>
              <a:t>.</a:t>
            </a:r>
            <a:r>
              <a:rPr lang="en-US" altLang="zh-CN" sz="2000" dirty="0" err="1">
                <a:solidFill>
                  <a:srgbClr val="FF0000"/>
                </a:solidFill>
                <a:latin typeface="+mn-ea"/>
              </a:rPr>
              <a:t>py</a:t>
            </a:r>
            <a:r>
              <a:rPr lang="en-US" altLang="zh-CN" sz="2000" dirty="0">
                <a:solidFill>
                  <a:srgbClr val="FF0000"/>
                </a:solidFill>
                <a:latin typeface="+mn-ea"/>
              </a:rPr>
              <a:t>” </a:t>
            </a:r>
            <a:r>
              <a:rPr lang="zh-CN" altLang="en-US" sz="2000" dirty="0">
                <a:solidFill>
                  <a:srgbClr val="FF0000"/>
                </a:solidFill>
                <a:latin typeface="+mn-ea"/>
              </a:rPr>
              <a:t>）</a:t>
            </a:r>
            <a:endParaRPr lang="en-US" altLang="zh-CN" sz="2000" dirty="0">
              <a:solidFill>
                <a:srgbClr val="FF0000"/>
              </a:solidFill>
              <a:latin typeface="+mn-ea"/>
            </a:endParaRPr>
          </a:p>
          <a:p>
            <a:pPr marL="1143000" lvl="1" indent="-457200" fontAlgn="base">
              <a:lnSpc>
                <a:spcPct val="160000"/>
              </a:lnSpc>
              <a:spcBef>
                <a:spcPct val="0"/>
              </a:spcBef>
              <a:spcAft>
                <a:spcPts val="600"/>
              </a:spcAft>
              <a:buClr>
                <a:srgbClr val="7030A0"/>
              </a:buClr>
              <a:buSzPct val="60000"/>
              <a:buFont typeface="Calibri" panose="020F0502020204030204" pitchFamily="34" charset="0"/>
              <a:buChar char="→"/>
            </a:pPr>
            <a:r>
              <a:rPr lang="zh-CN" altLang="en-US" sz="2000" dirty="0">
                <a:solidFill>
                  <a:srgbClr val="FF0000"/>
                </a:solidFill>
                <a:latin typeface="+mn-ea"/>
              </a:rPr>
              <a:t>第一次</a:t>
            </a:r>
            <a:r>
              <a:rPr lang="zh-CN" altLang="en-US" sz="2000" dirty="0">
                <a:solidFill>
                  <a:srgbClr val="245794"/>
                </a:solidFill>
                <a:latin typeface="+mn-ea"/>
              </a:rPr>
              <a:t>加载的同时执行程序</a:t>
            </a:r>
            <a:endParaRPr lang="en-US" altLang="zh-CN" sz="2000" dirty="0">
              <a:solidFill>
                <a:srgbClr val="245794"/>
              </a:solidFill>
              <a:latin typeface="+mn-ea"/>
            </a:endParaRPr>
          </a:p>
          <a:p>
            <a:pPr marL="1143000" lvl="1" indent="-457200" fontAlgn="base">
              <a:lnSpc>
                <a:spcPct val="160000"/>
              </a:lnSpc>
              <a:spcBef>
                <a:spcPct val="0"/>
              </a:spcBef>
              <a:spcAft>
                <a:spcPts val="600"/>
              </a:spcAft>
              <a:buClr>
                <a:srgbClr val="7030A0"/>
              </a:buClr>
              <a:buSzPct val="60000"/>
              <a:buFont typeface="Calibri" panose="020F0502020204030204" pitchFamily="34" charset="0"/>
              <a:buChar char="→"/>
            </a:pPr>
            <a:r>
              <a:rPr lang="zh-CN" altLang="en-US" sz="2000" dirty="0">
                <a:solidFill>
                  <a:srgbClr val="245794"/>
                </a:solidFill>
                <a:latin typeface="+mn-ea"/>
              </a:rPr>
              <a:t>若再次执行程序，需要调用</a:t>
            </a:r>
            <a:r>
              <a:rPr lang="en-US" altLang="zh-CN" sz="2000" dirty="0" err="1">
                <a:solidFill>
                  <a:srgbClr val="245794"/>
                </a:solidFill>
                <a:latin typeface="+mn-ea"/>
              </a:rPr>
              <a:t>importlib</a:t>
            </a:r>
            <a:r>
              <a:rPr lang="zh-CN" altLang="en-US" sz="2000" dirty="0">
                <a:solidFill>
                  <a:srgbClr val="245794"/>
                </a:solidFill>
                <a:latin typeface="+mn-ea"/>
              </a:rPr>
              <a:t>库的</a:t>
            </a:r>
            <a:r>
              <a:rPr lang="en-US" altLang="zh-CN" sz="2000" dirty="0">
                <a:solidFill>
                  <a:srgbClr val="245794"/>
                </a:solidFill>
                <a:latin typeface="+mn-ea"/>
              </a:rPr>
              <a:t>reload</a:t>
            </a:r>
            <a:r>
              <a:rPr lang="zh-CN" altLang="en-US" sz="2000" dirty="0">
                <a:solidFill>
                  <a:srgbClr val="245794"/>
                </a:solidFill>
                <a:latin typeface="+mn-ea"/>
              </a:rPr>
              <a:t>函数</a:t>
            </a:r>
            <a:endParaRPr lang="en-US" altLang="zh-CN" sz="2000" dirty="0">
              <a:solidFill>
                <a:srgbClr val="245794"/>
              </a:solidFill>
              <a:latin typeface="+mn-ea"/>
            </a:endParaRPr>
          </a:p>
        </p:txBody>
      </p:sp>
      <p:cxnSp>
        <p:nvCxnSpPr>
          <p:cNvPr id="9" name="曲线连接符 8"/>
          <p:cNvCxnSpPr>
            <a:cxnSpLocks/>
          </p:cNvCxnSpPr>
          <p:nvPr/>
        </p:nvCxnSpPr>
        <p:spPr>
          <a:xfrm rot="5400000">
            <a:off x="433607" y="3566498"/>
            <a:ext cx="1395570" cy="400495"/>
          </a:xfrm>
          <a:prstGeom prst="curvedConnector3">
            <a:avLst>
              <a:gd name="adj1" fmla="val 50000"/>
            </a:avLst>
          </a:prstGeom>
          <a:ln>
            <a:tailEnd type="triangle"/>
          </a:ln>
        </p:spPr>
        <p:style>
          <a:lnRef idx="3">
            <a:schemeClr val="accent2"/>
          </a:lnRef>
          <a:fillRef idx="0">
            <a:schemeClr val="accent2"/>
          </a:fillRef>
          <a:effectRef idx="2">
            <a:schemeClr val="accent2"/>
          </a:effectRef>
          <a:fontRef idx="minor">
            <a:schemeClr val="tx1"/>
          </a:fontRef>
        </p:style>
      </p:cxnSp>
      <p:sp>
        <p:nvSpPr>
          <p:cNvPr id="22" name="文本框 21"/>
          <p:cNvSpPr txBox="1"/>
          <p:nvPr/>
        </p:nvSpPr>
        <p:spPr>
          <a:xfrm>
            <a:off x="3905535" y="5050497"/>
            <a:ext cx="2702248" cy="369332"/>
          </a:xfrm>
          <a:prstGeom prst="rect">
            <a:avLst/>
          </a:prstGeom>
          <a:solidFill>
            <a:schemeClr val="accent1">
              <a:lumMod val="20000"/>
              <a:lumOff val="80000"/>
            </a:schemeClr>
          </a:solidFill>
        </p:spPr>
        <p:txBody>
          <a:bodyPr wrap="square" rtlCol="0">
            <a:spAutoFit/>
          </a:bodyPr>
          <a:lstStyle/>
          <a:p>
            <a:r>
              <a:rPr lang="en-US" altLang="zh-CN" dirty="0">
                <a:solidFill>
                  <a:srgbClr val="00B050"/>
                </a:solidFill>
              </a:rPr>
              <a:t>#</a:t>
            </a:r>
            <a:r>
              <a:rPr lang="zh-CN" altLang="en-US" dirty="0">
                <a:solidFill>
                  <a:srgbClr val="00B050"/>
                </a:solidFill>
              </a:rPr>
              <a:t>重新执行</a:t>
            </a:r>
            <a:r>
              <a:rPr lang="en-US" altLang="zh-CN" dirty="0">
                <a:solidFill>
                  <a:srgbClr val="00B050"/>
                </a:solidFill>
              </a:rPr>
              <a:t>hello.py</a:t>
            </a:r>
            <a:r>
              <a:rPr lang="zh-CN" altLang="en-US" dirty="0">
                <a:solidFill>
                  <a:srgbClr val="00B050"/>
                </a:solidFill>
              </a:rPr>
              <a:t>文件</a:t>
            </a:r>
          </a:p>
        </p:txBody>
      </p:sp>
      <p:sp>
        <p:nvSpPr>
          <p:cNvPr id="23" name="文本框 22"/>
          <p:cNvSpPr txBox="1"/>
          <p:nvPr/>
        </p:nvSpPr>
        <p:spPr>
          <a:xfrm>
            <a:off x="3905535" y="4534141"/>
            <a:ext cx="2554952" cy="369332"/>
          </a:xfrm>
          <a:prstGeom prst="rect">
            <a:avLst/>
          </a:prstGeom>
          <a:solidFill>
            <a:schemeClr val="accent1">
              <a:lumMod val="20000"/>
              <a:lumOff val="80000"/>
            </a:schemeClr>
          </a:solidFill>
        </p:spPr>
        <p:txBody>
          <a:bodyPr wrap="square" rtlCol="0">
            <a:spAutoFit/>
          </a:bodyPr>
          <a:lstStyle/>
          <a:p>
            <a:r>
              <a:rPr lang="en-US" altLang="zh-CN" dirty="0">
                <a:solidFill>
                  <a:srgbClr val="00B050"/>
                </a:solidFill>
              </a:rPr>
              <a:t>#</a:t>
            </a:r>
            <a:r>
              <a:rPr lang="zh-CN" altLang="en-US" dirty="0">
                <a:solidFill>
                  <a:srgbClr val="00B050"/>
                </a:solidFill>
              </a:rPr>
              <a:t>加载</a:t>
            </a:r>
            <a:r>
              <a:rPr lang="en-US" altLang="zh-CN" dirty="0" err="1">
                <a:solidFill>
                  <a:srgbClr val="00B050"/>
                </a:solidFill>
              </a:rPr>
              <a:t>importlib</a:t>
            </a:r>
            <a:r>
              <a:rPr lang="zh-CN" altLang="en-US" dirty="0">
                <a:solidFill>
                  <a:srgbClr val="00B050"/>
                </a:solidFill>
              </a:rPr>
              <a:t>库文件</a:t>
            </a:r>
          </a:p>
        </p:txBody>
      </p:sp>
      <p:cxnSp>
        <p:nvCxnSpPr>
          <p:cNvPr id="26" name="直接箭头连接符 25"/>
          <p:cNvCxnSpPr>
            <a:cxnSpLocks/>
          </p:cNvCxnSpPr>
          <p:nvPr/>
        </p:nvCxnSpPr>
        <p:spPr>
          <a:xfrm flipH="1">
            <a:off x="2475466" y="4738721"/>
            <a:ext cx="1421767" cy="992883"/>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cxnSpLocks/>
            <a:stCxn id="22" idx="1"/>
          </p:cNvCxnSpPr>
          <p:nvPr/>
        </p:nvCxnSpPr>
        <p:spPr>
          <a:xfrm flipH="1">
            <a:off x="2843808" y="5235163"/>
            <a:ext cx="1061727" cy="746774"/>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905535" y="4038995"/>
            <a:ext cx="1863663" cy="369332"/>
          </a:xfrm>
          <a:prstGeom prst="rect">
            <a:avLst/>
          </a:prstGeom>
          <a:solidFill>
            <a:schemeClr val="accent1">
              <a:lumMod val="20000"/>
              <a:lumOff val="80000"/>
            </a:schemeClr>
          </a:solidFill>
        </p:spPr>
        <p:txBody>
          <a:bodyPr wrap="square" rtlCol="0">
            <a:spAutoFit/>
          </a:bodyPr>
          <a:lstStyle/>
          <a:p>
            <a:r>
              <a:rPr lang="en-US" altLang="zh-CN" dirty="0">
                <a:solidFill>
                  <a:srgbClr val="00B050"/>
                </a:solidFill>
              </a:rPr>
              <a:t>#</a:t>
            </a:r>
            <a:r>
              <a:rPr lang="zh-CN" altLang="en-US" dirty="0">
                <a:solidFill>
                  <a:srgbClr val="00B050"/>
                </a:solidFill>
              </a:rPr>
              <a:t>再次执行无效</a:t>
            </a:r>
          </a:p>
        </p:txBody>
      </p:sp>
      <p:cxnSp>
        <p:nvCxnSpPr>
          <p:cNvPr id="36" name="直接箭头连接符 35"/>
          <p:cNvCxnSpPr>
            <a:cxnSpLocks/>
          </p:cNvCxnSpPr>
          <p:nvPr/>
        </p:nvCxnSpPr>
        <p:spPr>
          <a:xfrm flipH="1">
            <a:off x="2339752" y="4254894"/>
            <a:ext cx="1593160" cy="1046314"/>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2987047" y="116632"/>
            <a:ext cx="1620957" cy="523220"/>
          </a:xfrm>
          <a:prstGeom prst="rect">
            <a:avLst/>
          </a:prstGeom>
        </p:spPr>
        <p:txBody>
          <a:bodyPr wrap="none">
            <a:spAutoFit/>
          </a:bodyPr>
          <a:lstStyle/>
          <a:p>
            <a:r>
              <a:rPr lang="zh-CN" altLang="en-US" sz="2800" b="1">
                <a:latin typeface="微软雅黑" pitchFamily="34" charset="-122"/>
                <a:ea typeface="微软雅黑" pitchFamily="34" charset="-122"/>
              </a:rPr>
              <a:t>导入模块</a:t>
            </a:r>
            <a:endParaRPr lang="zh-CN" altLang="en-US" sz="2800"/>
          </a:p>
        </p:txBody>
      </p:sp>
      <p:sp>
        <p:nvSpPr>
          <p:cNvPr id="18" name="矩形 17"/>
          <p:cNvSpPr/>
          <p:nvPr/>
        </p:nvSpPr>
        <p:spPr>
          <a:xfrm>
            <a:off x="6681050" y="126307"/>
            <a:ext cx="1420582" cy="584775"/>
          </a:xfrm>
          <a:prstGeom prst="rect">
            <a:avLst/>
          </a:prstGeom>
        </p:spPr>
        <p:style>
          <a:lnRef idx="3">
            <a:schemeClr val="lt1"/>
          </a:lnRef>
          <a:fillRef idx="1">
            <a:schemeClr val="accent6"/>
          </a:fillRef>
          <a:effectRef idx="1">
            <a:schemeClr val="accent6"/>
          </a:effectRef>
          <a:fontRef idx="minor">
            <a:schemeClr val="lt1"/>
          </a:fontRef>
        </p:style>
        <p:txBody>
          <a:bodyPr wrap="none" lIns="91440" tIns="45720" rIns="91440" bIns="45720">
            <a:spAutoFit/>
          </a:bodyPr>
          <a:lstStyle/>
          <a:p>
            <a:pPr algn="ctr"/>
            <a:r>
              <a:rPr lang="zh-CN" altLang="en-US" sz="3200" b="1">
                <a:ln w="13462">
                  <a:solidFill>
                    <a:schemeClr val="bg1"/>
                  </a:solidFill>
                  <a:prstDash val="solid"/>
                </a:ln>
                <a:solidFill>
                  <a:srgbClr val="FF0000"/>
                </a:solidFill>
                <a:effectLst>
                  <a:outerShdw dist="38100" dir="2700000" algn="bl" rotWithShape="0">
                    <a:schemeClr val="accent5"/>
                  </a:outerShdw>
                </a:effectLst>
              </a:rPr>
              <a:t>方法一</a:t>
            </a:r>
          </a:p>
        </p:txBody>
      </p:sp>
      <p:sp>
        <p:nvSpPr>
          <p:cNvPr id="2" name="矩形 1"/>
          <p:cNvSpPr/>
          <p:nvPr/>
        </p:nvSpPr>
        <p:spPr>
          <a:xfrm>
            <a:off x="3270923" y="5435558"/>
            <a:ext cx="5325497" cy="1323439"/>
          </a:xfrm>
          <a:prstGeom prst="rect">
            <a:avLst/>
          </a:prstGeom>
          <a:noFill/>
        </p:spPr>
        <p:txBody>
          <a:bodyPr wrap="none" lIns="91440" tIns="45720" rIns="91440" bIns="45720">
            <a:spAutoFit/>
          </a:bodyPr>
          <a:lstStyle/>
          <a:p>
            <a:pPr algn="ctr"/>
            <a:r>
              <a:rPr lang="en-US" altLang="zh-CN" sz="8000" b="1" cap="none" spc="0" dirty="0">
                <a:ln w="22225">
                  <a:solidFill>
                    <a:schemeClr val="accent2"/>
                  </a:solidFill>
                  <a:prstDash val="solid"/>
                </a:ln>
                <a:solidFill>
                  <a:schemeClr val="accent2">
                    <a:lumMod val="40000"/>
                    <a:lumOff val="60000"/>
                  </a:schemeClr>
                </a:solidFill>
                <a:effectLst/>
              </a:rPr>
              <a:t>reload</a:t>
            </a:r>
            <a:r>
              <a:rPr lang="zh-CN" altLang="en-US" sz="8000" b="1" cap="none" spc="0" dirty="0">
                <a:ln w="22225">
                  <a:solidFill>
                    <a:schemeClr val="accent2"/>
                  </a:solidFill>
                  <a:prstDash val="solid"/>
                </a:ln>
                <a:solidFill>
                  <a:schemeClr val="accent2">
                    <a:lumMod val="40000"/>
                    <a:lumOff val="60000"/>
                  </a:schemeClr>
                </a:solidFill>
                <a:effectLst/>
              </a:rPr>
              <a:t>不考</a:t>
            </a:r>
          </a:p>
        </p:txBody>
      </p:sp>
      <p:sp>
        <p:nvSpPr>
          <p:cNvPr id="25" name="文本框 24">
            <a:extLst>
              <a:ext uri="{FF2B5EF4-FFF2-40B4-BE49-F238E27FC236}">
                <a16:creationId xmlns:a16="http://schemas.microsoft.com/office/drawing/2014/main" id="{AE055BA2-136D-494B-8D36-1B11445B7EBC}"/>
              </a:ext>
            </a:extLst>
          </p:cNvPr>
          <p:cNvSpPr txBox="1"/>
          <p:nvPr/>
        </p:nvSpPr>
        <p:spPr>
          <a:xfrm>
            <a:off x="6885072" y="4749268"/>
            <a:ext cx="2079415" cy="646331"/>
          </a:xfrm>
          <a:prstGeom prst="rect">
            <a:avLst/>
          </a:prstGeom>
          <a:solidFill>
            <a:srgbClr val="FFC000"/>
          </a:solidFill>
          <a:ln>
            <a:solidFill>
              <a:schemeClr val="tx1"/>
            </a:solidFill>
          </a:ln>
        </p:spPr>
        <p:txBody>
          <a:bodyPr wrap="none" rtlCol="0">
            <a:spAutoFit/>
          </a:bodyPr>
          <a:lstStyle/>
          <a:p>
            <a:r>
              <a:rPr lang="en-US" altLang="zh-CN" dirty="0"/>
              <a:t>print('</a:t>
            </a:r>
            <a:r>
              <a:rPr lang="en-US" altLang="zh-CN" dirty="0" err="1"/>
              <a:t>Hello,world</a:t>
            </a:r>
            <a:r>
              <a:rPr lang="en-US" altLang="zh-CN" dirty="0"/>
              <a:t>!')</a:t>
            </a:r>
          </a:p>
          <a:p>
            <a:r>
              <a:rPr lang="en-US" altLang="zh-CN" dirty="0"/>
              <a:t>print(1.75)</a:t>
            </a:r>
            <a:endParaRPr lang="zh-CN" altLang="en-US" dirty="0"/>
          </a:p>
        </p:txBody>
      </p:sp>
      <p:sp>
        <p:nvSpPr>
          <p:cNvPr id="31" name="文本框 30">
            <a:extLst>
              <a:ext uri="{FF2B5EF4-FFF2-40B4-BE49-F238E27FC236}">
                <a16:creationId xmlns:a16="http://schemas.microsoft.com/office/drawing/2014/main" id="{153879DF-6A9F-4611-A94E-C08F2F5091A7}"/>
              </a:ext>
            </a:extLst>
          </p:cNvPr>
          <p:cNvSpPr txBox="1"/>
          <p:nvPr/>
        </p:nvSpPr>
        <p:spPr>
          <a:xfrm>
            <a:off x="6816834" y="4385717"/>
            <a:ext cx="1272976" cy="369332"/>
          </a:xfrm>
          <a:prstGeom prst="rect">
            <a:avLst/>
          </a:prstGeom>
          <a:noFill/>
        </p:spPr>
        <p:txBody>
          <a:bodyPr wrap="square">
            <a:spAutoFit/>
          </a:bodyPr>
          <a:lstStyle/>
          <a:p>
            <a:r>
              <a:rPr lang="en-US" altLang="zh-CN" dirty="0"/>
              <a:t>hello.py</a:t>
            </a:r>
          </a:p>
        </p:txBody>
      </p:sp>
    </p:spTree>
    <p:extLst>
      <p:ext uri="{BB962C8B-B14F-4D97-AF65-F5344CB8AC3E}">
        <p14:creationId xmlns:p14="http://schemas.microsoft.com/office/powerpoint/2010/main" val="2370947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inVertic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left)">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up)">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wipe(left)">
                                      <p:cBhvr>
                                        <p:cTn id="25" dur="500"/>
                                        <p:tgtEl>
                                          <p:spTgt spid="34"/>
                                        </p:tgtEl>
                                      </p:cBhvr>
                                    </p:animEffect>
                                  </p:childTnLst>
                                </p:cTn>
                              </p:par>
                              <p:par>
                                <p:cTn id="26" presetID="22" presetClass="entr" presetSubtype="4" fill="hold" nodeType="with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wipe(down)">
                                      <p:cBhvr>
                                        <p:cTn id="28" dur="500"/>
                                        <p:tgtEl>
                                          <p:spTgt spid="3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animEffect transition="in" filter="wipe(left)">
                                      <p:cBhvr>
                                        <p:cTn id="33" dur="500"/>
                                        <p:tgtEl>
                                          <p:spTgt spid="4">
                                            <p:txEl>
                                              <p:pRg st="3" end="3"/>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left)">
                                      <p:cBhvr>
                                        <p:cTn id="38" dur="500"/>
                                        <p:tgtEl>
                                          <p:spTgt spid="23"/>
                                        </p:tgtEl>
                                      </p:cBhvr>
                                    </p:animEffect>
                                  </p:childTnLst>
                                </p:cTn>
                              </p:par>
                              <p:par>
                                <p:cTn id="39" presetID="22" presetClass="entr" presetSubtype="8"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wipe(left)">
                                      <p:cBhvr>
                                        <p:cTn id="41" dur="500"/>
                                        <p:tgtEl>
                                          <p:spTgt spid="2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wipe(left)">
                                      <p:cBhvr>
                                        <p:cTn id="46" dur="500"/>
                                        <p:tgtEl>
                                          <p:spTgt spid="22"/>
                                        </p:tgtEl>
                                      </p:cBhvr>
                                    </p:animEffect>
                                  </p:childTnLst>
                                </p:cTn>
                              </p:par>
                              <p:par>
                                <p:cTn id="47" presetID="22" presetClass="entr" presetSubtype="2"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right)">
                                      <p:cBhvr>
                                        <p:cTn id="49" dur="500"/>
                                        <p:tgtEl>
                                          <p:spTgt spid="28"/>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2"/>
                                        </p:tgtEl>
                                        <p:attrNameLst>
                                          <p:attrName>style.visibility</p:attrName>
                                        </p:attrNameLst>
                                      </p:cBhvr>
                                      <p:to>
                                        <p:strVal val="visible"/>
                                      </p:to>
                                    </p:set>
                                    <p:animEffect transition="in" filter="barn(inVertical)">
                                      <p:cBhvr>
                                        <p:cTn id="5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34" grpId="0" animBg="1"/>
      <p:bldP spid="18" grpId="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lnSpc>
                <a:spcPct val="200000"/>
              </a:lnSpc>
              <a:spcAft>
                <a:spcPts val="600"/>
              </a:spcAft>
              <a:buNone/>
            </a:pPr>
            <a:r>
              <a:rPr lang="zh-CN" altLang="en-US" kern="1200" dirty="0"/>
              <a:t>下面是一个简单的模块，程序文件名为</a:t>
            </a:r>
            <a:r>
              <a:rPr lang="en-US" altLang="zh-CN" kern="1200" dirty="0"/>
              <a:t>support.py</a:t>
            </a:r>
            <a:r>
              <a:rPr lang="zh-CN" altLang="en-US" kern="1200" dirty="0"/>
              <a:t>。</a:t>
            </a:r>
          </a:p>
          <a:p>
            <a:pPr marL="0" indent="0">
              <a:lnSpc>
                <a:spcPct val="200000"/>
              </a:lnSpc>
              <a:spcAft>
                <a:spcPts val="600"/>
              </a:spcAft>
              <a:buNone/>
            </a:pPr>
            <a:r>
              <a:rPr lang="fr-FR" altLang="zh-CN" kern="1200" dirty="0">
                <a:solidFill>
                  <a:schemeClr val="accent2"/>
                </a:solidFill>
                <a:latin typeface="Consolas" panose="020B0609020204030204" pitchFamily="49" charset="0"/>
                <a:ea typeface="+mn-ea"/>
              </a:rPr>
              <a:t>def print_func(par):</a:t>
            </a:r>
            <a:endParaRPr lang="zh-CN" altLang="en-US" kern="1200" dirty="0">
              <a:solidFill>
                <a:schemeClr val="accent2"/>
              </a:solidFill>
              <a:latin typeface="Consolas" panose="020B0609020204030204" pitchFamily="49" charset="0"/>
              <a:ea typeface="+mn-ea"/>
            </a:endParaRPr>
          </a:p>
          <a:p>
            <a:pPr marL="0" indent="0">
              <a:lnSpc>
                <a:spcPct val="200000"/>
              </a:lnSpc>
              <a:spcAft>
                <a:spcPts val="600"/>
              </a:spcAft>
              <a:buNone/>
            </a:pPr>
            <a:r>
              <a:rPr lang="fr-FR" altLang="zh-CN" kern="1200" dirty="0">
                <a:solidFill>
                  <a:schemeClr val="accent2"/>
                </a:solidFill>
                <a:latin typeface="Consolas" panose="020B0609020204030204" pitchFamily="49" charset="0"/>
                <a:ea typeface="+mn-ea"/>
              </a:rPr>
              <a:t>    print("Hello:",par)</a:t>
            </a:r>
            <a:endParaRPr lang="zh-CN" altLang="en-US" kern="1200" dirty="0">
              <a:solidFill>
                <a:schemeClr val="accent2"/>
              </a:solidFill>
              <a:latin typeface="Consolas" panose="020B0609020204030204" pitchFamily="49" charset="0"/>
              <a:ea typeface="+mn-ea"/>
            </a:endParaRPr>
          </a:p>
          <a:p>
            <a:pPr marL="0" indent="0">
              <a:lnSpc>
                <a:spcPct val="200000"/>
              </a:lnSpc>
              <a:spcAft>
                <a:spcPts val="600"/>
              </a:spcAft>
              <a:buNone/>
            </a:pPr>
            <a:r>
              <a:rPr lang="zh-CN" altLang="en-US" kern="1200" dirty="0"/>
              <a:t>可以通过执行</a:t>
            </a:r>
            <a:r>
              <a:rPr lang="en-US" altLang="zh-CN" kern="1200" dirty="0"/>
              <a:t>import</a:t>
            </a:r>
            <a:r>
              <a:rPr lang="zh-CN" altLang="en-US" kern="1200" dirty="0"/>
              <a:t>语句来导入</a:t>
            </a:r>
            <a:r>
              <a:rPr lang="en-US" altLang="zh-CN" kern="1200" dirty="0"/>
              <a:t>Python</a:t>
            </a:r>
            <a:r>
              <a:rPr lang="zh-CN" altLang="en-US" kern="1200" dirty="0"/>
              <a:t>模块，例如：</a:t>
            </a:r>
          </a:p>
          <a:p>
            <a:pPr marL="0" indent="0">
              <a:lnSpc>
                <a:spcPct val="200000"/>
              </a:lnSpc>
              <a:spcAft>
                <a:spcPts val="600"/>
              </a:spcAft>
              <a:buNone/>
            </a:pPr>
            <a:r>
              <a:rPr lang="en-US" altLang="zh-CN" kern="1200">
                <a:solidFill>
                  <a:schemeClr val="accent2"/>
                </a:solidFill>
                <a:latin typeface="Consolas" panose="020B0609020204030204" pitchFamily="49" charset="0"/>
                <a:ea typeface="+mn-ea"/>
              </a:rPr>
              <a:t>import </a:t>
            </a:r>
            <a:r>
              <a:rPr lang="en-US" altLang="zh-CN" kern="1200" dirty="0">
                <a:solidFill>
                  <a:schemeClr val="accent2"/>
                </a:solidFill>
                <a:latin typeface="Consolas" panose="020B0609020204030204" pitchFamily="49" charset="0"/>
                <a:ea typeface="+mn-ea"/>
              </a:rPr>
              <a:t>support</a:t>
            </a:r>
            <a:endParaRPr lang="zh-CN" altLang="en-US" kern="1200" dirty="0">
              <a:solidFill>
                <a:schemeClr val="accent2"/>
              </a:solidFill>
              <a:latin typeface="Consolas" panose="020B0609020204030204" pitchFamily="49" charset="0"/>
              <a:ea typeface="+mn-ea"/>
            </a:endParaRPr>
          </a:p>
          <a:p>
            <a:pPr marL="0" indent="0">
              <a:lnSpc>
                <a:spcPct val="200000"/>
              </a:lnSpc>
              <a:spcAft>
                <a:spcPts val="600"/>
              </a:spcAft>
              <a:buNone/>
            </a:pPr>
            <a:r>
              <a:rPr lang="en-US" altLang="zh-CN" kern="1200">
                <a:solidFill>
                  <a:schemeClr val="accent2"/>
                </a:solidFill>
                <a:latin typeface="Consolas" panose="020B0609020204030204" pitchFamily="49" charset="0"/>
                <a:ea typeface="+mn-ea"/>
              </a:rPr>
              <a:t>support.print_func</a:t>
            </a:r>
            <a:r>
              <a:rPr lang="en-US" altLang="zh-CN" kern="1200" dirty="0">
                <a:solidFill>
                  <a:schemeClr val="accent2"/>
                </a:solidFill>
                <a:latin typeface="Consolas" panose="020B0609020204030204" pitchFamily="49" charset="0"/>
                <a:ea typeface="+mn-ea"/>
              </a:rPr>
              <a:t>("Brenden")</a:t>
            </a:r>
            <a:endParaRPr lang="zh-CN" altLang="en-US" kern="1200" dirty="0">
              <a:solidFill>
                <a:schemeClr val="accent2"/>
              </a:solidFill>
              <a:latin typeface="Consolas" panose="020B0609020204030204" pitchFamily="49" charset="0"/>
              <a:ea typeface="+mn-ea"/>
            </a:endParaRPr>
          </a:p>
          <a:p>
            <a:pPr marL="0" indent="0">
              <a:lnSpc>
                <a:spcPct val="200000"/>
              </a:lnSpc>
              <a:spcAft>
                <a:spcPts val="600"/>
              </a:spcAft>
              <a:buNone/>
            </a:pPr>
            <a:r>
              <a:rPr lang="en-US" altLang="zh-CN" kern="1200" dirty="0">
                <a:latin typeface="Consolas" panose="020B0609020204030204" pitchFamily="49" charset="0"/>
                <a:ea typeface="+mn-ea"/>
              </a:rPr>
              <a:t>Hello: Brenden</a:t>
            </a:r>
            <a:endParaRPr lang="zh-CN" altLang="en-US" kern="1200" dirty="0">
              <a:latin typeface="Consolas" panose="020B0609020204030204" pitchFamily="49" charset="0"/>
              <a:ea typeface="+mn-ea"/>
            </a:endParaRPr>
          </a:p>
          <a:p>
            <a:endParaRPr lang="zh-CN" altLang="en-US" dirty="0"/>
          </a:p>
        </p:txBody>
      </p:sp>
      <p:sp>
        <p:nvSpPr>
          <p:cNvPr id="3" name="标题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98742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ipe(left)">
                                      <p:cBhvr>
                                        <p:cTn id="20" dur="500"/>
                                        <p:tgtEl>
                                          <p:spTgt spid="2">
                                            <p:txEl>
                                              <p:pRg st="3" end="3"/>
                                            </p:txEl>
                                          </p:spTgt>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wipe(left)">
                                      <p:cBhvr>
                                        <p:cTn id="24" dur="500"/>
                                        <p:tgtEl>
                                          <p:spTgt spid="2">
                                            <p:txEl>
                                              <p:pRg st="4" end="4"/>
                                            </p:txEl>
                                          </p:spTgt>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wipe(left)">
                                      <p:cBhvr>
                                        <p:cTn id="28" dur="500"/>
                                        <p:tgtEl>
                                          <p:spTgt spid="2">
                                            <p:txEl>
                                              <p:pRg st="5" end="5"/>
                                            </p:txEl>
                                          </p:spTgt>
                                        </p:tgtEl>
                                      </p:cBhvr>
                                    </p:animEffect>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2">
                                            <p:txEl>
                                              <p:pRg st="6" end="6"/>
                                            </p:txEl>
                                          </p:spTgt>
                                        </p:tgtEl>
                                        <p:attrNameLst>
                                          <p:attrName>style.visibility</p:attrName>
                                        </p:attrNameLst>
                                      </p:cBhvr>
                                      <p:to>
                                        <p:strVal val="visible"/>
                                      </p:to>
                                    </p:set>
                                    <p:animEffect transition="in" filter="wipe(left)">
                                      <p:cBhvr>
                                        <p:cTn id="3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txBox="1">
            <a:spLocks/>
          </p:cNvSpPr>
          <p:nvPr/>
        </p:nvSpPr>
        <p:spPr bwMode="auto">
          <a:xfrm>
            <a:off x="179512" y="1484784"/>
            <a:ext cx="8780896" cy="240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257175" indent="-257175" algn="l" rtl="0" eaLnBrk="1" fontAlgn="base" hangingPunct="1">
              <a:lnSpc>
                <a:spcPts val="2800"/>
              </a:lnSpc>
              <a:spcBef>
                <a:spcPct val="20000"/>
              </a:spcBef>
              <a:spcAft>
                <a:spcPct val="0"/>
              </a:spcAft>
              <a:buClr>
                <a:schemeClr val="hlink"/>
              </a:buClr>
              <a:buFont typeface="Wingdings" pitchFamily="2" charset="2"/>
              <a:buChar char="v"/>
              <a:defRPr sz="2000" b="1">
                <a:solidFill>
                  <a:schemeClr val="tx1"/>
                </a:solidFill>
                <a:latin typeface="微软雅黑" pitchFamily="34" charset="-122"/>
                <a:ea typeface="微软雅黑" pitchFamily="34" charset="-122"/>
                <a:cs typeface="+mn-cs"/>
              </a:defRPr>
            </a:lvl1pPr>
            <a:lvl2pPr marL="557213" indent="-214313" algn="l" rtl="0" eaLnBrk="1" fontAlgn="base" hangingPunct="1">
              <a:lnSpc>
                <a:spcPts val="2800"/>
              </a:lnSpc>
              <a:spcBef>
                <a:spcPct val="20000"/>
              </a:spcBef>
              <a:spcAft>
                <a:spcPct val="0"/>
              </a:spcAft>
              <a:buClr>
                <a:schemeClr val="accent1"/>
              </a:buClr>
              <a:buSzPct val="60000"/>
              <a:buFont typeface="Wingdings" pitchFamily="2" charset="2"/>
              <a:buChar char="n"/>
              <a:defRPr sz="1800" b="1">
                <a:solidFill>
                  <a:schemeClr val="tx1"/>
                </a:solidFill>
                <a:latin typeface="微软雅黑" pitchFamily="34" charset="-122"/>
                <a:ea typeface="微软雅黑" pitchFamily="34" charset="-122"/>
              </a:defRPr>
            </a:lvl2pPr>
            <a:lvl3pPr marL="857250" indent="-171450" algn="l" rtl="0" eaLnBrk="1" fontAlgn="base" hangingPunct="1">
              <a:lnSpc>
                <a:spcPts val="2800"/>
              </a:lnSpc>
              <a:spcBef>
                <a:spcPct val="20000"/>
              </a:spcBef>
              <a:spcAft>
                <a:spcPct val="0"/>
              </a:spcAft>
              <a:buClr>
                <a:schemeClr val="accent2"/>
              </a:buClr>
              <a:buSzPct val="60000"/>
              <a:buFont typeface="Wingdings" pitchFamily="2" charset="2"/>
              <a:buChar char="n"/>
              <a:defRPr sz="2000">
                <a:solidFill>
                  <a:schemeClr val="tx1"/>
                </a:solidFill>
                <a:latin typeface="微软雅黑" pitchFamily="34" charset="-122"/>
                <a:ea typeface="微软雅黑" pitchFamily="34" charset="-122"/>
              </a:defRPr>
            </a:lvl3pPr>
            <a:lvl4pPr marL="1200150" indent="-171450" algn="l" rtl="0" eaLnBrk="1" fontAlgn="base" hangingPunct="1">
              <a:lnSpc>
                <a:spcPts val="2800"/>
              </a:lnSpc>
              <a:spcBef>
                <a:spcPct val="20000"/>
              </a:spcBef>
              <a:spcAft>
                <a:spcPct val="0"/>
              </a:spcAft>
              <a:buClr>
                <a:schemeClr val="hlink"/>
              </a:buClr>
              <a:buSzPct val="60000"/>
              <a:buFont typeface="Wingdings" pitchFamily="2" charset="2"/>
              <a:buChar char="n"/>
              <a:defRPr sz="1600">
                <a:solidFill>
                  <a:schemeClr val="tx1"/>
                </a:solidFill>
                <a:latin typeface="微软雅黑" pitchFamily="34" charset="-122"/>
                <a:ea typeface="微软雅黑" pitchFamily="34" charset="-122"/>
              </a:defRPr>
            </a:lvl4pPr>
            <a:lvl5pPr marL="1543050" indent="-171450" algn="l" rtl="0" eaLnBrk="1" fontAlgn="base" hangingPunct="1">
              <a:lnSpc>
                <a:spcPts val="2800"/>
              </a:lnSpc>
              <a:spcBef>
                <a:spcPct val="20000"/>
              </a:spcBef>
              <a:spcAft>
                <a:spcPct val="0"/>
              </a:spcAft>
              <a:buClr>
                <a:schemeClr val="hlink"/>
              </a:buClr>
              <a:buSzPct val="60000"/>
              <a:buFont typeface="Wingdings" pitchFamily="2" charset="2"/>
              <a:buChar char="n"/>
              <a:defRPr sz="1600">
                <a:solidFill>
                  <a:schemeClr val="tx1"/>
                </a:solidFill>
                <a:latin typeface="微软雅黑" pitchFamily="34" charset="-122"/>
                <a:ea typeface="微软雅黑" pitchFamily="34" charset="-122"/>
              </a:defRPr>
            </a:lvl5pPr>
            <a:lvl6pPr marL="18859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6pPr>
            <a:lvl7pPr marL="22288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7pPr>
            <a:lvl8pPr marL="25717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8pPr>
            <a:lvl9pPr marL="2914650" indent="-171450" algn="l" rtl="0" eaLnBrk="1" fontAlgn="base" hangingPunct="1">
              <a:spcBef>
                <a:spcPct val="20000"/>
              </a:spcBef>
              <a:spcAft>
                <a:spcPct val="0"/>
              </a:spcAft>
              <a:buClr>
                <a:schemeClr val="hlink"/>
              </a:buClr>
              <a:buSzPct val="60000"/>
              <a:buFont typeface="Wingdings" pitchFamily="2" charset="2"/>
              <a:buChar char="n"/>
              <a:defRPr sz="1500">
                <a:solidFill>
                  <a:schemeClr val="tx1"/>
                </a:solidFill>
                <a:latin typeface="+mn-lt"/>
              </a:defRPr>
            </a:lvl9pPr>
          </a:lstStyle>
          <a:p>
            <a:pPr marL="0" indent="0">
              <a:lnSpc>
                <a:spcPct val="200000"/>
              </a:lnSpc>
              <a:spcAft>
                <a:spcPts val="600"/>
              </a:spcAft>
              <a:buFont typeface="Wingdings" pitchFamily="2" charset="2"/>
              <a:buNone/>
            </a:pPr>
            <a:r>
              <a:rPr lang="en-US" altLang="zh-CN" kern="1200" dirty="0"/>
              <a:t>Python</a:t>
            </a:r>
            <a:r>
              <a:rPr lang="zh-CN" altLang="en-US" kern="1200" dirty="0"/>
              <a:t>的</a:t>
            </a:r>
            <a:r>
              <a:rPr lang="en-US" altLang="zh-CN" kern="1200" dirty="0"/>
              <a:t>from</a:t>
            </a:r>
            <a:r>
              <a:rPr lang="zh-CN" altLang="en-US" kern="1200" dirty="0"/>
              <a:t>语句可以从一个模块中</a:t>
            </a:r>
            <a:r>
              <a:rPr lang="zh-CN" altLang="en-US" kern="1200" dirty="0">
                <a:solidFill>
                  <a:srgbClr val="FF0000"/>
                </a:solidFill>
              </a:rPr>
              <a:t>导入特定</a:t>
            </a:r>
            <a:r>
              <a:rPr lang="zh-CN" altLang="en-US" kern="1200" dirty="0"/>
              <a:t>的项目到当前的命名空间，语句格式如下：</a:t>
            </a:r>
          </a:p>
          <a:p>
            <a:pPr marL="0" indent="0">
              <a:lnSpc>
                <a:spcPct val="200000"/>
              </a:lnSpc>
              <a:spcAft>
                <a:spcPts val="600"/>
              </a:spcAft>
              <a:buFont typeface="Wingdings" pitchFamily="2" charset="2"/>
              <a:buNone/>
            </a:pPr>
            <a:r>
              <a:rPr lang="en-US" altLang="zh-CN" kern="1200" dirty="0">
                <a:solidFill>
                  <a:schemeClr val="accent2"/>
                </a:solidFill>
                <a:latin typeface="Consolas" panose="020B0609020204030204" pitchFamily="49" charset="0"/>
                <a:ea typeface="+mn-ea"/>
              </a:rPr>
              <a:t>from </a:t>
            </a:r>
            <a:r>
              <a:rPr lang="zh-CN" altLang="en-US" kern="1200" dirty="0">
                <a:solidFill>
                  <a:schemeClr val="accent2"/>
                </a:solidFill>
                <a:latin typeface="Consolas" panose="020B0609020204030204" pitchFamily="49" charset="0"/>
                <a:ea typeface="+mn-ea"/>
              </a:rPr>
              <a:t>模块名</a:t>
            </a:r>
            <a:r>
              <a:rPr lang="en-US" altLang="zh-CN" kern="1200" dirty="0">
                <a:solidFill>
                  <a:schemeClr val="accent2"/>
                </a:solidFill>
                <a:latin typeface="Consolas" panose="020B0609020204030204" pitchFamily="49" charset="0"/>
                <a:ea typeface="+mn-ea"/>
              </a:rPr>
              <a:t> import </a:t>
            </a:r>
            <a:r>
              <a:rPr lang="zh-CN" altLang="en-US" kern="1200" dirty="0">
                <a:solidFill>
                  <a:schemeClr val="accent2"/>
                </a:solidFill>
                <a:latin typeface="Consolas" panose="020B0609020204030204" pitchFamily="49" charset="0"/>
                <a:ea typeface="+mn-ea"/>
              </a:rPr>
              <a:t>项目名</a:t>
            </a:r>
            <a:r>
              <a:rPr lang="en-US" altLang="zh-CN" kern="1200" dirty="0">
                <a:solidFill>
                  <a:schemeClr val="accent2"/>
                </a:solidFill>
                <a:latin typeface="Consolas" panose="020B0609020204030204" pitchFamily="49" charset="0"/>
                <a:ea typeface="+mn-ea"/>
              </a:rPr>
              <a:t>1[,</a:t>
            </a:r>
            <a:r>
              <a:rPr lang="zh-CN" altLang="en-US" kern="1200" dirty="0">
                <a:solidFill>
                  <a:schemeClr val="accent2"/>
                </a:solidFill>
                <a:latin typeface="Consolas" panose="020B0609020204030204" pitchFamily="49" charset="0"/>
                <a:ea typeface="+mn-ea"/>
              </a:rPr>
              <a:t>项目名</a:t>
            </a:r>
            <a:r>
              <a:rPr lang="en-US" altLang="zh-CN" kern="1200" dirty="0">
                <a:solidFill>
                  <a:schemeClr val="accent2"/>
                </a:solidFill>
                <a:latin typeface="Consolas" panose="020B0609020204030204" pitchFamily="49" charset="0"/>
                <a:ea typeface="+mn-ea"/>
              </a:rPr>
              <a:t>2[,……,</a:t>
            </a:r>
            <a:r>
              <a:rPr lang="zh-CN" altLang="en-US" kern="1200" dirty="0">
                <a:solidFill>
                  <a:schemeClr val="accent2"/>
                </a:solidFill>
                <a:latin typeface="Consolas" panose="020B0609020204030204" pitchFamily="49" charset="0"/>
                <a:ea typeface="+mn-ea"/>
              </a:rPr>
              <a:t>项目名</a:t>
            </a:r>
            <a:r>
              <a:rPr lang="en-US" altLang="zh-CN" kern="1200" dirty="0">
                <a:solidFill>
                  <a:schemeClr val="accent2"/>
                </a:solidFill>
                <a:latin typeface="Consolas" panose="020B0609020204030204" pitchFamily="49" charset="0"/>
                <a:ea typeface="+mn-ea"/>
              </a:rPr>
              <a:t>n]]</a:t>
            </a:r>
            <a:endParaRPr lang="zh-CN" altLang="en-US" kern="1200" dirty="0">
              <a:solidFill>
                <a:schemeClr val="accent2"/>
              </a:solidFill>
              <a:latin typeface="Consolas" panose="020B0609020204030204" pitchFamily="49" charset="0"/>
              <a:ea typeface="+mn-ea"/>
            </a:endParaRPr>
          </a:p>
          <a:p>
            <a:pPr marL="0" indent="0">
              <a:lnSpc>
                <a:spcPct val="200000"/>
              </a:lnSpc>
              <a:spcAft>
                <a:spcPts val="600"/>
              </a:spcAft>
              <a:buFont typeface="Wingdings" pitchFamily="2" charset="2"/>
              <a:buNone/>
            </a:pPr>
            <a:r>
              <a:rPr lang="zh-CN" altLang="en-US" kern="1200" dirty="0"/>
              <a:t>也可通过使用下面形式的</a:t>
            </a:r>
            <a:r>
              <a:rPr lang="en-US" altLang="zh-CN" kern="1200" dirty="0"/>
              <a:t>import</a:t>
            </a:r>
            <a:r>
              <a:rPr lang="zh-CN" altLang="en-US" kern="1200" dirty="0"/>
              <a:t>语句导入模块的</a:t>
            </a:r>
            <a:r>
              <a:rPr lang="zh-CN" altLang="en-US" kern="1200" dirty="0">
                <a:solidFill>
                  <a:srgbClr val="FF0000"/>
                </a:solidFill>
              </a:rPr>
              <a:t>所有项目</a:t>
            </a:r>
            <a:r>
              <a:rPr lang="zh-CN" altLang="en-US" kern="1200" dirty="0"/>
              <a:t>到当前的命名空间。</a:t>
            </a:r>
          </a:p>
          <a:p>
            <a:pPr marL="0" indent="0">
              <a:lnSpc>
                <a:spcPct val="200000"/>
              </a:lnSpc>
              <a:spcAft>
                <a:spcPts val="600"/>
              </a:spcAft>
              <a:buFont typeface="Wingdings" pitchFamily="2" charset="2"/>
              <a:buNone/>
            </a:pPr>
            <a:r>
              <a:rPr lang="en-US" altLang="zh-CN" kern="1200" dirty="0">
                <a:solidFill>
                  <a:schemeClr val="accent2"/>
                </a:solidFill>
                <a:latin typeface="Consolas" panose="020B0609020204030204" pitchFamily="49" charset="0"/>
                <a:ea typeface="+mn-ea"/>
              </a:rPr>
              <a:t>from </a:t>
            </a:r>
            <a:r>
              <a:rPr lang="zh-CN" altLang="en-US" kern="1200" dirty="0">
                <a:solidFill>
                  <a:schemeClr val="accent2"/>
                </a:solidFill>
                <a:latin typeface="Consolas" panose="020B0609020204030204" pitchFamily="49" charset="0"/>
                <a:ea typeface="+mn-ea"/>
              </a:rPr>
              <a:t>模块名</a:t>
            </a:r>
            <a:r>
              <a:rPr lang="en-US" altLang="zh-CN" kern="1200" dirty="0">
                <a:solidFill>
                  <a:schemeClr val="accent2"/>
                </a:solidFill>
                <a:latin typeface="Consolas" panose="020B0609020204030204" pitchFamily="49" charset="0"/>
                <a:ea typeface="+mn-ea"/>
              </a:rPr>
              <a:t> import *</a:t>
            </a:r>
            <a:endParaRPr lang="zh-CN" altLang="en-US" kern="1200" dirty="0">
              <a:solidFill>
                <a:schemeClr val="accent2"/>
              </a:solidFill>
              <a:latin typeface="Consolas" panose="020B0609020204030204" pitchFamily="49" charset="0"/>
              <a:ea typeface="+mn-ea"/>
            </a:endParaRPr>
          </a:p>
          <a:p>
            <a:pPr marL="0" indent="0">
              <a:buFont typeface="Wingdings" pitchFamily="2" charset="2"/>
              <a:buNone/>
            </a:pPr>
            <a:endParaRPr lang="zh-CN" altLang="en-US" kern="0" dirty="0"/>
          </a:p>
        </p:txBody>
      </p:sp>
      <p:sp>
        <p:nvSpPr>
          <p:cNvPr id="6" name="矩形 5"/>
          <p:cNvSpPr/>
          <p:nvPr/>
        </p:nvSpPr>
        <p:spPr>
          <a:xfrm>
            <a:off x="5868144" y="152511"/>
            <a:ext cx="1420582" cy="584775"/>
          </a:xfrm>
          <a:prstGeom prst="rect">
            <a:avLst/>
          </a:prstGeom>
        </p:spPr>
        <p:style>
          <a:lnRef idx="3">
            <a:schemeClr val="lt1"/>
          </a:lnRef>
          <a:fillRef idx="1">
            <a:schemeClr val="accent6"/>
          </a:fillRef>
          <a:effectRef idx="1">
            <a:schemeClr val="accent6"/>
          </a:effectRef>
          <a:fontRef idx="minor">
            <a:schemeClr val="lt1"/>
          </a:fontRef>
        </p:style>
        <p:txBody>
          <a:bodyPr wrap="none" lIns="91440" tIns="45720" rIns="91440" bIns="45720">
            <a:spAutoFit/>
          </a:bodyPr>
          <a:lstStyle/>
          <a:p>
            <a:pPr algn="ctr"/>
            <a:r>
              <a:rPr lang="zh-CN" altLang="en-US" sz="3200" b="1">
                <a:ln w="13462">
                  <a:solidFill>
                    <a:schemeClr val="bg1"/>
                  </a:solidFill>
                  <a:prstDash val="solid"/>
                </a:ln>
                <a:solidFill>
                  <a:srgbClr val="FF0000"/>
                </a:solidFill>
                <a:effectLst>
                  <a:outerShdw dist="38100" dir="2700000" algn="bl" rotWithShape="0">
                    <a:schemeClr val="accent5"/>
                  </a:outerShdw>
                </a:effectLst>
              </a:rPr>
              <a:t>方法二</a:t>
            </a:r>
          </a:p>
        </p:txBody>
      </p:sp>
      <p:sp>
        <p:nvSpPr>
          <p:cNvPr id="7" name="矩形 6"/>
          <p:cNvSpPr/>
          <p:nvPr/>
        </p:nvSpPr>
        <p:spPr>
          <a:xfrm>
            <a:off x="2987047" y="116632"/>
            <a:ext cx="1620957" cy="523220"/>
          </a:xfrm>
          <a:prstGeom prst="rect">
            <a:avLst/>
          </a:prstGeom>
        </p:spPr>
        <p:txBody>
          <a:bodyPr wrap="none">
            <a:spAutoFit/>
          </a:bodyPr>
          <a:lstStyle/>
          <a:p>
            <a:r>
              <a:rPr lang="zh-CN" altLang="en-US" sz="2800" b="1">
                <a:latin typeface="微软雅黑" pitchFamily="34" charset="-122"/>
                <a:ea typeface="微软雅黑" pitchFamily="34" charset="-122"/>
              </a:rPr>
              <a:t>导入模块</a:t>
            </a:r>
            <a:endParaRPr lang="zh-CN" altLang="en-US" sz="2800"/>
          </a:p>
        </p:txBody>
      </p:sp>
      <p:cxnSp>
        <p:nvCxnSpPr>
          <p:cNvPr id="9" name="直接箭头连接符 8"/>
          <p:cNvCxnSpPr/>
          <p:nvPr/>
        </p:nvCxnSpPr>
        <p:spPr bwMode="auto">
          <a:xfrm flipH="1">
            <a:off x="2987047" y="4149080"/>
            <a:ext cx="3169129" cy="576064"/>
          </a:xfrm>
          <a:prstGeom prst="straightConnector1">
            <a:avLst/>
          </a:prstGeom>
          <a:solidFill>
            <a:schemeClr val="accent1"/>
          </a:solidFill>
          <a:ln w="2857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652455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wipe(left)">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wipe(left)">
                                      <p:cBhvr>
                                        <p:cTn id="20" dur="500"/>
                                        <p:tgtEl>
                                          <p:spTgt spid="4">
                                            <p:txEl>
                                              <p:pRg st="2" end="2"/>
                                            </p:txEl>
                                          </p:spTgt>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wipe(left)">
                                      <p:cBhvr>
                                        <p:cTn id="24" dur="500"/>
                                        <p:tgtEl>
                                          <p:spTgt spid="4">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up)">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76837" y="948267"/>
            <a:ext cx="8780896" cy="824549"/>
          </a:xfrm>
        </p:spPr>
        <p:txBody>
          <a:bodyPr/>
          <a:lstStyle/>
          <a:p>
            <a:pPr marL="0" indent="0">
              <a:buNone/>
            </a:pPr>
            <a:r>
              <a:rPr lang="zh-CN" altLang="en-US" kern="1200" dirty="0"/>
              <a:t>例</a:t>
            </a:r>
            <a:r>
              <a:rPr lang="en-US" altLang="zh-CN" kern="1200" dirty="0"/>
              <a:t>8-8  </a:t>
            </a:r>
            <a:r>
              <a:rPr lang="zh-CN" altLang="en-US" kern="1200" dirty="0"/>
              <a:t>创建一个</a:t>
            </a:r>
            <a:r>
              <a:rPr lang="en-US" altLang="zh-CN" kern="1200" dirty="0"/>
              <a:t>fibo.py</a:t>
            </a:r>
            <a:r>
              <a:rPr lang="zh-CN" altLang="en-US" kern="1200" dirty="0"/>
              <a:t>模块，其中包含两个求</a:t>
            </a:r>
            <a:r>
              <a:rPr lang="en-US" altLang="zh-CN" kern="1200" dirty="0"/>
              <a:t>Fibonacci</a:t>
            </a:r>
            <a:r>
              <a:rPr lang="zh-CN" altLang="en-US" kern="1200" dirty="0"/>
              <a:t>数列的函数，然后导入该模块并调用其中的函数。</a:t>
            </a:r>
          </a:p>
          <a:p>
            <a:pPr marL="0" indent="0">
              <a:buNone/>
            </a:pPr>
            <a:endParaRPr lang="zh-CN" altLang="en-US" kern="1200" dirty="0"/>
          </a:p>
        </p:txBody>
      </p:sp>
      <p:sp>
        <p:nvSpPr>
          <p:cNvPr id="3" name="标题 2"/>
          <p:cNvSpPr>
            <a:spLocks noGrp="1"/>
          </p:cNvSpPr>
          <p:nvPr>
            <p:ph type="title"/>
          </p:nvPr>
        </p:nvSpPr>
        <p:spPr/>
        <p:txBody>
          <a:bodyPr/>
          <a:lstStyle/>
          <a:p>
            <a:endParaRPr lang="zh-CN" altLang="en-US"/>
          </a:p>
        </p:txBody>
      </p:sp>
      <p:sp>
        <p:nvSpPr>
          <p:cNvPr id="4" name="矩形 3"/>
          <p:cNvSpPr/>
          <p:nvPr/>
        </p:nvSpPr>
        <p:spPr>
          <a:xfrm>
            <a:off x="971600" y="1752823"/>
            <a:ext cx="4251147" cy="4708981"/>
          </a:xfrm>
          <a:prstGeom prst="rect">
            <a:avLst/>
          </a:prstGeom>
          <a:ln>
            <a:solidFill>
              <a:srgbClr val="00B050"/>
            </a:solidFill>
          </a:ln>
        </p:spPr>
        <p:txBody>
          <a:bodyPr wrap="square">
            <a:spAutoFit/>
          </a:bodyPr>
          <a:lstStyle/>
          <a:p>
            <a:r>
              <a:rPr lang="zh-CN" altLang="en-US" sz="2000" b="1" dirty="0">
                <a:latin typeface="微软雅黑" pitchFamily="34" charset="-122"/>
                <a:ea typeface="微软雅黑" pitchFamily="34" charset="-122"/>
              </a:rPr>
              <a:t>首先创建一个</a:t>
            </a:r>
            <a:r>
              <a:rPr lang="en-US" sz="2000" b="1" dirty="0">
                <a:latin typeface="微软雅黑" pitchFamily="34" charset="-122"/>
                <a:ea typeface="微软雅黑" pitchFamily="34" charset="-122"/>
              </a:rPr>
              <a:t>fibo.py</a:t>
            </a:r>
            <a:r>
              <a:rPr lang="zh-CN" altLang="en-US" sz="2000" b="1" dirty="0">
                <a:latin typeface="微软雅黑" pitchFamily="34" charset="-122"/>
                <a:ea typeface="微软雅黑" pitchFamily="34" charset="-122"/>
              </a:rPr>
              <a:t>模块。</a:t>
            </a:r>
          </a:p>
          <a:p>
            <a:r>
              <a:rPr lang="en-US" sz="2000" b="1" dirty="0">
                <a:solidFill>
                  <a:schemeClr val="accent2"/>
                </a:solidFill>
                <a:latin typeface="Consolas" panose="020B0609020204030204" pitchFamily="49" charset="0"/>
              </a:rPr>
              <a:t>def </a:t>
            </a:r>
            <a:r>
              <a:rPr lang="en-US" sz="2000" b="1" dirty="0">
                <a:solidFill>
                  <a:srgbClr val="7030A0"/>
                </a:solidFill>
                <a:latin typeface="Consolas" panose="020B0609020204030204" pitchFamily="49" charset="0"/>
              </a:rPr>
              <a:t>fib1</a:t>
            </a:r>
            <a:r>
              <a:rPr lang="en-US" sz="2000" b="1" dirty="0">
                <a:solidFill>
                  <a:schemeClr val="accent2"/>
                </a:solidFill>
                <a:latin typeface="Consolas" panose="020B0609020204030204" pitchFamily="49" charset="0"/>
              </a:rPr>
              <a:t>(n):</a:t>
            </a:r>
            <a:endParaRPr lang="zh-CN" altLang="en-US" sz="2000" b="1" dirty="0">
              <a:solidFill>
                <a:schemeClr val="accent2"/>
              </a:solidFill>
              <a:latin typeface="Consolas" panose="020B0609020204030204" pitchFamily="49" charset="0"/>
            </a:endParaRPr>
          </a:p>
          <a:p>
            <a:r>
              <a:rPr lang="en-US" sz="2000" b="1" dirty="0">
                <a:solidFill>
                  <a:schemeClr val="accent2"/>
                </a:solidFill>
                <a:latin typeface="Consolas" panose="020B0609020204030204" pitchFamily="49" charset="0"/>
              </a:rPr>
              <a:t>    </a:t>
            </a:r>
            <a:r>
              <a:rPr lang="en-US" sz="2000" b="1" dirty="0" err="1">
                <a:solidFill>
                  <a:schemeClr val="accent2"/>
                </a:solidFill>
                <a:latin typeface="Consolas" panose="020B0609020204030204" pitchFamily="49" charset="0"/>
              </a:rPr>
              <a:t>a,b</a:t>
            </a:r>
            <a:r>
              <a:rPr lang="en-US" sz="2000" b="1" dirty="0">
                <a:solidFill>
                  <a:schemeClr val="accent2"/>
                </a:solidFill>
                <a:latin typeface="Consolas" panose="020B0609020204030204" pitchFamily="49" charset="0"/>
              </a:rPr>
              <a:t>=0,1</a:t>
            </a:r>
            <a:endParaRPr lang="zh-CN" altLang="en-US" sz="2000" b="1" dirty="0">
              <a:solidFill>
                <a:schemeClr val="accent2"/>
              </a:solidFill>
              <a:latin typeface="Consolas" panose="020B0609020204030204" pitchFamily="49" charset="0"/>
            </a:endParaRPr>
          </a:p>
          <a:p>
            <a:r>
              <a:rPr lang="en-US" sz="2000" b="1" dirty="0">
                <a:solidFill>
                  <a:schemeClr val="accent2"/>
                </a:solidFill>
                <a:latin typeface="Consolas" panose="020B0609020204030204" pitchFamily="49" charset="0"/>
              </a:rPr>
              <a:t>    while b&lt;n:</a:t>
            </a:r>
            <a:endParaRPr lang="zh-CN" altLang="en-US" sz="2000" b="1" dirty="0">
              <a:solidFill>
                <a:schemeClr val="accent2"/>
              </a:solidFill>
              <a:latin typeface="Consolas" panose="020B0609020204030204" pitchFamily="49" charset="0"/>
            </a:endParaRPr>
          </a:p>
          <a:p>
            <a:r>
              <a:rPr lang="en-US" sz="2000" b="1" dirty="0">
                <a:solidFill>
                  <a:schemeClr val="accent2"/>
                </a:solidFill>
                <a:latin typeface="Consolas" panose="020B0609020204030204" pitchFamily="49" charset="0"/>
              </a:rPr>
              <a:t>        </a:t>
            </a:r>
            <a:r>
              <a:rPr lang="en-US" sz="2000" b="1" dirty="0">
                <a:solidFill>
                  <a:srgbClr val="FF0000"/>
                </a:solidFill>
                <a:latin typeface="Consolas" panose="020B0609020204030204" pitchFamily="49" charset="0"/>
              </a:rPr>
              <a:t>print</a:t>
            </a:r>
            <a:r>
              <a:rPr lang="en-US" sz="2000" b="1" dirty="0">
                <a:solidFill>
                  <a:schemeClr val="accent2"/>
                </a:solidFill>
                <a:latin typeface="Consolas" panose="020B0609020204030204" pitchFamily="49" charset="0"/>
              </a:rPr>
              <a:t>(b, end=' ')</a:t>
            </a:r>
            <a:endParaRPr lang="zh-CN" altLang="en-US" sz="2000" b="1" dirty="0">
              <a:solidFill>
                <a:schemeClr val="accent2"/>
              </a:solidFill>
              <a:latin typeface="Consolas" panose="020B0609020204030204" pitchFamily="49" charset="0"/>
            </a:endParaRPr>
          </a:p>
          <a:p>
            <a:r>
              <a:rPr lang="en-US" sz="2000" b="1" dirty="0">
                <a:solidFill>
                  <a:schemeClr val="accent2"/>
                </a:solidFill>
                <a:latin typeface="Consolas" panose="020B0609020204030204" pitchFamily="49" charset="0"/>
              </a:rPr>
              <a:t>        </a:t>
            </a:r>
            <a:r>
              <a:rPr lang="en-US" sz="2000" b="1" dirty="0" err="1">
                <a:solidFill>
                  <a:schemeClr val="accent2"/>
                </a:solidFill>
                <a:latin typeface="Consolas" panose="020B0609020204030204" pitchFamily="49" charset="0"/>
              </a:rPr>
              <a:t>a,b</a:t>
            </a:r>
            <a:r>
              <a:rPr lang="en-US" sz="2000" b="1" dirty="0">
                <a:solidFill>
                  <a:schemeClr val="accent2"/>
                </a:solidFill>
                <a:latin typeface="Consolas" panose="020B0609020204030204" pitchFamily="49" charset="0"/>
              </a:rPr>
              <a:t>=</a:t>
            </a:r>
            <a:r>
              <a:rPr lang="en-US" sz="2000" b="1" dirty="0" err="1">
                <a:solidFill>
                  <a:schemeClr val="accent2"/>
                </a:solidFill>
                <a:latin typeface="Consolas" panose="020B0609020204030204" pitchFamily="49" charset="0"/>
              </a:rPr>
              <a:t>b,a+b</a:t>
            </a:r>
            <a:endParaRPr lang="zh-CN" altLang="en-US" sz="2000" b="1" dirty="0">
              <a:solidFill>
                <a:schemeClr val="accent2"/>
              </a:solidFill>
              <a:latin typeface="Consolas" panose="020B0609020204030204" pitchFamily="49" charset="0"/>
            </a:endParaRPr>
          </a:p>
          <a:p>
            <a:r>
              <a:rPr lang="en-US" sz="2000" b="1" dirty="0">
                <a:solidFill>
                  <a:schemeClr val="accent2"/>
                </a:solidFill>
                <a:latin typeface="Consolas" panose="020B0609020204030204" pitchFamily="49" charset="0"/>
              </a:rPr>
              <a:t>    print()</a:t>
            </a:r>
          </a:p>
          <a:p>
            <a:endParaRPr lang="zh-CN" altLang="en-US" sz="2000" b="1" dirty="0">
              <a:solidFill>
                <a:schemeClr val="accent2"/>
              </a:solidFill>
              <a:latin typeface="Consolas" panose="020B0609020204030204" pitchFamily="49" charset="0"/>
            </a:endParaRPr>
          </a:p>
          <a:p>
            <a:r>
              <a:rPr lang="en-US" sz="2000" b="1" dirty="0">
                <a:solidFill>
                  <a:schemeClr val="accent2"/>
                </a:solidFill>
                <a:latin typeface="Consolas" panose="020B0609020204030204" pitchFamily="49" charset="0"/>
              </a:rPr>
              <a:t>def </a:t>
            </a:r>
            <a:r>
              <a:rPr lang="en-US" sz="2000" b="1" dirty="0">
                <a:solidFill>
                  <a:srgbClr val="7030A0"/>
                </a:solidFill>
                <a:latin typeface="Consolas" panose="020B0609020204030204" pitchFamily="49" charset="0"/>
              </a:rPr>
              <a:t>fib2</a:t>
            </a:r>
            <a:r>
              <a:rPr lang="en-US" sz="2000" b="1" dirty="0">
                <a:solidFill>
                  <a:schemeClr val="accent2"/>
                </a:solidFill>
                <a:latin typeface="Consolas" panose="020B0609020204030204" pitchFamily="49" charset="0"/>
              </a:rPr>
              <a:t>(n):</a:t>
            </a:r>
            <a:endParaRPr lang="zh-CN" altLang="en-US" sz="2000" b="1" dirty="0">
              <a:solidFill>
                <a:schemeClr val="accent2"/>
              </a:solidFill>
              <a:latin typeface="Consolas" panose="020B0609020204030204" pitchFamily="49" charset="0"/>
            </a:endParaRPr>
          </a:p>
          <a:p>
            <a:r>
              <a:rPr lang="en-US" sz="2000" b="1" dirty="0">
                <a:solidFill>
                  <a:schemeClr val="accent2"/>
                </a:solidFill>
                <a:latin typeface="Consolas" panose="020B0609020204030204" pitchFamily="49" charset="0"/>
              </a:rPr>
              <a:t>    result=[]</a:t>
            </a:r>
            <a:endParaRPr lang="zh-CN" altLang="en-US" sz="2000" b="1" dirty="0">
              <a:solidFill>
                <a:schemeClr val="accent2"/>
              </a:solidFill>
              <a:latin typeface="Consolas" panose="020B0609020204030204" pitchFamily="49" charset="0"/>
            </a:endParaRPr>
          </a:p>
          <a:p>
            <a:r>
              <a:rPr lang="en-US" sz="2000" b="1" dirty="0">
                <a:solidFill>
                  <a:schemeClr val="accent2"/>
                </a:solidFill>
                <a:latin typeface="Consolas" panose="020B0609020204030204" pitchFamily="49" charset="0"/>
              </a:rPr>
              <a:t>    </a:t>
            </a:r>
            <a:r>
              <a:rPr lang="en-US" sz="2000" b="1" dirty="0" err="1">
                <a:solidFill>
                  <a:schemeClr val="accent2"/>
                </a:solidFill>
                <a:latin typeface="Consolas" panose="020B0609020204030204" pitchFamily="49" charset="0"/>
              </a:rPr>
              <a:t>a,b</a:t>
            </a:r>
            <a:r>
              <a:rPr lang="en-US" sz="2000" b="1" dirty="0">
                <a:solidFill>
                  <a:schemeClr val="accent2"/>
                </a:solidFill>
                <a:latin typeface="Consolas" panose="020B0609020204030204" pitchFamily="49" charset="0"/>
              </a:rPr>
              <a:t>=0,1</a:t>
            </a:r>
            <a:endParaRPr lang="zh-CN" altLang="en-US" sz="2000" b="1" dirty="0">
              <a:solidFill>
                <a:schemeClr val="accent2"/>
              </a:solidFill>
              <a:latin typeface="Consolas" panose="020B0609020204030204" pitchFamily="49" charset="0"/>
            </a:endParaRPr>
          </a:p>
          <a:p>
            <a:r>
              <a:rPr lang="en-US" sz="2000" b="1" dirty="0">
                <a:solidFill>
                  <a:schemeClr val="accent2"/>
                </a:solidFill>
                <a:latin typeface="Consolas" panose="020B0609020204030204" pitchFamily="49" charset="0"/>
              </a:rPr>
              <a:t>    while b&lt;n:</a:t>
            </a:r>
            <a:endParaRPr lang="zh-CN" altLang="en-US" sz="2000" b="1" dirty="0">
              <a:solidFill>
                <a:schemeClr val="accent2"/>
              </a:solidFill>
              <a:latin typeface="Consolas" panose="020B0609020204030204" pitchFamily="49" charset="0"/>
            </a:endParaRPr>
          </a:p>
          <a:p>
            <a:r>
              <a:rPr lang="en-US" sz="2000" b="1" dirty="0">
                <a:solidFill>
                  <a:schemeClr val="accent2"/>
                </a:solidFill>
                <a:latin typeface="Consolas" panose="020B0609020204030204" pitchFamily="49" charset="0"/>
              </a:rPr>
              <a:t>        </a:t>
            </a:r>
            <a:r>
              <a:rPr lang="en-US" sz="2000" b="1" dirty="0" err="1">
                <a:solidFill>
                  <a:schemeClr val="accent2"/>
                </a:solidFill>
                <a:latin typeface="Consolas" panose="020B0609020204030204" pitchFamily="49" charset="0"/>
              </a:rPr>
              <a:t>result.append</a:t>
            </a:r>
            <a:r>
              <a:rPr lang="en-US" sz="2000" b="1" dirty="0">
                <a:solidFill>
                  <a:schemeClr val="accent2"/>
                </a:solidFill>
                <a:latin typeface="Consolas" panose="020B0609020204030204" pitchFamily="49" charset="0"/>
              </a:rPr>
              <a:t>(b)</a:t>
            </a:r>
            <a:endParaRPr lang="zh-CN" altLang="en-US" sz="2000" b="1" dirty="0">
              <a:solidFill>
                <a:schemeClr val="accent2"/>
              </a:solidFill>
              <a:latin typeface="Consolas" panose="020B0609020204030204" pitchFamily="49" charset="0"/>
            </a:endParaRPr>
          </a:p>
          <a:p>
            <a:r>
              <a:rPr lang="en-US" sz="2000" b="1" dirty="0">
                <a:solidFill>
                  <a:schemeClr val="accent2"/>
                </a:solidFill>
                <a:latin typeface="Consolas" panose="020B0609020204030204" pitchFamily="49" charset="0"/>
              </a:rPr>
              <a:t>        </a:t>
            </a:r>
            <a:r>
              <a:rPr lang="en-US" sz="2000" b="1" dirty="0" err="1">
                <a:solidFill>
                  <a:schemeClr val="accent2"/>
                </a:solidFill>
                <a:latin typeface="Consolas" panose="020B0609020204030204" pitchFamily="49" charset="0"/>
              </a:rPr>
              <a:t>a,b</a:t>
            </a:r>
            <a:r>
              <a:rPr lang="en-US" sz="2000" b="1" dirty="0">
                <a:solidFill>
                  <a:schemeClr val="accent2"/>
                </a:solidFill>
                <a:latin typeface="Consolas" panose="020B0609020204030204" pitchFamily="49" charset="0"/>
              </a:rPr>
              <a:t>=</a:t>
            </a:r>
            <a:r>
              <a:rPr lang="en-US" sz="2000" b="1" dirty="0" err="1">
                <a:solidFill>
                  <a:schemeClr val="accent2"/>
                </a:solidFill>
                <a:latin typeface="Consolas" panose="020B0609020204030204" pitchFamily="49" charset="0"/>
              </a:rPr>
              <a:t>b,a+b</a:t>
            </a:r>
            <a:endParaRPr lang="zh-CN" altLang="en-US" sz="2000" b="1" dirty="0">
              <a:solidFill>
                <a:schemeClr val="accent2"/>
              </a:solidFill>
              <a:latin typeface="Consolas" panose="020B0609020204030204" pitchFamily="49" charset="0"/>
            </a:endParaRPr>
          </a:p>
          <a:p>
            <a:r>
              <a:rPr lang="en-US" sz="2000" b="1" dirty="0">
                <a:solidFill>
                  <a:schemeClr val="accent2"/>
                </a:solidFill>
                <a:latin typeface="Consolas" panose="020B0609020204030204" pitchFamily="49" charset="0"/>
              </a:rPr>
              <a:t>    </a:t>
            </a:r>
            <a:r>
              <a:rPr lang="en-US" sz="2000" b="1" dirty="0">
                <a:solidFill>
                  <a:srgbClr val="FF0000"/>
                </a:solidFill>
                <a:latin typeface="Consolas" panose="020B0609020204030204" pitchFamily="49" charset="0"/>
              </a:rPr>
              <a:t>return</a:t>
            </a:r>
            <a:r>
              <a:rPr lang="en-US" sz="2000" b="1" dirty="0">
                <a:solidFill>
                  <a:schemeClr val="accent2"/>
                </a:solidFill>
                <a:latin typeface="Consolas" panose="020B0609020204030204" pitchFamily="49" charset="0"/>
              </a:rPr>
              <a:t> result</a:t>
            </a:r>
            <a:endParaRPr lang="zh-CN" altLang="en-US" sz="2000" b="1" dirty="0">
              <a:solidFill>
                <a:schemeClr val="accent2"/>
              </a:solidFill>
              <a:latin typeface="Consolas" panose="020B0609020204030204" pitchFamily="49" charset="0"/>
            </a:endParaRPr>
          </a:p>
        </p:txBody>
      </p:sp>
      <p:cxnSp>
        <p:nvCxnSpPr>
          <p:cNvPr id="6" name="直接连接符 5"/>
          <p:cNvCxnSpPr/>
          <p:nvPr/>
        </p:nvCxnSpPr>
        <p:spPr bwMode="auto">
          <a:xfrm>
            <a:off x="1403648" y="4077072"/>
            <a:ext cx="2736304" cy="0"/>
          </a:xfrm>
          <a:prstGeom prst="line">
            <a:avLst/>
          </a:prstGeom>
          <a:solidFill>
            <a:schemeClr val="accent1"/>
          </a:solidFill>
          <a:ln w="9525" cap="flat" cmpd="sng" algn="ctr">
            <a:solidFill>
              <a:srgbClr val="00B05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文本框 6"/>
          <p:cNvSpPr txBox="1"/>
          <p:nvPr/>
        </p:nvSpPr>
        <p:spPr>
          <a:xfrm>
            <a:off x="5580111" y="2924944"/>
            <a:ext cx="2548193" cy="707886"/>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altLang="zh-CN" sz="2000" b="1">
                <a:latin typeface="+mj-ea"/>
                <a:ea typeface="+mj-ea"/>
              </a:rPr>
              <a:t>fib1</a:t>
            </a:r>
            <a:r>
              <a:rPr lang="zh-CN" altLang="en-US" sz="2000" b="1">
                <a:latin typeface="+mj-ea"/>
                <a:ea typeface="+mj-ea"/>
              </a:rPr>
              <a:t>功能：</a:t>
            </a:r>
            <a:endParaRPr lang="en-US" altLang="zh-CN" sz="2000" b="1">
              <a:latin typeface="+mj-ea"/>
              <a:ea typeface="+mj-ea"/>
            </a:endParaRPr>
          </a:p>
          <a:p>
            <a:r>
              <a:rPr lang="zh-CN" altLang="en-US" sz="2000" b="1">
                <a:latin typeface="+mj-ea"/>
                <a:ea typeface="+mj-ea"/>
              </a:rPr>
              <a:t>输出</a:t>
            </a:r>
            <a:r>
              <a:rPr lang="en-US" altLang="zh-CN" sz="2000" b="1">
                <a:latin typeface="+mj-ea"/>
                <a:ea typeface="+mj-ea"/>
              </a:rPr>
              <a:t>&lt;n</a:t>
            </a:r>
            <a:r>
              <a:rPr lang="zh-CN" altLang="en-US" sz="2000" b="1">
                <a:latin typeface="+mj-ea"/>
                <a:ea typeface="+mj-ea"/>
              </a:rPr>
              <a:t>的数列元素</a:t>
            </a:r>
          </a:p>
        </p:txBody>
      </p:sp>
      <p:sp>
        <p:nvSpPr>
          <p:cNvPr id="8" name="文本框 7"/>
          <p:cNvSpPr txBox="1"/>
          <p:nvPr/>
        </p:nvSpPr>
        <p:spPr>
          <a:xfrm>
            <a:off x="5604454" y="4869160"/>
            <a:ext cx="3144010" cy="1015663"/>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altLang="zh-CN" sz="2000" b="1">
                <a:latin typeface="+mj-ea"/>
                <a:ea typeface="+mj-ea"/>
              </a:rPr>
              <a:t>fib2</a:t>
            </a:r>
            <a:r>
              <a:rPr lang="zh-CN" altLang="en-US" sz="2000" b="1">
                <a:latin typeface="+mj-ea"/>
                <a:ea typeface="+mj-ea"/>
              </a:rPr>
              <a:t>功能：</a:t>
            </a:r>
            <a:endParaRPr lang="en-US" altLang="zh-CN" sz="2000" b="1">
              <a:latin typeface="+mj-ea"/>
              <a:ea typeface="+mj-ea"/>
            </a:endParaRPr>
          </a:p>
          <a:p>
            <a:r>
              <a:rPr lang="zh-CN" altLang="en-US" sz="2000" b="1">
                <a:latin typeface="+mj-ea"/>
                <a:ea typeface="+mj-ea"/>
              </a:rPr>
              <a:t>函数值是 </a:t>
            </a:r>
            <a:r>
              <a:rPr lang="en-US" altLang="zh-CN" sz="2000" b="1">
                <a:latin typeface="+mj-ea"/>
                <a:ea typeface="+mj-ea"/>
              </a:rPr>
              <a:t>result</a:t>
            </a:r>
            <a:r>
              <a:rPr lang="zh-CN" altLang="en-US" sz="2000" b="1">
                <a:latin typeface="+mj-ea"/>
                <a:ea typeface="+mj-ea"/>
              </a:rPr>
              <a:t>列表（</a:t>
            </a:r>
            <a:r>
              <a:rPr lang="en-US" altLang="zh-CN" sz="2000" b="1">
                <a:latin typeface="+mj-ea"/>
                <a:ea typeface="+mj-ea"/>
              </a:rPr>
              <a:t>&lt;n</a:t>
            </a:r>
            <a:r>
              <a:rPr lang="zh-CN" altLang="en-US" sz="2000" b="1">
                <a:latin typeface="+mj-ea"/>
                <a:ea typeface="+mj-ea"/>
              </a:rPr>
              <a:t>的数列元素）</a:t>
            </a:r>
          </a:p>
        </p:txBody>
      </p:sp>
      <p:sp>
        <p:nvSpPr>
          <p:cNvPr id="5" name="文本框 4">
            <a:extLst>
              <a:ext uri="{FF2B5EF4-FFF2-40B4-BE49-F238E27FC236}">
                <a16:creationId xmlns:a16="http://schemas.microsoft.com/office/drawing/2014/main" id="{E9FFFBC1-8ACE-400B-A55C-35DB40D65E8C}"/>
              </a:ext>
            </a:extLst>
          </p:cNvPr>
          <p:cNvSpPr txBox="1"/>
          <p:nvPr/>
        </p:nvSpPr>
        <p:spPr>
          <a:xfrm>
            <a:off x="5580111" y="1752823"/>
            <a:ext cx="2428870" cy="646331"/>
          </a:xfrm>
          <a:prstGeom prst="rect">
            <a:avLst/>
          </a:prstGeom>
          <a:noFill/>
        </p:spPr>
        <p:txBody>
          <a:bodyPr wrap="none" rtlCol="0">
            <a:spAutoFit/>
          </a:bodyPr>
          <a:lstStyle/>
          <a:p>
            <a:r>
              <a:rPr lang="en-US" altLang="zh-CN" kern="1200" dirty="0"/>
              <a:t>Fibonacci</a:t>
            </a:r>
            <a:r>
              <a:rPr lang="zh-CN" altLang="en-US" kern="1200" dirty="0"/>
              <a:t>数列</a:t>
            </a:r>
            <a:r>
              <a:rPr lang="en-US" altLang="zh-CN" kern="1200" dirty="0"/>
              <a:t>:</a:t>
            </a:r>
            <a:endParaRPr lang="en-US" altLang="zh-CN" dirty="0"/>
          </a:p>
          <a:p>
            <a:r>
              <a:rPr lang="en-US" altLang="zh-CN" dirty="0"/>
              <a:t>1  1  2  3  5  8  13  21 </a:t>
            </a:r>
            <a:endParaRPr lang="zh-CN" altLang="en-US" dirty="0"/>
          </a:p>
        </p:txBody>
      </p:sp>
      <p:sp>
        <p:nvSpPr>
          <p:cNvPr id="9" name="文本框 8">
            <a:extLst>
              <a:ext uri="{FF2B5EF4-FFF2-40B4-BE49-F238E27FC236}">
                <a16:creationId xmlns:a16="http://schemas.microsoft.com/office/drawing/2014/main" id="{AE960B03-2AD1-4ED2-8166-E5BE6EB7E17D}"/>
              </a:ext>
            </a:extLst>
          </p:cNvPr>
          <p:cNvSpPr txBox="1"/>
          <p:nvPr/>
        </p:nvSpPr>
        <p:spPr>
          <a:xfrm>
            <a:off x="5515379" y="3753906"/>
            <a:ext cx="1338828" cy="646331"/>
          </a:xfrm>
          <a:prstGeom prst="rect">
            <a:avLst/>
          </a:prstGeom>
          <a:noFill/>
        </p:spPr>
        <p:txBody>
          <a:bodyPr wrap="none" rtlCol="0">
            <a:spAutoFit/>
          </a:bodyPr>
          <a:lstStyle/>
          <a:p>
            <a:r>
              <a:rPr lang="en-US" altLang="zh-CN" dirty="0"/>
              <a:t>fib1(7)</a:t>
            </a:r>
          </a:p>
          <a:p>
            <a:r>
              <a:rPr lang="en-US" altLang="zh-CN" dirty="0"/>
              <a:t>1  1  2  3  5</a:t>
            </a:r>
            <a:endParaRPr lang="zh-CN" altLang="en-US" dirty="0"/>
          </a:p>
        </p:txBody>
      </p:sp>
      <p:sp>
        <p:nvSpPr>
          <p:cNvPr id="11" name="文本框 10">
            <a:extLst>
              <a:ext uri="{FF2B5EF4-FFF2-40B4-BE49-F238E27FC236}">
                <a16:creationId xmlns:a16="http://schemas.microsoft.com/office/drawing/2014/main" id="{62FAF871-90B0-4E30-BB90-007839577029}"/>
              </a:ext>
            </a:extLst>
          </p:cNvPr>
          <p:cNvSpPr txBox="1"/>
          <p:nvPr/>
        </p:nvSpPr>
        <p:spPr>
          <a:xfrm>
            <a:off x="5572469" y="6030580"/>
            <a:ext cx="3241048" cy="646331"/>
          </a:xfrm>
          <a:prstGeom prst="rect">
            <a:avLst/>
          </a:prstGeom>
          <a:noFill/>
        </p:spPr>
        <p:txBody>
          <a:bodyPr wrap="square">
            <a:spAutoFit/>
          </a:bodyPr>
          <a:lstStyle/>
          <a:p>
            <a:r>
              <a:rPr lang="en-US" altLang="zh-CN" dirty="0"/>
              <a:t>fib2(7)</a:t>
            </a:r>
          </a:p>
          <a:p>
            <a:r>
              <a:rPr lang="zh-CN" altLang="en-US" dirty="0"/>
              <a:t>函数返回列表</a:t>
            </a:r>
            <a:r>
              <a:rPr lang="en-US" altLang="zh-CN" dirty="0"/>
              <a:t>[1, 1, 2, 3, 5]</a:t>
            </a:r>
            <a:endParaRPr lang="zh-CN" altLang="en-US" dirty="0"/>
          </a:p>
        </p:txBody>
      </p:sp>
    </p:spTree>
    <p:extLst>
      <p:ext uri="{BB962C8B-B14F-4D97-AF65-F5344CB8AC3E}">
        <p14:creationId xmlns:p14="http://schemas.microsoft.com/office/powerpoint/2010/main" val="3493634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5536" y="1052736"/>
            <a:ext cx="8352928" cy="2351221"/>
          </a:xfrm>
          <a:prstGeom prst="rect">
            <a:avLst/>
          </a:prstGeom>
          <a:solidFill>
            <a:schemeClr val="accent1">
              <a:lumMod val="20000"/>
              <a:lumOff val="80000"/>
            </a:schemeClr>
          </a:solidFill>
        </p:spPr>
        <p:txBody>
          <a:bodyPr wrap="square">
            <a:spAutoFit/>
          </a:bodyPr>
          <a:lstStyle/>
          <a:p>
            <a:pPr marL="342900" indent="-342900">
              <a:lnSpc>
                <a:spcPct val="150000"/>
              </a:lnSpc>
              <a:buFont typeface="Arial" panose="020B0604020202020204" pitchFamily="34" charset="0"/>
              <a:buChar char="•"/>
            </a:pPr>
            <a:r>
              <a:rPr lang="zh-CN" altLang="en-US" sz="2000" b="1">
                <a:latin typeface="微软雅黑" pitchFamily="34" charset="-122"/>
                <a:ea typeface="微软雅黑" pitchFamily="34" charset="-122"/>
              </a:rPr>
              <a:t>导入模块的语句：</a:t>
            </a:r>
            <a:endParaRPr lang="zh-CN" altLang="en-US" sz="2000" b="1" dirty="0">
              <a:latin typeface="微软雅黑" pitchFamily="34" charset="-122"/>
              <a:ea typeface="微软雅黑" pitchFamily="34" charset="-122"/>
            </a:endParaRPr>
          </a:p>
          <a:p>
            <a:pPr>
              <a:lnSpc>
                <a:spcPct val="150000"/>
              </a:lnSpc>
            </a:pPr>
            <a:r>
              <a:rPr lang="en-US" sz="2000" b="1" dirty="0">
                <a:latin typeface="微软雅黑" pitchFamily="34" charset="-122"/>
                <a:ea typeface="微软雅黑" pitchFamily="34" charset="-122"/>
              </a:rPr>
              <a:t>&gt;&gt;&gt; </a:t>
            </a:r>
            <a:r>
              <a:rPr lang="en-US" sz="2000" b="1" dirty="0">
                <a:solidFill>
                  <a:schemeClr val="accent2"/>
                </a:solidFill>
                <a:latin typeface="Consolas" panose="020B0609020204030204" pitchFamily="49" charset="0"/>
              </a:rPr>
              <a:t>import </a:t>
            </a:r>
            <a:r>
              <a:rPr lang="en-US" sz="2000" b="1" dirty="0" err="1">
                <a:solidFill>
                  <a:schemeClr val="accent2"/>
                </a:solidFill>
                <a:latin typeface="Consolas" panose="020B0609020204030204" pitchFamily="49" charset="0"/>
              </a:rPr>
              <a:t>fibo</a:t>
            </a:r>
            <a:endParaRPr lang="zh-CN" altLang="en-US" sz="2000" b="1" dirty="0">
              <a:solidFill>
                <a:schemeClr val="accent2"/>
              </a:solidFill>
              <a:latin typeface="Consolas" panose="020B0609020204030204" pitchFamily="49" charset="0"/>
            </a:endParaRPr>
          </a:p>
          <a:p>
            <a:pPr marL="342900" indent="-342900">
              <a:lnSpc>
                <a:spcPct val="150000"/>
              </a:lnSpc>
              <a:buFont typeface="Arial" panose="020B0604020202020204" pitchFamily="34" charset="0"/>
              <a:buChar char="•"/>
            </a:pPr>
            <a:r>
              <a:rPr lang="zh-CN" altLang="en-US" sz="2000" b="1">
                <a:latin typeface="微软雅黑" pitchFamily="34" charset="-122"/>
                <a:ea typeface="微软雅黑" pitchFamily="34" charset="-122"/>
              </a:rPr>
              <a:t>需要</a:t>
            </a:r>
            <a:r>
              <a:rPr lang="zh-CN" altLang="en-US" sz="2000" b="1" dirty="0">
                <a:latin typeface="微软雅黑" pitchFamily="34" charset="-122"/>
                <a:ea typeface="微软雅黑" pitchFamily="34" charset="-122"/>
              </a:rPr>
              <a:t>使用模块名来调用函数。例如：</a:t>
            </a:r>
          </a:p>
          <a:p>
            <a:pPr>
              <a:lnSpc>
                <a:spcPct val="150000"/>
              </a:lnSpc>
            </a:pPr>
            <a:r>
              <a:rPr lang="en-US" sz="2000" b="1" dirty="0">
                <a:latin typeface="微软雅黑" pitchFamily="34" charset="-122"/>
                <a:ea typeface="微软雅黑" pitchFamily="34" charset="-122"/>
              </a:rPr>
              <a:t>&gt;&gt;&gt; </a:t>
            </a:r>
            <a:r>
              <a:rPr lang="en-US" sz="2000" b="1" dirty="0">
                <a:solidFill>
                  <a:schemeClr val="accent2"/>
                </a:solidFill>
                <a:latin typeface="Consolas" panose="020B0609020204030204" pitchFamily="49" charset="0"/>
              </a:rPr>
              <a:t>fibo.fib1(1000)</a:t>
            </a:r>
            <a:endParaRPr lang="zh-CN" altLang="en-US" sz="2000" b="1" dirty="0">
              <a:solidFill>
                <a:schemeClr val="accent2"/>
              </a:solidFill>
              <a:latin typeface="Consolas" panose="020B0609020204030204" pitchFamily="49" charset="0"/>
            </a:endParaRPr>
          </a:p>
          <a:p>
            <a:pPr>
              <a:lnSpc>
                <a:spcPct val="150000"/>
              </a:lnSpc>
            </a:pPr>
            <a:r>
              <a:rPr lang="en-US" sz="2000" b="1" dirty="0">
                <a:solidFill>
                  <a:schemeClr val="accent2"/>
                </a:solidFill>
                <a:latin typeface="Consolas" panose="020B0609020204030204" pitchFamily="49" charset="0"/>
              </a:rPr>
              <a:t>1 1 2 3 5 8 13 21 34 55 89 144 233 377 610 987</a:t>
            </a:r>
            <a:endParaRPr lang="zh-CN" altLang="en-US" sz="2000" b="1" dirty="0">
              <a:solidFill>
                <a:schemeClr val="accent2"/>
              </a:solidFill>
              <a:latin typeface="Consolas" panose="020B0609020204030204" pitchFamily="49" charset="0"/>
            </a:endParaRPr>
          </a:p>
        </p:txBody>
      </p:sp>
      <p:sp>
        <p:nvSpPr>
          <p:cNvPr id="5" name="矩形 4"/>
          <p:cNvSpPr/>
          <p:nvPr/>
        </p:nvSpPr>
        <p:spPr>
          <a:xfrm>
            <a:off x="323528" y="3836560"/>
            <a:ext cx="8424936" cy="1938992"/>
          </a:xfrm>
          <a:prstGeom prst="rect">
            <a:avLst/>
          </a:prstGeom>
          <a:solidFill>
            <a:schemeClr val="accent1">
              <a:lumMod val="20000"/>
              <a:lumOff val="80000"/>
            </a:schemeClr>
          </a:solidFill>
        </p:spPr>
        <p:txBody>
          <a:bodyPr wrap="square">
            <a:spAutoFit/>
          </a:bodyPr>
          <a:lstStyle/>
          <a:p>
            <a:pPr marL="342900" indent="-342900">
              <a:lnSpc>
                <a:spcPct val="150000"/>
              </a:lnSpc>
              <a:buFont typeface="Arial" panose="020B0604020202020204" pitchFamily="34" charset="0"/>
              <a:buChar char="•"/>
            </a:pPr>
            <a:r>
              <a:rPr lang="zh-CN" altLang="en-US" sz="2000" b="1">
                <a:latin typeface="微软雅黑" pitchFamily="34" charset="-122"/>
                <a:ea typeface="微软雅黑" pitchFamily="34" charset="-122"/>
              </a:rPr>
              <a:t>一次性</a:t>
            </a:r>
            <a:r>
              <a:rPr lang="zh-CN" altLang="en-US" sz="2000" b="1" dirty="0">
                <a:latin typeface="微软雅黑" pitchFamily="34" charset="-122"/>
                <a:ea typeface="微软雅黑" pitchFamily="34" charset="-122"/>
              </a:rPr>
              <a:t>把模块中的所有函数、变量都导入到当前</a:t>
            </a:r>
            <a:r>
              <a:rPr lang="zh-CN" altLang="en-US" sz="2000" b="1">
                <a:latin typeface="微软雅黑" pitchFamily="34" charset="-122"/>
                <a:ea typeface="微软雅黑" pitchFamily="34" charset="-122"/>
              </a:rPr>
              <a:t>命名空间</a:t>
            </a:r>
            <a:endParaRPr lang="zh-CN" altLang="en-US" sz="2000" b="1" dirty="0">
              <a:latin typeface="微软雅黑" pitchFamily="34" charset="-122"/>
              <a:ea typeface="微软雅黑" pitchFamily="34" charset="-122"/>
            </a:endParaRPr>
          </a:p>
          <a:p>
            <a:pPr>
              <a:lnSpc>
                <a:spcPct val="150000"/>
              </a:lnSpc>
            </a:pPr>
            <a:r>
              <a:rPr lang="en-US" sz="2000" b="1">
                <a:solidFill>
                  <a:schemeClr val="accent2"/>
                </a:solidFill>
                <a:latin typeface="Consolas" panose="020B0609020204030204" pitchFamily="49" charset="0"/>
              </a:rPr>
              <a:t>from </a:t>
            </a:r>
            <a:r>
              <a:rPr lang="en-US" sz="2000" b="1" dirty="0" err="1">
                <a:solidFill>
                  <a:schemeClr val="accent2"/>
                </a:solidFill>
                <a:latin typeface="Consolas" panose="020B0609020204030204" pitchFamily="49" charset="0"/>
              </a:rPr>
              <a:t>fibo</a:t>
            </a:r>
            <a:r>
              <a:rPr lang="en-US" sz="2000" b="1" dirty="0">
                <a:solidFill>
                  <a:schemeClr val="accent2"/>
                </a:solidFill>
                <a:latin typeface="Consolas" panose="020B0609020204030204" pitchFamily="49" charset="0"/>
              </a:rPr>
              <a:t> </a:t>
            </a:r>
            <a:r>
              <a:rPr lang="en-US" sz="2000" b="1">
                <a:solidFill>
                  <a:schemeClr val="accent2"/>
                </a:solidFill>
                <a:latin typeface="Consolas" panose="020B0609020204030204" pitchFamily="49" charset="0"/>
              </a:rPr>
              <a:t>import *</a:t>
            </a:r>
          </a:p>
          <a:p>
            <a:pPr>
              <a:lnSpc>
                <a:spcPct val="150000"/>
              </a:lnSpc>
            </a:pPr>
            <a:r>
              <a:rPr lang="en-US" sz="2000" b="1">
                <a:solidFill>
                  <a:schemeClr val="accent2"/>
                </a:solidFill>
                <a:latin typeface="Consolas" panose="020B0609020204030204" pitchFamily="49" charset="0"/>
              </a:rPr>
              <a:t>fib1(500)</a:t>
            </a:r>
          </a:p>
          <a:p>
            <a:pPr>
              <a:lnSpc>
                <a:spcPct val="150000"/>
              </a:lnSpc>
            </a:pPr>
            <a:r>
              <a:rPr lang="en-US" altLang="zh-CN" sz="2000" b="1">
                <a:solidFill>
                  <a:schemeClr val="accent2"/>
                </a:solidFill>
                <a:latin typeface="Consolas" panose="020B0609020204030204" pitchFamily="49" charset="0"/>
              </a:rPr>
              <a:t>print(fib2(100))</a:t>
            </a:r>
          </a:p>
        </p:txBody>
      </p:sp>
      <p:sp>
        <p:nvSpPr>
          <p:cNvPr id="2" name="矩形 1"/>
          <p:cNvSpPr/>
          <p:nvPr/>
        </p:nvSpPr>
        <p:spPr>
          <a:xfrm>
            <a:off x="2987047" y="116632"/>
            <a:ext cx="1620957" cy="523220"/>
          </a:xfrm>
          <a:prstGeom prst="rect">
            <a:avLst/>
          </a:prstGeom>
        </p:spPr>
        <p:txBody>
          <a:bodyPr wrap="none">
            <a:spAutoFit/>
          </a:bodyPr>
          <a:lstStyle/>
          <a:p>
            <a:r>
              <a:rPr lang="zh-CN" altLang="en-US" sz="2800" b="1">
                <a:latin typeface="微软雅黑" pitchFamily="34" charset="-122"/>
                <a:ea typeface="微软雅黑" pitchFamily="34" charset="-122"/>
              </a:rPr>
              <a:t>导入模块</a:t>
            </a:r>
            <a:endParaRPr lang="zh-CN" altLang="en-US" sz="2800"/>
          </a:p>
        </p:txBody>
      </p:sp>
      <p:sp>
        <p:nvSpPr>
          <p:cNvPr id="3" name="矩形 2"/>
          <p:cNvSpPr/>
          <p:nvPr/>
        </p:nvSpPr>
        <p:spPr>
          <a:xfrm>
            <a:off x="6876256" y="836712"/>
            <a:ext cx="1420582" cy="584775"/>
          </a:xfrm>
          <a:prstGeom prst="rect">
            <a:avLst/>
          </a:prstGeom>
        </p:spPr>
        <p:style>
          <a:lnRef idx="3">
            <a:schemeClr val="lt1"/>
          </a:lnRef>
          <a:fillRef idx="1">
            <a:schemeClr val="accent6"/>
          </a:fillRef>
          <a:effectRef idx="1">
            <a:schemeClr val="accent6"/>
          </a:effectRef>
          <a:fontRef idx="minor">
            <a:schemeClr val="lt1"/>
          </a:fontRef>
        </p:style>
        <p:txBody>
          <a:bodyPr wrap="none" lIns="91440" tIns="45720" rIns="91440" bIns="45720">
            <a:spAutoFit/>
          </a:bodyPr>
          <a:lstStyle/>
          <a:p>
            <a:pPr algn="ctr"/>
            <a:r>
              <a:rPr lang="zh-CN" altLang="en-US" sz="3200" b="1">
                <a:ln w="13462">
                  <a:solidFill>
                    <a:schemeClr val="bg1"/>
                  </a:solidFill>
                  <a:prstDash val="solid"/>
                </a:ln>
                <a:solidFill>
                  <a:srgbClr val="FF0000"/>
                </a:solidFill>
                <a:effectLst>
                  <a:outerShdw dist="38100" dir="2700000" algn="bl" rotWithShape="0">
                    <a:schemeClr val="accent5"/>
                  </a:outerShdw>
                </a:effectLst>
              </a:rPr>
              <a:t>方法一</a:t>
            </a:r>
          </a:p>
        </p:txBody>
      </p:sp>
      <p:sp>
        <p:nvSpPr>
          <p:cNvPr id="6" name="矩形 5"/>
          <p:cNvSpPr/>
          <p:nvPr/>
        </p:nvSpPr>
        <p:spPr>
          <a:xfrm>
            <a:off x="6876256" y="3645024"/>
            <a:ext cx="1420582" cy="584775"/>
          </a:xfrm>
          <a:prstGeom prst="rect">
            <a:avLst/>
          </a:prstGeom>
        </p:spPr>
        <p:style>
          <a:lnRef idx="3">
            <a:schemeClr val="lt1"/>
          </a:lnRef>
          <a:fillRef idx="1">
            <a:schemeClr val="accent6"/>
          </a:fillRef>
          <a:effectRef idx="1">
            <a:schemeClr val="accent6"/>
          </a:effectRef>
          <a:fontRef idx="minor">
            <a:schemeClr val="lt1"/>
          </a:fontRef>
        </p:style>
        <p:txBody>
          <a:bodyPr wrap="none" lIns="91440" tIns="45720" rIns="91440" bIns="45720">
            <a:spAutoFit/>
          </a:bodyPr>
          <a:lstStyle/>
          <a:p>
            <a:pPr algn="ctr"/>
            <a:r>
              <a:rPr lang="zh-CN" altLang="en-US" sz="3200" b="1">
                <a:ln w="13462">
                  <a:solidFill>
                    <a:schemeClr val="bg1"/>
                  </a:solidFill>
                  <a:prstDash val="solid"/>
                </a:ln>
                <a:solidFill>
                  <a:srgbClr val="FF0000"/>
                </a:solidFill>
                <a:effectLst>
                  <a:outerShdw dist="38100" dir="2700000" algn="bl" rotWithShape="0">
                    <a:schemeClr val="accent5"/>
                  </a:outerShdw>
                </a:effectLst>
              </a:rPr>
              <a:t>方法二</a:t>
            </a:r>
          </a:p>
        </p:txBody>
      </p:sp>
      <p:sp>
        <p:nvSpPr>
          <p:cNvPr id="7" name="矩形 6"/>
          <p:cNvSpPr/>
          <p:nvPr/>
        </p:nvSpPr>
        <p:spPr>
          <a:xfrm>
            <a:off x="340993" y="5775552"/>
            <a:ext cx="5094312" cy="463332"/>
          </a:xfrm>
          <a:prstGeom prst="rect">
            <a:avLst/>
          </a:prstGeom>
        </p:spPr>
        <p:txBody>
          <a:bodyPr wrap="square">
            <a:spAutoFit/>
          </a:bodyPr>
          <a:lstStyle/>
          <a:p>
            <a:pPr>
              <a:lnSpc>
                <a:spcPct val="150000"/>
              </a:lnSpc>
            </a:pPr>
            <a:r>
              <a:rPr lang="en-US" altLang="zh-CN" b="1">
                <a:latin typeface="Consolas" panose="020B0609020204030204" pitchFamily="49" charset="0"/>
              </a:rPr>
              <a:t>1 1 2 3 5 8 13 21 34 55 89 144 233 377</a:t>
            </a:r>
            <a:endParaRPr lang="zh-CN" altLang="en-US" b="1" dirty="0">
              <a:latin typeface="Consolas" panose="020B0609020204030204" pitchFamily="49" charset="0"/>
            </a:endParaRPr>
          </a:p>
        </p:txBody>
      </p:sp>
      <p:sp>
        <p:nvSpPr>
          <p:cNvPr id="8" name="矩形 7"/>
          <p:cNvSpPr/>
          <p:nvPr/>
        </p:nvSpPr>
        <p:spPr>
          <a:xfrm>
            <a:off x="340993" y="6381328"/>
            <a:ext cx="3647152" cy="369332"/>
          </a:xfrm>
          <a:prstGeom prst="rect">
            <a:avLst/>
          </a:prstGeom>
        </p:spPr>
        <p:txBody>
          <a:bodyPr wrap="none">
            <a:spAutoFit/>
          </a:bodyPr>
          <a:lstStyle/>
          <a:p>
            <a:r>
              <a:rPr lang="zh-CN" altLang="en-US"/>
              <a:t>[1, 1, 2, 3, 5, 8, 13, 21, 34, 55, 89]</a:t>
            </a:r>
          </a:p>
        </p:txBody>
      </p:sp>
    </p:spTree>
    <p:extLst>
      <p:ext uri="{BB962C8B-B14F-4D97-AF65-F5344CB8AC3E}">
        <p14:creationId xmlns:p14="http://schemas.microsoft.com/office/powerpoint/2010/main" val="283880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500"/>
                                        <p:tgtEl>
                                          <p:spTgt spid="4">
                                            <p:txEl>
                                              <p:pRg st="0" end="0"/>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wipe(left)">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wipe(left)">
                                      <p:cBhvr>
                                        <p:cTn id="20" dur="500"/>
                                        <p:tgtEl>
                                          <p:spTgt spid="4">
                                            <p:txEl>
                                              <p:pRg st="2" end="2"/>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Effect transition="in" filter="wipe(left)">
                                      <p:cBhvr>
                                        <p:cTn id="23" dur="500"/>
                                        <p:tgtEl>
                                          <p:spTgt spid="4">
                                            <p:txEl>
                                              <p:pRg st="3" end="3"/>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wipe(left)">
                                      <p:cBhvr>
                                        <p:cTn id="26" dur="500"/>
                                        <p:tgtEl>
                                          <p:spTgt spid="4">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arn(inVertical)">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5">
                                            <p:txEl>
                                              <p:pRg st="0" end="0"/>
                                            </p:txEl>
                                          </p:spTgt>
                                        </p:tgtEl>
                                        <p:attrNameLst>
                                          <p:attrName>style.visibility</p:attrName>
                                        </p:attrNameLst>
                                      </p:cBhvr>
                                      <p:to>
                                        <p:strVal val="visible"/>
                                      </p:to>
                                    </p:set>
                                    <p:animEffect transition="in" filter="wipe(left)">
                                      <p:cBhvr>
                                        <p:cTn id="36" dur="500"/>
                                        <p:tgtEl>
                                          <p:spTgt spid="5">
                                            <p:txEl>
                                              <p:pRg st="0" end="0"/>
                                            </p:txEl>
                                          </p:spTgt>
                                        </p:tgtEl>
                                      </p:cBhvr>
                                    </p:animEffect>
                                  </p:childTnLst>
                                </p:cTn>
                              </p:par>
                              <p:par>
                                <p:cTn id="37" presetID="22" presetClass="entr" presetSubtype="8" fill="hold" nodeType="withEffect">
                                  <p:stCondLst>
                                    <p:cond delay="0"/>
                                  </p:stCondLst>
                                  <p:childTnLst>
                                    <p:set>
                                      <p:cBhvr>
                                        <p:cTn id="38" dur="1" fill="hold">
                                          <p:stCondLst>
                                            <p:cond delay="0"/>
                                          </p:stCondLst>
                                        </p:cTn>
                                        <p:tgtEl>
                                          <p:spTgt spid="5">
                                            <p:txEl>
                                              <p:pRg st="1" end="1"/>
                                            </p:txEl>
                                          </p:spTgt>
                                        </p:tgtEl>
                                        <p:attrNameLst>
                                          <p:attrName>style.visibility</p:attrName>
                                        </p:attrNameLst>
                                      </p:cBhvr>
                                      <p:to>
                                        <p:strVal val="visible"/>
                                      </p:to>
                                    </p:set>
                                    <p:animEffect transition="in" filter="wipe(left)">
                                      <p:cBhvr>
                                        <p:cTn id="39" dur="500"/>
                                        <p:tgtEl>
                                          <p:spTgt spid="5">
                                            <p:txEl>
                                              <p:pRg st="1" end="1"/>
                                            </p:txEl>
                                          </p:spTgt>
                                        </p:tgtEl>
                                      </p:cBhvr>
                                    </p:animEffect>
                                  </p:childTnLst>
                                </p:cTn>
                              </p:par>
                              <p:par>
                                <p:cTn id="40" presetID="22" presetClass="entr" presetSubtype="8" fill="hold" nodeType="withEffect">
                                  <p:stCondLst>
                                    <p:cond delay="0"/>
                                  </p:stCondLst>
                                  <p:childTnLst>
                                    <p:set>
                                      <p:cBhvr>
                                        <p:cTn id="41" dur="1" fill="hold">
                                          <p:stCondLst>
                                            <p:cond delay="0"/>
                                          </p:stCondLst>
                                        </p:cTn>
                                        <p:tgtEl>
                                          <p:spTgt spid="5">
                                            <p:txEl>
                                              <p:pRg st="2" end="2"/>
                                            </p:txEl>
                                          </p:spTgt>
                                        </p:tgtEl>
                                        <p:attrNameLst>
                                          <p:attrName>style.visibility</p:attrName>
                                        </p:attrNameLst>
                                      </p:cBhvr>
                                      <p:to>
                                        <p:strVal val="visible"/>
                                      </p:to>
                                    </p:set>
                                    <p:animEffect transition="in" filter="wipe(left)">
                                      <p:cBhvr>
                                        <p:cTn id="42" dur="500"/>
                                        <p:tgtEl>
                                          <p:spTgt spid="5">
                                            <p:txEl>
                                              <p:pRg st="2" end="2"/>
                                            </p:txEl>
                                          </p:spTgt>
                                        </p:tgtEl>
                                      </p:cBhvr>
                                    </p:animEffect>
                                  </p:childTnLst>
                                </p:cTn>
                              </p:par>
                              <p:par>
                                <p:cTn id="43" presetID="22" presetClass="entr" presetSubtype="8" fill="hold" nodeType="withEffect">
                                  <p:stCondLst>
                                    <p:cond delay="0"/>
                                  </p:stCondLst>
                                  <p:childTnLst>
                                    <p:set>
                                      <p:cBhvr>
                                        <p:cTn id="44" dur="1" fill="hold">
                                          <p:stCondLst>
                                            <p:cond delay="0"/>
                                          </p:stCondLst>
                                        </p:cTn>
                                        <p:tgtEl>
                                          <p:spTgt spid="5">
                                            <p:txEl>
                                              <p:pRg st="3" end="3"/>
                                            </p:txEl>
                                          </p:spTgt>
                                        </p:tgtEl>
                                        <p:attrNameLst>
                                          <p:attrName>style.visibility</p:attrName>
                                        </p:attrNameLst>
                                      </p:cBhvr>
                                      <p:to>
                                        <p:strVal val="visible"/>
                                      </p:to>
                                    </p:set>
                                    <p:animEffect transition="in" filter="wipe(left)">
                                      <p:cBhvr>
                                        <p:cTn id="45"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矩形 6"/>
          <p:cNvSpPr/>
          <p:nvPr/>
        </p:nvSpPr>
        <p:spPr>
          <a:xfrm>
            <a:off x="611560" y="2204864"/>
            <a:ext cx="4464496" cy="1152128"/>
          </a:xfrm>
          <a:prstGeom prst="rect">
            <a:avLst/>
          </a:prstGeom>
          <a:solidFill>
            <a:schemeClr val="accent5">
              <a:lumMod val="20000"/>
              <a:lumOff val="80000"/>
            </a:schemeClr>
          </a:solidFill>
          <a:ln>
            <a:solidFill>
              <a:schemeClr val="accent1"/>
            </a:solidFill>
          </a:ln>
        </p:spPr>
        <p:txBody>
          <a:bodyPr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3" name="文本框 2"/>
          <p:cNvSpPr txBox="1"/>
          <p:nvPr/>
        </p:nvSpPr>
        <p:spPr>
          <a:xfrm>
            <a:off x="549608" y="1739462"/>
            <a:ext cx="4886488" cy="4154984"/>
          </a:xfrm>
          <a:prstGeom prst="rect">
            <a:avLst/>
          </a:prstGeom>
          <a:noFill/>
        </p:spPr>
        <p:txBody>
          <a:bodyPr wrap="square" rtlCol="0">
            <a:spAutoFit/>
          </a:bodyPr>
          <a:lstStyle/>
          <a:p>
            <a:pPr>
              <a:lnSpc>
                <a:spcPct val="150000"/>
              </a:lnSpc>
            </a:pPr>
            <a:r>
              <a:rPr lang="en-US" altLang="zh-CN" sz="2200" b="1" dirty="0">
                <a:solidFill>
                  <a:srgbClr val="7030A0"/>
                </a:solidFill>
                <a:latin typeface="微软雅黑" panose="020B0503020204020204" pitchFamily="34" charset="-122"/>
                <a:ea typeface="微软雅黑" panose="020B0503020204020204" pitchFamily="34" charset="-122"/>
              </a:rPr>
              <a:t>from math </a:t>
            </a:r>
            <a:r>
              <a:rPr lang="en-US" altLang="zh-CN" sz="2200" b="1">
                <a:solidFill>
                  <a:srgbClr val="7030A0"/>
                </a:solidFill>
                <a:latin typeface="微软雅黑" panose="020B0503020204020204" pitchFamily="34" charset="-122"/>
                <a:ea typeface="微软雅黑" panose="020B0503020204020204" pitchFamily="34" charset="-122"/>
              </a:rPr>
              <a:t>import *</a:t>
            </a:r>
          </a:p>
          <a:p>
            <a:pPr>
              <a:lnSpc>
                <a:spcPct val="150000"/>
              </a:lnSpc>
            </a:pPr>
            <a:r>
              <a:rPr lang="en-US" altLang="zh-CN" sz="2200" b="1">
                <a:solidFill>
                  <a:srgbClr val="7030A0"/>
                </a:solidFill>
                <a:latin typeface="微软雅黑" panose="020B0503020204020204" pitchFamily="34" charset="-122"/>
                <a:ea typeface="微软雅黑" panose="020B0503020204020204" pitchFamily="34" charset="-122"/>
              </a:rPr>
              <a:t>def f(n):</a:t>
            </a:r>
          </a:p>
          <a:p>
            <a:pPr>
              <a:lnSpc>
                <a:spcPct val="150000"/>
              </a:lnSpc>
            </a:pPr>
            <a:r>
              <a:rPr lang="en-US" altLang="zh-CN" sz="2200" b="1">
                <a:solidFill>
                  <a:srgbClr val="7030A0"/>
                </a:solidFill>
                <a:latin typeface="微软雅黑" panose="020B0503020204020204" pitchFamily="34" charset="-122"/>
                <a:ea typeface="微软雅黑" panose="020B0503020204020204" pitchFamily="34" charset="-122"/>
              </a:rPr>
              <a:t>     return (1 </a:t>
            </a:r>
            <a:r>
              <a:rPr lang="en-US" altLang="zh-CN" sz="2200" b="1" dirty="0">
                <a:solidFill>
                  <a:srgbClr val="7030A0"/>
                </a:solidFill>
                <a:latin typeface="微软雅黑" panose="020B0503020204020204" pitchFamily="34" charset="-122"/>
                <a:ea typeface="微软雅黑" panose="020B0503020204020204" pitchFamily="34" charset="-122"/>
              </a:rPr>
              <a:t>+ log(n)) / (2 * </a:t>
            </a:r>
            <a:r>
              <a:rPr lang="en-US" altLang="zh-CN" sz="2200" b="1">
                <a:solidFill>
                  <a:srgbClr val="7030A0"/>
                </a:solidFill>
                <a:latin typeface="微软雅黑" panose="020B0503020204020204" pitchFamily="34" charset="-122"/>
                <a:ea typeface="微软雅黑" panose="020B0503020204020204" pitchFamily="34" charset="-122"/>
              </a:rPr>
              <a:t>pi)</a:t>
            </a:r>
          </a:p>
          <a:p>
            <a:pPr>
              <a:lnSpc>
                <a:spcPct val="150000"/>
              </a:lnSpc>
            </a:pPr>
            <a:endParaRPr lang="en-US" altLang="zh-CN" sz="2200" b="1" dirty="0">
              <a:solidFill>
                <a:srgbClr val="7030A0"/>
              </a:solidFill>
              <a:latin typeface="微软雅黑" panose="020B0503020204020204" pitchFamily="34" charset="-122"/>
              <a:ea typeface="微软雅黑" panose="020B0503020204020204" pitchFamily="34" charset="-122"/>
            </a:endParaRPr>
          </a:p>
          <a:p>
            <a:pPr>
              <a:lnSpc>
                <a:spcPct val="150000"/>
              </a:lnSpc>
            </a:pPr>
            <a:r>
              <a:rPr lang="en-US" altLang="zh-CN" sz="2200" b="1" dirty="0">
                <a:solidFill>
                  <a:srgbClr val="7030A0"/>
                </a:solidFill>
                <a:latin typeface="微软雅黑" panose="020B0503020204020204" pitchFamily="34" charset="-122"/>
                <a:ea typeface="微软雅黑" panose="020B0503020204020204" pitchFamily="34" charset="-122"/>
              </a:rPr>
              <a:t>y = </a:t>
            </a:r>
            <a:r>
              <a:rPr lang="en-US" altLang="zh-CN" sz="2200" b="1" dirty="0" err="1">
                <a:solidFill>
                  <a:srgbClr val="7030A0"/>
                </a:solidFill>
                <a:latin typeface="微软雅黑" panose="020B0503020204020204" pitchFamily="34" charset="-122"/>
                <a:ea typeface="微软雅黑" panose="020B0503020204020204" pitchFamily="34" charset="-122"/>
              </a:rPr>
              <a:t>exp</a:t>
            </a:r>
            <a:r>
              <a:rPr lang="en-US" altLang="zh-CN" sz="2200" b="1" dirty="0">
                <a:solidFill>
                  <a:srgbClr val="7030A0"/>
                </a:solidFill>
                <a:latin typeface="微软雅黑" panose="020B0503020204020204" pitchFamily="34" charset="-122"/>
                <a:ea typeface="微软雅黑" panose="020B0503020204020204" pitchFamily="34" charset="-122"/>
              </a:rPr>
              <a:t>(2.0)</a:t>
            </a:r>
          </a:p>
          <a:p>
            <a:pPr>
              <a:lnSpc>
                <a:spcPct val="150000"/>
              </a:lnSpc>
            </a:pPr>
            <a:r>
              <a:rPr lang="en-US" altLang="zh-CN" sz="2200" b="1" dirty="0">
                <a:solidFill>
                  <a:srgbClr val="7030A0"/>
                </a:solidFill>
                <a:latin typeface="微软雅黑" panose="020B0503020204020204" pitchFamily="34" charset="-122"/>
                <a:ea typeface="微软雅黑" panose="020B0503020204020204" pitchFamily="34" charset="-122"/>
              </a:rPr>
              <a:t>for n in range(1,101):</a:t>
            </a:r>
          </a:p>
          <a:p>
            <a:pPr>
              <a:lnSpc>
                <a:spcPct val="150000"/>
              </a:lnSpc>
            </a:pPr>
            <a:r>
              <a:rPr lang="en-US" altLang="zh-CN" sz="2200" b="1" dirty="0">
                <a:solidFill>
                  <a:srgbClr val="7030A0"/>
                </a:solidFill>
                <a:latin typeface="微软雅黑" panose="020B0503020204020204" pitchFamily="34" charset="-122"/>
                <a:ea typeface="微软雅黑" panose="020B0503020204020204" pitchFamily="34" charset="-122"/>
              </a:rPr>
              <a:t>    y+=f(n)</a:t>
            </a:r>
          </a:p>
          <a:p>
            <a:pPr>
              <a:lnSpc>
                <a:spcPct val="150000"/>
              </a:lnSpc>
            </a:pPr>
            <a:r>
              <a:rPr lang="en-US" altLang="zh-CN" sz="2200" b="1" dirty="0">
                <a:solidFill>
                  <a:srgbClr val="7030A0"/>
                </a:solidFill>
                <a:latin typeface="微软雅黑" panose="020B0503020204020204" pitchFamily="34" charset="-122"/>
                <a:ea typeface="微软雅黑" panose="020B0503020204020204" pitchFamily="34" charset="-122"/>
              </a:rPr>
              <a:t>print('y=',y)</a:t>
            </a:r>
            <a:endParaRPr lang="zh-CN" altLang="en-US" sz="2200" b="1" dirty="0">
              <a:solidFill>
                <a:srgbClr val="7030A0"/>
              </a:solidFill>
              <a:latin typeface="微软雅黑" panose="020B0503020204020204" pitchFamily="34" charset="-122"/>
              <a:ea typeface="微软雅黑" panose="020B0503020204020204" pitchFamily="34" charset="-122"/>
            </a:endParaRPr>
          </a:p>
        </p:txBody>
      </p:sp>
      <p:sp>
        <p:nvSpPr>
          <p:cNvPr id="4" name="标题 3"/>
          <p:cNvSpPr>
            <a:spLocks noGrp="1"/>
          </p:cNvSpPr>
          <p:nvPr>
            <p:ph type="title"/>
          </p:nvPr>
        </p:nvSpPr>
        <p:spPr/>
        <p:txBody>
          <a:bodyPr/>
          <a:lstStyle/>
          <a:p>
            <a:r>
              <a:rPr lang="en-US" altLang="zh-CN" dirty="0">
                <a:solidFill>
                  <a:srgbClr val="245794"/>
                </a:solidFill>
              </a:rPr>
              <a:t>8.7  </a:t>
            </a:r>
            <a:r>
              <a:rPr lang="zh-CN" altLang="en-US" dirty="0">
                <a:solidFill>
                  <a:srgbClr val="245794"/>
                </a:solidFill>
              </a:rPr>
              <a:t>函数应用举例</a:t>
            </a:r>
            <a:endParaRPr lang="zh-CN" altLang="en-US" dirty="0"/>
          </a:p>
        </p:txBody>
      </p:sp>
      <mc:AlternateContent xmlns:mc="http://schemas.openxmlformats.org/markup-compatibility/2006" xmlns:a14="http://schemas.microsoft.com/office/drawing/2010/main">
        <mc:Choice Requires="a14">
          <p:sp>
            <p:nvSpPr>
              <p:cNvPr id="5" name="内容占位符 4"/>
              <p:cNvSpPr>
                <a:spLocks noGrp="1"/>
              </p:cNvSpPr>
              <p:nvPr>
                <p:ph idx="1"/>
              </p:nvPr>
            </p:nvSpPr>
            <p:spPr>
              <a:xfrm>
                <a:off x="176837" y="948267"/>
                <a:ext cx="8780896" cy="896557"/>
              </a:xfrm>
            </p:spPr>
            <p:txBody>
              <a:bodyPr/>
              <a:lstStyle/>
              <a:p>
                <a:r>
                  <a:rPr lang="zh-CN" altLang="en-US" kern="1200" dirty="0"/>
                  <a:t>例</a:t>
                </a:r>
                <a:r>
                  <a:rPr lang="en-US" altLang="zh-CN" kern="1200" dirty="0"/>
                  <a:t>8-9  </a:t>
                </a:r>
                <a:r>
                  <a:rPr lang="zh-CN" altLang="en-US" kern="1200" dirty="0"/>
                  <a:t>求</a:t>
                </a:r>
                <a:r>
                  <a:rPr lang="en-US" altLang="zh-CN" kern="1200" dirty="0"/>
                  <a:t>y</a:t>
                </a:r>
                <a:r>
                  <a:rPr lang="zh-CN" altLang="en-US" kern="1200" dirty="0"/>
                  <a:t>的值。</a:t>
                </a:r>
                <a14:m>
                  <m:oMath xmlns:m="http://schemas.openxmlformats.org/officeDocument/2006/math">
                    <m:r>
                      <a:rPr lang="en-US" altLang="zh-CN" b="1" i="1" kern="1200" smtClean="0">
                        <a:latin typeface="Cambria Math" panose="02040503050406030204" pitchFamily="18" charset="0"/>
                      </a:rPr>
                      <m:t>𝒚</m:t>
                    </m:r>
                    <m:r>
                      <a:rPr lang="pt-BR" altLang="zh-CN" i="1" kern="1200" smtClean="0">
                        <a:latin typeface="Cambria Math" panose="02040503050406030204" pitchFamily="18" charset="0"/>
                      </a:rPr>
                      <m:t>=</m:t>
                    </m:r>
                    <m:sSup>
                      <m:sSupPr>
                        <m:ctrlPr>
                          <a:rPr lang="pt-BR" altLang="zh-CN" i="1" kern="1200" smtClean="0">
                            <a:latin typeface="Cambria Math" panose="02040503050406030204" pitchFamily="18" charset="0"/>
                          </a:rPr>
                        </m:ctrlPr>
                      </m:sSupPr>
                      <m:e>
                        <m:r>
                          <a:rPr lang="en-US" altLang="zh-CN" b="1" i="1" kern="1200" smtClean="0">
                            <a:latin typeface="Cambria Math" panose="02040503050406030204" pitchFamily="18" charset="0"/>
                          </a:rPr>
                          <m:t>𝒆</m:t>
                        </m:r>
                      </m:e>
                      <m:sup>
                        <m:r>
                          <a:rPr lang="en-US" altLang="zh-CN" b="1" i="1" kern="1200" smtClean="0">
                            <a:latin typeface="Cambria Math" panose="02040503050406030204" pitchFamily="18" charset="0"/>
                          </a:rPr>
                          <m:t>𝟐</m:t>
                        </m:r>
                      </m:sup>
                    </m:sSup>
                    <m:r>
                      <a:rPr lang="pt-BR" altLang="zh-CN" i="1" kern="1200" smtClean="0">
                        <a:latin typeface="Cambria Math" panose="02040503050406030204" pitchFamily="18" charset="0"/>
                      </a:rPr>
                      <m:t>+</m:t>
                    </m:r>
                    <m:nary>
                      <m:naryPr>
                        <m:chr m:val="∑"/>
                        <m:ctrlPr>
                          <a:rPr lang="pt-BR" altLang="zh-CN" i="1" kern="1200" dirty="0" smtClean="0">
                            <a:latin typeface="Cambria Math" panose="02040503050406030204" pitchFamily="18" charset="0"/>
                          </a:rPr>
                        </m:ctrlPr>
                      </m:naryPr>
                      <m:sub>
                        <m:r>
                          <m:rPr>
                            <m:brk m:alnAt="23"/>
                          </m:rPr>
                          <a:rPr lang="en-US" altLang="zh-CN" b="1" i="1" kern="1200" dirty="0" smtClean="0">
                            <a:latin typeface="Cambria Math" panose="02040503050406030204" pitchFamily="18" charset="0"/>
                          </a:rPr>
                          <m:t>𝒏</m:t>
                        </m:r>
                        <m:r>
                          <a:rPr lang="pt-BR" altLang="zh-CN" i="1" kern="1200" dirty="0" smtClean="0">
                            <a:latin typeface="Cambria Math" panose="02040503050406030204" pitchFamily="18" charset="0"/>
                          </a:rPr>
                          <m:t>=1</m:t>
                        </m:r>
                      </m:sub>
                      <m:sup>
                        <m:r>
                          <a:rPr lang="en-US" altLang="zh-CN" b="1" i="1" kern="1200" dirty="0" smtClean="0">
                            <a:latin typeface="Cambria Math" panose="02040503050406030204" pitchFamily="18" charset="0"/>
                          </a:rPr>
                          <m:t>𝟏𝟎𝟎</m:t>
                        </m:r>
                      </m:sup>
                      <m:e>
                        <m:f>
                          <m:fPr>
                            <m:ctrlPr>
                              <a:rPr lang="pt-BR" altLang="zh-CN" i="1" kern="1200" dirty="0" smtClean="0">
                                <a:latin typeface="Cambria Math" panose="02040503050406030204" pitchFamily="18" charset="0"/>
                              </a:rPr>
                            </m:ctrlPr>
                          </m:fPr>
                          <m:num>
                            <m:r>
                              <a:rPr lang="en-US" altLang="zh-CN" b="1" i="1" kern="1200" dirty="0" smtClean="0">
                                <a:latin typeface="Cambria Math" panose="02040503050406030204" pitchFamily="18" charset="0"/>
                              </a:rPr>
                              <m:t>𝟏</m:t>
                            </m:r>
                            <m:r>
                              <a:rPr lang="en-US" altLang="zh-CN" b="1" i="1" kern="1200" dirty="0" smtClean="0">
                                <a:latin typeface="Cambria Math" panose="02040503050406030204" pitchFamily="18" charset="0"/>
                              </a:rPr>
                              <m:t>+</m:t>
                            </m:r>
                            <m:r>
                              <a:rPr lang="en-US" altLang="zh-CN" b="1" i="1" kern="1200" dirty="0" smtClean="0">
                                <a:latin typeface="Cambria Math" panose="02040503050406030204" pitchFamily="18" charset="0"/>
                              </a:rPr>
                              <m:t>𝒍𝒏𝒏</m:t>
                            </m:r>
                          </m:num>
                          <m:den>
                            <m:r>
                              <a:rPr lang="en-US" altLang="zh-CN" b="1" i="1" kern="1200" dirty="0" smtClean="0">
                                <a:latin typeface="Cambria Math" panose="02040503050406030204" pitchFamily="18" charset="0"/>
                              </a:rPr>
                              <m:t>𝟐</m:t>
                            </m:r>
                            <m:r>
                              <a:rPr lang="zh-CN" altLang="en-US" b="1" i="1" kern="1200" dirty="0" smtClean="0">
                                <a:latin typeface="Cambria Math" panose="02040503050406030204" pitchFamily="18" charset="0"/>
                              </a:rPr>
                              <m:t>𝝅</m:t>
                            </m:r>
                          </m:den>
                        </m:f>
                      </m:e>
                    </m:nary>
                  </m:oMath>
                </a14:m>
                <a:endParaRPr lang="zh-CN" altLang="en-US" kern="1200" dirty="0"/>
              </a:p>
              <a:p>
                <a:pPr indent="0">
                  <a:buNone/>
                </a:pPr>
                <a:r>
                  <a:rPr lang="zh-CN" altLang="en-US" kern="1200" dirty="0"/>
                  <a:t>分析：定义</a:t>
                </a:r>
                <a:r>
                  <a:rPr lang="zh-CN" altLang="en-US" kern="1200"/>
                  <a:t>一个函数</a:t>
                </a:r>
                <a:r>
                  <a:rPr lang="zh-CN" altLang="en-US" kern="1200" dirty="0"/>
                  <a:t>求累加项，循环控制累加</a:t>
                </a:r>
                <a:r>
                  <a:rPr lang="en-US" altLang="zh-CN" kern="1200" dirty="0"/>
                  <a:t>100</a:t>
                </a:r>
                <a:r>
                  <a:rPr lang="zh-CN" altLang="en-US" kern="1200" dirty="0"/>
                  <a:t>次。</a:t>
                </a:r>
              </a:p>
            </p:txBody>
          </p:sp>
        </mc:Choice>
        <mc:Fallback xmlns="">
          <p:sp>
            <p:nvSpPr>
              <p:cNvPr id="5" name="内容占位符 4"/>
              <p:cNvSpPr>
                <a:spLocks noGrp="1" noRot="1" noChangeAspect="1" noMove="1" noResize="1" noEditPoints="1" noAdjustHandles="1" noChangeArrowheads="1" noChangeShapeType="1" noTextEdit="1"/>
              </p:cNvSpPr>
              <p:nvPr>
                <p:ph idx="1"/>
              </p:nvPr>
            </p:nvSpPr>
            <p:spPr>
              <a:xfrm>
                <a:off x="176837" y="948267"/>
                <a:ext cx="8780896" cy="896557"/>
              </a:xfrm>
              <a:blipFill>
                <a:blip r:embed="rId2"/>
                <a:stretch>
                  <a:fillRect l="-625" t="-3401" b="-5442"/>
                </a:stretch>
              </a:blipFill>
            </p:spPr>
            <p:txBody>
              <a:bodyPr/>
              <a:lstStyle/>
              <a:p>
                <a:r>
                  <a:rPr lang="zh-CN" altLang="en-US">
                    <a:noFill/>
                  </a:rPr>
                  <a:t> </a:t>
                </a:r>
              </a:p>
            </p:txBody>
          </p:sp>
        </mc:Fallback>
      </mc:AlternateContent>
      <p:sp>
        <p:nvSpPr>
          <p:cNvPr id="6" name="文本框 5"/>
          <p:cNvSpPr txBox="1"/>
          <p:nvPr/>
        </p:nvSpPr>
        <p:spPr>
          <a:xfrm>
            <a:off x="5220072" y="5445224"/>
            <a:ext cx="3312368" cy="707886"/>
          </a:xfrm>
          <a:prstGeom prst="rect">
            <a:avLst/>
          </a:prstGeom>
          <a:noFill/>
        </p:spPr>
        <p:txBody>
          <a:bodyPr wrap="square" rtlCol="0">
            <a:spAutoFit/>
          </a:bodyPr>
          <a:lstStyle/>
          <a:p>
            <a:r>
              <a:rPr lang="zh-CN" altLang="en-US" sz="2000" b="1" dirty="0">
                <a:latin typeface="微软雅黑" pitchFamily="34" charset="-122"/>
                <a:ea typeface="微软雅黑" pitchFamily="34" charset="-122"/>
              </a:rPr>
              <a:t>程序输出结果如下：</a:t>
            </a:r>
          </a:p>
          <a:p>
            <a:r>
              <a:rPr lang="en-US" altLang="zh-CN" sz="2000" b="1" dirty="0">
                <a:solidFill>
                  <a:schemeClr val="accent2"/>
                </a:solidFill>
                <a:latin typeface="Consolas" panose="020B0609020204030204" pitchFamily="49" charset="0"/>
              </a:rPr>
              <a:t>y= 81.19547002494745</a:t>
            </a:r>
            <a:endParaRPr lang="zh-CN" altLang="en-US" sz="2000" b="1" dirty="0">
              <a:solidFill>
                <a:schemeClr val="accent2"/>
              </a:solidFill>
              <a:latin typeface="Consolas" panose="020B0609020204030204" pitchFamily="49" charset="0"/>
            </a:endParaRPr>
          </a:p>
        </p:txBody>
      </p:sp>
    </p:spTree>
    <p:extLst>
      <p:ext uri="{BB962C8B-B14F-4D97-AF65-F5344CB8AC3E}">
        <p14:creationId xmlns:p14="http://schemas.microsoft.com/office/powerpoint/2010/main" val="229055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wipe(left)">
                                      <p:cBhvr>
                                        <p:cTn id="24" dur="500"/>
                                        <p:tgtEl>
                                          <p:spTgt spid="3">
                                            <p:txEl>
                                              <p:pRg st="4" end="4"/>
                                            </p:txEl>
                                          </p:spTgt>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left)">
                                      <p:cBhvr>
                                        <p:cTn id="28" dur="500"/>
                                        <p:tgtEl>
                                          <p:spTgt spid="3">
                                            <p:txEl>
                                              <p:pRg st="5" end="5"/>
                                            </p:txEl>
                                          </p:spTgt>
                                        </p:tgtEl>
                                      </p:cBhvr>
                                    </p:animEffect>
                                  </p:childTnLst>
                                </p:cTn>
                              </p:par>
                            </p:childTnLst>
                          </p:cTn>
                        </p:par>
                        <p:par>
                          <p:cTn id="29" fill="hold">
                            <p:stCondLst>
                              <p:cond delay="1000"/>
                            </p:stCondLst>
                            <p:childTnLst>
                              <p:par>
                                <p:cTn id="30" presetID="22" presetClass="entr" presetSubtype="8" fill="hold" nodeType="after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left)">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left)">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79512" y="4581128"/>
            <a:ext cx="7488832" cy="1440160"/>
          </a:xfrm>
          <a:prstGeom prst="rect">
            <a:avLst/>
          </a:prstGeom>
          <a:solidFill>
            <a:schemeClr val="accent5">
              <a:lumMod val="20000"/>
              <a:lumOff val="80000"/>
            </a:schemeClr>
          </a:solidFill>
          <a:ln>
            <a:solidFill>
              <a:schemeClr val="accent1"/>
            </a:solidFill>
          </a:ln>
        </p:spPr>
        <p:txBody>
          <a:bodyPr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6" name="矩形 5"/>
          <p:cNvSpPr/>
          <p:nvPr/>
        </p:nvSpPr>
        <p:spPr>
          <a:xfrm>
            <a:off x="179512" y="2564904"/>
            <a:ext cx="4896544" cy="1944216"/>
          </a:xfrm>
          <a:prstGeom prst="rect">
            <a:avLst/>
          </a:prstGeom>
          <a:solidFill>
            <a:schemeClr val="accent5">
              <a:lumMod val="20000"/>
              <a:lumOff val="80000"/>
            </a:schemeClr>
          </a:solidFill>
          <a:ln>
            <a:solidFill>
              <a:schemeClr val="accent1"/>
            </a:solidFill>
          </a:ln>
        </p:spPr>
        <p:txBody>
          <a:bodyPr rtlCol="0" anchor="ctr">
            <a:spAutoFit/>
          </a:bodyPr>
          <a:lstStyle/>
          <a:p>
            <a:pPr algn="ctr">
              <a:spcAft>
                <a:spcPts val="0"/>
              </a:spcAft>
            </a:pPr>
            <a:endParaRPr lang="zh-CN" altLang="en-US" kern="0">
              <a:solidFill>
                <a:srgbClr val="800000"/>
              </a:solidFill>
              <a:latin typeface="Courier New"/>
              <a:ea typeface="宋体"/>
              <a:cs typeface="Times New Roman"/>
            </a:endParaRP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107504" y="599888"/>
                <a:ext cx="8780896" cy="1616637"/>
              </a:xfrm>
            </p:spPr>
            <p:txBody>
              <a:bodyPr/>
              <a:lstStyle/>
              <a:p>
                <a:pPr>
                  <a:lnSpc>
                    <a:spcPct val="200000"/>
                  </a:lnSpc>
                </a:pPr>
                <a:r>
                  <a:rPr lang="zh-CN" altLang="en-US" kern="1200" dirty="0"/>
                  <a:t>例</a:t>
                </a:r>
                <a:r>
                  <a:rPr lang="es-ES" altLang="zh-CN" kern="1200" dirty="0"/>
                  <a:t>8-1</a:t>
                </a:r>
                <a:r>
                  <a:rPr lang="en-US" altLang="zh-CN" kern="1200" dirty="0"/>
                  <a:t>0  </a:t>
                </a:r>
                <a:r>
                  <a:rPr lang="zh-CN" altLang="en-US" kern="1200" dirty="0"/>
                  <a:t>先定义函数求</a:t>
                </a:r>
                <a14:m>
                  <m:oMath xmlns:m="http://schemas.openxmlformats.org/officeDocument/2006/math">
                    <m:nary>
                      <m:naryPr>
                        <m:chr m:val="∑"/>
                        <m:limLoc m:val="subSup"/>
                        <m:ctrlPr>
                          <a:rPr lang="zh-CN" altLang="en-US" i="1" kern="1200" smtClean="0">
                            <a:latin typeface="Cambria Math" panose="02040503050406030204" pitchFamily="18" charset="0"/>
                          </a:rPr>
                        </m:ctrlPr>
                      </m:naryPr>
                      <m:sub>
                        <m:r>
                          <m:rPr>
                            <m:sty m:val="p"/>
                            <m:brk m:alnAt="25"/>
                          </m:rPr>
                          <a:rPr lang="en-US" altLang="zh-CN" i="1" kern="1200">
                            <a:latin typeface="Cambria Math" panose="02040503050406030204" pitchFamily="18" charset="0"/>
                          </a:rPr>
                          <m:t>i</m:t>
                        </m:r>
                        <m:r>
                          <a:rPr lang="en-US" altLang="zh-CN" i="1" kern="1200" smtClean="0">
                            <a:latin typeface="Cambria Math" panose="02040503050406030204" pitchFamily="18" charset="0"/>
                          </a:rPr>
                          <m:t>=</m:t>
                        </m:r>
                        <m:r>
                          <a:rPr lang="en-US" altLang="zh-CN" i="1" kern="1200">
                            <a:latin typeface="Cambria Math" panose="02040503050406030204" pitchFamily="18" charset="0"/>
                          </a:rPr>
                          <m:t>1</m:t>
                        </m:r>
                      </m:sub>
                      <m:sup>
                        <m:r>
                          <m:rPr>
                            <m:sty m:val="p"/>
                          </m:rPr>
                          <a:rPr lang="en-US" altLang="zh-CN" i="1" kern="1200">
                            <a:latin typeface="Cambria Math" panose="02040503050406030204" pitchFamily="18" charset="0"/>
                          </a:rPr>
                          <m:t>n</m:t>
                        </m:r>
                      </m:sup>
                      <m:e>
                        <m:sSup>
                          <m:sSupPr>
                            <m:ctrlPr>
                              <a:rPr lang="en-US" altLang="zh-CN" i="1" kern="1200" smtClean="0">
                                <a:latin typeface="Cambria Math" panose="02040503050406030204" pitchFamily="18" charset="0"/>
                              </a:rPr>
                            </m:ctrlPr>
                          </m:sSupPr>
                          <m:e>
                            <m:r>
                              <a:rPr lang="en-US" altLang="zh-CN" b="1" i="1" kern="1200" smtClean="0">
                                <a:latin typeface="Cambria Math" panose="02040503050406030204" pitchFamily="18" charset="0"/>
                              </a:rPr>
                              <m:t>𝒊</m:t>
                            </m:r>
                          </m:e>
                          <m:sup>
                            <m:r>
                              <a:rPr lang="en-US" altLang="zh-CN" b="1" i="1" kern="1200" smtClean="0">
                                <a:latin typeface="Cambria Math" panose="02040503050406030204" pitchFamily="18" charset="0"/>
                              </a:rPr>
                              <m:t>𝒎</m:t>
                            </m:r>
                          </m:sup>
                        </m:sSup>
                      </m:e>
                    </m:nary>
                  </m:oMath>
                </a14:m>
                <a:r>
                  <a:rPr lang="zh-CN" altLang="en-US" kern="1200" dirty="0"/>
                  <a:t>，然后调用该函数求</a:t>
                </a:r>
                <a:endParaRPr lang="en-US" altLang="zh-CN" kern="1200" dirty="0"/>
              </a:p>
              <a:p>
                <a:pPr marL="0" indent="0">
                  <a:lnSpc>
                    <a:spcPct val="100000"/>
                  </a:lnSpc>
                  <a:spcBef>
                    <a:spcPts val="0"/>
                  </a:spcBef>
                  <a:buNone/>
                </a:pPr>
                <a14:m>
                  <m:oMathPara xmlns:m="http://schemas.openxmlformats.org/officeDocument/2006/math">
                    <m:oMathParaPr>
                      <m:jc m:val="left"/>
                    </m:oMathParaPr>
                    <m:oMath xmlns:m="http://schemas.openxmlformats.org/officeDocument/2006/math">
                      <m:r>
                        <a:rPr lang="en-US" altLang="zh-CN" b="1" i="1" kern="1200" smtClean="0">
                          <a:latin typeface="Cambria Math" panose="02040503050406030204" pitchFamily="18" charset="0"/>
                        </a:rPr>
                        <m:t>𝒔</m:t>
                      </m:r>
                      <m:r>
                        <a:rPr lang="pt-BR" altLang="zh-CN" i="1" kern="1200" smtClean="0">
                          <a:latin typeface="Cambria Math" panose="02040503050406030204" pitchFamily="18" charset="0"/>
                        </a:rPr>
                        <m:t>=</m:t>
                      </m:r>
                      <m:nary>
                        <m:naryPr>
                          <m:chr m:val="∑"/>
                          <m:ctrlPr>
                            <a:rPr lang="pt-BR" altLang="zh-CN" i="1" kern="1200" smtClean="0">
                              <a:latin typeface="Cambria Math" panose="02040503050406030204" pitchFamily="18" charset="0"/>
                            </a:rPr>
                          </m:ctrlPr>
                        </m:naryPr>
                        <m:sub>
                          <m:r>
                            <a:rPr lang="pt-BR" altLang="zh-CN" i="1" kern="1200" smtClean="0">
                              <a:latin typeface="Cambria Math" panose="02040503050406030204" pitchFamily="18" charset="0"/>
                            </a:rPr>
                            <m:t>𝑘</m:t>
                          </m:r>
                          <m:r>
                            <a:rPr lang="pt-BR" altLang="zh-CN" i="1" kern="1200" smtClean="0">
                              <a:latin typeface="Cambria Math" panose="02040503050406030204" pitchFamily="18" charset="0"/>
                            </a:rPr>
                            <m:t>=</m:t>
                          </m:r>
                          <m:r>
                            <a:rPr lang="en-US" altLang="zh-CN" b="1" i="1" kern="1200" smtClean="0">
                              <a:latin typeface="Cambria Math" panose="02040503050406030204" pitchFamily="18" charset="0"/>
                            </a:rPr>
                            <m:t>𝟏</m:t>
                          </m:r>
                        </m:sub>
                        <m:sup>
                          <m:r>
                            <a:rPr lang="en-US" altLang="zh-CN" b="1" i="1" kern="1200" smtClean="0">
                              <a:latin typeface="Cambria Math" panose="02040503050406030204" pitchFamily="18" charset="0"/>
                            </a:rPr>
                            <m:t>𝟏𝟎𝟎</m:t>
                          </m:r>
                        </m:sup>
                        <m:e>
                          <m:r>
                            <a:rPr lang="en-US" altLang="zh-CN" b="1" i="1" kern="1200" smtClean="0">
                              <a:latin typeface="Cambria Math" panose="02040503050406030204" pitchFamily="18" charset="0"/>
                            </a:rPr>
                            <m:t>𝒌</m:t>
                          </m:r>
                          <m:r>
                            <a:rPr lang="en-US" altLang="zh-CN" b="1" i="1" kern="1200" smtClean="0">
                              <a:latin typeface="Cambria Math" panose="02040503050406030204" pitchFamily="18" charset="0"/>
                            </a:rPr>
                            <m:t>+</m:t>
                          </m:r>
                        </m:e>
                      </m:nary>
                      <m:nary>
                        <m:naryPr>
                          <m:chr m:val="∑"/>
                          <m:ctrlPr>
                            <a:rPr lang="pt-BR" altLang="zh-CN" i="1" kern="1200">
                              <a:latin typeface="Cambria Math" panose="02040503050406030204" pitchFamily="18" charset="0"/>
                            </a:rPr>
                          </m:ctrlPr>
                        </m:naryPr>
                        <m:sub>
                          <m:r>
                            <a:rPr lang="pt-BR" altLang="zh-CN" i="1" kern="1200">
                              <a:latin typeface="Cambria Math" panose="02040503050406030204" pitchFamily="18" charset="0"/>
                            </a:rPr>
                            <m:t>𝑘</m:t>
                          </m:r>
                          <m:r>
                            <a:rPr lang="pt-BR" altLang="zh-CN" i="1" kern="1200">
                              <a:latin typeface="Cambria Math" panose="02040503050406030204" pitchFamily="18" charset="0"/>
                            </a:rPr>
                            <m:t>=</m:t>
                          </m:r>
                          <m:r>
                            <a:rPr lang="en-US" altLang="zh-CN" i="1" kern="1200">
                              <a:latin typeface="Cambria Math" panose="02040503050406030204" pitchFamily="18" charset="0"/>
                            </a:rPr>
                            <m:t>𝟏</m:t>
                          </m:r>
                        </m:sub>
                        <m:sup>
                          <m:r>
                            <a:rPr lang="en-US" altLang="zh-CN" b="1" i="1" kern="1200" smtClean="0">
                              <a:latin typeface="Cambria Math" panose="02040503050406030204" pitchFamily="18" charset="0"/>
                            </a:rPr>
                            <m:t>𝟓</m:t>
                          </m:r>
                          <m:r>
                            <a:rPr lang="en-US" altLang="zh-CN" i="1" kern="1200">
                              <a:latin typeface="Cambria Math" panose="02040503050406030204" pitchFamily="18" charset="0"/>
                            </a:rPr>
                            <m:t>𝟎</m:t>
                          </m:r>
                        </m:sup>
                        <m:e>
                          <m:sSup>
                            <m:sSupPr>
                              <m:ctrlPr>
                                <a:rPr lang="en-US" altLang="zh-CN" i="1" kern="1200" smtClean="0">
                                  <a:latin typeface="Cambria Math" panose="02040503050406030204" pitchFamily="18" charset="0"/>
                                </a:rPr>
                              </m:ctrlPr>
                            </m:sSupPr>
                            <m:e>
                              <m:r>
                                <a:rPr lang="en-US" altLang="zh-CN" b="1" i="1" kern="1200" smtClean="0">
                                  <a:latin typeface="Cambria Math" panose="02040503050406030204" pitchFamily="18" charset="0"/>
                                </a:rPr>
                                <m:t>𝒌</m:t>
                              </m:r>
                            </m:e>
                            <m:sup>
                              <m:r>
                                <a:rPr lang="en-US" altLang="zh-CN" b="1" i="1" kern="1200" smtClean="0">
                                  <a:latin typeface="Cambria Math" panose="02040503050406030204" pitchFamily="18" charset="0"/>
                                </a:rPr>
                                <m:t>𝟐</m:t>
                              </m:r>
                            </m:sup>
                          </m:sSup>
                          <m:r>
                            <a:rPr lang="en-US" altLang="zh-CN" i="1" kern="1200">
                              <a:latin typeface="Cambria Math" panose="02040503050406030204" pitchFamily="18" charset="0"/>
                            </a:rPr>
                            <m:t>+</m:t>
                          </m:r>
                          <m:nary>
                            <m:naryPr>
                              <m:chr m:val="∑"/>
                              <m:ctrlPr>
                                <a:rPr lang="pt-BR" altLang="zh-CN" i="1" kern="1200">
                                  <a:latin typeface="Cambria Math" panose="02040503050406030204" pitchFamily="18" charset="0"/>
                                </a:rPr>
                              </m:ctrlPr>
                            </m:naryPr>
                            <m:sub>
                              <m:r>
                                <a:rPr lang="pt-BR" altLang="zh-CN" i="1" kern="1200">
                                  <a:latin typeface="Cambria Math" panose="02040503050406030204" pitchFamily="18" charset="0"/>
                                </a:rPr>
                                <m:t>𝑘</m:t>
                              </m:r>
                              <m:r>
                                <a:rPr lang="pt-BR" altLang="zh-CN" i="1" kern="1200">
                                  <a:latin typeface="Cambria Math" panose="02040503050406030204" pitchFamily="18" charset="0"/>
                                </a:rPr>
                                <m:t>=</m:t>
                              </m:r>
                              <m:r>
                                <a:rPr lang="en-US" altLang="zh-CN" i="1" kern="1200">
                                  <a:latin typeface="Cambria Math" panose="02040503050406030204" pitchFamily="18" charset="0"/>
                                </a:rPr>
                                <m:t>𝟏</m:t>
                              </m:r>
                            </m:sub>
                            <m:sup>
                              <m:r>
                                <a:rPr lang="en-US" altLang="zh-CN" i="1" kern="1200" smtClean="0">
                                  <a:latin typeface="Cambria Math" panose="02040503050406030204" pitchFamily="18" charset="0"/>
                                </a:rPr>
                                <m:t>𝟏𝟎</m:t>
                              </m:r>
                            </m:sup>
                            <m:e>
                              <m:f>
                                <m:fPr>
                                  <m:ctrlPr>
                                    <a:rPr lang="en-US" altLang="zh-CN" i="1" kern="1200" smtClean="0">
                                      <a:latin typeface="Cambria Math" panose="02040503050406030204" pitchFamily="18" charset="0"/>
                                    </a:rPr>
                                  </m:ctrlPr>
                                </m:fPr>
                                <m:num>
                                  <m:r>
                                    <a:rPr lang="en-US" altLang="zh-CN" b="1" i="1" kern="1200" smtClean="0">
                                      <a:latin typeface="Cambria Math" panose="02040503050406030204" pitchFamily="18" charset="0"/>
                                    </a:rPr>
                                    <m:t>𝟏</m:t>
                                  </m:r>
                                </m:num>
                                <m:den>
                                  <m:r>
                                    <a:rPr lang="en-US" altLang="zh-CN" b="1" i="1" kern="1200" smtClean="0">
                                      <a:latin typeface="Cambria Math" panose="02040503050406030204" pitchFamily="18" charset="0"/>
                                    </a:rPr>
                                    <m:t>𝒌</m:t>
                                  </m:r>
                                </m:den>
                              </m:f>
                            </m:e>
                          </m:nary>
                        </m:e>
                      </m:nary>
                    </m:oMath>
                  </m:oMathPara>
                </a14:m>
                <a:endParaRPr lang="zh-CN" altLang="en-US" kern="1200" dirty="0"/>
              </a:p>
              <a:p>
                <a:pPr marL="0" indent="0">
                  <a:buNone/>
                </a:pPr>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107504" y="599888"/>
                <a:ext cx="8780896" cy="1616637"/>
              </a:xfrm>
              <a:blipFill>
                <a:blip r:embed="rId2"/>
                <a:stretch>
                  <a:fillRect l="-625" t="-16917"/>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endParaRPr lang="zh-CN" altLang="en-US"/>
          </a:p>
        </p:txBody>
      </p:sp>
      <p:sp>
        <p:nvSpPr>
          <p:cNvPr id="4" name="文本框 3"/>
          <p:cNvSpPr txBox="1"/>
          <p:nvPr/>
        </p:nvSpPr>
        <p:spPr>
          <a:xfrm>
            <a:off x="176837" y="2564904"/>
            <a:ext cx="7704855" cy="4154984"/>
          </a:xfrm>
          <a:prstGeom prst="rect">
            <a:avLst/>
          </a:prstGeom>
          <a:noFill/>
        </p:spPr>
        <p:txBody>
          <a:bodyPr wrap="square" rtlCol="0">
            <a:spAutoFit/>
          </a:bodyPr>
          <a:lstStyle/>
          <a:p>
            <a:r>
              <a:rPr lang="en-US" altLang="zh-CN" sz="2400" b="1" dirty="0" err="1">
                <a:solidFill>
                  <a:srgbClr val="7030A0"/>
                </a:solidFill>
                <a:latin typeface="Consolas" panose="020B0609020204030204" pitchFamily="49" charset="0"/>
              </a:rPr>
              <a:t>def</a:t>
            </a:r>
            <a:r>
              <a:rPr lang="en-US" altLang="zh-CN" sz="2400" b="1" dirty="0">
                <a:solidFill>
                  <a:srgbClr val="7030A0"/>
                </a:solidFill>
                <a:latin typeface="Consolas" panose="020B0609020204030204" pitchFamily="49" charset="0"/>
              </a:rPr>
              <a:t> </a:t>
            </a:r>
            <a:r>
              <a:rPr lang="en-US" altLang="zh-CN" sz="2400" b="1" dirty="0" err="1">
                <a:solidFill>
                  <a:srgbClr val="7030A0"/>
                </a:solidFill>
                <a:latin typeface="Consolas" panose="020B0609020204030204" pitchFamily="49" charset="0"/>
              </a:rPr>
              <a:t>mysum</a:t>
            </a:r>
            <a:r>
              <a:rPr lang="en-US" altLang="zh-CN" sz="2400" b="1" dirty="0">
                <a:solidFill>
                  <a:srgbClr val="7030A0"/>
                </a:solidFill>
                <a:latin typeface="Consolas" panose="020B0609020204030204" pitchFamily="49" charset="0"/>
              </a:rPr>
              <a:t>(</a:t>
            </a:r>
            <a:r>
              <a:rPr lang="en-US" altLang="zh-CN" sz="2400" b="1" dirty="0" err="1">
                <a:solidFill>
                  <a:srgbClr val="7030A0"/>
                </a:solidFill>
                <a:latin typeface="Consolas" panose="020B0609020204030204" pitchFamily="49" charset="0"/>
              </a:rPr>
              <a:t>n,m</a:t>
            </a:r>
            <a:r>
              <a:rPr lang="en-US" altLang="zh-CN" sz="2400" b="1" dirty="0">
                <a:solidFill>
                  <a:srgbClr val="7030A0"/>
                </a:solidFill>
                <a:latin typeface="Consolas" panose="020B0609020204030204" pitchFamily="49" charset="0"/>
              </a:rPr>
              <a:t>):</a:t>
            </a:r>
            <a:endParaRPr lang="zh-CN" altLang="en-US" sz="2400" b="1" dirty="0">
              <a:solidFill>
                <a:srgbClr val="7030A0"/>
              </a:solidFill>
              <a:latin typeface="Consolas" panose="020B0609020204030204" pitchFamily="49" charset="0"/>
            </a:endParaRPr>
          </a:p>
          <a:p>
            <a:r>
              <a:rPr lang="en-US" altLang="zh-CN" sz="2400" b="1" dirty="0">
                <a:solidFill>
                  <a:srgbClr val="7030A0"/>
                </a:solidFill>
                <a:latin typeface="Consolas" panose="020B0609020204030204" pitchFamily="49" charset="0"/>
              </a:rPr>
              <a:t>    s=0</a:t>
            </a:r>
            <a:endParaRPr lang="zh-CN" altLang="en-US" sz="2400" b="1" dirty="0">
              <a:solidFill>
                <a:srgbClr val="7030A0"/>
              </a:solidFill>
              <a:latin typeface="Consolas" panose="020B0609020204030204" pitchFamily="49" charset="0"/>
            </a:endParaRPr>
          </a:p>
          <a:p>
            <a:r>
              <a:rPr lang="en-US" altLang="zh-CN" sz="2400" b="1" dirty="0">
                <a:solidFill>
                  <a:srgbClr val="7030A0"/>
                </a:solidFill>
                <a:latin typeface="Consolas" panose="020B0609020204030204" pitchFamily="49" charset="0"/>
              </a:rPr>
              <a:t>    for </a:t>
            </a:r>
            <a:r>
              <a:rPr lang="en-US" altLang="zh-CN" sz="2400" b="1" dirty="0" err="1">
                <a:solidFill>
                  <a:srgbClr val="7030A0"/>
                </a:solidFill>
                <a:latin typeface="Consolas" panose="020B0609020204030204" pitchFamily="49" charset="0"/>
              </a:rPr>
              <a:t>i</a:t>
            </a:r>
            <a:r>
              <a:rPr lang="en-US" altLang="zh-CN" sz="2400" b="1" dirty="0">
                <a:solidFill>
                  <a:srgbClr val="7030A0"/>
                </a:solidFill>
                <a:latin typeface="Consolas" panose="020B0609020204030204" pitchFamily="49" charset="0"/>
              </a:rPr>
              <a:t> in range(1,n+1):</a:t>
            </a:r>
            <a:endParaRPr lang="zh-CN" altLang="en-US" sz="2400" b="1" dirty="0">
              <a:solidFill>
                <a:srgbClr val="7030A0"/>
              </a:solidFill>
              <a:latin typeface="Consolas" panose="020B0609020204030204" pitchFamily="49" charset="0"/>
            </a:endParaRPr>
          </a:p>
          <a:p>
            <a:r>
              <a:rPr lang="en-US" altLang="zh-CN" sz="2400" b="1" dirty="0">
                <a:solidFill>
                  <a:srgbClr val="7030A0"/>
                </a:solidFill>
                <a:latin typeface="Consolas" panose="020B0609020204030204" pitchFamily="49" charset="0"/>
              </a:rPr>
              <a:t>        s+=</a:t>
            </a:r>
            <a:r>
              <a:rPr lang="en-US" altLang="zh-CN" sz="2400" b="1" dirty="0" err="1">
                <a:solidFill>
                  <a:srgbClr val="7030A0"/>
                </a:solidFill>
                <a:latin typeface="Consolas" panose="020B0609020204030204" pitchFamily="49" charset="0"/>
              </a:rPr>
              <a:t>i</a:t>
            </a:r>
            <a:r>
              <a:rPr lang="en-US" altLang="zh-CN" sz="2400" b="1" dirty="0">
                <a:solidFill>
                  <a:srgbClr val="7030A0"/>
                </a:solidFill>
                <a:latin typeface="Consolas" panose="020B0609020204030204" pitchFamily="49" charset="0"/>
              </a:rPr>
              <a:t>**m</a:t>
            </a:r>
            <a:endParaRPr lang="zh-CN" altLang="en-US" sz="2400" b="1" dirty="0">
              <a:solidFill>
                <a:srgbClr val="7030A0"/>
              </a:solidFill>
              <a:latin typeface="Consolas" panose="020B0609020204030204" pitchFamily="49" charset="0"/>
            </a:endParaRPr>
          </a:p>
          <a:p>
            <a:r>
              <a:rPr lang="en-US" altLang="zh-CN" sz="2400" b="1" dirty="0">
                <a:solidFill>
                  <a:srgbClr val="7030A0"/>
                </a:solidFill>
                <a:latin typeface="Consolas" panose="020B0609020204030204" pitchFamily="49" charset="0"/>
              </a:rPr>
              <a:t>    </a:t>
            </a:r>
            <a:r>
              <a:rPr lang="en-US" altLang="zh-CN" sz="2400" b="1">
                <a:solidFill>
                  <a:srgbClr val="7030A0"/>
                </a:solidFill>
                <a:latin typeface="Consolas" panose="020B0609020204030204" pitchFamily="49" charset="0"/>
              </a:rPr>
              <a:t>return s</a:t>
            </a:r>
          </a:p>
          <a:p>
            <a:endParaRPr lang="zh-CN" altLang="en-US" sz="2400" b="1" dirty="0">
              <a:solidFill>
                <a:srgbClr val="7030A0"/>
              </a:solidFill>
              <a:latin typeface="Consolas" panose="020B0609020204030204" pitchFamily="49" charset="0"/>
            </a:endParaRPr>
          </a:p>
          <a:p>
            <a:r>
              <a:rPr lang="en-US" altLang="zh-CN" sz="2400" b="1" dirty="0" err="1">
                <a:solidFill>
                  <a:srgbClr val="7030A0"/>
                </a:solidFill>
                <a:latin typeface="Consolas" panose="020B0609020204030204" pitchFamily="49" charset="0"/>
              </a:rPr>
              <a:t>def</a:t>
            </a:r>
            <a:r>
              <a:rPr lang="en-US" altLang="zh-CN" sz="2400" b="1" dirty="0">
                <a:solidFill>
                  <a:srgbClr val="7030A0"/>
                </a:solidFill>
                <a:latin typeface="Consolas" panose="020B0609020204030204" pitchFamily="49" charset="0"/>
              </a:rPr>
              <a:t> main():</a:t>
            </a:r>
            <a:endParaRPr lang="zh-CN" altLang="en-US" sz="2400" b="1" dirty="0">
              <a:solidFill>
                <a:srgbClr val="7030A0"/>
              </a:solidFill>
              <a:latin typeface="Consolas" panose="020B0609020204030204" pitchFamily="49" charset="0"/>
            </a:endParaRPr>
          </a:p>
          <a:p>
            <a:r>
              <a:rPr lang="en-US" altLang="zh-CN" sz="2400" b="1" dirty="0">
                <a:solidFill>
                  <a:srgbClr val="7030A0"/>
                </a:solidFill>
                <a:latin typeface="Consolas" panose="020B0609020204030204" pitchFamily="49" charset="0"/>
              </a:rPr>
              <a:t>    s=</a:t>
            </a:r>
            <a:r>
              <a:rPr lang="en-US" altLang="zh-CN" sz="2400" b="1" dirty="0" err="1">
                <a:solidFill>
                  <a:srgbClr val="7030A0"/>
                </a:solidFill>
                <a:latin typeface="Consolas" panose="020B0609020204030204" pitchFamily="49" charset="0"/>
              </a:rPr>
              <a:t>mysum</a:t>
            </a:r>
            <a:r>
              <a:rPr lang="en-US" altLang="zh-CN" sz="2400" b="1" dirty="0">
                <a:solidFill>
                  <a:srgbClr val="7030A0"/>
                </a:solidFill>
                <a:latin typeface="Consolas" panose="020B0609020204030204" pitchFamily="49" charset="0"/>
              </a:rPr>
              <a:t>(100,1)+</a:t>
            </a:r>
            <a:r>
              <a:rPr lang="en-US" altLang="zh-CN" sz="2400" b="1" dirty="0" err="1">
                <a:solidFill>
                  <a:srgbClr val="7030A0"/>
                </a:solidFill>
                <a:latin typeface="Consolas" panose="020B0609020204030204" pitchFamily="49" charset="0"/>
              </a:rPr>
              <a:t>mysum</a:t>
            </a:r>
            <a:r>
              <a:rPr lang="en-US" altLang="zh-CN" sz="2400" b="1" dirty="0">
                <a:solidFill>
                  <a:srgbClr val="7030A0"/>
                </a:solidFill>
                <a:latin typeface="Consolas" panose="020B0609020204030204" pitchFamily="49" charset="0"/>
              </a:rPr>
              <a:t>(50,2)+</a:t>
            </a:r>
            <a:r>
              <a:rPr lang="en-US" altLang="zh-CN" sz="2400" b="1" dirty="0" err="1">
                <a:solidFill>
                  <a:srgbClr val="7030A0"/>
                </a:solidFill>
                <a:latin typeface="Consolas" panose="020B0609020204030204" pitchFamily="49" charset="0"/>
              </a:rPr>
              <a:t>mysum</a:t>
            </a:r>
            <a:r>
              <a:rPr lang="en-US" altLang="zh-CN" sz="2400" b="1" dirty="0">
                <a:solidFill>
                  <a:srgbClr val="7030A0"/>
                </a:solidFill>
                <a:latin typeface="Consolas" panose="020B0609020204030204" pitchFamily="49" charset="0"/>
              </a:rPr>
              <a:t>(10,-1)</a:t>
            </a:r>
            <a:endParaRPr lang="zh-CN" altLang="en-US" sz="2400" b="1" dirty="0">
              <a:solidFill>
                <a:srgbClr val="7030A0"/>
              </a:solidFill>
              <a:latin typeface="Consolas" panose="020B0609020204030204" pitchFamily="49" charset="0"/>
            </a:endParaRPr>
          </a:p>
          <a:p>
            <a:r>
              <a:rPr lang="en-US" altLang="zh-CN" sz="2400" b="1" dirty="0">
                <a:solidFill>
                  <a:srgbClr val="7030A0"/>
                </a:solidFill>
                <a:latin typeface="Consolas" panose="020B0609020204030204" pitchFamily="49" charset="0"/>
              </a:rPr>
              <a:t>    print("s=",</a:t>
            </a:r>
            <a:r>
              <a:rPr lang="en-US" altLang="zh-CN" sz="2400" b="1">
                <a:solidFill>
                  <a:srgbClr val="7030A0"/>
                </a:solidFill>
                <a:latin typeface="Consolas" panose="020B0609020204030204" pitchFamily="49" charset="0"/>
              </a:rPr>
              <a:t>s)</a:t>
            </a:r>
          </a:p>
          <a:p>
            <a:endParaRPr lang="zh-CN" altLang="en-US" sz="2400" b="1" dirty="0">
              <a:solidFill>
                <a:srgbClr val="7030A0"/>
              </a:solidFill>
              <a:latin typeface="Consolas" panose="020B0609020204030204" pitchFamily="49" charset="0"/>
            </a:endParaRPr>
          </a:p>
          <a:p>
            <a:r>
              <a:rPr lang="en-US" altLang="zh-CN" sz="2400" b="1" dirty="0">
                <a:solidFill>
                  <a:srgbClr val="7030A0"/>
                </a:solidFill>
                <a:latin typeface="Consolas" panose="020B0609020204030204" pitchFamily="49" charset="0"/>
              </a:rPr>
              <a:t>main()</a:t>
            </a:r>
            <a:endParaRPr lang="zh-CN" altLang="en-US" sz="2400" b="1" dirty="0">
              <a:solidFill>
                <a:srgbClr val="7030A0"/>
              </a:solidFill>
              <a:latin typeface="Consolas" panose="020B0609020204030204" pitchFamily="49" charset="0"/>
            </a:endParaRPr>
          </a:p>
        </p:txBody>
      </p:sp>
      <p:sp>
        <p:nvSpPr>
          <p:cNvPr id="5" name="文本框 4"/>
          <p:cNvSpPr txBox="1"/>
          <p:nvPr/>
        </p:nvSpPr>
        <p:spPr>
          <a:xfrm>
            <a:off x="5652120" y="3068960"/>
            <a:ext cx="3443461" cy="707886"/>
          </a:xfrm>
          <a:prstGeom prst="rect">
            <a:avLst/>
          </a:prstGeom>
          <a:noFill/>
        </p:spPr>
        <p:txBody>
          <a:bodyPr wrap="square" rtlCol="0">
            <a:spAutoFit/>
          </a:bodyPr>
          <a:lstStyle/>
          <a:p>
            <a:r>
              <a:rPr lang="zh-CN" altLang="en-US" sz="2000" b="1" dirty="0">
                <a:latin typeface="微软雅黑" pitchFamily="34" charset="-122"/>
                <a:ea typeface="微软雅黑" pitchFamily="34" charset="-122"/>
              </a:rPr>
              <a:t>程序输出结果如下：</a:t>
            </a:r>
          </a:p>
          <a:p>
            <a:r>
              <a:rPr lang="en-US" altLang="zh-CN" sz="2000" b="1" dirty="0">
                <a:solidFill>
                  <a:schemeClr val="accent2"/>
                </a:solidFill>
                <a:latin typeface="Consolas" panose="020B0609020204030204" pitchFamily="49" charset="0"/>
              </a:rPr>
              <a:t>s= 47977.92896825397</a:t>
            </a:r>
            <a:endParaRPr lang="zh-CN" altLang="en-US" sz="2000" b="1" dirty="0">
              <a:solidFill>
                <a:schemeClr val="accent2"/>
              </a:solidFill>
              <a:latin typeface="Consolas" panose="020B0609020204030204" pitchFamily="49" charset="0"/>
            </a:endParaRPr>
          </a:p>
        </p:txBody>
      </p:sp>
    </p:spTree>
    <p:extLst>
      <p:ext uri="{BB962C8B-B14F-4D97-AF65-F5344CB8AC3E}">
        <p14:creationId xmlns:p14="http://schemas.microsoft.com/office/powerpoint/2010/main" val="3741344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14" presetClass="entr" presetSubtype="10" fill="hold" nodeType="after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6" dur="500"/>
                                        <p:tgtEl>
                                          <p:spTgt spid="4">
                                            <p:txEl>
                                              <p:pRg st="0" end="0"/>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9" dur="500"/>
                                        <p:tgtEl>
                                          <p:spTgt spid="4">
                                            <p:txEl>
                                              <p:pRg st="1" end="1"/>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2" dur="500"/>
                                        <p:tgtEl>
                                          <p:spTgt spid="4">
                                            <p:txEl>
                                              <p:pRg st="2" end="2"/>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5" dur="500"/>
                                        <p:tgtEl>
                                          <p:spTgt spid="4">
                                            <p:txEl>
                                              <p:pRg st="3" end="3"/>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randombar(horizontal)">
                                      <p:cBhvr>
                                        <p:cTn id="28" dur="500"/>
                                        <p:tgtEl>
                                          <p:spTgt spid="4">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barn(inVertical)">
                                      <p:cBhvr>
                                        <p:cTn id="33" dur="500"/>
                                        <p:tgtEl>
                                          <p:spTgt spid="7"/>
                                        </p:tgtEl>
                                      </p:cBhvr>
                                    </p:animEffect>
                                  </p:childTnLst>
                                </p:cTn>
                              </p:par>
                            </p:childTnLst>
                          </p:cTn>
                        </p:par>
                        <p:par>
                          <p:cTn id="34" fill="hold">
                            <p:stCondLst>
                              <p:cond delay="500"/>
                            </p:stCondLst>
                            <p:childTnLst>
                              <p:par>
                                <p:cTn id="35" presetID="22" presetClass="entr" presetSubtype="1" fill="hold" nodeType="after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wipe(up)">
                                      <p:cBhvr>
                                        <p:cTn id="37" dur="500"/>
                                        <p:tgtEl>
                                          <p:spTgt spid="4">
                                            <p:txEl>
                                              <p:pRg st="6" end="6"/>
                                            </p:txEl>
                                          </p:spTgt>
                                        </p:tgtEl>
                                      </p:cBhvr>
                                    </p:animEffect>
                                  </p:childTnLst>
                                </p:cTn>
                              </p:par>
                              <p:par>
                                <p:cTn id="38" presetID="22" presetClass="entr" presetSubtype="1" fill="hold" nodeType="withEffect">
                                  <p:stCondLst>
                                    <p:cond delay="0"/>
                                  </p:stCondLst>
                                  <p:childTnLst>
                                    <p:set>
                                      <p:cBhvr>
                                        <p:cTn id="39" dur="1" fill="hold">
                                          <p:stCondLst>
                                            <p:cond delay="0"/>
                                          </p:stCondLst>
                                        </p:cTn>
                                        <p:tgtEl>
                                          <p:spTgt spid="4">
                                            <p:txEl>
                                              <p:pRg st="7" end="7"/>
                                            </p:txEl>
                                          </p:spTgt>
                                        </p:tgtEl>
                                        <p:attrNameLst>
                                          <p:attrName>style.visibility</p:attrName>
                                        </p:attrNameLst>
                                      </p:cBhvr>
                                      <p:to>
                                        <p:strVal val="visible"/>
                                      </p:to>
                                    </p:set>
                                    <p:animEffect transition="in" filter="wipe(up)">
                                      <p:cBhvr>
                                        <p:cTn id="40" dur="500"/>
                                        <p:tgtEl>
                                          <p:spTgt spid="4">
                                            <p:txEl>
                                              <p:pRg st="7" end="7"/>
                                            </p:txEl>
                                          </p:spTgt>
                                        </p:tgtEl>
                                      </p:cBhvr>
                                    </p:animEffect>
                                  </p:childTnLst>
                                </p:cTn>
                              </p:par>
                              <p:par>
                                <p:cTn id="41" presetID="22" presetClass="entr" presetSubtype="1" fill="hold" nodeType="with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animEffect transition="in" filter="wipe(up)">
                                      <p:cBhvr>
                                        <p:cTn id="43"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spcAft>
                <a:spcPts val="600"/>
              </a:spcAft>
            </a:pPr>
            <a:r>
              <a:rPr lang="zh-CN" altLang="en-US" kern="1200" dirty="0"/>
              <a:t>例</a:t>
            </a:r>
            <a:r>
              <a:rPr lang="en-US" altLang="zh-CN" kern="1200" dirty="0"/>
              <a:t>8-11  </a:t>
            </a:r>
            <a:r>
              <a:rPr lang="zh-CN" altLang="en-US" kern="1200" dirty="0"/>
              <a:t>设计一个程序，求同时满足下列两个条件的分数</a:t>
            </a:r>
            <a:r>
              <a:rPr lang="en-US" altLang="zh-CN" kern="1200" dirty="0"/>
              <a:t>x</a:t>
            </a:r>
            <a:r>
              <a:rPr lang="zh-CN" altLang="en-US" kern="1200" dirty="0"/>
              <a:t>的个数：</a:t>
            </a:r>
          </a:p>
          <a:p>
            <a:pPr marL="0" indent="0">
              <a:spcAft>
                <a:spcPts val="600"/>
              </a:spcAft>
              <a:buNone/>
            </a:pPr>
            <a:r>
              <a:rPr lang="zh-CN" altLang="en-US" kern="1200" dirty="0"/>
              <a:t>（</a:t>
            </a:r>
            <a:r>
              <a:rPr lang="en-US" altLang="zh-CN" kern="1200" dirty="0"/>
              <a:t>1</a:t>
            </a:r>
            <a:r>
              <a:rPr lang="zh-CN" altLang="en-US" kern="1200" dirty="0"/>
              <a:t>）</a:t>
            </a:r>
            <a:r>
              <a:rPr lang="en-US" altLang="zh-CN" kern="1200" dirty="0"/>
              <a:t>1/6&lt;x&lt;1/5</a:t>
            </a:r>
            <a:r>
              <a:rPr lang="zh-CN" altLang="en-US" kern="1200" dirty="0"/>
              <a:t>。</a:t>
            </a:r>
          </a:p>
          <a:p>
            <a:pPr marL="0" indent="0">
              <a:spcAft>
                <a:spcPts val="600"/>
              </a:spcAft>
              <a:buNone/>
            </a:pPr>
            <a:r>
              <a:rPr lang="zh-CN" altLang="en-US" kern="1200" dirty="0"/>
              <a:t>（</a:t>
            </a:r>
            <a:r>
              <a:rPr lang="en-US" altLang="zh-CN" kern="1200" dirty="0"/>
              <a:t>2</a:t>
            </a:r>
            <a:r>
              <a:rPr lang="zh-CN" altLang="en-US" kern="1200" dirty="0"/>
              <a:t>）</a:t>
            </a:r>
            <a:r>
              <a:rPr lang="en-US" altLang="zh-CN" kern="1200" dirty="0"/>
              <a:t>x</a:t>
            </a:r>
            <a:r>
              <a:rPr lang="zh-CN" altLang="en-US" kern="1200" dirty="0"/>
              <a:t>的分子分母都是</a:t>
            </a:r>
            <a:r>
              <a:rPr lang="zh-CN" altLang="en-US" kern="1200" dirty="0">
                <a:solidFill>
                  <a:srgbClr val="FF0000"/>
                </a:solidFill>
              </a:rPr>
              <a:t>素数</a:t>
            </a:r>
            <a:r>
              <a:rPr lang="zh-CN" altLang="en-US" kern="1200" dirty="0"/>
              <a:t>且分母是</a:t>
            </a:r>
            <a:r>
              <a:rPr lang="en-US" altLang="zh-CN" kern="1200" dirty="0">
                <a:solidFill>
                  <a:srgbClr val="FF0000"/>
                </a:solidFill>
              </a:rPr>
              <a:t>2</a:t>
            </a:r>
            <a:r>
              <a:rPr lang="zh-CN" altLang="en-US" kern="1200" dirty="0">
                <a:solidFill>
                  <a:srgbClr val="FF0000"/>
                </a:solidFill>
              </a:rPr>
              <a:t>位数</a:t>
            </a:r>
            <a:r>
              <a:rPr lang="zh-CN" altLang="en-US" kern="1200" dirty="0"/>
              <a:t>。</a:t>
            </a:r>
          </a:p>
          <a:p>
            <a:pPr indent="0">
              <a:spcAft>
                <a:spcPts val="600"/>
              </a:spcAft>
              <a:buNone/>
            </a:pPr>
            <a:r>
              <a:rPr lang="zh-CN" altLang="en-US" kern="1200"/>
              <a:t>分析：</a:t>
            </a:r>
            <a:endParaRPr lang="en-US" altLang="zh-CN" kern="1200"/>
          </a:p>
          <a:p>
            <a:pPr indent="0">
              <a:spcAft>
                <a:spcPts val="600"/>
              </a:spcAft>
              <a:buNone/>
            </a:pPr>
            <a:r>
              <a:rPr lang="zh-CN" altLang="en-US" kern="1200"/>
              <a:t>设</a:t>
            </a:r>
            <a:r>
              <a:rPr lang="en-US" altLang="zh-CN" kern="1200" dirty="0"/>
              <a:t>x</a:t>
            </a:r>
            <a:r>
              <a:rPr lang="zh-CN" altLang="en-US" kern="1200" dirty="0"/>
              <a:t>＝</a:t>
            </a:r>
            <a:r>
              <a:rPr lang="en-US" altLang="zh-CN" kern="1200"/>
              <a:t>m/n</a:t>
            </a:r>
            <a:r>
              <a:rPr lang="zh-CN" altLang="en-US" kern="1200"/>
              <a:t>，</a:t>
            </a:r>
            <a:endParaRPr lang="en-US" altLang="zh-CN" kern="1200"/>
          </a:p>
          <a:p>
            <a:pPr marL="600075" indent="-342900">
              <a:spcAft>
                <a:spcPts val="600"/>
              </a:spcAft>
              <a:buFont typeface="Wingdings" panose="05000000000000000000" pitchFamily="2" charset="2"/>
              <a:buChar char="ü"/>
            </a:pPr>
            <a:r>
              <a:rPr lang="zh-CN" altLang="en-US" kern="1200"/>
              <a:t>根据条件（</a:t>
            </a:r>
            <a:r>
              <a:rPr lang="en-US" altLang="zh-CN" kern="1200"/>
              <a:t>1</a:t>
            </a:r>
            <a:r>
              <a:rPr lang="zh-CN" altLang="en-US" kern="1200"/>
              <a:t>），</a:t>
            </a:r>
            <a:r>
              <a:rPr lang="zh-CN" altLang="en-US" kern="1200" dirty="0"/>
              <a:t>有</a:t>
            </a:r>
            <a:r>
              <a:rPr lang="en-US" altLang="zh-CN" kern="1200" dirty="0"/>
              <a:t>10</a:t>
            </a:r>
            <a:r>
              <a:rPr lang="zh-CN" altLang="en-US" kern="1200" dirty="0"/>
              <a:t>≤</a:t>
            </a:r>
            <a:r>
              <a:rPr lang="en-US" altLang="zh-CN" kern="1200" dirty="0"/>
              <a:t>n</a:t>
            </a:r>
            <a:r>
              <a:rPr lang="zh-CN" altLang="en-US" kern="1200" dirty="0"/>
              <a:t>≤</a:t>
            </a:r>
            <a:r>
              <a:rPr lang="en-US" altLang="zh-CN" kern="1200"/>
              <a:t>99</a:t>
            </a:r>
            <a:r>
              <a:rPr lang="zh-CN" altLang="en-US" kern="1200"/>
              <a:t>；</a:t>
            </a:r>
            <a:endParaRPr lang="en-US" altLang="zh-CN" kern="1200"/>
          </a:p>
          <a:p>
            <a:pPr marL="600075" indent="-342900">
              <a:spcAft>
                <a:spcPts val="600"/>
              </a:spcAft>
              <a:buFont typeface="Wingdings" panose="05000000000000000000" pitchFamily="2" charset="2"/>
              <a:buChar char="ü"/>
            </a:pPr>
            <a:r>
              <a:rPr lang="zh-CN" altLang="en-US" kern="1200"/>
              <a:t>根据条件（</a:t>
            </a:r>
            <a:r>
              <a:rPr lang="en-US" altLang="zh-CN" kern="1200"/>
              <a:t>2</a:t>
            </a:r>
            <a:r>
              <a:rPr lang="zh-CN" altLang="en-US" kern="1200"/>
              <a:t>），</a:t>
            </a:r>
            <a:r>
              <a:rPr lang="zh-CN" altLang="en-US" kern="1200" dirty="0"/>
              <a:t>有</a:t>
            </a:r>
            <a:r>
              <a:rPr lang="en-US" altLang="zh-CN" kern="1200"/>
              <a:t>n/6&lt;m&lt;n/5</a:t>
            </a:r>
            <a:r>
              <a:rPr lang="zh-CN" altLang="en-US" kern="1200"/>
              <a:t>，</a:t>
            </a:r>
            <a:endParaRPr lang="en-US" altLang="zh-CN" kern="1200"/>
          </a:p>
          <a:p>
            <a:pPr marL="600075" indent="-342900">
              <a:spcAft>
                <a:spcPts val="600"/>
              </a:spcAft>
              <a:buFont typeface="Wingdings" panose="05000000000000000000" pitchFamily="2" charset="2"/>
              <a:buChar char="ü"/>
            </a:pPr>
            <a:r>
              <a:rPr lang="en-US" altLang="zh-CN" kern="1200"/>
              <a:t>                         m</a:t>
            </a:r>
            <a:r>
              <a:rPr lang="zh-CN" altLang="en-US" kern="1200" dirty="0"/>
              <a:t>、</a:t>
            </a:r>
            <a:r>
              <a:rPr lang="en-US" altLang="zh-CN" kern="1200" dirty="0"/>
              <a:t>n</a:t>
            </a:r>
            <a:r>
              <a:rPr lang="zh-CN" altLang="en-US" kern="1200" dirty="0"/>
              <a:t>均为</a:t>
            </a:r>
            <a:r>
              <a:rPr lang="zh-CN" altLang="en-US" kern="1200"/>
              <a:t>素数。</a:t>
            </a:r>
            <a:endParaRPr lang="en-US" altLang="zh-CN" kern="1200"/>
          </a:p>
          <a:p>
            <a:pPr marL="600075" indent="-342900">
              <a:spcAft>
                <a:spcPts val="600"/>
              </a:spcAft>
              <a:buFont typeface="Wingdings" panose="05000000000000000000" pitchFamily="2" charset="2"/>
              <a:buChar char="ü"/>
            </a:pPr>
            <a:endParaRPr lang="en-US" altLang="zh-CN" kern="1200"/>
          </a:p>
          <a:p>
            <a:pPr indent="0">
              <a:spcAft>
                <a:spcPts val="600"/>
              </a:spcAft>
              <a:buNone/>
            </a:pPr>
            <a:r>
              <a:rPr lang="zh-CN" altLang="en-US" kern="1200"/>
              <a:t>用</a:t>
            </a:r>
            <a:r>
              <a:rPr lang="zh-CN" altLang="en-US" kern="1200" dirty="0"/>
              <a:t>穷举法来求解这个问题，并设计一个函数来判断一个数是否为素数，是素数返回值为</a:t>
            </a:r>
            <a:r>
              <a:rPr lang="en-US" altLang="zh-CN" kern="1200" dirty="0"/>
              <a:t>True</a:t>
            </a:r>
            <a:r>
              <a:rPr lang="zh-CN" altLang="en-US" kern="1200" dirty="0"/>
              <a:t>，否则为</a:t>
            </a:r>
            <a:r>
              <a:rPr lang="en-US" altLang="zh-CN" kern="1200" dirty="0"/>
              <a:t>False</a:t>
            </a:r>
            <a:r>
              <a:rPr lang="zh-CN" altLang="en-US" kern="1200" dirty="0"/>
              <a:t>。</a:t>
            </a:r>
          </a:p>
          <a:p>
            <a:pPr marL="0" indent="0">
              <a:buNone/>
            </a:pPr>
            <a:endParaRPr lang="zh-CN" altLang="en-US" dirty="0"/>
          </a:p>
        </p:txBody>
      </p:sp>
      <p:sp>
        <p:nvSpPr>
          <p:cNvPr id="3" name="标题 2"/>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545168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wipe(right)">
                                      <p:cBhvr>
                                        <p:cTn id="7" dur="500"/>
                                        <p:tgtEl>
                                          <p:spTgt spid="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
                                            <p:txEl>
                                              <p:pRg st="6" end="6"/>
                                            </p:txEl>
                                          </p:spTgt>
                                        </p:tgtEl>
                                        <p:attrNameLst>
                                          <p:attrName>style.visibility</p:attrName>
                                        </p:attrNameLst>
                                      </p:cBhvr>
                                      <p:to>
                                        <p:strVal val="visible"/>
                                      </p:to>
                                    </p:set>
                                    <p:animEffect transition="in" filter="wipe(right)">
                                      <p:cBhvr>
                                        <p:cTn id="12" dur="500"/>
                                        <p:tgtEl>
                                          <p:spTgt spid="2">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animEffect transition="in" filter="wipe(right)">
                                      <p:cBhvr>
                                        <p:cTn id="17" dur="500"/>
                                        <p:tgtEl>
                                          <p:spTgt spid="2">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2">
                                            <p:txEl>
                                              <p:pRg st="9" end="9"/>
                                            </p:txEl>
                                          </p:spTgt>
                                        </p:tgtEl>
                                        <p:attrNameLst>
                                          <p:attrName>style.visibility</p:attrName>
                                        </p:attrNameLst>
                                      </p:cBhvr>
                                      <p:to>
                                        <p:strVal val="visible"/>
                                      </p:to>
                                    </p:set>
                                    <p:animEffect transition="in" filter="wipe(right)">
                                      <p:cBhvr>
                                        <p:cTn id="2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8040" y="3347996"/>
            <a:ext cx="6102152" cy="2817308"/>
          </a:xfrm>
          <a:prstGeom prst="rect">
            <a:avLst/>
          </a:prstGeom>
          <a:solidFill>
            <a:schemeClr val="accent5">
              <a:lumMod val="20000"/>
              <a:lumOff val="80000"/>
            </a:schemeClr>
          </a:solidFill>
          <a:ln>
            <a:solidFill>
              <a:schemeClr val="accent1"/>
            </a:solidFill>
          </a:ln>
        </p:spPr>
        <p:txBody>
          <a:bodyPr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4" name="矩形 3"/>
          <p:cNvSpPr/>
          <p:nvPr/>
        </p:nvSpPr>
        <p:spPr>
          <a:xfrm>
            <a:off x="215516" y="1196752"/>
            <a:ext cx="5508612" cy="1944216"/>
          </a:xfrm>
          <a:prstGeom prst="rect">
            <a:avLst/>
          </a:prstGeom>
          <a:solidFill>
            <a:schemeClr val="accent5">
              <a:lumMod val="20000"/>
              <a:lumOff val="80000"/>
            </a:schemeClr>
          </a:solidFill>
          <a:ln>
            <a:solidFill>
              <a:schemeClr val="accent1"/>
            </a:solidFill>
          </a:ln>
        </p:spPr>
        <p:txBody>
          <a:bodyPr rtlCol="0" anchor="ctr">
            <a:spAutoFit/>
          </a:bodyPr>
          <a:lstStyle/>
          <a:p>
            <a:pPr algn="ctr">
              <a:spcAft>
                <a:spcPts val="0"/>
              </a:spcAft>
            </a:pPr>
            <a:endParaRPr lang="zh-CN" altLang="en-US" kern="0">
              <a:solidFill>
                <a:srgbClr val="800000"/>
              </a:solidFill>
              <a:latin typeface="Courier New"/>
              <a:ea typeface="宋体"/>
              <a:cs typeface="Times New Roman"/>
            </a:endParaRPr>
          </a:p>
        </p:txBody>
      </p:sp>
      <p:sp>
        <p:nvSpPr>
          <p:cNvPr id="2" name="文本框 1"/>
          <p:cNvSpPr txBox="1"/>
          <p:nvPr/>
        </p:nvSpPr>
        <p:spPr>
          <a:xfrm>
            <a:off x="179512" y="836712"/>
            <a:ext cx="6192688" cy="5940088"/>
          </a:xfrm>
          <a:prstGeom prst="rect">
            <a:avLst/>
          </a:prstGeom>
          <a:noFill/>
        </p:spPr>
        <p:txBody>
          <a:bodyPr wrap="square" rtlCol="0">
            <a:spAutoFit/>
          </a:bodyPr>
          <a:lstStyle/>
          <a:p>
            <a:r>
              <a:rPr lang="en-US" altLang="zh-CN" sz="2000" b="1" dirty="0">
                <a:solidFill>
                  <a:srgbClr val="7030A0"/>
                </a:solidFill>
                <a:latin typeface="Consolas" panose="020B0609020204030204" pitchFamily="49" charset="0"/>
              </a:rPr>
              <a:t>from math import *</a:t>
            </a:r>
          </a:p>
          <a:p>
            <a:r>
              <a:rPr lang="en-US" altLang="zh-CN" sz="2000" b="1" dirty="0" err="1">
                <a:solidFill>
                  <a:srgbClr val="7030A0"/>
                </a:solidFill>
                <a:latin typeface="Consolas" panose="020B0609020204030204" pitchFamily="49" charset="0"/>
              </a:rPr>
              <a:t>def</a:t>
            </a:r>
            <a:r>
              <a:rPr lang="en-US" altLang="zh-CN" sz="2000" b="1" dirty="0">
                <a:solidFill>
                  <a:srgbClr val="7030A0"/>
                </a:solidFill>
                <a:latin typeface="Consolas" panose="020B0609020204030204" pitchFamily="49" charset="0"/>
              </a:rPr>
              <a:t> </a:t>
            </a:r>
            <a:r>
              <a:rPr lang="en-US" altLang="zh-CN" sz="2000" b="1" dirty="0" err="1">
                <a:solidFill>
                  <a:srgbClr val="FF0000"/>
                </a:solidFill>
                <a:latin typeface="Consolas" panose="020B0609020204030204" pitchFamily="49" charset="0"/>
              </a:rPr>
              <a:t>isprime</a:t>
            </a:r>
            <a:r>
              <a:rPr lang="en-US" altLang="zh-CN" sz="2000" b="1" dirty="0">
                <a:solidFill>
                  <a:srgbClr val="FF0000"/>
                </a:solidFill>
                <a:latin typeface="Consolas" panose="020B0609020204030204" pitchFamily="49" charset="0"/>
              </a:rPr>
              <a:t>(n)</a:t>
            </a:r>
            <a:r>
              <a:rPr lang="en-US" altLang="zh-CN" sz="2000" b="1" dirty="0">
                <a:solidFill>
                  <a:srgbClr val="7030A0"/>
                </a:solidFill>
                <a:latin typeface="Consolas" panose="020B0609020204030204" pitchFamily="49" charset="0"/>
              </a:rPr>
              <a:t>:</a:t>
            </a:r>
          </a:p>
          <a:p>
            <a:r>
              <a:rPr lang="en-US" altLang="zh-CN" sz="2000" b="1" dirty="0">
                <a:solidFill>
                  <a:srgbClr val="7030A0"/>
                </a:solidFill>
                <a:latin typeface="Consolas" panose="020B0609020204030204" pitchFamily="49" charset="0"/>
              </a:rPr>
              <a:t>    found=True</a:t>
            </a:r>
          </a:p>
          <a:p>
            <a:r>
              <a:rPr lang="en-US" altLang="zh-CN" sz="2000" b="1" dirty="0">
                <a:solidFill>
                  <a:srgbClr val="7030A0"/>
                </a:solidFill>
                <a:latin typeface="Consolas" panose="020B0609020204030204" pitchFamily="49" charset="0"/>
              </a:rPr>
              <a:t>    for j in range(2,int(</a:t>
            </a:r>
            <a:r>
              <a:rPr lang="en-US" altLang="zh-CN" sz="2000" b="1" dirty="0" err="1">
                <a:solidFill>
                  <a:srgbClr val="7030A0"/>
                </a:solidFill>
                <a:latin typeface="Consolas" panose="020B0609020204030204" pitchFamily="49" charset="0"/>
              </a:rPr>
              <a:t>sqrt</a:t>
            </a:r>
            <a:r>
              <a:rPr lang="en-US" altLang="zh-CN" sz="2000" b="1" dirty="0">
                <a:solidFill>
                  <a:srgbClr val="7030A0"/>
                </a:solidFill>
                <a:latin typeface="Consolas" panose="020B0609020204030204" pitchFamily="49" charset="0"/>
              </a:rPr>
              <a:t>(n)+1)):</a:t>
            </a:r>
          </a:p>
          <a:p>
            <a:r>
              <a:rPr lang="en-US" altLang="zh-CN" sz="2000" b="1" dirty="0">
                <a:solidFill>
                  <a:srgbClr val="7030A0"/>
                </a:solidFill>
                <a:latin typeface="Consolas" panose="020B0609020204030204" pitchFamily="49" charset="0"/>
              </a:rPr>
              <a:t>        if </a:t>
            </a:r>
            <a:r>
              <a:rPr lang="en-US" altLang="zh-CN" sz="2000" b="1" dirty="0" err="1">
                <a:solidFill>
                  <a:srgbClr val="7030A0"/>
                </a:solidFill>
                <a:latin typeface="Consolas" panose="020B0609020204030204" pitchFamily="49" charset="0"/>
              </a:rPr>
              <a:t>n%j</a:t>
            </a:r>
            <a:r>
              <a:rPr lang="en-US" altLang="zh-CN" sz="2000" b="1" dirty="0">
                <a:solidFill>
                  <a:srgbClr val="7030A0"/>
                </a:solidFill>
                <a:latin typeface="Consolas" panose="020B0609020204030204" pitchFamily="49" charset="0"/>
              </a:rPr>
              <a:t>==0:</a:t>
            </a:r>
          </a:p>
          <a:p>
            <a:r>
              <a:rPr lang="en-US" altLang="zh-CN" sz="2000" b="1" dirty="0">
                <a:solidFill>
                  <a:srgbClr val="7030A0"/>
                </a:solidFill>
                <a:latin typeface="Consolas" panose="020B0609020204030204" pitchFamily="49" charset="0"/>
              </a:rPr>
              <a:t>            found=False</a:t>
            </a:r>
          </a:p>
          <a:p>
            <a:r>
              <a:rPr lang="en-US" altLang="zh-CN" sz="2000" b="1" dirty="0">
                <a:solidFill>
                  <a:srgbClr val="7030A0"/>
                </a:solidFill>
                <a:latin typeface="Consolas" panose="020B0609020204030204" pitchFamily="49" charset="0"/>
              </a:rPr>
              <a:t>    </a:t>
            </a:r>
            <a:r>
              <a:rPr lang="en-US" altLang="zh-CN" sz="2000" b="1">
                <a:solidFill>
                  <a:srgbClr val="7030A0"/>
                </a:solidFill>
                <a:latin typeface="Consolas" panose="020B0609020204030204" pitchFamily="49" charset="0"/>
              </a:rPr>
              <a:t>return found</a:t>
            </a:r>
          </a:p>
          <a:p>
            <a:endParaRPr lang="en-US" altLang="zh-CN" sz="2000" b="1" dirty="0">
              <a:solidFill>
                <a:srgbClr val="7030A0"/>
              </a:solidFill>
              <a:latin typeface="Consolas" panose="020B0609020204030204" pitchFamily="49" charset="0"/>
            </a:endParaRPr>
          </a:p>
          <a:p>
            <a:r>
              <a:rPr lang="en-US" altLang="zh-CN" sz="2000" b="1" dirty="0" err="1">
                <a:solidFill>
                  <a:srgbClr val="7030A0"/>
                </a:solidFill>
                <a:latin typeface="Consolas" panose="020B0609020204030204" pitchFamily="49" charset="0"/>
              </a:rPr>
              <a:t>def</a:t>
            </a:r>
            <a:r>
              <a:rPr lang="en-US" altLang="zh-CN" sz="2000" b="1" dirty="0">
                <a:solidFill>
                  <a:srgbClr val="7030A0"/>
                </a:solidFill>
                <a:latin typeface="Consolas" panose="020B0609020204030204" pitchFamily="49" charset="0"/>
              </a:rPr>
              <a:t> main():</a:t>
            </a:r>
          </a:p>
          <a:p>
            <a:r>
              <a:rPr lang="en-US" altLang="zh-CN" sz="2000" b="1" dirty="0">
                <a:solidFill>
                  <a:srgbClr val="7030A0"/>
                </a:solidFill>
                <a:latin typeface="Consolas" panose="020B0609020204030204" pitchFamily="49" charset="0"/>
              </a:rPr>
              <a:t>    count=0</a:t>
            </a:r>
          </a:p>
          <a:p>
            <a:r>
              <a:rPr lang="en-US" altLang="zh-CN" sz="2000" b="1" dirty="0">
                <a:solidFill>
                  <a:srgbClr val="7030A0"/>
                </a:solidFill>
                <a:latin typeface="Consolas" panose="020B0609020204030204" pitchFamily="49" charset="0"/>
              </a:rPr>
              <a:t>    for n in range(11,100):</a:t>
            </a:r>
          </a:p>
          <a:p>
            <a:r>
              <a:rPr lang="en-US" altLang="zh-CN" sz="2000" b="1" dirty="0">
                <a:solidFill>
                  <a:srgbClr val="7030A0"/>
                </a:solidFill>
                <a:latin typeface="Consolas" panose="020B0609020204030204" pitchFamily="49" charset="0"/>
              </a:rPr>
              <a:t>        if </a:t>
            </a:r>
            <a:r>
              <a:rPr lang="en-US" altLang="zh-CN" sz="2000" b="1" dirty="0" err="1">
                <a:solidFill>
                  <a:srgbClr val="FF0000"/>
                </a:solidFill>
                <a:latin typeface="Consolas" panose="020B0609020204030204" pitchFamily="49" charset="0"/>
              </a:rPr>
              <a:t>isprime</a:t>
            </a:r>
            <a:r>
              <a:rPr lang="en-US" altLang="zh-CN" sz="2000" b="1" dirty="0">
                <a:solidFill>
                  <a:srgbClr val="FF0000"/>
                </a:solidFill>
                <a:latin typeface="Consolas" panose="020B0609020204030204" pitchFamily="49" charset="0"/>
              </a:rPr>
              <a:t>(n)</a:t>
            </a:r>
            <a:r>
              <a:rPr lang="en-US" altLang="zh-CN" sz="2000" b="1" dirty="0">
                <a:solidFill>
                  <a:srgbClr val="7030A0"/>
                </a:solidFill>
                <a:latin typeface="Consolas" panose="020B0609020204030204" pitchFamily="49" charset="0"/>
              </a:rPr>
              <a:t>:</a:t>
            </a:r>
          </a:p>
          <a:p>
            <a:r>
              <a:rPr lang="en-US" altLang="zh-CN" sz="2000" b="1" dirty="0">
                <a:solidFill>
                  <a:srgbClr val="7030A0"/>
                </a:solidFill>
                <a:latin typeface="Consolas" panose="020B0609020204030204" pitchFamily="49" charset="0"/>
              </a:rPr>
              <a:t>            for m in range(n//6+1,n//5+1):</a:t>
            </a:r>
          </a:p>
          <a:p>
            <a:r>
              <a:rPr lang="en-US" altLang="zh-CN" sz="2000" b="1" dirty="0">
                <a:solidFill>
                  <a:srgbClr val="7030A0"/>
                </a:solidFill>
                <a:latin typeface="Consolas" panose="020B0609020204030204" pitchFamily="49" charset="0"/>
              </a:rPr>
              <a:t>                if </a:t>
            </a:r>
            <a:r>
              <a:rPr lang="en-US" altLang="zh-CN" sz="2000" b="1" dirty="0" err="1">
                <a:solidFill>
                  <a:srgbClr val="FF0000"/>
                </a:solidFill>
                <a:latin typeface="Consolas" panose="020B0609020204030204" pitchFamily="49" charset="0"/>
              </a:rPr>
              <a:t>isprime</a:t>
            </a:r>
            <a:r>
              <a:rPr lang="en-US" altLang="zh-CN" sz="2000" b="1" dirty="0">
                <a:solidFill>
                  <a:srgbClr val="FF0000"/>
                </a:solidFill>
                <a:latin typeface="Consolas" panose="020B0609020204030204" pitchFamily="49" charset="0"/>
              </a:rPr>
              <a:t>(m)</a:t>
            </a:r>
            <a:r>
              <a:rPr lang="en-US" altLang="zh-CN" sz="2000" b="1" dirty="0">
                <a:solidFill>
                  <a:srgbClr val="7030A0"/>
                </a:solidFill>
                <a:latin typeface="Consolas" panose="020B0609020204030204" pitchFamily="49" charset="0"/>
              </a:rPr>
              <a:t>:</a:t>
            </a:r>
          </a:p>
          <a:p>
            <a:r>
              <a:rPr lang="en-US" altLang="zh-CN" sz="2000" b="1" dirty="0">
                <a:solidFill>
                  <a:srgbClr val="7030A0"/>
                </a:solidFill>
                <a:latin typeface="Consolas" panose="020B0609020204030204" pitchFamily="49" charset="0"/>
              </a:rPr>
              <a:t>                    print(f'{m}/{n}')</a:t>
            </a:r>
          </a:p>
          <a:p>
            <a:r>
              <a:rPr lang="en-US" altLang="zh-CN" sz="2000" b="1" dirty="0">
                <a:solidFill>
                  <a:srgbClr val="7030A0"/>
                </a:solidFill>
                <a:latin typeface="Consolas" panose="020B0609020204030204" pitchFamily="49" charset="0"/>
              </a:rPr>
              <a:t>                    count+=1</a:t>
            </a:r>
          </a:p>
          <a:p>
            <a:r>
              <a:rPr lang="en-US" altLang="zh-CN" sz="2000" b="1" dirty="0">
                <a:solidFill>
                  <a:srgbClr val="7030A0"/>
                </a:solidFill>
                <a:latin typeface="Consolas" panose="020B0609020204030204" pitchFamily="49" charset="0"/>
              </a:rPr>
              <a:t>    print(f'</a:t>
            </a:r>
            <a:r>
              <a:rPr lang="zh-CN" altLang="en-US" sz="2000" b="1" dirty="0">
                <a:solidFill>
                  <a:srgbClr val="7030A0"/>
                </a:solidFill>
                <a:latin typeface="Consolas" panose="020B0609020204030204" pitchFamily="49" charset="0"/>
              </a:rPr>
              <a:t>满足条件的数有</a:t>
            </a:r>
            <a:r>
              <a:rPr lang="en-US" altLang="zh-CN" sz="2000" b="1" dirty="0">
                <a:solidFill>
                  <a:srgbClr val="7030A0"/>
                </a:solidFill>
                <a:latin typeface="Consolas" panose="020B0609020204030204" pitchFamily="49" charset="0"/>
              </a:rPr>
              <a:t>{count}</a:t>
            </a:r>
            <a:r>
              <a:rPr lang="zh-CN" altLang="en-US" sz="2000" b="1">
                <a:solidFill>
                  <a:srgbClr val="7030A0"/>
                </a:solidFill>
                <a:latin typeface="Consolas" panose="020B0609020204030204" pitchFamily="49" charset="0"/>
              </a:rPr>
              <a:t>个</a:t>
            </a:r>
            <a:r>
              <a:rPr lang="en-US" altLang="zh-CN" sz="2000" b="1">
                <a:solidFill>
                  <a:srgbClr val="7030A0"/>
                </a:solidFill>
                <a:latin typeface="Consolas" panose="020B0609020204030204" pitchFamily="49" charset="0"/>
              </a:rPr>
              <a:t>')</a:t>
            </a:r>
          </a:p>
          <a:p>
            <a:endParaRPr lang="en-US" altLang="zh-CN" sz="2000" b="1" dirty="0">
              <a:solidFill>
                <a:srgbClr val="7030A0"/>
              </a:solidFill>
              <a:latin typeface="Consolas" panose="020B0609020204030204" pitchFamily="49" charset="0"/>
            </a:endParaRPr>
          </a:p>
          <a:p>
            <a:r>
              <a:rPr lang="en-US" altLang="zh-CN" sz="2000" b="1" dirty="0">
                <a:solidFill>
                  <a:srgbClr val="7030A0"/>
                </a:solidFill>
                <a:latin typeface="Consolas" panose="020B0609020204030204" pitchFamily="49" charset="0"/>
              </a:rPr>
              <a:t>main()</a:t>
            </a:r>
            <a:endParaRPr lang="zh-CN" altLang="en-US" sz="2000" b="1" dirty="0">
              <a:solidFill>
                <a:srgbClr val="7030A0"/>
              </a:solidFill>
              <a:latin typeface="Consolas" panose="020B0609020204030204" pitchFamily="49" charset="0"/>
            </a:endParaRPr>
          </a:p>
        </p:txBody>
      </p:sp>
      <p:sp>
        <p:nvSpPr>
          <p:cNvPr id="3" name="文本框 2"/>
          <p:cNvSpPr txBox="1"/>
          <p:nvPr/>
        </p:nvSpPr>
        <p:spPr>
          <a:xfrm>
            <a:off x="6372200" y="2334945"/>
            <a:ext cx="2376264" cy="3970318"/>
          </a:xfrm>
          <a:prstGeom prst="rect">
            <a:avLst/>
          </a:prstGeom>
          <a:noFill/>
        </p:spPr>
        <p:txBody>
          <a:bodyPr wrap="square" rtlCol="0">
            <a:spAutoFit/>
          </a:bodyPr>
          <a:lstStyle/>
          <a:p>
            <a:r>
              <a:rPr lang="en-US" altLang="zh-CN" b="1" dirty="0">
                <a:latin typeface="微软雅黑" pitchFamily="34" charset="-122"/>
                <a:ea typeface="微软雅黑" pitchFamily="34" charset="-122"/>
              </a:rPr>
              <a:t>2/11</a:t>
            </a:r>
          </a:p>
          <a:p>
            <a:r>
              <a:rPr lang="en-US" altLang="zh-CN" b="1" dirty="0">
                <a:latin typeface="微软雅黑" pitchFamily="34" charset="-122"/>
                <a:ea typeface="微软雅黑" pitchFamily="34" charset="-122"/>
              </a:rPr>
              <a:t>3/17</a:t>
            </a:r>
          </a:p>
          <a:p>
            <a:r>
              <a:rPr lang="en-US" altLang="zh-CN" b="1" dirty="0">
                <a:latin typeface="微软雅黑" pitchFamily="34" charset="-122"/>
                <a:ea typeface="微软雅黑" pitchFamily="34" charset="-122"/>
              </a:rPr>
              <a:t>5/29</a:t>
            </a:r>
          </a:p>
          <a:p>
            <a:r>
              <a:rPr lang="en-US" altLang="zh-CN" b="1" dirty="0">
                <a:latin typeface="微软雅黑" pitchFamily="34" charset="-122"/>
                <a:ea typeface="微软雅黑" pitchFamily="34" charset="-122"/>
              </a:rPr>
              <a:t>7/37</a:t>
            </a:r>
          </a:p>
          <a:p>
            <a:r>
              <a:rPr lang="en-US" altLang="zh-CN" b="1" dirty="0">
                <a:latin typeface="微软雅黑" pitchFamily="34" charset="-122"/>
                <a:ea typeface="微软雅黑" pitchFamily="34" charset="-122"/>
              </a:rPr>
              <a:t>7/41</a:t>
            </a:r>
          </a:p>
          <a:p>
            <a:r>
              <a:rPr lang="en-US" altLang="zh-CN" b="1" dirty="0">
                <a:latin typeface="微软雅黑" pitchFamily="34" charset="-122"/>
                <a:ea typeface="微软雅黑" pitchFamily="34" charset="-122"/>
              </a:rPr>
              <a:t>11/59</a:t>
            </a:r>
          </a:p>
          <a:p>
            <a:r>
              <a:rPr lang="en-US" altLang="zh-CN" b="1" dirty="0">
                <a:latin typeface="微软雅黑" pitchFamily="34" charset="-122"/>
                <a:ea typeface="微软雅黑" pitchFamily="34" charset="-122"/>
              </a:rPr>
              <a:t>11/61</a:t>
            </a:r>
          </a:p>
          <a:p>
            <a:r>
              <a:rPr lang="en-US" altLang="zh-CN" b="1" dirty="0">
                <a:latin typeface="微软雅黑" pitchFamily="34" charset="-122"/>
                <a:ea typeface="微软雅黑" pitchFamily="34" charset="-122"/>
              </a:rPr>
              <a:t>13/67</a:t>
            </a:r>
          </a:p>
          <a:p>
            <a:r>
              <a:rPr lang="en-US" altLang="zh-CN" b="1" dirty="0">
                <a:latin typeface="微软雅黑" pitchFamily="34" charset="-122"/>
                <a:ea typeface="微软雅黑" pitchFamily="34" charset="-122"/>
              </a:rPr>
              <a:t>13/71</a:t>
            </a:r>
          </a:p>
          <a:p>
            <a:r>
              <a:rPr lang="en-US" altLang="zh-CN" b="1" dirty="0">
                <a:latin typeface="微软雅黑" pitchFamily="34" charset="-122"/>
                <a:ea typeface="微软雅黑" pitchFamily="34" charset="-122"/>
              </a:rPr>
              <a:t>13/73</a:t>
            </a:r>
          </a:p>
          <a:p>
            <a:r>
              <a:rPr lang="en-US" altLang="zh-CN" b="1" dirty="0">
                <a:latin typeface="微软雅黑" pitchFamily="34" charset="-122"/>
                <a:ea typeface="微软雅黑" pitchFamily="34" charset="-122"/>
              </a:rPr>
              <a:t>17/89</a:t>
            </a:r>
          </a:p>
          <a:p>
            <a:r>
              <a:rPr lang="en-US" altLang="zh-CN" b="1" dirty="0">
                <a:latin typeface="微软雅黑" pitchFamily="34" charset="-122"/>
                <a:ea typeface="微软雅黑" pitchFamily="34" charset="-122"/>
              </a:rPr>
              <a:t>17/97</a:t>
            </a:r>
          </a:p>
          <a:p>
            <a:r>
              <a:rPr lang="en-US" altLang="zh-CN" b="1" dirty="0">
                <a:latin typeface="微软雅黑" pitchFamily="34" charset="-122"/>
                <a:ea typeface="微软雅黑" pitchFamily="34" charset="-122"/>
              </a:rPr>
              <a:t>19/97</a:t>
            </a:r>
          </a:p>
          <a:p>
            <a:r>
              <a:rPr lang="zh-CN" altLang="en-US" b="1" dirty="0">
                <a:latin typeface="微软雅黑" pitchFamily="34" charset="-122"/>
                <a:ea typeface="微软雅黑" pitchFamily="34" charset="-122"/>
              </a:rPr>
              <a:t>满足条件的数有</a:t>
            </a:r>
            <a:r>
              <a:rPr lang="en-US" altLang="zh-CN" b="1" dirty="0">
                <a:latin typeface="微软雅黑" pitchFamily="34" charset="-122"/>
                <a:ea typeface="微软雅黑" pitchFamily="34" charset="-122"/>
              </a:rPr>
              <a:t>13</a:t>
            </a:r>
            <a:r>
              <a:rPr lang="zh-CN" altLang="en-US" b="1" dirty="0">
                <a:latin typeface="微软雅黑" pitchFamily="34" charset="-122"/>
                <a:ea typeface="微软雅黑" pitchFamily="34" charset="-122"/>
              </a:rPr>
              <a:t>个</a:t>
            </a:r>
          </a:p>
        </p:txBody>
      </p:sp>
    </p:spTree>
    <p:extLst>
      <p:ext uri="{BB962C8B-B14F-4D97-AF65-F5344CB8AC3E}">
        <p14:creationId xmlns:p14="http://schemas.microsoft.com/office/powerpoint/2010/main" val="2683532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gn="just">
              <a:lnSpc>
                <a:spcPct val="200000"/>
              </a:lnSpc>
              <a:spcAft>
                <a:spcPts val="0"/>
              </a:spcAft>
            </a:pPr>
            <a:r>
              <a:rPr lang="zh-CN" altLang="zh-CN" kern="100" dirty="0">
                <a:latin typeface="等线" panose="02010600030101010101" pitchFamily="2" charset="-122"/>
                <a:ea typeface="宋体" panose="02010600030101010101" pitchFamily="2" charset="-122"/>
                <a:cs typeface="Times New Roman" panose="02020603050405020304" pitchFamily="18" charset="0"/>
              </a:rPr>
              <a:t>请编写函数</a:t>
            </a:r>
            <a:r>
              <a:rPr lang="en-US" altLang="zh-CN" kern="100" dirty="0" err="1">
                <a:latin typeface="等线" panose="02010600030101010101" pitchFamily="2" charset="-122"/>
                <a:ea typeface="宋体" panose="02010600030101010101" pitchFamily="2" charset="-122"/>
                <a:cs typeface="Times New Roman" panose="02020603050405020304" pitchFamily="18" charset="0"/>
              </a:rPr>
              <a:t>isbk</a:t>
            </a:r>
            <a:r>
              <a:rPr lang="en-US" altLang="zh-CN" kern="100" dirty="0">
                <a:latin typeface="等线" panose="02010600030101010101" pitchFamily="2" charset="-122"/>
                <a:ea typeface="宋体" panose="02010600030101010101" pitchFamily="2" charset="-122"/>
                <a:cs typeface="Times New Roman" panose="02020603050405020304" pitchFamily="18" charset="0"/>
              </a:rPr>
              <a:t>(n)</a:t>
            </a:r>
            <a:r>
              <a:rPr lang="zh-CN" altLang="zh-CN" kern="100" dirty="0">
                <a:latin typeface="等线" panose="02010600030101010101" pitchFamily="2" charset="-122"/>
                <a:ea typeface="宋体" panose="02010600030101010101" pitchFamily="2" charset="-122"/>
                <a:cs typeface="Times New Roman" panose="02020603050405020304" pitchFamily="18" charset="0"/>
              </a:rPr>
              <a:t>，功能是：</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0" indent="457200" algn="just">
              <a:lnSpc>
                <a:spcPct val="200000"/>
              </a:lnSpc>
              <a:spcAft>
                <a:spcPts val="0"/>
              </a:spcAft>
              <a:buNone/>
            </a:pPr>
            <a:r>
              <a:rPr lang="zh-CN" altLang="zh-CN" kern="100" dirty="0">
                <a:latin typeface="等线" panose="02010600030101010101" pitchFamily="2" charset="-122"/>
                <a:ea typeface="宋体" panose="02010600030101010101" pitchFamily="2" charset="-122"/>
                <a:cs typeface="Times New Roman" panose="02020603050405020304" pitchFamily="18" charset="0"/>
              </a:rPr>
              <a:t>判断整数</a:t>
            </a:r>
            <a:r>
              <a:rPr lang="en-US" altLang="zh-CN" kern="100" dirty="0">
                <a:latin typeface="等线" panose="02010600030101010101" pitchFamily="2" charset="-122"/>
                <a:ea typeface="宋体" panose="02010600030101010101" pitchFamily="2" charset="-122"/>
                <a:cs typeface="Times New Roman" panose="02020603050405020304" pitchFamily="18" charset="0"/>
              </a:rPr>
              <a:t>n</a:t>
            </a:r>
            <a:r>
              <a:rPr lang="zh-CN" altLang="zh-CN" kern="100" dirty="0">
                <a:latin typeface="等线" panose="02010600030101010101" pitchFamily="2" charset="-122"/>
                <a:ea typeface="宋体" panose="02010600030101010101" pitchFamily="2" charset="-122"/>
                <a:cs typeface="Times New Roman" panose="02020603050405020304" pitchFamily="18" charset="0"/>
              </a:rPr>
              <a:t>是否是黑洞数，如果是，返回</a:t>
            </a:r>
            <a:r>
              <a:rPr lang="en-US" altLang="zh-CN" kern="100" dirty="0">
                <a:latin typeface="等线" panose="02010600030101010101" pitchFamily="2" charset="-122"/>
                <a:ea typeface="宋体" panose="02010600030101010101" pitchFamily="2" charset="-122"/>
                <a:cs typeface="Times New Roman" panose="02020603050405020304" pitchFamily="18" charset="0"/>
              </a:rPr>
              <a:t>True</a:t>
            </a:r>
            <a:r>
              <a:rPr lang="zh-CN" altLang="zh-CN" kern="100" dirty="0">
                <a:latin typeface="等线" panose="02010600030101010101" pitchFamily="2" charset="-122"/>
                <a:ea typeface="宋体" panose="02010600030101010101" pitchFamily="2" charset="-122"/>
                <a:cs typeface="Times New Roman" panose="02020603050405020304" pitchFamily="18" charset="0"/>
              </a:rPr>
              <a:t>，否则返回</a:t>
            </a:r>
            <a:r>
              <a:rPr lang="en-US" altLang="zh-CN" kern="100" dirty="0">
                <a:latin typeface="等线" panose="02010600030101010101" pitchFamily="2" charset="-122"/>
                <a:ea typeface="宋体" panose="02010600030101010101" pitchFamily="2" charset="-122"/>
                <a:cs typeface="Times New Roman" panose="02020603050405020304" pitchFamily="18" charset="0"/>
              </a:rPr>
              <a:t>False</a:t>
            </a:r>
            <a:r>
              <a:rPr lang="zh-CN" altLang="zh-CN" kern="100" dirty="0">
                <a:latin typeface="等线" panose="02010600030101010101" pitchFamily="2" charset="-122"/>
                <a:ea typeface="宋体" panose="02010600030101010101" pitchFamily="2" charset="-122"/>
                <a:cs typeface="Times New Roman" panose="02020603050405020304" pitchFamily="18" charset="0"/>
              </a:rPr>
              <a:t>。</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0" indent="457200" algn="just">
              <a:lnSpc>
                <a:spcPct val="200000"/>
              </a:lnSpc>
              <a:spcAft>
                <a:spcPts val="0"/>
              </a:spcAft>
              <a:buNone/>
            </a:pPr>
            <a:r>
              <a:rPr lang="zh-CN" altLang="zh-CN" kern="100" dirty="0">
                <a:latin typeface="等线" panose="02010600030101010101" pitchFamily="2" charset="-122"/>
                <a:ea typeface="宋体" panose="02010600030101010101" pitchFamily="2" charset="-122"/>
                <a:cs typeface="Times New Roman" panose="02020603050405020304" pitchFamily="18" charset="0"/>
              </a:rPr>
              <a:t>输入一个整数，调用</a:t>
            </a:r>
            <a:r>
              <a:rPr lang="en-US" altLang="zh-CN" kern="100" dirty="0" err="1">
                <a:latin typeface="等线" panose="02010600030101010101" pitchFamily="2" charset="-122"/>
                <a:ea typeface="宋体" panose="02010600030101010101" pitchFamily="2" charset="-122"/>
                <a:cs typeface="Times New Roman" panose="02020603050405020304" pitchFamily="18" charset="0"/>
              </a:rPr>
              <a:t>isbk</a:t>
            </a:r>
            <a:r>
              <a:rPr lang="zh-CN" altLang="zh-CN" kern="100" dirty="0">
                <a:latin typeface="等线" panose="02010600030101010101" pitchFamily="2" charset="-122"/>
                <a:ea typeface="宋体" panose="02010600030101010101" pitchFamily="2" charset="-122"/>
                <a:cs typeface="Times New Roman" panose="02020603050405020304" pitchFamily="18" charset="0"/>
              </a:rPr>
              <a:t>函数判断黑洞数，如果是，则输出</a:t>
            </a:r>
            <a:r>
              <a:rPr lang="en-US" altLang="zh-CN" kern="100" dirty="0">
                <a:latin typeface="等线" panose="02010600030101010101" pitchFamily="2" charset="-122"/>
                <a:ea typeface="宋体" panose="02010600030101010101" pitchFamily="2" charset="-122"/>
                <a:cs typeface="Times New Roman" panose="02020603050405020304" pitchFamily="18" charset="0"/>
              </a:rPr>
              <a:t>yes</a:t>
            </a:r>
            <a:r>
              <a:rPr lang="zh-CN" altLang="zh-CN" kern="100" dirty="0">
                <a:latin typeface="等线" panose="02010600030101010101" pitchFamily="2" charset="-122"/>
                <a:ea typeface="宋体" panose="02010600030101010101" pitchFamily="2" charset="-122"/>
                <a:cs typeface="Times New Roman" panose="02020603050405020304" pitchFamily="18" charset="0"/>
              </a:rPr>
              <a:t>，否则输出</a:t>
            </a:r>
            <a:r>
              <a:rPr lang="en-US" altLang="zh-CN" kern="100" dirty="0">
                <a:latin typeface="等线" panose="02010600030101010101" pitchFamily="2" charset="-122"/>
                <a:ea typeface="宋体" panose="02010600030101010101" pitchFamily="2" charset="-122"/>
                <a:cs typeface="Times New Roman" panose="02020603050405020304" pitchFamily="18" charset="0"/>
              </a:rPr>
              <a:t>no</a:t>
            </a:r>
            <a:r>
              <a:rPr lang="zh-CN" altLang="zh-CN" kern="100" dirty="0">
                <a:latin typeface="等线" panose="02010600030101010101" pitchFamily="2" charset="-122"/>
                <a:ea typeface="宋体" panose="02010600030101010101" pitchFamily="2" charset="-122"/>
                <a:cs typeface="Times New Roman" panose="02020603050405020304" pitchFamily="18" charset="0"/>
              </a:rPr>
              <a:t>。</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0" indent="457200" algn="just">
              <a:lnSpc>
                <a:spcPct val="200000"/>
              </a:lnSpc>
              <a:spcAft>
                <a:spcPts val="0"/>
              </a:spcAft>
              <a:buNone/>
            </a:pPr>
            <a:r>
              <a:rPr lang="en-US" altLang="zh-CN" kern="100" dirty="0">
                <a:latin typeface="宋体" panose="02010600030101010101" pitchFamily="2" charset="-122"/>
                <a:ea typeface="等线" panose="02010600030101010101" pitchFamily="2" charset="-122"/>
                <a:cs typeface="Times New Roman" panose="02020603050405020304" pitchFamily="18" charset="0"/>
              </a:rPr>
              <a:t> </a:t>
            </a:r>
            <a:r>
              <a:rPr lang="zh-CN" altLang="zh-CN" kern="100" dirty="0">
                <a:latin typeface="等线" panose="02010600030101010101" pitchFamily="2" charset="-122"/>
                <a:ea typeface="宋体" panose="02010600030101010101" pitchFamily="2" charset="-122"/>
                <a:cs typeface="Times New Roman" panose="02020603050405020304" pitchFamily="18" charset="0"/>
              </a:rPr>
              <a:t>说明：黑洞数指的是，若某整数各个位上的数字组成的最大数减去各个位上数字组成的最小数等于该数本身，则称该数为黑洞数。比如</a:t>
            </a:r>
            <a:r>
              <a:rPr lang="en-US" altLang="zh-CN" kern="100" dirty="0">
                <a:latin typeface="等线" panose="02010600030101010101" pitchFamily="2" charset="-122"/>
                <a:ea typeface="宋体" panose="02010600030101010101" pitchFamily="2" charset="-122"/>
                <a:cs typeface="Times New Roman" panose="02020603050405020304" pitchFamily="18" charset="0"/>
              </a:rPr>
              <a:t>495=954-459</a:t>
            </a:r>
            <a:r>
              <a:rPr lang="zh-CN" altLang="zh-CN" kern="100" dirty="0">
                <a:latin typeface="等线" panose="02010600030101010101" pitchFamily="2" charset="-122"/>
                <a:ea typeface="宋体" panose="02010600030101010101" pitchFamily="2" charset="-122"/>
                <a:cs typeface="Times New Roman" panose="02020603050405020304" pitchFamily="18" charset="0"/>
              </a:rPr>
              <a:t>。</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kern="100" dirty="0">
                <a:latin typeface="宋体" panose="02010600030101010101" pitchFamily="2" charset="-122"/>
                <a:ea typeface="等线" panose="02010600030101010101" pitchFamily="2" charset="-122"/>
                <a:cs typeface="Times New Roman" panose="02020603050405020304" pitchFamily="18" charset="0"/>
              </a:rPr>
              <a:t> </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spcAft>
                <a:spcPts val="0"/>
              </a:spcAft>
            </a:pPr>
            <a:r>
              <a:rPr lang="zh-CN" altLang="zh-CN" kern="100" dirty="0">
                <a:latin typeface="等线" panose="02010600030101010101" pitchFamily="2" charset="-122"/>
                <a:ea typeface="宋体" panose="02010600030101010101" pitchFamily="2" charset="-122"/>
                <a:cs typeface="Times New Roman" panose="02020603050405020304" pitchFamily="18" charset="0"/>
              </a:rPr>
              <a:t>要求：不编写并调用</a:t>
            </a:r>
            <a:r>
              <a:rPr lang="en-US" altLang="zh-CN" kern="100" dirty="0" err="1">
                <a:latin typeface="等线" panose="02010600030101010101" pitchFamily="2" charset="-122"/>
                <a:ea typeface="宋体" panose="02010600030101010101" pitchFamily="2" charset="-122"/>
                <a:cs typeface="Times New Roman" panose="02020603050405020304" pitchFamily="18" charset="0"/>
              </a:rPr>
              <a:t>isbk</a:t>
            </a:r>
            <a:r>
              <a:rPr lang="en-US" altLang="zh-CN" kern="100" dirty="0">
                <a:latin typeface="等线" panose="02010600030101010101" pitchFamily="2" charset="-122"/>
                <a:ea typeface="宋体" panose="02010600030101010101" pitchFamily="2" charset="-122"/>
                <a:cs typeface="Times New Roman" panose="02020603050405020304" pitchFamily="18" charset="0"/>
              </a:rPr>
              <a:t>(n)</a:t>
            </a:r>
            <a:r>
              <a:rPr lang="zh-CN" altLang="zh-CN" kern="100" dirty="0">
                <a:latin typeface="等线" panose="02010600030101010101" pitchFamily="2" charset="-122"/>
                <a:ea typeface="宋体" panose="02010600030101010101" pitchFamily="2" charset="-122"/>
                <a:cs typeface="Times New Roman" panose="02020603050405020304" pitchFamily="18" charset="0"/>
              </a:rPr>
              <a:t>不得分</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3" name="标题 2"/>
          <p:cNvSpPr>
            <a:spLocks noGrp="1"/>
          </p:cNvSpPr>
          <p:nvPr>
            <p:ph type="title"/>
          </p:nvPr>
        </p:nvSpPr>
        <p:spPr/>
        <p:txBody>
          <a:bodyPr/>
          <a:lstStyle/>
          <a:p>
            <a:r>
              <a:rPr lang="zh-CN" altLang="en-US" dirty="0"/>
              <a:t>例 编写函数完成要求</a:t>
            </a:r>
          </a:p>
        </p:txBody>
      </p:sp>
    </p:spTree>
    <p:extLst>
      <p:ext uri="{BB962C8B-B14F-4D97-AF65-F5344CB8AC3E}">
        <p14:creationId xmlns:p14="http://schemas.microsoft.com/office/powerpoint/2010/main" val="2873359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835696" y="1124744"/>
            <a:ext cx="5732765" cy="46115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8860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主题1">
  <a:themeElements>
    <a:clrScheme name="自定义 3">
      <a:dk1>
        <a:srgbClr val="000000"/>
      </a:dk1>
      <a:lt1>
        <a:srgbClr val="FFFFFF"/>
      </a:lt1>
      <a:dk2>
        <a:srgbClr val="003468"/>
      </a:dk2>
      <a:lt2>
        <a:srgbClr val="969696"/>
      </a:lt2>
      <a:accent1>
        <a:srgbClr val="99CC00"/>
      </a:accent1>
      <a:accent2>
        <a:srgbClr val="6699FF"/>
      </a:accent2>
      <a:accent3>
        <a:srgbClr val="FFFFFF"/>
      </a:accent3>
      <a:accent4>
        <a:srgbClr val="000000"/>
      </a:accent4>
      <a:accent5>
        <a:srgbClr val="CAE2AA"/>
      </a:accent5>
      <a:accent6>
        <a:srgbClr val="5C8AE7"/>
      </a:accent6>
      <a:hlink>
        <a:srgbClr val="00B0F0"/>
      </a:hlink>
      <a:folHlink>
        <a:srgbClr val="00B0F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accent1"/>
          </a:solidFill>
        </a:ln>
      </a:spPr>
      <a:bodyPr>
        <a:spAutoFit/>
      </a:bodyPr>
      <a:lstStyle>
        <a:defPPr>
          <a:spcAft>
            <a:spcPts val="0"/>
          </a:spcAft>
          <a:defRPr kern="0">
            <a:solidFill>
              <a:srgbClr val="800000"/>
            </a:solidFill>
            <a:latin typeface="Courier New"/>
            <a:ea typeface="宋体"/>
            <a:cs typeface="Times New Roman"/>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charset="0"/>
          </a:defRPr>
        </a:defPPr>
      </a:lstStyle>
    </a:lnDef>
  </a:objectDefaults>
  <a:extraClrSchemeLst>
    <a:extraClrScheme>
      <a:clrScheme name="024betty_wave 1">
        <a:dk1>
          <a:srgbClr val="000000"/>
        </a:dk1>
        <a:lt1>
          <a:srgbClr val="FFFFFF"/>
        </a:lt1>
        <a:dk2>
          <a:srgbClr val="003060"/>
        </a:dk2>
        <a:lt2>
          <a:srgbClr val="969696"/>
        </a:lt2>
        <a:accent1>
          <a:srgbClr val="FF9900"/>
        </a:accent1>
        <a:accent2>
          <a:srgbClr val="336387"/>
        </a:accent2>
        <a:accent3>
          <a:srgbClr val="FFFFFF"/>
        </a:accent3>
        <a:accent4>
          <a:srgbClr val="000000"/>
        </a:accent4>
        <a:accent5>
          <a:srgbClr val="FFCAAA"/>
        </a:accent5>
        <a:accent6>
          <a:srgbClr val="2D597A"/>
        </a:accent6>
        <a:hlink>
          <a:srgbClr val="66CAE2"/>
        </a:hlink>
        <a:folHlink>
          <a:srgbClr val="CCECFF"/>
        </a:folHlink>
      </a:clrScheme>
      <a:clrMap bg1="lt1" tx1="dk1" bg2="lt2" tx2="dk2" accent1="accent1" accent2="accent2" accent3="accent3" accent4="accent4" accent5="accent5" accent6="accent6" hlink="hlink" folHlink="folHlink"/>
    </a:extraClrScheme>
    <a:extraClrScheme>
      <a:clrScheme name="024betty_wave 2">
        <a:dk1>
          <a:srgbClr val="000000"/>
        </a:dk1>
        <a:lt1>
          <a:srgbClr val="FFFFFF"/>
        </a:lt1>
        <a:dk2>
          <a:srgbClr val="000066"/>
        </a:dk2>
        <a:lt2>
          <a:srgbClr val="969696"/>
        </a:lt2>
        <a:accent1>
          <a:srgbClr val="33CCCC"/>
        </a:accent1>
        <a:accent2>
          <a:srgbClr val="333399"/>
        </a:accent2>
        <a:accent3>
          <a:srgbClr val="FFFFFF"/>
        </a:accent3>
        <a:accent4>
          <a:srgbClr val="000000"/>
        </a:accent4>
        <a:accent5>
          <a:srgbClr val="ADE2E2"/>
        </a:accent5>
        <a:accent6>
          <a:srgbClr val="2D2D8A"/>
        </a:accent6>
        <a:hlink>
          <a:srgbClr val="9999FF"/>
        </a:hlink>
        <a:folHlink>
          <a:srgbClr val="CCECFF"/>
        </a:folHlink>
      </a:clrScheme>
      <a:clrMap bg1="lt1" tx1="dk1" bg2="lt2" tx2="dk2" accent1="accent1" accent2="accent2" accent3="accent3" accent4="accent4" accent5="accent5" accent6="accent6" hlink="hlink" folHlink="folHlink"/>
    </a:extraClrScheme>
    <a:extraClrScheme>
      <a:clrScheme name="024betty_wave 3">
        <a:dk1>
          <a:srgbClr val="000000"/>
        </a:dk1>
        <a:lt1>
          <a:srgbClr val="FFFFFF"/>
        </a:lt1>
        <a:dk2>
          <a:srgbClr val="003468"/>
        </a:dk2>
        <a:lt2>
          <a:srgbClr val="969696"/>
        </a:lt2>
        <a:accent1>
          <a:srgbClr val="99CC00"/>
        </a:accent1>
        <a:accent2>
          <a:srgbClr val="6699FF"/>
        </a:accent2>
        <a:accent3>
          <a:srgbClr val="FFFFFF"/>
        </a:accent3>
        <a:accent4>
          <a:srgbClr val="000000"/>
        </a:accent4>
        <a:accent5>
          <a:srgbClr val="CAE2AA"/>
        </a:accent5>
        <a:accent6>
          <a:srgbClr val="5C8AE7"/>
        </a:accent6>
        <a:hlink>
          <a:srgbClr val="99CCFF"/>
        </a:hlink>
        <a:folHlink>
          <a:srgbClr val="CCFFFF"/>
        </a:folHlink>
      </a:clrScheme>
      <a:clrMap bg1="lt1" tx1="dk1" bg2="lt2" tx2="dk2" accent1="accent1" accent2="accent2" accent3="accent3" accent4="accent4" accent5="accent5" accent6="accent6" hlink="hlink" folHlink="folHlink"/>
    </a:extraClrScheme>
    <a:extraClrScheme>
      <a:clrScheme name="024betty_wave 4">
        <a:dk1>
          <a:srgbClr val="000000"/>
        </a:dk1>
        <a:lt1>
          <a:srgbClr val="FFFFFF"/>
        </a:lt1>
        <a:dk2>
          <a:srgbClr val="003060"/>
        </a:dk2>
        <a:lt2>
          <a:srgbClr val="969696"/>
        </a:lt2>
        <a:accent1>
          <a:srgbClr val="CCCC00"/>
        </a:accent1>
        <a:accent2>
          <a:srgbClr val="336387"/>
        </a:accent2>
        <a:accent3>
          <a:srgbClr val="FFFFFF"/>
        </a:accent3>
        <a:accent4>
          <a:srgbClr val="000000"/>
        </a:accent4>
        <a:accent5>
          <a:srgbClr val="E2E2AA"/>
        </a:accent5>
        <a:accent6>
          <a:srgbClr val="2D597A"/>
        </a:accent6>
        <a:hlink>
          <a:srgbClr val="66CAE2"/>
        </a:hlink>
        <a:folHlink>
          <a:srgbClr val="CCFF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主题1" id="{08D67D16-F09F-4120-9902-8B6E13640965}" vid="{F004A0D0-0AA1-407E-8AAF-2472C67E5ED7}"/>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3138</TotalTime>
  <Words>1231</Words>
  <Application>Microsoft Office PowerPoint</Application>
  <PresentationFormat>全屏显示(4:3)</PresentationFormat>
  <Paragraphs>161</Paragraphs>
  <Slides>13</Slides>
  <Notes>1</Notes>
  <HiddenSlides>1</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vt:i4>
      </vt:variant>
    </vt:vector>
  </HeadingPairs>
  <TitlesOfParts>
    <vt:vector size="25" baseType="lpstr">
      <vt:lpstr>等线</vt:lpstr>
      <vt:lpstr>黑体</vt:lpstr>
      <vt:lpstr>宋体</vt:lpstr>
      <vt:lpstr>微软雅黑</vt:lpstr>
      <vt:lpstr>Arial</vt:lpstr>
      <vt:lpstr>Calibri</vt:lpstr>
      <vt:lpstr>Cambria Math</vt:lpstr>
      <vt:lpstr>Consolas</vt:lpstr>
      <vt:lpstr>Courier New</vt:lpstr>
      <vt:lpstr>Verdana</vt:lpstr>
      <vt:lpstr>Wingdings</vt:lpstr>
      <vt:lpstr>主题1</vt:lpstr>
      <vt:lpstr>第8章  模块</vt:lpstr>
      <vt:lpstr>8.6  模块</vt:lpstr>
      <vt:lpstr>PowerPoint 演示文稿</vt:lpstr>
      <vt:lpstr>PowerPoint 演示文稿</vt:lpstr>
      <vt:lpstr>PowerPoint 演示文稿</vt:lpstr>
      <vt:lpstr>PowerPoint 演示文稿</vt:lpstr>
      <vt:lpstr>PowerPoint 演示文稿</vt:lpstr>
      <vt:lpstr>8.7  函数应用举例</vt:lpstr>
      <vt:lpstr>PowerPoint 演示文稿</vt:lpstr>
      <vt:lpstr>PowerPoint 演示文稿</vt:lpstr>
      <vt:lpstr>PowerPoint 演示文稿</vt:lpstr>
      <vt:lpstr>例 编写函数完成要求</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cyj</cp:lastModifiedBy>
  <cp:revision>137</cp:revision>
  <dcterms:created xsi:type="dcterms:W3CDTF">2016-08-25T03:48:37Z</dcterms:created>
  <dcterms:modified xsi:type="dcterms:W3CDTF">2024-12-10T03:26:22Z</dcterms:modified>
</cp:coreProperties>
</file>