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371" r:id="rId3"/>
    <p:sldId id="349" r:id="rId4"/>
    <p:sldId id="369" r:id="rId5"/>
    <p:sldId id="370" r:id="rId6"/>
    <p:sldId id="343" r:id="rId7"/>
    <p:sldId id="344" r:id="rId8"/>
    <p:sldId id="345" r:id="rId9"/>
    <p:sldId id="346" r:id="rId10"/>
    <p:sldId id="347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794"/>
    <a:srgbClr val="17385F"/>
    <a:srgbClr val="0033CC"/>
    <a:srgbClr val="0000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4" d="100"/>
          <a:sy n="114" d="100"/>
        </p:scale>
        <p:origin x="150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1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41" name="AutoShape 2405"/>
          <p:cNvSpPr>
            <a:spLocks noChangeArrowheads="1"/>
          </p:cNvSpPr>
          <p:nvPr/>
        </p:nvSpPr>
        <p:spPr bwMode="gray">
          <a:xfrm>
            <a:off x="0" y="1752600"/>
            <a:ext cx="9144000" cy="2514600"/>
          </a:xfrm>
          <a:prstGeom prst="flowChartDocument">
            <a:avLst/>
          </a:prstGeom>
          <a:ln>
            <a:noFill/>
          </a:ln>
          <a:effectLst>
            <a:glow rad="63500">
              <a:schemeClr val="accent2">
                <a:alpha val="45000"/>
                <a:satMod val="12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40" name="AutoShape 2404"/>
          <p:cNvSpPr>
            <a:spLocks noChangeArrowheads="1"/>
          </p:cNvSpPr>
          <p:nvPr/>
        </p:nvSpPr>
        <p:spPr bwMode="gray">
          <a:xfrm>
            <a:off x="0" y="304800"/>
            <a:ext cx="9144000" cy="2209800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1" name="AutoShape 2395"/>
          <p:cNvSpPr>
            <a:spLocks noChangeArrowheads="1"/>
          </p:cNvSpPr>
          <p:nvPr/>
        </p:nvSpPr>
        <p:spPr bwMode="gray">
          <a:xfrm>
            <a:off x="0" y="0"/>
            <a:ext cx="9144000" cy="2057400"/>
          </a:xfrm>
          <a:prstGeom prst="flowChartDocument">
            <a:avLst/>
          </a:prstGeom>
          <a:gradFill rotWithShape="0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0" name="Oval 2394"/>
          <p:cNvSpPr>
            <a:spLocks noChangeArrowheads="1"/>
          </p:cNvSpPr>
          <p:nvPr/>
        </p:nvSpPr>
        <p:spPr bwMode="gray">
          <a:xfrm>
            <a:off x="722313" y="1752600"/>
            <a:ext cx="552450" cy="508000"/>
          </a:xfrm>
          <a:prstGeom prst="ellipse">
            <a:avLst/>
          </a:prstGeom>
          <a:gradFill rotWithShape="0">
            <a:gsLst>
              <a:gs pos="0">
                <a:srgbClr val="86B9FF"/>
              </a:gs>
              <a:gs pos="12000">
                <a:schemeClr val="hlink">
                  <a:alpha val="53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4" name="Oval 2398"/>
          <p:cNvSpPr>
            <a:spLocks noChangeArrowheads="1"/>
          </p:cNvSpPr>
          <p:nvPr/>
        </p:nvSpPr>
        <p:spPr bwMode="gray">
          <a:xfrm>
            <a:off x="2971800" y="1773239"/>
            <a:ext cx="230188" cy="207963"/>
          </a:xfrm>
          <a:prstGeom prst="ellipse">
            <a:avLst/>
          </a:prstGeom>
          <a:gradFill rotWithShape="0">
            <a:gsLst>
              <a:gs pos="27000">
                <a:schemeClr val="hlink">
                  <a:alpha val="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5" name="Oval 2399"/>
          <p:cNvSpPr>
            <a:spLocks noChangeArrowheads="1"/>
          </p:cNvSpPr>
          <p:nvPr/>
        </p:nvSpPr>
        <p:spPr bwMode="gray">
          <a:xfrm>
            <a:off x="2247901" y="2271713"/>
            <a:ext cx="538163" cy="495300"/>
          </a:xfrm>
          <a:prstGeom prst="ellipse">
            <a:avLst/>
          </a:prstGeom>
          <a:gradFill rotWithShape="0">
            <a:gsLst>
              <a:gs pos="13000">
                <a:schemeClr val="hlink">
                  <a:alpha val="58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15" name="Rectangle 536"/>
          <p:cNvSpPr txBox="1">
            <a:spLocks noChangeArrowheads="1"/>
          </p:cNvSpPr>
          <p:nvPr/>
        </p:nvSpPr>
        <p:spPr bwMode="black">
          <a:xfrm>
            <a:off x="2247901" y="4405858"/>
            <a:ext cx="5295379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altLang="ko-KR" sz="3600" dirty="0"/>
          </a:p>
        </p:txBody>
      </p:sp>
      <p:sp>
        <p:nvSpPr>
          <p:cNvPr id="16" name="Rectangle 536"/>
          <p:cNvSpPr txBox="1">
            <a:spLocks noChangeArrowheads="1"/>
          </p:cNvSpPr>
          <p:nvPr/>
        </p:nvSpPr>
        <p:spPr bwMode="black">
          <a:xfrm>
            <a:off x="2067137" y="4234408"/>
            <a:ext cx="5009728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3987998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6837" y="948267"/>
            <a:ext cx="8780896" cy="5698066"/>
          </a:xfrm>
        </p:spPr>
        <p:txBody>
          <a:bodyPr/>
          <a:lstStyle>
            <a:lvl1pPr>
              <a:lnSpc>
                <a:spcPts val="2800"/>
              </a:lnSpc>
              <a:defRPr/>
            </a:lvl1pPr>
            <a:lvl2pPr>
              <a:lnSpc>
                <a:spcPts val="2800"/>
              </a:lnSpc>
              <a:defRPr sz="1800" b="1"/>
            </a:lvl2pPr>
            <a:lvl3pPr>
              <a:lnSpc>
                <a:spcPts val="2800"/>
              </a:lnSpc>
              <a:defRPr/>
            </a:lvl3pPr>
            <a:lvl4pPr>
              <a:lnSpc>
                <a:spcPts val="2800"/>
              </a:lnSpc>
              <a:defRPr/>
            </a:lvl4pPr>
            <a:lvl5pPr>
              <a:lnSpc>
                <a:spcPts val="2800"/>
              </a:lnSpc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85487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09136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546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14498"/>
            <a:ext cx="8229600" cy="6383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83664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15329"/>
            <a:ext cx="744473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3200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707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69053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00B2EB-ABB7-41F5-A8C2-C05D23AA5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519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4762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9436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50889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单击图标添加图表</a:t>
            </a:r>
          </a:p>
        </p:txBody>
      </p:sp>
    </p:spTree>
    <p:extLst>
      <p:ext uri="{BB962C8B-B14F-4D97-AF65-F5344CB8AC3E}">
        <p14:creationId xmlns:p14="http://schemas.microsoft.com/office/powerpoint/2010/main" val="317623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4948682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92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3673CA0-868D-4EE4-97C8-B8815C447DE6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B2EB-ABB7-41F5-A8C2-C05D23AA5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42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4" name="Rectangle 246"/>
          <p:cNvSpPr>
            <a:spLocks noChangeArrowheads="1"/>
          </p:cNvSpPr>
          <p:nvPr/>
        </p:nvSpPr>
        <p:spPr bwMode="gray">
          <a:xfrm>
            <a:off x="0" y="0"/>
            <a:ext cx="9144000" cy="8382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2117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 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2313" name="Rectangle 25"/>
          <p:cNvSpPr>
            <a:spLocks noGrp="1" noChangeArrowheads="1"/>
          </p:cNvSpPr>
          <p:nvPr>
            <p:ph type="sldNum" sz="quarter" idx="4"/>
          </p:nvPr>
        </p:nvSpPr>
        <p:spPr bwMode="ltGray">
          <a:xfrm>
            <a:off x="4572000" y="64770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900" b="1">
                <a:solidFill>
                  <a:schemeClr val="hlink"/>
                </a:solidFill>
                <a:latin typeface="+mn-lt"/>
                <a:ea typeface="굴림" pitchFamily="50" charset="-127"/>
              </a:defRPr>
            </a:lvl1pPr>
          </a:lstStyle>
          <a:p>
            <a:fld id="{CF00B2EB-ABB7-41F5-A8C2-C05D23AA509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309" name="Rectangle 21"/>
          <p:cNvSpPr>
            <a:spLocks noGrp="1" noChangeArrowheads="1"/>
          </p:cNvSpPr>
          <p:nvPr>
            <p:ph type="title"/>
          </p:nvPr>
        </p:nvSpPr>
        <p:spPr bwMode="gray">
          <a:xfrm>
            <a:off x="683569" y="127686"/>
            <a:ext cx="744473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ko-KR"/>
          </a:p>
        </p:txBody>
      </p:sp>
      <p:pic>
        <p:nvPicPr>
          <p:cNvPr id="12548" name="Picture 260" descr="http://astroleaks.lamost.org/wp-content/uploads/2012/03/Logo_Python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632464" cy="6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381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9pPr>
    </p:titleStyle>
    <p:bodyStyle>
      <a:lvl1pPr marL="257175" indent="-257175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 b="1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557213" indent="-214313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857250" indent="-171450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1200150" indent="-171450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600">
          <a:solidFill>
            <a:schemeClr val="tx1"/>
          </a:solidFill>
          <a:latin typeface="微软雅黑" pitchFamily="34" charset="-122"/>
          <a:ea typeface="微软雅黑" pitchFamily="34" charset="-122"/>
        </a:defRPr>
      </a:lvl4pPr>
      <a:lvl5pPr marL="1543050" indent="-171450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600">
          <a:solidFill>
            <a:schemeClr val="tx1"/>
          </a:solidFill>
          <a:latin typeface="微软雅黑" pitchFamily="34" charset="-122"/>
          <a:ea typeface="微软雅黑" pitchFamily="34" charset="-122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55576" y="116632"/>
            <a:ext cx="724067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4400" b="1" dirty="0">
                <a:solidFill>
                  <a:srgbClr val="245794"/>
                </a:solidFill>
                <a:cs typeface="+mj-cs"/>
              </a:rPr>
              <a:t>第</a:t>
            </a:r>
            <a:r>
              <a:rPr lang="en-US" altLang="zh-CN" sz="4400" b="1" dirty="0">
                <a:solidFill>
                  <a:srgbClr val="245794"/>
                </a:solidFill>
                <a:cs typeface="+mj-cs"/>
              </a:rPr>
              <a:t>10</a:t>
            </a:r>
            <a:r>
              <a:rPr lang="zh-CN" altLang="zh-CN" sz="4400" b="1" dirty="0">
                <a:solidFill>
                  <a:srgbClr val="245794"/>
                </a:solidFill>
                <a:cs typeface="+mj-cs"/>
              </a:rPr>
              <a:t>章</a:t>
            </a:r>
            <a:r>
              <a:rPr lang="en-US" altLang="zh-CN" sz="4400" b="1" dirty="0"/>
              <a:t>  </a:t>
            </a:r>
            <a:r>
              <a:rPr lang="zh-CN" altLang="en-US" sz="4400" b="1" dirty="0">
                <a:solidFill>
                  <a:srgbClr val="245794"/>
                </a:solidFill>
                <a:cs typeface="+mj-cs"/>
              </a:rPr>
              <a:t>文件操作</a:t>
            </a:r>
          </a:p>
        </p:txBody>
      </p:sp>
      <p:sp>
        <p:nvSpPr>
          <p:cNvPr id="6" name="矩形 5"/>
          <p:cNvSpPr/>
          <p:nvPr/>
        </p:nvSpPr>
        <p:spPr>
          <a:xfrm>
            <a:off x="292595" y="1009184"/>
            <a:ext cx="4248472" cy="1933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40000">
              <a:lnSpc>
                <a:spcPts val="5000"/>
              </a:lnSpc>
              <a:buClr>
                <a:srgbClr val="7030A0"/>
              </a:buClr>
              <a:buSzPct val="60000"/>
              <a:buFont typeface="Wingdings" pitchFamily="2" charset="2"/>
              <a:buChar char=""/>
            </a:pPr>
            <a:r>
              <a:rPr lang="zh-CN" altLang="zh-CN" sz="2800" b="1" dirty="0">
                <a:solidFill>
                  <a:srgbClr val="245794"/>
                </a:solidFill>
              </a:rPr>
              <a:t>文件基本概念</a:t>
            </a:r>
            <a:endParaRPr lang="en-US" altLang="zh-CN" sz="2800" b="1" dirty="0">
              <a:solidFill>
                <a:srgbClr val="245794"/>
              </a:solidFill>
            </a:endParaRPr>
          </a:p>
          <a:p>
            <a:pPr indent="-540000">
              <a:lnSpc>
                <a:spcPts val="5000"/>
              </a:lnSpc>
              <a:buClr>
                <a:srgbClr val="7030A0"/>
              </a:buClr>
              <a:buSzPct val="60000"/>
              <a:buFont typeface="Wingdings" pitchFamily="2" charset="2"/>
              <a:buChar char=""/>
            </a:pPr>
            <a:r>
              <a:rPr lang="zh-CN" altLang="zh-CN" sz="2800" b="1" dirty="0">
                <a:solidFill>
                  <a:srgbClr val="245794"/>
                </a:solidFill>
              </a:rPr>
              <a:t>文件</a:t>
            </a:r>
            <a:r>
              <a:rPr lang="zh-CN" altLang="en-US" sz="2800" b="1" dirty="0">
                <a:solidFill>
                  <a:srgbClr val="245794"/>
                </a:solidFill>
              </a:rPr>
              <a:t>的打开与关闭</a:t>
            </a:r>
            <a:endParaRPr lang="en-US" altLang="zh-CN" sz="2800" b="1" dirty="0">
              <a:solidFill>
                <a:srgbClr val="245794"/>
              </a:solidFill>
            </a:endParaRPr>
          </a:p>
          <a:p>
            <a:pPr indent="-540000">
              <a:lnSpc>
                <a:spcPts val="5000"/>
              </a:lnSpc>
              <a:buClr>
                <a:srgbClr val="7030A0"/>
              </a:buClr>
              <a:buSzPct val="60000"/>
              <a:buFont typeface="Wingdings" pitchFamily="2" charset="2"/>
              <a:buChar char=""/>
            </a:pPr>
            <a:r>
              <a:rPr lang="zh-CN" altLang="en-US" sz="2800" b="1" dirty="0">
                <a:solidFill>
                  <a:srgbClr val="245794"/>
                </a:solidFill>
              </a:rPr>
              <a:t>文本文件的</a:t>
            </a:r>
            <a:r>
              <a:rPr lang="zh-CN" altLang="zh-CN" sz="2800" b="1" dirty="0">
                <a:solidFill>
                  <a:srgbClr val="245794"/>
                </a:solidFill>
              </a:rPr>
              <a:t>操作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2D60704-3821-42DC-9499-7AE0F4CBBB1A}"/>
              </a:ext>
            </a:extLst>
          </p:cNvPr>
          <p:cNvSpPr txBox="1"/>
          <p:nvPr/>
        </p:nvSpPr>
        <p:spPr>
          <a:xfrm>
            <a:off x="539552" y="3573016"/>
            <a:ext cx="61863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文件的特点：数据量大，数据需长期保存，数据访问频繁。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文件存放的物理介质：磁带，软盘，硬盘，光盘，</a:t>
            </a:r>
            <a:r>
              <a:rPr lang="en-US" altLang="zh-CN" dirty="0"/>
              <a:t>U</a:t>
            </a:r>
            <a:r>
              <a:rPr lang="zh-CN" altLang="en-US" dirty="0"/>
              <a:t>盘等。</a:t>
            </a:r>
          </a:p>
        </p:txBody>
      </p:sp>
    </p:spTree>
    <p:extLst>
      <p:ext uri="{BB962C8B-B14F-4D97-AF65-F5344CB8AC3E}">
        <p14:creationId xmlns:p14="http://schemas.microsoft.com/office/powerpoint/2010/main" val="1622790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692F18F7-6628-46D4-A384-89A72AE1B0C5}"/>
              </a:ext>
            </a:extLst>
          </p:cNvPr>
          <p:cNvCxnSpPr/>
          <p:nvPr/>
        </p:nvCxnSpPr>
        <p:spPr bwMode="auto">
          <a:xfrm flipV="1">
            <a:off x="1295629" y="5521877"/>
            <a:ext cx="0" cy="5760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BA15DCC-09BA-409A-BC69-716D0795F3F4}"/>
              </a:ext>
            </a:extLst>
          </p:cNvPr>
          <p:cNvCxnSpPr/>
          <p:nvPr/>
        </p:nvCxnSpPr>
        <p:spPr bwMode="auto">
          <a:xfrm flipV="1">
            <a:off x="6281801" y="5460322"/>
            <a:ext cx="0" cy="5760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44F50110-DB1C-4C81-9CDF-AF09B0063ABF}"/>
              </a:ext>
            </a:extLst>
          </p:cNvPr>
          <p:cNvSpPr/>
          <p:nvPr/>
        </p:nvSpPr>
        <p:spPr>
          <a:xfrm>
            <a:off x="1187618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96A602-2170-44F2-8520-6A0F67317699}"/>
              </a:ext>
            </a:extLst>
          </p:cNvPr>
          <p:cNvSpPr/>
          <p:nvPr/>
        </p:nvSpPr>
        <p:spPr>
          <a:xfrm>
            <a:off x="1403641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D5A08A-59AC-488A-B31E-8B23FCD3A660}"/>
              </a:ext>
            </a:extLst>
          </p:cNvPr>
          <p:cNvSpPr/>
          <p:nvPr/>
        </p:nvSpPr>
        <p:spPr>
          <a:xfrm>
            <a:off x="1619664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C73EAF-101E-42EE-96C1-5980A09791C3}"/>
              </a:ext>
            </a:extLst>
          </p:cNvPr>
          <p:cNvSpPr/>
          <p:nvPr/>
        </p:nvSpPr>
        <p:spPr>
          <a:xfrm>
            <a:off x="1835687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C3B4FC-5142-40C0-85B1-1F00BA58B8EF}"/>
              </a:ext>
            </a:extLst>
          </p:cNvPr>
          <p:cNvSpPr/>
          <p:nvPr/>
        </p:nvSpPr>
        <p:spPr>
          <a:xfrm>
            <a:off x="2051710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0F6FF1-1158-4BA4-9434-FEFF837B5828}"/>
              </a:ext>
            </a:extLst>
          </p:cNvPr>
          <p:cNvSpPr/>
          <p:nvPr/>
        </p:nvSpPr>
        <p:spPr>
          <a:xfrm>
            <a:off x="2267733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CF01D2-AF86-4256-9CD3-23C7C171816A}"/>
              </a:ext>
            </a:extLst>
          </p:cNvPr>
          <p:cNvSpPr/>
          <p:nvPr/>
        </p:nvSpPr>
        <p:spPr>
          <a:xfrm>
            <a:off x="2483756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EC938-6BC2-4098-9515-006B7E02EF68}"/>
              </a:ext>
            </a:extLst>
          </p:cNvPr>
          <p:cNvSpPr/>
          <p:nvPr/>
        </p:nvSpPr>
        <p:spPr>
          <a:xfrm>
            <a:off x="2699779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383AEB6-2BCF-425B-AC3B-3BBD32495F2F}"/>
              </a:ext>
            </a:extLst>
          </p:cNvPr>
          <p:cNvSpPr/>
          <p:nvPr/>
        </p:nvSpPr>
        <p:spPr>
          <a:xfrm>
            <a:off x="2915802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786502-0F7F-441A-ABF9-05A3CAC0E6B0}"/>
              </a:ext>
            </a:extLst>
          </p:cNvPr>
          <p:cNvSpPr/>
          <p:nvPr/>
        </p:nvSpPr>
        <p:spPr>
          <a:xfrm>
            <a:off x="3131825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AF23B1-6FA3-4117-BA62-37CD182A922E}"/>
              </a:ext>
            </a:extLst>
          </p:cNvPr>
          <p:cNvSpPr/>
          <p:nvPr/>
        </p:nvSpPr>
        <p:spPr>
          <a:xfrm>
            <a:off x="3347848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1530F8-44D6-4804-B198-2346B66FE06E}"/>
              </a:ext>
            </a:extLst>
          </p:cNvPr>
          <p:cNvSpPr/>
          <p:nvPr/>
        </p:nvSpPr>
        <p:spPr>
          <a:xfrm>
            <a:off x="3563871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949BAF4-6F38-4562-9345-5C9242305EF5}"/>
              </a:ext>
            </a:extLst>
          </p:cNvPr>
          <p:cNvSpPr/>
          <p:nvPr/>
        </p:nvSpPr>
        <p:spPr>
          <a:xfrm>
            <a:off x="3779894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F9C9BC2-4980-420D-8992-0468F841EA10}"/>
              </a:ext>
            </a:extLst>
          </p:cNvPr>
          <p:cNvSpPr/>
          <p:nvPr/>
        </p:nvSpPr>
        <p:spPr>
          <a:xfrm>
            <a:off x="3995917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832AED4-3E17-4AA4-998E-A173AECB26D2}"/>
              </a:ext>
            </a:extLst>
          </p:cNvPr>
          <p:cNvSpPr/>
          <p:nvPr/>
        </p:nvSpPr>
        <p:spPr>
          <a:xfrm>
            <a:off x="4211940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57D0879-8A14-4ECA-B98D-BD47121D116B}"/>
              </a:ext>
            </a:extLst>
          </p:cNvPr>
          <p:cNvSpPr/>
          <p:nvPr/>
        </p:nvSpPr>
        <p:spPr>
          <a:xfrm>
            <a:off x="4427963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61079A-E467-4DC8-A935-D597F50D41AF}"/>
              </a:ext>
            </a:extLst>
          </p:cNvPr>
          <p:cNvSpPr/>
          <p:nvPr/>
        </p:nvSpPr>
        <p:spPr>
          <a:xfrm>
            <a:off x="4643986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28636F4-385B-4247-A349-9FEB77C68A14}"/>
              </a:ext>
            </a:extLst>
          </p:cNvPr>
          <p:cNvSpPr/>
          <p:nvPr/>
        </p:nvSpPr>
        <p:spPr>
          <a:xfrm>
            <a:off x="4860009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0AF3A3C-CA8F-4E57-89DB-B98BA31A421B}"/>
              </a:ext>
            </a:extLst>
          </p:cNvPr>
          <p:cNvSpPr/>
          <p:nvPr/>
        </p:nvSpPr>
        <p:spPr>
          <a:xfrm>
            <a:off x="5076032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5F3C3C9-8536-4FC3-A945-A937947F07A3}"/>
              </a:ext>
            </a:extLst>
          </p:cNvPr>
          <p:cNvSpPr/>
          <p:nvPr/>
        </p:nvSpPr>
        <p:spPr>
          <a:xfrm>
            <a:off x="5292055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329F217-AEEF-44E8-80C2-CD5626EDB877}"/>
              </a:ext>
            </a:extLst>
          </p:cNvPr>
          <p:cNvSpPr/>
          <p:nvPr/>
        </p:nvSpPr>
        <p:spPr>
          <a:xfrm>
            <a:off x="5508078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C93D3DA-57EF-4088-926F-602E306274D0}"/>
              </a:ext>
            </a:extLst>
          </p:cNvPr>
          <p:cNvSpPr/>
          <p:nvPr/>
        </p:nvSpPr>
        <p:spPr>
          <a:xfrm>
            <a:off x="5724101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D25EC94-E103-4D29-85F7-C318D5AD52A5}"/>
              </a:ext>
            </a:extLst>
          </p:cNvPr>
          <p:cNvSpPr/>
          <p:nvPr/>
        </p:nvSpPr>
        <p:spPr>
          <a:xfrm>
            <a:off x="5940124" y="4966718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9" name="右大括号 28">
            <a:extLst>
              <a:ext uri="{FF2B5EF4-FFF2-40B4-BE49-F238E27FC236}">
                <a16:creationId xmlns:a16="http://schemas.microsoft.com/office/drawing/2014/main" id="{8C732D2A-0950-4270-B88C-74B4D00D53BA}"/>
              </a:ext>
            </a:extLst>
          </p:cNvPr>
          <p:cNvSpPr/>
          <p:nvPr/>
        </p:nvSpPr>
        <p:spPr bwMode="auto">
          <a:xfrm rot="16200000">
            <a:off x="1606893" y="4161853"/>
            <a:ext cx="216023" cy="1054572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30" name="右大括号 29">
            <a:extLst>
              <a:ext uri="{FF2B5EF4-FFF2-40B4-BE49-F238E27FC236}">
                <a16:creationId xmlns:a16="http://schemas.microsoft.com/office/drawing/2014/main" id="{402ED55A-98E9-4B58-8230-F3A520372EA4}"/>
              </a:ext>
            </a:extLst>
          </p:cNvPr>
          <p:cNvSpPr/>
          <p:nvPr/>
        </p:nvSpPr>
        <p:spPr bwMode="auto">
          <a:xfrm rot="16200000">
            <a:off x="2699779" y="4161852"/>
            <a:ext cx="216023" cy="1054572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31" name="右大括号 30">
            <a:extLst>
              <a:ext uri="{FF2B5EF4-FFF2-40B4-BE49-F238E27FC236}">
                <a16:creationId xmlns:a16="http://schemas.microsoft.com/office/drawing/2014/main" id="{E85D8934-3BCD-4484-BB3E-2A2870FF1175}"/>
              </a:ext>
            </a:extLst>
          </p:cNvPr>
          <p:cNvSpPr/>
          <p:nvPr/>
        </p:nvSpPr>
        <p:spPr bwMode="auto">
          <a:xfrm rot="16200000">
            <a:off x="3795442" y="4161854"/>
            <a:ext cx="216023" cy="1054572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32" name="右大括号 31">
            <a:extLst>
              <a:ext uri="{FF2B5EF4-FFF2-40B4-BE49-F238E27FC236}">
                <a16:creationId xmlns:a16="http://schemas.microsoft.com/office/drawing/2014/main" id="{878968F0-F59F-489E-A609-5986FBBED607}"/>
              </a:ext>
            </a:extLst>
          </p:cNvPr>
          <p:cNvSpPr/>
          <p:nvPr/>
        </p:nvSpPr>
        <p:spPr bwMode="auto">
          <a:xfrm rot="16200000">
            <a:off x="4888328" y="4163993"/>
            <a:ext cx="216023" cy="1054572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33" name="右大括号 32">
            <a:extLst>
              <a:ext uri="{FF2B5EF4-FFF2-40B4-BE49-F238E27FC236}">
                <a16:creationId xmlns:a16="http://schemas.microsoft.com/office/drawing/2014/main" id="{ED786E07-C397-407F-98A8-519F444B17B6}"/>
              </a:ext>
            </a:extLst>
          </p:cNvPr>
          <p:cNvSpPr/>
          <p:nvPr/>
        </p:nvSpPr>
        <p:spPr bwMode="auto">
          <a:xfrm rot="16200000">
            <a:off x="5970118" y="4161853"/>
            <a:ext cx="216023" cy="1054572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2F90087-84FC-4A1E-9991-F43C6DD694B7}"/>
              </a:ext>
            </a:extLst>
          </p:cNvPr>
          <p:cNvSpPr txBox="1"/>
          <p:nvPr/>
        </p:nvSpPr>
        <p:spPr>
          <a:xfrm>
            <a:off x="1528200" y="421179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块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98EB779-BF2E-45AD-B3E1-730BD232D4A2}"/>
              </a:ext>
            </a:extLst>
          </p:cNvPr>
          <p:cNvSpPr txBox="1"/>
          <p:nvPr/>
        </p:nvSpPr>
        <p:spPr>
          <a:xfrm>
            <a:off x="2602555" y="421179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块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C0BEF20-9E61-4320-A6CC-5A933F6E0187}"/>
              </a:ext>
            </a:extLst>
          </p:cNvPr>
          <p:cNvSpPr txBox="1"/>
          <p:nvPr/>
        </p:nvSpPr>
        <p:spPr>
          <a:xfrm>
            <a:off x="3677754" y="421179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块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2AF120C-E3EA-4183-8E54-569A23AAE2CE}"/>
              </a:ext>
            </a:extLst>
          </p:cNvPr>
          <p:cNvSpPr txBox="1"/>
          <p:nvPr/>
        </p:nvSpPr>
        <p:spPr>
          <a:xfrm>
            <a:off x="4752109" y="421179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块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6CE4566-2B5B-44B0-AE67-874944C5817E}"/>
              </a:ext>
            </a:extLst>
          </p:cNvPr>
          <p:cNvSpPr txBox="1"/>
          <p:nvPr/>
        </p:nvSpPr>
        <p:spPr>
          <a:xfrm>
            <a:off x="5866303" y="421179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块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AE19164-1F8A-4173-952C-DF84CE2C7CC1}"/>
              </a:ext>
            </a:extLst>
          </p:cNvPr>
          <p:cNvSpPr txBox="1"/>
          <p:nvPr/>
        </p:nvSpPr>
        <p:spPr>
          <a:xfrm>
            <a:off x="590061" y="603638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当前磁头位置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B5AC239-A1C8-4053-A19B-9F925C4F97A4}"/>
              </a:ext>
            </a:extLst>
          </p:cNvPr>
          <p:cNvSpPr txBox="1"/>
          <p:nvPr/>
        </p:nvSpPr>
        <p:spPr>
          <a:xfrm>
            <a:off x="5364082" y="603638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读到文件尾时的位置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1DC3041-876D-448F-B5DE-6D2D4D3B05C3}"/>
              </a:ext>
            </a:extLst>
          </p:cNvPr>
          <p:cNvSpPr txBox="1"/>
          <p:nvPr/>
        </p:nvSpPr>
        <p:spPr>
          <a:xfrm>
            <a:off x="1187618" y="1378219"/>
            <a:ext cx="51125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在逻辑上，文件是一个字节流（字节序列）。</a:t>
            </a:r>
            <a:endParaRPr lang="en-US" altLang="zh-CN" dirty="0"/>
          </a:p>
          <a:p>
            <a:r>
              <a:rPr lang="zh-CN" altLang="en-US" dirty="0"/>
              <a:t>在物理上：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）一个扇区一般是</a:t>
            </a:r>
            <a:r>
              <a:rPr lang="en-US" altLang="zh-CN" dirty="0"/>
              <a:t>512</a:t>
            </a:r>
            <a:r>
              <a:rPr lang="zh-CN" altLang="en-US" dirty="0"/>
              <a:t>个字节，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）一个块有多个扇区。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）一次就读或写一个块，不能只读或写半个块，往往把读入或要写入的数据放在内存缓冲区。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）磁头可以前后移动，即改变当前位置。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）读写的时候，只能从当前位置往后读写数据。</a:t>
            </a:r>
          </a:p>
        </p:txBody>
      </p:sp>
    </p:spTree>
    <p:extLst>
      <p:ext uri="{BB962C8B-B14F-4D97-AF65-F5344CB8AC3E}">
        <p14:creationId xmlns:p14="http://schemas.microsoft.com/office/powerpoint/2010/main" val="2502123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9512" y="1268760"/>
            <a:ext cx="8780896" cy="1328605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10-1  </a:t>
            </a:r>
            <a:r>
              <a:rPr lang="zh-CN" altLang="en-US" dirty="0"/>
              <a:t>已经建立文本文件</a:t>
            </a:r>
            <a:r>
              <a:rPr lang="en-US" altLang="zh-CN" dirty="0"/>
              <a:t>data.txt</a:t>
            </a:r>
            <a:r>
              <a:rPr lang="zh-CN" altLang="en-US" dirty="0"/>
              <a:t>，统计文件中元音字母出现的次数。</a:t>
            </a:r>
          </a:p>
          <a:p>
            <a:pPr marL="0" indent="0">
              <a:buNone/>
            </a:pPr>
            <a:r>
              <a:rPr lang="zh-CN" altLang="en-US" dirty="0"/>
              <a:t>分析：先读取文件的全部内容，得到一个字符串，然后遍历字符串，统计元音字母的个数。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3284984"/>
            <a:ext cx="5254551" cy="202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60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5FB409-3829-45FC-93F8-087BC9520811}"/>
              </a:ext>
            </a:extLst>
          </p:cNvPr>
          <p:cNvSpPr/>
          <p:nvPr/>
        </p:nvSpPr>
        <p:spPr>
          <a:xfrm>
            <a:off x="6588224" y="4365104"/>
            <a:ext cx="2448272" cy="1372175"/>
          </a:xfrm>
          <a:prstGeom prst="rect">
            <a:avLst/>
          </a:prstGeom>
          <a:solidFill>
            <a:schemeClr val="accent6"/>
          </a:solidFill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06949" y="712064"/>
            <a:ext cx="4824536" cy="6121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zh-CN" sz="2000" b="1" dirty="0" err="1">
                <a:latin typeface="Consolas" panose="020B0609020204030204" pitchFamily="49" charset="0"/>
              </a:rPr>
              <a:t>infile</a:t>
            </a:r>
            <a:r>
              <a:rPr lang="en-US" altLang="zh-CN" sz="2000" b="1" dirty="0">
                <a:latin typeface="Consolas" panose="020B0609020204030204" pitchFamily="49" charset="0"/>
              </a:rPr>
              <a:t>=open("</a:t>
            </a:r>
            <a:r>
              <a:rPr lang="en-US" altLang="zh-CN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data.txt</a:t>
            </a:r>
            <a:r>
              <a:rPr lang="en-US" altLang="zh-CN" sz="2000" b="1" dirty="0" err="1">
                <a:latin typeface="Consolas" panose="020B0609020204030204" pitchFamily="49" charset="0"/>
              </a:rPr>
              <a:t>","r</a:t>
            </a:r>
            <a:r>
              <a:rPr lang="en-US" altLang="zh-CN" sz="2000" b="1" dirty="0">
                <a:latin typeface="Consolas" panose="020B0609020204030204" pitchFamily="49" charset="0"/>
              </a:rPr>
              <a:t>")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pPr>
              <a:lnSpc>
                <a:spcPct val="2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s=</a:t>
            </a:r>
            <a:r>
              <a:rPr lang="en-US" altLang="zh-CN" sz="2000" b="1" dirty="0" err="1">
                <a:latin typeface="Consolas" panose="020B0609020204030204" pitchFamily="49" charset="0"/>
              </a:rPr>
              <a:t>infile.read</a:t>
            </a:r>
            <a:r>
              <a:rPr lang="en-US" altLang="zh-CN" sz="2000" b="1" dirty="0">
                <a:latin typeface="Consolas" panose="020B0609020204030204" pitchFamily="49" charset="0"/>
              </a:rPr>
              <a:t>()  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pPr>
              <a:lnSpc>
                <a:spcPct val="2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print(s)  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pPr>
              <a:lnSpc>
                <a:spcPct val="2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n=0</a:t>
            </a:r>
          </a:p>
          <a:p>
            <a:pPr>
              <a:lnSpc>
                <a:spcPct val="2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for c in s:  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pPr>
              <a:lnSpc>
                <a:spcPct val="250000"/>
              </a:lnSpc>
            </a:pPr>
            <a:r>
              <a:rPr lang="zh-CN" altLang="en-US" sz="2000" b="1" dirty="0">
                <a:latin typeface="Consolas" panose="020B0609020204030204" pitchFamily="49" charset="0"/>
              </a:rPr>
              <a:t>    </a:t>
            </a:r>
            <a:r>
              <a:rPr lang="en-US" altLang="zh-CN" sz="2000" b="1" dirty="0">
                <a:latin typeface="Consolas" panose="020B0609020204030204" pitchFamily="49" charset="0"/>
              </a:rPr>
              <a:t>if c in '</a:t>
            </a:r>
            <a:r>
              <a:rPr lang="en-US" altLang="zh-CN" sz="2000" b="1" dirty="0" err="1">
                <a:latin typeface="Consolas" panose="020B0609020204030204" pitchFamily="49" charset="0"/>
              </a:rPr>
              <a:t>aeiouAEIOU</a:t>
            </a:r>
            <a:r>
              <a:rPr lang="en-US" altLang="zh-CN" sz="2000" b="1" dirty="0">
                <a:latin typeface="Consolas" panose="020B0609020204030204" pitchFamily="49" charset="0"/>
              </a:rPr>
              <a:t>':n+=1</a:t>
            </a:r>
          </a:p>
          <a:p>
            <a:pPr>
              <a:lnSpc>
                <a:spcPct val="2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print(n)</a:t>
            </a:r>
          </a:p>
          <a:p>
            <a:pPr>
              <a:lnSpc>
                <a:spcPct val="250000"/>
              </a:lnSpc>
            </a:pPr>
            <a:r>
              <a:rPr lang="en-US" altLang="zh-CN" sz="2000" b="1" dirty="0" err="1">
                <a:latin typeface="Consolas" panose="020B0609020204030204" pitchFamily="49" charset="0"/>
              </a:rPr>
              <a:t>infile.close</a:t>
            </a:r>
            <a:r>
              <a:rPr lang="en-US" altLang="zh-CN" sz="2000" b="1" dirty="0">
                <a:latin typeface="Consolas" panose="020B0609020204030204" pitchFamily="49" charset="0"/>
              </a:rPr>
              <a:t>() </a:t>
            </a:r>
          </a:p>
        </p:txBody>
      </p:sp>
      <p:sp>
        <p:nvSpPr>
          <p:cNvPr id="7" name="矩形 6"/>
          <p:cNvSpPr/>
          <p:nvPr/>
        </p:nvSpPr>
        <p:spPr>
          <a:xfrm>
            <a:off x="888854" y="111453"/>
            <a:ext cx="32063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打开指定的文件</a:t>
            </a:r>
            <a:r>
              <a:rPr lang="en-US" altLang="zh-CN" b="1" dirty="0">
                <a:latin typeface="Consolas" panose="020B0609020204030204" pitchFamily="49" charset="0"/>
              </a:rPr>
              <a:t>data.txt</a:t>
            </a:r>
          </a:p>
          <a:p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把文件开始位置作为当前位置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9" name="直接箭头连接符 8"/>
          <p:cNvCxnSpPr>
            <a:stCxn id="7" idx="2"/>
          </p:cNvCxnSpPr>
          <p:nvPr/>
        </p:nvCxnSpPr>
        <p:spPr bwMode="auto">
          <a:xfrm>
            <a:off x="2492018" y="757784"/>
            <a:ext cx="773100" cy="337289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426975" y="1975864"/>
            <a:ext cx="3582144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</a:rPr>
              <a:t>“</a:t>
            </a:r>
            <a:r>
              <a:rPr lang="en-US" altLang="zh-CN" dirty="0">
                <a:solidFill>
                  <a:srgbClr val="FF0000"/>
                </a:solidFill>
              </a:rPr>
              <a:t>r”</a:t>
            </a:r>
            <a:r>
              <a:rPr lang="zh-CN" altLang="en-US" dirty="0">
                <a:solidFill>
                  <a:srgbClr val="FF0000"/>
                </a:solidFill>
              </a:rPr>
              <a:t>方式</a:t>
            </a:r>
            <a:r>
              <a:rPr lang="zh-CN" altLang="en-US" dirty="0"/>
              <a:t>打开文件时，只能从文件读取数据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不能向该文件写数据。</a:t>
            </a:r>
          </a:p>
        </p:txBody>
      </p:sp>
      <p:cxnSp>
        <p:nvCxnSpPr>
          <p:cNvPr id="12" name="直接箭头连接符 11"/>
          <p:cNvCxnSpPr/>
          <p:nvPr/>
        </p:nvCxnSpPr>
        <p:spPr bwMode="auto">
          <a:xfrm flipH="1" flipV="1">
            <a:off x="5535341" y="1316276"/>
            <a:ext cx="576064" cy="648072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087069" y="1100252"/>
            <a:ext cx="576064" cy="288032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391325" y="1100252"/>
            <a:ext cx="216024" cy="288032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3556" y="177968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文件对象</a:t>
            </a:r>
          </a:p>
        </p:txBody>
      </p:sp>
      <p:cxnSp>
        <p:nvCxnSpPr>
          <p:cNvPr id="16" name="直接箭头连接符 15"/>
          <p:cNvCxnSpPr/>
          <p:nvPr/>
        </p:nvCxnSpPr>
        <p:spPr bwMode="auto">
          <a:xfrm flipV="1">
            <a:off x="1214861" y="1316276"/>
            <a:ext cx="880960" cy="576064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342161" y="3239616"/>
            <a:ext cx="40735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/>
              <a:t>read()</a:t>
            </a:r>
            <a:r>
              <a:rPr lang="zh-CN" altLang="en-US"/>
              <a:t>方法读取从当前位置直到文件末尾的内容，并作为</a:t>
            </a:r>
            <a:r>
              <a:rPr lang="zh-CN" altLang="en-US">
                <a:solidFill>
                  <a:schemeClr val="accent6"/>
                </a:solidFill>
              </a:rPr>
              <a:t>字符串</a:t>
            </a:r>
            <a:r>
              <a:rPr lang="zh-CN" altLang="en-US"/>
              <a:t>返回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3303093" y="1820332"/>
            <a:ext cx="936104" cy="36004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cxnSp>
        <p:nvCxnSpPr>
          <p:cNvPr id="20" name="直接箭头连接符 19"/>
          <p:cNvCxnSpPr/>
          <p:nvPr/>
        </p:nvCxnSpPr>
        <p:spPr bwMode="auto">
          <a:xfrm flipH="1" flipV="1">
            <a:off x="4095181" y="2180372"/>
            <a:ext cx="720080" cy="1108268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4887269" y="6044167"/>
            <a:ext cx="226215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/>
              <a:t>close()</a:t>
            </a:r>
            <a:r>
              <a:rPr lang="zh-CN" altLang="en-US"/>
              <a:t>方法关闭文件</a:t>
            </a:r>
          </a:p>
        </p:txBody>
      </p:sp>
      <p:cxnSp>
        <p:nvCxnSpPr>
          <p:cNvPr id="23" name="直接箭头连接符 22"/>
          <p:cNvCxnSpPr/>
          <p:nvPr/>
        </p:nvCxnSpPr>
        <p:spPr bwMode="auto">
          <a:xfrm flipH="1">
            <a:off x="3812428" y="6178252"/>
            <a:ext cx="1178217" cy="311187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B920C3E-6240-4A41-A95F-279FD2DB319D}"/>
              </a:ext>
            </a:extLst>
          </p:cNvPr>
          <p:cNvCxnSpPr/>
          <p:nvPr/>
        </p:nvCxnSpPr>
        <p:spPr bwMode="auto">
          <a:xfrm flipH="1">
            <a:off x="4401536" y="557972"/>
            <a:ext cx="197701" cy="5422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4E540FF-325B-4718-814D-02482318DEC9}"/>
              </a:ext>
            </a:extLst>
          </p:cNvPr>
          <p:cNvSpPr txBox="1"/>
          <p:nvPr/>
        </p:nvSpPr>
        <p:spPr>
          <a:xfrm>
            <a:off x="4380964" y="21085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文件名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934C0A-5E46-4798-A4F7-37B748E28F5A}"/>
              </a:ext>
            </a:extLst>
          </p:cNvPr>
          <p:cNvSpPr txBox="1"/>
          <p:nvPr/>
        </p:nvSpPr>
        <p:spPr>
          <a:xfrm>
            <a:off x="5868144" y="3842"/>
            <a:ext cx="3168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绝对路径：</a:t>
            </a:r>
            <a:r>
              <a:rPr lang="en-US" altLang="zh-CN" dirty="0"/>
              <a:t>"D:\\Python\\a.txt"</a:t>
            </a:r>
          </a:p>
          <a:p>
            <a:r>
              <a:rPr lang="zh-CN" altLang="en-US" dirty="0"/>
              <a:t>相对路径：</a:t>
            </a:r>
            <a:r>
              <a:rPr lang="en-US" altLang="zh-CN" dirty="0"/>
              <a:t>".\\sub\\a.txt"</a:t>
            </a:r>
          </a:p>
          <a:p>
            <a:r>
              <a:rPr lang="zh-CN" altLang="en-US" dirty="0"/>
              <a:t>相对路径：</a:t>
            </a:r>
            <a:r>
              <a:rPr lang="en-US" altLang="zh-CN" dirty="0"/>
              <a:t>"..\\Python\\a.txt"</a:t>
            </a:r>
          </a:p>
          <a:p>
            <a:r>
              <a:rPr lang="en-US" altLang="zh-CN" dirty="0"/>
              <a:t>                  ".\\data.txt"                  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81DD92A-33BE-48DD-8EB7-FE4481EF7184}"/>
              </a:ext>
            </a:extLst>
          </p:cNvPr>
          <p:cNvSpPr/>
          <p:nvPr/>
        </p:nvSpPr>
        <p:spPr>
          <a:xfrm>
            <a:off x="6696594" y="4631989"/>
            <a:ext cx="2304256" cy="400110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</a:rPr>
              <a:t>Python is useful.\n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D74E771-8C8B-4E14-958F-1E9A18BD5D9C}"/>
              </a:ext>
            </a:extLst>
          </p:cNvPr>
          <p:cNvCxnSpPr/>
          <p:nvPr/>
        </p:nvCxnSpPr>
        <p:spPr bwMode="auto">
          <a:xfrm flipV="1">
            <a:off x="6867872" y="5032099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76A40A7-B038-4F56-ADA3-DBB7CE22DA7D}"/>
              </a:ext>
            </a:extLst>
          </p:cNvPr>
          <p:cNvCxnSpPr/>
          <p:nvPr/>
        </p:nvCxnSpPr>
        <p:spPr bwMode="auto">
          <a:xfrm flipV="1">
            <a:off x="7020272" y="5032099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3D0677C-DF91-4CC9-A89F-90A4F34C8AAA}"/>
              </a:ext>
            </a:extLst>
          </p:cNvPr>
          <p:cNvCxnSpPr/>
          <p:nvPr/>
        </p:nvCxnSpPr>
        <p:spPr bwMode="auto">
          <a:xfrm flipV="1">
            <a:off x="7155904" y="5032099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00873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3" grpId="0" animBg="1"/>
      <p:bldP spid="14" grpId="0" animBg="1"/>
      <p:bldP spid="15" grpId="0"/>
      <p:bldP spid="18" grpId="0" animBg="1"/>
      <p:bldP spid="19" grpId="0" animBg="1"/>
      <p:bldP spid="22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6837" y="948267"/>
            <a:ext cx="8780896" cy="1328605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10-1  </a:t>
            </a:r>
            <a:r>
              <a:rPr lang="zh-CN" altLang="en-US" dirty="0"/>
              <a:t>已经建立文本文件</a:t>
            </a:r>
            <a:r>
              <a:rPr lang="en-US" altLang="zh-CN" dirty="0"/>
              <a:t>data.txt</a:t>
            </a:r>
            <a:r>
              <a:rPr lang="zh-CN" altLang="en-US" dirty="0"/>
              <a:t>，统计文件中元音字母出现的次数。</a:t>
            </a:r>
          </a:p>
          <a:p>
            <a:pPr marL="0" indent="0">
              <a:buNone/>
            </a:pPr>
            <a:r>
              <a:rPr lang="zh-CN" altLang="en-US" dirty="0"/>
              <a:t>分析：先读取文件的全部内容，得到一个字符串，然后遍历字符串，统计元音字母的个数。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5477" y="2250728"/>
            <a:ext cx="828092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0070C0"/>
                </a:solidFill>
                <a:latin typeface="Bodoni MT" panose="02070603080606020203" pitchFamily="18" charset="0"/>
              </a:rPr>
              <a:t>infile=open</a:t>
            </a:r>
            <a:r>
              <a:rPr lang="en-US" altLang="zh-CN" sz="2400" b="1" dirty="0">
                <a:solidFill>
                  <a:srgbClr val="0070C0"/>
                </a:solidFill>
                <a:latin typeface="Bodoni MT" panose="02070603080606020203" pitchFamily="18" charset="0"/>
              </a:rPr>
              <a:t>("</a:t>
            </a:r>
            <a:r>
              <a:rPr lang="en-US" altLang="zh-CN" sz="2400" b="1" dirty="0" err="1">
                <a:solidFill>
                  <a:srgbClr val="0070C0"/>
                </a:solidFill>
                <a:latin typeface="Bodoni MT" panose="02070603080606020203" pitchFamily="18" charset="0"/>
              </a:rPr>
              <a:t>data.txt","r</a:t>
            </a:r>
            <a:r>
              <a:rPr lang="en-US" altLang="zh-CN" sz="2400" b="1">
                <a:solidFill>
                  <a:srgbClr val="0070C0"/>
                </a:solidFill>
                <a:latin typeface="Bodoni MT" panose="02070603080606020203" pitchFamily="18" charset="0"/>
              </a:rPr>
              <a:t>")       </a:t>
            </a:r>
            <a:r>
              <a:rPr lang="en-US" altLang="zh-CN" b="1">
                <a:solidFill>
                  <a:srgbClr val="C00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打开文件，准备输出文本文件</a:t>
            </a:r>
          </a:p>
          <a:p>
            <a:r>
              <a:rPr lang="en-US" altLang="zh-CN" sz="2400" b="1" dirty="0">
                <a:solidFill>
                  <a:srgbClr val="0070C0"/>
                </a:solidFill>
                <a:latin typeface="Bodoni MT" panose="02070603080606020203" pitchFamily="18" charset="0"/>
              </a:rPr>
              <a:t>s=</a:t>
            </a:r>
            <a:r>
              <a:rPr lang="en-US" altLang="zh-CN" sz="2400" b="1" dirty="0" err="1">
                <a:solidFill>
                  <a:srgbClr val="0070C0"/>
                </a:solidFill>
                <a:latin typeface="Bodoni MT" panose="02070603080606020203" pitchFamily="18" charset="0"/>
              </a:rPr>
              <a:t>infile.read</a:t>
            </a:r>
            <a:r>
              <a:rPr lang="en-US" altLang="zh-CN" sz="2400" b="1">
                <a:solidFill>
                  <a:srgbClr val="0070C0"/>
                </a:solidFill>
                <a:latin typeface="Bodoni MT" panose="02070603080606020203" pitchFamily="18" charset="0"/>
              </a:rPr>
              <a:t>()                   </a:t>
            </a:r>
            <a:r>
              <a:rPr lang="en-US" altLang="zh-CN" b="1">
                <a:solidFill>
                  <a:srgbClr val="C00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读取文件全部字符</a:t>
            </a:r>
          </a:p>
          <a:p>
            <a:r>
              <a:rPr lang="en-US" altLang="zh-CN" sz="2000" b="1" dirty="0">
                <a:latin typeface="Consolas" panose="020B0609020204030204" pitchFamily="49" charset="0"/>
              </a:rPr>
              <a:t>print(s</a:t>
            </a:r>
            <a:r>
              <a:rPr lang="en-US" altLang="zh-CN" sz="2000" b="1">
                <a:latin typeface="Consolas" panose="020B0609020204030204" pitchFamily="49" charset="0"/>
              </a:rPr>
              <a:t>)                </a:t>
            </a:r>
            <a:r>
              <a:rPr lang="en-US" altLang="zh-CN" b="1">
                <a:solidFill>
                  <a:srgbClr val="C00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显示文件内容</a:t>
            </a:r>
          </a:p>
          <a:p>
            <a:r>
              <a:rPr lang="en-US" altLang="zh-CN" sz="2000" b="1" dirty="0">
                <a:latin typeface="Consolas" panose="020B0609020204030204" pitchFamily="49" charset="0"/>
              </a:rPr>
              <a:t>n=0</a:t>
            </a:r>
          </a:p>
          <a:p>
            <a:r>
              <a:rPr lang="en-US" altLang="zh-CN" sz="2000" b="1" dirty="0">
                <a:latin typeface="Consolas" panose="020B0609020204030204" pitchFamily="49" charset="0"/>
              </a:rPr>
              <a:t>for c in s</a:t>
            </a:r>
            <a:r>
              <a:rPr lang="en-US" altLang="zh-CN" sz="2000" b="1">
                <a:latin typeface="Consolas" panose="020B0609020204030204" pitchFamily="49" charset="0"/>
              </a:rPr>
              <a:t>:             </a:t>
            </a:r>
            <a:r>
              <a:rPr lang="en-US" altLang="zh-CN" b="1">
                <a:solidFill>
                  <a:srgbClr val="C00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遍历读取的字符串</a:t>
            </a:r>
          </a:p>
          <a:p>
            <a:r>
              <a:rPr lang="zh-CN" altLang="en-US" sz="2000" b="1" dirty="0">
                <a:latin typeface="Consolas" panose="020B0609020204030204" pitchFamily="49" charset="0"/>
              </a:rPr>
              <a:t>    </a:t>
            </a:r>
            <a:r>
              <a:rPr lang="en-US" altLang="zh-CN" sz="2000" b="1" dirty="0">
                <a:latin typeface="Consolas" panose="020B0609020204030204" pitchFamily="49" charset="0"/>
              </a:rPr>
              <a:t>if c in '</a:t>
            </a:r>
            <a:r>
              <a:rPr lang="en-US" altLang="zh-CN" sz="2000" b="1" dirty="0" err="1">
                <a:latin typeface="Consolas" panose="020B0609020204030204" pitchFamily="49" charset="0"/>
              </a:rPr>
              <a:t>aeiouAEIOU</a:t>
            </a:r>
            <a:r>
              <a:rPr lang="en-US" altLang="zh-CN" sz="2000" b="1" dirty="0">
                <a:latin typeface="Consolas" panose="020B0609020204030204" pitchFamily="49" charset="0"/>
              </a:rPr>
              <a:t>':n+=1</a:t>
            </a:r>
          </a:p>
          <a:p>
            <a:r>
              <a:rPr lang="en-US" altLang="zh-CN" sz="2000" b="1" dirty="0">
                <a:latin typeface="Consolas" panose="020B0609020204030204" pitchFamily="49" charset="0"/>
              </a:rPr>
              <a:t>print(n)</a:t>
            </a:r>
          </a:p>
          <a:p>
            <a:r>
              <a:rPr lang="en-US" altLang="zh-CN" sz="2400" b="1" dirty="0" err="1">
                <a:solidFill>
                  <a:srgbClr val="0070C0"/>
                </a:solidFill>
                <a:latin typeface="Bodoni MT" panose="02070603080606020203" pitchFamily="18" charset="0"/>
              </a:rPr>
              <a:t>infile.close</a:t>
            </a:r>
            <a:r>
              <a:rPr lang="en-US" altLang="zh-CN" sz="2400" b="1" dirty="0">
                <a:solidFill>
                  <a:srgbClr val="0070C0"/>
                </a:solidFill>
                <a:latin typeface="Bodoni MT" panose="02070603080606020203" pitchFamily="18" charset="0"/>
              </a:rPr>
              <a:t>() </a:t>
            </a:r>
          </a:p>
          <a:p>
            <a:endParaRPr lang="en-US" altLang="zh-CN" sz="20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程序运行结果如下：</a:t>
            </a:r>
          </a:p>
          <a:p>
            <a:r>
              <a:rPr lang="en-US" altLang="zh-CN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Python is very useful.</a:t>
            </a:r>
          </a:p>
          <a:p>
            <a:r>
              <a:rPr lang="en-US" altLang="zh-CN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Programming in Python is very easy.</a:t>
            </a:r>
          </a:p>
          <a:p>
            <a:endParaRPr lang="en-US" altLang="zh-CN" sz="2000" b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>
                <a:solidFill>
                  <a:schemeClr val="accent2"/>
                </a:solidFill>
                <a:latin typeface="Consolas" panose="020B0609020204030204" pitchFamily="49" charset="0"/>
              </a:rPr>
              <a:t>15</a:t>
            </a:r>
            <a:endParaRPr lang="en-US" altLang="zh-CN" sz="20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86197" y="3861048"/>
            <a:ext cx="3960440" cy="9233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文本文件</a:t>
            </a:r>
            <a:r>
              <a:rPr lang="en-US" altLang="zh-CN" dirty="0"/>
              <a:t>data.txt</a:t>
            </a:r>
            <a:r>
              <a:rPr lang="zh-CN" altLang="en-US" dirty="0"/>
              <a:t>的内容如下：</a:t>
            </a:r>
          </a:p>
          <a:p>
            <a:r>
              <a:rPr lang="en-US" altLang="zh-CN" dirty="0"/>
              <a:t>Python is very useful.</a:t>
            </a:r>
          </a:p>
          <a:p>
            <a:r>
              <a:rPr lang="en-US" altLang="zh-CN" dirty="0"/>
              <a:t>Programming in Python is very easy.</a:t>
            </a:r>
          </a:p>
        </p:txBody>
      </p:sp>
    </p:spTree>
    <p:extLst>
      <p:ext uri="{BB962C8B-B14F-4D97-AF65-F5344CB8AC3E}">
        <p14:creationId xmlns:p14="http://schemas.microsoft.com/office/powerpoint/2010/main" val="306815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．文件格式</a:t>
            </a:r>
          </a:p>
          <a:p>
            <a:pPr marL="0" indent="457200">
              <a:buNone/>
            </a:pPr>
            <a:r>
              <a:rPr lang="zh-CN" altLang="en-US" dirty="0"/>
              <a:t>文件（</a:t>
            </a:r>
            <a:r>
              <a:rPr lang="en-US" altLang="zh-CN" dirty="0"/>
              <a:t>file</a:t>
            </a:r>
            <a:r>
              <a:rPr lang="zh-CN" altLang="en-US" dirty="0"/>
              <a:t>）是存储在外部介质上一组相关信息的集合。</a:t>
            </a:r>
            <a:endParaRPr lang="en-US" altLang="zh-CN" dirty="0"/>
          </a:p>
          <a:p>
            <a:pPr marL="0" indent="457200">
              <a:buNone/>
            </a:pPr>
            <a:r>
              <a:rPr lang="zh-CN" altLang="en-US" dirty="0"/>
              <a:t>根据文件数据的组织形式，</a:t>
            </a:r>
            <a:r>
              <a:rPr lang="en-US" altLang="zh-CN" dirty="0"/>
              <a:t>Python</a:t>
            </a:r>
            <a:r>
              <a:rPr lang="zh-CN" altLang="en-US" dirty="0"/>
              <a:t>的文件可分为</a:t>
            </a:r>
            <a:r>
              <a:rPr lang="zh-CN" altLang="en-US" dirty="0">
                <a:solidFill>
                  <a:schemeClr val="accent6"/>
                </a:solidFill>
              </a:rPr>
              <a:t>文本文件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chemeClr val="accent6"/>
                </a:solidFill>
              </a:rPr>
              <a:t>二进制文件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457200">
              <a:buNone/>
            </a:pPr>
            <a:r>
              <a:rPr lang="zh-CN" altLang="en-US"/>
              <a:t>文本文件依次存储一个个字符的编码。</a:t>
            </a:r>
            <a:endParaRPr lang="en-US" altLang="zh-CN" dirty="0"/>
          </a:p>
          <a:p>
            <a:pPr marL="0" indent="457200">
              <a:buNone/>
            </a:pP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dirty="0"/>
              <a:t>2</a:t>
            </a:r>
            <a:r>
              <a:rPr lang="zh-CN" altLang="en-US" dirty="0"/>
              <a:t>．文件操作步骤</a:t>
            </a:r>
            <a:r>
              <a:rPr lang="en-US" altLang="zh-CN" dirty="0"/>
              <a:t>:</a:t>
            </a:r>
            <a:endParaRPr lang="zh-CN" altLang="en-US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/>
              <a:t>首先打开文件并创建文件对象。  </a:t>
            </a:r>
            <a:endParaRPr lang="en-US" altLang="zh-CN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/>
              <a:t>通过该文件对象对文件内容进行读写操作。  </a:t>
            </a:r>
            <a:endParaRPr lang="en-US" altLang="zh-CN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/>
              <a:t>最后关闭文件。</a:t>
            </a:r>
            <a:endParaRPr lang="zh-CN" alt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　　文件的读（</a:t>
            </a:r>
            <a:r>
              <a:rPr lang="en-US" altLang="zh-CN" dirty="0"/>
              <a:t>read</a:t>
            </a:r>
            <a:r>
              <a:rPr lang="zh-CN" altLang="en-US" dirty="0"/>
              <a:t>）操作就是从文件中取出数据，再输入到计算机内存储器；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文件的写（</a:t>
            </a:r>
            <a:r>
              <a:rPr lang="en-US" altLang="zh-CN" dirty="0"/>
              <a:t>write</a:t>
            </a:r>
            <a:r>
              <a:rPr lang="zh-CN" altLang="en-US" dirty="0"/>
              <a:t>）操作是向文件写入数据，即将内存数据输出到磁盘文件。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245794"/>
                </a:solidFill>
              </a:rPr>
              <a:t>10.1  </a:t>
            </a:r>
            <a:r>
              <a:rPr lang="zh-CN" altLang="zh-CN" dirty="0">
                <a:solidFill>
                  <a:srgbClr val="245794"/>
                </a:solidFill>
              </a:rPr>
              <a:t>文件的概念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4716016" y="3446512"/>
            <a:ext cx="115929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open</a:t>
            </a:r>
            <a:r>
              <a:rPr lang="zh-CN" altLang="en-US">
                <a:solidFill>
                  <a:srgbClr val="C00000"/>
                </a:solidFill>
              </a:rPr>
              <a:t>函数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898292" y="3933056"/>
            <a:ext cx="126188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read()</a:t>
            </a:r>
            <a:r>
              <a:rPr lang="zh-CN" altLang="en-US">
                <a:solidFill>
                  <a:srgbClr val="C00000"/>
                </a:solidFill>
              </a:rPr>
              <a:t>方法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75856" y="4302388"/>
            <a:ext cx="133882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close()</a:t>
            </a:r>
            <a:r>
              <a:rPr lang="zh-CN" altLang="en-US">
                <a:solidFill>
                  <a:srgbClr val="C00000"/>
                </a:solidFill>
              </a:rPr>
              <a:t>方法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67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10.2.1  </a:t>
            </a:r>
            <a:r>
              <a:rPr lang="zh-CN" altLang="en-US" dirty="0"/>
              <a:t>打开文件</a:t>
            </a:r>
          </a:p>
          <a:p>
            <a:pPr marL="0" indent="0">
              <a:buNone/>
            </a:pPr>
            <a:r>
              <a:rPr lang="zh-CN" altLang="en-US" dirty="0"/>
              <a:t>　　所谓打开文件是在程序和操作系统之间建立起联系，程序把所要操作文件的一些信息通知给操作系统。</a:t>
            </a:r>
          </a:p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．</a:t>
            </a:r>
            <a:r>
              <a:rPr lang="en-US" altLang="zh-CN" dirty="0"/>
              <a:t>open()</a:t>
            </a:r>
            <a:r>
              <a:rPr lang="zh-CN" altLang="en-US" dirty="0"/>
              <a:t>函数</a:t>
            </a:r>
          </a:p>
          <a:p>
            <a:pPr marL="0" indent="457200">
              <a:buNone/>
            </a:pPr>
            <a:endParaRPr lang="zh-CN" altLang="en-US" dirty="0"/>
          </a:p>
          <a:p>
            <a:pPr marL="0" indent="457200">
              <a:buNone/>
            </a:pPr>
            <a:r>
              <a:rPr lang="zh-CN" altLang="en-US" dirty="0"/>
              <a:t>文件对象</a:t>
            </a:r>
            <a:r>
              <a:rPr lang="en-US" altLang="zh-CN" dirty="0"/>
              <a:t>=open(</a:t>
            </a:r>
            <a:r>
              <a:rPr lang="zh-CN" altLang="en-US" dirty="0"/>
              <a:t>文件说明符</a:t>
            </a:r>
            <a:r>
              <a:rPr lang="en-US" altLang="zh-CN" dirty="0"/>
              <a:t>[,</a:t>
            </a:r>
            <a:r>
              <a:rPr lang="zh-CN" altLang="en-US" dirty="0"/>
              <a:t>打开</a:t>
            </a:r>
            <a:r>
              <a:rPr lang="zh-CN" altLang="en-US"/>
              <a:t>方式</a:t>
            </a:r>
            <a:r>
              <a:rPr lang="en-US" altLang="zh-CN"/>
              <a:t>])</a:t>
            </a:r>
          </a:p>
          <a:p>
            <a:pPr marL="0" indent="457200">
              <a:buNone/>
            </a:pPr>
            <a:endParaRPr lang="en-US" altLang="zh-CN" dirty="0"/>
          </a:p>
          <a:p>
            <a:pPr marL="0" indent="457200">
              <a:buNone/>
            </a:pPr>
            <a:r>
              <a:rPr lang="zh-CN" altLang="en-US" dirty="0"/>
              <a:t>其中，文件说明符指定打开的文件名，可以包含盘符、路径和文件名，它是一个字符串。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245794"/>
                </a:solidFill>
              </a:rPr>
              <a:t>10.2  </a:t>
            </a:r>
            <a:r>
              <a:rPr lang="zh-CN" altLang="zh-CN" dirty="0">
                <a:solidFill>
                  <a:srgbClr val="245794"/>
                </a:solidFill>
              </a:rPr>
              <a:t>文件的打开与关闭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7524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81552" y="739995"/>
            <a:ext cx="8780896" cy="4633221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en-US" altLang="zh-CN" dirty="0"/>
              <a:t>open()</a:t>
            </a:r>
            <a:r>
              <a:rPr lang="zh-CN" altLang="en-US" dirty="0"/>
              <a:t>函数以指定的方式打开指定的文件，文件操作方式符的含义是：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）用“</a:t>
            </a:r>
            <a:r>
              <a:rPr lang="en-US" altLang="zh-CN" dirty="0">
                <a:solidFill>
                  <a:srgbClr val="FF0000"/>
                </a:solidFill>
              </a:rPr>
              <a:t>r</a:t>
            </a:r>
            <a:r>
              <a:rPr lang="en-US" altLang="zh-CN" dirty="0"/>
              <a:t>”</a:t>
            </a:r>
            <a:r>
              <a:rPr lang="zh-CN" altLang="en-US" dirty="0"/>
              <a:t>方式打开文件时，只能从文件向内存输入数据，而不能从内存向该文件写数据。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）用“</a:t>
            </a:r>
            <a:r>
              <a:rPr lang="en-US" altLang="zh-CN" dirty="0">
                <a:solidFill>
                  <a:srgbClr val="FF0000"/>
                </a:solidFill>
              </a:rPr>
              <a:t>w</a:t>
            </a:r>
            <a:r>
              <a:rPr lang="en-US" altLang="zh-CN" dirty="0"/>
              <a:t>”</a:t>
            </a:r>
            <a:r>
              <a:rPr lang="zh-CN" altLang="en-US" dirty="0"/>
              <a:t>方式打开文件时，只能从内存向该文件写数据，而不能从文件向内存输入数据。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）如果希望向一个已经存在的文件的尾部添加新数据（保留原文件中已有的数据），则应用“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”</a:t>
            </a:r>
            <a:r>
              <a:rPr lang="zh-CN" altLang="en-US" dirty="0"/>
              <a:t>方式打开。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）用“</a:t>
            </a:r>
            <a:r>
              <a:rPr lang="en-US" altLang="zh-CN" dirty="0">
                <a:solidFill>
                  <a:srgbClr val="FF0000"/>
                </a:solidFill>
              </a:rPr>
              <a:t>r+</a:t>
            </a:r>
            <a:r>
              <a:rPr lang="en-US" altLang="zh-CN" dirty="0"/>
              <a:t>”</a:t>
            </a:r>
            <a:r>
              <a:rPr lang="zh-CN" altLang="en-US" dirty="0"/>
              <a:t>，“</a:t>
            </a:r>
            <a:r>
              <a:rPr lang="en-US" altLang="zh-CN" dirty="0">
                <a:solidFill>
                  <a:srgbClr val="FF0000"/>
                </a:solidFill>
              </a:rPr>
              <a:t>w+</a:t>
            </a:r>
            <a:r>
              <a:rPr lang="en-US" altLang="zh-CN" dirty="0"/>
              <a:t>”</a:t>
            </a:r>
            <a:r>
              <a:rPr lang="zh-CN" altLang="en-US" dirty="0"/>
              <a:t>，“</a:t>
            </a:r>
            <a:r>
              <a:rPr lang="en-US" altLang="zh-CN" dirty="0">
                <a:solidFill>
                  <a:srgbClr val="FF0000"/>
                </a:solidFill>
              </a:rPr>
              <a:t>a+</a:t>
            </a:r>
            <a:r>
              <a:rPr lang="en-US" altLang="zh-CN" dirty="0"/>
              <a:t>”</a:t>
            </a:r>
            <a:r>
              <a:rPr lang="zh-CN" altLang="en-US" dirty="0"/>
              <a:t>方式打开的文件可以写入和读取数据。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）用类似的方法可以打开二进制文件。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打开方式</a:t>
            </a:r>
            <a:r>
              <a:rPr lang="en-US" altLang="zh-CN"/>
              <a:t>mode</a:t>
            </a:r>
            <a:br>
              <a:rPr lang="en-US" altLang="zh-CN"/>
            </a:br>
            <a:endParaRPr lang="zh-CN" alt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AAAEFC90-CBCA-4406-A943-783AAC937BBD}"/>
              </a:ext>
            </a:extLst>
          </p:cNvPr>
          <p:cNvCxnSpPr/>
          <p:nvPr/>
        </p:nvCxnSpPr>
        <p:spPr bwMode="auto">
          <a:xfrm flipV="1">
            <a:off x="1187624" y="5882966"/>
            <a:ext cx="0" cy="5760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6A9E4F39-7BFC-40FD-A30C-F1658AA709E6}"/>
              </a:ext>
            </a:extLst>
          </p:cNvPr>
          <p:cNvCxnSpPr/>
          <p:nvPr/>
        </p:nvCxnSpPr>
        <p:spPr bwMode="auto">
          <a:xfrm flipV="1">
            <a:off x="6156176" y="5844115"/>
            <a:ext cx="0" cy="5760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C25CE42F-B23E-44CC-83D0-9D8EE11A1816}"/>
              </a:ext>
            </a:extLst>
          </p:cNvPr>
          <p:cNvSpPr/>
          <p:nvPr/>
        </p:nvSpPr>
        <p:spPr>
          <a:xfrm>
            <a:off x="1115637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5A9A2A-0B32-4A39-AA24-3C3F321DE06F}"/>
              </a:ext>
            </a:extLst>
          </p:cNvPr>
          <p:cNvSpPr/>
          <p:nvPr/>
        </p:nvSpPr>
        <p:spPr>
          <a:xfrm>
            <a:off x="1331660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397DF7-A275-4CF1-A008-ED318089F863}"/>
              </a:ext>
            </a:extLst>
          </p:cNvPr>
          <p:cNvSpPr/>
          <p:nvPr/>
        </p:nvSpPr>
        <p:spPr>
          <a:xfrm>
            <a:off x="1547683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44D22C2-6732-43A8-A42F-A169B54E243A}"/>
              </a:ext>
            </a:extLst>
          </p:cNvPr>
          <p:cNvSpPr/>
          <p:nvPr/>
        </p:nvSpPr>
        <p:spPr>
          <a:xfrm>
            <a:off x="1763706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5D9E98-C02D-4D20-AC19-AB9885187E52}"/>
              </a:ext>
            </a:extLst>
          </p:cNvPr>
          <p:cNvSpPr/>
          <p:nvPr/>
        </p:nvSpPr>
        <p:spPr>
          <a:xfrm>
            <a:off x="1979729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03535C-35C6-4D26-898B-01A3BA771C04}"/>
              </a:ext>
            </a:extLst>
          </p:cNvPr>
          <p:cNvSpPr/>
          <p:nvPr/>
        </p:nvSpPr>
        <p:spPr>
          <a:xfrm>
            <a:off x="2195752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471109-08FF-4EA8-9906-54FAA68A3EC7}"/>
              </a:ext>
            </a:extLst>
          </p:cNvPr>
          <p:cNvSpPr/>
          <p:nvPr/>
        </p:nvSpPr>
        <p:spPr>
          <a:xfrm>
            <a:off x="2411775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0E9AC22-73C7-4281-885B-DEC93448B9DF}"/>
              </a:ext>
            </a:extLst>
          </p:cNvPr>
          <p:cNvSpPr/>
          <p:nvPr/>
        </p:nvSpPr>
        <p:spPr>
          <a:xfrm>
            <a:off x="2627798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1CFB3A6-C64B-496B-AE25-EC3FDE57ADE9}"/>
              </a:ext>
            </a:extLst>
          </p:cNvPr>
          <p:cNvSpPr/>
          <p:nvPr/>
        </p:nvSpPr>
        <p:spPr>
          <a:xfrm>
            <a:off x="2843821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3A1982C-F3F7-4420-99D9-1EEECD4A473D}"/>
              </a:ext>
            </a:extLst>
          </p:cNvPr>
          <p:cNvSpPr/>
          <p:nvPr/>
        </p:nvSpPr>
        <p:spPr>
          <a:xfrm>
            <a:off x="3059844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C405D3E-A374-4AE0-8CD9-BD3B650F410B}"/>
              </a:ext>
            </a:extLst>
          </p:cNvPr>
          <p:cNvSpPr/>
          <p:nvPr/>
        </p:nvSpPr>
        <p:spPr>
          <a:xfrm>
            <a:off x="3275867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C767FF6-9605-4FE1-8C94-7FEFCB6CEDA9}"/>
              </a:ext>
            </a:extLst>
          </p:cNvPr>
          <p:cNvSpPr/>
          <p:nvPr/>
        </p:nvSpPr>
        <p:spPr>
          <a:xfrm>
            <a:off x="3491890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2647EC-201C-486B-A50A-136B082FDC85}"/>
              </a:ext>
            </a:extLst>
          </p:cNvPr>
          <p:cNvSpPr/>
          <p:nvPr/>
        </p:nvSpPr>
        <p:spPr>
          <a:xfrm>
            <a:off x="3707913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9F5EF80-985D-4900-A857-3DFF52A74E84}"/>
              </a:ext>
            </a:extLst>
          </p:cNvPr>
          <p:cNvSpPr/>
          <p:nvPr/>
        </p:nvSpPr>
        <p:spPr>
          <a:xfrm>
            <a:off x="3923936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C7920EB-B5F6-4738-AE8E-57BA992BAFA8}"/>
              </a:ext>
            </a:extLst>
          </p:cNvPr>
          <p:cNvSpPr/>
          <p:nvPr/>
        </p:nvSpPr>
        <p:spPr>
          <a:xfrm>
            <a:off x="4139959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031D670-944E-4E81-BA76-13B7720EE388}"/>
              </a:ext>
            </a:extLst>
          </p:cNvPr>
          <p:cNvSpPr/>
          <p:nvPr/>
        </p:nvSpPr>
        <p:spPr>
          <a:xfrm>
            <a:off x="4355982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37B1A8-B6DE-4C62-B9F5-9649D54D4A67}"/>
              </a:ext>
            </a:extLst>
          </p:cNvPr>
          <p:cNvSpPr/>
          <p:nvPr/>
        </p:nvSpPr>
        <p:spPr>
          <a:xfrm>
            <a:off x="4572005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F74FB7F-C313-40D2-BD84-165E54177609}"/>
              </a:ext>
            </a:extLst>
          </p:cNvPr>
          <p:cNvSpPr/>
          <p:nvPr/>
        </p:nvSpPr>
        <p:spPr>
          <a:xfrm>
            <a:off x="4788028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95C6EDB-BC72-49F3-9411-A1B1FF9C4B75}"/>
              </a:ext>
            </a:extLst>
          </p:cNvPr>
          <p:cNvSpPr/>
          <p:nvPr/>
        </p:nvSpPr>
        <p:spPr>
          <a:xfrm>
            <a:off x="5004051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DED1CCA-B16F-45AD-80E0-AEBB34463679}"/>
              </a:ext>
            </a:extLst>
          </p:cNvPr>
          <p:cNvSpPr/>
          <p:nvPr/>
        </p:nvSpPr>
        <p:spPr>
          <a:xfrm>
            <a:off x="5220074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1A9658E-8577-44BD-90D5-A9A86D2FC150}"/>
              </a:ext>
            </a:extLst>
          </p:cNvPr>
          <p:cNvSpPr/>
          <p:nvPr/>
        </p:nvSpPr>
        <p:spPr>
          <a:xfrm>
            <a:off x="5436097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03531B2-7E55-49F5-9368-5A18E633B194}"/>
              </a:ext>
            </a:extLst>
          </p:cNvPr>
          <p:cNvSpPr/>
          <p:nvPr/>
        </p:nvSpPr>
        <p:spPr>
          <a:xfrm>
            <a:off x="5652120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E1AF846-2A26-4683-8EB6-D647C140DAA0}"/>
              </a:ext>
            </a:extLst>
          </p:cNvPr>
          <p:cNvSpPr/>
          <p:nvPr/>
        </p:nvSpPr>
        <p:spPr>
          <a:xfrm>
            <a:off x="5868143" y="5412067"/>
            <a:ext cx="216023" cy="4320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20192B1-EA9A-414E-832D-731F0B13887D}"/>
              </a:ext>
            </a:extLst>
          </p:cNvPr>
          <p:cNvSpPr txBox="1"/>
          <p:nvPr/>
        </p:nvSpPr>
        <p:spPr>
          <a:xfrm>
            <a:off x="482056" y="639747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当前磁头位置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EB49F22-A0DF-452E-8D12-3B78A2607A61}"/>
              </a:ext>
            </a:extLst>
          </p:cNvPr>
          <p:cNvSpPr txBox="1"/>
          <p:nvPr/>
        </p:nvSpPr>
        <p:spPr>
          <a:xfrm>
            <a:off x="5256077" y="639747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读到文件尾时的位置</a:t>
            </a:r>
          </a:p>
        </p:txBody>
      </p:sp>
    </p:spTree>
    <p:extLst>
      <p:ext uri="{BB962C8B-B14F-4D97-AF65-F5344CB8AC3E}">
        <p14:creationId xmlns:p14="http://schemas.microsoft.com/office/powerpoint/2010/main" val="1053508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．文件对象属性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文件属性的引用方法为：文件对象名</a:t>
            </a:r>
            <a:r>
              <a:rPr lang="en-US" altLang="zh-CN" dirty="0"/>
              <a:t>.</a:t>
            </a:r>
            <a:r>
              <a:rPr lang="zh-CN" altLang="en-US" dirty="0"/>
              <a:t>属性名</a:t>
            </a:r>
          </a:p>
          <a:p>
            <a:pPr marL="0" indent="0">
              <a:buNone/>
            </a:pPr>
            <a:r>
              <a:rPr lang="zh-CN" altLang="en-US" dirty="0"/>
              <a:t>例如：</a:t>
            </a:r>
            <a:endParaRPr lang="en-US" altLang="zh-CN" dirty="0"/>
          </a:p>
          <a:p>
            <a:pPr marL="0"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 err="1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fo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=open("file.txt","</a:t>
            </a:r>
            <a:r>
              <a:rPr lang="en-US" altLang="zh-CN" kern="1200" dirty="0" err="1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wb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")</a:t>
            </a:r>
          </a:p>
          <a:p>
            <a:pPr marL="0"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print("Name of the file:",fo.name)</a:t>
            </a:r>
          </a:p>
          <a:p>
            <a:pPr marL="0"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print("Closed or not:",</a:t>
            </a:r>
            <a:r>
              <a:rPr lang="en-US" altLang="zh-CN" kern="1200" dirty="0" err="1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fo.closed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)</a:t>
            </a:r>
          </a:p>
          <a:p>
            <a:pPr marL="0"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print("Opening mode:",</a:t>
            </a:r>
            <a:r>
              <a:rPr lang="en-US" altLang="zh-CN" kern="1200" dirty="0" err="1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fo.mode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)</a:t>
            </a:r>
          </a:p>
          <a:p>
            <a:pPr marL="0" indent="0">
              <a:buNone/>
            </a:pPr>
            <a:r>
              <a:rPr lang="zh-CN" altLang="en-US" dirty="0"/>
              <a:t>程序运行结果如下</a:t>
            </a:r>
            <a:r>
              <a:rPr lang="en-US" altLang="zh-CN" dirty="0"/>
              <a:t>:</a:t>
            </a:r>
          </a:p>
          <a:p>
            <a:pPr marL="0" indent="0">
              <a:buNone/>
            </a:pP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Name of the file: file.txt</a:t>
            </a:r>
          </a:p>
          <a:p>
            <a:pPr marL="0" indent="0">
              <a:buNone/>
            </a:pP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Closed or not: False</a:t>
            </a:r>
          </a:p>
          <a:p>
            <a:pPr marL="0" indent="0">
              <a:buNone/>
            </a:pP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Opening mode: </a:t>
            </a:r>
            <a:r>
              <a:rPr lang="en-US" altLang="zh-CN" kern="1200" dirty="0" err="1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wb</a:t>
            </a:r>
            <a:endParaRPr lang="en-US" altLang="zh-CN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．文件对象方法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实现各种文件操作的函数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394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   调用</a:t>
            </a:r>
            <a:r>
              <a:rPr lang="zh-CN" altLang="en-US" dirty="0"/>
              <a:t>格式</a:t>
            </a:r>
            <a:r>
              <a:rPr lang="zh-CN" altLang="en-US"/>
              <a:t>为：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        </a:t>
            </a:r>
            <a:r>
              <a:rPr lang="zh-CN" altLang="en-US">
                <a:solidFill>
                  <a:srgbClr val="C00000"/>
                </a:solidFill>
              </a:rPr>
              <a:t>文件</a:t>
            </a:r>
            <a:r>
              <a:rPr lang="zh-CN" altLang="en-US" dirty="0">
                <a:solidFill>
                  <a:srgbClr val="C00000"/>
                </a:solidFill>
              </a:rPr>
              <a:t>对象</a:t>
            </a:r>
            <a:r>
              <a:rPr lang="en-US" altLang="zh-CN" dirty="0">
                <a:solidFill>
                  <a:srgbClr val="C00000"/>
                </a:solidFill>
              </a:rPr>
              <a:t>.close()</a:t>
            </a:r>
          </a:p>
          <a:p>
            <a:pPr marL="0" indent="0">
              <a:buNone/>
            </a:pPr>
            <a:r>
              <a:rPr lang="zh-CN" altLang="en-US" dirty="0"/>
              <a:t>　　</a:t>
            </a:r>
            <a:r>
              <a:rPr lang="en-US" altLang="zh-CN" dirty="0"/>
              <a:t>close()</a:t>
            </a:r>
            <a:r>
              <a:rPr lang="zh-CN" altLang="en-US" dirty="0"/>
              <a:t>方法用于关闭已打开的文件，将缓冲区中尚未存盘的数据写入磁盘，并释放文件</a:t>
            </a:r>
            <a:r>
              <a:rPr lang="zh-CN" altLang="en-US"/>
              <a:t>对象。</a:t>
            </a:r>
            <a:endParaRPr lang="en-US" altLang="zh-CN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 err="1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fo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=open("file.txt</a:t>
            </a:r>
            <a:r>
              <a:rPr lang="en-US" altLang="zh-CN" kern="120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","w")</a:t>
            </a:r>
            <a:endParaRPr lang="en-US" altLang="zh-CN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print("Name of the file:",fo.name)</a:t>
            </a:r>
          </a:p>
          <a:p>
            <a:pPr marL="0"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 err="1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fo.close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()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10.2.2  </a:t>
            </a:r>
            <a:r>
              <a:rPr lang="zh-CN" altLang="en-US"/>
              <a:t>关闭文件</a:t>
            </a:r>
          </a:p>
        </p:txBody>
      </p:sp>
    </p:spTree>
    <p:extLst>
      <p:ext uri="{BB962C8B-B14F-4D97-AF65-F5344CB8AC3E}">
        <p14:creationId xmlns:p14="http://schemas.microsoft.com/office/powerpoint/2010/main" val="859079962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自定义 3">
      <a:dk1>
        <a:srgbClr val="000000"/>
      </a:dk1>
      <a:lt1>
        <a:srgbClr val="FFFFFF"/>
      </a:lt1>
      <a:dk2>
        <a:srgbClr val="003468"/>
      </a:dk2>
      <a:lt2>
        <a:srgbClr val="969696"/>
      </a:lt2>
      <a:accent1>
        <a:srgbClr val="99CC00"/>
      </a:accent1>
      <a:accent2>
        <a:srgbClr val="6699FF"/>
      </a:accent2>
      <a:accent3>
        <a:srgbClr val="FFFFFF"/>
      </a:accent3>
      <a:accent4>
        <a:srgbClr val="000000"/>
      </a:accent4>
      <a:accent5>
        <a:srgbClr val="CAE2AA"/>
      </a:accent5>
      <a:accent6>
        <a:srgbClr val="5C8AE7"/>
      </a:accent6>
      <a:hlink>
        <a:srgbClr val="00B0F0"/>
      </a:hlink>
      <a:folHlink>
        <a:srgbClr val="00B0F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>
        <a:spAutoFit/>
      </a:bodyPr>
      <a:lstStyle>
        <a:defPPr>
          <a:spcAft>
            <a:spcPts val="0"/>
          </a:spcAft>
          <a:defRPr kern="0">
            <a:solidFill>
              <a:srgbClr val="800000"/>
            </a:solidFill>
            <a:latin typeface="Courier New"/>
            <a:ea typeface="宋体"/>
            <a:cs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024betty_wave 1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FF99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2D597A"/>
        </a:accent6>
        <a:hlink>
          <a:srgbClr val="66CAE2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33CCCC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2D2D8A"/>
        </a:accent6>
        <a:hlink>
          <a:srgbClr val="9999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3">
        <a:dk1>
          <a:srgbClr val="000000"/>
        </a:dk1>
        <a:lt1>
          <a:srgbClr val="FFFFFF"/>
        </a:lt1>
        <a:dk2>
          <a:srgbClr val="003468"/>
        </a:dk2>
        <a:lt2>
          <a:srgbClr val="969696"/>
        </a:lt2>
        <a:accent1>
          <a:srgbClr val="99CC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5C8AE7"/>
        </a:accent6>
        <a:hlink>
          <a:srgbClr val="99CCFF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4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CCCC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597A"/>
        </a:accent6>
        <a:hlink>
          <a:srgbClr val="66CAE2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08D67D16-F09F-4120-9902-8B6E13640965}" vid="{F004A0D0-0AA1-407E-8AAF-2472C67E5E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2414</TotalTime>
  <Words>1009</Words>
  <Application>Microsoft Office PowerPoint</Application>
  <PresentationFormat>全屏显示(4:3)</PresentationFormat>
  <Paragraphs>116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微软雅黑</vt:lpstr>
      <vt:lpstr>Arial</vt:lpstr>
      <vt:lpstr>Bodoni MT</vt:lpstr>
      <vt:lpstr>Consolas</vt:lpstr>
      <vt:lpstr>Courier New</vt:lpstr>
      <vt:lpstr>Times New Roman</vt:lpstr>
      <vt:lpstr>Verdana</vt:lpstr>
      <vt:lpstr>Wingdings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10.1  文件的概念</vt:lpstr>
      <vt:lpstr>10.2  文件的打开与关闭</vt:lpstr>
      <vt:lpstr>打开方式mode </vt:lpstr>
      <vt:lpstr>PowerPoint 演示文稿</vt:lpstr>
      <vt:lpstr>10.2.2  关闭文件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cyj</cp:lastModifiedBy>
  <cp:revision>66</cp:revision>
  <dcterms:created xsi:type="dcterms:W3CDTF">2016-08-25T03:48:37Z</dcterms:created>
  <dcterms:modified xsi:type="dcterms:W3CDTF">2024-12-17T05:48:06Z</dcterms:modified>
</cp:coreProperties>
</file>