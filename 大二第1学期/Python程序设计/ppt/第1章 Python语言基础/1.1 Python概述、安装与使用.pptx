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9"/>
  </p:notesMasterIdLst>
  <p:sldIdLst>
    <p:sldId id="333" r:id="rId3"/>
    <p:sldId id="334" r:id="rId4"/>
    <p:sldId id="339" r:id="rId5"/>
    <p:sldId id="342" r:id="rId6"/>
    <p:sldId id="336" r:id="rId7"/>
    <p:sldId id="344" r:id="rId8"/>
    <p:sldId id="262" r:id="rId9"/>
    <p:sldId id="317" r:id="rId10"/>
    <p:sldId id="329" r:id="rId11"/>
    <p:sldId id="330" r:id="rId12"/>
    <p:sldId id="326" r:id="rId13"/>
    <p:sldId id="332" r:id="rId14"/>
    <p:sldId id="323" r:id="rId15"/>
    <p:sldId id="269" r:id="rId16"/>
    <p:sldId id="270" r:id="rId17"/>
    <p:sldId id="31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9933"/>
    <a:srgbClr val="245794"/>
    <a:srgbClr val="17385F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7E34C-A787-48CA-84F7-BFE5D221AB46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1D08E-0BC7-4D68-9E2D-B226E57CB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72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407459" y="3325814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881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9"/>
          <p:cNvSpPr>
            <a:spLocks noChangeArrowheads="1"/>
          </p:cNvSpPr>
          <p:nvPr userDrawn="1"/>
        </p:nvSpPr>
        <p:spPr bwMode="auto">
          <a:xfrm>
            <a:off x="212680" y="1505745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569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02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57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64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37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56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8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70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40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3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407459" y="3325814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295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212680" y="1505745"/>
            <a:ext cx="11377083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 sz="1800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789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51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67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35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32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51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44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69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15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0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5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84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54481" y="1699260"/>
            <a:ext cx="9068753" cy="17907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5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5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5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en-US" altLang="zh-CN" sz="5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语言概述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0" y="3559018"/>
            <a:ext cx="6858000" cy="1723549"/>
          </a:xfrm>
        </p:spPr>
        <p:txBody>
          <a:bodyPr>
            <a:normAutofit/>
          </a:bodyPr>
          <a:lstStyle/>
          <a:p>
            <a:endParaRPr lang="zh-CN" alt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11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 Python是这样一种语言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跨平台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免费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高级程序设计语言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</a:t>
            </a:r>
            <a:r>
              <a:rPr lang="zh-CN" altLang="en-US" b="1" dirty="0">
                <a:solidFill>
                  <a:srgbClr val="FF9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程序设计、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解释型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，拥有大量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扩展库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78B08B0-739A-43C3-9F3E-887EC389FC7D}"/>
              </a:ext>
            </a:extLst>
          </p:cNvPr>
          <p:cNvSpPr/>
          <p:nvPr/>
        </p:nvSpPr>
        <p:spPr>
          <a:xfrm>
            <a:off x="1127448" y="4053657"/>
            <a:ext cx="5567649" cy="1655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20AF8DD-03BF-4416-BFF6-56938DBA8F16}"/>
              </a:ext>
            </a:extLst>
          </p:cNvPr>
          <p:cNvSpPr txBox="1"/>
          <p:nvPr/>
        </p:nvSpPr>
        <p:spPr>
          <a:xfrm>
            <a:off x="1127448" y="5922192"/>
            <a:ext cx="834146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719537" algn="l"/>
              </a:tabLst>
            </a:pPr>
            <a:r>
              <a:rPr sz="3200" b="1" spc="-7" dirty="0">
                <a:latin typeface="微软雅黑"/>
                <a:cs typeface="微软雅黑"/>
              </a:rPr>
              <a:t>Python	[`paiθ</a:t>
            </a:r>
            <a:r>
              <a:rPr sz="3200" b="1" spc="-7" dirty="0">
                <a:latin typeface="MS Gothic"/>
                <a:cs typeface="MS Gothic"/>
              </a:rPr>
              <a:t>ə</a:t>
            </a:r>
            <a:r>
              <a:rPr sz="3200" b="1" spc="-7" dirty="0">
                <a:latin typeface="微软雅黑"/>
                <a:cs typeface="微软雅黑"/>
              </a:rPr>
              <a:t>n]，</a:t>
            </a:r>
            <a:r>
              <a:rPr sz="3200" b="1" dirty="0" err="1">
                <a:latin typeface="微软雅黑"/>
                <a:cs typeface="微软雅黑"/>
              </a:rPr>
              <a:t>译</a:t>
            </a:r>
            <a:r>
              <a:rPr sz="3200" b="1" spc="-7" dirty="0" err="1">
                <a:latin typeface="微软雅黑"/>
                <a:cs typeface="微软雅黑"/>
              </a:rPr>
              <a:t>为“蟒蛇</a:t>
            </a:r>
            <a:r>
              <a:rPr sz="3200" b="1" dirty="0">
                <a:latin typeface="微软雅黑"/>
                <a:cs typeface="微软雅黑"/>
              </a:rPr>
              <a:t>”</a:t>
            </a:r>
            <a:endParaRPr sz="32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3516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1230"/>
            <a:ext cx="10515600" cy="69335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Python语言的诞生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384" y="1916832"/>
            <a:ext cx="5905872" cy="2286994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lang="en-US" altLang="zh-CN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1989</a:t>
            </a:r>
            <a:r>
              <a:rPr lang="zh-CN" altLang="en-US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年，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Guido 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van</a:t>
            </a:r>
            <a:r>
              <a:rPr sz="2400" b="1" spc="-33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Rossum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16933" marR="6773">
              <a:lnSpc>
                <a:spcPct val="180000"/>
              </a:lnSpc>
            </a:pPr>
            <a:r>
              <a:rPr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Python</a:t>
            </a:r>
            <a:r>
              <a:rPr sz="2400" b="1" spc="-7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语言创立者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endParaRPr lang="en-US" sz="2400" b="1" spc="-7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16933" marR="6773">
              <a:lnSpc>
                <a:spcPct val="180000"/>
              </a:lnSpc>
            </a:pP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2002</a:t>
            </a:r>
            <a:r>
              <a:rPr sz="2400" b="1" spc="-1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年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Python</a:t>
            </a:r>
            <a:r>
              <a:rPr sz="2400" b="1" spc="-53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2.x  </a:t>
            </a:r>
            <a:endParaRPr lang="en-US" sz="2400" b="1" spc="-7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16933" marR="6773">
              <a:lnSpc>
                <a:spcPct val="180000"/>
              </a:lnSpc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2008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年，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Python</a:t>
            </a:r>
            <a:r>
              <a:rPr sz="2400" b="1" spc="-6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3.x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88088" y="2300352"/>
            <a:ext cx="3624393" cy="3983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003504-6355-4741-A062-A0E5849C6398}"/>
              </a:ext>
            </a:extLst>
          </p:cNvPr>
          <p:cNvSpPr txBox="1"/>
          <p:nvPr/>
        </p:nvSpPr>
        <p:spPr>
          <a:xfrm>
            <a:off x="457060" y="4653136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Python</a:t>
            </a:r>
            <a:r>
              <a:rPr lang="zh-CN" altLang="en-US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目前存在</a:t>
            </a:r>
            <a:r>
              <a:rPr lang="en-US" altLang="zh-CN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2.x</a:t>
            </a:r>
            <a:r>
              <a:rPr lang="zh-CN" altLang="en-US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和</a:t>
            </a:r>
            <a:r>
              <a:rPr lang="en-US" altLang="zh-CN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3.x</a:t>
            </a:r>
            <a:r>
              <a:rPr lang="zh-CN" altLang="en-US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两个系列的版本，不完全兼容。</a:t>
            </a:r>
          </a:p>
          <a:p>
            <a:r>
              <a:rPr lang="zh-CN" altLang="en-US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学习</a:t>
            </a:r>
            <a:r>
              <a:rPr lang="en-US" altLang="zh-CN" sz="2400" b="1" spc="-7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Python 3.x</a:t>
            </a:r>
          </a:p>
        </p:txBody>
      </p:sp>
    </p:spTree>
    <p:extLst>
      <p:ext uri="{BB962C8B-B14F-4D97-AF65-F5344CB8AC3E}">
        <p14:creationId xmlns:p14="http://schemas.microsoft.com/office/powerpoint/2010/main" val="254877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1.1.2  Python</a:t>
            </a:r>
            <a:r>
              <a:rPr lang="zh-CN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</a:t>
            </a:r>
            <a:r>
              <a:rPr lang="zh-CN" altLang="en-US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简单易学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可读性好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代码缩进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丰富的数据类型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免费、开源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解释型语言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9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1.1.3  Python</a:t>
            </a:r>
            <a:r>
              <a:rPr lang="zh-CN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语言的应用领域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系统编程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．科学计算与数据可视化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中用于科学计算与数据可视化的模块有很多，例如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SciPy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、等，涉及的应用领域包括数值计算、符号计算、二维图表、三维数据可视化、三维动画演示等。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．数据库应用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．多媒体应用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 例如，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PIL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Imaging Library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图形库）为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提供了强大的图像处理功能，并提供广泛的图像文件格式支持。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．网络应用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7030A0"/>
              </a:buClr>
              <a:buSzPct val="6000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．电子游戏应用</a:t>
            </a:r>
          </a:p>
        </p:txBody>
      </p:sp>
    </p:spTree>
    <p:extLst>
      <p:ext uri="{BB962C8B-B14F-4D97-AF65-F5344CB8AC3E}">
        <p14:creationId xmlns:p14="http://schemas.microsoft.com/office/powerpoint/2010/main" val="272471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常用的集成开发环境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	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IDE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安装包提供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b="1" dirty="0" err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PyCharm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 著 名 的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JetBrains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 司 开 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 有 一 整 套 可 以 帮 助 用 户 在 使 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语言开发时提高其效率的工具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err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Spyder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Anaconda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自带的高级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，与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开发环境类似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err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Jupyter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Anaconda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自带的高级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，为数据科学家首选的开发环境。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991544" y="205383"/>
            <a:ext cx="7776864" cy="1325563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语言的开发环境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825625"/>
            <a:ext cx="1101844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安装步骤：</a:t>
            </a:r>
            <a:endParaRPr lang="en-US" altLang="zh-CN" sz="24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https://www.python.org/downloads/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操作系统的当时最新版本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3.7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下载完成后，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运行系统文件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python-3.x.exe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，进入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系统安装界面。</a:t>
            </a:r>
          </a:p>
          <a:p>
            <a:pPr>
              <a:lnSpc>
                <a:spcPct val="15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4221088"/>
            <a:ext cx="6912768" cy="254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260648"/>
            <a:ext cx="6259628" cy="3846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545542" y="4941169"/>
            <a:ext cx="7654914" cy="1754455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45794"/>
                </a:solidFill>
              </a:rPr>
              <a:t>　　</a:t>
            </a:r>
            <a:r>
              <a:rPr lang="zh-CN" altLang="zh-CN" dirty="0">
                <a:solidFill>
                  <a:schemeClr val="tx1"/>
                </a:solidFill>
                <a:latin typeface="+mn-ea"/>
              </a:rPr>
              <a:t>如果在安装时选中了“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Add Python 3.X to PATH</a:t>
            </a:r>
            <a:r>
              <a:rPr lang="zh-CN" altLang="zh-CN" dirty="0">
                <a:solidFill>
                  <a:schemeClr val="tx1"/>
                </a:solidFill>
                <a:latin typeface="+mn-ea"/>
              </a:rPr>
              <a:t>”复选框，则会自动将安装路径添加到环境变量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Path</a:t>
            </a:r>
            <a:r>
              <a:rPr lang="zh-CN" altLang="zh-CN" dirty="0">
                <a:solidFill>
                  <a:schemeClr val="tx1"/>
                </a:solidFill>
                <a:latin typeface="+mn-ea"/>
              </a:rPr>
              <a:t>，否则可以在安装完成后添加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      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添加路径可以让我们在控制台界面（</a:t>
            </a:r>
            <a:r>
              <a:rPr lang="en-US" altLang="zh-CN" dirty="0" err="1">
                <a:solidFill>
                  <a:schemeClr val="tx1"/>
                </a:solidFill>
                <a:latin typeface="+mn-ea"/>
              </a:rPr>
              <a:t>cmd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）执行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Python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。</a:t>
            </a:r>
            <a:endParaRPr lang="zh-CN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91544" y="267793"/>
            <a:ext cx="553998" cy="4401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eaVert" wrap="none">
            <a:spAutoFit/>
          </a:bodyPr>
          <a:lstStyle/>
          <a:p>
            <a:pPr>
              <a:spcAft>
                <a:spcPts val="1200"/>
              </a:spcAft>
              <a:buClr>
                <a:srgbClr val="7030A0"/>
              </a:buClr>
              <a:buSzPct val="60000"/>
            </a:pPr>
            <a:r>
              <a:rPr lang="zh-CN" altLang="zh-CN" sz="2400" b="1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系统环境变量的设置</a:t>
            </a:r>
            <a:r>
              <a:rPr lang="zh-CN" altLang="en-US" sz="2400" b="1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</a:t>
            </a:r>
            <a:r>
              <a:rPr lang="zh-CN" altLang="en-US" sz="2400" b="1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zh-CN" sz="2400" b="1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5159896" y="3933056"/>
            <a:ext cx="504056" cy="129614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591944" y="3717032"/>
            <a:ext cx="1728192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348944" y="692696"/>
            <a:ext cx="288032" cy="2160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600056" y="3717032"/>
            <a:ext cx="72008" cy="2160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2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135560" y="23401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系统环境变量的设置</a:t>
            </a:r>
            <a:r>
              <a:rPr lang="en-US" altLang="zh-CN" sz="3200" b="1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</a:t>
            </a:r>
            <a:r>
              <a:rPr lang="en-US" altLang="zh-CN" sz="3200" b="1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20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19536" y="1772816"/>
            <a:ext cx="3583310" cy="4968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>
                <a:solidFill>
                  <a:srgbClr val="245794"/>
                </a:solidFill>
                <a:latin typeface="+mn-ea"/>
              </a:rPr>
              <a:t>在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Windows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桌面右击“</a:t>
            </a:r>
            <a:r>
              <a:rPr lang="zh-CN" altLang="en-US" sz="2000">
                <a:solidFill>
                  <a:srgbClr val="245794"/>
                </a:solidFill>
                <a:latin typeface="+mn-ea"/>
              </a:rPr>
              <a:t>此电脑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”图标，在弹出的快捷菜单中选择“属性”命令</a:t>
            </a:r>
            <a:endParaRPr lang="en-US" altLang="zh-CN" sz="2000">
              <a:solidFill>
                <a:srgbClr val="245794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000">
                <a:solidFill>
                  <a:srgbClr val="245794"/>
                </a:solidFill>
                <a:latin typeface="+mn-ea"/>
              </a:rPr>
              <a:t>在打开的对话框中</a:t>
            </a:r>
            <a:r>
              <a:rPr lang="zh-CN" altLang="en-US" sz="2000">
                <a:solidFill>
                  <a:srgbClr val="245794"/>
                </a:solidFill>
                <a:latin typeface="+mn-ea"/>
              </a:rPr>
              <a:t>单击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“高级系统设置”，在打开的“系统属性”对话框中选择“高级”选项卡，单击“环境变量”按钮，打开“环境变量”对话框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16" y="1844824"/>
            <a:ext cx="3960440" cy="4522674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5159896" y="5085184"/>
            <a:ext cx="3672408" cy="5040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7176120" y="2060848"/>
            <a:ext cx="504056" cy="36004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>
            <a:endCxn id="17" idx="3"/>
          </p:cNvCxnSpPr>
          <p:nvPr/>
        </p:nvCxnSpPr>
        <p:spPr>
          <a:xfrm flipV="1">
            <a:off x="2855641" y="2368162"/>
            <a:ext cx="4394297" cy="244720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CA9DABE-4986-4D09-ADB3-E379ED316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60" y="141361"/>
            <a:ext cx="1876190" cy="34285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6FE6589-43F0-4048-A295-25280BC16351}"/>
              </a:ext>
            </a:extLst>
          </p:cNvPr>
          <p:cNvSpPr txBox="1"/>
          <p:nvPr/>
        </p:nvSpPr>
        <p:spPr>
          <a:xfrm>
            <a:off x="335360" y="134633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万一忘了打钩，使用方法二来弥补：</a:t>
            </a:r>
          </a:p>
        </p:txBody>
      </p:sp>
    </p:spTree>
    <p:extLst>
      <p:ext uri="{BB962C8B-B14F-4D97-AF65-F5344CB8AC3E}">
        <p14:creationId xmlns:p14="http://schemas.microsoft.com/office/powerpoint/2010/main" val="21807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9417" y="188641"/>
            <a:ext cx="514857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系统环境变量的设置</a:t>
            </a:r>
            <a:r>
              <a:rPr lang="en-US" altLang="zh-CN" sz="28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</a:t>
            </a:r>
            <a:r>
              <a:rPr lang="en-US" altLang="zh-CN" sz="28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703511" y="2003549"/>
            <a:ext cx="4392488" cy="151216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zh-CN" altLang="zh-CN" sz="2000">
                <a:solidFill>
                  <a:srgbClr val="245794"/>
                </a:solidFill>
                <a:latin typeface="+mn-ea"/>
              </a:rPr>
              <a:t>在“系统变量”区域选择“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Path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”选项，单击“编辑”按钮</a:t>
            </a:r>
            <a:endParaRPr lang="en-US" altLang="zh-CN" sz="2000">
              <a:solidFill>
                <a:srgbClr val="245794"/>
              </a:solidFill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76" y="4011572"/>
            <a:ext cx="4824536" cy="284642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816080" y="4413488"/>
            <a:ext cx="33123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zh-CN">
                <a:solidFill>
                  <a:srgbClr val="245794"/>
                </a:solidFill>
                <a:latin typeface="+mn-ea"/>
              </a:rPr>
              <a:t>在打开的“</a:t>
            </a:r>
            <a:r>
              <a:rPr lang="zh-CN" altLang="en-US">
                <a:solidFill>
                  <a:srgbClr val="245794"/>
                </a:solidFill>
                <a:latin typeface="+mn-ea"/>
              </a:rPr>
              <a:t>编辑环境变量</a:t>
            </a:r>
            <a:r>
              <a:rPr lang="zh-CN" altLang="zh-CN">
                <a:solidFill>
                  <a:srgbClr val="245794"/>
                </a:solidFill>
                <a:latin typeface="+mn-ea"/>
              </a:rPr>
              <a:t>”对话框中</a:t>
            </a:r>
            <a:r>
              <a:rPr lang="zh-CN" altLang="en-US">
                <a:solidFill>
                  <a:srgbClr val="245794"/>
                </a:solidFill>
                <a:latin typeface="+mn-ea"/>
              </a:rPr>
              <a:t>单击</a:t>
            </a:r>
            <a:r>
              <a:rPr lang="zh-CN" altLang="zh-CN">
                <a:solidFill>
                  <a:srgbClr val="245794"/>
                </a:solidFill>
                <a:latin typeface="+mn-ea"/>
              </a:rPr>
              <a:t>“</a:t>
            </a:r>
            <a:r>
              <a:rPr lang="zh-CN" altLang="en-US">
                <a:solidFill>
                  <a:srgbClr val="245794"/>
                </a:solidFill>
                <a:latin typeface="+mn-ea"/>
              </a:rPr>
              <a:t>新建</a:t>
            </a:r>
            <a:r>
              <a:rPr lang="zh-CN" altLang="zh-CN">
                <a:solidFill>
                  <a:srgbClr val="245794"/>
                </a:solidFill>
                <a:latin typeface="+mn-ea"/>
              </a:rPr>
              <a:t>”，</a:t>
            </a:r>
            <a:r>
              <a:rPr lang="zh-CN" altLang="en-US">
                <a:solidFill>
                  <a:srgbClr val="245794"/>
                </a:solidFill>
                <a:latin typeface="+mn-ea"/>
              </a:rPr>
              <a:t>输入</a:t>
            </a:r>
            <a:r>
              <a:rPr lang="zh-CN" altLang="zh-CN" b="1">
                <a:solidFill>
                  <a:srgbClr val="FF0000"/>
                </a:solidFill>
                <a:latin typeface="+mn-ea"/>
              </a:rPr>
              <a:t>安装路径</a:t>
            </a:r>
            <a:r>
              <a:rPr lang="zh-CN" altLang="zh-CN">
                <a:solidFill>
                  <a:srgbClr val="245794"/>
                </a:solidFill>
                <a:latin typeface="+mn-ea"/>
              </a:rPr>
              <a:t>，最后单击“确定”按钮逐级返回。</a:t>
            </a:r>
            <a:endParaRPr lang="zh-CN" altLang="en-US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16632"/>
            <a:ext cx="4200707" cy="4104456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9048328" y="3429000"/>
            <a:ext cx="792088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84032" y="2924944"/>
            <a:ext cx="1440160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5987988" y="4653136"/>
            <a:ext cx="2772309" cy="4320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曲线连接符 11"/>
          <p:cNvCxnSpPr/>
          <p:nvPr/>
        </p:nvCxnSpPr>
        <p:spPr>
          <a:xfrm rot="10800000" flipV="1">
            <a:off x="4151784" y="5517232"/>
            <a:ext cx="3528392" cy="648072"/>
          </a:xfrm>
          <a:prstGeom prst="curvedConnector3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5" idx="1"/>
          </p:cNvCxnSpPr>
          <p:nvPr/>
        </p:nvCxnSpPr>
        <p:spPr>
          <a:xfrm>
            <a:off x="5087888" y="2492896"/>
            <a:ext cx="1296144" cy="54006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78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1.4  Anaconda3</a:t>
            </a:r>
            <a:r>
              <a:rPr lang="zh-CN" altLang="en-US" sz="3600" dirty="0"/>
              <a:t>开发环境的安装</a:t>
            </a:r>
            <a:r>
              <a:rPr lang="zh-CN" altLang="en-US" sz="3600"/>
              <a:t>与使用（</a:t>
            </a:r>
            <a:r>
              <a:rPr lang="zh-CN" altLang="en-US" sz="3600" b="1">
                <a:solidFill>
                  <a:srgbClr val="FF0000"/>
                </a:solidFill>
              </a:rPr>
              <a:t>可选</a:t>
            </a:r>
            <a:r>
              <a:rPr lang="zh-CN" altLang="en-US" sz="3600"/>
              <a:t>）</a:t>
            </a:r>
            <a:r>
              <a:rPr lang="en-US" altLang="zh-CN" dirty="0"/>
              <a:t>	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1" y="2348880"/>
            <a:ext cx="8245316" cy="3810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dirty="0">
                <a:sym typeface="+mn-ea"/>
              </a:rPr>
              <a:t>默认编程环境：</a:t>
            </a:r>
            <a:r>
              <a:rPr lang="en-US" altLang="x-none" sz="2400" b="1" dirty="0">
                <a:solidFill>
                  <a:srgbClr val="FF0000"/>
                </a:solidFill>
                <a:sym typeface="+mn-ea"/>
              </a:rPr>
              <a:t>IDLE</a:t>
            </a:r>
            <a:endParaRPr lang="en-US" altLang="x-none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dirty="0">
                <a:sym typeface="+mn-ea"/>
              </a:rPr>
              <a:t>其他常用开发环境：</a:t>
            </a:r>
            <a:endParaRPr lang="zh-CN" altLang="en-US" sz="2400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 typeface="Wingdings" panose="05000000000000000000" charset="0"/>
              <a:buChar char="Ø"/>
            </a:pPr>
            <a:r>
              <a:rPr lang="en-US" altLang="zh-CN" sz="2400" b="1" dirty="0">
                <a:solidFill>
                  <a:srgbClr val="0070C0"/>
                </a:solidFill>
                <a:sym typeface="+mn-ea"/>
              </a:rPr>
              <a:t>Anaconda3</a:t>
            </a:r>
            <a:r>
              <a:rPr lang="zh-CN" altLang="en-US" sz="2400" b="1" dirty="0">
                <a:solidFill>
                  <a:srgbClr val="0070C0"/>
                </a:solidFill>
                <a:sym typeface="+mn-ea"/>
              </a:rPr>
              <a:t>（内含</a:t>
            </a:r>
            <a:r>
              <a:rPr lang="en-US" altLang="zh-CN" sz="2400" b="1" dirty="0">
                <a:solidFill>
                  <a:srgbClr val="0070C0"/>
                </a:solidFill>
                <a:sym typeface="+mn-ea"/>
              </a:rPr>
              <a:t>Jupyter</a:t>
            </a:r>
            <a:r>
              <a:rPr lang="zh-CN" altLang="en-US" sz="2400" b="1" dirty="0">
                <a:solidFill>
                  <a:srgbClr val="0070C0"/>
                </a:solidFill>
                <a:sym typeface="+mn-ea"/>
              </a:rPr>
              <a:t>和</a:t>
            </a:r>
            <a:r>
              <a:rPr lang="en-US" altLang="zh-CN" sz="2400" b="1" dirty="0">
                <a:solidFill>
                  <a:srgbClr val="0070C0"/>
                </a:solidFill>
                <a:sym typeface="+mn-ea"/>
              </a:rPr>
              <a:t>Spyder</a:t>
            </a:r>
            <a:r>
              <a:rPr lang="zh-CN" altLang="en-US" sz="2400" b="1" dirty="0">
                <a:solidFill>
                  <a:srgbClr val="0070C0"/>
                </a:solidFill>
                <a:sym typeface="+mn-ea"/>
              </a:rPr>
              <a:t>）：https://www.anaconda.com/download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24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如何运行 </a:t>
            </a:r>
            <a:r>
              <a:rPr lang="en-US" altLang="zh-CN" sz="48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48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4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3110709"/>
            <a:ext cx="4423661" cy="2441329"/>
          </a:xfrm>
          <a:prstGeom prst="rect">
            <a:avLst/>
          </a:prstGeom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559496" y="5269877"/>
            <a:ext cx="82089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55588" fontAlgn="base">
              <a:spcBef>
                <a:spcPct val="0"/>
              </a:spcBef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sz="3200" b="1" dirty="0">
                <a:solidFill>
                  <a:srgbClr val="245794"/>
                </a:solidFill>
              </a:rPr>
              <a:t>　　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图形界面形式</a:t>
            </a:r>
            <a:r>
              <a:rPr lang="zh-CN" altLang="en-US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48333" y="1709673"/>
            <a:ext cx="10016219" cy="1442866"/>
          </a:xfrm>
        </p:spPr>
        <p:txBody>
          <a:bodyPr>
            <a:normAutofit fontScale="92500" lnSpcReduction="20000"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自带的交互式解释器执行 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表达式或程序</a:t>
            </a:r>
            <a:endParaRPr lang="en-US" altLang="zh-CN" sz="2400" b="1" dirty="0">
              <a:solidFill>
                <a:srgbClr val="2457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“开始”→“所有程序”→“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3.X”→</a:t>
            </a:r>
            <a:r>
              <a:rPr lang="en-US" altLang="zh-CN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IDLE</a:t>
            </a:r>
            <a:r>
              <a:rPr lang="zh-CN" altLang="en-US" sz="2400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3.X)</a:t>
            </a:r>
            <a:r>
              <a:rPr lang="zh-CN" altLang="en-US" sz="2400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图形用户界面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解释器。</a:t>
            </a:r>
          </a:p>
        </p:txBody>
      </p:sp>
      <p:sp>
        <p:nvSpPr>
          <p:cNvPr id="7" name="矩形 6"/>
          <p:cNvSpPr/>
          <p:nvPr/>
        </p:nvSpPr>
        <p:spPr>
          <a:xfrm>
            <a:off x="1068554" y="5560721"/>
            <a:ext cx="10356038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解释器的提示符，在提示符后输入语句，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解释器将解释执行。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1559496" y="3811169"/>
            <a:ext cx="1512168" cy="2065613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56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的命令执行方式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3228639"/>
            <a:ext cx="10515600" cy="294832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&gt;&gt;&gt;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Hello,World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!")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Hello,World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&gt;&gt;&gt;</a:t>
            </a:r>
            <a:r>
              <a:rPr lang="en-US" altLang="zh-CN" sz="24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print(1+3/4)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1.75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825625"/>
            <a:ext cx="9595936" cy="12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Python</a:t>
            </a:r>
            <a:r>
              <a:rPr lang="zh-CN" altLang="en-US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的程序方式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902356" y="1686478"/>
            <a:ext cx="10162196" cy="1037430"/>
          </a:xfrm>
        </p:spPr>
        <p:txBody>
          <a:bodyPr>
            <a:noAutofit/>
          </a:bodyPr>
          <a:lstStyle/>
          <a:p>
            <a:pPr marL="457200" indent="-4572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7030A0"/>
              </a:buClr>
              <a:buSzPct val="60000"/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解释器图形用户界面窗口，选择“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File”→“New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File”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命令，或按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Ctrl+N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键，打开程序编辑窗口，如图所示。</a:t>
            </a:r>
          </a:p>
        </p:txBody>
      </p:sp>
      <p:sp>
        <p:nvSpPr>
          <p:cNvPr id="5" name="矩形 4"/>
          <p:cNvSpPr/>
          <p:nvPr/>
        </p:nvSpPr>
        <p:spPr>
          <a:xfrm>
            <a:off x="5951984" y="2693810"/>
            <a:ext cx="561662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+mj-lt"/>
              <a:buAutoNum type="arabicPeriod" startAt="2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编辑窗口输入程序的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全部语句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+mj-lt"/>
              <a:buAutoNum type="arabicPeriod" startAt="2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保存文件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”→“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Save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”命令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+mj-lt"/>
              <a:buAutoNum type="arabicPeriod" startAt="2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运行程序：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”→“</a:t>
            </a:r>
            <a:r>
              <a:rPr lang="en-US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Module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”命令，或按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924945"/>
            <a:ext cx="3816424" cy="1522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4941169"/>
            <a:ext cx="5472608" cy="1725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矩形 10"/>
          <p:cNvSpPr/>
          <p:nvPr/>
        </p:nvSpPr>
        <p:spPr>
          <a:xfrm>
            <a:off x="7493698" y="5301209"/>
            <a:ext cx="4146918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解释器图形用户界面窗口中输出。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2783632" y="6093296"/>
            <a:ext cx="4968552" cy="1440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3575720" y="2996952"/>
            <a:ext cx="5760640" cy="576064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40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命令行</a:t>
            </a:r>
            <a:r>
              <a:rPr lang="zh-CN" altLang="zh-CN" sz="40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</a:t>
            </a:r>
            <a:r>
              <a:rPr lang="zh-CN" altLang="en-US" sz="40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40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4000" b="1" dirty="0">
                <a:solidFill>
                  <a:srgbClr val="2457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不要求</a:t>
            </a:r>
          </a:p>
        </p:txBody>
      </p:sp>
    </p:spTree>
    <p:extLst>
      <p:ext uri="{BB962C8B-B14F-4D97-AF65-F5344CB8AC3E}">
        <p14:creationId xmlns:p14="http://schemas.microsoft.com/office/powerpoint/2010/main" val="388257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3686</TotalTime>
  <Words>768</Words>
  <Application>Microsoft Office PowerPoint</Application>
  <PresentationFormat>宽屏</PresentationFormat>
  <Paragraphs>77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MS Gothic</vt:lpstr>
      <vt:lpstr>等线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1_Office 主题</vt:lpstr>
      <vt:lpstr>第1章  Python语言概述</vt:lpstr>
      <vt:lpstr>1.1  Python是这样一种语言</vt:lpstr>
      <vt:lpstr>Python语言的诞生</vt:lpstr>
      <vt:lpstr>1.1.2  Python语言的特点</vt:lpstr>
      <vt:lpstr>1.1.3  Python语言的应用领域</vt:lpstr>
      <vt:lpstr>Python常用的集成开发环境</vt:lpstr>
      <vt:lpstr>Python语言的开发环境</vt:lpstr>
      <vt:lpstr>PowerPoint 演示文稿</vt:lpstr>
      <vt:lpstr>系统环境变量的设置(方法二)</vt:lpstr>
      <vt:lpstr>系统环境变量的设置(方法二)</vt:lpstr>
      <vt:lpstr>1.4  Anaconda3开发环境的安装与使用（可选） </vt:lpstr>
      <vt:lpstr>如何运行 Python程序</vt:lpstr>
      <vt:lpstr> 1. 图形界面形式的Python解释器</vt:lpstr>
      <vt:lpstr>Python的命令执行方式</vt:lpstr>
      <vt:lpstr>2. Python的程序方式</vt:lpstr>
      <vt:lpstr>3. 在命令行形式运行Python程序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178</cp:revision>
  <dcterms:created xsi:type="dcterms:W3CDTF">2016-08-25T03:48:37Z</dcterms:created>
  <dcterms:modified xsi:type="dcterms:W3CDTF">2024-03-07T14:13:23Z</dcterms:modified>
</cp:coreProperties>
</file>