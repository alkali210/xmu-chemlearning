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75" r:id="rId3"/>
    <p:sldId id="286" r:id="rId4"/>
    <p:sldId id="292" r:id="rId5"/>
    <p:sldId id="282" r:id="rId6"/>
    <p:sldId id="276" r:id="rId7"/>
    <p:sldId id="277" r:id="rId8"/>
    <p:sldId id="265" r:id="rId9"/>
    <p:sldId id="288" r:id="rId10"/>
    <p:sldId id="289" r:id="rId11"/>
    <p:sldId id="290" r:id="rId12"/>
    <p:sldId id="291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2E4CB-A6B8-4F4F-B5EB-C785305F3904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192A9-BE80-4B77-963B-4578A3B56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9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34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0" y="1252573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097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66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0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79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82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07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97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18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97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6A918-1098-4115-BAB2-9212042BA1B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E1733-B6A3-497B-97E3-5BD958A8A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80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学写简单的</a:t>
            </a:r>
            <a:r>
              <a:rPr lang="en-US" altLang="zh-CN" dirty="0"/>
              <a:t>python</a:t>
            </a:r>
            <a:r>
              <a:rPr lang="zh-CN" altLang="en-US" dirty="0"/>
              <a:t>程序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9"/>
          <p:cNvSpPr>
            <a:spLocks noChangeArrowheads="1"/>
          </p:cNvSpPr>
          <p:nvPr/>
        </p:nvSpPr>
        <p:spPr bwMode="auto">
          <a:xfrm>
            <a:off x="305594" y="3394869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770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/>
              <a:t>1  Python</a:t>
            </a:r>
            <a:r>
              <a:rPr lang="zh-CN" altLang="en-US" sz="3600" dirty="0"/>
              <a:t>编程规范与代码优化建议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4415623" cy="12951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SzPct val="90000"/>
              <a:buNone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x-none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）缩进</a:t>
            </a:r>
            <a:endParaRPr lang="en-US" altLang="x-none" sz="18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1800">
                <a:sym typeface="+mn-ea"/>
              </a:rPr>
              <a:t>同</a:t>
            </a:r>
            <a:r>
              <a:rPr lang="zh-CN" altLang="en-US" sz="1800" dirty="0">
                <a:sym typeface="+mn-ea"/>
              </a:rPr>
              <a:t>一个级别的代码块的缩进量必须</a:t>
            </a:r>
            <a:r>
              <a:rPr lang="zh-CN" altLang="en-US" sz="1800">
                <a:sym typeface="+mn-ea"/>
              </a:rPr>
              <a:t>相同。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52939" y="3100190"/>
            <a:ext cx="2307365" cy="1853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i=5</a:t>
            </a:r>
          </a:p>
          <a:p>
            <a:pPr>
              <a:lnSpc>
                <a:spcPct val="200000"/>
              </a:lnSpc>
            </a:pP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print(</a:t>
            </a:r>
            <a:r>
              <a:rPr lang="en-US" altLang="zh-CN" sz="2000" b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)</a:t>
            </a:r>
            <a:endParaRPr lang="zh-CN" altLang="en-US" sz="2000" b="1" dirty="0">
              <a:solidFill>
                <a:schemeClr val="accent5"/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print('*******')</a:t>
            </a:r>
            <a:endParaRPr lang="en-US" altLang="zh-CN" sz="2000" b="1" dirty="0">
              <a:solidFill>
                <a:schemeClr val="accent5"/>
              </a:solidFill>
              <a:latin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100131" y="3244645"/>
            <a:ext cx="14847" cy="202347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14879" y="3120759"/>
            <a:ext cx="2307365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i=5</a:t>
            </a:r>
          </a:p>
          <a:p>
            <a:pPr>
              <a:lnSpc>
                <a:spcPct val="200000"/>
              </a:lnSpc>
            </a:pP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    print(</a:t>
            </a:r>
            <a:r>
              <a:rPr lang="en-US" altLang="zh-CN" sz="2000" b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)</a:t>
            </a:r>
            <a:endParaRPr lang="zh-CN" altLang="en-US" sz="2000" b="1" dirty="0">
              <a:solidFill>
                <a:schemeClr val="accent5"/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b="1">
                <a:solidFill>
                  <a:schemeClr val="accent5"/>
                </a:solidFill>
                <a:latin typeface="+mn-ea"/>
              </a:rPr>
              <a:t>    print('*******')</a:t>
            </a:r>
            <a:endParaRPr lang="en-US" altLang="zh-CN" sz="2000" b="1" dirty="0">
              <a:solidFill>
                <a:schemeClr val="accent5"/>
              </a:solidFill>
              <a:latin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362071" y="3265214"/>
            <a:ext cx="14847" cy="202347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73754" y="3806972"/>
            <a:ext cx="10334" cy="146115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424110" y="4734695"/>
            <a:ext cx="808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>
                <a:solidFill>
                  <a:srgbClr val="FF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6600" b="1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6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930" y="93677"/>
            <a:ext cx="6706870" cy="1325563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1  Python编程规范与代码优化建议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4415623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SzPct val="90000"/>
              <a:buNone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x-none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）缩进</a:t>
            </a:r>
            <a:endParaRPr lang="en-US" altLang="x-none" sz="18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ü"/>
            </a:pPr>
            <a:r>
              <a:rPr lang="en-US" altLang="x-none" sz="1800">
                <a:sym typeface="+mn-ea"/>
              </a:rPr>
              <a:t>python</a:t>
            </a:r>
            <a:r>
              <a:rPr lang="zh-CN" altLang="en-US" sz="1800">
                <a:sym typeface="+mn-ea"/>
              </a:rPr>
              <a:t>程序是依靠代码块的缩进来体现代码之间的逻辑关系的，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缩进结束就表示一个代码块结束了</a:t>
            </a:r>
            <a:r>
              <a:rPr lang="zh-CN" altLang="en-US" sz="1800">
                <a:sym typeface="+mn-ea"/>
              </a:rPr>
              <a:t>。</a:t>
            </a:r>
            <a:endParaRPr lang="zh-CN" altLang="en-US" sz="180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1800">
                <a:sym typeface="+mn-ea"/>
              </a:rPr>
              <a:t>类</a:t>
            </a:r>
            <a:r>
              <a:rPr lang="zh-CN" altLang="en-US" sz="1800" dirty="0">
                <a:sym typeface="+mn-ea"/>
              </a:rPr>
              <a:t>定义、函数定义、选择结构、循环结构、</a:t>
            </a:r>
            <a:r>
              <a:rPr lang="en-US" altLang="zh-CN" sz="1800" dirty="0">
                <a:sym typeface="+mn-ea"/>
              </a:rPr>
              <a:t>with</a:t>
            </a:r>
            <a:r>
              <a:rPr lang="zh-CN" altLang="en-US" sz="1800" dirty="0">
                <a:sym typeface="+mn-ea"/>
              </a:rPr>
              <a:t>块，行尾的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冒号</a:t>
            </a:r>
            <a:r>
              <a:rPr lang="zh-CN" altLang="en-US" sz="1800" dirty="0">
                <a:sym typeface="+mn-ea"/>
              </a:rPr>
              <a:t>表示缩进的开始。</a:t>
            </a:r>
            <a:endParaRPr lang="zh-CN" altLang="en-US" sz="18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1800">
                <a:sym typeface="+mn-ea"/>
              </a:rPr>
              <a:t>同</a:t>
            </a:r>
            <a:r>
              <a:rPr lang="zh-CN" altLang="en-US" sz="1800" dirty="0">
                <a:sym typeface="+mn-ea"/>
              </a:rPr>
              <a:t>一个级别的代码块的缩进量必须相同。</a:t>
            </a:r>
            <a:endParaRPr lang="zh-CN" altLang="en-US" sz="18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1800" dirty="0">
                <a:sym typeface="+mn-ea"/>
              </a:rPr>
              <a:t>一般而言，以</a:t>
            </a:r>
            <a:r>
              <a:rPr lang="en-US" altLang="x-none" sz="1800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个空格或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个制表符</a:t>
            </a:r>
            <a:r>
              <a:rPr lang="zh-CN" altLang="en-US" sz="1800">
                <a:sym typeface="+mn-ea"/>
              </a:rPr>
              <a:t>为</a:t>
            </a:r>
            <a:r>
              <a:rPr lang="zh-CN" altLang="en-US" sz="1800" dirty="0">
                <a:sym typeface="+mn-ea"/>
              </a:rPr>
              <a:t>基本缩进单位。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36159" y="1825625"/>
            <a:ext cx="2307365" cy="19851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</a:t>
            </a:r>
            <a:r>
              <a:rPr lang="en-US" altLang="zh-CN" sz="2400" b="1">
                <a:solidFill>
                  <a:srgbClr val="FF0000"/>
                </a:solidFill>
                <a:latin typeface="+mj-ea"/>
                <a:sym typeface="+mn-ea"/>
              </a:rPr>
              <a:t>i</a:t>
            </a:r>
            <a:r>
              <a:rPr lang="zh-CN" altLang="en-US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in </a:t>
            </a:r>
            <a:r>
              <a:rPr lang="en-US" altLang="zh-CN" sz="2000" b="1">
                <a:solidFill>
                  <a:srgbClr val="245794"/>
                </a:solidFill>
                <a:latin typeface="+mj-ea"/>
              </a:rPr>
              <a:t>range(0,50)</a:t>
            </a:r>
            <a:r>
              <a:rPr lang="zh-CN" altLang="en-US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lang="zh-CN" altLang="en-US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print(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5"/>
                </a:solidFill>
              </a:rPr>
              <a:t>	</a:t>
            </a:r>
            <a:r>
              <a:rPr lang="en-US" altLang="zh-CN" b="1">
                <a:solidFill>
                  <a:schemeClr val="accent5"/>
                </a:solidFill>
              </a:rPr>
              <a:t> print('*')</a:t>
            </a:r>
            <a:endParaRPr lang="en-US" altLang="zh-CN" b="1" dirty="0">
              <a:solidFill>
                <a:schemeClr val="accent5"/>
              </a:solidFill>
            </a:endParaRPr>
          </a:p>
          <a:p>
            <a:endParaRPr lang="en-US" altLang="zh-CN" b="1" dirty="0">
              <a:solidFill>
                <a:schemeClr val="accent5"/>
              </a:solidFill>
            </a:endParaRPr>
          </a:p>
          <a:p>
            <a:r>
              <a:rPr lang="en-US" altLang="zh-CN" sz="2400" dirty="0"/>
              <a:t>x=5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5483051" y="4066233"/>
            <a:ext cx="2260473" cy="18697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def add5(num):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return num+5</a:t>
            </a:r>
            <a:endParaRPr lang="en-US" altLang="zh-CN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print(‘hello’)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62851" y="2492943"/>
            <a:ext cx="1780673" cy="7218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962851" y="4478102"/>
            <a:ext cx="1780673" cy="7218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436159" y="3214838"/>
            <a:ext cx="230736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483051" y="5199997"/>
            <a:ext cx="226047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258560" y="1035918"/>
            <a:ext cx="27432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遍历</a:t>
            </a:r>
            <a:r>
              <a:rPr lang="en-US" altLang="zh-CN" dirty="0"/>
              <a:t>[0,49]</a:t>
            </a:r>
            <a:r>
              <a:rPr lang="zh-CN" altLang="en-US" dirty="0"/>
              <a:t>间的每一个数</a:t>
            </a:r>
          </a:p>
        </p:txBody>
      </p:sp>
      <p:cxnSp>
        <p:nvCxnSpPr>
          <p:cNvPr id="13" name="直接箭头连接符 12"/>
          <p:cNvCxnSpPr>
            <a:stCxn id="11" idx="2"/>
          </p:cNvCxnSpPr>
          <p:nvPr/>
        </p:nvCxnSpPr>
        <p:spPr>
          <a:xfrm flipH="1">
            <a:off x="6644640" y="1405250"/>
            <a:ext cx="985520" cy="681308"/>
          </a:xfrm>
          <a:prstGeom prst="straightConnector1">
            <a:avLst/>
          </a:prstGeom>
          <a:ln w="12700">
            <a:prstDash val="dash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EEF52DE-E256-44B2-8882-C3498C45E80A}"/>
              </a:ext>
            </a:extLst>
          </p:cNvPr>
          <p:cNvSpPr txBox="1"/>
          <p:nvPr/>
        </p:nvSpPr>
        <p:spPr>
          <a:xfrm>
            <a:off x="6908800" y="310393"/>
            <a:ext cx="211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[0,50)</a:t>
            </a:r>
            <a:r>
              <a:rPr lang="zh-CN" altLang="en-US" dirty="0"/>
              <a:t>半闭半开区间</a:t>
            </a:r>
          </a:p>
        </p:txBody>
      </p:sp>
    </p:spTree>
    <p:extLst>
      <p:ext uri="{BB962C8B-B14F-4D97-AF65-F5344CB8AC3E}">
        <p14:creationId xmlns:p14="http://schemas.microsoft.com/office/powerpoint/2010/main" val="212778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FCC108-E71E-4F93-AD64-178E924EECD8}"/>
              </a:ext>
            </a:extLst>
          </p:cNvPr>
          <p:cNvSpPr txBox="1"/>
          <p:nvPr/>
        </p:nvSpPr>
        <p:spPr>
          <a:xfrm>
            <a:off x="444710" y="969948"/>
            <a:ext cx="2307365" cy="17235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</a:t>
            </a:r>
            <a:r>
              <a:rPr lang="en-US" altLang="zh-CN" sz="2400" b="1" dirty="0" err="1">
                <a:solidFill>
                  <a:srgbClr val="FF0000"/>
                </a:solidFill>
                <a:latin typeface="+mj-ea"/>
                <a:sym typeface="+mn-ea"/>
              </a:rPr>
              <a:t>i</a:t>
            </a: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in </a:t>
            </a:r>
            <a:r>
              <a:rPr lang="en-US" altLang="zh-CN" sz="2000" b="1" dirty="0">
                <a:solidFill>
                  <a:srgbClr val="245794"/>
                </a:solidFill>
                <a:latin typeface="+mj-ea"/>
              </a:rPr>
              <a:t>range(0,3)</a:t>
            </a: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lang="zh-CN" altLang="en-US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print(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accent5"/>
                </a:solidFill>
              </a:rPr>
              <a:t>	 print('*')</a:t>
            </a:r>
          </a:p>
          <a:p>
            <a:r>
              <a:rPr lang="en-US" altLang="zh-CN" sz="2000" dirty="0"/>
              <a:t>print(‘$’)</a:t>
            </a:r>
            <a:endParaRPr lang="zh-CN" alt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BF2E6E-AC4F-4078-918D-B5A9A50C1F65}"/>
              </a:ext>
            </a:extLst>
          </p:cNvPr>
          <p:cNvSpPr/>
          <p:nvPr/>
        </p:nvSpPr>
        <p:spPr>
          <a:xfrm>
            <a:off x="971402" y="1637266"/>
            <a:ext cx="1780673" cy="7218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EF181DE-843F-4202-A95E-7F3490198EA3}"/>
              </a:ext>
            </a:extLst>
          </p:cNvPr>
          <p:cNvCxnSpPr/>
          <p:nvPr/>
        </p:nvCxnSpPr>
        <p:spPr>
          <a:xfrm>
            <a:off x="444710" y="2359161"/>
            <a:ext cx="230736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373EE18-56A7-4EBA-A1B5-77D120D06958}"/>
              </a:ext>
            </a:extLst>
          </p:cNvPr>
          <p:cNvSpPr txBox="1"/>
          <p:nvPr/>
        </p:nvSpPr>
        <p:spPr>
          <a:xfrm>
            <a:off x="1267111" y="180241"/>
            <a:ext cx="27432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遍历</a:t>
            </a:r>
            <a:r>
              <a:rPr lang="en-US" altLang="zh-CN" dirty="0"/>
              <a:t>[0,2]</a:t>
            </a:r>
            <a:r>
              <a:rPr lang="zh-CN" altLang="en-US" dirty="0"/>
              <a:t>间的每一个数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6B2A595-A315-4A73-87D5-609670AD48FB}"/>
              </a:ext>
            </a:extLst>
          </p:cNvPr>
          <p:cNvCxnSpPr>
            <a:stCxn id="7" idx="2"/>
          </p:cNvCxnSpPr>
          <p:nvPr/>
        </p:nvCxnSpPr>
        <p:spPr>
          <a:xfrm flipH="1">
            <a:off x="1653191" y="549573"/>
            <a:ext cx="985520" cy="681308"/>
          </a:xfrm>
          <a:prstGeom prst="straightConnector1">
            <a:avLst/>
          </a:prstGeom>
          <a:ln w="12700">
            <a:prstDash val="dash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F14F9D9-B98A-4EA7-A7B2-6652565CB43D}"/>
              </a:ext>
            </a:extLst>
          </p:cNvPr>
          <p:cNvSpPr txBox="1"/>
          <p:nvPr/>
        </p:nvSpPr>
        <p:spPr>
          <a:xfrm>
            <a:off x="4823763" y="969948"/>
            <a:ext cx="2307365" cy="20005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</a:t>
            </a:r>
            <a:r>
              <a:rPr lang="en-US" altLang="zh-CN" sz="2400" b="1" dirty="0" err="1">
                <a:solidFill>
                  <a:srgbClr val="FF0000"/>
                </a:solidFill>
                <a:latin typeface="+mj-ea"/>
                <a:sym typeface="+mn-ea"/>
              </a:rPr>
              <a:t>i</a:t>
            </a: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in </a:t>
            </a:r>
            <a:r>
              <a:rPr lang="en-US" altLang="zh-CN" sz="2000" b="1" dirty="0">
                <a:solidFill>
                  <a:srgbClr val="245794"/>
                </a:solidFill>
                <a:latin typeface="+mj-ea"/>
              </a:rPr>
              <a:t>range(0,3)</a:t>
            </a: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lang="zh-CN" altLang="en-US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print(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5"/>
                </a:solidFill>
              </a:rPr>
              <a:t>	</a:t>
            </a:r>
            <a:endParaRPr lang="en-US" altLang="zh-CN" sz="2400" b="1" dirty="0">
              <a:solidFill>
                <a:schemeClr val="accent5"/>
              </a:solidFill>
            </a:endParaRPr>
          </a:p>
          <a:p>
            <a:r>
              <a:rPr lang="en-US" altLang="zh-CN" sz="2000" b="1" dirty="0">
                <a:solidFill>
                  <a:schemeClr val="accent5"/>
                </a:solidFill>
              </a:rPr>
              <a:t>print('*’)</a:t>
            </a:r>
            <a:endParaRPr lang="en-US" altLang="zh-CN" sz="2000" dirty="0"/>
          </a:p>
          <a:p>
            <a:r>
              <a:rPr lang="en-US" altLang="zh-CN" sz="2000" dirty="0"/>
              <a:t>print(‘$’)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2513A1-90F3-4C7A-8582-5EC4CD79B2D9}"/>
              </a:ext>
            </a:extLst>
          </p:cNvPr>
          <p:cNvSpPr/>
          <p:nvPr/>
        </p:nvSpPr>
        <p:spPr>
          <a:xfrm>
            <a:off x="5350455" y="1637266"/>
            <a:ext cx="1780673" cy="7218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242E9DC-E276-417C-95D0-E12D22D221E4}"/>
              </a:ext>
            </a:extLst>
          </p:cNvPr>
          <p:cNvCxnSpPr/>
          <p:nvPr/>
        </p:nvCxnSpPr>
        <p:spPr>
          <a:xfrm>
            <a:off x="4823763" y="2359161"/>
            <a:ext cx="230736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2183632-98BB-47F3-B98A-3A89CDA75598}"/>
              </a:ext>
            </a:extLst>
          </p:cNvPr>
          <p:cNvSpPr txBox="1"/>
          <p:nvPr/>
        </p:nvSpPr>
        <p:spPr>
          <a:xfrm>
            <a:off x="5646164" y="180241"/>
            <a:ext cx="27432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遍历</a:t>
            </a:r>
            <a:r>
              <a:rPr lang="en-US" altLang="zh-CN" dirty="0"/>
              <a:t>[0,2]</a:t>
            </a:r>
            <a:r>
              <a:rPr lang="zh-CN" altLang="en-US" dirty="0"/>
              <a:t>间的每一个数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75DDA63-2BED-4A99-B213-D06F68DCBDB4}"/>
              </a:ext>
            </a:extLst>
          </p:cNvPr>
          <p:cNvCxnSpPr>
            <a:stCxn id="12" idx="2"/>
          </p:cNvCxnSpPr>
          <p:nvPr/>
        </p:nvCxnSpPr>
        <p:spPr>
          <a:xfrm flipH="1">
            <a:off x="6032244" y="549573"/>
            <a:ext cx="985520" cy="681308"/>
          </a:xfrm>
          <a:prstGeom prst="straightConnector1">
            <a:avLst/>
          </a:prstGeom>
          <a:ln w="12700">
            <a:prstDash val="dash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18C2207-D302-447B-A620-FF9D0B19DDBF}"/>
              </a:ext>
            </a:extLst>
          </p:cNvPr>
          <p:cNvSpPr txBox="1"/>
          <p:nvPr/>
        </p:nvSpPr>
        <p:spPr>
          <a:xfrm>
            <a:off x="335560" y="3363985"/>
            <a:ext cx="172354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执行结果：</a:t>
            </a:r>
            <a:endParaRPr lang="en-US" altLang="zh-CN" sz="2400" dirty="0"/>
          </a:p>
          <a:p>
            <a:r>
              <a:rPr lang="en-US" altLang="zh-CN" sz="2400" dirty="0"/>
              <a:t>0</a:t>
            </a:r>
          </a:p>
          <a:p>
            <a:r>
              <a:rPr lang="en-US" altLang="zh-CN" sz="2400" dirty="0"/>
              <a:t>*</a:t>
            </a:r>
          </a:p>
          <a:p>
            <a:r>
              <a:rPr lang="en-US" altLang="zh-CN" sz="2400" dirty="0"/>
              <a:t>1</a:t>
            </a:r>
          </a:p>
          <a:p>
            <a:r>
              <a:rPr lang="en-US" altLang="zh-CN" sz="2400" dirty="0"/>
              <a:t>*</a:t>
            </a:r>
            <a:br>
              <a:rPr lang="en-US" altLang="zh-CN" sz="2400" dirty="0"/>
            </a:br>
            <a:r>
              <a:rPr lang="en-US" altLang="zh-CN" sz="2400" dirty="0"/>
              <a:t>2</a:t>
            </a:r>
          </a:p>
          <a:p>
            <a:r>
              <a:rPr lang="en-US" altLang="zh-CN" sz="2400" dirty="0"/>
              <a:t>*</a:t>
            </a:r>
          </a:p>
          <a:p>
            <a:r>
              <a:rPr lang="en-US" altLang="zh-CN" sz="2400" dirty="0"/>
              <a:t>$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03967A-C9E3-4A5C-A5BD-087AEA6C97AB}"/>
              </a:ext>
            </a:extLst>
          </p:cNvPr>
          <p:cNvSpPr txBox="1"/>
          <p:nvPr/>
        </p:nvSpPr>
        <p:spPr>
          <a:xfrm>
            <a:off x="4716011" y="3376881"/>
            <a:ext cx="17235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执行结果：</a:t>
            </a:r>
            <a:endParaRPr lang="en-US" altLang="zh-CN" sz="2400" dirty="0"/>
          </a:p>
          <a:p>
            <a:r>
              <a:rPr lang="en-US" altLang="zh-CN" sz="2400" dirty="0"/>
              <a:t>0</a:t>
            </a:r>
          </a:p>
          <a:p>
            <a:r>
              <a:rPr lang="en-US" altLang="zh-CN" sz="2400" dirty="0"/>
              <a:t>1</a:t>
            </a:r>
          </a:p>
          <a:p>
            <a:r>
              <a:rPr lang="en-US" altLang="zh-CN" sz="2400" dirty="0"/>
              <a:t>2</a:t>
            </a:r>
          </a:p>
          <a:p>
            <a:r>
              <a:rPr lang="en-US" altLang="zh-CN" sz="2400" dirty="0"/>
              <a:t>*</a:t>
            </a:r>
          </a:p>
          <a:p>
            <a:r>
              <a:rPr lang="en-US" altLang="zh-CN" sz="2400" dirty="0"/>
              <a:t>$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8664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9677" y="2985081"/>
            <a:ext cx="24624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245794"/>
                </a:solidFill>
                <a:latin typeface="+mj-ea"/>
                <a:ea typeface="+mj-ea"/>
              </a:rPr>
              <a:t>程序段一：</a:t>
            </a:r>
          </a:p>
          <a:p>
            <a:r>
              <a:rPr lang="en-US" altLang="zh-CN" sz="2000" b="1" dirty="0">
                <a:solidFill>
                  <a:srgbClr val="245794"/>
                </a:solidFill>
                <a:latin typeface="+mj-ea"/>
                <a:ea typeface="+mj-ea"/>
              </a:rPr>
              <a:t>for i in range(0,50):   </a:t>
            </a:r>
            <a:endParaRPr lang="zh-CN" altLang="zh-CN" sz="2000" b="1" dirty="0">
              <a:solidFill>
                <a:srgbClr val="245794"/>
              </a:solidFill>
              <a:latin typeface="+mj-ea"/>
              <a:ea typeface="+mj-ea"/>
            </a:endParaRPr>
          </a:p>
          <a:p>
            <a:r>
              <a:rPr lang="en-US" altLang="zh-CN" sz="2000" b="1" dirty="0">
                <a:solidFill>
                  <a:srgbClr val="245794"/>
                </a:solidFill>
                <a:latin typeface="+mj-ea"/>
                <a:ea typeface="+mj-ea"/>
              </a:rPr>
              <a:t>    s+=b</a:t>
            </a:r>
            <a:endParaRPr lang="zh-CN" altLang="zh-CN" sz="2000" b="1" dirty="0">
              <a:solidFill>
                <a:srgbClr val="245794"/>
              </a:solidFill>
              <a:latin typeface="+mj-ea"/>
              <a:ea typeface="+mj-ea"/>
            </a:endParaRPr>
          </a:p>
          <a:p>
            <a:r>
              <a:rPr lang="en-US" altLang="zh-CN" sz="2000" b="1" dirty="0">
                <a:solidFill>
                  <a:srgbClr val="245794"/>
                </a:solidFill>
                <a:latin typeface="+mj-ea"/>
                <a:ea typeface="+mj-ea"/>
              </a:rPr>
              <a:t>    </a:t>
            </a:r>
            <a:r>
              <a:rPr lang="en-US" altLang="zh-CN" sz="2000" b="1" dirty="0" err="1">
                <a:solidFill>
                  <a:srgbClr val="245794"/>
                </a:solidFill>
                <a:latin typeface="+mj-ea"/>
                <a:ea typeface="+mj-ea"/>
              </a:rPr>
              <a:t>a,b</a:t>
            </a:r>
            <a:r>
              <a:rPr lang="en-US" altLang="zh-CN" sz="2000" b="1" dirty="0">
                <a:solidFill>
                  <a:srgbClr val="245794"/>
                </a:solidFill>
                <a:latin typeface="+mj-ea"/>
                <a:ea typeface="+mj-ea"/>
              </a:rPr>
              <a:t>=</a:t>
            </a:r>
            <a:r>
              <a:rPr lang="en-US" altLang="zh-CN" sz="2000" b="1" dirty="0" err="1">
                <a:solidFill>
                  <a:srgbClr val="245794"/>
                </a:solidFill>
                <a:latin typeface="+mj-ea"/>
                <a:ea typeface="+mj-ea"/>
              </a:rPr>
              <a:t>b,a+b</a:t>
            </a:r>
            <a:endParaRPr lang="zh-CN" altLang="zh-CN" sz="2000" b="1" dirty="0">
              <a:solidFill>
                <a:srgbClr val="245794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09686" y="3055219"/>
            <a:ext cx="25251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zh-CN" sz="2000" b="1" dirty="0">
                <a:solidFill>
                  <a:srgbClr val="245794"/>
                </a:solidFill>
                <a:latin typeface="+mj-ea"/>
                <a:ea typeface="+mj-ea"/>
              </a:rPr>
              <a:t>程序段二：</a:t>
            </a:r>
          </a:p>
          <a:p>
            <a:pPr lvl="0"/>
            <a:r>
              <a:rPr lang="en-US" altLang="zh-CN" sz="2000" b="1" dirty="0">
                <a:solidFill>
                  <a:srgbClr val="245794"/>
                </a:solidFill>
                <a:latin typeface="+mj-ea"/>
                <a:ea typeface="+mj-ea"/>
              </a:rPr>
              <a:t>for i in range(0,50):   </a:t>
            </a:r>
            <a:endParaRPr lang="zh-CN" altLang="zh-CN" sz="2000" b="1" dirty="0">
              <a:solidFill>
                <a:srgbClr val="245794"/>
              </a:solidFill>
              <a:latin typeface="+mj-ea"/>
              <a:ea typeface="+mj-ea"/>
            </a:endParaRPr>
          </a:p>
          <a:p>
            <a:pPr lvl="0"/>
            <a:r>
              <a:rPr lang="en-US" altLang="zh-CN" sz="2000" b="1" dirty="0">
                <a:solidFill>
                  <a:srgbClr val="245794"/>
                </a:solidFill>
                <a:latin typeface="+mj-ea"/>
                <a:ea typeface="+mj-ea"/>
              </a:rPr>
              <a:t>    s+=b</a:t>
            </a:r>
            <a:endParaRPr lang="zh-CN" altLang="zh-CN" sz="2000" b="1" dirty="0">
              <a:solidFill>
                <a:srgbClr val="245794"/>
              </a:solidFill>
              <a:latin typeface="+mj-ea"/>
              <a:ea typeface="+mj-ea"/>
            </a:endParaRPr>
          </a:p>
          <a:p>
            <a:pPr lvl="0"/>
            <a:r>
              <a:rPr lang="en-US" altLang="zh-CN" sz="2000" b="1" dirty="0" err="1">
                <a:solidFill>
                  <a:srgbClr val="245794"/>
                </a:solidFill>
                <a:latin typeface="+mj-ea"/>
                <a:ea typeface="+mj-ea"/>
              </a:rPr>
              <a:t>a,b</a:t>
            </a:r>
            <a:r>
              <a:rPr lang="en-US" altLang="zh-CN" sz="2000" b="1" dirty="0">
                <a:solidFill>
                  <a:srgbClr val="245794"/>
                </a:solidFill>
                <a:latin typeface="+mj-ea"/>
                <a:ea typeface="+mj-ea"/>
              </a:rPr>
              <a:t>=</a:t>
            </a:r>
            <a:r>
              <a:rPr lang="en-US" altLang="zh-CN" sz="2000" b="1" dirty="0" err="1">
                <a:solidFill>
                  <a:srgbClr val="245794"/>
                </a:solidFill>
                <a:latin typeface="+mj-ea"/>
                <a:ea typeface="+mj-ea"/>
              </a:rPr>
              <a:t>b,a+b</a:t>
            </a:r>
            <a:endParaRPr lang="zh-CN" altLang="zh-CN" sz="2000" b="1" dirty="0">
              <a:solidFill>
                <a:srgbClr val="245794"/>
              </a:solidFill>
              <a:latin typeface="+mj-ea"/>
              <a:ea typeface="+mj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 </a:t>
            </a:r>
            <a:r>
              <a:rPr lang="en-US" altLang="zh-CN" sz="3600"/>
              <a:t>2.2.2  Python</a:t>
            </a:r>
            <a:r>
              <a:rPr lang="zh-CN" altLang="zh-CN" sz="3600"/>
              <a:t>语句缩进规则</a:t>
            </a:r>
            <a:endParaRPr lang="zh-CN" altLang="en-US" sz="360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58526" y="1419593"/>
            <a:ext cx="7886700" cy="10880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latin typeface="+mj-lt"/>
                <a:ea typeface="+mj-ea"/>
                <a:cs typeface="+mj-cs"/>
              </a:rPr>
              <a:t>Python</a:t>
            </a:r>
            <a:r>
              <a:rPr lang="zh-CN" altLang="zh-CN" sz="2000" dirty="0">
                <a:latin typeface="+mj-lt"/>
                <a:ea typeface="+mj-ea"/>
                <a:cs typeface="+mj-cs"/>
              </a:rPr>
              <a:t>通过语句</a:t>
            </a:r>
            <a:r>
              <a:rPr lang="zh-CN" altLang="zh-CN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缩进对齐</a:t>
            </a:r>
            <a:r>
              <a:rPr lang="zh-CN" altLang="zh-CN" sz="2000" dirty="0">
                <a:latin typeface="+mj-lt"/>
                <a:ea typeface="+mj-ea"/>
                <a:cs typeface="+mj-cs"/>
              </a:rPr>
              <a:t>反映语句之间的</a:t>
            </a:r>
            <a:r>
              <a:rPr lang="zh-CN" altLang="zh-CN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逻辑关系</a:t>
            </a:r>
            <a:r>
              <a:rPr lang="zh-CN" altLang="zh-CN" sz="2000" dirty="0">
                <a:latin typeface="+mj-lt"/>
                <a:ea typeface="+mj-ea"/>
                <a:cs typeface="+mj-cs"/>
              </a:rPr>
              <a:t>。</a:t>
            </a:r>
            <a:endParaRPr lang="en-US" altLang="zh-CN" sz="2000" dirty="0"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zh-CN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缩进量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相同的语句</a:t>
            </a:r>
            <a:r>
              <a:rPr lang="zh-CN" altLang="en-US" sz="2000" dirty="0">
                <a:latin typeface="+mj-lt"/>
                <a:ea typeface="+mj-ea"/>
                <a:cs typeface="+mj-cs"/>
              </a:rPr>
              <a:t>属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同</a:t>
            </a:r>
            <a:r>
              <a:rPr lang="zh-CN" altLang="zh-CN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一个语句块</a:t>
            </a:r>
            <a:r>
              <a:rPr lang="zh-CN" altLang="en-US" sz="2000" dirty="0">
                <a:latin typeface="+mj-lt"/>
                <a:ea typeface="+mj-ea"/>
                <a:cs typeface="+mj-cs"/>
              </a:rPr>
              <a:t>，块内语句按顺序执行</a:t>
            </a:r>
            <a:r>
              <a:rPr lang="zh-CN" altLang="zh-CN" sz="2000" dirty="0">
                <a:latin typeface="+mj-lt"/>
                <a:ea typeface="+mj-ea"/>
                <a:cs typeface="+mj-cs"/>
              </a:rPr>
              <a:t>。</a:t>
            </a: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737" y="4495742"/>
            <a:ext cx="5758279" cy="179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89362" y="6114001"/>
            <a:ext cx="56436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270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245794"/>
                </a:solidFill>
                <a:effectLst/>
                <a:cs typeface="Courier New" pitchFamily="49" charset="0"/>
              </a:rPr>
              <a:t>（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245794"/>
                </a:solidFill>
                <a:effectLst/>
                <a:cs typeface="Courier New" pitchFamily="49" charset="0"/>
              </a:rPr>
              <a:t>a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245794"/>
                </a:solidFill>
                <a:effectLst/>
                <a:cs typeface="Courier New" pitchFamily="49" charset="0"/>
              </a:rPr>
              <a:t>）                                                （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245794"/>
                </a:solidFill>
                <a:effectLst/>
                <a:cs typeface="Courier New" pitchFamily="49" charset="0"/>
              </a:rPr>
              <a:t>b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245794"/>
                </a:solidFill>
                <a:effectLst/>
                <a:cs typeface="Courier New" pitchFamily="49" charset="0"/>
              </a:rPr>
              <a:t>）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245794"/>
              </a:solidFill>
              <a:effectLst/>
              <a:cs typeface="宋体" pitchFamily="2" charset="-122"/>
            </a:endParaRPr>
          </a:p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245794"/>
                </a:solidFill>
                <a:effectLst/>
                <a:latin typeface="+mn-ea"/>
                <a:cs typeface="Times New Roman" pitchFamily="18" charset="0"/>
              </a:rPr>
              <a:t>两种缩进方式的比较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245794"/>
              </a:solidFill>
              <a:effectLst/>
              <a:latin typeface="+mn-ea"/>
              <a:cs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9748" y="3701240"/>
            <a:ext cx="1265722" cy="5197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38650" y="3704137"/>
            <a:ext cx="1265722" cy="322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477015" y="3730674"/>
            <a:ext cx="146706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一个语句块</a:t>
            </a:r>
          </a:p>
        </p:txBody>
      </p:sp>
      <p:cxnSp>
        <p:nvCxnSpPr>
          <p:cNvPr id="14" name="直接箭头连接符 13"/>
          <p:cNvCxnSpPr>
            <a:stCxn id="12" idx="1"/>
          </p:cNvCxnSpPr>
          <p:nvPr/>
        </p:nvCxnSpPr>
        <p:spPr>
          <a:xfrm flipH="1">
            <a:off x="1722157" y="3930729"/>
            <a:ext cx="754858" cy="2558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496566" y="3680074"/>
            <a:ext cx="146706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一个语句块</a:t>
            </a:r>
          </a:p>
        </p:txBody>
      </p:sp>
      <p:cxnSp>
        <p:nvCxnSpPr>
          <p:cNvPr id="16" name="直接箭头连接符 15"/>
          <p:cNvCxnSpPr>
            <a:stCxn id="15" idx="1"/>
          </p:cNvCxnSpPr>
          <p:nvPr/>
        </p:nvCxnSpPr>
        <p:spPr>
          <a:xfrm flipH="1">
            <a:off x="6741708" y="3880129"/>
            <a:ext cx="754858" cy="2558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209800" y="2596779"/>
            <a:ext cx="27432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遍历</a:t>
            </a:r>
            <a:r>
              <a:rPr lang="en-US" altLang="zh-CN" dirty="0"/>
              <a:t>[0,49]</a:t>
            </a:r>
            <a:r>
              <a:rPr lang="zh-CN" altLang="en-US" dirty="0"/>
              <a:t>间的每一个数</a:t>
            </a:r>
          </a:p>
        </p:txBody>
      </p:sp>
      <p:cxnSp>
        <p:nvCxnSpPr>
          <p:cNvPr id="13" name="直接箭头连接符 12"/>
          <p:cNvCxnSpPr>
            <a:stCxn id="3" idx="1"/>
            <a:endCxn id="3" idx="1"/>
          </p:cNvCxnSpPr>
          <p:nvPr/>
        </p:nvCxnSpPr>
        <p:spPr>
          <a:xfrm>
            <a:off x="2209800" y="278144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3" idx="2"/>
          </p:cNvCxnSpPr>
          <p:nvPr/>
        </p:nvCxnSpPr>
        <p:spPr>
          <a:xfrm flipH="1">
            <a:off x="2057400" y="2966111"/>
            <a:ext cx="1524000" cy="346049"/>
          </a:xfrm>
          <a:prstGeom prst="straightConnector1">
            <a:avLst/>
          </a:prstGeom>
          <a:ln w="12700">
            <a:prstDash val="dash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3" idx="2"/>
          </p:cNvCxnSpPr>
          <p:nvPr/>
        </p:nvCxnSpPr>
        <p:spPr>
          <a:xfrm>
            <a:off x="3581400" y="2966111"/>
            <a:ext cx="1727200" cy="495334"/>
          </a:xfrm>
          <a:prstGeom prst="straightConnector1">
            <a:avLst/>
          </a:prstGeom>
          <a:ln w="28575">
            <a:prstDash val="dash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65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10" grpId="0" animBg="1"/>
      <p:bldP spid="11" grpId="0" animBg="1"/>
      <p:bldP spid="12" grpId="0"/>
      <p:bldP spid="15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>
                <a:sym typeface="+mn-ea"/>
              </a:rPr>
              <a:t>1  Python</a:t>
            </a:r>
            <a:r>
              <a:rPr lang="zh-CN" altLang="en-US" sz="3600" dirty="0">
                <a:sym typeface="+mn-ea"/>
              </a:rPr>
              <a:t>编程规范与代码优化建议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/>
              <a:t>（3）最好在每个类、函数定义和一段完整的功能代码之后增加一个</a:t>
            </a:r>
            <a:r>
              <a:rPr lang="zh-CN" altLang="en-US" sz="1800" dirty="0">
                <a:solidFill>
                  <a:srgbClr val="FF0000"/>
                </a:solidFill>
              </a:rPr>
              <a:t>空行</a:t>
            </a:r>
            <a:r>
              <a:rPr lang="zh-CN" altLang="en-US" sz="1800" dirty="0"/>
              <a:t>，在</a:t>
            </a:r>
            <a:r>
              <a:rPr lang="zh-CN" altLang="en-US" sz="1800" dirty="0">
                <a:solidFill>
                  <a:srgbClr val="FF0000"/>
                </a:solidFill>
              </a:rPr>
              <a:t>运算符两侧</a:t>
            </a:r>
            <a:r>
              <a:rPr lang="zh-CN" altLang="en-US" sz="1800" dirty="0"/>
              <a:t>各增加一个</a:t>
            </a:r>
            <a:r>
              <a:rPr lang="zh-CN" altLang="en-US" sz="1800" dirty="0">
                <a:solidFill>
                  <a:srgbClr val="FF0000"/>
                </a:solidFill>
              </a:rPr>
              <a:t>空格</a:t>
            </a:r>
            <a:r>
              <a:rPr lang="zh-CN" altLang="en-US" sz="1800" dirty="0"/>
              <a:t>，</a:t>
            </a:r>
            <a:r>
              <a:rPr lang="zh-CN" altLang="en-US" sz="1800" dirty="0">
                <a:solidFill>
                  <a:srgbClr val="FF0000"/>
                </a:solidFill>
              </a:rPr>
              <a:t>逗号后面</a:t>
            </a:r>
            <a:r>
              <a:rPr lang="zh-CN" altLang="en-US" sz="1800" dirty="0"/>
              <a:t>增加一个空格。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72" y="2646024"/>
            <a:ext cx="5961578" cy="40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6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>
                <a:sym typeface="+mn-ea"/>
              </a:rPr>
              <a:t>1   Python</a:t>
            </a:r>
            <a:r>
              <a:rPr lang="zh-CN" altLang="en-US" sz="3600" dirty="0">
                <a:sym typeface="+mn-ea"/>
              </a:rPr>
              <a:t>编程规范与代码优化建议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（4）尽量不要写过长的语句。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如果语句确实太长而超过屏幕宽度，最好使用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续行符</a:t>
            </a:r>
            <a:r>
              <a:rPr lang="zh-CN" altLang="en-US" sz="2000" dirty="0"/>
              <a:t>（line continuation character）“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000" dirty="0"/>
              <a:t>”，或者使用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圆括号</a:t>
            </a:r>
            <a:r>
              <a:rPr lang="zh-CN" altLang="en-US" sz="2000" dirty="0"/>
              <a:t>将多行代码括起来表示是一条语句。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98" y="4216497"/>
            <a:ext cx="2041208" cy="17621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2388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ym typeface="+mn-ea"/>
              </a:rPr>
              <a:t>2    基本输入输出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590" y="1569565"/>
            <a:ext cx="6510386" cy="602386"/>
          </a:xfrm>
          <a:solidFill>
            <a:schemeClr val="bg2"/>
          </a:solidFill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input()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是Python的基本</a:t>
            </a:r>
            <a:r>
              <a:rPr lang="en-US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函数，</a:t>
            </a:r>
            <a:r>
              <a:rPr lang="en-US" sz="1600" err="1">
                <a:latin typeface="微软雅黑" panose="020B0503020204020204" pitchFamily="34" charset="-122"/>
                <a:ea typeface="微软雅黑" panose="020B0503020204020204" pitchFamily="34" charset="-122"/>
              </a:rPr>
              <a:t>用来接收用户的键盘输入</a:t>
            </a: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Picture 2" descr="http://t11.baidu.com/it/u=2985646576,731612751&amp;fm=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464" y="2345351"/>
            <a:ext cx="1923567" cy="271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498783" y="5278649"/>
            <a:ext cx="5548964" cy="1141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print()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是Python的基本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函数，用来把数据以指定的格式输出到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或指定的文件对象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曲线连接符 7"/>
          <p:cNvCxnSpPr/>
          <p:nvPr/>
        </p:nvCxnSpPr>
        <p:spPr>
          <a:xfrm rot="10800000">
            <a:off x="986589" y="2124777"/>
            <a:ext cx="2680636" cy="2009274"/>
          </a:xfrm>
          <a:prstGeom prst="curvedConnector3">
            <a:avLst>
              <a:gd name="adj1" fmla="val 10709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曲线连接符 10"/>
          <p:cNvCxnSpPr/>
          <p:nvPr/>
        </p:nvCxnSpPr>
        <p:spPr>
          <a:xfrm rot="10800000">
            <a:off x="4947386" y="3253340"/>
            <a:ext cx="3084897" cy="2204185"/>
          </a:xfrm>
          <a:prstGeom prst="curvedConnector3">
            <a:avLst>
              <a:gd name="adj1" fmla="val -1287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3756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68674" y="143904"/>
            <a:ext cx="7886700" cy="1325563"/>
          </a:xfrm>
        </p:spPr>
        <p:txBody>
          <a:bodyPr/>
          <a:lstStyle/>
          <a:p>
            <a:r>
              <a:rPr lang="en-US" altLang="zh-CN" b="1">
                <a:solidFill>
                  <a:srgbClr val="245794"/>
                </a:solidFill>
                <a:cs typeface="Times New Roman" pitchFamily="18" charset="0"/>
              </a:rPr>
              <a:t>1</a:t>
            </a:r>
            <a:r>
              <a:rPr lang="zh-CN" altLang="en-US" b="1">
                <a:solidFill>
                  <a:srgbClr val="245794"/>
                </a:solidFill>
                <a:cs typeface="Times New Roman" pitchFamily="18" charset="0"/>
              </a:rPr>
              <a:t>．</a:t>
            </a:r>
            <a:r>
              <a:rPr lang="zh-CN" altLang="en-US" b="1">
                <a:solidFill>
                  <a:srgbClr val="245794"/>
                </a:solidFill>
                <a:latin typeface="+mn-ea"/>
                <a:cs typeface="Times New Roman" pitchFamily="18" charset="0"/>
              </a:rPr>
              <a:t>标准输入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23528" y="1626015"/>
            <a:ext cx="7886700" cy="226994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400"/>
              <a:t>input()</a:t>
            </a:r>
            <a:r>
              <a:rPr lang="zh-CN" altLang="en-US" sz="2400"/>
              <a:t>的调用格式：</a:t>
            </a:r>
            <a:r>
              <a:rPr lang="en-US" altLang="zh-CN" sz="2400" b="1">
                <a:solidFill>
                  <a:srgbClr val="0070C0"/>
                </a:solidFill>
              </a:rPr>
              <a:t>input([</a:t>
            </a:r>
            <a:r>
              <a:rPr lang="zh-CN" altLang="en-US" sz="2400" b="1">
                <a:solidFill>
                  <a:srgbClr val="0070C0"/>
                </a:solidFill>
              </a:rPr>
              <a:t>提示字符串</a:t>
            </a:r>
            <a:r>
              <a:rPr lang="en-US" altLang="zh-CN" sz="2400" b="1">
                <a:solidFill>
                  <a:srgbClr val="0070C0"/>
                </a:solidFill>
              </a:rPr>
              <a:t>])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600">
                <a:latin typeface="+mj-ea"/>
                <a:ea typeface="+mj-ea"/>
              </a:rPr>
              <a:t>功能：</a:t>
            </a:r>
            <a:r>
              <a:rPr lang="en-US" altLang="zh-CN" sz="1600">
                <a:latin typeface="+mj-ea"/>
                <a:ea typeface="+mj-ea"/>
              </a:rPr>
              <a:t>input()</a:t>
            </a:r>
            <a:r>
              <a:rPr lang="zh-CN" altLang="en-US" sz="1600">
                <a:latin typeface="+mj-ea"/>
                <a:ea typeface="+mj-ea"/>
              </a:rPr>
              <a:t>函数从标准输入设备（键盘）读取一行数据，并返回一个字符串（去掉结尾的换行符）。</a:t>
            </a:r>
            <a:endParaRPr lang="en-US" altLang="zh-CN" sz="1600">
              <a:latin typeface="+mj-ea"/>
              <a:ea typeface="+mj-ea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600">
                <a:latin typeface="+mj-ea"/>
                <a:ea typeface="+mj-ea"/>
              </a:rPr>
              <a:t> “提示字符串”是可选项。如果有“提示字符串”，则原样显示，提示用户输入数据。</a:t>
            </a:r>
            <a:endParaRPr lang="en-US" altLang="zh-CN" sz="1600">
              <a:latin typeface="+mj-ea"/>
              <a:ea typeface="+mj-ea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3528" y="4005064"/>
            <a:ext cx="3861535" cy="179964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input('Please input: 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input: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zhang shan</a:t>
            </a:r>
            <a:r>
              <a:rPr lang="en-US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endParaRPr lang="en-US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87679" y="4501142"/>
            <a:ext cx="1682433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zhang shan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34263" y="4005064"/>
            <a:ext cx="2190065" cy="179964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y = input( 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y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Li Shi</a:t>
            </a:r>
            <a:r>
              <a:rPr lang="en-US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endParaRPr lang="en-US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36097" y="4501142"/>
            <a:ext cx="86409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 Shi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63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68674" y="143904"/>
            <a:ext cx="7886700" cy="1325563"/>
          </a:xfrm>
        </p:spPr>
        <p:txBody>
          <a:bodyPr/>
          <a:lstStyle/>
          <a:p>
            <a:r>
              <a:rPr lang="en-US" altLang="zh-CN" b="1">
                <a:solidFill>
                  <a:srgbClr val="245794"/>
                </a:solidFill>
                <a:cs typeface="Times New Roman" pitchFamily="18" charset="0"/>
              </a:rPr>
              <a:t>1</a:t>
            </a:r>
            <a:r>
              <a:rPr lang="zh-CN" altLang="en-US" b="1">
                <a:solidFill>
                  <a:srgbClr val="245794"/>
                </a:solidFill>
                <a:cs typeface="Times New Roman" pitchFamily="18" charset="0"/>
              </a:rPr>
              <a:t>．</a:t>
            </a:r>
            <a:r>
              <a:rPr lang="zh-CN" altLang="en-US" b="1">
                <a:solidFill>
                  <a:srgbClr val="245794"/>
                </a:solidFill>
                <a:latin typeface="+mn-ea"/>
                <a:cs typeface="Times New Roman" pitchFamily="18" charset="0"/>
              </a:rPr>
              <a:t>标准输入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20547" y="1469467"/>
            <a:ext cx="7886700" cy="1591367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400"/>
              <a:t>input()</a:t>
            </a:r>
            <a:r>
              <a:rPr lang="zh-CN" altLang="en-US" sz="2400"/>
              <a:t>的调用格式：</a:t>
            </a:r>
            <a:r>
              <a:rPr lang="en-US" altLang="zh-CN" sz="2400" b="1">
                <a:solidFill>
                  <a:srgbClr val="0070C0"/>
                </a:solidFill>
              </a:rPr>
              <a:t>input([</a:t>
            </a:r>
            <a:r>
              <a:rPr lang="zh-CN" altLang="en-US" sz="2400" b="1">
                <a:solidFill>
                  <a:srgbClr val="0070C0"/>
                </a:solidFill>
              </a:rPr>
              <a:t>提示字符串</a:t>
            </a:r>
            <a:r>
              <a:rPr lang="en-US" altLang="zh-CN" sz="2400" b="1">
                <a:solidFill>
                  <a:srgbClr val="0070C0"/>
                </a:solidFill>
              </a:rPr>
              <a:t>])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800">
                <a:latin typeface="+mj-ea"/>
                <a:ea typeface="+mj-ea"/>
              </a:rPr>
              <a:t>不论用户输入什么内容，</a:t>
            </a:r>
            <a:r>
              <a:rPr lang="en-US" altLang="zh-CN" sz="1800" b="1">
                <a:solidFill>
                  <a:srgbClr val="FF0000"/>
                </a:solidFill>
                <a:latin typeface="+mj-ea"/>
                <a:ea typeface="+mj-ea"/>
              </a:rPr>
              <a:t>input()一律</a:t>
            </a:r>
            <a:r>
              <a:rPr lang="zh-CN" altLang="en-US" sz="1800" b="1">
                <a:solidFill>
                  <a:srgbClr val="FF0000"/>
                </a:solidFill>
                <a:latin typeface="+mj-ea"/>
                <a:ea typeface="+mj-ea"/>
              </a:rPr>
              <a:t>按</a:t>
            </a:r>
            <a:r>
              <a:rPr lang="en-US" altLang="zh-CN" sz="1800" b="1">
                <a:solidFill>
                  <a:srgbClr val="FF0000"/>
                </a:solidFill>
                <a:latin typeface="+mj-ea"/>
                <a:ea typeface="+mj-ea"/>
              </a:rPr>
              <a:t>字符串</a:t>
            </a:r>
            <a:r>
              <a:rPr lang="zh-CN" altLang="en-US" sz="1800" b="1">
                <a:solidFill>
                  <a:srgbClr val="FF0000"/>
                </a:solidFill>
                <a:latin typeface="+mj-ea"/>
                <a:ea typeface="+mj-ea"/>
              </a:rPr>
              <a:t>返回</a:t>
            </a:r>
            <a:endParaRPr lang="en-US" altLang="zh-CN" sz="1800" b="1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680" y="3090922"/>
            <a:ext cx="3621005" cy="15696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input('Please input: ')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input: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'123'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40413" y="3538361"/>
            <a:ext cx="65181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91680" y="5107146"/>
            <a:ext cx="3621005" cy="8309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x+2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TypeError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must be str, not int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57796" y="4747106"/>
            <a:ext cx="808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>
                <a:solidFill>
                  <a:srgbClr val="FF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6600" b="1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6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ym typeface="+mn-ea"/>
              </a:rPr>
              <a:t>2    </a:t>
            </a:r>
            <a:r>
              <a:rPr lang="en-US" altLang="zh-CN" sz="3600">
                <a:sym typeface="+mn-ea"/>
              </a:rPr>
              <a:t>int</a:t>
            </a:r>
            <a:r>
              <a:rPr lang="zh-CN" altLang="en-US" sz="3600">
                <a:sym typeface="+mn-ea"/>
              </a:rPr>
              <a:t>函数</a:t>
            </a:r>
            <a:endParaRPr lang="en-US" sz="36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72816"/>
            <a:ext cx="8364125" cy="8222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int(x)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将数字字符串或实数转为整数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3568" y="2852936"/>
            <a:ext cx="3068655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int('345')    </a:t>
            </a:r>
            <a:r>
              <a:rPr lang="en-US" altLang="zh-CN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#转换为整数</a:t>
            </a:r>
            <a:endParaRPr lang="en-US" altLang="zh-CN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345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88024" y="2852936"/>
            <a:ext cx="3528392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int( 123.45)    </a:t>
            </a:r>
            <a:r>
              <a:rPr lang="en-US" altLang="zh-CN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#转换为整数</a:t>
            </a:r>
            <a:endParaRPr lang="en-US" altLang="zh-CN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4B71FF-EDC5-4ACD-BD9C-B94DDD8E4832}"/>
              </a:ext>
            </a:extLst>
          </p:cNvPr>
          <p:cNvSpPr txBox="1"/>
          <p:nvPr/>
        </p:nvSpPr>
        <p:spPr>
          <a:xfrm>
            <a:off x="872455" y="4991450"/>
            <a:ext cx="2468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数学函数 </a:t>
            </a:r>
            <a:r>
              <a:rPr lang="en-US" altLang="zh-CN" dirty="0"/>
              <a:t>f(x) = 3 * x + 2</a:t>
            </a:r>
          </a:p>
          <a:p>
            <a:endParaRPr lang="en-US" altLang="zh-CN" dirty="0"/>
          </a:p>
          <a:p>
            <a:r>
              <a:rPr lang="en-US" altLang="zh-CN" dirty="0"/>
              <a:t>f(2) = 3 * 2 + 2 = 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36963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ym typeface="+mn-ea"/>
              </a:rPr>
              <a:t>2    </a:t>
            </a:r>
            <a:r>
              <a:rPr lang="en-US" altLang="zh-CN" sz="3600">
                <a:sym typeface="+mn-ea"/>
              </a:rPr>
              <a:t>i</a:t>
            </a:r>
            <a:r>
              <a:rPr lang="en-US" sz="3600">
                <a:sym typeface="+mn-ea"/>
              </a:rPr>
              <a:t>nt</a:t>
            </a:r>
            <a:r>
              <a:rPr lang="zh-CN" altLang="en-US" sz="3600">
                <a:sym typeface="+mn-ea"/>
              </a:rPr>
              <a:t>的应用</a:t>
            </a:r>
            <a:r>
              <a:rPr lang="en-US" altLang="zh-CN" sz="3600">
                <a:sym typeface="+mn-ea"/>
              </a:rPr>
              <a:t>-----</a:t>
            </a:r>
            <a:r>
              <a:rPr lang="zh-CN" altLang="en-US" sz="3600">
                <a:sym typeface="+mn-ea"/>
              </a:rPr>
              <a:t>将输入转为整数</a:t>
            </a:r>
            <a:endParaRPr lang="en-US" sz="360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23528" y="2282754"/>
            <a:ext cx="3999297" cy="175432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(input('Please input: '))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input: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x+2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93122" y="2790585"/>
            <a:ext cx="588623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75656" y="3367666"/>
            <a:ext cx="808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6600" b="1">
                <a:solidFill>
                  <a:srgbClr val="FF0000"/>
                </a:solidFill>
                <a:latin typeface="Bell MT" panose="02020503060305020303" pitchFamily="18" charset="0"/>
              </a:rPr>
              <a:t>√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220072" y="2537224"/>
            <a:ext cx="3528392" cy="792088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input('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请输入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 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</a:t>
            </a:r>
            <a:r>
              <a:rPr lang="en-US" altLang="zh-CN" sz="2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  <p:sp>
        <p:nvSpPr>
          <p:cNvPr id="12" name="矩形 11"/>
          <p:cNvSpPr/>
          <p:nvPr/>
        </p:nvSpPr>
        <p:spPr>
          <a:xfrm>
            <a:off x="6407550" y="2892902"/>
            <a:ext cx="588623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159970" y="4171164"/>
            <a:ext cx="3528392" cy="792088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int( x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59823" y="3460711"/>
            <a:ext cx="684075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/>
              <a:t>'123'</a:t>
            </a:r>
            <a:endParaRPr lang="zh-CN" altLang="en-US" sz="2000"/>
          </a:p>
        </p:txBody>
      </p:sp>
      <p:cxnSp>
        <p:nvCxnSpPr>
          <p:cNvPr id="15" name="曲线连接符 14"/>
          <p:cNvCxnSpPr/>
          <p:nvPr/>
        </p:nvCxnSpPr>
        <p:spPr>
          <a:xfrm rot="5400000">
            <a:off x="6450440" y="3780636"/>
            <a:ext cx="1083178" cy="4746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左右箭头 15"/>
          <p:cNvSpPr/>
          <p:nvPr/>
        </p:nvSpPr>
        <p:spPr>
          <a:xfrm>
            <a:off x="3995936" y="2714802"/>
            <a:ext cx="1164034" cy="360040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线形标注 1 16"/>
          <p:cNvSpPr/>
          <p:nvPr/>
        </p:nvSpPr>
        <p:spPr>
          <a:xfrm>
            <a:off x="919005" y="4716304"/>
            <a:ext cx="1868713" cy="936104"/>
          </a:xfrm>
          <a:prstGeom prst="borderCallout1">
            <a:avLst>
              <a:gd name="adj1" fmla="val 18750"/>
              <a:gd name="adj2" fmla="val -8333"/>
              <a:gd name="adj3" fmla="val -215307"/>
              <a:gd name="adj4" fmla="val 3620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将输入的数字字符串转为数字 </a:t>
            </a:r>
          </a:p>
        </p:txBody>
      </p:sp>
      <p:sp>
        <p:nvSpPr>
          <p:cNvPr id="18" name="矩形 17"/>
          <p:cNvSpPr/>
          <p:nvPr/>
        </p:nvSpPr>
        <p:spPr>
          <a:xfrm>
            <a:off x="5204165" y="5641631"/>
            <a:ext cx="3534929" cy="92333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x+2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曲线连接符 18"/>
          <p:cNvCxnSpPr/>
          <p:nvPr/>
        </p:nvCxnSpPr>
        <p:spPr>
          <a:xfrm rot="16200000" flipH="1">
            <a:off x="5261771" y="5204774"/>
            <a:ext cx="1080121" cy="27664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248697" y="1589905"/>
            <a:ext cx="8568732" cy="8222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可以使用内置函数</a:t>
            </a: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en-US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或eval</a:t>
            </a: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对用户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input()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的内容进行类型转换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5237527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sym typeface="+mn-ea"/>
              </a:rPr>
              <a:t>5  基本输出(</a:t>
            </a:r>
            <a:r>
              <a:rPr lang="zh-CN" altLang="en-US" sz="3200">
                <a:sym typeface="+mn-ea"/>
              </a:rPr>
              <a:t>简介，详见</a:t>
            </a:r>
            <a:r>
              <a:rPr lang="en-US" altLang="zh-CN" sz="3200">
                <a:sym typeface="+mn-ea"/>
              </a:rPr>
              <a:t>P44</a:t>
            </a:r>
            <a:r>
              <a:rPr lang="en-US" sz="3200">
                <a:sym typeface="+mn-ea"/>
              </a:rPr>
              <a:t>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436915"/>
            <a:ext cx="7886700" cy="5114610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1800" dirty="0" err="1">
                <a:latin typeface="+mn-ea"/>
              </a:rPr>
              <a:t>内置函数print</a:t>
            </a:r>
            <a:r>
              <a:rPr lang="en-US" sz="1800" dirty="0">
                <a:latin typeface="+mn-ea"/>
              </a:rPr>
              <a:t>()</a:t>
            </a:r>
            <a:r>
              <a:rPr lang="en-US" sz="1800" err="1">
                <a:latin typeface="+mn-ea"/>
              </a:rPr>
              <a:t>用于输出信息到标准控制台或指定文件</a:t>
            </a:r>
            <a:r>
              <a:rPr lang="en-US" sz="1800">
                <a:latin typeface="+mn-ea"/>
              </a:rPr>
              <a:t>，语法格式为</a:t>
            </a:r>
            <a:r>
              <a:rPr lang="en-US" sz="1800" dirty="0">
                <a:latin typeface="+mn-ea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+mn-ea"/>
              </a:rPr>
              <a:t>       print(value1</a:t>
            </a:r>
            <a:r>
              <a:rPr lang="en-US" sz="1800">
                <a:latin typeface="+mn-ea"/>
              </a:rPr>
              <a:t>, value2)</a:t>
            </a:r>
            <a:endParaRPr lang="en-US" sz="1800" dirty="0">
              <a:latin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+mn-ea"/>
            </a:endParaRPr>
          </a:p>
          <a:p>
            <a:pPr marL="72000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"/>
            </a:pPr>
            <a:r>
              <a:rPr lang="en-US" altLang="zh-CN" sz="1800">
                <a:latin typeface="+mn-ea"/>
              </a:rPr>
              <a:t>value1, value2, ...</a:t>
            </a:r>
            <a:r>
              <a:rPr lang="en-US" sz="1800">
                <a:latin typeface="+mn-ea"/>
              </a:rPr>
              <a:t>为需要输出的内容</a:t>
            </a:r>
            <a:r>
              <a:rPr lang="en-US" sz="1800" dirty="0" err="1">
                <a:latin typeface="+mn-ea"/>
              </a:rPr>
              <a:t>（可以有多个</a:t>
            </a:r>
            <a:r>
              <a:rPr lang="en-US" sz="1800" dirty="0">
                <a:latin typeface="+mn-ea"/>
              </a:rPr>
              <a:t>）；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dirty="0">
              <a:latin typeface="Consolas" panose="020B0609020204030204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print(1, 3, 5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, 7)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1 3 5 7				</a:t>
            </a:r>
            <a:r>
              <a:rPr lang="en-US" altLang="zh-CN" sz="18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#默认</a:t>
            </a:r>
            <a:r>
              <a:rPr lang="zh-CN" altLang="en-US" sz="18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用空格</a:t>
            </a:r>
            <a:r>
              <a:rPr lang="en-US" altLang="zh-CN" sz="18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</a:t>
            </a:r>
            <a:r>
              <a:rPr lang="zh-CN" altLang="en-US" sz="18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en-US" altLang="zh-CN" sz="180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81593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3578" y="264642"/>
            <a:ext cx="7886700" cy="106174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综合案例</a:t>
            </a:r>
            <a:r>
              <a:rPr lang="en-US" altLang="zh-CN" sz="3200" dirty="0"/>
              <a:t>4</a:t>
            </a:r>
            <a:r>
              <a:rPr lang="zh-CN" altLang="en-US" sz="3200" dirty="0"/>
              <a:t>：输入三角形边长</a:t>
            </a:r>
            <a:r>
              <a:rPr lang="zh-CN" altLang="en-US" sz="3200"/>
              <a:t>，求周长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579" y="1668025"/>
            <a:ext cx="8329454" cy="5034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=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=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= a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b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+ c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三角形的边长：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",a,b,c)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三角形的周长：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',s)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0054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1333</TotalTime>
  <Words>903</Words>
  <Application>Microsoft Office PowerPoint</Application>
  <PresentationFormat>全屏显示(4:3)</PresentationFormat>
  <Paragraphs>154</Paragraphs>
  <Slides>14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等线</vt:lpstr>
      <vt:lpstr>等线 Light</vt:lpstr>
      <vt:lpstr>宋体</vt:lpstr>
      <vt:lpstr>微软雅黑</vt:lpstr>
      <vt:lpstr>Arial</vt:lpstr>
      <vt:lpstr>Bell MT</vt:lpstr>
      <vt:lpstr>Bradley Hand ITC</vt:lpstr>
      <vt:lpstr>Calibri</vt:lpstr>
      <vt:lpstr>Calibri Light</vt:lpstr>
      <vt:lpstr>Consolas</vt:lpstr>
      <vt:lpstr>Wingdings</vt:lpstr>
      <vt:lpstr>Office 主题​​</vt:lpstr>
      <vt:lpstr>学写简单的python程序</vt:lpstr>
      <vt:lpstr>1  Python编程规范与代码优化建议</vt:lpstr>
      <vt:lpstr>1  Python编程规范与代码优化建议</vt:lpstr>
      <vt:lpstr>PowerPoint 演示文稿</vt:lpstr>
      <vt:lpstr> 2.2.2  Python语句缩进规则</vt:lpstr>
      <vt:lpstr>1  Python编程规范与代码优化建议</vt:lpstr>
      <vt:lpstr>1   Python编程规范与代码优化建议</vt:lpstr>
      <vt:lpstr>2    基本输入输出</vt:lpstr>
      <vt:lpstr>1．标准输入</vt:lpstr>
      <vt:lpstr>1．标准输入</vt:lpstr>
      <vt:lpstr>2    int函数</vt:lpstr>
      <vt:lpstr>2    int的应用-----将输入转为整数</vt:lpstr>
      <vt:lpstr>5  基本输出(简介，详见P44)</vt:lpstr>
      <vt:lpstr>综合案例4：输入三角形边长，求周长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hyhuang</dc:creator>
  <cp:lastModifiedBy>cyj</cp:lastModifiedBy>
  <cp:revision>64</cp:revision>
  <dcterms:created xsi:type="dcterms:W3CDTF">2019-09-17T15:07:59Z</dcterms:created>
  <dcterms:modified xsi:type="dcterms:W3CDTF">2024-09-03T15:12:23Z</dcterms:modified>
</cp:coreProperties>
</file>