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344" r:id="rId3"/>
    <p:sldId id="341" r:id="rId4"/>
    <p:sldId id="352" r:id="rId5"/>
    <p:sldId id="333" r:id="rId6"/>
    <p:sldId id="339" r:id="rId7"/>
    <p:sldId id="340" r:id="rId8"/>
    <p:sldId id="335" r:id="rId9"/>
    <p:sldId id="336" r:id="rId10"/>
    <p:sldId id="337" r:id="rId11"/>
    <p:sldId id="343" r:id="rId12"/>
    <p:sldId id="413" r:id="rId13"/>
    <p:sldId id="421" r:id="rId14"/>
    <p:sldId id="318" r:id="rId15"/>
    <p:sldId id="390" r:id="rId16"/>
    <p:sldId id="305" r:id="rId17"/>
    <p:sldId id="353" r:id="rId18"/>
    <p:sldId id="354" r:id="rId19"/>
    <p:sldId id="355" r:id="rId20"/>
    <p:sldId id="387" r:id="rId21"/>
    <p:sldId id="358" r:id="rId22"/>
    <p:sldId id="306" r:id="rId23"/>
    <p:sldId id="414" r:id="rId24"/>
    <p:sldId id="415" r:id="rId25"/>
    <p:sldId id="417" r:id="rId26"/>
    <p:sldId id="416" r:id="rId27"/>
    <p:sldId id="411" r:id="rId28"/>
    <p:sldId id="391" r:id="rId29"/>
    <p:sldId id="418" r:id="rId30"/>
    <p:sldId id="419" r:id="rId31"/>
    <p:sldId id="420" r:id="rId32"/>
    <p:sldId id="392" r:id="rId33"/>
    <p:sldId id="386" r:id="rId34"/>
    <p:sldId id="283"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5794"/>
    <a:srgbClr val="17385F"/>
    <a:srgbClr val="0033CC"/>
    <a:srgbClr val="000099"/>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56B210-BEF5-4469-84F5-9187F1F50458}"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zh-CN" altLang="en-US"/>
        </a:p>
      </dgm:t>
    </dgm:pt>
    <dgm:pt modelId="{418A953A-2F8F-498B-96A9-8E63BC1E1AE5}">
      <dgm:prSet phldrT="[文本]"/>
      <dgm:spPr/>
      <dgm:t>
        <a:bodyPr/>
        <a:lstStyle/>
        <a:p>
          <a:r>
            <a:rPr lang="zh-CN" altLang="en-US"/>
            <a:t>常见的类型</a:t>
          </a:r>
          <a:r>
            <a:rPr lang="en-US" altLang="zh-CN"/>
            <a:t>1</a:t>
          </a:r>
          <a:endParaRPr lang="zh-CN" altLang="en-US"/>
        </a:p>
      </dgm:t>
    </dgm:pt>
    <dgm:pt modelId="{897755FB-193B-42A4-9EF2-342944126697}" type="parTrans" cxnId="{BA3A3EFE-2F26-468B-BA76-50F0AC272513}">
      <dgm:prSet/>
      <dgm:spPr/>
      <dgm:t>
        <a:bodyPr/>
        <a:lstStyle/>
        <a:p>
          <a:endParaRPr lang="zh-CN" altLang="en-US"/>
        </a:p>
      </dgm:t>
    </dgm:pt>
    <dgm:pt modelId="{D9E63D4C-DF0F-45EC-8BF4-C9DE0BCE9C9F}" type="sibTrans" cxnId="{BA3A3EFE-2F26-468B-BA76-50F0AC272513}">
      <dgm:prSet/>
      <dgm:spPr/>
      <dgm:t>
        <a:bodyPr/>
        <a:lstStyle/>
        <a:p>
          <a:endParaRPr lang="zh-CN" altLang="en-US"/>
        </a:p>
      </dgm:t>
    </dgm:pt>
    <dgm:pt modelId="{8A66B090-03D5-4C79-9B2C-6129673A0F2B}">
      <dgm:prSet phldrT="[文本]"/>
      <dgm:spPr/>
      <dgm:t>
        <a:bodyPr/>
        <a:lstStyle/>
        <a:p>
          <a:r>
            <a:rPr lang="zh-CN" altLang="en-US"/>
            <a:t>整型</a:t>
          </a:r>
        </a:p>
      </dgm:t>
    </dgm:pt>
    <dgm:pt modelId="{27FD02E2-7CC4-48AB-9FE3-5BF572B3C985}" type="parTrans" cxnId="{16B20B14-D497-4196-9BB9-495FB228EDF2}">
      <dgm:prSet/>
      <dgm:spPr/>
      <dgm:t>
        <a:bodyPr/>
        <a:lstStyle/>
        <a:p>
          <a:endParaRPr lang="zh-CN" altLang="en-US"/>
        </a:p>
      </dgm:t>
    </dgm:pt>
    <dgm:pt modelId="{6E3795F3-EB82-43F3-9D1F-0455EEEDA494}" type="sibTrans" cxnId="{16B20B14-D497-4196-9BB9-495FB228EDF2}">
      <dgm:prSet/>
      <dgm:spPr/>
      <dgm:t>
        <a:bodyPr/>
        <a:lstStyle/>
        <a:p>
          <a:endParaRPr lang="zh-CN" altLang="en-US"/>
        </a:p>
      </dgm:t>
    </dgm:pt>
    <dgm:pt modelId="{6F81A1CC-6577-46E4-8E34-F34AE44E219E}">
      <dgm:prSet phldrT="[文本]"/>
      <dgm:spPr/>
      <dgm:t>
        <a:bodyPr/>
        <a:lstStyle/>
        <a:p>
          <a:r>
            <a:rPr lang="zh-CN" altLang="en-US"/>
            <a:t>实型</a:t>
          </a:r>
          <a:endParaRPr lang="en-US" altLang="zh-CN"/>
        </a:p>
        <a:p>
          <a:r>
            <a:rPr lang="zh-CN" altLang="en-US"/>
            <a:t>（或称浮点型）</a:t>
          </a:r>
        </a:p>
      </dgm:t>
    </dgm:pt>
    <dgm:pt modelId="{316CF4D7-7FDB-46D6-8DD3-81108B77D419}" type="parTrans" cxnId="{2248C5F1-CB7D-47E3-9D89-4C71AB6F8F7D}">
      <dgm:prSet/>
      <dgm:spPr/>
      <dgm:t>
        <a:bodyPr/>
        <a:lstStyle/>
        <a:p>
          <a:endParaRPr lang="zh-CN" altLang="en-US"/>
        </a:p>
      </dgm:t>
    </dgm:pt>
    <dgm:pt modelId="{E1D58435-0C85-4117-83FB-B2D782876E12}" type="sibTrans" cxnId="{2248C5F1-CB7D-47E3-9D89-4C71AB6F8F7D}">
      <dgm:prSet/>
      <dgm:spPr/>
      <dgm:t>
        <a:bodyPr/>
        <a:lstStyle/>
        <a:p>
          <a:endParaRPr lang="zh-CN" altLang="en-US"/>
        </a:p>
      </dgm:t>
    </dgm:pt>
    <dgm:pt modelId="{4BD84E2A-3963-4A23-AA67-586DF94A4C31}">
      <dgm:prSet phldrT="[文本]"/>
      <dgm:spPr/>
      <dgm:t>
        <a:bodyPr/>
        <a:lstStyle/>
        <a:p>
          <a:r>
            <a:rPr lang="zh-CN" altLang="en-US"/>
            <a:t>字符串型</a:t>
          </a:r>
        </a:p>
      </dgm:t>
    </dgm:pt>
    <dgm:pt modelId="{F3742EE2-5515-460D-B125-4BEB29752350}" type="parTrans" cxnId="{526F4D89-5263-4390-8A43-73B1065FBC87}">
      <dgm:prSet/>
      <dgm:spPr/>
      <dgm:t>
        <a:bodyPr/>
        <a:lstStyle/>
        <a:p>
          <a:endParaRPr lang="zh-CN" altLang="en-US"/>
        </a:p>
      </dgm:t>
    </dgm:pt>
    <dgm:pt modelId="{B040456D-51C7-4463-91F4-7B43A478765A}" type="sibTrans" cxnId="{526F4D89-5263-4390-8A43-73B1065FBC87}">
      <dgm:prSet/>
      <dgm:spPr/>
      <dgm:t>
        <a:bodyPr/>
        <a:lstStyle/>
        <a:p>
          <a:endParaRPr lang="zh-CN" altLang="en-US"/>
        </a:p>
      </dgm:t>
    </dgm:pt>
    <dgm:pt modelId="{A8974995-48CB-46EA-8B76-B87088541351}" type="pres">
      <dgm:prSet presAssocID="{7F56B210-BEF5-4469-84F5-9187F1F50458}" presName="hierChild1" presStyleCnt="0">
        <dgm:presLayoutVars>
          <dgm:orgChart val="1"/>
          <dgm:chPref val="1"/>
          <dgm:dir/>
          <dgm:animOne val="branch"/>
          <dgm:animLvl val="lvl"/>
          <dgm:resizeHandles/>
        </dgm:presLayoutVars>
      </dgm:prSet>
      <dgm:spPr/>
    </dgm:pt>
    <dgm:pt modelId="{5E08F393-1608-4837-8A8F-78F62877D183}" type="pres">
      <dgm:prSet presAssocID="{418A953A-2F8F-498B-96A9-8E63BC1E1AE5}" presName="hierRoot1" presStyleCnt="0">
        <dgm:presLayoutVars>
          <dgm:hierBranch val="init"/>
        </dgm:presLayoutVars>
      </dgm:prSet>
      <dgm:spPr/>
    </dgm:pt>
    <dgm:pt modelId="{2B3D8E0F-B90B-4E49-9B3E-9A1E0AB74A55}" type="pres">
      <dgm:prSet presAssocID="{418A953A-2F8F-498B-96A9-8E63BC1E1AE5}" presName="rootComposite1" presStyleCnt="0"/>
      <dgm:spPr/>
    </dgm:pt>
    <dgm:pt modelId="{9E61A450-2CC6-4108-B909-D38283ECBDE0}" type="pres">
      <dgm:prSet presAssocID="{418A953A-2F8F-498B-96A9-8E63BC1E1AE5}" presName="rootText1" presStyleLbl="node0" presStyleIdx="0" presStyleCnt="1">
        <dgm:presLayoutVars>
          <dgm:chPref val="3"/>
        </dgm:presLayoutVars>
      </dgm:prSet>
      <dgm:spPr/>
    </dgm:pt>
    <dgm:pt modelId="{9959E909-AC2D-49A0-9D39-EF20FF7E1213}" type="pres">
      <dgm:prSet presAssocID="{418A953A-2F8F-498B-96A9-8E63BC1E1AE5}" presName="rootConnector1" presStyleLbl="node1" presStyleIdx="0" presStyleCnt="0"/>
      <dgm:spPr/>
    </dgm:pt>
    <dgm:pt modelId="{6B05972F-A7D5-4D28-9C67-155390F1CECE}" type="pres">
      <dgm:prSet presAssocID="{418A953A-2F8F-498B-96A9-8E63BC1E1AE5}" presName="hierChild2" presStyleCnt="0"/>
      <dgm:spPr/>
    </dgm:pt>
    <dgm:pt modelId="{0D5F89A4-CD89-47EE-A3C2-E378519E895E}" type="pres">
      <dgm:prSet presAssocID="{27FD02E2-7CC4-48AB-9FE3-5BF572B3C985}" presName="Name37" presStyleLbl="parChTrans1D2" presStyleIdx="0" presStyleCnt="3"/>
      <dgm:spPr/>
    </dgm:pt>
    <dgm:pt modelId="{BEEA1FBD-ED93-4317-AE4A-0C0AD4E2CF12}" type="pres">
      <dgm:prSet presAssocID="{8A66B090-03D5-4C79-9B2C-6129673A0F2B}" presName="hierRoot2" presStyleCnt="0">
        <dgm:presLayoutVars>
          <dgm:hierBranch val="init"/>
        </dgm:presLayoutVars>
      </dgm:prSet>
      <dgm:spPr/>
    </dgm:pt>
    <dgm:pt modelId="{A18CEA84-A61E-4A77-9411-F40A991A087B}" type="pres">
      <dgm:prSet presAssocID="{8A66B090-03D5-4C79-9B2C-6129673A0F2B}" presName="rootComposite" presStyleCnt="0"/>
      <dgm:spPr/>
    </dgm:pt>
    <dgm:pt modelId="{E87EAB3C-E5A8-43E6-B403-EDF518A3BF9E}" type="pres">
      <dgm:prSet presAssocID="{8A66B090-03D5-4C79-9B2C-6129673A0F2B}" presName="rootText" presStyleLbl="node2" presStyleIdx="0" presStyleCnt="3">
        <dgm:presLayoutVars>
          <dgm:chPref val="3"/>
        </dgm:presLayoutVars>
      </dgm:prSet>
      <dgm:spPr/>
    </dgm:pt>
    <dgm:pt modelId="{A350EA91-9F5D-4972-AD31-BD7E5B425448}" type="pres">
      <dgm:prSet presAssocID="{8A66B090-03D5-4C79-9B2C-6129673A0F2B}" presName="rootConnector" presStyleLbl="node2" presStyleIdx="0" presStyleCnt="3"/>
      <dgm:spPr/>
    </dgm:pt>
    <dgm:pt modelId="{4CDD2739-C64D-44E4-A892-240D73B32A50}" type="pres">
      <dgm:prSet presAssocID="{8A66B090-03D5-4C79-9B2C-6129673A0F2B}" presName="hierChild4" presStyleCnt="0"/>
      <dgm:spPr/>
    </dgm:pt>
    <dgm:pt modelId="{31570794-EA11-4EA1-BC18-F927B02E1F93}" type="pres">
      <dgm:prSet presAssocID="{8A66B090-03D5-4C79-9B2C-6129673A0F2B}" presName="hierChild5" presStyleCnt="0"/>
      <dgm:spPr/>
    </dgm:pt>
    <dgm:pt modelId="{93268529-423F-471E-AC68-DD3B5DF744A5}" type="pres">
      <dgm:prSet presAssocID="{316CF4D7-7FDB-46D6-8DD3-81108B77D419}" presName="Name37" presStyleLbl="parChTrans1D2" presStyleIdx="1" presStyleCnt="3"/>
      <dgm:spPr/>
    </dgm:pt>
    <dgm:pt modelId="{628769AA-B326-4387-9669-E6BBA0E91DC7}" type="pres">
      <dgm:prSet presAssocID="{6F81A1CC-6577-46E4-8E34-F34AE44E219E}" presName="hierRoot2" presStyleCnt="0">
        <dgm:presLayoutVars>
          <dgm:hierBranch val="init"/>
        </dgm:presLayoutVars>
      </dgm:prSet>
      <dgm:spPr/>
    </dgm:pt>
    <dgm:pt modelId="{94CB26B1-7C95-42BB-8044-4EB2275A0490}" type="pres">
      <dgm:prSet presAssocID="{6F81A1CC-6577-46E4-8E34-F34AE44E219E}" presName="rootComposite" presStyleCnt="0"/>
      <dgm:spPr/>
    </dgm:pt>
    <dgm:pt modelId="{4C8E30F1-583B-4F06-9B24-EBC3FB386294}" type="pres">
      <dgm:prSet presAssocID="{6F81A1CC-6577-46E4-8E34-F34AE44E219E}" presName="rootText" presStyleLbl="node2" presStyleIdx="1" presStyleCnt="3">
        <dgm:presLayoutVars>
          <dgm:chPref val="3"/>
        </dgm:presLayoutVars>
      </dgm:prSet>
      <dgm:spPr/>
    </dgm:pt>
    <dgm:pt modelId="{2F9CC68F-8FBD-4B62-9532-F2E52E7DBAA2}" type="pres">
      <dgm:prSet presAssocID="{6F81A1CC-6577-46E4-8E34-F34AE44E219E}" presName="rootConnector" presStyleLbl="node2" presStyleIdx="1" presStyleCnt="3"/>
      <dgm:spPr/>
    </dgm:pt>
    <dgm:pt modelId="{B262F514-5425-4856-9AA8-B7709FD57A36}" type="pres">
      <dgm:prSet presAssocID="{6F81A1CC-6577-46E4-8E34-F34AE44E219E}" presName="hierChild4" presStyleCnt="0"/>
      <dgm:spPr/>
    </dgm:pt>
    <dgm:pt modelId="{427482B6-A961-4A8E-879E-9B642D4C9071}" type="pres">
      <dgm:prSet presAssocID="{6F81A1CC-6577-46E4-8E34-F34AE44E219E}" presName="hierChild5" presStyleCnt="0"/>
      <dgm:spPr/>
    </dgm:pt>
    <dgm:pt modelId="{575B9096-5398-45FD-BD03-00B9E9FAF534}" type="pres">
      <dgm:prSet presAssocID="{F3742EE2-5515-460D-B125-4BEB29752350}" presName="Name37" presStyleLbl="parChTrans1D2" presStyleIdx="2" presStyleCnt="3"/>
      <dgm:spPr/>
    </dgm:pt>
    <dgm:pt modelId="{6D7A0D0C-0C17-41AC-8147-1AC237D8A36B}" type="pres">
      <dgm:prSet presAssocID="{4BD84E2A-3963-4A23-AA67-586DF94A4C31}" presName="hierRoot2" presStyleCnt="0">
        <dgm:presLayoutVars>
          <dgm:hierBranch val="init"/>
        </dgm:presLayoutVars>
      </dgm:prSet>
      <dgm:spPr/>
    </dgm:pt>
    <dgm:pt modelId="{EBF2B7AB-DE82-4581-B4F6-BB0C4780C36A}" type="pres">
      <dgm:prSet presAssocID="{4BD84E2A-3963-4A23-AA67-586DF94A4C31}" presName="rootComposite" presStyleCnt="0"/>
      <dgm:spPr/>
    </dgm:pt>
    <dgm:pt modelId="{DB6DACD2-8DE4-4E6D-81E2-A0112BEF1C46}" type="pres">
      <dgm:prSet presAssocID="{4BD84E2A-3963-4A23-AA67-586DF94A4C31}" presName="rootText" presStyleLbl="node2" presStyleIdx="2" presStyleCnt="3">
        <dgm:presLayoutVars>
          <dgm:chPref val="3"/>
        </dgm:presLayoutVars>
      </dgm:prSet>
      <dgm:spPr/>
    </dgm:pt>
    <dgm:pt modelId="{A6810062-9E33-434E-BE78-E0D84F11AA56}" type="pres">
      <dgm:prSet presAssocID="{4BD84E2A-3963-4A23-AA67-586DF94A4C31}" presName="rootConnector" presStyleLbl="node2" presStyleIdx="2" presStyleCnt="3"/>
      <dgm:spPr/>
    </dgm:pt>
    <dgm:pt modelId="{C2E95BF5-DBD1-4251-BE7E-309406D687A7}" type="pres">
      <dgm:prSet presAssocID="{4BD84E2A-3963-4A23-AA67-586DF94A4C31}" presName="hierChild4" presStyleCnt="0"/>
      <dgm:spPr/>
    </dgm:pt>
    <dgm:pt modelId="{660B07F6-98AD-4A89-943C-3DD055F433E2}" type="pres">
      <dgm:prSet presAssocID="{4BD84E2A-3963-4A23-AA67-586DF94A4C31}" presName="hierChild5" presStyleCnt="0"/>
      <dgm:spPr/>
    </dgm:pt>
    <dgm:pt modelId="{9E4CFF4C-944E-4E00-83DF-476129FEEDD0}" type="pres">
      <dgm:prSet presAssocID="{418A953A-2F8F-498B-96A9-8E63BC1E1AE5}" presName="hierChild3" presStyleCnt="0"/>
      <dgm:spPr/>
    </dgm:pt>
  </dgm:ptLst>
  <dgm:cxnLst>
    <dgm:cxn modelId="{16B20B14-D497-4196-9BB9-495FB228EDF2}" srcId="{418A953A-2F8F-498B-96A9-8E63BC1E1AE5}" destId="{8A66B090-03D5-4C79-9B2C-6129673A0F2B}" srcOrd="0" destOrd="0" parTransId="{27FD02E2-7CC4-48AB-9FE3-5BF572B3C985}" sibTransId="{6E3795F3-EB82-43F3-9D1F-0455EEEDA494}"/>
    <dgm:cxn modelId="{F670CB20-C284-41DB-88CA-63D4102FDB83}" type="presOf" srcId="{F3742EE2-5515-460D-B125-4BEB29752350}" destId="{575B9096-5398-45FD-BD03-00B9E9FAF534}" srcOrd="0" destOrd="0" presId="urn:microsoft.com/office/officeart/2005/8/layout/orgChart1"/>
    <dgm:cxn modelId="{1CD8E92E-CFDE-443C-8534-5E2C4C3295CC}" type="presOf" srcId="{27FD02E2-7CC4-48AB-9FE3-5BF572B3C985}" destId="{0D5F89A4-CD89-47EE-A3C2-E378519E895E}" srcOrd="0" destOrd="0" presId="urn:microsoft.com/office/officeart/2005/8/layout/orgChart1"/>
    <dgm:cxn modelId="{D251DD48-AD34-44A8-814D-8DAEE34D50FE}" type="presOf" srcId="{418A953A-2F8F-498B-96A9-8E63BC1E1AE5}" destId="{9959E909-AC2D-49A0-9D39-EF20FF7E1213}" srcOrd="1" destOrd="0" presId="urn:microsoft.com/office/officeart/2005/8/layout/orgChart1"/>
    <dgm:cxn modelId="{8995814A-D1D1-41FE-8CD0-3B4108BE64D4}" type="presOf" srcId="{4BD84E2A-3963-4A23-AA67-586DF94A4C31}" destId="{A6810062-9E33-434E-BE78-E0D84F11AA56}" srcOrd="1" destOrd="0" presId="urn:microsoft.com/office/officeart/2005/8/layout/orgChart1"/>
    <dgm:cxn modelId="{C4F4305A-75B6-4842-92F7-FF27E31981A1}" type="presOf" srcId="{4BD84E2A-3963-4A23-AA67-586DF94A4C31}" destId="{DB6DACD2-8DE4-4E6D-81E2-A0112BEF1C46}" srcOrd="0" destOrd="0" presId="urn:microsoft.com/office/officeart/2005/8/layout/orgChart1"/>
    <dgm:cxn modelId="{577B7F82-3855-4129-816D-E812033C54B5}" type="presOf" srcId="{6F81A1CC-6577-46E4-8E34-F34AE44E219E}" destId="{2F9CC68F-8FBD-4B62-9532-F2E52E7DBAA2}" srcOrd="1" destOrd="0" presId="urn:microsoft.com/office/officeart/2005/8/layout/orgChart1"/>
    <dgm:cxn modelId="{526F4D89-5263-4390-8A43-73B1065FBC87}" srcId="{418A953A-2F8F-498B-96A9-8E63BC1E1AE5}" destId="{4BD84E2A-3963-4A23-AA67-586DF94A4C31}" srcOrd="2" destOrd="0" parTransId="{F3742EE2-5515-460D-B125-4BEB29752350}" sibTransId="{B040456D-51C7-4463-91F4-7B43A478765A}"/>
    <dgm:cxn modelId="{E48DEE8F-1FC3-44B3-8C73-66CDBB029CD3}" type="presOf" srcId="{418A953A-2F8F-498B-96A9-8E63BC1E1AE5}" destId="{9E61A450-2CC6-4108-B909-D38283ECBDE0}" srcOrd="0" destOrd="0" presId="urn:microsoft.com/office/officeart/2005/8/layout/orgChart1"/>
    <dgm:cxn modelId="{A4DE72AE-D44C-43C0-BBB0-EF5E1D487BAC}" type="presOf" srcId="{7F56B210-BEF5-4469-84F5-9187F1F50458}" destId="{A8974995-48CB-46EA-8B76-B87088541351}" srcOrd="0" destOrd="0" presId="urn:microsoft.com/office/officeart/2005/8/layout/orgChart1"/>
    <dgm:cxn modelId="{B2F132CE-08DE-44A0-970F-8DFE0751877B}" type="presOf" srcId="{316CF4D7-7FDB-46D6-8DD3-81108B77D419}" destId="{93268529-423F-471E-AC68-DD3B5DF744A5}" srcOrd="0" destOrd="0" presId="urn:microsoft.com/office/officeart/2005/8/layout/orgChart1"/>
    <dgm:cxn modelId="{8294B3D4-B0D8-4E33-A793-56889A0F73C9}" type="presOf" srcId="{8A66B090-03D5-4C79-9B2C-6129673A0F2B}" destId="{A350EA91-9F5D-4972-AD31-BD7E5B425448}" srcOrd="1" destOrd="0" presId="urn:microsoft.com/office/officeart/2005/8/layout/orgChart1"/>
    <dgm:cxn modelId="{21459DED-251F-43E1-842C-94469F201EEC}" type="presOf" srcId="{8A66B090-03D5-4C79-9B2C-6129673A0F2B}" destId="{E87EAB3C-E5A8-43E6-B403-EDF518A3BF9E}" srcOrd="0" destOrd="0" presId="urn:microsoft.com/office/officeart/2005/8/layout/orgChart1"/>
    <dgm:cxn modelId="{2248C5F1-CB7D-47E3-9D89-4C71AB6F8F7D}" srcId="{418A953A-2F8F-498B-96A9-8E63BC1E1AE5}" destId="{6F81A1CC-6577-46E4-8E34-F34AE44E219E}" srcOrd="1" destOrd="0" parTransId="{316CF4D7-7FDB-46D6-8DD3-81108B77D419}" sibTransId="{E1D58435-0C85-4117-83FB-B2D782876E12}"/>
    <dgm:cxn modelId="{12FE1EFD-2695-48EB-913B-9DD6FE80F8D5}" type="presOf" srcId="{6F81A1CC-6577-46E4-8E34-F34AE44E219E}" destId="{4C8E30F1-583B-4F06-9B24-EBC3FB386294}" srcOrd="0" destOrd="0" presId="urn:microsoft.com/office/officeart/2005/8/layout/orgChart1"/>
    <dgm:cxn modelId="{BA3A3EFE-2F26-468B-BA76-50F0AC272513}" srcId="{7F56B210-BEF5-4469-84F5-9187F1F50458}" destId="{418A953A-2F8F-498B-96A9-8E63BC1E1AE5}" srcOrd="0" destOrd="0" parTransId="{897755FB-193B-42A4-9EF2-342944126697}" sibTransId="{D9E63D4C-DF0F-45EC-8BF4-C9DE0BCE9C9F}"/>
    <dgm:cxn modelId="{870FC65A-C792-4C60-83D4-6EC6A9CB350A}" type="presParOf" srcId="{A8974995-48CB-46EA-8B76-B87088541351}" destId="{5E08F393-1608-4837-8A8F-78F62877D183}" srcOrd="0" destOrd="0" presId="urn:microsoft.com/office/officeart/2005/8/layout/orgChart1"/>
    <dgm:cxn modelId="{D6D13C89-94F2-407B-A35D-691EC7F34D61}" type="presParOf" srcId="{5E08F393-1608-4837-8A8F-78F62877D183}" destId="{2B3D8E0F-B90B-4E49-9B3E-9A1E0AB74A55}" srcOrd="0" destOrd="0" presId="urn:microsoft.com/office/officeart/2005/8/layout/orgChart1"/>
    <dgm:cxn modelId="{B1D57640-B290-4ABB-8E65-01C0FDC4934F}" type="presParOf" srcId="{2B3D8E0F-B90B-4E49-9B3E-9A1E0AB74A55}" destId="{9E61A450-2CC6-4108-B909-D38283ECBDE0}" srcOrd="0" destOrd="0" presId="urn:microsoft.com/office/officeart/2005/8/layout/orgChart1"/>
    <dgm:cxn modelId="{DE192BD7-17C9-450E-BC95-4A88153D7610}" type="presParOf" srcId="{2B3D8E0F-B90B-4E49-9B3E-9A1E0AB74A55}" destId="{9959E909-AC2D-49A0-9D39-EF20FF7E1213}" srcOrd="1" destOrd="0" presId="urn:microsoft.com/office/officeart/2005/8/layout/orgChart1"/>
    <dgm:cxn modelId="{BF2F7C4A-A26E-4A37-B8AD-0AE866D6CA1A}" type="presParOf" srcId="{5E08F393-1608-4837-8A8F-78F62877D183}" destId="{6B05972F-A7D5-4D28-9C67-155390F1CECE}" srcOrd="1" destOrd="0" presId="urn:microsoft.com/office/officeart/2005/8/layout/orgChart1"/>
    <dgm:cxn modelId="{2B8BFB51-2D06-4F2C-B692-AE89DBF45A32}" type="presParOf" srcId="{6B05972F-A7D5-4D28-9C67-155390F1CECE}" destId="{0D5F89A4-CD89-47EE-A3C2-E378519E895E}" srcOrd="0" destOrd="0" presId="urn:microsoft.com/office/officeart/2005/8/layout/orgChart1"/>
    <dgm:cxn modelId="{A75A5982-752F-4A68-8BBD-FBF674437886}" type="presParOf" srcId="{6B05972F-A7D5-4D28-9C67-155390F1CECE}" destId="{BEEA1FBD-ED93-4317-AE4A-0C0AD4E2CF12}" srcOrd="1" destOrd="0" presId="urn:microsoft.com/office/officeart/2005/8/layout/orgChart1"/>
    <dgm:cxn modelId="{98BD435A-0181-425C-901D-AB4202638EA2}" type="presParOf" srcId="{BEEA1FBD-ED93-4317-AE4A-0C0AD4E2CF12}" destId="{A18CEA84-A61E-4A77-9411-F40A991A087B}" srcOrd="0" destOrd="0" presId="urn:microsoft.com/office/officeart/2005/8/layout/orgChart1"/>
    <dgm:cxn modelId="{CACFFCBF-C57D-41FE-81B8-999600F416D3}" type="presParOf" srcId="{A18CEA84-A61E-4A77-9411-F40A991A087B}" destId="{E87EAB3C-E5A8-43E6-B403-EDF518A3BF9E}" srcOrd="0" destOrd="0" presId="urn:microsoft.com/office/officeart/2005/8/layout/orgChart1"/>
    <dgm:cxn modelId="{5F388B6E-1A9A-4969-B5E7-7BB8E744CD82}" type="presParOf" srcId="{A18CEA84-A61E-4A77-9411-F40A991A087B}" destId="{A350EA91-9F5D-4972-AD31-BD7E5B425448}" srcOrd="1" destOrd="0" presId="urn:microsoft.com/office/officeart/2005/8/layout/orgChart1"/>
    <dgm:cxn modelId="{FE811576-9554-4DAA-A970-65B30AD85639}" type="presParOf" srcId="{BEEA1FBD-ED93-4317-AE4A-0C0AD4E2CF12}" destId="{4CDD2739-C64D-44E4-A892-240D73B32A50}" srcOrd="1" destOrd="0" presId="urn:microsoft.com/office/officeart/2005/8/layout/orgChart1"/>
    <dgm:cxn modelId="{DED28BAF-8E86-4E3D-90BD-86FDF0D99FFC}" type="presParOf" srcId="{BEEA1FBD-ED93-4317-AE4A-0C0AD4E2CF12}" destId="{31570794-EA11-4EA1-BC18-F927B02E1F93}" srcOrd="2" destOrd="0" presId="urn:microsoft.com/office/officeart/2005/8/layout/orgChart1"/>
    <dgm:cxn modelId="{B55B46B8-3CCD-49EF-A8DA-5B5B7BEA6553}" type="presParOf" srcId="{6B05972F-A7D5-4D28-9C67-155390F1CECE}" destId="{93268529-423F-471E-AC68-DD3B5DF744A5}" srcOrd="2" destOrd="0" presId="urn:microsoft.com/office/officeart/2005/8/layout/orgChart1"/>
    <dgm:cxn modelId="{7CA34C4C-6243-4ABF-AB32-F96296B5131E}" type="presParOf" srcId="{6B05972F-A7D5-4D28-9C67-155390F1CECE}" destId="{628769AA-B326-4387-9669-E6BBA0E91DC7}" srcOrd="3" destOrd="0" presId="urn:microsoft.com/office/officeart/2005/8/layout/orgChart1"/>
    <dgm:cxn modelId="{1370495F-60BD-4263-8E52-A35CB29910A5}" type="presParOf" srcId="{628769AA-B326-4387-9669-E6BBA0E91DC7}" destId="{94CB26B1-7C95-42BB-8044-4EB2275A0490}" srcOrd="0" destOrd="0" presId="urn:microsoft.com/office/officeart/2005/8/layout/orgChart1"/>
    <dgm:cxn modelId="{7FCB3F76-D50F-4B59-8AF4-19753491D58A}" type="presParOf" srcId="{94CB26B1-7C95-42BB-8044-4EB2275A0490}" destId="{4C8E30F1-583B-4F06-9B24-EBC3FB386294}" srcOrd="0" destOrd="0" presId="urn:microsoft.com/office/officeart/2005/8/layout/orgChart1"/>
    <dgm:cxn modelId="{7690B5BE-5735-4178-A063-4AD4EAA35F33}" type="presParOf" srcId="{94CB26B1-7C95-42BB-8044-4EB2275A0490}" destId="{2F9CC68F-8FBD-4B62-9532-F2E52E7DBAA2}" srcOrd="1" destOrd="0" presId="urn:microsoft.com/office/officeart/2005/8/layout/orgChart1"/>
    <dgm:cxn modelId="{3F9E702C-0283-4E92-B7F9-68D00F6D249E}" type="presParOf" srcId="{628769AA-B326-4387-9669-E6BBA0E91DC7}" destId="{B262F514-5425-4856-9AA8-B7709FD57A36}" srcOrd="1" destOrd="0" presId="urn:microsoft.com/office/officeart/2005/8/layout/orgChart1"/>
    <dgm:cxn modelId="{74A24079-8B75-498F-8DFD-5614D1AAC83A}" type="presParOf" srcId="{628769AA-B326-4387-9669-E6BBA0E91DC7}" destId="{427482B6-A961-4A8E-879E-9B642D4C9071}" srcOrd="2" destOrd="0" presId="urn:microsoft.com/office/officeart/2005/8/layout/orgChart1"/>
    <dgm:cxn modelId="{DE43E82A-8870-4893-8A4E-7C97B778EB73}" type="presParOf" srcId="{6B05972F-A7D5-4D28-9C67-155390F1CECE}" destId="{575B9096-5398-45FD-BD03-00B9E9FAF534}" srcOrd="4" destOrd="0" presId="urn:microsoft.com/office/officeart/2005/8/layout/orgChart1"/>
    <dgm:cxn modelId="{8F6BA9FD-BA74-4A69-AD12-2D5A25470A54}" type="presParOf" srcId="{6B05972F-A7D5-4D28-9C67-155390F1CECE}" destId="{6D7A0D0C-0C17-41AC-8147-1AC237D8A36B}" srcOrd="5" destOrd="0" presId="urn:microsoft.com/office/officeart/2005/8/layout/orgChart1"/>
    <dgm:cxn modelId="{04A52634-F2D2-4E4E-B551-78E44C401B6B}" type="presParOf" srcId="{6D7A0D0C-0C17-41AC-8147-1AC237D8A36B}" destId="{EBF2B7AB-DE82-4581-B4F6-BB0C4780C36A}" srcOrd="0" destOrd="0" presId="urn:microsoft.com/office/officeart/2005/8/layout/orgChart1"/>
    <dgm:cxn modelId="{8CE758B8-0960-4B06-8147-16930A4771F7}" type="presParOf" srcId="{EBF2B7AB-DE82-4581-B4F6-BB0C4780C36A}" destId="{DB6DACD2-8DE4-4E6D-81E2-A0112BEF1C46}" srcOrd="0" destOrd="0" presId="urn:microsoft.com/office/officeart/2005/8/layout/orgChart1"/>
    <dgm:cxn modelId="{954643E2-4D46-4C32-8FDE-6C79D4861C04}" type="presParOf" srcId="{EBF2B7AB-DE82-4581-B4F6-BB0C4780C36A}" destId="{A6810062-9E33-434E-BE78-E0D84F11AA56}" srcOrd="1" destOrd="0" presId="urn:microsoft.com/office/officeart/2005/8/layout/orgChart1"/>
    <dgm:cxn modelId="{29C0C5DF-C103-4B88-9F07-FFBB36833146}" type="presParOf" srcId="{6D7A0D0C-0C17-41AC-8147-1AC237D8A36B}" destId="{C2E95BF5-DBD1-4251-BE7E-309406D687A7}" srcOrd="1" destOrd="0" presId="urn:microsoft.com/office/officeart/2005/8/layout/orgChart1"/>
    <dgm:cxn modelId="{2E1F5387-1D4F-4330-B2A3-DD7AD5666C25}" type="presParOf" srcId="{6D7A0D0C-0C17-41AC-8147-1AC237D8A36B}" destId="{660B07F6-98AD-4A89-943C-3DD055F433E2}" srcOrd="2" destOrd="0" presId="urn:microsoft.com/office/officeart/2005/8/layout/orgChart1"/>
    <dgm:cxn modelId="{ECB26C34-DD3F-4A58-B76D-85DFE07F3A1E}" type="presParOf" srcId="{5E08F393-1608-4837-8A8F-78F62877D183}" destId="{9E4CFF4C-944E-4E00-83DF-476129FEEDD0}"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5B9096-5398-45FD-BD03-00B9E9FAF534}">
      <dsp:nvSpPr>
        <dsp:cNvPr id="0" name=""/>
        <dsp:cNvSpPr/>
      </dsp:nvSpPr>
      <dsp:spPr>
        <a:xfrm>
          <a:off x="2484276" y="1359645"/>
          <a:ext cx="1757643" cy="305045"/>
        </a:xfrm>
        <a:custGeom>
          <a:avLst/>
          <a:gdLst/>
          <a:ahLst/>
          <a:cxnLst/>
          <a:rect l="0" t="0" r="0" b="0"/>
          <a:pathLst>
            <a:path>
              <a:moveTo>
                <a:pt x="0" y="0"/>
              </a:moveTo>
              <a:lnTo>
                <a:pt x="0" y="152522"/>
              </a:lnTo>
              <a:lnTo>
                <a:pt x="1757643" y="152522"/>
              </a:lnTo>
              <a:lnTo>
                <a:pt x="1757643" y="3050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268529-423F-471E-AC68-DD3B5DF744A5}">
      <dsp:nvSpPr>
        <dsp:cNvPr id="0" name=""/>
        <dsp:cNvSpPr/>
      </dsp:nvSpPr>
      <dsp:spPr>
        <a:xfrm>
          <a:off x="2438556" y="1359645"/>
          <a:ext cx="91440" cy="305045"/>
        </a:xfrm>
        <a:custGeom>
          <a:avLst/>
          <a:gdLst/>
          <a:ahLst/>
          <a:cxnLst/>
          <a:rect l="0" t="0" r="0" b="0"/>
          <a:pathLst>
            <a:path>
              <a:moveTo>
                <a:pt x="45720" y="0"/>
              </a:moveTo>
              <a:lnTo>
                <a:pt x="45720" y="3050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5F89A4-CD89-47EE-A3C2-E378519E895E}">
      <dsp:nvSpPr>
        <dsp:cNvPr id="0" name=""/>
        <dsp:cNvSpPr/>
      </dsp:nvSpPr>
      <dsp:spPr>
        <a:xfrm>
          <a:off x="726632" y="1359645"/>
          <a:ext cx="1757643" cy="305045"/>
        </a:xfrm>
        <a:custGeom>
          <a:avLst/>
          <a:gdLst/>
          <a:ahLst/>
          <a:cxnLst/>
          <a:rect l="0" t="0" r="0" b="0"/>
          <a:pathLst>
            <a:path>
              <a:moveTo>
                <a:pt x="1757643" y="0"/>
              </a:moveTo>
              <a:lnTo>
                <a:pt x="1757643" y="152522"/>
              </a:lnTo>
              <a:lnTo>
                <a:pt x="0" y="152522"/>
              </a:lnTo>
              <a:lnTo>
                <a:pt x="0" y="305045"/>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61A450-2CC6-4108-B909-D38283ECBDE0}">
      <dsp:nvSpPr>
        <dsp:cNvPr id="0" name=""/>
        <dsp:cNvSpPr/>
      </dsp:nvSpPr>
      <dsp:spPr>
        <a:xfrm>
          <a:off x="1757977" y="633346"/>
          <a:ext cx="1452597" cy="7262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a:t>常见的类型</a:t>
          </a:r>
          <a:r>
            <a:rPr lang="en-US" altLang="zh-CN" sz="1800" kern="1200"/>
            <a:t>1</a:t>
          </a:r>
          <a:endParaRPr lang="zh-CN" altLang="en-US" sz="1800" kern="1200"/>
        </a:p>
      </dsp:txBody>
      <dsp:txXfrm>
        <a:off x="1757977" y="633346"/>
        <a:ext cx="1452597" cy="726298"/>
      </dsp:txXfrm>
    </dsp:sp>
    <dsp:sp modelId="{E87EAB3C-E5A8-43E6-B403-EDF518A3BF9E}">
      <dsp:nvSpPr>
        <dsp:cNvPr id="0" name=""/>
        <dsp:cNvSpPr/>
      </dsp:nvSpPr>
      <dsp:spPr>
        <a:xfrm>
          <a:off x="333" y="1664690"/>
          <a:ext cx="1452597" cy="7262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a:t>整型</a:t>
          </a:r>
        </a:p>
      </dsp:txBody>
      <dsp:txXfrm>
        <a:off x="333" y="1664690"/>
        <a:ext cx="1452597" cy="726298"/>
      </dsp:txXfrm>
    </dsp:sp>
    <dsp:sp modelId="{4C8E30F1-583B-4F06-9B24-EBC3FB386294}">
      <dsp:nvSpPr>
        <dsp:cNvPr id="0" name=""/>
        <dsp:cNvSpPr/>
      </dsp:nvSpPr>
      <dsp:spPr>
        <a:xfrm>
          <a:off x="1757977" y="1664690"/>
          <a:ext cx="1452597" cy="7262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a:t>实型</a:t>
          </a:r>
          <a:endParaRPr lang="en-US" altLang="zh-CN" sz="1800" kern="1200"/>
        </a:p>
        <a:p>
          <a:pPr marL="0" lvl="0" indent="0" algn="ctr" defTabSz="800100">
            <a:lnSpc>
              <a:spcPct val="90000"/>
            </a:lnSpc>
            <a:spcBef>
              <a:spcPct val="0"/>
            </a:spcBef>
            <a:spcAft>
              <a:spcPct val="35000"/>
            </a:spcAft>
            <a:buNone/>
          </a:pPr>
          <a:r>
            <a:rPr lang="zh-CN" altLang="en-US" sz="1800" kern="1200"/>
            <a:t>（或称浮点型）</a:t>
          </a:r>
        </a:p>
      </dsp:txBody>
      <dsp:txXfrm>
        <a:off x="1757977" y="1664690"/>
        <a:ext cx="1452597" cy="726298"/>
      </dsp:txXfrm>
    </dsp:sp>
    <dsp:sp modelId="{DB6DACD2-8DE4-4E6D-81E2-A0112BEF1C46}">
      <dsp:nvSpPr>
        <dsp:cNvPr id="0" name=""/>
        <dsp:cNvSpPr/>
      </dsp:nvSpPr>
      <dsp:spPr>
        <a:xfrm>
          <a:off x="3515620" y="1664690"/>
          <a:ext cx="1452597" cy="72629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a:t>字符串型</a:t>
          </a:r>
        </a:p>
      </dsp:txBody>
      <dsp:txXfrm>
        <a:off x="3515620" y="1664690"/>
        <a:ext cx="1452597" cy="72629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7E34C-A787-48CA-84F7-BFE5D221AB46}" type="datetimeFigureOut">
              <a:rPr lang="zh-CN" altLang="en-US" smtClean="0"/>
              <a:t>2024/9/10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B1D08E-0BC7-4D68-9E2D-B226E57CB297}" type="slidenum">
              <a:rPr lang="zh-CN" altLang="en-US" smtClean="0"/>
              <a:t>‹#›</a:t>
            </a:fld>
            <a:endParaRPr lang="zh-CN" altLang="en-US"/>
          </a:p>
        </p:txBody>
      </p:sp>
    </p:spTree>
    <p:extLst>
      <p:ext uri="{BB962C8B-B14F-4D97-AF65-F5344CB8AC3E}">
        <p14:creationId xmlns:p14="http://schemas.microsoft.com/office/powerpoint/2010/main" val="1111721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AB1D08E-0BC7-4D68-9E2D-B226E57CB297}" type="slidenum">
              <a:rPr lang="zh-CN" altLang="en-US" smtClean="0"/>
              <a:t>3</a:t>
            </a:fld>
            <a:endParaRPr lang="zh-CN" altLang="en-US"/>
          </a:p>
        </p:txBody>
      </p:sp>
    </p:spTree>
    <p:extLst>
      <p:ext uri="{BB962C8B-B14F-4D97-AF65-F5344CB8AC3E}">
        <p14:creationId xmlns:p14="http://schemas.microsoft.com/office/powerpoint/2010/main" val="639131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en-US" altLang="zh-CN" sz="1200" b="1"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D4257058-AB59-4804-A209-B746CC36A914}" type="slidenum">
              <a:rPr lang="zh-CN" altLang="en-US" smtClean="0"/>
              <a:t>5</a:t>
            </a:fld>
            <a:endParaRPr lang="zh-CN" altLang="en-US"/>
          </a:p>
        </p:txBody>
      </p:sp>
    </p:spTree>
    <p:extLst>
      <p:ext uri="{BB962C8B-B14F-4D97-AF65-F5344CB8AC3E}">
        <p14:creationId xmlns:p14="http://schemas.microsoft.com/office/powerpoint/2010/main" val="58979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2024/9/10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7" name="矩形 9"/>
          <p:cNvSpPr>
            <a:spLocks noChangeArrowheads="1"/>
          </p:cNvSpPr>
          <p:nvPr userDrawn="1"/>
        </p:nvSpPr>
        <p:spPr bwMode="auto">
          <a:xfrm>
            <a:off x="305594" y="3325813"/>
            <a:ext cx="8532812" cy="230187"/>
          </a:xfrm>
          <a:prstGeom prst="rect">
            <a:avLst/>
          </a:prstGeom>
          <a:gradFill rotWithShape="1">
            <a:gsLst>
              <a:gs pos="0">
                <a:srgbClr val="B6DDE7"/>
              </a:gs>
              <a:gs pos="39998">
                <a:srgbClr val="DAEEF3"/>
              </a:gs>
              <a:gs pos="70000">
                <a:srgbClr val="FFFFFF"/>
              </a:gs>
              <a:gs pos="100000">
                <a:srgbClr val="FFFFFF"/>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eaLnBrk="1" hangingPunct="1"/>
            <a:endParaRPr lang="zh-CN" altLang="zh-CN">
              <a:solidFill>
                <a:srgbClr val="FFFFFF"/>
              </a:solidFill>
              <a:latin typeface="宋体" pitchFamily="2" charset="-122"/>
              <a:sym typeface="宋体" pitchFamily="2" charset="-122"/>
            </a:endParaRPr>
          </a:p>
        </p:txBody>
      </p:sp>
    </p:spTree>
    <p:extLst>
      <p:ext uri="{BB962C8B-B14F-4D97-AF65-F5344CB8AC3E}">
        <p14:creationId xmlns:p14="http://schemas.microsoft.com/office/powerpoint/2010/main" val="27388140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2024/9/10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
        <p:nvSpPr>
          <p:cNvPr id="9" name="矩形 9"/>
          <p:cNvSpPr>
            <a:spLocks noChangeArrowheads="1"/>
          </p:cNvSpPr>
          <p:nvPr userDrawn="1"/>
        </p:nvSpPr>
        <p:spPr bwMode="auto">
          <a:xfrm>
            <a:off x="159510" y="1505744"/>
            <a:ext cx="8532812" cy="230187"/>
          </a:xfrm>
          <a:prstGeom prst="rect">
            <a:avLst/>
          </a:prstGeom>
          <a:gradFill rotWithShape="1">
            <a:gsLst>
              <a:gs pos="0">
                <a:srgbClr val="B6DDE7"/>
              </a:gs>
              <a:gs pos="39998">
                <a:srgbClr val="DAEEF3"/>
              </a:gs>
              <a:gs pos="70000">
                <a:srgbClr val="FFFFFF"/>
              </a:gs>
              <a:gs pos="100000">
                <a:srgbClr val="FFFFFF"/>
              </a:gs>
            </a:gsLst>
            <a:lin ang="18900000" scaled="1"/>
          </a:gra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buFont typeface="Arial" charset="0"/>
              <a:defRPr>
                <a:solidFill>
                  <a:schemeClr val="tx1"/>
                </a:solidFill>
                <a:latin typeface="Arial" charset="0"/>
                <a:ea typeface="宋体" pitchFamily="2" charset="-122"/>
              </a:defRPr>
            </a:lvl6pPr>
            <a:lvl7pPr marL="2971800" indent="-228600" eaLnBrk="0" fontAlgn="base" hangingPunct="0">
              <a:spcBef>
                <a:spcPct val="0"/>
              </a:spcBef>
              <a:spcAft>
                <a:spcPct val="0"/>
              </a:spcAft>
              <a:buFont typeface="Arial" charset="0"/>
              <a:defRPr>
                <a:solidFill>
                  <a:schemeClr val="tx1"/>
                </a:solidFill>
                <a:latin typeface="Arial" charset="0"/>
                <a:ea typeface="宋体" pitchFamily="2" charset="-122"/>
              </a:defRPr>
            </a:lvl7pPr>
            <a:lvl8pPr marL="3429000" indent="-228600" eaLnBrk="0" fontAlgn="base" hangingPunct="0">
              <a:spcBef>
                <a:spcPct val="0"/>
              </a:spcBef>
              <a:spcAft>
                <a:spcPct val="0"/>
              </a:spcAft>
              <a:buFont typeface="Arial" charset="0"/>
              <a:defRPr>
                <a:solidFill>
                  <a:schemeClr val="tx1"/>
                </a:solidFill>
                <a:latin typeface="Arial" charset="0"/>
                <a:ea typeface="宋体" pitchFamily="2" charset="-122"/>
              </a:defRPr>
            </a:lvl8pPr>
            <a:lvl9pPr marL="3886200" indent="-228600" eaLnBrk="0" fontAlgn="base" hangingPunct="0">
              <a:spcBef>
                <a:spcPct val="0"/>
              </a:spcBef>
              <a:spcAft>
                <a:spcPct val="0"/>
              </a:spcAft>
              <a:buFont typeface="Arial" charset="0"/>
              <a:defRPr>
                <a:solidFill>
                  <a:schemeClr val="tx1"/>
                </a:solidFill>
                <a:latin typeface="Arial" charset="0"/>
                <a:ea typeface="宋体" pitchFamily="2" charset="-122"/>
              </a:defRPr>
            </a:lvl9pPr>
          </a:lstStyle>
          <a:p>
            <a:pPr algn="ctr" eaLnBrk="1" hangingPunct="1"/>
            <a:endParaRPr lang="zh-CN" altLang="zh-CN">
              <a:solidFill>
                <a:srgbClr val="FFFFFF"/>
              </a:solidFill>
              <a:latin typeface="宋体" pitchFamily="2" charset="-122"/>
              <a:sym typeface="宋体" pitchFamily="2" charset="-122"/>
            </a:endParaRPr>
          </a:p>
        </p:txBody>
      </p:sp>
    </p:spTree>
    <p:extLst>
      <p:ext uri="{BB962C8B-B14F-4D97-AF65-F5344CB8AC3E}">
        <p14:creationId xmlns:p14="http://schemas.microsoft.com/office/powerpoint/2010/main" val="263569031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2024/9/10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84402668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2024/9/10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9135732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2024/9/10</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4126486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2024/9/10</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8353714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2024/9/10</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305621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2024/9/10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85418551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2024/9/10</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3237017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2024/9/10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4040038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2024/9/10</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5207301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2024/9/10</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5244594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2.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2.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image" Target="../media/image2.tmp"/><Relationship Id="rId2" Type="http://schemas.openxmlformats.org/officeDocument/2006/relationships/tags" Target="../tags/tag36.xml"/><Relationship Id="rId16" Type="http://schemas.openxmlformats.org/officeDocument/2006/relationships/slideLayout" Target="../slideLayouts/slideLayout7.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28.xml.rels><?xml version="1.0" encoding="UTF-8" standalone="yes"?>
<Relationships xmlns="http://schemas.openxmlformats.org/package/2006/relationships"><Relationship Id="rId8" Type="http://schemas.openxmlformats.org/officeDocument/2006/relationships/tags" Target="../tags/tag57.xml"/><Relationship Id="rId13" Type="http://schemas.openxmlformats.org/officeDocument/2006/relationships/tags" Target="../tags/tag62.xml"/><Relationship Id="rId18" Type="http://schemas.openxmlformats.org/officeDocument/2006/relationships/slideLayout" Target="../slideLayouts/slideLayout7.xml"/><Relationship Id="rId3" Type="http://schemas.openxmlformats.org/officeDocument/2006/relationships/tags" Target="../tags/tag52.xml"/><Relationship Id="rId7" Type="http://schemas.openxmlformats.org/officeDocument/2006/relationships/tags" Target="../tags/tag56.xml"/><Relationship Id="rId12" Type="http://schemas.openxmlformats.org/officeDocument/2006/relationships/tags" Target="../tags/tag61.xml"/><Relationship Id="rId17" Type="http://schemas.openxmlformats.org/officeDocument/2006/relationships/tags" Target="../tags/tag66.xml"/><Relationship Id="rId2" Type="http://schemas.openxmlformats.org/officeDocument/2006/relationships/tags" Target="../tags/tag51.xml"/><Relationship Id="rId16" Type="http://schemas.openxmlformats.org/officeDocument/2006/relationships/tags" Target="../tags/tag65.xml"/><Relationship Id="rId1" Type="http://schemas.openxmlformats.org/officeDocument/2006/relationships/tags" Target="../tags/tag50.xml"/><Relationship Id="rId6" Type="http://schemas.openxmlformats.org/officeDocument/2006/relationships/tags" Target="../tags/tag55.xml"/><Relationship Id="rId11" Type="http://schemas.openxmlformats.org/officeDocument/2006/relationships/tags" Target="../tags/tag60.xml"/><Relationship Id="rId5" Type="http://schemas.openxmlformats.org/officeDocument/2006/relationships/tags" Target="../tags/tag54.xml"/><Relationship Id="rId15" Type="http://schemas.openxmlformats.org/officeDocument/2006/relationships/tags" Target="../tags/tag64.xml"/><Relationship Id="rId10" Type="http://schemas.openxmlformats.org/officeDocument/2006/relationships/tags" Target="../tags/tag59.xml"/><Relationship Id="rId19" Type="http://schemas.openxmlformats.org/officeDocument/2006/relationships/image" Target="../media/image2.tmp"/><Relationship Id="rId4" Type="http://schemas.openxmlformats.org/officeDocument/2006/relationships/tags" Target="../tags/tag53.xml"/><Relationship Id="rId9" Type="http://schemas.openxmlformats.org/officeDocument/2006/relationships/tags" Target="../tags/tag58.xml"/><Relationship Id="rId14" Type="http://schemas.openxmlformats.org/officeDocument/2006/relationships/tags" Target="../tags/tag6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tags" Target="../tags/tag74.xml"/><Relationship Id="rId13" Type="http://schemas.openxmlformats.org/officeDocument/2006/relationships/tags" Target="../tags/tag79.xml"/><Relationship Id="rId18" Type="http://schemas.openxmlformats.org/officeDocument/2006/relationships/slideLayout" Target="../slideLayouts/slideLayout7.xml"/><Relationship Id="rId3" Type="http://schemas.openxmlformats.org/officeDocument/2006/relationships/tags" Target="../tags/tag69.xml"/><Relationship Id="rId7" Type="http://schemas.openxmlformats.org/officeDocument/2006/relationships/tags" Target="../tags/tag73.xml"/><Relationship Id="rId12" Type="http://schemas.openxmlformats.org/officeDocument/2006/relationships/tags" Target="../tags/tag78.xml"/><Relationship Id="rId17" Type="http://schemas.openxmlformats.org/officeDocument/2006/relationships/tags" Target="../tags/tag83.xml"/><Relationship Id="rId2" Type="http://schemas.openxmlformats.org/officeDocument/2006/relationships/tags" Target="../tags/tag68.xml"/><Relationship Id="rId16" Type="http://schemas.openxmlformats.org/officeDocument/2006/relationships/tags" Target="../tags/tag82.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5" Type="http://schemas.openxmlformats.org/officeDocument/2006/relationships/tags" Target="../tags/tag71.xml"/><Relationship Id="rId15" Type="http://schemas.openxmlformats.org/officeDocument/2006/relationships/tags" Target="../tags/tag81.xml"/><Relationship Id="rId10" Type="http://schemas.openxmlformats.org/officeDocument/2006/relationships/tags" Target="../tags/tag76.xml"/><Relationship Id="rId19" Type="http://schemas.openxmlformats.org/officeDocument/2006/relationships/image" Target="../media/image2.tmp"/><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tags" Target="../tags/tag8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en-US" altLang="zh-CN" sz="6600" b="1">
                <a:solidFill>
                  <a:srgbClr val="245794"/>
                </a:solidFill>
              </a:rPr>
              <a:t>Python</a:t>
            </a:r>
            <a:r>
              <a:rPr lang="zh-CN" altLang="en-US" sz="6600" b="1">
                <a:solidFill>
                  <a:srgbClr val="245794"/>
                </a:solidFill>
              </a:rPr>
              <a:t>语法基础</a:t>
            </a:r>
            <a:endParaRPr lang="zh-CN" altLang="en-US" sz="6600" b="1" dirty="0">
              <a:solidFill>
                <a:srgbClr val="245794"/>
              </a:solidFill>
            </a:endParaRPr>
          </a:p>
        </p:txBody>
      </p:sp>
      <p:sp>
        <p:nvSpPr>
          <p:cNvPr id="4" name="副标题 3"/>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8975858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en-US" altLang="zh-CN" b="1" dirty="0">
                <a:solidFill>
                  <a:srgbClr val="245794"/>
                </a:solidFill>
              </a:rPr>
              <a:t>1.3  </a:t>
            </a:r>
            <a:r>
              <a:rPr lang="zh-CN" altLang="en-US" dirty="0"/>
              <a:t>常量与变量</a:t>
            </a:r>
          </a:p>
        </p:txBody>
      </p:sp>
    </p:spTree>
    <p:extLst>
      <p:ext uri="{BB962C8B-B14F-4D97-AF65-F5344CB8AC3E}">
        <p14:creationId xmlns:p14="http://schemas.microsoft.com/office/powerpoint/2010/main" val="224820674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35496" y="843475"/>
            <a:ext cx="3543889" cy="898891"/>
          </a:xfrm>
        </p:spPr>
        <p:txBody>
          <a:bodyPr>
            <a:normAutofit/>
          </a:bodyPr>
          <a:lstStyle/>
          <a:p>
            <a:r>
              <a:rPr lang="en-US" altLang="zh-CN" sz="3600" b="1" dirty="0">
                <a:solidFill>
                  <a:srgbClr val="245794"/>
                </a:solidFill>
              </a:rPr>
              <a:t>1.3  </a:t>
            </a:r>
            <a:r>
              <a:rPr lang="zh-CN" altLang="en-US" sz="3600" dirty="0"/>
              <a:t>常量与变量</a:t>
            </a:r>
          </a:p>
        </p:txBody>
      </p:sp>
      <p:sp>
        <p:nvSpPr>
          <p:cNvPr id="3" name="内容占位符 2"/>
          <p:cNvSpPr>
            <a:spLocks noGrp="1"/>
          </p:cNvSpPr>
          <p:nvPr>
            <p:ph idx="1"/>
          </p:nvPr>
        </p:nvSpPr>
        <p:spPr>
          <a:xfrm>
            <a:off x="1005577" y="2517120"/>
            <a:ext cx="1728192" cy="955303"/>
          </a:xfrm>
          <a:solidFill>
            <a:schemeClr val="accent3">
              <a:lumMod val="20000"/>
              <a:lumOff val="80000"/>
            </a:schemeClr>
          </a:solidFill>
        </p:spPr>
        <p:txBody>
          <a:bodyPr>
            <a:noAutofit/>
          </a:bodyPr>
          <a:lstStyle/>
          <a:p>
            <a:pPr marL="0" indent="0">
              <a:buNone/>
            </a:pPr>
            <a:r>
              <a:rPr lang="en-US" altLang="zh-CN"/>
              <a:t>&gt;&gt;&gt; 2+3</a:t>
            </a:r>
          </a:p>
          <a:p>
            <a:pPr marL="0" indent="0">
              <a:buNone/>
            </a:pPr>
            <a:r>
              <a:rPr lang="en-US" altLang="zh-CN"/>
              <a:t>5</a:t>
            </a:r>
            <a:endParaRPr lang="zh-CN" altLang="en-US"/>
          </a:p>
        </p:txBody>
      </p:sp>
      <p:sp>
        <p:nvSpPr>
          <p:cNvPr id="5" name="矩形 4"/>
          <p:cNvSpPr/>
          <p:nvPr/>
        </p:nvSpPr>
        <p:spPr>
          <a:xfrm>
            <a:off x="4894009" y="4029288"/>
            <a:ext cx="2520280" cy="2677656"/>
          </a:xfrm>
          <a:prstGeom prst="rect">
            <a:avLst/>
          </a:prstGeom>
          <a:solidFill>
            <a:schemeClr val="accent3">
              <a:lumMod val="20000"/>
              <a:lumOff val="80000"/>
            </a:schemeClr>
          </a:solidFill>
        </p:spPr>
        <p:txBody>
          <a:bodyPr wrap="square">
            <a:spAutoFit/>
          </a:bodyPr>
          <a:lstStyle/>
          <a:p>
            <a:r>
              <a:rPr lang="zh-CN" altLang="en-US" sz="2800"/>
              <a:t>&gt;&gt;&gt; x=2</a:t>
            </a:r>
          </a:p>
          <a:p>
            <a:r>
              <a:rPr lang="zh-CN" altLang="en-US" sz="2800"/>
              <a:t>&gt;&gt;&gt; x</a:t>
            </a:r>
          </a:p>
          <a:p>
            <a:r>
              <a:rPr lang="zh-CN" altLang="en-US" sz="2800"/>
              <a:t>2</a:t>
            </a:r>
          </a:p>
          <a:p>
            <a:r>
              <a:rPr lang="zh-CN" altLang="en-US" sz="2800"/>
              <a:t>&gt;&gt;&gt; x="hello"</a:t>
            </a:r>
          </a:p>
          <a:p>
            <a:r>
              <a:rPr lang="zh-CN" altLang="en-US" sz="2800"/>
              <a:t>&gt;&gt;&gt; x</a:t>
            </a:r>
          </a:p>
          <a:p>
            <a:r>
              <a:rPr lang="zh-CN" altLang="en-US" sz="2800"/>
              <a:t>'hello'</a:t>
            </a:r>
          </a:p>
        </p:txBody>
      </p:sp>
      <p:sp>
        <p:nvSpPr>
          <p:cNvPr id="6" name="矩形 5"/>
          <p:cNvSpPr/>
          <p:nvPr/>
        </p:nvSpPr>
        <p:spPr>
          <a:xfrm>
            <a:off x="4013457" y="2564904"/>
            <a:ext cx="3057247" cy="523220"/>
          </a:xfrm>
          <a:prstGeom prst="rect">
            <a:avLst/>
          </a:prstGeom>
          <a:solidFill>
            <a:schemeClr val="accent1">
              <a:lumMod val="20000"/>
              <a:lumOff val="80000"/>
            </a:schemeClr>
          </a:solidFill>
        </p:spPr>
        <p:txBody>
          <a:bodyPr wrap="none">
            <a:spAutoFit/>
          </a:bodyPr>
          <a:lstStyle/>
          <a:p>
            <a:r>
              <a:rPr lang="zh-CN" altLang="zh-CN" sz="2800" b="1">
                <a:solidFill>
                  <a:srgbClr val="245794"/>
                </a:solidFill>
              </a:rPr>
              <a:t>常量</a:t>
            </a:r>
            <a:r>
              <a:rPr lang="zh-CN" altLang="en-US" sz="2800" b="1">
                <a:solidFill>
                  <a:srgbClr val="245794"/>
                </a:solidFill>
              </a:rPr>
              <a:t>：</a:t>
            </a:r>
            <a:r>
              <a:rPr lang="zh-CN" altLang="zh-CN" sz="2800" b="1">
                <a:solidFill>
                  <a:srgbClr val="245794"/>
                </a:solidFill>
              </a:rPr>
              <a:t>值不能改变</a:t>
            </a:r>
            <a:endParaRPr lang="zh-CN" altLang="zh-CN" sz="2800" b="1" dirty="0">
              <a:solidFill>
                <a:srgbClr val="245794"/>
              </a:solidFill>
            </a:endParaRPr>
          </a:p>
        </p:txBody>
      </p:sp>
      <p:sp>
        <p:nvSpPr>
          <p:cNvPr id="7" name="矩形 6"/>
          <p:cNvSpPr/>
          <p:nvPr/>
        </p:nvSpPr>
        <p:spPr>
          <a:xfrm>
            <a:off x="575503" y="5063822"/>
            <a:ext cx="2698175" cy="523220"/>
          </a:xfrm>
          <a:prstGeom prst="rect">
            <a:avLst/>
          </a:prstGeom>
          <a:solidFill>
            <a:schemeClr val="accent1">
              <a:lumMod val="20000"/>
              <a:lumOff val="80000"/>
            </a:schemeClr>
          </a:solidFill>
        </p:spPr>
        <p:txBody>
          <a:bodyPr wrap="none">
            <a:spAutoFit/>
          </a:bodyPr>
          <a:lstStyle/>
          <a:p>
            <a:r>
              <a:rPr lang="zh-CN" altLang="zh-CN" sz="2800" b="1" dirty="0">
                <a:solidFill>
                  <a:srgbClr val="245794"/>
                </a:solidFill>
              </a:rPr>
              <a:t>变量</a:t>
            </a:r>
            <a:r>
              <a:rPr lang="zh-CN" altLang="en-US" sz="2800" b="1" dirty="0">
                <a:solidFill>
                  <a:srgbClr val="245794"/>
                </a:solidFill>
              </a:rPr>
              <a:t>：</a:t>
            </a:r>
            <a:r>
              <a:rPr lang="zh-CN" altLang="zh-CN" sz="2800" b="1" dirty="0">
                <a:solidFill>
                  <a:srgbClr val="245794"/>
                </a:solidFill>
              </a:rPr>
              <a:t>值</a:t>
            </a:r>
            <a:r>
              <a:rPr lang="zh-CN" altLang="en-US" sz="2800" b="1" dirty="0">
                <a:solidFill>
                  <a:srgbClr val="245794"/>
                </a:solidFill>
              </a:rPr>
              <a:t>会</a:t>
            </a:r>
            <a:r>
              <a:rPr lang="zh-CN" altLang="zh-CN" sz="2800" b="1" dirty="0">
                <a:solidFill>
                  <a:srgbClr val="245794"/>
                </a:solidFill>
              </a:rPr>
              <a:t>改变</a:t>
            </a:r>
          </a:p>
        </p:txBody>
      </p:sp>
      <p:sp>
        <p:nvSpPr>
          <p:cNvPr id="8" name="椭圆 7"/>
          <p:cNvSpPr/>
          <p:nvPr/>
        </p:nvSpPr>
        <p:spPr>
          <a:xfrm>
            <a:off x="1636559" y="2517120"/>
            <a:ext cx="288032" cy="44112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2068607" y="2496954"/>
            <a:ext cx="288032" cy="44112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886921" y="4101296"/>
            <a:ext cx="288032" cy="44112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5902121" y="5325432"/>
            <a:ext cx="1224136" cy="441128"/>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5542081" y="4101296"/>
            <a:ext cx="216024" cy="360040"/>
          </a:xfrm>
          <a:prstGeom prst="round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5542081" y="5406520"/>
            <a:ext cx="216024" cy="360040"/>
          </a:xfrm>
          <a:prstGeom prst="round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曲线连接符 14"/>
          <p:cNvCxnSpPr>
            <a:stCxn id="6" idx="1"/>
            <a:endCxn id="8" idx="0"/>
          </p:cNvCxnSpPr>
          <p:nvPr/>
        </p:nvCxnSpPr>
        <p:spPr>
          <a:xfrm rot="10800000">
            <a:off x="1780575" y="2517120"/>
            <a:ext cx="2232882" cy="309394"/>
          </a:xfrm>
          <a:prstGeom prst="curvedConnector4">
            <a:avLst>
              <a:gd name="adj1" fmla="val 46775"/>
              <a:gd name="adj2" fmla="val 173886"/>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曲线连接符 16"/>
          <p:cNvCxnSpPr>
            <a:stCxn id="6" idx="2"/>
          </p:cNvCxnSpPr>
          <p:nvPr/>
        </p:nvCxnSpPr>
        <p:spPr>
          <a:xfrm rot="5400000" flipH="1">
            <a:off x="3808548" y="1354592"/>
            <a:ext cx="154697" cy="3312368"/>
          </a:xfrm>
          <a:prstGeom prst="curvedConnector4">
            <a:avLst>
              <a:gd name="adj1" fmla="val -147773"/>
              <a:gd name="adj2" fmla="val 73074"/>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曲线连接符 18"/>
          <p:cNvCxnSpPr>
            <a:endCxn id="10" idx="7"/>
          </p:cNvCxnSpPr>
          <p:nvPr/>
        </p:nvCxnSpPr>
        <p:spPr>
          <a:xfrm rot="5400000">
            <a:off x="5655567" y="3415288"/>
            <a:ext cx="1227816" cy="273405"/>
          </a:xfrm>
          <a:prstGeom prst="curvedConnector3">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曲线连接符 20"/>
          <p:cNvCxnSpPr/>
          <p:nvPr/>
        </p:nvCxnSpPr>
        <p:spPr>
          <a:xfrm rot="16200000" flipH="1">
            <a:off x="5741777" y="4156976"/>
            <a:ext cx="2308626" cy="28286"/>
          </a:xfrm>
          <a:prstGeom prst="curvedConnector3">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cxnSpLocks/>
            <a:stCxn id="7" idx="3"/>
          </p:cNvCxnSpPr>
          <p:nvPr/>
        </p:nvCxnSpPr>
        <p:spPr>
          <a:xfrm flipV="1">
            <a:off x="3273678" y="4389328"/>
            <a:ext cx="2196395" cy="936104"/>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cxnSpLocks/>
            <a:endCxn id="13" idx="2"/>
          </p:cNvCxnSpPr>
          <p:nvPr/>
        </p:nvCxnSpPr>
        <p:spPr>
          <a:xfrm>
            <a:off x="3273678" y="5469448"/>
            <a:ext cx="2376415" cy="297112"/>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6982556" y="3336790"/>
            <a:ext cx="1826141" cy="338554"/>
          </a:xfrm>
          <a:prstGeom prst="rect">
            <a:avLst/>
          </a:prstGeom>
          <a:solidFill>
            <a:schemeClr val="accent2">
              <a:lumMod val="20000"/>
              <a:lumOff val="80000"/>
            </a:schemeClr>
          </a:solidFill>
        </p:spPr>
        <p:txBody>
          <a:bodyPr wrap="none">
            <a:spAutoFit/>
          </a:bodyPr>
          <a:lstStyle/>
          <a:p>
            <a:r>
              <a:rPr lang="zh-CN" altLang="zh-CN" sz="1600" b="1">
                <a:solidFill>
                  <a:srgbClr val="245794"/>
                </a:solidFill>
              </a:rPr>
              <a:t>常量</a:t>
            </a:r>
            <a:r>
              <a:rPr lang="zh-CN" altLang="en-US" sz="1600" b="1">
                <a:solidFill>
                  <a:srgbClr val="245794"/>
                </a:solidFill>
              </a:rPr>
              <a:t>的值赋给变量</a:t>
            </a:r>
            <a:endParaRPr lang="zh-CN" altLang="zh-CN" sz="1600" b="1" dirty="0">
              <a:solidFill>
                <a:srgbClr val="245794"/>
              </a:solidFill>
            </a:endParaRPr>
          </a:p>
        </p:txBody>
      </p:sp>
    </p:spTree>
    <p:extLst>
      <p:ext uri="{BB962C8B-B14F-4D97-AF65-F5344CB8AC3E}">
        <p14:creationId xmlns:p14="http://schemas.microsoft.com/office/powerpoint/2010/main" val="17456799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down)">
                                      <p:cBhvr>
                                        <p:cTn id="20" dur="500"/>
                                        <p:tgtEl>
                                          <p:spTgt spid="17"/>
                                        </p:tgtEl>
                                      </p:cBhvr>
                                    </p:animEffect>
                                  </p:childTnLst>
                                </p:cTn>
                              </p:par>
                            </p:childTnLst>
                          </p:cTn>
                        </p:par>
                        <p:par>
                          <p:cTn id="21" fill="hold">
                            <p:stCondLst>
                              <p:cond delay="1500"/>
                            </p:stCondLst>
                            <p:childTnLst>
                              <p:par>
                                <p:cTn id="22" presetID="22" presetClass="entr" presetSubtype="4"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arn(inVertical)">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up)">
                                      <p:cBhvr>
                                        <p:cTn id="34" dur="5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up)">
                                      <p:cBhvr>
                                        <p:cTn id="39" dur="500"/>
                                        <p:tgtEl>
                                          <p:spTgt spid="19"/>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wipe(up)">
                                      <p:cBhvr>
                                        <p:cTn id="43" dur="500"/>
                                        <p:tgtEl>
                                          <p:spTgt spid="10"/>
                                        </p:tgtEl>
                                      </p:cBhvr>
                                    </p:animEffect>
                                  </p:childTnLst>
                                </p:cTn>
                              </p:par>
                            </p:childTnLst>
                          </p:cTn>
                        </p:par>
                        <p:par>
                          <p:cTn id="44" fill="hold">
                            <p:stCondLst>
                              <p:cond delay="1000"/>
                            </p:stCondLst>
                            <p:childTnLst>
                              <p:par>
                                <p:cTn id="45" presetID="22" presetClass="entr" presetSubtype="1" fill="hold" nodeType="after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childTnLst>
                          </p:cTn>
                        </p:par>
                        <p:par>
                          <p:cTn id="48" fill="hold">
                            <p:stCondLst>
                              <p:cond delay="1500"/>
                            </p:stCondLst>
                            <p:childTnLst>
                              <p:par>
                                <p:cTn id="49" presetID="22" presetClass="entr" presetSubtype="1" fill="hold" grpId="0" nodeType="after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wipe(up)">
                                      <p:cBhvr>
                                        <p:cTn id="51" dur="500"/>
                                        <p:tgtEl>
                                          <p:spTgt spid="1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left)">
                                      <p:cBhvr>
                                        <p:cTn id="56" dur="500"/>
                                        <p:tgtEl>
                                          <p:spTgt spid="7"/>
                                        </p:tgtEl>
                                      </p:cBhvr>
                                    </p:animEffect>
                                  </p:childTnLst>
                                </p:cTn>
                              </p:par>
                            </p:childTnLst>
                          </p:cTn>
                        </p:par>
                        <p:par>
                          <p:cTn id="57" fill="hold">
                            <p:stCondLst>
                              <p:cond delay="500"/>
                            </p:stCondLst>
                            <p:childTnLst>
                              <p:par>
                                <p:cTn id="58" presetID="22" presetClass="entr" presetSubtype="8" fill="hold" nodeType="after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childTnLst>
                          </p:cTn>
                        </p:par>
                        <p:par>
                          <p:cTn id="61" fill="hold">
                            <p:stCondLst>
                              <p:cond delay="1000"/>
                            </p:stCondLst>
                            <p:childTnLst>
                              <p:par>
                                <p:cTn id="62" presetID="22" presetClass="entr" presetSubtype="8" fill="hold" grpId="0" nodeType="after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wipe(left)">
                                      <p:cBhvr>
                                        <p:cTn id="64" dur="500"/>
                                        <p:tgtEl>
                                          <p:spTgt spid="12"/>
                                        </p:tgtEl>
                                      </p:cBhvr>
                                    </p:animEffect>
                                  </p:childTnLst>
                                </p:cTn>
                              </p:par>
                            </p:childTnLst>
                          </p:cTn>
                        </p:par>
                        <p:par>
                          <p:cTn id="65" fill="hold">
                            <p:stCondLst>
                              <p:cond delay="1500"/>
                            </p:stCondLst>
                            <p:childTnLst>
                              <p:par>
                                <p:cTn id="66" presetID="22" presetClass="entr" presetSubtype="8" fill="hold" nodeType="after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wipe(left)">
                                      <p:cBhvr>
                                        <p:cTn id="68" dur="500"/>
                                        <p:tgtEl>
                                          <p:spTgt spid="25"/>
                                        </p:tgtEl>
                                      </p:cBhvr>
                                    </p:animEffect>
                                  </p:childTnLst>
                                </p:cTn>
                              </p:par>
                            </p:childTnLst>
                          </p:cTn>
                        </p:par>
                        <p:par>
                          <p:cTn id="69" fill="hold">
                            <p:stCondLst>
                              <p:cond delay="2000"/>
                            </p:stCondLst>
                            <p:childTnLst>
                              <p:par>
                                <p:cTn id="70" presetID="22" presetClass="entr" presetSubtype="8" fill="hold" grpId="0" nodeType="afterEffect">
                                  <p:stCondLst>
                                    <p:cond delay="0"/>
                                  </p:stCondLst>
                                  <p:childTnLst>
                                    <p:set>
                                      <p:cBhvr>
                                        <p:cTn id="71" dur="1" fill="hold">
                                          <p:stCondLst>
                                            <p:cond delay="0"/>
                                          </p:stCondLst>
                                        </p:cTn>
                                        <p:tgtEl>
                                          <p:spTgt spid="13"/>
                                        </p:tgtEl>
                                        <p:attrNameLst>
                                          <p:attrName>style.visibility</p:attrName>
                                        </p:attrNameLst>
                                      </p:cBhvr>
                                      <p:to>
                                        <p:strVal val="visible"/>
                                      </p:to>
                                    </p:set>
                                    <p:animEffect transition="in" filter="wipe(left)">
                                      <p:cBhvr>
                                        <p:cTn id="7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lstStyle/>
          <a:p>
            <a:r>
              <a:rPr lang="zh-CN" altLang="en-US"/>
              <a:t>标识符</a:t>
            </a:r>
            <a:r>
              <a:rPr lang="en-US" altLang="zh-CN"/>
              <a:t>-----</a:t>
            </a:r>
            <a:r>
              <a:rPr lang="zh-CN" altLang="en-US"/>
              <a:t>取名规则</a:t>
            </a:r>
          </a:p>
        </p:txBody>
      </p:sp>
      <p:sp>
        <p:nvSpPr>
          <p:cNvPr id="4" name="副标题 3"/>
          <p:cNvSpPr>
            <a:spLocks noGrp="1"/>
          </p:cNvSpPr>
          <p:nvPr>
            <p:ph type="subTitle" idx="1"/>
          </p:nvPr>
        </p:nvSpPr>
        <p:spPr/>
        <p:txBody>
          <a:bodyPr/>
          <a:lstStyle/>
          <a:p>
            <a:endParaRPr lang="zh-CN" altLang="en-US"/>
          </a:p>
        </p:txBody>
      </p:sp>
      <p:sp>
        <p:nvSpPr>
          <p:cNvPr id="2" name="灯片编号占位符 1"/>
          <p:cNvSpPr>
            <a:spLocks noGrp="1"/>
          </p:cNvSpPr>
          <p:nvPr>
            <p:ph type="sldNum" sz="quarter" idx="12"/>
          </p:nvPr>
        </p:nvSpPr>
        <p:spPr/>
        <p:txBody>
          <a:bodyPr/>
          <a:lstStyle/>
          <a:p>
            <a:fld id="{565CE74E-AB26-4998-AD42-012C4C1AD076}" type="slidenum">
              <a:rPr lang="zh-CN" altLang="en-US" smtClean="0"/>
              <a:t>4</a:t>
            </a:fld>
            <a:endParaRPr lang="zh-CN" altLang="en-US"/>
          </a:p>
        </p:txBody>
      </p:sp>
    </p:spTree>
    <p:extLst>
      <p:ext uri="{BB962C8B-B14F-4D97-AF65-F5344CB8AC3E}">
        <p14:creationId xmlns:p14="http://schemas.microsoft.com/office/powerpoint/2010/main" val="30862108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79380" y="207248"/>
            <a:ext cx="8229600" cy="1139825"/>
          </a:xfrm>
        </p:spPr>
        <p:txBody>
          <a:bodyPr/>
          <a:lstStyle/>
          <a:p>
            <a:pPr algn="ctr"/>
            <a:r>
              <a:rPr lang="zh-CN" altLang="en-US" sz="2800" dirty="0">
                <a:latin typeface="微软雅黑" panose="020B0503020204020204" pitchFamily="34" charset="-122"/>
                <a:ea typeface="微软雅黑" panose="020B0503020204020204" pitchFamily="34" charset="-122"/>
              </a:rPr>
              <a:t>标识符与变量</a:t>
            </a:r>
            <a:endParaRPr lang="zh-CN" altLang="en-US" dirty="0"/>
          </a:p>
        </p:txBody>
      </p:sp>
      <p:sp>
        <p:nvSpPr>
          <p:cNvPr id="5" name="内容占位符 4"/>
          <p:cNvSpPr>
            <a:spLocks noGrp="1"/>
          </p:cNvSpPr>
          <p:nvPr>
            <p:ph idx="1"/>
          </p:nvPr>
        </p:nvSpPr>
        <p:spPr>
          <a:xfrm>
            <a:off x="347163" y="1749953"/>
            <a:ext cx="8229600" cy="864096"/>
          </a:xfrm>
        </p:spPr>
        <p:txBody>
          <a:bodyPr>
            <a:normAutofit/>
          </a:bodyPr>
          <a:lstStyle/>
          <a:p>
            <a:pPr>
              <a:lnSpc>
                <a:spcPct val="170000"/>
              </a:lnSpc>
            </a:pPr>
            <a:r>
              <a:rPr lang="zh-CN" altLang="en-US" sz="1800" b="1" dirty="0">
                <a:solidFill>
                  <a:srgbClr val="FF0000"/>
                </a:solidFill>
                <a:latin typeface="微软雅黑" panose="020B0503020204020204" pitchFamily="34" charset="-122"/>
                <a:ea typeface="微软雅黑" panose="020B0503020204020204" pitchFamily="34" charset="-122"/>
              </a:rPr>
              <a:t>标识符</a:t>
            </a:r>
            <a:r>
              <a:rPr lang="zh-CN" altLang="en-US" sz="1800" b="1" dirty="0">
                <a:latin typeface="微软雅黑" panose="020B0503020204020204" pitchFamily="34" charset="-122"/>
                <a:ea typeface="微软雅黑" panose="020B0503020204020204" pitchFamily="34" charset="-122"/>
              </a:rPr>
              <a:t>用于表示程序中的各类对象的名字，例如，</a:t>
            </a:r>
            <a:r>
              <a:rPr lang="zh-CN" altLang="en-US" sz="1800" b="1" dirty="0">
                <a:solidFill>
                  <a:srgbClr val="FF0000"/>
                </a:solidFill>
                <a:latin typeface="微软雅黑" panose="020B0503020204020204" pitchFamily="34" charset="-122"/>
                <a:ea typeface="微软雅黑" panose="020B0503020204020204" pitchFamily="34" charset="-122"/>
              </a:rPr>
              <a:t>变量名</a:t>
            </a:r>
            <a:r>
              <a:rPr lang="zh-CN" altLang="en-US" sz="1800" b="1" dirty="0">
                <a:latin typeface="微软雅黑" panose="020B0503020204020204" pitchFamily="34" charset="-122"/>
                <a:ea typeface="微软雅黑" panose="020B0503020204020204" pitchFamily="34" charset="-122"/>
              </a:rPr>
              <a:t>是标识符</a:t>
            </a:r>
            <a:endParaRPr lang="en-US" altLang="zh-CN" sz="1800" b="1" dirty="0">
              <a:latin typeface="微软雅黑" panose="020B0503020204020204" pitchFamily="34" charset="-122"/>
              <a:ea typeface="微软雅黑" panose="020B0503020204020204" pitchFamily="34" charset="-122"/>
            </a:endParaRPr>
          </a:p>
        </p:txBody>
      </p:sp>
      <p:sp>
        <p:nvSpPr>
          <p:cNvPr id="6" name="内容占位符 2"/>
          <p:cNvSpPr txBox="1">
            <a:spLocks/>
          </p:cNvSpPr>
          <p:nvPr/>
        </p:nvSpPr>
        <p:spPr>
          <a:xfrm>
            <a:off x="422802" y="2659374"/>
            <a:ext cx="8210077" cy="944179"/>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Tx/>
              <a:buBlip>
                <a:blip r:embed="rId3"/>
              </a:buBlip>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70000"/>
              </a:lnSpc>
              <a:defRPr/>
            </a:pPr>
            <a:r>
              <a:rPr lang="en-US" altLang="zh-CN" sz="1800" b="1" dirty="0">
                <a:latin typeface="微软雅黑" panose="020B0503020204020204" pitchFamily="34" charset="-122"/>
                <a:ea typeface="微软雅黑" panose="020B0503020204020204" pitchFamily="34" charset="-122"/>
              </a:rPr>
              <a:t>python</a:t>
            </a:r>
            <a:r>
              <a:rPr lang="zh-CN" altLang="en-US" sz="1800" b="1" dirty="0">
                <a:latin typeface="微软雅黑" panose="020B0503020204020204" pitchFamily="34" charset="-122"/>
                <a:ea typeface="微软雅黑" panose="020B0503020204020204" pitchFamily="34" charset="-122"/>
              </a:rPr>
              <a:t>规定：</a:t>
            </a:r>
            <a:r>
              <a:rPr lang="zh-CN" altLang="en-US" sz="1800" b="1" dirty="0">
                <a:solidFill>
                  <a:srgbClr val="FF0000"/>
                </a:solidFill>
                <a:latin typeface="微软雅黑" panose="020B0503020204020204" pitchFamily="34" charset="-122"/>
                <a:ea typeface="微软雅黑" panose="020B0503020204020204" pitchFamily="34" charset="-122"/>
              </a:rPr>
              <a:t>标识符是</a:t>
            </a:r>
            <a:r>
              <a:rPr lang="zh-CN" altLang="en-US" sz="1800" b="1" dirty="0">
                <a:latin typeface="微软雅黑" panose="020B0503020204020204" pitchFamily="34" charset="-122"/>
                <a:ea typeface="微软雅黑" panose="020B0503020204020204" pitchFamily="34" charset="-122"/>
              </a:rPr>
              <a:t>以字母或下划线打头，由字母、数字字符和下划线组成的字符序列。</a:t>
            </a:r>
          </a:p>
        </p:txBody>
      </p:sp>
      <p:sp>
        <p:nvSpPr>
          <p:cNvPr id="7" name="矩形 6"/>
          <p:cNvSpPr/>
          <p:nvPr/>
        </p:nvSpPr>
        <p:spPr>
          <a:xfrm>
            <a:off x="3481791" y="4715010"/>
            <a:ext cx="1113134" cy="646331"/>
          </a:xfrm>
          <a:prstGeom prst="rect">
            <a:avLst/>
          </a:prstGeom>
        </p:spPr>
        <p:txBody>
          <a:bodyPr wrap="square">
            <a:spAutoFit/>
          </a:bodyPr>
          <a:lstStyle/>
          <a:p>
            <a:pPr marL="0" lvl="1">
              <a:lnSpc>
                <a:spcPct val="200000"/>
              </a:lnSpc>
            </a:pPr>
            <a:r>
              <a:rPr lang="en-US" altLang="zh-CN" b="1">
                <a:solidFill>
                  <a:schemeClr val="tx1"/>
                </a:solidFill>
                <a:latin typeface="黑体" panose="02010609060101010101" pitchFamily="49" charset="-122"/>
                <a:ea typeface="黑体" panose="02010609060101010101" pitchFamily="49" charset="-122"/>
              </a:rPr>
              <a:t>1ab</a:t>
            </a:r>
            <a:r>
              <a:rPr lang="en-US" altLang="zh-CN" b="1">
                <a:solidFill>
                  <a:srgbClr val="FF0000"/>
                </a:solidFill>
                <a:latin typeface="黑体" panose="02010609060101010101" pitchFamily="49" charset="-122"/>
                <a:ea typeface="黑体" panose="02010609060101010101" pitchFamily="49" charset="-122"/>
              </a:rPr>
              <a:t> ×</a:t>
            </a:r>
            <a:endParaRPr lang="zh-CN" altLang="en-US" b="1">
              <a:solidFill>
                <a:srgbClr val="FF0000"/>
              </a:solidFill>
              <a:latin typeface="黑体" panose="02010609060101010101" pitchFamily="49" charset="-122"/>
              <a:ea typeface="黑体" panose="02010609060101010101" pitchFamily="49" charset="-122"/>
            </a:endParaRPr>
          </a:p>
        </p:txBody>
      </p:sp>
      <p:sp>
        <p:nvSpPr>
          <p:cNvPr id="8" name="矩形 7"/>
          <p:cNvSpPr/>
          <p:nvPr/>
        </p:nvSpPr>
        <p:spPr>
          <a:xfrm>
            <a:off x="4362545" y="4715010"/>
            <a:ext cx="1149860" cy="646331"/>
          </a:xfrm>
          <a:prstGeom prst="rect">
            <a:avLst/>
          </a:prstGeom>
        </p:spPr>
        <p:txBody>
          <a:bodyPr wrap="square">
            <a:spAutoFit/>
          </a:bodyPr>
          <a:lstStyle/>
          <a:p>
            <a:pPr marL="0" lvl="1">
              <a:lnSpc>
                <a:spcPct val="200000"/>
              </a:lnSpc>
            </a:pPr>
            <a:r>
              <a:rPr lang="en-US" altLang="zh-CN" b="1">
                <a:solidFill>
                  <a:schemeClr val="tx1"/>
                </a:solidFill>
                <a:latin typeface="黑体" panose="02010609060101010101" pitchFamily="49" charset="-122"/>
                <a:ea typeface="黑体" panose="02010609060101010101" pitchFamily="49" charset="-122"/>
              </a:rPr>
              <a:t>a?b</a:t>
            </a:r>
            <a:r>
              <a:rPr lang="en-US" altLang="zh-CN" b="1">
                <a:solidFill>
                  <a:srgbClr val="FF0000"/>
                </a:solidFill>
                <a:latin typeface="黑体" panose="02010609060101010101" pitchFamily="49" charset="-122"/>
                <a:ea typeface="黑体" panose="02010609060101010101" pitchFamily="49" charset="-122"/>
              </a:rPr>
              <a:t> ×</a:t>
            </a:r>
            <a:endParaRPr lang="zh-CN" altLang="en-US" b="1">
              <a:solidFill>
                <a:srgbClr val="FF0000"/>
              </a:solidFill>
              <a:latin typeface="黑体" panose="02010609060101010101" pitchFamily="49" charset="-122"/>
              <a:ea typeface="黑体" panose="02010609060101010101" pitchFamily="49" charset="-122"/>
            </a:endParaRPr>
          </a:p>
        </p:txBody>
      </p:sp>
      <p:sp>
        <p:nvSpPr>
          <p:cNvPr id="10" name="TextBox 9"/>
          <p:cNvSpPr txBox="1"/>
          <p:nvPr/>
        </p:nvSpPr>
        <p:spPr>
          <a:xfrm>
            <a:off x="4367365" y="3817391"/>
            <a:ext cx="716818" cy="400110"/>
          </a:xfrm>
          <a:prstGeom prst="rect">
            <a:avLst/>
          </a:prstGeom>
          <a:noFill/>
        </p:spPr>
        <p:txBody>
          <a:bodyPr wrap="square" rtlCol="0">
            <a:spAutoFit/>
          </a:bodyPr>
          <a:lstStyle/>
          <a:p>
            <a:r>
              <a:rPr lang="en-US" altLang="zh-CN" sz="2000"/>
              <a:t>_x</a:t>
            </a:r>
            <a:endParaRPr lang="zh-CN" altLang="en-US" sz="2000"/>
          </a:p>
        </p:txBody>
      </p:sp>
      <p:sp>
        <p:nvSpPr>
          <p:cNvPr id="11" name="TextBox 10"/>
          <p:cNvSpPr txBox="1"/>
          <p:nvPr/>
        </p:nvSpPr>
        <p:spPr>
          <a:xfrm>
            <a:off x="3634102" y="3820920"/>
            <a:ext cx="1001849" cy="400110"/>
          </a:xfrm>
          <a:prstGeom prst="rect">
            <a:avLst/>
          </a:prstGeom>
          <a:noFill/>
        </p:spPr>
        <p:txBody>
          <a:bodyPr wrap="square" rtlCol="0">
            <a:spAutoFit/>
          </a:bodyPr>
          <a:lstStyle/>
          <a:p>
            <a:r>
              <a:rPr lang="en-US" altLang="zh-CN" sz="2000"/>
              <a:t>ab1</a:t>
            </a:r>
            <a:endParaRPr lang="zh-CN" altLang="en-US" sz="2000"/>
          </a:p>
        </p:txBody>
      </p:sp>
      <p:sp>
        <p:nvSpPr>
          <p:cNvPr id="12" name="矩形 11"/>
          <p:cNvSpPr/>
          <p:nvPr/>
        </p:nvSpPr>
        <p:spPr>
          <a:xfrm>
            <a:off x="1759347" y="3820045"/>
            <a:ext cx="2668212" cy="400110"/>
          </a:xfrm>
          <a:prstGeom prst="rect">
            <a:avLst/>
          </a:prstGeom>
        </p:spPr>
        <p:txBody>
          <a:bodyPr wrap="square">
            <a:spAutoFit/>
          </a:bodyPr>
          <a:lstStyle/>
          <a:p>
            <a:r>
              <a:rPr lang="zh-CN" altLang="en-US" sz="2000" b="1">
                <a:solidFill>
                  <a:srgbClr val="00B050"/>
                </a:solidFill>
              </a:rPr>
              <a:t>正确的标识符</a:t>
            </a:r>
            <a:r>
              <a:rPr lang="zh-CN" altLang="en-US" sz="2000" b="1"/>
              <a:t>：</a:t>
            </a:r>
            <a:endParaRPr lang="zh-CN" altLang="zh-CN" sz="2000" b="1"/>
          </a:p>
        </p:txBody>
      </p:sp>
      <p:sp>
        <p:nvSpPr>
          <p:cNvPr id="13" name="矩形 12"/>
          <p:cNvSpPr/>
          <p:nvPr/>
        </p:nvSpPr>
        <p:spPr>
          <a:xfrm>
            <a:off x="1732555" y="4928353"/>
            <a:ext cx="2668212" cy="400110"/>
          </a:xfrm>
          <a:prstGeom prst="rect">
            <a:avLst/>
          </a:prstGeom>
        </p:spPr>
        <p:txBody>
          <a:bodyPr wrap="square">
            <a:spAutoFit/>
          </a:bodyPr>
          <a:lstStyle/>
          <a:p>
            <a:r>
              <a:rPr lang="zh-CN" altLang="en-US" sz="2000" b="1" dirty="0">
                <a:solidFill>
                  <a:srgbClr val="00B050"/>
                </a:solidFill>
              </a:rPr>
              <a:t>错误的标识符</a:t>
            </a:r>
            <a:r>
              <a:rPr lang="zh-CN" altLang="en-US" sz="2000" b="1" dirty="0"/>
              <a:t>：</a:t>
            </a:r>
            <a:endParaRPr lang="zh-CN" altLang="zh-CN" sz="2000" b="1" dirty="0"/>
          </a:p>
        </p:txBody>
      </p:sp>
      <p:sp>
        <p:nvSpPr>
          <p:cNvPr id="3" name="矩形 2"/>
          <p:cNvSpPr/>
          <p:nvPr/>
        </p:nvSpPr>
        <p:spPr>
          <a:xfrm>
            <a:off x="3634102" y="4121753"/>
            <a:ext cx="3942264" cy="400110"/>
          </a:xfrm>
          <a:prstGeom prst="rect">
            <a:avLst/>
          </a:prstGeom>
        </p:spPr>
        <p:txBody>
          <a:bodyPr wrap="square">
            <a:spAutoFit/>
          </a:bodyPr>
          <a:lstStyle/>
          <a:p>
            <a:r>
              <a:rPr lang="en-US" altLang="zh-CN" sz="2000" dirty="0" err="1">
                <a:solidFill>
                  <a:prstClr val="black"/>
                </a:solidFill>
              </a:rPr>
              <a:t>first_name</a:t>
            </a:r>
            <a:r>
              <a:rPr lang="en-US" altLang="zh-CN" sz="2000" dirty="0">
                <a:solidFill>
                  <a:prstClr val="black"/>
                </a:solidFill>
              </a:rPr>
              <a:t>, </a:t>
            </a:r>
            <a:r>
              <a:rPr lang="en-US" altLang="zh-CN" sz="2000" dirty="0" err="1">
                <a:solidFill>
                  <a:prstClr val="black"/>
                </a:solidFill>
              </a:rPr>
              <a:t>SecondUser</a:t>
            </a:r>
            <a:r>
              <a:rPr lang="en-US" altLang="zh-CN" sz="2000" dirty="0">
                <a:solidFill>
                  <a:prstClr val="black"/>
                </a:solidFill>
              </a:rPr>
              <a:t> </a:t>
            </a:r>
            <a:endParaRPr lang="zh-CN" altLang="en-US" sz="2000" dirty="0"/>
          </a:p>
        </p:txBody>
      </p:sp>
      <p:sp>
        <p:nvSpPr>
          <p:cNvPr id="2" name="文本框 1">
            <a:extLst>
              <a:ext uri="{FF2B5EF4-FFF2-40B4-BE49-F238E27FC236}">
                <a16:creationId xmlns:a16="http://schemas.microsoft.com/office/drawing/2014/main" id="{8B2A59BC-75D2-48FC-93F3-7E57BA708BED}"/>
              </a:ext>
            </a:extLst>
          </p:cNvPr>
          <p:cNvSpPr txBox="1"/>
          <p:nvPr/>
        </p:nvSpPr>
        <p:spPr>
          <a:xfrm>
            <a:off x="375423" y="637506"/>
            <a:ext cx="1107996" cy="369332"/>
          </a:xfrm>
          <a:prstGeom prst="rect">
            <a:avLst/>
          </a:prstGeom>
          <a:noFill/>
        </p:spPr>
        <p:txBody>
          <a:bodyPr wrap="none" rtlCol="0">
            <a:spAutoFit/>
          </a:bodyPr>
          <a:lstStyle/>
          <a:p>
            <a:r>
              <a:rPr lang="zh-CN" altLang="en-US" dirty="0"/>
              <a:t>命名规则</a:t>
            </a:r>
          </a:p>
        </p:txBody>
      </p:sp>
      <p:sp>
        <p:nvSpPr>
          <p:cNvPr id="14" name="矩形 13">
            <a:extLst>
              <a:ext uri="{FF2B5EF4-FFF2-40B4-BE49-F238E27FC236}">
                <a16:creationId xmlns:a16="http://schemas.microsoft.com/office/drawing/2014/main" id="{15F93EBD-3CEF-47D8-B7DC-D0EDA9676C98}"/>
              </a:ext>
            </a:extLst>
          </p:cNvPr>
          <p:cNvSpPr/>
          <p:nvPr/>
        </p:nvSpPr>
        <p:spPr>
          <a:xfrm>
            <a:off x="1721872" y="6281420"/>
            <a:ext cx="5544616" cy="369332"/>
          </a:xfrm>
          <a:prstGeom prst="rect">
            <a:avLst/>
          </a:prstGeom>
        </p:spPr>
        <p:txBody>
          <a:bodyPr wrap="square">
            <a:spAutoFit/>
          </a:bodyPr>
          <a:lstStyle/>
          <a:p>
            <a:r>
              <a:rPr lang="zh-CN" altLang="zh-CN" dirty="0"/>
              <a:t>例如，</a:t>
            </a:r>
            <a:r>
              <a:rPr lang="en-US" altLang="zh-CN" dirty="0"/>
              <a:t>total</a:t>
            </a:r>
            <a:r>
              <a:rPr lang="zh-CN" altLang="zh-CN" dirty="0"/>
              <a:t>、</a:t>
            </a:r>
            <a:r>
              <a:rPr lang="en-US" altLang="zh-CN" dirty="0"/>
              <a:t>Total</a:t>
            </a:r>
            <a:r>
              <a:rPr lang="zh-CN" altLang="zh-CN" dirty="0"/>
              <a:t>和</a:t>
            </a:r>
            <a:r>
              <a:rPr lang="en-US" altLang="zh-CN" dirty="0"/>
              <a:t>TOTAL</a:t>
            </a:r>
            <a:r>
              <a:rPr lang="zh-CN" altLang="zh-CN" dirty="0"/>
              <a:t>是三个不同的标识符。</a:t>
            </a:r>
          </a:p>
        </p:txBody>
      </p:sp>
      <p:sp>
        <p:nvSpPr>
          <p:cNvPr id="15" name="内容占位符 2">
            <a:extLst>
              <a:ext uri="{FF2B5EF4-FFF2-40B4-BE49-F238E27FC236}">
                <a16:creationId xmlns:a16="http://schemas.microsoft.com/office/drawing/2014/main" id="{7B16F27D-B39A-4F43-BDA0-EDE3DEA0278D}"/>
              </a:ext>
            </a:extLst>
          </p:cNvPr>
          <p:cNvSpPr txBox="1">
            <a:spLocks/>
          </p:cNvSpPr>
          <p:nvPr/>
        </p:nvSpPr>
        <p:spPr>
          <a:xfrm>
            <a:off x="379380" y="5846663"/>
            <a:ext cx="8229600" cy="7200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800" b="1" dirty="0">
                <a:uFill>
                  <a:solidFill>
                    <a:schemeClr val="accent1"/>
                  </a:solidFill>
                </a:uFill>
                <a:latin typeface="黑体" panose="02010609060101010101" pitchFamily="49" charset="-122"/>
                <a:ea typeface="黑体" panose="02010609060101010101" pitchFamily="49" charset="-122"/>
              </a:rPr>
              <a:t>Python</a:t>
            </a:r>
            <a:r>
              <a:rPr lang="zh-CN" altLang="en-US" sz="1800" b="1" dirty="0">
                <a:uFill>
                  <a:solidFill>
                    <a:schemeClr val="accent1"/>
                  </a:solidFill>
                </a:uFill>
                <a:latin typeface="黑体" panose="02010609060101010101" pitchFamily="49" charset="-122"/>
                <a:ea typeface="黑体" panose="02010609060101010101" pitchFamily="49" charset="-122"/>
              </a:rPr>
              <a:t>中字母的</a:t>
            </a:r>
            <a:r>
              <a:rPr lang="zh-CN" altLang="en-US" sz="1800" b="1" dirty="0">
                <a:solidFill>
                  <a:srgbClr val="FF0000"/>
                </a:solidFill>
                <a:uFill>
                  <a:solidFill>
                    <a:schemeClr val="accent1"/>
                  </a:solidFill>
                </a:uFill>
                <a:latin typeface="黑体" panose="02010609060101010101" pitchFamily="49" charset="-122"/>
                <a:ea typeface="黑体" panose="02010609060101010101" pitchFamily="49" charset="-122"/>
              </a:rPr>
              <a:t>大小写是有区别</a:t>
            </a:r>
            <a:r>
              <a:rPr lang="zh-CN" altLang="en-US" sz="1800" b="1" dirty="0">
                <a:uFill>
                  <a:solidFill>
                    <a:schemeClr val="accent1"/>
                  </a:solidFill>
                </a:uFill>
                <a:latin typeface="黑体" panose="02010609060101010101" pitchFamily="49" charset="-122"/>
                <a:ea typeface="黑体" panose="02010609060101010101" pitchFamily="49" charset="-122"/>
              </a:rPr>
              <a:t>的</a:t>
            </a:r>
            <a:endParaRPr lang="en-US" altLang="zh-CN" sz="1800" b="1" dirty="0">
              <a:uFill>
                <a:solidFill>
                  <a:schemeClr val="accent1"/>
                </a:solidFill>
              </a:u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46098624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iterate type="lt">
                                    <p:tmAbs val="0"/>
                                  </p:iterate>
                                  <p:childTnLst>
                                    <p:set>
                                      <p:cBhvr>
                                        <p:cTn id="31" dur="1" fill="hold">
                                          <p:stCondLst>
                                            <p:cond delay="0"/>
                                          </p:stCondLst>
                                        </p:cTn>
                                        <p:tgtEl>
                                          <p:spTgt spid="3"/>
                                        </p:tgtEl>
                                        <p:attrNameLst>
                                          <p:attrName>style.visibility</p:attrName>
                                        </p:attrNameLst>
                                      </p:cBhvr>
                                      <p:to>
                                        <p:strVal val="visible"/>
                                      </p:to>
                                    </p:set>
                                  </p:childTnLst>
                                </p:cTn>
                              </p:par>
                            </p:childTnLst>
                          </p:cTn>
                        </p:par>
                        <p:par>
                          <p:cTn id="32" fill="hold">
                            <p:stCondLst>
                              <p:cond delay="0"/>
                            </p:stCondLst>
                            <p:childTnLst>
                              <p:par>
                                <p:cTn id="33" presetID="34" presetClass="emph" presetSubtype="0" fill="hold" grpId="1" nodeType="afterEffect">
                                  <p:stCondLst>
                                    <p:cond delay="0"/>
                                  </p:stCondLst>
                                  <p:iterate type="lt">
                                    <p:tmPct val="10000"/>
                                  </p:iterate>
                                  <p:childTnLst>
                                    <p:animMotion origin="layout" path="M 0.0 0.0 L 0.0 -0.07213" pathEditMode="relative" ptsTypes="">
                                      <p:cBhvr>
                                        <p:cTn id="34" dur="250" accel="50000" decel="50000" autoRev="1" fill="hold">
                                          <p:stCondLst>
                                            <p:cond delay="0"/>
                                          </p:stCondLst>
                                        </p:cTn>
                                        <p:tgtEl>
                                          <p:spTgt spid="3"/>
                                        </p:tgtEl>
                                        <p:attrNameLst>
                                          <p:attrName>ppt_x</p:attrName>
                                          <p:attrName>ppt_y</p:attrName>
                                        </p:attrNameLst>
                                      </p:cBhvr>
                                    </p:animMotion>
                                    <p:animRot by="1500000">
                                      <p:cBhvr>
                                        <p:cTn id="35" dur="125" fill="hold">
                                          <p:stCondLst>
                                            <p:cond delay="0"/>
                                          </p:stCondLst>
                                        </p:cTn>
                                        <p:tgtEl>
                                          <p:spTgt spid="3"/>
                                        </p:tgtEl>
                                        <p:attrNameLst>
                                          <p:attrName>r</p:attrName>
                                        </p:attrNameLst>
                                      </p:cBhvr>
                                    </p:animRot>
                                    <p:animRot by="-1500000">
                                      <p:cBhvr>
                                        <p:cTn id="36" dur="125" fill="hold">
                                          <p:stCondLst>
                                            <p:cond delay="125"/>
                                          </p:stCondLst>
                                        </p:cTn>
                                        <p:tgtEl>
                                          <p:spTgt spid="3"/>
                                        </p:tgtEl>
                                        <p:attrNameLst>
                                          <p:attrName>r</p:attrName>
                                        </p:attrNameLst>
                                      </p:cBhvr>
                                    </p:animRot>
                                    <p:animRot by="-1500000">
                                      <p:cBhvr>
                                        <p:cTn id="37" dur="125" fill="hold">
                                          <p:stCondLst>
                                            <p:cond delay="250"/>
                                          </p:stCondLst>
                                        </p:cTn>
                                        <p:tgtEl>
                                          <p:spTgt spid="3"/>
                                        </p:tgtEl>
                                        <p:attrNameLst>
                                          <p:attrName>r</p:attrName>
                                        </p:attrNameLst>
                                      </p:cBhvr>
                                    </p:animRot>
                                    <p:animRot by="1500000">
                                      <p:cBhvr>
                                        <p:cTn id="38" dur="125" fill="hold">
                                          <p:stCondLst>
                                            <p:cond delay="375"/>
                                          </p:stCondLst>
                                        </p:cTn>
                                        <p:tgtEl>
                                          <p:spTgt spid="3"/>
                                        </p:tgtEl>
                                        <p:attrNameLst>
                                          <p:attrName>r</p:attrName>
                                        </p:attrNameLst>
                                      </p:cBhvr>
                                    </p:animRo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5">
                                            <p:txEl>
                                              <p:pRg st="0" end="0"/>
                                            </p:txEl>
                                          </p:spTgt>
                                        </p:tgtEl>
                                        <p:attrNameLst>
                                          <p:attrName>style.visibility</p:attrName>
                                        </p:attrNameLst>
                                      </p:cBhvr>
                                      <p:to>
                                        <p:strVal val="visible"/>
                                      </p:to>
                                    </p:set>
                                    <p:animEffect transition="in" filter="wipe(left)">
                                      <p:cBhvr>
                                        <p:cTn id="48"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p:bldP spid="7" grpId="0"/>
      <p:bldP spid="8" grpId="0"/>
      <p:bldP spid="10" grpId="0"/>
      <p:bldP spid="11" grpId="0"/>
      <p:bldP spid="12" grpId="0"/>
      <p:bldP spid="13" grpId="0"/>
      <p:bldP spid="3" grpId="0"/>
      <p:bldP spid="3" grpId="1"/>
      <p:bldP spid="14" grpId="0"/>
      <p:bldP spid="1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正确的标识符是（  ）。</a:t>
            </a:r>
          </a:p>
        </p:txBody>
      </p:sp>
      <p:sp>
        <p:nvSpPr>
          <p:cNvPr id="6" name="文本框 5"/>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2you</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my-name</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_item</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en-US" altLang="zh-CN" sz="2600" dirty="0" err="1">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abc</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*1</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9"/>
            </p:custDataLst>
          </p:nvPr>
        </p:nvSpPr>
        <p:spPr>
          <a:xfrm>
            <a:off x="1114425" y="45648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圆角矩形 13"/>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9" name="组合 18"/>
          <p:cNvGrpSpPr/>
          <p:nvPr>
            <p:custDataLst>
              <p:tags r:id="rId12"/>
            </p:custDataLst>
          </p:nvPr>
        </p:nvGrpSpPr>
        <p:grpSpPr>
          <a:xfrm>
            <a:off x="0" y="0"/>
            <a:ext cx="9144000" cy="635000"/>
            <a:chOff x="0" y="0"/>
            <a:chExt cx="9144000" cy="635000"/>
          </a:xfrm>
        </p:grpSpPr>
        <p:sp>
          <p:nvSpPr>
            <p:cNvPr id="15"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8"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4" name="图片 3"/>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2041819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特殊变量   </a:t>
            </a:r>
            <a:r>
              <a:rPr lang="en-US" altLang="zh-CN"/>
              <a:t>_</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7</a:t>
            </a:fld>
            <a:endParaRPr lang="zh-CN" altLang="en-US"/>
          </a:p>
        </p:txBody>
      </p:sp>
      <p:sp>
        <p:nvSpPr>
          <p:cNvPr id="5" name="内容占位符 4"/>
          <p:cNvSpPr>
            <a:spLocks noGrp="1"/>
          </p:cNvSpPr>
          <p:nvPr>
            <p:ph idx="1"/>
          </p:nvPr>
        </p:nvSpPr>
        <p:spPr>
          <a:xfrm>
            <a:off x="539552" y="1916832"/>
            <a:ext cx="7886700" cy="553998"/>
          </a:xfrm>
          <a:prstGeom prst="rect">
            <a:avLst/>
          </a:prstGeom>
        </p:spPr>
        <p:txBody>
          <a:bodyPr wrap="square">
            <a:spAutoFit/>
          </a:bodyPr>
          <a:lstStyle/>
          <a:p>
            <a:pPr>
              <a:lnSpc>
                <a:spcPct val="150000"/>
              </a:lnSpc>
              <a:spcAft>
                <a:spcPts val="600"/>
              </a:spcAft>
              <a:buClr>
                <a:srgbClr val="7030A0"/>
              </a:buClr>
              <a:buSzPct val="60000"/>
            </a:pPr>
            <a:r>
              <a:rPr lang="zh-CN" altLang="zh-CN" sz="2000">
                <a:latin typeface="+mn-ea"/>
              </a:rPr>
              <a:t>单独</a:t>
            </a:r>
            <a:r>
              <a:rPr lang="zh-CN" altLang="zh-CN" sz="2000" dirty="0">
                <a:latin typeface="+mn-ea"/>
              </a:rPr>
              <a:t>的下划线（</a:t>
            </a:r>
            <a:r>
              <a:rPr lang="en-US" altLang="zh-CN" sz="2000" dirty="0">
                <a:solidFill>
                  <a:srgbClr val="FF0000"/>
                </a:solidFill>
                <a:latin typeface="+mn-ea"/>
              </a:rPr>
              <a:t>_</a:t>
            </a:r>
            <a:r>
              <a:rPr lang="zh-CN" altLang="zh-CN" sz="2000" dirty="0">
                <a:latin typeface="+mn-ea"/>
              </a:rPr>
              <a:t>）是一个特殊变量，用于表示</a:t>
            </a:r>
            <a:r>
              <a:rPr lang="zh-CN" altLang="zh-CN" sz="2000" dirty="0">
                <a:solidFill>
                  <a:srgbClr val="FF0000"/>
                </a:solidFill>
                <a:latin typeface="+mn-ea"/>
              </a:rPr>
              <a:t>上一次运算的</a:t>
            </a:r>
            <a:r>
              <a:rPr lang="zh-CN" altLang="zh-CN" sz="2000">
                <a:solidFill>
                  <a:srgbClr val="FF0000"/>
                </a:solidFill>
                <a:latin typeface="+mn-ea"/>
              </a:rPr>
              <a:t>结果</a:t>
            </a:r>
            <a:r>
              <a:rPr lang="zh-CN" altLang="zh-CN" sz="2000">
                <a:latin typeface="+mn-ea"/>
              </a:rPr>
              <a:t>。</a:t>
            </a:r>
            <a:endParaRPr lang="zh-CN" altLang="zh-CN" sz="2000" dirty="0">
              <a:latin typeface="+mn-ea"/>
            </a:endParaRPr>
          </a:p>
        </p:txBody>
      </p:sp>
      <p:sp>
        <p:nvSpPr>
          <p:cNvPr id="3" name="矩形 2"/>
          <p:cNvSpPr/>
          <p:nvPr/>
        </p:nvSpPr>
        <p:spPr>
          <a:xfrm>
            <a:off x="3059832" y="3356992"/>
            <a:ext cx="1165704" cy="2585323"/>
          </a:xfrm>
          <a:prstGeom prst="rect">
            <a:avLst/>
          </a:prstGeom>
          <a:solidFill>
            <a:schemeClr val="bg1">
              <a:lumMod val="95000"/>
            </a:schemeClr>
          </a:solidFill>
        </p:spPr>
        <p:txBody>
          <a:bodyPr wrap="none">
            <a:spAutoFit/>
          </a:bodyPr>
          <a:lstStyle/>
          <a:p>
            <a:pPr>
              <a:lnSpc>
                <a:spcPct val="150000"/>
              </a:lnSpc>
            </a:pPr>
            <a:r>
              <a:rPr lang="zh-CN" altLang="en-US"/>
              <a:t>&gt;&gt;&gt;</a:t>
            </a:r>
            <a:r>
              <a:rPr lang="en-US" altLang="zh-CN"/>
              <a:t>2</a:t>
            </a:r>
          </a:p>
          <a:p>
            <a:pPr>
              <a:lnSpc>
                <a:spcPct val="150000"/>
              </a:lnSpc>
            </a:pPr>
            <a:r>
              <a:rPr lang="en-US" altLang="zh-CN"/>
              <a:t>2</a:t>
            </a:r>
          </a:p>
          <a:p>
            <a:pPr>
              <a:lnSpc>
                <a:spcPct val="150000"/>
              </a:lnSpc>
            </a:pPr>
            <a:r>
              <a:rPr lang="zh-CN" altLang="en-US"/>
              <a:t>&gt;&gt;&gt; </a:t>
            </a:r>
            <a:r>
              <a:rPr lang="zh-CN" altLang="en-US">
                <a:solidFill>
                  <a:srgbClr val="FF0000"/>
                </a:solidFill>
              </a:rPr>
              <a:t>_</a:t>
            </a:r>
            <a:r>
              <a:rPr lang="en-US" altLang="zh-CN"/>
              <a:t>+10</a:t>
            </a:r>
          </a:p>
          <a:p>
            <a:pPr>
              <a:lnSpc>
                <a:spcPct val="150000"/>
              </a:lnSpc>
            </a:pPr>
            <a:r>
              <a:rPr lang="en-US" altLang="zh-CN"/>
              <a:t>12</a:t>
            </a:r>
          </a:p>
          <a:p>
            <a:pPr>
              <a:lnSpc>
                <a:spcPct val="150000"/>
              </a:lnSpc>
            </a:pPr>
            <a:r>
              <a:rPr lang="en-US" altLang="zh-CN"/>
              <a:t>&gt;&gt;&gt; </a:t>
            </a:r>
            <a:r>
              <a:rPr lang="en-US" altLang="zh-CN">
                <a:solidFill>
                  <a:srgbClr val="FF0000"/>
                </a:solidFill>
              </a:rPr>
              <a:t>_</a:t>
            </a:r>
            <a:r>
              <a:rPr lang="en-US" altLang="zh-CN"/>
              <a:t>+100</a:t>
            </a:r>
          </a:p>
          <a:p>
            <a:pPr>
              <a:lnSpc>
                <a:spcPct val="150000"/>
              </a:lnSpc>
            </a:pPr>
            <a:r>
              <a:rPr lang="en-US" altLang="zh-CN"/>
              <a:t>112</a:t>
            </a:r>
            <a:endParaRPr lang="zh-CN" altLang="en-US"/>
          </a:p>
        </p:txBody>
      </p:sp>
    </p:spTree>
    <p:extLst>
      <p:ext uri="{BB962C8B-B14F-4D97-AF65-F5344CB8AC3E}">
        <p14:creationId xmlns:p14="http://schemas.microsoft.com/office/powerpoint/2010/main" val="421331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2.3  Python关键字简要说明</a:t>
            </a:r>
          </a:p>
        </p:txBody>
      </p:sp>
      <p:sp>
        <p:nvSpPr>
          <p:cNvPr id="3" name="Content Placeholder 2"/>
          <p:cNvSpPr>
            <a:spLocks noGrp="1"/>
          </p:cNvSpPr>
          <p:nvPr>
            <p:ph idx="1"/>
          </p:nvPr>
        </p:nvSpPr>
        <p:spPr>
          <a:xfrm>
            <a:off x="628650" y="1825625"/>
            <a:ext cx="7615758" cy="1387351"/>
          </a:xfrm>
        </p:spPr>
        <p:txBody>
          <a:bodyPr>
            <a:normAutofit/>
          </a:bodyPr>
          <a:lstStyle/>
          <a:p>
            <a:pPr fontAlgn="auto">
              <a:lnSpc>
                <a:spcPct val="150000"/>
              </a:lnSpc>
            </a:pPr>
            <a:r>
              <a:rPr lang="en-US" sz="1800" dirty="0" err="1"/>
              <a:t>Python关键字</a:t>
            </a:r>
            <a:r>
              <a:rPr lang="zh-CN" altLang="en-US" sz="1800" dirty="0"/>
              <a:t>是</a:t>
            </a:r>
            <a:r>
              <a:rPr lang="en-US" altLang="zh-CN" sz="1800" dirty="0">
                <a:solidFill>
                  <a:srgbClr val="FF0000"/>
                </a:solidFill>
              </a:rPr>
              <a:t>python</a:t>
            </a:r>
            <a:r>
              <a:rPr lang="zh-CN" altLang="en-US" sz="1800" dirty="0">
                <a:solidFill>
                  <a:srgbClr val="FF0000"/>
                </a:solidFill>
              </a:rPr>
              <a:t>语言已经使用的</a:t>
            </a:r>
            <a:r>
              <a:rPr lang="en-US" sz="1800" dirty="0"/>
              <a:t>，</a:t>
            </a:r>
            <a:r>
              <a:rPr lang="en-US" sz="1800" dirty="0" err="1">
                <a:solidFill>
                  <a:srgbClr val="FF0000"/>
                </a:solidFill>
              </a:rPr>
              <a:t>不能</a:t>
            </a:r>
            <a:r>
              <a:rPr lang="en-US" sz="1800" dirty="0" err="1"/>
              <a:t>用来做变量名、函数名或类名等标识符</a:t>
            </a:r>
            <a:r>
              <a:rPr lang="en-US" sz="1800" dirty="0"/>
              <a:t>。</a:t>
            </a: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8</a:t>
            </a:fld>
            <a:endParaRPr lang="zh-CN" altLang="en-US"/>
          </a:p>
        </p:txBody>
      </p:sp>
      <p:pic>
        <p:nvPicPr>
          <p:cNvPr id="8" name="图片 7"/>
          <p:cNvPicPr>
            <a:picLocks noChangeAspect="1"/>
          </p:cNvPicPr>
          <p:nvPr/>
        </p:nvPicPr>
        <p:blipFill>
          <a:blip r:embed="rId2"/>
          <a:stretch>
            <a:fillRect/>
          </a:stretch>
        </p:blipFill>
        <p:spPr>
          <a:xfrm>
            <a:off x="1187624" y="3140968"/>
            <a:ext cx="5555850" cy="2143650"/>
          </a:xfrm>
          <a:prstGeom prst="rect">
            <a:avLst/>
          </a:prstGeom>
          <a:ln>
            <a:solidFill>
              <a:schemeClr val="accent1"/>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6035427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arn(inVertical)">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2.3  Python关键字简要说明</a:t>
            </a:r>
            <a:endParaRPr lang="en-US"/>
          </a:p>
        </p:txBody>
      </p:sp>
      <p:graphicFrame>
        <p:nvGraphicFramePr>
          <p:cNvPr id="3" name="Content Placeholder -1"/>
          <p:cNvGraphicFramePr>
            <a:graphicFrameLocks noGrp="1"/>
          </p:cNvGraphicFramePr>
          <p:nvPr>
            <p:ph idx="1"/>
          </p:nvPr>
        </p:nvGraphicFramePr>
        <p:xfrm>
          <a:off x="628650" y="1848326"/>
          <a:ext cx="7325677" cy="4053858"/>
        </p:xfrm>
        <a:graphic>
          <a:graphicData uri="http://schemas.openxmlformats.org/drawingml/2006/table">
            <a:tbl>
              <a:tblPr firstRow="1" bandRow="1">
                <a:tableStyleId>{5940675A-B579-460E-94D1-54222C63F5DA}</a:tableStyleId>
              </a:tblPr>
              <a:tblGrid>
                <a:gridCol w="1221581">
                  <a:extLst>
                    <a:ext uri="{9D8B030D-6E8A-4147-A177-3AD203B41FA5}">
                      <a16:colId xmlns:a16="http://schemas.microsoft.com/office/drawing/2014/main" val="20000"/>
                    </a:ext>
                  </a:extLst>
                </a:gridCol>
                <a:gridCol w="6104096">
                  <a:extLst>
                    <a:ext uri="{9D8B030D-6E8A-4147-A177-3AD203B41FA5}">
                      <a16:colId xmlns:a16="http://schemas.microsoft.com/office/drawing/2014/main" val="20001"/>
                    </a:ext>
                  </a:extLst>
                </a:gridCol>
              </a:tblGrid>
              <a:tr h="205741">
                <a:tc>
                  <a:txBody>
                    <a:bodyPr/>
                    <a:lstStyle/>
                    <a:p>
                      <a:pPr indent="0" algn="ctr">
                        <a:buNone/>
                      </a:pPr>
                      <a:r>
                        <a:rPr lang="zh-CN" altLang="en-US" sz="1400" b="1">
                          <a:latin typeface="宋体" panose="02010600030101010101" pitchFamily="2" charset="-122"/>
                          <a:ea typeface="宋体" panose="02010600030101010101" pitchFamily="2" charset="-122"/>
                          <a:cs typeface="宋体" panose="02010600030101010101" pitchFamily="2" charset="-122"/>
                        </a:rPr>
                        <a:t>关键字</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400" b="1">
                          <a:latin typeface="宋体" panose="02010600030101010101" pitchFamily="2" charset="-122"/>
                          <a:ea typeface="宋体" panose="02010600030101010101" pitchFamily="2" charset="-122"/>
                          <a:cs typeface="宋体" panose="02010600030101010101" pitchFamily="2" charset="-122"/>
                        </a:rPr>
                        <a:t>含义</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False</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常量，逻辑假</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None</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常量，空值</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True</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常量，逻辑真</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and</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逻辑与运算</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as</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在</a:t>
                      </a:r>
                      <a:r>
                        <a:rPr lang="en-US" altLang="zh-CN" sz="1400" b="0">
                          <a:latin typeface="宋体" panose="02010600030101010101" pitchFamily="2" charset="-122"/>
                          <a:ea typeface="宋体" panose="02010600030101010101" pitchFamily="2" charset="-122"/>
                          <a:cs typeface="宋体" panose="02010600030101010101" pitchFamily="2" charset="-122"/>
                        </a:rPr>
                        <a:t>import</a:t>
                      </a:r>
                      <a:r>
                        <a:rPr lang="zh-CN" altLang="en-US" sz="1400" b="0">
                          <a:latin typeface="宋体" panose="02010600030101010101" pitchFamily="2" charset="-122"/>
                          <a:ea typeface="宋体" panose="02010600030101010101" pitchFamily="2" charset="-122"/>
                          <a:cs typeface="宋体" panose="02010600030101010101" pitchFamily="2" charset="-122"/>
                        </a:rPr>
                        <a:t>或</a:t>
                      </a:r>
                      <a:r>
                        <a:rPr lang="en-US" altLang="zh-CN" sz="1400" b="0">
                          <a:latin typeface="宋体" panose="02010600030101010101" pitchFamily="2" charset="-122"/>
                          <a:ea typeface="宋体" panose="02010600030101010101" pitchFamily="2" charset="-122"/>
                          <a:cs typeface="宋体" panose="02010600030101010101" pitchFamily="2" charset="-122"/>
                        </a:rPr>
                        <a:t>except</a:t>
                      </a:r>
                      <a:r>
                        <a:rPr lang="zh-CN" altLang="en-US" sz="1400" b="0">
                          <a:latin typeface="宋体" panose="02010600030101010101" pitchFamily="2" charset="-122"/>
                          <a:ea typeface="宋体" panose="02010600030101010101" pitchFamily="2" charset="-122"/>
                          <a:cs typeface="宋体" panose="02010600030101010101" pitchFamily="2" charset="-122"/>
                        </a:rPr>
                        <a:t>语句中给对象起别名</a:t>
                      </a:r>
                      <a:endParaRPr lang="en-US" sz="1400" b="0">
                        <a:latin typeface="宋体" panose="02010600030101010101" pitchFamily="2" charset="-122"/>
                        <a:ea typeface="宋体" panose="02010600030101010101" pitchFamily="2" charset="-122"/>
                        <a:cs typeface="宋体" panose="02010600030101010101" pitchFamily="2" charset="-122"/>
                      </a:endParaRP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assert</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断言，用来确认某个条件必须满足，可用来帮助调试程序</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break</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用在循环中，提前结束</a:t>
                      </a:r>
                      <a:r>
                        <a:rPr lang="en-US" altLang="zh-CN" sz="1400" b="0">
                          <a:latin typeface="宋体" panose="02010600030101010101" pitchFamily="2" charset="-122"/>
                          <a:ea typeface="宋体" panose="02010600030101010101" pitchFamily="2" charset="-122"/>
                          <a:cs typeface="宋体" panose="02010600030101010101" pitchFamily="2" charset="-122"/>
                        </a:rPr>
                        <a:t>break</a:t>
                      </a:r>
                      <a:r>
                        <a:rPr lang="zh-CN" altLang="en-US" sz="1400" b="0">
                          <a:latin typeface="宋体" panose="02010600030101010101" pitchFamily="2" charset="-122"/>
                          <a:ea typeface="宋体" panose="02010600030101010101" pitchFamily="2" charset="-122"/>
                          <a:cs typeface="宋体" panose="02010600030101010101" pitchFamily="2" charset="-122"/>
                        </a:rPr>
                        <a:t>所在层次的循环</a:t>
                      </a:r>
                      <a:endParaRPr lang="en-US" sz="1400" b="0">
                        <a:latin typeface="宋体" panose="02010600030101010101" pitchFamily="2" charset="-122"/>
                        <a:ea typeface="宋体" panose="02010600030101010101" pitchFamily="2" charset="-122"/>
                        <a:cs typeface="宋体" panose="02010600030101010101" pitchFamily="2" charset="-122"/>
                      </a:endParaRP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class</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用来定义类</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continue</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用在循环中，提前结束本次循环</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def</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用来定义函数</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del</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用来删除对象或对象成员</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elif</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用在选择结构中，表示</a:t>
                      </a:r>
                      <a:r>
                        <a:rPr lang="en-US" altLang="zh-CN" sz="1400" b="0">
                          <a:latin typeface="宋体" panose="02010600030101010101" pitchFamily="2" charset="-122"/>
                          <a:ea typeface="宋体" panose="02010600030101010101" pitchFamily="2" charset="-122"/>
                          <a:cs typeface="宋体" panose="02010600030101010101" pitchFamily="2" charset="-122"/>
                        </a:rPr>
                        <a:t>else if</a:t>
                      </a:r>
                      <a:r>
                        <a:rPr lang="zh-CN" altLang="en-US" sz="1400" b="0">
                          <a:latin typeface="宋体" panose="02010600030101010101" pitchFamily="2" charset="-122"/>
                          <a:ea typeface="宋体" panose="02010600030101010101" pitchFamily="2" charset="-122"/>
                          <a:cs typeface="宋体" panose="02010600030101010101" pitchFamily="2" charset="-122"/>
                        </a:rPr>
                        <a:t>的意思</a:t>
                      </a:r>
                      <a:endParaRPr lang="en-US" sz="1400" b="0">
                        <a:latin typeface="宋体" panose="02010600030101010101" pitchFamily="2" charset="-122"/>
                        <a:ea typeface="宋体" panose="02010600030101010101" pitchFamily="2" charset="-122"/>
                        <a:cs typeface="宋体" panose="02010600030101010101" pitchFamily="2" charset="-122"/>
                      </a:endParaRP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else</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可以用在选择结构、循环结构和异常处理结构中</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except</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用在异常处理结构中，用来捕获特定类型的异常</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finally</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用在异常处理结构中，用来表示不论是否发生异常都会执行的代码</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for</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构造</a:t>
                      </a:r>
                      <a:r>
                        <a:rPr lang="en-US" altLang="zh-CN" sz="1400" b="0">
                          <a:latin typeface="宋体" panose="02010600030101010101" pitchFamily="2" charset="-122"/>
                          <a:ea typeface="宋体" panose="02010600030101010101" pitchFamily="2" charset="-122"/>
                          <a:cs typeface="宋体" panose="02010600030101010101" pitchFamily="2" charset="-122"/>
                        </a:rPr>
                        <a:t>for</a:t>
                      </a:r>
                      <a:r>
                        <a:rPr lang="zh-CN" altLang="en-US" sz="1400" b="0">
                          <a:latin typeface="宋体" panose="02010600030101010101" pitchFamily="2" charset="-122"/>
                          <a:ea typeface="宋体" panose="02010600030101010101" pitchFamily="2" charset="-122"/>
                          <a:cs typeface="宋体" panose="02010600030101010101" pitchFamily="2" charset="-122"/>
                        </a:rPr>
                        <a:t>循环，用来迭代序列或可迭代对象中的所有元素</a:t>
                      </a:r>
                      <a:endParaRPr lang="en-US" sz="1400" b="0">
                        <a:latin typeface="宋体" panose="02010600030101010101" pitchFamily="2" charset="-122"/>
                        <a:ea typeface="宋体" panose="02010600030101010101" pitchFamily="2" charset="-122"/>
                        <a:cs typeface="宋体" panose="02010600030101010101" pitchFamily="2" charset="-122"/>
                      </a:endParaRP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41148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from</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明确指定从哪个模块中导入什么对象，例如</a:t>
                      </a:r>
                      <a:r>
                        <a:rPr lang="en-US" altLang="zh-CN" sz="1400" b="0">
                          <a:latin typeface="宋体" panose="02010600030101010101" pitchFamily="2" charset="-122"/>
                          <a:ea typeface="宋体" panose="02010600030101010101" pitchFamily="2" charset="-122"/>
                          <a:cs typeface="宋体" panose="02010600030101010101" pitchFamily="2" charset="-122"/>
                        </a:rPr>
                        <a:t>from math import sin</a:t>
                      </a:r>
                      <a:r>
                        <a:rPr lang="zh-CN" altLang="en-US" sz="1400" b="0">
                          <a:latin typeface="宋体" panose="02010600030101010101" pitchFamily="2" charset="-122"/>
                          <a:ea typeface="宋体" panose="02010600030101010101" pitchFamily="2" charset="-122"/>
                          <a:cs typeface="宋体" panose="02010600030101010101" pitchFamily="2" charset="-122"/>
                        </a:rPr>
                        <a:t>；</a:t>
                      </a:r>
                    </a:p>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还可以与</a:t>
                      </a:r>
                      <a:r>
                        <a:rPr lang="en-US" altLang="zh-CN" sz="1400" b="0">
                          <a:latin typeface="宋体" panose="02010600030101010101" pitchFamily="2" charset="-122"/>
                          <a:ea typeface="宋体" panose="02010600030101010101" pitchFamily="2" charset="-122"/>
                          <a:cs typeface="宋体" panose="02010600030101010101" pitchFamily="2" charset="-122"/>
                        </a:rPr>
                        <a:t>yield</a:t>
                      </a:r>
                      <a:r>
                        <a:rPr lang="zh-CN" altLang="en-US" sz="1400" b="0">
                          <a:latin typeface="宋体" panose="02010600030101010101" pitchFamily="2" charset="-122"/>
                          <a:ea typeface="宋体" panose="02010600030101010101" pitchFamily="2" charset="-122"/>
                          <a:cs typeface="宋体" panose="02010600030101010101" pitchFamily="2" charset="-122"/>
                        </a:rPr>
                        <a:t>一起构成</a:t>
                      </a:r>
                      <a:r>
                        <a:rPr lang="en-US" altLang="zh-CN" sz="1400" b="0">
                          <a:latin typeface="宋体" panose="02010600030101010101" pitchFamily="2" charset="-122"/>
                          <a:ea typeface="宋体" panose="02010600030101010101" pitchFamily="2" charset="-122"/>
                          <a:cs typeface="宋体" panose="02010600030101010101" pitchFamily="2" charset="-122"/>
                        </a:rPr>
                        <a:t>yield</a:t>
                      </a:r>
                      <a:r>
                        <a:rPr lang="zh-CN" altLang="en-US" sz="1400" b="0">
                          <a:latin typeface="宋体" panose="02010600030101010101" pitchFamily="2" charset="-122"/>
                          <a:ea typeface="宋体" panose="02010600030101010101" pitchFamily="2" charset="-122"/>
                          <a:cs typeface="宋体" panose="02010600030101010101" pitchFamily="2" charset="-122"/>
                        </a:rPr>
                        <a:t>表达式</a:t>
                      </a:r>
                      <a:endParaRPr lang="en-US" sz="1400" b="0">
                        <a:latin typeface="宋体" panose="02010600030101010101" pitchFamily="2" charset="-122"/>
                        <a:ea typeface="宋体" panose="02010600030101010101" pitchFamily="2" charset="-122"/>
                        <a:cs typeface="宋体" panose="02010600030101010101" pitchFamily="2" charset="-122"/>
                      </a:endParaRP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bl>
          </a:graphicData>
        </a:graphic>
      </p:graphicFrame>
      <p:sp>
        <p:nvSpPr>
          <p:cNvPr id="4" name="Slide Number Placeholder 3"/>
          <p:cNvSpPr>
            <a:spLocks noGrp="1"/>
          </p:cNvSpPr>
          <p:nvPr>
            <p:ph type="sldNum" sz="quarter" idx="12"/>
          </p:nvPr>
        </p:nvSpPr>
        <p:spPr/>
        <p:txBody>
          <a:bodyPr/>
          <a:lstStyle/>
          <a:p>
            <a:fld id="{565CE74E-AB26-4998-AD42-012C4C1AD076}" type="slidenum">
              <a:rPr lang="zh-CN" altLang="en-US" smtClean="0"/>
              <a:t>9</a:t>
            </a:fld>
            <a:endParaRPr lang="zh-CN" altLang="en-US"/>
          </a:p>
        </p:txBody>
      </p:sp>
    </p:spTree>
    <p:extLst>
      <p:ext uri="{BB962C8B-B14F-4D97-AF65-F5344CB8AC3E}">
        <p14:creationId xmlns:p14="http://schemas.microsoft.com/office/powerpoint/2010/main" val="36780508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2.3  Python关键字简要说明</a:t>
            </a:r>
            <a:endParaRPr lang="en-US"/>
          </a:p>
        </p:txBody>
      </p:sp>
      <p:graphicFrame>
        <p:nvGraphicFramePr>
          <p:cNvPr id="3" name="Content Placeholder -1"/>
          <p:cNvGraphicFramePr>
            <a:graphicFrameLocks noGrp="1"/>
          </p:cNvGraphicFramePr>
          <p:nvPr>
            <p:ph idx="1"/>
          </p:nvPr>
        </p:nvGraphicFramePr>
        <p:xfrm>
          <a:off x="628650" y="1848327"/>
          <a:ext cx="7404259" cy="3627137"/>
        </p:xfrm>
        <a:graphic>
          <a:graphicData uri="http://schemas.openxmlformats.org/drawingml/2006/table">
            <a:tbl>
              <a:tblPr firstRow="1" bandRow="1">
                <a:tableStyleId>{5940675A-B579-460E-94D1-54222C63F5DA}</a:tableStyleId>
              </a:tblPr>
              <a:tblGrid>
                <a:gridCol w="1234440">
                  <a:extLst>
                    <a:ext uri="{9D8B030D-6E8A-4147-A177-3AD203B41FA5}">
                      <a16:colId xmlns:a16="http://schemas.microsoft.com/office/drawing/2014/main" val="20000"/>
                    </a:ext>
                  </a:extLst>
                </a:gridCol>
                <a:gridCol w="6169819">
                  <a:extLst>
                    <a:ext uri="{9D8B030D-6E8A-4147-A177-3AD203B41FA5}">
                      <a16:colId xmlns:a16="http://schemas.microsoft.com/office/drawing/2014/main" val="20001"/>
                    </a:ext>
                  </a:extLst>
                </a:gridCol>
              </a:tblGrid>
              <a:tr h="205741">
                <a:tc>
                  <a:txBody>
                    <a:bodyPr/>
                    <a:lstStyle/>
                    <a:p>
                      <a:pPr indent="0" algn="ctr">
                        <a:buNone/>
                      </a:pPr>
                      <a:r>
                        <a:rPr lang="zh-CN" altLang="en-US" sz="1400" b="1">
                          <a:latin typeface="宋体" panose="02010600030101010101" pitchFamily="2" charset="-122"/>
                          <a:ea typeface="宋体" panose="02010600030101010101" pitchFamily="2" charset="-122"/>
                          <a:cs typeface="宋体" panose="02010600030101010101" pitchFamily="2" charset="-122"/>
                        </a:rPr>
                        <a:t>关键字</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400" b="1">
                          <a:latin typeface="宋体" panose="02010600030101010101" pitchFamily="2" charset="-122"/>
                          <a:ea typeface="宋体" panose="02010600030101010101" pitchFamily="2" charset="-122"/>
                          <a:cs typeface="宋体" panose="02010600030101010101" pitchFamily="2" charset="-122"/>
                        </a:rPr>
                        <a:t>含义</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global</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定义或声明全局变量</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if</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用在选择结构中</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import</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用来导入模块或模块中的对象</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in</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成员测试</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is</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同一性测试</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lambda</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用来定义</a:t>
                      </a:r>
                      <a:r>
                        <a:rPr lang="en-US" altLang="zh-CN" sz="1400" b="0">
                          <a:latin typeface="宋体" panose="02010600030101010101" pitchFamily="2" charset="-122"/>
                          <a:ea typeface="宋体" panose="02010600030101010101" pitchFamily="2" charset="-122"/>
                          <a:cs typeface="宋体" panose="02010600030101010101" pitchFamily="2" charset="-122"/>
                        </a:rPr>
                        <a:t>lambda</a:t>
                      </a:r>
                      <a:r>
                        <a:rPr lang="zh-CN" altLang="en-US" sz="1400" b="0">
                          <a:latin typeface="宋体" panose="02010600030101010101" pitchFamily="2" charset="-122"/>
                          <a:ea typeface="宋体" panose="02010600030101010101" pitchFamily="2" charset="-122"/>
                          <a:cs typeface="宋体" panose="02010600030101010101" pitchFamily="2" charset="-122"/>
                        </a:rPr>
                        <a:t>表达式，类似于函数</a:t>
                      </a:r>
                      <a:endParaRPr lang="en-US" sz="1400" b="0">
                        <a:latin typeface="宋体" panose="02010600030101010101" pitchFamily="2" charset="-122"/>
                        <a:ea typeface="宋体" panose="02010600030101010101" pitchFamily="2" charset="-122"/>
                        <a:cs typeface="宋体" panose="02010600030101010101" pitchFamily="2" charset="-122"/>
                      </a:endParaRP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nonlocal</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用来声明</a:t>
                      </a:r>
                      <a:r>
                        <a:rPr lang="en-US" altLang="zh-CN" sz="1400" b="0">
                          <a:latin typeface="宋体" panose="02010600030101010101" pitchFamily="2" charset="-122"/>
                          <a:ea typeface="宋体" panose="02010600030101010101" pitchFamily="2" charset="-122"/>
                          <a:cs typeface="宋体" panose="02010600030101010101" pitchFamily="2" charset="-122"/>
                        </a:rPr>
                        <a:t>nonlocal</a:t>
                      </a:r>
                      <a:r>
                        <a:rPr lang="zh-CN" altLang="en-US" sz="1400" b="0">
                          <a:latin typeface="宋体" panose="02010600030101010101" pitchFamily="2" charset="-122"/>
                          <a:ea typeface="宋体" panose="02010600030101010101" pitchFamily="2" charset="-122"/>
                          <a:cs typeface="宋体" panose="02010600030101010101" pitchFamily="2" charset="-122"/>
                        </a:rPr>
                        <a:t>变量</a:t>
                      </a:r>
                      <a:endParaRPr lang="en-US" sz="1400" b="0">
                        <a:latin typeface="宋体" panose="02010600030101010101" pitchFamily="2" charset="-122"/>
                        <a:ea typeface="宋体" panose="02010600030101010101" pitchFamily="2" charset="-122"/>
                        <a:cs typeface="宋体" panose="02010600030101010101" pitchFamily="2" charset="-122"/>
                      </a:endParaRP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not</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逻辑非运算</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or</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逻辑或运算</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pass</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空语句，执行该语句时什么都不做，常用作占位符</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raise</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用来显式抛出异常</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return</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在函数中用来返回值，如果没有指定返回值，表示返回空值</a:t>
                      </a:r>
                      <a:r>
                        <a:rPr lang="en-US" altLang="zh-CN" sz="1400" b="0">
                          <a:latin typeface="宋体" panose="02010600030101010101" pitchFamily="2" charset="-122"/>
                          <a:ea typeface="宋体" panose="02010600030101010101" pitchFamily="2" charset="-122"/>
                          <a:cs typeface="宋体" panose="02010600030101010101" pitchFamily="2" charset="-122"/>
                        </a:rPr>
                        <a:t>None</a:t>
                      </a:r>
                      <a:endParaRPr lang="en-US" sz="1400" b="0">
                        <a:latin typeface="宋体" panose="02010600030101010101" pitchFamily="2" charset="-122"/>
                        <a:ea typeface="宋体" panose="02010600030101010101" pitchFamily="2" charset="-122"/>
                        <a:cs typeface="宋体" panose="02010600030101010101" pitchFamily="2" charset="-122"/>
                      </a:endParaRP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try</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在异常处理结构中用来限定可能会引发异常的代码块</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while</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用来构造</a:t>
                      </a:r>
                      <a:r>
                        <a:rPr lang="en-US" altLang="zh-CN" sz="1400" b="0">
                          <a:latin typeface="宋体" panose="02010600030101010101" pitchFamily="2" charset="-122"/>
                          <a:ea typeface="宋体" panose="02010600030101010101" pitchFamily="2" charset="-122"/>
                          <a:cs typeface="宋体" panose="02010600030101010101" pitchFamily="2" charset="-122"/>
                        </a:rPr>
                        <a:t>while</a:t>
                      </a:r>
                      <a:r>
                        <a:rPr lang="zh-CN" altLang="en-US" sz="1400" b="0">
                          <a:latin typeface="宋体" panose="02010600030101010101" pitchFamily="2" charset="-122"/>
                          <a:ea typeface="宋体" panose="02010600030101010101" pitchFamily="2" charset="-122"/>
                          <a:cs typeface="宋体" panose="02010600030101010101" pitchFamily="2" charset="-122"/>
                        </a:rPr>
                        <a:t>循环结构，只要条件表达式等价于</a:t>
                      </a:r>
                      <a:r>
                        <a:rPr lang="en-US" altLang="zh-CN" sz="1400" b="0">
                          <a:latin typeface="宋体" panose="02010600030101010101" pitchFamily="2" charset="-122"/>
                          <a:ea typeface="宋体" panose="02010600030101010101" pitchFamily="2" charset="-122"/>
                          <a:cs typeface="宋体" panose="02010600030101010101" pitchFamily="2" charset="-122"/>
                        </a:rPr>
                        <a:t>True</a:t>
                      </a:r>
                      <a:r>
                        <a:rPr lang="zh-CN" altLang="en-US" sz="1400" b="0">
                          <a:latin typeface="宋体" panose="02010600030101010101" pitchFamily="2" charset="-122"/>
                          <a:ea typeface="宋体" panose="02010600030101010101" pitchFamily="2" charset="-122"/>
                          <a:cs typeface="宋体" panose="02010600030101010101" pitchFamily="2" charset="-122"/>
                        </a:rPr>
                        <a:t>就重复执行限定的代码块</a:t>
                      </a:r>
                      <a:endParaRPr lang="en-US" sz="1400" b="0">
                        <a:latin typeface="宋体" panose="02010600030101010101" pitchFamily="2" charset="-122"/>
                        <a:ea typeface="宋体" panose="02010600030101010101" pitchFamily="2" charset="-122"/>
                        <a:cs typeface="宋体" panose="02010600030101010101" pitchFamily="2" charset="-122"/>
                      </a:endParaRP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with</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上下文管理，具有自动管理资源的功能</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05741">
                <a:tc>
                  <a:txBody>
                    <a:bodyPr/>
                    <a:lstStyle/>
                    <a:p>
                      <a:pPr indent="0">
                        <a:buNone/>
                      </a:pPr>
                      <a:r>
                        <a:rPr lang="en-US" altLang="zh-CN" sz="1400" b="0">
                          <a:latin typeface="宋体" panose="02010600030101010101" pitchFamily="2" charset="-122"/>
                          <a:ea typeface="宋体" panose="02010600030101010101" pitchFamily="2" charset="-122"/>
                          <a:cs typeface="宋体" panose="02010600030101010101" pitchFamily="2" charset="-122"/>
                        </a:rPr>
                        <a:t>yield</a:t>
                      </a:r>
                    </a:p>
                  </a:txBody>
                  <a:tcPr marL="27146"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0">
                          <a:latin typeface="宋体" panose="02010600030101010101" pitchFamily="2" charset="-122"/>
                          <a:ea typeface="宋体" panose="02010600030101010101" pitchFamily="2" charset="-122"/>
                          <a:cs typeface="宋体" panose="02010600030101010101" pitchFamily="2" charset="-122"/>
                        </a:rPr>
                        <a:t>在生成器函数中用来返回值</a:t>
                      </a:r>
                    </a:p>
                  </a:txBody>
                  <a:tcPr marL="27146"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bl>
          </a:graphicData>
        </a:graphic>
      </p:graphicFrame>
      <p:sp>
        <p:nvSpPr>
          <p:cNvPr id="4" name="Slide Number Placeholder 3"/>
          <p:cNvSpPr>
            <a:spLocks noGrp="1"/>
          </p:cNvSpPr>
          <p:nvPr>
            <p:ph type="sldNum" sz="quarter" idx="12"/>
          </p:nvPr>
        </p:nvSpPr>
        <p:spPr/>
        <p:txBody>
          <a:bodyPr/>
          <a:lstStyle/>
          <a:p>
            <a:fld id="{565CE74E-AB26-4998-AD42-012C4C1AD076}" type="slidenum">
              <a:rPr lang="zh-CN" altLang="en-US" smtClean="0"/>
              <a:t>10</a:t>
            </a:fld>
            <a:endParaRPr lang="zh-CN" altLang="en-US"/>
          </a:p>
        </p:txBody>
      </p:sp>
    </p:spTree>
    <p:extLst>
      <p:ext uri="{BB962C8B-B14F-4D97-AF65-F5344CB8AC3E}">
        <p14:creationId xmlns:p14="http://schemas.microsoft.com/office/powerpoint/2010/main" val="14312753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p:txBody>
          <a:bodyPr/>
          <a:lstStyle/>
          <a:p>
            <a:r>
              <a:rPr lang="en-US" altLang="zh-CN" b="1">
                <a:solidFill>
                  <a:srgbClr val="245794"/>
                </a:solidFill>
              </a:rPr>
              <a:t>1.4  Python</a:t>
            </a:r>
            <a:r>
              <a:rPr lang="zh-CN" altLang="zh-CN" b="1">
                <a:solidFill>
                  <a:srgbClr val="245794"/>
                </a:solidFill>
              </a:rPr>
              <a:t>数据类型</a:t>
            </a:r>
            <a:endParaRPr lang="zh-CN" altLang="en-US"/>
          </a:p>
        </p:txBody>
      </p:sp>
      <p:sp>
        <p:nvSpPr>
          <p:cNvPr id="6" name="副标题 5"/>
          <p:cNvSpPr>
            <a:spLocks noGrp="1"/>
          </p:cNvSpPr>
          <p:nvPr>
            <p:ph type="subTitle"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11</a:t>
            </a:fld>
            <a:endParaRPr lang="zh-CN" altLang="en-US"/>
          </a:p>
        </p:txBody>
      </p:sp>
    </p:spTree>
    <p:extLst>
      <p:ext uri="{BB962C8B-B14F-4D97-AF65-F5344CB8AC3E}">
        <p14:creationId xmlns:p14="http://schemas.microsoft.com/office/powerpoint/2010/main" val="341474491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331640" y="476672"/>
            <a:ext cx="2954655" cy="646331"/>
          </a:xfrm>
          <a:prstGeom prst="rect">
            <a:avLst/>
          </a:prstGeom>
        </p:spPr>
        <p:txBody>
          <a:bodyPr wrap="none">
            <a:spAutoFit/>
          </a:bodyPr>
          <a:lstStyle/>
          <a:p>
            <a:r>
              <a:rPr lang="zh-CN" altLang="en-US" sz="3600" b="1">
                <a:solidFill>
                  <a:srgbClr val="245794"/>
                </a:solidFill>
              </a:rPr>
              <a:t>常见类型之一</a:t>
            </a:r>
            <a:endParaRPr lang="zh-CN" altLang="zh-CN" sz="3600" b="1" dirty="0">
              <a:solidFill>
                <a:srgbClr val="245794"/>
              </a:solidFill>
            </a:endParaRPr>
          </a:p>
        </p:txBody>
      </p:sp>
      <p:sp>
        <p:nvSpPr>
          <p:cNvPr id="4" name="矩形 3"/>
          <p:cNvSpPr/>
          <p:nvPr/>
        </p:nvSpPr>
        <p:spPr>
          <a:xfrm>
            <a:off x="467544" y="4149080"/>
            <a:ext cx="5970210" cy="1985159"/>
          </a:xfrm>
          <a:prstGeom prst="rect">
            <a:avLst/>
          </a:prstGeom>
        </p:spPr>
        <p:txBody>
          <a:bodyPr wrap="square">
            <a:spAutoFit/>
          </a:bodyPr>
          <a:lstStyle/>
          <a:p>
            <a:pPr>
              <a:lnSpc>
                <a:spcPct val="150000"/>
              </a:lnSpc>
              <a:spcAft>
                <a:spcPts val="600"/>
              </a:spcAft>
              <a:buClr>
                <a:srgbClr val="7030A0"/>
              </a:buClr>
              <a:buSzPct val="60000"/>
            </a:pPr>
            <a:r>
              <a:rPr lang="zh-CN" altLang="zh-CN" b="1" dirty="0">
                <a:solidFill>
                  <a:srgbClr val="245794"/>
                </a:solidFill>
                <a:latin typeface="+mn-ea"/>
              </a:rPr>
              <a:t>例如，</a:t>
            </a:r>
            <a:endParaRPr lang="en-US" altLang="zh-CN" b="1" dirty="0">
              <a:solidFill>
                <a:srgbClr val="245794"/>
              </a:solidFill>
              <a:latin typeface="+mn-ea"/>
            </a:endParaRPr>
          </a:p>
          <a:p>
            <a:pPr marL="457200" indent="-457200">
              <a:lnSpc>
                <a:spcPct val="150000"/>
              </a:lnSpc>
              <a:spcAft>
                <a:spcPts val="600"/>
              </a:spcAft>
              <a:buClr>
                <a:srgbClr val="7030A0"/>
              </a:buClr>
              <a:buSzPct val="60000"/>
              <a:buFont typeface="+mj-lt"/>
              <a:buAutoNum type="arabicPeriod"/>
            </a:pPr>
            <a:r>
              <a:rPr lang="en-US" altLang="zh-CN" b="1" dirty="0">
                <a:solidFill>
                  <a:srgbClr val="245794"/>
                </a:solidFill>
                <a:latin typeface="+mn-ea"/>
              </a:rPr>
              <a:t>0</a:t>
            </a:r>
            <a:r>
              <a:rPr lang="zh-CN" altLang="zh-CN" b="1" dirty="0">
                <a:solidFill>
                  <a:srgbClr val="245794"/>
                </a:solidFill>
                <a:latin typeface="+mn-ea"/>
              </a:rPr>
              <a:t>、</a:t>
            </a:r>
            <a:r>
              <a:rPr lang="en-US" altLang="zh-CN" b="1" dirty="0">
                <a:solidFill>
                  <a:srgbClr val="245794"/>
                </a:solidFill>
                <a:latin typeface="+mn-ea"/>
              </a:rPr>
              <a:t>435</a:t>
            </a:r>
            <a:r>
              <a:rPr lang="zh-CN" altLang="zh-CN" b="1" dirty="0">
                <a:solidFill>
                  <a:srgbClr val="245794"/>
                </a:solidFill>
                <a:latin typeface="+mn-ea"/>
              </a:rPr>
              <a:t>、</a:t>
            </a:r>
            <a:r>
              <a:rPr lang="en-US" altLang="zh-CN" b="1" dirty="0">
                <a:solidFill>
                  <a:srgbClr val="245794"/>
                </a:solidFill>
                <a:latin typeface="+mn-ea"/>
              </a:rPr>
              <a:t>-78</a:t>
            </a:r>
            <a:r>
              <a:rPr lang="zh-CN" altLang="zh-CN" b="1" dirty="0">
                <a:solidFill>
                  <a:srgbClr val="245794"/>
                </a:solidFill>
                <a:latin typeface="+mn-ea"/>
              </a:rPr>
              <a:t>是整型常量</a:t>
            </a:r>
            <a:endParaRPr lang="en-US" altLang="zh-CN" b="1" dirty="0">
              <a:solidFill>
                <a:srgbClr val="245794"/>
              </a:solidFill>
              <a:latin typeface="+mn-ea"/>
            </a:endParaRPr>
          </a:p>
          <a:p>
            <a:pPr marL="457200" indent="-457200">
              <a:lnSpc>
                <a:spcPct val="150000"/>
              </a:lnSpc>
              <a:spcAft>
                <a:spcPts val="600"/>
              </a:spcAft>
              <a:buClr>
                <a:srgbClr val="7030A0"/>
              </a:buClr>
              <a:buSzPct val="60000"/>
              <a:buFont typeface="+mj-lt"/>
              <a:buAutoNum type="arabicPeriod"/>
            </a:pPr>
            <a:r>
              <a:rPr lang="en-US" altLang="zh-CN" b="1" dirty="0">
                <a:solidFill>
                  <a:srgbClr val="245794"/>
                </a:solidFill>
                <a:latin typeface="+mn-ea"/>
              </a:rPr>
              <a:t>-5.8</a:t>
            </a:r>
            <a:r>
              <a:rPr lang="zh-CN" altLang="zh-CN" b="1" dirty="0">
                <a:solidFill>
                  <a:srgbClr val="245794"/>
                </a:solidFill>
                <a:latin typeface="+mn-ea"/>
              </a:rPr>
              <a:t>、</a:t>
            </a:r>
            <a:r>
              <a:rPr lang="en-US" altLang="zh-CN" b="1" dirty="0">
                <a:solidFill>
                  <a:srgbClr val="245794"/>
                </a:solidFill>
                <a:latin typeface="+mn-ea"/>
              </a:rPr>
              <a:t>3.14159</a:t>
            </a:r>
            <a:r>
              <a:rPr lang="zh-CN" altLang="zh-CN" b="1" dirty="0">
                <a:solidFill>
                  <a:srgbClr val="245794"/>
                </a:solidFill>
                <a:latin typeface="+mn-ea"/>
              </a:rPr>
              <a:t>、</a:t>
            </a:r>
            <a:r>
              <a:rPr lang="en-US" altLang="zh-CN" b="1" dirty="0">
                <a:solidFill>
                  <a:srgbClr val="245794"/>
                </a:solidFill>
                <a:latin typeface="+mn-ea"/>
              </a:rPr>
              <a:t>1.0</a:t>
            </a:r>
            <a:r>
              <a:rPr lang="zh-CN" altLang="zh-CN" b="1" dirty="0">
                <a:solidFill>
                  <a:srgbClr val="245794"/>
                </a:solidFill>
                <a:latin typeface="+mn-ea"/>
              </a:rPr>
              <a:t>是实型常量（也称作浮点型常量）</a:t>
            </a:r>
            <a:endParaRPr lang="en-US" altLang="zh-CN" b="1" dirty="0">
              <a:solidFill>
                <a:srgbClr val="245794"/>
              </a:solidFill>
              <a:latin typeface="+mn-ea"/>
            </a:endParaRPr>
          </a:p>
          <a:p>
            <a:pPr marL="457200" indent="-457200">
              <a:lnSpc>
                <a:spcPct val="150000"/>
              </a:lnSpc>
              <a:spcAft>
                <a:spcPts val="600"/>
              </a:spcAft>
              <a:buClr>
                <a:srgbClr val="7030A0"/>
              </a:buClr>
              <a:buSzPct val="60000"/>
              <a:buFont typeface="+mj-lt"/>
              <a:buAutoNum type="arabicPeriod"/>
            </a:pPr>
            <a:r>
              <a:rPr lang="en-US" altLang="zh-CN" b="1" dirty="0">
                <a:solidFill>
                  <a:srgbClr val="245794"/>
                </a:solidFill>
                <a:latin typeface="+mn-ea"/>
              </a:rPr>
              <a:t>'410083'</a:t>
            </a:r>
            <a:r>
              <a:rPr lang="zh-CN" altLang="zh-CN" b="1" dirty="0">
                <a:solidFill>
                  <a:srgbClr val="245794"/>
                </a:solidFill>
                <a:latin typeface="+mn-ea"/>
              </a:rPr>
              <a:t>、</a:t>
            </a:r>
            <a:r>
              <a:rPr lang="en-US" altLang="zh-CN" b="1" dirty="0">
                <a:solidFill>
                  <a:srgbClr val="245794"/>
                </a:solidFill>
                <a:latin typeface="+mn-ea"/>
              </a:rPr>
              <a:t>'Python'</a:t>
            </a:r>
            <a:r>
              <a:rPr lang="zh-CN" altLang="zh-CN" b="1" dirty="0">
                <a:solidFill>
                  <a:srgbClr val="245794"/>
                </a:solidFill>
                <a:latin typeface="+mn-ea"/>
              </a:rPr>
              <a:t>是字符串常量。</a:t>
            </a:r>
          </a:p>
        </p:txBody>
      </p:sp>
      <p:graphicFrame>
        <p:nvGraphicFramePr>
          <p:cNvPr id="6" name="图示 5"/>
          <p:cNvGraphicFramePr/>
          <p:nvPr/>
        </p:nvGraphicFramePr>
        <p:xfrm>
          <a:off x="467544" y="1268760"/>
          <a:ext cx="4968552" cy="30243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爆炸形 1 6"/>
          <p:cNvSpPr/>
          <p:nvPr/>
        </p:nvSpPr>
        <p:spPr>
          <a:xfrm>
            <a:off x="4644008" y="206128"/>
            <a:ext cx="4464496" cy="2546776"/>
          </a:xfrm>
          <a:prstGeom prst="irregularSeal1">
            <a:avLst/>
          </a:prstGeom>
        </p:spPr>
        <p:style>
          <a:lnRef idx="1">
            <a:schemeClr val="accent3"/>
          </a:lnRef>
          <a:fillRef idx="2">
            <a:schemeClr val="accent3"/>
          </a:fillRef>
          <a:effectRef idx="1">
            <a:schemeClr val="accent3"/>
          </a:effectRef>
          <a:fontRef idx="minor">
            <a:schemeClr val="dk1"/>
          </a:fontRef>
        </p:style>
        <p:txBody>
          <a:bodyPr rtlCol="0" anchor="ctr"/>
          <a:lstStyle/>
          <a:p>
            <a:r>
              <a:rPr lang="zh-CN" altLang="en-US" b="1" dirty="0"/>
              <a:t>每种数据类型有自己的</a:t>
            </a:r>
            <a:endParaRPr lang="en-US" altLang="zh-CN" b="1" dirty="0"/>
          </a:p>
          <a:p>
            <a:pPr marL="285750" indent="-285750">
              <a:buFont typeface="Arial" panose="020B0604020202020204" pitchFamily="34" charset="0"/>
              <a:buChar char="•"/>
            </a:pPr>
            <a:r>
              <a:rPr lang="zh-CN" altLang="en-US" b="1" dirty="0">
                <a:solidFill>
                  <a:srgbClr val="FF0000"/>
                </a:solidFill>
              </a:rPr>
              <a:t>运算符及含义</a:t>
            </a:r>
          </a:p>
        </p:txBody>
      </p:sp>
    </p:spTree>
    <p:extLst>
      <p:ext uri="{BB962C8B-B14F-4D97-AF65-F5344CB8AC3E}">
        <p14:creationId xmlns:p14="http://schemas.microsoft.com/office/powerpoint/2010/main" val="303107269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wipe(left)">
                                      <p:cBhvr>
                                        <p:cTn id="11" dur="500"/>
                                        <p:tgtEl>
                                          <p:spTgt spid="4">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wipe(left)">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wipe(left)">
                                      <p:cBhvr>
                                        <p:cTn id="21" dur="500"/>
                                        <p:tgtEl>
                                          <p:spTgt spid="4">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790B23-D783-4A0E-B030-486158EA8403}"/>
              </a:ext>
            </a:extLst>
          </p:cNvPr>
          <p:cNvSpPr>
            <a:spLocks noGrp="1"/>
          </p:cNvSpPr>
          <p:nvPr>
            <p:ph type="title"/>
          </p:nvPr>
        </p:nvSpPr>
        <p:spPr>
          <a:xfrm>
            <a:off x="467544" y="136524"/>
            <a:ext cx="7886700" cy="541987"/>
          </a:xfrm>
        </p:spPr>
        <p:txBody>
          <a:bodyPr>
            <a:normAutofit fontScale="90000"/>
          </a:bodyPr>
          <a:lstStyle/>
          <a:p>
            <a:r>
              <a:rPr lang="zh-CN" altLang="en-US" sz="3600" dirty="0">
                <a:solidFill>
                  <a:srgbClr val="FF0000"/>
                </a:solidFill>
              </a:rPr>
              <a:t>常用的进制</a:t>
            </a:r>
          </a:p>
        </p:txBody>
      </p:sp>
      <p:sp>
        <p:nvSpPr>
          <p:cNvPr id="4" name="灯片编号占位符 3">
            <a:extLst>
              <a:ext uri="{FF2B5EF4-FFF2-40B4-BE49-F238E27FC236}">
                <a16:creationId xmlns:a16="http://schemas.microsoft.com/office/drawing/2014/main" id="{6551EE55-94FE-45BD-9D14-4A24D24A2FFD}"/>
              </a:ext>
            </a:extLst>
          </p:cNvPr>
          <p:cNvSpPr>
            <a:spLocks noGrp="1"/>
          </p:cNvSpPr>
          <p:nvPr>
            <p:ph type="sldNum" sz="quarter" idx="12"/>
          </p:nvPr>
        </p:nvSpPr>
        <p:spPr/>
        <p:txBody>
          <a:bodyPr/>
          <a:lstStyle/>
          <a:p>
            <a:fld id="{565CE74E-AB26-4998-AD42-012C4C1AD076}" type="slidenum">
              <a:rPr lang="zh-CN" altLang="en-US" smtClean="0"/>
              <a:t>13</a:t>
            </a:fld>
            <a:endParaRPr lang="zh-CN" altLang="en-US"/>
          </a:p>
        </p:txBody>
      </p:sp>
      <p:sp>
        <p:nvSpPr>
          <p:cNvPr id="5" name="文本框 4">
            <a:extLst>
              <a:ext uri="{FF2B5EF4-FFF2-40B4-BE49-F238E27FC236}">
                <a16:creationId xmlns:a16="http://schemas.microsoft.com/office/drawing/2014/main" id="{1C2D0FC0-2A42-4908-9D3D-3BCA4A79C6B3}"/>
              </a:ext>
            </a:extLst>
          </p:cNvPr>
          <p:cNvSpPr txBox="1"/>
          <p:nvPr/>
        </p:nvSpPr>
        <p:spPr>
          <a:xfrm>
            <a:off x="467544" y="683766"/>
            <a:ext cx="6115777" cy="6247864"/>
          </a:xfrm>
          <a:prstGeom prst="rect">
            <a:avLst/>
          </a:prstGeom>
          <a:noFill/>
        </p:spPr>
        <p:txBody>
          <a:bodyPr wrap="none" rtlCol="0">
            <a:spAutoFit/>
          </a:bodyPr>
          <a:lstStyle/>
          <a:p>
            <a:r>
              <a:rPr lang="zh-CN" altLang="en-US" sz="2000" dirty="0"/>
              <a:t>十进制          二进制             八进制                十六进制      </a:t>
            </a:r>
            <a:endParaRPr lang="en-US" altLang="zh-CN" sz="2000" dirty="0"/>
          </a:p>
          <a:p>
            <a:r>
              <a:rPr lang="en-US" altLang="zh-CN" sz="2000" dirty="0"/>
              <a:t>0                           0                       0                            0</a:t>
            </a:r>
          </a:p>
          <a:p>
            <a:r>
              <a:rPr lang="en-US" altLang="zh-CN" sz="2000" dirty="0"/>
              <a:t>1                           1                       1                            1</a:t>
            </a:r>
          </a:p>
          <a:p>
            <a:r>
              <a:rPr lang="en-US" altLang="zh-CN" sz="2000" dirty="0"/>
              <a:t>2                         10                       2                            2</a:t>
            </a:r>
          </a:p>
          <a:p>
            <a:r>
              <a:rPr lang="en-US" altLang="zh-CN" sz="2000" dirty="0"/>
              <a:t>3                         11                       3                            3</a:t>
            </a:r>
          </a:p>
          <a:p>
            <a:r>
              <a:rPr lang="en-US" altLang="zh-CN" sz="2000" dirty="0"/>
              <a:t>4                       100                       4                            4</a:t>
            </a:r>
          </a:p>
          <a:p>
            <a:r>
              <a:rPr lang="en-US" altLang="zh-CN" sz="2000" dirty="0"/>
              <a:t>5                       101                       5                            5</a:t>
            </a:r>
          </a:p>
          <a:p>
            <a:r>
              <a:rPr lang="en-US" altLang="zh-CN" sz="2000" dirty="0"/>
              <a:t>6                       110                       6                            6</a:t>
            </a:r>
          </a:p>
          <a:p>
            <a:r>
              <a:rPr lang="en-US" altLang="zh-CN" sz="2000" dirty="0"/>
              <a:t>7                       111                       7                            7</a:t>
            </a:r>
          </a:p>
          <a:p>
            <a:r>
              <a:rPr lang="en-US" altLang="zh-CN" sz="2000" dirty="0"/>
              <a:t>8                     1000                     10                           8</a:t>
            </a:r>
          </a:p>
          <a:p>
            <a:r>
              <a:rPr lang="en-US" altLang="zh-CN" sz="2000" dirty="0"/>
              <a:t>9                     1001                     11                           9    </a:t>
            </a:r>
          </a:p>
          <a:p>
            <a:r>
              <a:rPr lang="en-US" altLang="zh-CN" sz="2000" dirty="0"/>
              <a:t>10                   1010                     12                           A </a:t>
            </a:r>
          </a:p>
          <a:p>
            <a:r>
              <a:rPr lang="en-US" altLang="zh-CN" sz="2000" dirty="0"/>
              <a:t>11                   1011                     13                           B </a:t>
            </a:r>
          </a:p>
          <a:p>
            <a:r>
              <a:rPr lang="en-US" altLang="zh-CN" sz="2000" dirty="0"/>
              <a:t>12                   1100                     14                           C</a:t>
            </a:r>
          </a:p>
          <a:p>
            <a:r>
              <a:rPr lang="en-US" altLang="zh-CN" sz="2000" dirty="0"/>
              <a:t>13                   1101                     15                           D </a:t>
            </a:r>
          </a:p>
          <a:p>
            <a:r>
              <a:rPr lang="en-US" altLang="zh-CN" sz="2000" dirty="0"/>
              <a:t>14                   1110                     16                           E      </a:t>
            </a:r>
          </a:p>
          <a:p>
            <a:r>
              <a:rPr lang="en-US" altLang="zh-CN" sz="2000" dirty="0"/>
              <a:t>15                   1111                     17                           F</a:t>
            </a:r>
          </a:p>
          <a:p>
            <a:r>
              <a:rPr lang="en-US" altLang="zh-CN" sz="2000" dirty="0"/>
              <a:t>16                 10000                     20                        10</a:t>
            </a:r>
          </a:p>
          <a:p>
            <a:r>
              <a:rPr lang="en-US" altLang="zh-CN" sz="2000" dirty="0"/>
              <a:t>17                 10001                     21                        11 </a:t>
            </a:r>
          </a:p>
          <a:p>
            <a:r>
              <a:rPr lang="en-US" altLang="zh-CN" sz="2000" dirty="0"/>
              <a:t>18                 10010                     22                        12</a:t>
            </a:r>
          </a:p>
        </p:txBody>
      </p:sp>
    </p:spTree>
    <p:extLst>
      <p:ext uri="{BB962C8B-B14F-4D97-AF65-F5344CB8AC3E}">
        <p14:creationId xmlns:p14="http://schemas.microsoft.com/office/powerpoint/2010/main" val="7901658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b="1">
                <a:solidFill>
                  <a:srgbClr val="245794"/>
                </a:solidFill>
              </a:rPr>
              <a:t>整型常量</a:t>
            </a:r>
            <a:r>
              <a:rPr lang="zh-CN" altLang="en-US" b="1">
                <a:solidFill>
                  <a:srgbClr val="245794"/>
                </a:solidFill>
              </a:rPr>
              <a:t>的</a:t>
            </a:r>
            <a:r>
              <a:rPr lang="en-US" altLang="zh-CN" b="1">
                <a:solidFill>
                  <a:srgbClr val="245794"/>
                </a:solidFill>
              </a:rPr>
              <a:t>4</a:t>
            </a:r>
            <a:r>
              <a:rPr lang="zh-CN" altLang="zh-CN" b="1">
                <a:solidFill>
                  <a:srgbClr val="245794"/>
                </a:solidFill>
              </a:rPr>
              <a:t>种表示形式</a:t>
            </a:r>
            <a:endParaRPr lang="zh-CN" altLang="en-US"/>
          </a:p>
        </p:txBody>
      </p:sp>
      <p:sp>
        <p:nvSpPr>
          <p:cNvPr id="3" name="内容占位符 2"/>
          <p:cNvSpPr>
            <a:spLocks noGrp="1"/>
          </p:cNvSpPr>
          <p:nvPr>
            <p:ph idx="1"/>
          </p:nvPr>
        </p:nvSpPr>
        <p:spPr>
          <a:xfrm>
            <a:off x="628650" y="1825624"/>
            <a:ext cx="7886700" cy="4915743"/>
          </a:xfrm>
        </p:spPr>
        <p:txBody>
          <a:bodyPr>
            <a:normAutofit fontScale="85000" lnSpcReduction="10000"/>
          </a:bodyPr>
          <a:lstStyle/>
          <a:p>
            <a:pPr marL="0" indent="0">
              <a:lnSpc>
                <a:spcPct val="150000"/>
              </a:lnSpc>
              <a:spcAft>
                <a:spcPts val="600"/>
              </a:spcAft>
              <a:buClr>
                <a:srgbClr val="7030A0"/>
              </a:buClr>
              <a:buSzPct val="60000"/>
              <a:buNone/>
            </a:pPr>
            <a:r>
              <a:rPr lang="zh-CN" altLang="zh-CN" sz="2000" dirty="0">
                <a:latin typeface="+mn-ea"/>
              </a:rPr>
              <a:t>（</a:t>
            </a:r>
            <a:r>
              <a:rPr lang="en-US" altLang="zh-CN" sz="2000" dirty="0">
                <a:latin typeface="+mn-ea"/>
              </a:rPr>
              <a:t>1</a:t>
            </a:r>
            <a:r>
              <a:rPr lang="zh-CN" altLang="zh-CN" sz="2000" dirty="0">
                <a:latin typeface="+mn-ea"/>
              </a:rPr>
              <a:t>）</a:t>
            </a:r>
            <a:r>
              <a:rPr lang="zh-CN" altLang="zh-CN" sz="2000" b="1" dirty="0">
                <a:solidFill>
                  <a:srgbClr val="FF0000"/>
                </a:solidFill>
                <a:latin typeface="+mn-ea"/>
              </a:rPr>
              <a:t>十</a:t>
            </a:r>
            <a:r>
              <a:rPr lang="zh-CN" altLang="zh-CN" sz="2000" dirty="0">
                <a:latin typeface="+mn-ea"/>
              </a:rPr>
              <a:t>进制整数</a:t>
            </a:r>
            <a:r>
              <a:rPr lang="zh-CN" altLang="en-US" sz="2000" dirty="0">
                <a:latin typeface="+mn-ea"/>
              </a:rPr>
              <a:t>，</a:t>
            </a:r>
            <a:endParaRPr lang="en-US" altLang="zh-CN" sz="2000" dirty="0">
              <a:latin typeface="+mn-ea"/>
            </a:endParaRPr>
          </a:p>
          <a:p>
            <a:pPr marL="0" indent="0">
              <a:lnSpc>
                <a:spcPct val="150000"/>
              </a:lnSpc>
              <a:spcAft>
                <a:spcPts val="600"/>
              </a:spcAft>
              <a:buClr>
                <a:srgbClr val="7030A0"/>
              </a:buClr>
              <a:buSzPct val="60000"/>
              <a:buNone/>
            </a:pPr>
            <a:r>
              <a:rPr lang="zh-CN" altLang="en-US" sz="2000" dirty="0">
                <a:latin typeface="+mn-ea"/>
              </a:rPr>
              <a:t>                </a:t>
            </a:r>
            <a:r>
              <a:rPr lang="zh-CN" altLang="en-US" sz="2000" u="sng" dirty="0">
                <a:latin typeface="+mn-ea"/>
              </a:rPr>
              <a:t>例：</a:t>
            </a:r>
            <a:r>
              <a:rPr lang="en-US" altLang="zh-CN" sz="2000" b="1" u="sng" dirty="0">
                <a:solidFill>
                  <a:srgbClr val="0070C0"/>
                </a:solidFill>
                <a:latin typeface="+mn-ea"/>
              </a:rPr>
              <a:t>1293 </a:t>
            </a:r>
            <a:r>
              <a:rPr lang="en-US" altLang="zh-CN" sz="2000" b="1" dirty="0">
                <a:solidFill>
                  <a:srgbClr val="0070C0"/>
                </a:solidFill>
                <a:latin typeface="+mn-ea"/>
              </a:rPr>
              <a:t>                 1293 = </a:t>
            </a:r>
            <a:r>
              <a:rPr lang="en-US" altLang="zh-CN" sz="2000" b="1" dirty="0">
                <a:solidFill>
                  <a:srgbClr val="FF0000"/>
                </a:solidFill>
                <a:latin typeface="+mn-ea"/>
              </a:rPr>
              <a:t>1</a:t>
            </a:r>
            <a:r>
              <a:rPr lang="en-US" altLang="zh-CN" sz="2000" b="1" dirty="0">
                <a:solidFill>
                  <a:srgbClr val="0070C0"/>
                </a:solidFill>
                <a:latin typeface="+mn-ea"/>
              </a:rPr>
              <a:t>*10</a:t>
            </a:r>
            <a:r>
              <a:rPr lang="en-US" altLang="zh-CN" sz="2000" b="1" baseline="30000" dirty="0">
                <a:solidFill>
                  <a:srgbClr val="0070C0"/>
                </a:solidFill>
                <a:latin typeface="+mn-ea"/>
              </a:rPr>
              <a:t>3</a:t>
            </a:r>
            <a:r>
              <a:rPr lang="en-US" altLang="zh-CN" sz="2000" b="1" dirty="0">
                <a:solidFill>
                  <a:srgbClr val="0070C0"/>
                </a:solidFill>
                <a:latin typeface="+mn-ea"/>
              </a:rPr>
              <a:t>+</a:t>
            </a:r>
            <a:r>
              <a:rPr lang="en-US" altLang="zh-CN" sz="2000" b="1" dirty="0">
                <a:solidFill>
                  <a:srgbClr val="FF0000"/>
                </a:solidFill>
                <a:latin typeface="+mn-ea"/>
              </a:rPr>
              <a:t>2</a:t>
            </a:r>
            <a:r>
              <a:rPr lang="en-US" altLang="zh-CN" sz="2000" b="1" dirty="0">
                <a:solidFill>
                  <a:srgbClr val="0070C0"/>
                </a:solidFill>
                <a:latin typeface="+mn-ea"/>
              </a:rPr>
              <a:t>*10</a:t>
            </a:r>
            <a:r>
              <a:rPr lang="en-US" altLang="zh-CN" sz="2000" b="1" baseline="30000" dirty="0">
                <a:solidFill>
                  <a:srgbClr val="0070C0"/>
                </a:solidFill>
                <a:latin typeface="+mn-ea"/>
              </a:rPr>
              <a:t>2</a:t>
            </a:r>
            <a:r>
              <a:rPr lang="en-US" altLang="zh-CN" sz="2000" b="1" dirty="0">
                <a:solidFill>
                  <a:srgbClr val="0070C0"/>
                </a:solidFill>
                <a:latin typeface="+mn-ea"/>
              </a:rPr>
              <a:t>+</a:t>
            </a:r>
            <a:r>
              <a:rPr lang="en-US" altLang="zh-CN" sz="2000" b="1" dirty="0">
                <a:solidFill>
                  <a:srgbClr val="FF0000"/>
                </a:solidFill>
                <a:latin typeface="+mn-ea"/>
              </a:rPr>
              <a:t>9</a:t>
            </a:r>
            <a:r>
              <a:rPr lang="en-US" altLang="zh-CN" sz="2000" b="1" dirty="0">
                <a:solidFill>
                  <a:srgbClr val="0070C0"/>
                </a:solidFill>
                <a:latin typeface="+mn-ea"/>
              </a:rPr>
              <a:t>*10</a:t>
            </a:r>
            <a:r>
              <a:rPr lang="en-US" altLang="zh-CN" sz="2000" b="1" baseline="30000" dirty="0">
                <a:solidFill>
                  <a:srgbClr val="0070C0"/>
                </a:solidFill>
                <a:latin typeface="+mn-ea"/>
              </a:rPr>
              <a:t>1</a:t>
            </a:r>
            <a:r>
              <a:rPr lang="en-US" altLang="zh-CN" sz="2000" b="1" dirty="0">
                <a:solidFill>
                  <a:srgbClr val="0070C0"/>
                </a:solidFill>
                <a:latin typeface="+mn-ea"/>
              </a:rPr>
              <a:t>+</a:t>
            </a:r>
            <a:r>
              <a:rPr lang="en-US" altLang="zh-CN" sz="2000" b="1" dirty="0">
                <a:solidFill>
                  <a:srgbClr val="FF0000"/>
                </a:solidFill>
                <a:latin typeface="+mn-ea"/>
              </a:rPr>
              <a:t>3</a:t>
            </a:r>
            <a:r>
              <a:rPr lang="en-US" altLang="zh-CN" sz="2000" b="1" dirty="0">
                <a:solidFill>
                  <a:srgbClr val="0070C0"/>
                </a:solidFill>
                <a:latin typeface="+mn-ea"/>
              </a:rPr>
              <a:t>*10</a:t>
            </a:r>
            <a:r>
              <a:rPr lang="en-US" altLang="zh-CN" sz="2000" b="1" baseline="30000" dirty="0">
                <a:solidFill>
                  <a:srgbClr val="0070C0"/>
                </a:solidFill>
                <a:latin typeface="+mn-ea"/>
              </a:rPr>
              <a:t>0 </a:t>
            </a:r>
          </a:p>
          <a:p>
            <a:pPr marL="0" indent="0">
              <a:lnSpc>
                <a:spcPct val="150000"/>
              </a:lnSpc>
              <a:spcAft>
                <a:spcPts val="600"/>
              </a:spcAft>
              <a:buClr>
                <a:srgbClr val="7030A0"/>
              </a:buClr>
              <a:buSzPct val="60000"/>
              <a:buNone/>
            </a:pPr>
            <a:r>
              <a:rPr lang="zh-CN" altLang="zh-CN" sz="2000" dirty="0">
                <a:latin typeface="+mn-ea"/>
              </a:rPr>
              <a:t>（</a:t>
            </a:r>
            <a:r>
              <a:rPr lang="en-US" altLang="zh-CN" sz="2000" dirty="0">
                <a:latin typeface="+mn-ea"/>
              </a:rPr>
              <a:t>2</a:t>
            </a:r>
            <a:r>
              <a:rPr lang="zh-CN" altLang="zh-CN" sz="2000" dirty="0">
                <a:latin typeface="+mn-ea"/>
              </a:rPr>
              <a:t>）</a:t>
            </a:r>
            <a:r>
              <a:rPr lang="zh-CN" altLang="zh-CN" sz="2000" b="1" dirty="0">
                <a:solidFill>
                  <a:srgbClr val="FF0000"/>
                </a:solidFill>
                <a:latin typeface="+mn-ea"/>
              </a:rPr>
              <a:t>二</a:t>
            </a:r>
            <a:r>
              <a:rPr lang="zh-CN" altLang="zh-CN" sz="2000" dirty="0">
                <a:latin typeface="+mn-ea"/>
              </a:rPr>
              <a:t>进制整数</a:t>
            </a:r>
            <a:r>
              <a:rPr lang="zh-CN" altLang="en-US" sz="2000" dirty="0">
                <a:latin typeface="+mn-ea"/>
              </a:rPr>
              <a:t>：</a:t>
            </a:r>
            <a:r>
              <a:rPr lang="zh-CN" altLang="zh-CN" sz="2000" dirty="0">
                <a:latin typeface="+mn-ea"/>
              </a:rPr>
              <a:t>它以</a:t>
            </a:r>
            <a:r>
              <a:rPr lang="en-US" altLang="zh-CN" sz="2000" b="1" dirty="0">
                <a:solidFill>
                  <a:srgbClr val="FF0000"/>
                </a:solidFill>
                <a:latin typeface="+mn-ea"/>
              </a:rPr>
              <a:t>0b</a:t>
            </a:r>
            <a:r>
              <a:rPr lang="zh-CN" altLang="zh-CN" sz="2000" dirty="0">
                <a:latin typeface="+mn-ea"/>
              </a:rPr>
              <a:t>或</a:t>
            </a:r>
            <a:r>
              <a:rPr lang="en-US" altLang="zh-CN" sz="2000" b="1" dirty="0">
                <a:solidFill>
                  <a:srgbClr val="FF0000"/>
                </a:solidFill>
                <a:latin typeface="+mn-ea"/>
              </a:rPr>
              <a:t>0B</a:t>
            </a:r>
            <a:r>
              <a:rPr lang="en-US" altLang="zh-CN" sz="2000" dirty="0">
                <a:latin typeface="+mn-ea"/>
              </a:rPr>
              <a:t>(</a:t>
            </a:r>
            <a:r>
              <a:rPr lang="zh-CN" altLang="zh-CN" sz="2000" dirty="0">
                <a:solidFill>
                  <a:srgbClr val="00B0F0"/>
                </a:solidFill>
                <a:latin typeface="+mn-ea"/>
              </a:rPr>
              <a:t>数字</a:t>
            </a:r>
            <a:r>
              <a:rPr lang="en-US" altLang="zh-CN" sz="2000" dirty="0">
                <a:solidFill>
                  <a:srgbClr val="00B0F0"/>
                </a:solidFill>
                <a:latin typeface="+mn-ea"/>
              </a:rPr>
              <a:t>0</a:t>
            </a:r>
            <a:r>
              <a:rPr lang="zh-CN" altLang="zh-CN" sz="2000" dirty="0">
                <a:solidFill>
                  <a:srgbClr val="00B0F0"/>
                </a:solidFill>
                <a:latin typeface="+mn-ea"/>
              </a:rPr>
              <a:t>加字母</a:t>
            </a:r>
            <a:r>
              <a:rPr lang="en-US" altLang="zh-CN" sz="2000" dirty="0">
                <a:solidFill>
                  <a:srgbClr val="00B0F0"/>
                </a:solidFill>
                <a:latin typeface="+mn-ea"/>
              </a:rPr>
              <a:t>b</a:t>
            </a:r>
            <a:r>
              <a:rPr lang="zh-CN" altLang="zh-CN" sz="2000" dirty="0">
                <a:solidFill>
                  <a:srgbClr val="00B0F0"/>
                </a:solidFill>
                <a:latin typeface="+mn-ea"/>
              </a:rPr>
              <a:t>或</a:t>
            </a:r>
            <a:r>
              <a:rPr lang="en-US" altLang="zh-CN" sz="2000" dirty="0">
                <a:solidFill>
                  <a:srgbClr val="00B0F0"/>
                </a:solidFill>
                <a:latin typeface="+mn-ea"/>
              </a:rPr>
              <a:t>B</a:t>
            </a:r>
            <a:r>
              <a:rPr lang="en-US" altLang="zh-CN" sz="2000" dirty="0">
                <a:latin typeface="+mn-ea"/>
              </a:rPr>
              <a:t>)</a:t>
            </a:r>
            <a:r>
              <a:rPr lang="zh-CN" altLang="zh-CN" sz="2000" dirty="0">
                <a:latin typeface="+mn-ea"/>
              </a:rPr>
              <a:t>开头，后接数字</a:t>
            </a:r>
            <a:r>
              <a:rPr lang="en-US" altLang="zh-CN" sz="2000" dirty="0">
                <a:latin typeface="+mn-ea"/>
              </a:rPr>
              <a:t>0,1</a:t>
            </a:r>
            <a:r>
              <a:rPr lang="zh-CN" altLang="zh-CN" sz="2000" dirty="0">
                <a:latin typeface="+mn-ea"/>
              </a:rPr>
              <a:t>的整数。</a:t>
            </a:r>
            <a:endParaRPr lang="en-US" altLang="zh-CN" sz="2000" dirty="0">
              <a:latin typeface="+mn-ea"/>
            </a:endParaRPr>
          </a:p>
          <a:p>
            <a:pPr marL="0" indent="0">
              <a:lnSpc>
                <a:spcPct val="150000"/>
              </a:lnSpc>
              <a:spcAft>
                <a:spcPts val="600"/>
              </a:spcAft>
              <a:buClr>
                <a:srgbClr val="7030A0"/>
              </a:buClr>
              <a:buSzPct val="60000"/>
              <a:buNone/>
            </a:pPr>
            <a:r>
              <a:rPr lang="zh-CN" altLang="en-US" sz="2000" dirty="0">
                <a:latin typeface="+mn-ea"/>
              </a:rPr>
              <a:t>                </a:t>
            </a:r>
            <a:r>
              <a:rPr lang="zh-CN" altLang="en-US" sz="2000" u="sng" dirty="0">
                <a:latin typeface="+mn-ea"/>
              </a:rPr>
              <a:t>例：</a:t>
            </a:r>
            <a:r>
              <a:rPr lang="en-US" altLang="zh-CN" sz="2000" b="1" u="sng" dirty="0">
                <a:solidFill>
                  <a:srgbClr val="FF0000"/>
                </a:solidFill>
                <a:latin typeface="+mn-ea"/>
              </a:rPr>
              <a:t>0b</a:t>
            </a:r>
            <a:r>
              <a:rPr lang="en-US" altLang="zh-CN" sz="2000" b="1" u="sng" dirty="0">
                <a:solidFill>
                  <a:srgbClr val="0070C0"/>
                </a:solidFill>
                <a:latin typeface="+mn-ea"/>
              </a:rPr>
              <a:t>1101 </a:t>
            </a:r>
            <a:r>
              <a:rPr lang="en-US" altLang="zh-CN" sz="2000" b="1" dirty="0">
                <a:solidFill>
                  <a:srgbClr val="0070C0"/>
                </a:solidFill>
                <a:latin typeface="+mn-ea"/>
              </a:rPr>
              <a:t>              0b1101 = </a:t>
            </a:r>
            <a:r>
              <a:rPr lang="en-US" altLang="zh-CN" sz="2000" b="1" dirty="0">
                <a:solidFill>
                  <a:srgbClr val="FF0000"/>
                </a:solidFill>
                <a:latin typeface="+mn-ea"/>
              </a:rPr>
              <a:t>1</a:t>
            </a:r>
            <a:r>
              <a:rPr lang="en-US" altLang="zh-CN" sz="2000" b="1" dirty="0">
                <a:solidFill>
                  <a:srgbClr val="0070C0"/>
                </a:solidFill>
                <a:latin typeface="+mn-ea"/>
              </a:rPr>
              <a:t>*2</a:t>
            </a:r>
            <a:r>
              <a:rPr lang="en-US" altLang="zh-CN" sz="2000" b="1" baseline="30000" dirty="0">
                <a:solidFill>
                  <a:srgbClr val="0070C0"/>
                </a:solidFill>
                <a:latin typeface="+mn-ea"/>
              </a:rPr>
              <a:t>3</a:t>
            </a:r>
            <a:r>
              <a:rPr lang="en-US" altLang="zh-CN" sz="2000" b="1" dirty="0">
                <a:solidFill>
                  <a:srgbClr val="0070C0"/>
                </a:solidFill>
                <a:latin typeface="+mn-ea"/>
              </a:rPr>
              <a:t>+</a:t>
            </a:r>
            <a:r>
              <a:rPr lang="en-US" altLang="zh-CN" sz="2000" b="1" dirty="0">
                <a:solidFill>
                  <a:srgbClr val="FF0000"/>
                </a:solidFill>
                <a:latin typeface="+mn-ea"/>
              </a:rPr>
              <a:t>1</a:t>
            </a:r>
            <a:r>
              <a:rPr lang="en-US" altLang="zh-CN" sz="2000" b="1" dirty="0">
                <a:solidFill>
                  <a:srgbClr val="0070C0"/>
                </a:solidFill>
                <a:latin typeface="+mn-ea"/>
              </a:rPr>
              <a:t>*2</a:t>
            </a:r>
            <a:r>
              <a:rPr lang="en-US" altLang="zh-CN" sz="2000" b="1" baseline="30000" dirty="0">
                <a:solidFill>
                  <a:srgbClr val="0070C0"/>
                </a:solidFill>
                <a:latin typeface="+mn-ea"/>
              </a:rPr>
              <a:t>2</a:t>
            </a:r>
            <a:r>
              <a:rPr lang="en-US" altLang="zh-CN" sz="2000" b="1" dirty="0">
                <a:solidFill>
                  <a:srgbClr val="0070C0"/>
                </a:solidFill>
                <a:latin typeface="+mn-ea"/>
              </a:rPr>
              <a:t>+</a:t>
            </a:r>
            <a:r>
              <a:rPr lang="en-US" altLang="zh-CN" sz="2000" b="1" dirty="0">
                <a:solidFill>
                  <a:srgbClr val="FF0000"/>
                </a:solidFill>
                <a:latin typeface="+mn-ea"/>
              </a:rPr>
              <a:t>0</a:t>
            </a:r>
            <a:r>
              <a:rPr lang="en-US" altLang="zh-CN" sz="2000" b="1" dirty="0">
                <a:solidFill>
                  <a:srgbClr val="0070C0"/>
                </a:solidFill>
                <a:latin typeface="+mn-ea"/>
              </a:rPr>
              <a:t>*2</a:t>
            </a:r>
            <a:r>
              <a:rPr lang="en-US" altLang="zh-CN" sz="2000" b="1" baseline="30000" dirty="0">
                <a:solidFill>
                  <a:srgbClr val="0070C0"/>
                </a:solidFill>
                <a:latin typeface="+mn-ea"/>
              </a:rPr>
              <a:t>1</a:t>
            </a:r>
            <a:r>
              <a:rPr lang="en-US" altLang="zh-CN" sz="2000" b="1" dirty="0">
                <a:solidFill>
                  <a:srgbClr val="0070C0"/>
                </a:solidFill>
                <a:latin typeface="+mn-ea"/>
              </a:rPr>
              <a:t>+</a:t>
            </a:r>
            <a:r>
              <a:rPr lang="en-US" altLang="zh-CN" sz="2000" b="1" dirty="0">
                <a:solidFill>
                  <a:srgbClr val="FF0000"/>
                </a:solidFill>
                <a:latin typeface="+mn-ea"/>
              </a:rPr>
              <a:t>1</a:t>
            </a:r>
            <a:r>
              <a:rPr lang="en-US" altLang="zh-CN" sz="2000" b="1" dirty="0">
                <a:solidFill>
                  <a:srgbClr val="0070C0"/>
                </a:solidFill>
                <a:latin typeface="+mn-ea"/>
              </a:rPr>
              <a:t>*2</a:t>
            </a:r>
            <a:r>
              <a:rPr lang="en-US" altLang="zh-CN" sz="2000" b="1" baseline="30000" dirty="0">
                <a:solidFill>
                  <a:srgbClr val="0070C0"/>
                </a:solidFill>
                <a:latin typeface="+mn-ea"/>
              </a:rPr>
              <a:t>0</a:t>
            </a:r>
            <a:r>
              <a:rPr lang="en-US" altLang="zh-CN" sz="2000" b="1" dirty="0">
                <a:solidFill>
                  <a:srgbClr val="0070C0"/>
                </a:solidFill>
                <a:latin typeface="+mn-ea"/>
              </a:rPr>
              <a:t> = 13</a:t>
            </a:r>
            <a:endParaRPr lang="zh-CN" altLang="zh-CN" sz="2000" b="1" dirty="0">
              <a:solidFill>
                <a:srgbClr val="0070C0"/>
              </a:solidFill>
              <a:latin typeface="+mn-ea"/>
            </a:endParaRPr>
          </a:p>
          <a:p>
            <a:pPr marL="0" indent="0">
              <a:lnSpc>
                <a:spcPct val="150000"/>
              </a:lnSpc>
              <a:spcAft>
                <a:spcPts val="600"/>
              </a:spcAft>
              <a:buClr>
                <a:srgbClr val="7030A0"/>
              </a:buClr>
              <a:buSzPct val="60000"/>
              <a:buNone/>
            </a:pPr>
            <a:r>
              <a:rPr lang="zh-CN" altLang="zh-CN" sz="2000" dirty="0">
                <a:latin typeface="+mn-ea"/>
              </a:rPr>
              <a:t>（</a:t>
            </a:r>
            <a:r>
              <a:rPr lang="en-US" altLang="zh-CN" sz="2000" dirty="0">
                <a:latin typeface="+mn-ea"/>
              </a:rPr>
              <a:t>3</a:t>
            </a:r>
            <a:r>
              <a:rPr lang="zh-CN" altLang="zh-CN" sz="2000" dirty="0">
                <a:latin typeface="+mn-ea"/>
              </a:rPr>
              <a:t>）</a:t>
            </a:r>
            <a:r>
              <a:rPr lang="zh-CN" altLang="zh-CN" sz="2000" b="1" dirty="0">
                <a:solidFill>
                  <a:srgbClr val="FF0000"/>
                </a:solidFill>
                <a:latin typeface="+mn-ea"/>
              </a:rPr>
              <a:t>八</a:t>
            </a:r>
            <a:r>
              <a:rPr lang="zh-CN" altLang="zh-CN" sz="2000" dirty="0">
                <a:latin typeface="+mn-ea"/>
              </a:rPr>
              <a:t>进制整数</a:t>
            </a:r>
            <a:r>
              <a:rPr lang="zh-CN" altLang="en-US" sz="2000" dirty="0">
                <a:latin typeface="+mn-ea"/>
              </a:rPr>
              <a:t>：</a:t>
            </a:r>
            <a:r>
              <a:rPr lang="zh-CN" altLang="zh-CN" sz="2000" dirty="0">
                <a:latin typeface="+mn-ea"/>
              </a:rPr>
              <a:t>它是以</a:t>
            </a:r>
            <a:r>
              <a:rPr lang="en-US" altLang="zh-CN" sz="2000" b="1" dirty="0">
                <a:solidFill>
                  <a:srgbClr val="FF0000"/>
                </a:solidFill>
                <a:latin typeface="+mn-ea"/>
              </a:rPr>
              <a:t>0o</a:t>
            </a:r>
            <a:r>
              <a:rPr lang="zh-CN" altLang="zh-CN" sz="2000" dirty="0">
                <a:latin typeface="+mn-ea"/>
              </a:rPr>
              <a:t>或</a:t>
            </a:r>
            <a:r>
              <a:rPr lang="en-US" altLang="zh-CN" sz="2000" b="1" dirty="0">
                <a:solidFill>
                  <a:srgbClr val="FF0000"/>
                </a:solidFill>
                <a:latin typeface="+mn-ea"/>
              </a:rPr>
              <a:t>0O</a:t>
            </a:r>
            <a:r>
              <a:rPr lang="zh-CN" altLang="zh-CN" sz="2000" dirty="0">
                <a:latin typeface="+mn-ea"/>
              </a:rPr>
              <a:t>开头，后接数字</a:t>
            </a:r>
            <a:r>
              <a:rPr lang="en-US" altLang="zh-CN" sz="2000" dirty="0">
                <a:latin typeface="+mn-ea"/>
              </a:rPr>
              <a:t>0</a:t>
            </a:r>
            <a:r>
              <a:rPr lang="zh-CN" altLang="zh-CN" sz="2000" dirty="0">
                <a:latin typeface="+mn-ea"/>
              </a:rPr>
              <a:t>～</a:t>
            </a:r>
            <a:r>
              <a:rPr lang="en-US" altLang="zh-CN" sz="2000" dirty="0">
                <a:latin typeface="+mn-ea"/>
              </a:rPr>
              <a:t>7</a:t>
            </a:r>
            <a:r>
              <a:rPr lang="zh-CN" altLang="zh-CN" sz="2000" dirty="0">
                <a:latin typeface="+mn-ea"/>
              </a:rPr>
              <a:t>的整数。</a:t>
            </a:r>
            <a:endParaRPr lang="en-US" altLang="zh-CN" sz="2000" dirty="0">
              <a:latin typeface="+mn-ea"/>
            </a:endParaRPr>
          </a:p>
          <a:p>
            <a:pPr marL="0" indent="0">
              <a:lnSpc>
                <a:spcPct val="150000"/>
              </a:lnSpc>
              <a:spcAft>
                <a:spcPts val="600"/>
              </a:spcAft>
              <a:buClr>
                <a:srgbClr val="7030A0"/>
              </a:buClr>
              <a:buSzPct val="60000"/>
              <a:buNone/>
            </a:pPr>
            <a:r>
              <a:rPr lang="en-US" altLang="zh-CN" sz="2000" dirty="0">
                <a:latin typeface="+mn-ea"/>
              </a:rPr>
              <a:t>                </a:t>
            </a:r>
            <a:r>
              <a:rPr lang="zh-CN" altLang="en-US" sz="2000" u="sng" dirty="0">
                <a:latin typeface="+mn-ea"/>
              </a:rPr>
              <a:t>例：</a:t>
            </a:r>
            <a:r>
              <a:rPr lang="en-US" altLang="zh-CN" sz="2000" b="1" u="sng" dirty="0">
                <a:solidFill>
                  <a:srgbClr val="FF0000"/>
                </a:solidFill>
                <a:latin typeface="+mn-ea"/>
              </a:rPr>
              <a:t>0o</a:t>
            </a:r>
            <a:r>
              <a:rPr lang="en-US" altLang="zh-CN" sz="2000" b="1" u="sng" dirty="0">
                <a:solidFill>
                  <a:srgbClr val="0070C0"/>
                </a:solidFill>
                <a:latin typeface="+mn-ea"/>
              </a:rPr>
              <a:t>1273 </a:t>
            </a:r>
            <a:r>
              <a:rPr lang="en-US" altLang="zh-CN" sz="2000" b="1" dirty="0">
                <a:solidFill>
                  <a:srgbClr val="0070C0"/>
                </a:solidFill>
                <a:latin typeface="+mn-ea"/>
              </a:rPr>
              <a:t>              </a:t>
            </a:r>
            <a:r>
              <a:rPr lang="en-US" altLang="zh-CN" sz="2000" b="1" dirty="0" err="1">
                <a:solidFill>
                  <a:srgbClr val="0070C0"/>
                </a:solidFill>
                <a:latin typeface="+mn-ea"/>
              </a:rPr>
              <a:t>0o1273</a:t>
            </a:r>
            <a:r>
              <a:rPr lang="en-US" altLang="zh-CN" sz="2000" b="1" dirty="0">
                <a:solidFill>
                  <a:srgbClr val="0070C0"/>
                </a:solidFill>
                <a:latin typeface="+mn-ea"/>
              </a:rPr>
              <a:t> = </a:t>
            </a:r>
            <a:r>
              <a:rPr lang="en-US" altLang="zh-CN" sz="2000" b="1" dirty="0">
                <a:solidFill>
                  <a:srgbClr val="FF0000"/>
                </a:solidFill>
                <a:latin typeface="+mn-ea"/>
              </a:rPr>
              <a:t>1</a:t>
            </a:r>
            <a:r>
              <a:rPr lang="en-US" altLang="zh-CN" sz="2000" b="1" dirty="0">
                <a:solidFill>
                  <a:srgbClr val="0070C0"/>
                </a:solidFill>
                <a:latin typeface="+mn-ea"/>
              </a:rPr>
              <a:t>*8</a:t>
            </a:r>
            <a:r>
              <a:rPr lang="en-US" altLang="zh-CN" sz="2000" b="1" baseline="30000" dirty="0">
                <a:solidFill>
                  <a:srgbClr val="0070C0"/>
                </a:solidFill>
                <a:latin typeface="+mn-ea"/>
              </a:rPr>
              <a:t>3</a:t>
            </a:r>
            <a:r>
              <a:rPr lang="en-US" altLang="zh-CN" sz="2000" b="1" dirty="0">
                <a:solidFill>
                  <a:srgbClr val="0070C0"/>
                </a:solidFill>
                <a:latin typeface="+mn-ea"/>
              </a:rPr>
              <a:t>+</a:t>
            </a:r>
            <a:r>
              <a:rPr lang="en-US" altLang="zh-CN" sz="2000" b="1" dirty="0">
                <a:solidFill>
                  <a:srgbClr val="FF0000"/>
                </a:solidFill>
                <a:latin typeface="+mn-ea"/>
              </a:rPr>
              <a:t>2</a:t>
            </a:r>
            <a:r>
              <a:rPr lang="en-US" altLang="zh-CN" sz="2000" b="1" dirty="0">
                <a:solidFill>
                  <a:srgbClr val="0070C0"/>
                </a:solidFill>
                <a:latin typeface="+mn-ea"/>
              </a:rPr>
              <a:t>*8</a:t>
            </a:r>
            <a:r>
              <a:rPr lang="en-US" altLang="zh-CN" sz="2000" b="1" baseline="30000" dirty="0">
                <a:solidFill>
                  <a:srgbClr val="0070C0"/>
                </a:solidFill>
                <a:latin typeface="+mn-ea"/>
              </a:rPr>
              <a:t>2</a:t>
            </a:r>
            <a:r>
              <a:rPr lang="en-US" altLang="zh-CN" sz="2000" b="1" dirty="0">
                <a:solidFill>
                  <a:srgbClr val="0070C0"/>
                </a:solidFill>
                <a:latin typeface="+mn-ea"/>
              </a:rPr>
              <a:t>+</a:t>
            </a:r>
            <a:r>
              <a:rPr lang="en-US" altLang="zh-CN" sz="2000" b="1" dirty="0">
                <a:solidFill>
                  <a:srgbClr val="FF0000"/>
                </a:solidFill>
                <a:latin typeface="+mn-ea"/>
              </a:rPr>
              <a:t>7</a:t>
            </a:r>
            <a:r>
              <a:rPr lang="en-US" altLang="zh-CN" sz="2000" b="1" dirty="0">
                <a:solidFill>
                  <a:srgbClr val="0070C0"/>
                </a:solidFill>
                <a:latin typeface="+mn-ea"/>
              </a:rPr>
              <a:t>*8</a:t>
            </a:r>
            <a:r>
              <a:rPr lang="en-US" altLang="zh-CN" sz="2000" b="1" baseline="30000" dirty="0">
                <a:solidFill>
                  <a:srgbClr val="0070C0"/>
                </a:solidFill>
                <a:latin typeface="+mn-ea"/>
              </a:rPr>
              <a:t>1</a:t>
            </a:r>
            <a:r>
              <a:rPr lang="en-US" altLang="zh-CN" sz="2000" b="1" dirty="0">
                <a:solidFill>
                  <a:srgbClr val="0070C0"/>
                </a:solidFill>
                <a:latin typeface="+mn-ea"/>
              </a:rPr>
              <a:t>+</a:t>
            </a:r>
            <a:r>
              <a:rPr lang="en-US" altLang="zh-CN" sz="2000" b="1" dirty="0">
                <a:solidFill>
                  <a:srgbClr val="FF0000"/>
                </a:solidFill>
                <a:latin typeface="+mn-ea"/>
              </a:rPr>
              <a:t>3</a:t>
            </a:r>
            <a:r>
              <a:rPr lang="en-US" altLang="zh-CN" sz="2000" b="1" dirty="0">
                <a:solidFill>
                  <a:srgbClr val="0070C0"/>
                </a:solidFill>
                <a:latin typeface="+mn-ea"/>
              </a:rPr>
              <a:t>*8</a:t>
            </a:r>
            <a:r>
              <a:rPr lang="en-US" altLang="zh-CN" sz="2000" b="1" baseline="30000" dirty="0">
                <a:solidFill>
                  <a:srgbClr val="0070C0"/>
                </a:solidFill>
                <a:latin typeface="+mn-ea"/>
              </a:rPr>
              <a:t>0</a:t>
            </a:r>
            <a:r>
              <a:rPr lang="en-US" altLang="zh-CN" sz="2000" b="1" dirty="0">
                <a:solidFill>
                  <a:srgbClr val="0070C0"/>
                </a:solidFill>
                <a:latin typeface="+mn-ea"/>
              </a:rPr>
              <a:t> = 699</a:t>
            </a:r>
            <a:endParaRPr lang="zh-CN" altLang="zh-CN" sz="2000" u="sng" dirty="0">
              <a:latin typeface="+mn-ea"/>
            </a:endParaRPr>
          </a:p>
          <a:p>
            <a:pPr marL="0" indent="0">
              <a:lnSpc>
                <a:spcPct val="150000"/>
              </a:lnSpc>
              <a:spcAft>
                <a:spcPts val="600"/>
              </a:spcAft>
              <a:buClr>
                <a:srgbClr val="7030A0"/>
              </a:buClr>
              <a:buSzPct val="60000"/>
              <a:buNone/>
            </a:pPr>
            <a:r>
              <a:rPr lang="zh-CN" altLang="zh-CN" sz="2000" dirty="0">
                <a:latin typeface="+mn-ea"/>
              </a:rPr>
              <a:t>（</a:t>
            </a:r>
            <a:r>
              <a:rPr lang="en-US" altLang="zh-CN" sz="2000" dirty="0">
                <a:latin typeface="+mn-ea"/>
              </a:rPr>
              <a:t>4</a:t>
            </a:r>
            <a:r>
              <a:rPr lang="zh-CN" altLang="zh-CN" sz="2000" dirty="0">
                <a:latin typeface="+mn-ea"/>
              </a:rPr>
              <a:t>）</a:t>
            </a:r>
            <a:r>
              <a:rPr lang="zh-CN" altLang="zh-CN" sz="2000" b="1" dirty="0">
                <a:solidFill>
                  <a:srgbClr val="FF0000"/>
                </a:solidFill>
                <a:latin typeface="+mn-ea"/>
              </a:rPr>
              <a:t>十六</a:t>
            </a:r>
            <a:r>
              <a:rPr lang="zh-CN" altLang="zh-CN" sz="2000" dirty="0">
                <a:latin typeface="+mn-ea"/>
              </a:rPr>
              <a:t>进制整数</a:t>
            </a:r>
            <a:r>
              <a:rPr lang="zh-CN" altLang="en-US" sz="2000" dirty="0">
                <a:latin typeface="+mn-ea"/>
              </a:rPr>
              <a:t>：</a:t>
            </a:r>
            <a:r>
              <a:rPr lang="zh-CN" altLang="zh-CN" sz="2000" dirty="0">
                <a:latin typeface="+mn-ea"/>
              </a:rPr>
              <a:t>它是以</a:t>
            </a:r>
            <a:r>
              <a:rPr lang="en-US" altLang="zh-CN" sz="2000" b="1" dirty="0">
                <a:solidFill>
                  <a:srgbClr val="FF0000"/>
                </a:solidFill>
                <a:latin typeface="+mn-ea"/>
              </a:rPr>
              <a:t>0x</a:t>
            </a:r>
            <a:r>
              <a:rPr lang="zh-CN" altLang="zh-CN" sz="2000" dirty="0">
                <a:latin typeface="+mn-ea"/>
              </a:rPr>
              <a:t>或</a:t>
            </a:r>
            <a:r>
              <a:rPr lang="en-US" altLang="zh-CN" sz="2000" b="1" dirty="0">
                <a:solidFill>
                  <a:srgbClr val="FF0000"/>
                </a:solidFill>
                <a:latin typeface="+mn-ea"/>
              </a:rPr>
              <a:t>0X</a:t>
            </a:r>
            <a:r>
              <a:rPr lang="zh-CN" altLang="zh-CN" sz="2000" dirty="0">
                <a:latin typeface="+mn-ea"/>
              </a:rPr>
              <a:t>开头，后接</a:t>
            </a:r>
            <a:r>
              <a:rPr lang="en-US" altLang="zh-CN" sz="2000" dirty="0">
                <a:latin typeface="+mn-ea"/>
              </a:rPr>
              <a:t>0</a:t>
            </a:r>
            <a:r>
              <a:rPr lang="zh-CN" altLang="zh-CN" sz="2000" dirty="0">
                <a:latin typeface="+mn-ea"/>
              </a:rPr>
              <a:t>～</a:t>
            </a:r>
            <a:r>
              <a:rPr lang="en-US" altLang="zh-CN" sz="2000" dirty="0">
                <a:latin typeface="+mn-ea"/>
              </a:rPr>
              <a:t>9</a:t>
            </a:r>
            <a:r>
              <a:rPr lang="zh-CN" altLang="zh-CN" sz="2000" dirty="0">
                <a:latin typeface="+mn-ea"/>
              </a:rPr>
              <a:t>和</a:t>
            </a:r>
            <a:r>
              <a:rPr lang="en-US" altLang="zh-CN" sz="2000" dirty="0">
                <a:latin typeface="+mn-ea"/>
              </a:rPr>
              <a:t>A</a:t>
            </a:r>
            <a:r>
              <a:rPr lang="zh-CN" altLang="zh-CN" sz="2000" dirty="0">
                <a:latin typeface="+mn-ea"/>
              </a:rPr>
              <a:t>～</a:t>
            </a:r>
            <a:r>
              <a:rPr lang="en-US" altLang="zh-CN" sz="2000" dirty="0">
                <a:latin typeface="+mn-ea"/>
              </a:rPr>
              <a:t>F</a:t>
            </a:r>
            <a:r>
              <a:rPr lang="zh-CN" altLang="zh-CN" sz="2000" dirty="0">
                <a:latin typeface="+mn-ea"/>
              </a:rPr>
              <a:t>（或用小写字母）字符的整数。</a:t>
            </a:r>
            <a:endParaRPr lang="en-US" altLang="zh-CN" sz="2000" dirty="0">
              <a:latin typeface="+mn-ea"/>
            </a:endParaRPr>
          </a:p>
          <a:p>
            <a:pPr marL="0" indent="0">
              <a:lnSpc>
                <a:spcPct val="150000"/>
              </a:lnSpc>
              <a:spcAft>
                <a:spcPts val="600"/>
              </a:spcAft>
              <a:buClr>
                <a:srgbClr val="7030A0"/>
              </a:buClr>
              <a:buSzPct val="60000"/>
              <a:buNone/>
            </a:pPr>
            <a:r>
              <a:rPr lang="zh-CN" altLang="en-US" sz="2000" dirty="0">
                <a:latin typeface="+mn-ea"/>
              </a:rPr>
              <a:t>                </a:t>
            </a:r>
            <a:r>
              <a:rPr lang="zh-CN" altLang="en-US" sz="2000" u="sng" dirty="0">
                <a:latin typeface="+mn-ea"/>
              </a:rPr>
              <a:t>例：</a:t>
            </a:r>
            <a:r>
              <a:rPr lang="en-US" altLang="zh-CN" sz="2000" b="1" u="sng" dirty="0">
                <a:solidFill>
                  <a:srgbClr val="FF0000"/>
                </a:solidFill>
                <a:latin typeface="+mn-ea"/>
              </a:rPr>
              <a:t>0x</a:t>
            </a:r>
            <a:r>
              <a:rPr lang="en-US" altLang="zh-CN" sz="2000" b="1" u="sng" dirty="0">
                <a:solidFill>
                  <a:srgbClr val="0070C0"/>
                </a:solidFill>
                <a:latin typeface="+mn-ea"/>
              </a:rPr>
              <a:t>3A4F</a:t>
            </a:r>
            <a:r>
              <a:rPr lang="en-US" altLang="zh-CN" sz="2000" b="1" dirty="0">
                <a:solidFill>
                  <a:srgbClr val="0070C0"/>
                </a:solidFill>
                <a:latin typeface="+mn-ea"/>
              </a:rPr>
              <a:t>              0o3A4F = </a:t>
            </a:r>
            <a:r>
              <a:rPr lang="en-US" altLang="zh-CN" sz="2000" b="1" dirty="0">
                <a:solidFill>
                  <a:srgbClr val="FF0000"/>
                </a:solidFill>
                <a:latin typeface="+mn-ea"/>
              </a:rPr>
              <a:t>3</a:t>
            </a:r>
            <a:r>
              <a:rPr lang="en-US" altLang="zh-CN" sz="2000" b="1" dirty="0">
                <a:solidFill>
                  <a:srgbClr val="0070C0"/>
                </a:solidFill>
                <a:latin typeface="+mn-ea"/>
              </a:rPr>
              <a:t>*16</a:t>
            </a:r>
            <a:r>
              <a:rPr lang="en-US" altLang="zh-CN" sz="2000" b="1" baseline="30000" dirty="0">
                <a:solidFill>
                  <a:srgbClr val="0070C0"/>
                </a:solidFill>
                <a:latin typeface="+mn-ea"/>
              </a:rPr>
              <a:t>3</a:t>
            </a:r>
            <a:r>
              <a:rPr lang="en-US" altLang="zh-CN" sz="2000" b="1" dirty="0">
                <a:solidFill>
                  <a:srgbClr val="0070C0"/>
                </a:solidFill>
                <a:latin typeface="+mn-ea"/>
              </a:rPr>
              <a:t>+</a:t>
            </a:r>
            <a:r>
              <a:rPr lang="en-US" altLang="zh-CN" sz="2000" b="1" dirty="0">
                <a:solidFill>
                  <a:srgbClr val="FF0000"/>
                </a:solidFill>
                <a:latin typeface="+mn-ea"/>
              </a:rPr>
              <a:t>10</a:t>
            </a:r>
            <a:r>
              <a:rPr lang="en-US" altLang="zh-CN" sz="2000" b="1" dirty="0">
                <a:solidFill>
                  <a:srgbClr val="0070C0"/>
                </a:solidFill>
                <a:latin typeface="+mn-ea"/>
              </a:rPr>
              <a:t>*16</a:t>
            </a:r>
            <a:r>
              <a:rPr lang="en-US" altLang="zh-CN" sz="2000" b="1" baseline="30000" dirty="0">
                <a:solidFill>
                  <a:srgbClr val="0070C0"/>
                </a:solidFill>
                <a:latin typeface="+mn-ea"/>
              </a:rPr>
              <a:t>2</a:t>
            </a:r>
            <a:r>
              <a:rPr lang="en-US" altLang="zh-CN" sz="2000" b="1" dirty="0">
                <a:solidFill>
                  <a:srgbClr val="0070C0"/>
                </a:solidFill>
                <a:latin typeface="+mn-ea"/>
              </a:rPr>
              <a:t>+</a:t>
            </a:r>
            <a:r>
              <a:rPr lang="en-US" altLang="zh-CN" sz="2000" b="1" dirty="0">
                <a:solidFill>
                  <a:srgbClr val="FF0000"/>
                </a:solidFill>
                <a:latin typeface="+mn-ea"/>
              </a:rPr>
              <a:t>4</a:t>
            </a:r>
            <a:r>
              <a:rPr lang="en-US" altLang="zh-CN" sz="2000" b="1" dirty="0">
                <a:solidFill>
                  <a:srgbClr val="0070C0"/>
                </a:solidFill>
                <a:latin typeface="+mn-ea"/>
              </a:rPr>
              <a:t>*16</a:t>
            </a:r>
            <a:r>
              <a:rPr lang="en-US" altLang="zh-CN" sz="2000" b="1" baseline="30000" dirty="0">
                <a:solidFill>
                  <a:srgbClr val="0070C0"/>
                </a:solidFill>
                <a:latin typeface="+mn-ea"/>
              </a:rPr>
              <a:t>1</a:t>
            </a:r>
            <a:r>
              <a:rPr lang="en-US" altLang="zh-CN" sz="2000" b="1" dirty="0">
                <a:solidFill>
                  <a:srgbClr val="0070C0"/>
                </a:solidFill>
                <a:latin typeface="+mn-ea"/>
              </a:rPr>
              <a:t>+</a:t>
            </a:r>
            <a:r>
              <a:rPr lang="en-US" altLang="zh-CN" sz="2000" b="1" dirty="0">
                <a:solidFill>
                  <a:srgbClr val="FF0000"/>
                </a:solidFill>
                <a:latin typeface="+mn-ea"/>
              </a:rPr>
              <a:t>15</a:t>
            </a:r>
            <a:r>
              <a:rPr lang="en-US" altLang="zh-CN" sz="2000" b="1" dirty="0">
                <a:solidFill>
                  <a:srgbClr val="0070C0"/>
                </a:solidFill>
                <a:latin typeface="+mn-ea"/>
              </a:rPr>
              <a:t>*16</a:t>
            </a:r>
            <a:r>
              <a:rPr lang="en-US" altLang="zh-CN" sz="2000" b="1" baseline="30000" dirty="0">
                <a:solidFill>
                  <a:srgbClr val="0070C0"/>
                </a:solidFill>
                <a:latin typeface="+mn-ea"/>
              </a:rPr>
              <a:t>0</a:t>
            </a:r>
            <a:r>
              <a:rPr lang="en-US" altLang="zh-CN" sz="2000" b="1" dirty="0">
                <a:solidFill>
                  <a:srgbClr val="0070C0"/>
                </a:solidFill>
                <a:latin typeface="+mn-ea"/>
              </a:rPr>
              <a:t> = 14927</a:t>
            </a:r>
            <a:endParaRPr lang="zh-CN" altLang="zh-CN" sz="2000" b="1" u="sng" dirty="0">
              <a:solidFill>
                <a:srgbClr val="0070C0"/>
              </a:solidFill>
              <a:latin typeface="+mn-ea"/>
            </a:endParaRPr>
          </a:p>
        </p:txBody>
      </p:sp>
    </p:spTree>
    <p:extLst>
      <p:ext uri="{BB962C8B-B14F-4D97-AF65-F5344CB8AC3E}">
        <p14:creationId xmlns:p14="http://schemas.microsoft.com/office/powerpoint/2010/main" val="1905719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left)">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wipe(left)">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wipe(left)">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wipe(left)">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wipe(left)">
                                      <p:cBhvr>
                                        <p:cTn id="2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65CE74E-AB26-4998-AD42-012C4C1AD076}" type="slidenum">
              <a:rPr lang="zh-CN" altLang="en-US" smtClean="0"/>
              <a:t>15</a:t>
            </a:fld>
            <a:endParaRPr lang="zh-CN" altLang="en-US"/>
          </a:p>
        </p:txBody>
      </p:sp>
      <p:sp>
        <p:nvSpPr>
          <p:cNvPr id="6" name="文本框 5"/>
          <p:cNvSpPr txBox="1"/>
          <p:nvPr>
            <p:custDataLst>
              <p:tags r:id="rId2"/>
            </p:custDataLst>
          </p:nvPr>
        </p:nvSpPr>
        <p:spPr>
          <a:xfrm>
            <a:off x="914400" y="995367"/>
            <a:ext cx="7315200" cy="1497856"/>
          </a:xfrm>
          <a:prstGeom prst="rect">
            <a:avLst/>
          </a:prstGeom>
          <a:solidFill>
            <a:schemeClr val="accent1">
              <a:lumMod val="20000"/>
              <a:lumOff val="80000"/>
            </a:schemeClr>
          </a:solidFill>
        </p:spPr>
        <p:txBody>
          <a:bodyPr vert="horz" wrap="square" rtlCol="0" anchor="ctr" anchorCtr="0">
            <a:noAutofit/>
          </a:bodyPr>
          <a:lstStyle/>
          <a:p>
            <a:r>
              <a:rPr lang="en-US" altLang="zh-CN" sz="2400">
                <a:latin typeface="微软雅黑" panose="020B0503020204020204" pitchFamily="34" charset="-122"/>
                <a:ea typeface="微软雅黑" panose="020B0503020204020204" pitchFamily="34" charset="-122"/>
              </a:rPr>
              <a:t>Python</a:t>
            </a:r>
            <a:r>
              <a:rPr lang="zh-CN" altLang="zh-CN" sz="2400">
                <a:latin typeface="微软雅黑" panose="020B0503020204020204" pitchFamily="34" charset="-122"/>
                <a:ea typeface="微软雅黑" panose="020B0503020204020204" pitchFamily="34" charset="-122"/>
              </a:rPr>
              <a:t>语句</a:t>
            </a:r>
            <a:r>
              <a:rPr lang="en-US" altLang="zh-CN" sz="2400">
                <a:latin typeface="微软雅黑" panose="020B0503020204020204" pitchFamily="34" charset="-122"/>
                <a:ea typeface="微软雅黑" panose="020B0503020204020204" pitchFamily="34" charset="-122"/>
              </a:rPr>
              <a:t>print(</a:t>
            </a:r>
            <a:r>
              <a:rPr lang="en-US" altLang="zh-CN" sz="2400">
                <a:solidFill>
                  <a:srgbClr val="FF0000"/>
                </a:solidFill>
                <a:latin typeface="微软雅黑" panose="020B0503020204020204" pitchFamily="34" charset="-122"/>
                <a:ea typeface="微软雅黑" panose="020B0503020204020204" pitchFamily="34" charset="-122"/>
              </a:rPr>
              <a:t>0x</a:t>
            </a:r>
            <a:r>
              <a:rPr lang="en-US" altLang="zh-CN" sz="2400">
                <a:latin typeface="微软雅黑" panose="020B0503020204020204" pitchFamily="34" charset="-122"/>
                <a:ea typeface="微软雅黑" panose="020B0503020204020204" pitchFamily="34" charset="-122"/>
              </a:rPr>
              <a:t>A+</a:t>
            </a:r>
            <a:r>
              <a:rPr lang="en-US" altLang="zh-CN" sz="2400">
                <a:solidFill>
                  <a:srgbClr val="FF0000"/>
                </a:solidFill>
                <a:latin typeface="微软雅黑" panose="020B0503020204020204" pitchFamily="34" charset="-122"/>
                <a:ea typeface="微软雅黑" panose="020B0503020204020204" pitchFamily="34" charset="-122"/>
              </a:rPr>
              <a:t>0x</a:t>
            </a:r>
            <a:r>
              <a:rPr lang="en-US" altLang="zh-CN" sz="2400">
                <a:latin typeface="微软雅黑" panose="020B0503020204020204" pitchFamily="34" charset="-122"/>
                <a:ea typeface="微软雅黑" panose="020B0503020204020204" pitchFamily="34" charset="-122"/>
              </a:rPr>
              <a:t>B)</a:t>
            </a:r>
            <a:r>
              <a:rPr lang="zh-CN" altLang="zh-CN" sz="2400">
                <a:latin typeface="微软雅黑" panose="020B0503020204020204" pitchFamily="34" charset="-122"/>
                <a:ea typeface="微软雅黑" panose="020B0503020204020204" pitchFamily="34" charset="-122"/>
              </a:rPr>
              <a:t>的输出结果是（</a:t>
            </a:r>
            <a:r>
              <a:rPr lang="en-US" altLang="zh-CN" sz="2400">
                <a:latin typeface="微软雅黑" panose="020B0503020204020204" pitchFamily="34" charset="-122"/>
                <a:ea typeface="微软雅黑" panose="020B0503020204020204" pitchFamily="34" charset="-122"/>
              </a:rPr>
              <a:t>      </a:t>
            </a:r>
            <a:r>
              <a:rPr lang="zh-CN" altLang="zh-CN" sz="2400">
                <a:latin typeface="微软雅黑" panose="020B0503020204020204" pitchFamily="34" charset="-122"/>
                <a:ea typeface="微软雅黑" panose="020B0503020204020204" pitchFamily="34" charset="-122"/>
              </a:rPr>
              <a:t>）。</a:t>
            </a:r>
            <a:endParaRPr lang="zh-CN" altLang="en-US" sz="3200">
              <a:solidFill>
                <a:srgbClr val="000000"/>
              </a:solidFill>
              <a:latin typeface="微软雅黑" panose="020B0503020204020204" pitchFamily="34" charset="-122"/>
              <a:ea typeface="微软雅黑" panose="020B0503020204020204" pitchFamily="34" charset="-122"/>
              <a:sym typeface="Microsoft Yahei" panose="020B0503020204020204" pitchFamily="34" charset="-122"/>
            </a:endParaRPr>
          </a:p>
        </p:txBody>
      </p:sp>
      <p:sp>
        <p:nvSpPr>
          <p:cNvPr id="7" name="文本框 6"/>
          <p:cNvSpPr txBox="1"/>
          <p:nvPr>
            <p:custDataLst>
              <p:tags r:id="rId3"/>
            </p:custDataLst>
          </p:nvPr>
        </p:nvSpPr>
        <p:spPr>
          <a:xfrm>
            <a:off x="1828800" y="2786063"/>
            <a:ext cx="2887216" cy="642938"/>
          </a:xfrm>
          <a:prstGeom prst="rect">
            <a:avLst/>
          </a:prstGeom>
          <a:noFill/>
        </p:spPr>
        <p:txBody>
          <a:bodyPr vert="horz" rtlCol="0" anchor="ctr" anchorCtr="0">
            <a:noAutofit/>
          </a:bodyPr>
          <a:lstStyle/>
          <a:p>
            <a:r>
              <a:rPr lang="en-US" altLang="zh-CN" sz="2400"/>
              <a:t>0xA+0xB</a:t>
            </a:r>
            <a:endParaRPr lang="zh-CN" altLang="en-US" sz="32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4"/>
            </p:custDataLst>
          </p:nvPr>
        </p:nvSpPr>
        <p:spPr>
          <a:xfrm>
            <a:off x="1828800" y="3643313"/>
            <a:ext cx="2887216" cy="642938"/>
          </a:xfrm>
          <a:prstGeom prst="rect">
            <a:avLst/>
          </a:prstGeom>
          <a:noFill/>
        </p:spPr>
        <p:txBody>
          <a:bodyPr vert="horz" rtlCol="0" anchor="ctr" anchorCtr="0">
            <a:noAutofit/>
          </a:bodyPr>
          <a:lstStyle/>
          <a:p>
            <a:r>
              <a:rPr lang="en-US" altLang="zh-CN" sz="2400"/>
              <a:t>A+B</a:t>
            </a:r>
            <a:endParaRPr lang="zh-CN" altLang="en-US" sz="32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5"/>
            </p:custDataLst>
          </p:nvPr>
        </p:nvSpPr>
        <p:spPr>
          <a:xfrm>
            <a:off x="1828800" y="4500563"/>
            <a:ext cx="2887216" cy="642938"/>
          </a:xfrm>
          <a:prstGeom prst="rect">
            <a:avLst/>
          </a:prstGeom>
          <a:noFill/>
        </p:spPr>
        <p:txBody>
          <a:bodyPr vert="horz" rtlCol="0" anchor="ctr" anchorCtr="0">
            <a:noAutofit/>
          </a:bodyPr>
          <a:lstStyle/>
          <a:p>
            <a:r>
              <a:rPr lang="en-US" altLang="zh-CN" sz="2400"/>
              <a:t>0xA0xB</a:t>
            </a:r>
            <a:endParaRPr lang="zh-CN" altLang="en-US" sz="32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p:cNvSpPr txBox="1"/>
          <p:nvPr>
            <p:custDataLst>
              <p:tags r:id="rId6"/>
            </p:custDataLst>
          </p:nvPr>
        </p:nvSpPr>
        <p:spPr>
          <a:xfrm>
            <a:off x="1828800" y="5357813"/>
            <a:ext cx="2887216" cy="642938"/>
          </a:xfrm>
          <a:prstGeom prst="rect">
            <a:avLst/>
          </a:prstGeom>
          <a:noFill/>
        </p:spPr>
        <p:txBody>
          <a:bodyPr vert="horz" rtlCol="0" anchor="ctr" anchorCtr="0">
            <a:noAutofit/>
          </a:bodyPr>
          <a:lstStyle/>
          <a:p>
            <a:r>
              <a:rPr lang="en-US" altLang="zh-CN" sz="2400"/>
              <a:t>21</a:t>
            </a:r>
            <a:endParaRPr lang="zh-CN" altLang="en-US" sz="32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圆角矩形 14"/>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p:cNvGrpSpPr/>
          <p:nvPr>
            <p:custDataLst>
              <p:tags r:id="rId12"/>
            </p:custDataLst>
          </p:nvPr>
        </p:nvGrpSpPr>
        <p:grpSpPr>
          <a:xfrm>
            <a:off x="0" y="0"/>
            <a:ext cx="9144000" cy="635000"/>
            <a:chOff x="0" y="0"/>
            <a:chExt cx="9144000" cy="635000"/>
          </a:xfrm>
        </p:grpSpPr>
        <p:sp>
          <p:nvSpPr>
            <p:cNvPr id="16"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22805860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zh-CN" sz="3600" b="1">
                <a:solidFill>
                  <a:srgbClr val="245794"/>
                </a:solidFill>
              </a:rPr>
              <a:t>浮点型数据</a:t>
            </a:r>
            <a:r>
              <a:rPr lang="zh-CN" altLang="en-US" sz="3600" b="1">
                <a:solidFill>
                  <a:srgbClr val="245794"/>
                </a:solidFill>
              </a:rPr>
              <a:t>的</a:t>
            </a:r>
            <a:r>
              <a:rPr lang="zh-CN" altLang="zh-CN" sz="3600" b="1">
                <a:solidFill>
                  <a:srgbClr val="245794"/>
                </a:solidFill>
              </a:rPr>
              <a:t>两种表示形式</a:t>
            </a:r>
            <a:endParaRPr lang="zh-CN" altLang="en-US" sz="3600"/>
          </a:p>
        </p:txBody>
      </p:sp>
      <p:sp>
        <p:nvSpPr>
          <p:cNvPr id="4" name="内容占位符 3"/>
          <p:cNvSpPr>
            <a:spLocks noGrp="1"/>
          </p:cNvSpPr>
          <p:nvPr>
            <p:ph idx="1"/>
          </p:nvPr>
        </p:nvSpPr>
        <p:spPr>
          <a:xfrm>
            <a:off x="628650" y="1825625"/>
            <a:ext cx="8119814" cy="4351338"/>
          </a:xfrm>
        </p:spPr>
        <p:txBody>
          <a:bodyPr>
            <a:normAutofit lnSpcReduction="10000"/>
          </a:bodyPr>
          <a:lstStyle/>
          <a:p>
            <a:pPr marL="0" indent="0">
              <a:lnSpc>
                <a:spcPct val="150000"/>
              </a:lnSpc>
              <a:spcAft>
                <a:spcPts val="600"/>
              </a:spcAft>
              <a:buClr>
                <a:srgbClr val="7030A0"/>
              </a:buClr>
              <a:buSzPct val="60000"/>
              <a:buNone/>
            </a:pPr>
            <a:r>
              <a:rPr lang="zh-CN" altLang="zh-CN" sz="2000" dirty="0">
                <a:latin typeface="+mn-ea"/>
              </a:rPr>
              <a:t>（</a:t>
            </a:r>
            <a:r>
              <a:rPr lang="en-US" altLang="zh-CN" sz="2000" dirty="0">
                <a:latin typeface="+mn-ea"/>
              </a:rPr>
              <a:t>1</a:t>
            </a:r>
            <a:r>
              <a:rPr lang="zh-CN" altLang="zh-CN" sz="2000" dirty="0">
                <a:latin typeface="+mn-ea"/>
              </a:rPr>
              <a:t>）十进制小数形式。它由数字和小数点组成</a:t>
            </a:r>
            <a:r>
              <a:rPr lang="zh-CN" altLang="en-US" sz="2000" dirty="0">
                <a:latin typeface="+mn-ea"/>
              </a:rPr>
              <a:t>。</a:t>
            </a:r>
            <a:endParaRPr lang="en-US" altLang="zh-CN" sz="2000" dirty="0">
              <a:latin typeface="+mn-ea"/>
            </a:endParaRPr>
          </a:p>
          <a:p>
            <a:pPr marL="0" indent="0" algn="ctr">
              <a:lnSpc>
                <a:spcPct val="150000"/>
              </a:lnSpc>
              <a:spcAft>
                <a:spcPts val="600"/>
              </a:spcAft>
              <a:buClr>
                <a:srgbClr val="7030A0"/>
              </a:buClr>
              <a:buSzPct val="60000"/>
              <a:buNone/>
            </a:pPr>
            <a:r>
              <a:rPr lang="zh-CN" altLang="zh-CN" sz="2000" dirty="0">
                <a:solidFill>
                  <a:srgbClr val="0070C0"/>
                </a:solidFill>
                <a:latin typeface="+mn-ea"/>
              </a:rPr>
              <a:t>如</a:t>
            </a:r>
            <a:r>
              <a:rPr lang="zh-CN" altLang="en-US" sz="2000" dirty="0">
                <a:solidFill>
                  <a:srgbClr val="0070C0"/>
                </a:solidFill>
                <a:latin typeface="+mn-ea"/>
              </a:rPr>
              <a:t>，</a:t>
            </a:r>
            <a:r>
              <a:rPr lang="en-US" altLang="zh-CN" sz="2000" dirty="0">
                <a:solidFill>
                  <a:srgbClr val="0070C0"/>
                </a:solidFill>
                <a:latin typeface="+mn-ea"/>
              </a:rPr>
              <a:t>3.23</a:t>
            </a:r>
            <a:r>
              <a:rPr lang="zh-CN" altLang="zh-CN" sz="2000" dirty="0">
                <a:solidFill>
                  <a:srgbClr val="0070C0"/>
                </a:solidFill>
                <a:latin typeface="+mn-ea"/>
              </a:rPr>
              <a:t>、</a:t>
            </a:r>
            <a:r>
              <a:rPr lang="en-US" altLang="zh-CN" sz="2000" dirty="0">
                <a:solidFill>
                  <a:srgbClr val="0070C0"/>
                </a:solidFill>
                <a:latin typeface="+mn-ea"/>
              </a:rPr>
              <a:t>34.0</a:t>
            </a:r>
            <a:r>
              <a:rPr lang="zh-CN" altLang="zh-CN" sz="2000" dirty="0">
                <a:solidFill>
                  <a:srgbClr val="0070C0"/>
                </a:solidFill>
                <a:latin typeface="+mn-ea"/>
              </a:rPr>
              <a:t>、</a:t>
            </a:r>
            <a:r>
              <a:rPr lang="en-US" altLang="zh-CN" sz="2000" dirty="0">
                <a:solidFill>
                  <a:srgbClr val="0070C0"/>
                </a:solidFill>
                <a:latin typeface="+mn-ea"/>
              </a:rPr>
              <a:t>0.0</a:t>
            </a:r>
            <a:r>
              <a:rPr lang="zh-CN" altLang="zh-CN" sz="2000" dirty="0">
                <a:solidFill>
                  <a:srgbClr val="0070C0"/>
                </a:solidFill>
                <a:latin typeface="+mn-ea"/>
              </a:rPr>
              <a:t>等。</a:t>
            </a:r>
            <a:endParaRPr lang="en-US" altLang="zh-CN" sz="2000" dirty="0">
              <a:solidFill>
                <a:srgbClr val="0070C0"/>
              </a:solidFill>
              <a:latin typeface="+mn-ea"/>
            </a:endParaRPr>
          </a:p>
          <a:p>
            <a:pPr>
              <a:lnSpc>
                <a:spcPct val="150000"/>
              </a:lnSpc>
              <a:spcAft>
                <a:spcPts val="600"/>
              </a:spcAft>
              <a:buClr>
                <a:srgbClr val="7030A0"/>
              </a:buClr>
              <a:buSzPct val="60000"/>
            </a:pPr>
            <a:r>
              <a:rPr lang="zh-CN" altLang="zh-CN" sz="2000" dirty="0">
                <a:latin typeface="+mn-ea"/>
              </a:rPr>
              <a:t>浮点型数据允许小数点后面没有任何数字，表示小数部分为</a:t>
            </a:r>
            <a:r>
              <a:rPr lang="en-US" altLang="zh-CN" sz="2000" dirty="0">
                <a:latin typeface="+mn-ea"/>
              </a:rPr>
              <a:t>0</a:t>
            </a:r>
            <a:r>
              <a:rPr lang="zh-CN" altLang="zh-CN" sz="2000" dirty="0">
                <a:latin typeface="+mn-ea"/>
              </a:rPr>
              <a:t>，</a:t>
            </a:r>
            <a:endParaRPr lang="en-US" altLang="zh-CN" sz="2000" dirty="0">
              <a:latin typeface="+mn-ea"/>
            </a:endParaRPr>
          </a:p>
          <a:p>
            <a:pPr marL="0" indent="0" algn="ctr">
              <a:lnSpc>
                <a:spcPct val="150000"/>
              </a:lnSpc>
              <a:spcAft>
                <a:spcPts val="600"/>
              </a:spcAft>
              <a:buClr>
                <a:srgbClr val="7030A0"/>
              </a:buClr>
              <a:buSzPct val="60000"/>
              <a:buNone/>
            </a:pPr>
            <a:r>
              <a:rPr lang="zh-CN" altLang="zh-CN" sz="2000" dirty="0">
                <a:solidFill>
                  <a:srgbClr val="0070C0"/>
                </a:solidFill>
                <a:latin typeface="+mn-ea"/>
              </a:rPr>
              <a:t>如</a:t>
            </a:r>
            <a:r>
              <a:rPr lang="zh-CN" altLang="en-US" sz="2000" dirty="0">
                <a:solidFill>
                  <a:srgbClr val="0070C0"/>
                </a:solidFill>
                <a:latin typeface="+mn-ea"/>
              </a:rPr>
              <a:t>，</a:t>
            </a:r>
            <a:r>
              <a:rPr lang="en-US" altLang="zh-CN" sz="2000" b="1" dirty="0">
                <a:solidFill>
                  <a:srgbClr val="FF0000"/>
                </a:solidFill>
                <a:latin typeface="+mn-ea"/>
              </a:rPr>
              <a:t>34.</a:t>
            </a:r>
            <a:r>
              <a:rPr lang="zh-CN" altLang="zh-CN" sz="2000" dirty="0">
                <a:solidFill>
                  <a:srgbClr val="0070C0"/>
                </a:solidFill>
                <a:latin typeface="+mn-ea"/>
              </a:rPr>
              <a:t>表示</a:t>
            </a:r>
            <a:r>
              <a:rPr lang="en-US" altLang="zh-CN" sz="2000" dirty="0">
                <a:solidFill>
                  <a:srgbClr val="0070C0"/>
                </a:solidFill>
                <a:latin typeface="+mn-ea"/>
              </a:rPr>
              <a:t>34.0</a:t>
            </a:r>
            <a:r>
              <a:rPr lang="zh-CN" altLang="en-US" sz="2000" dirty="0">
                <a:solidFill>
                  <a:srgbClr val="0070C0"/>
                </a:solidFill>
                <a:latin typeface="+mn-ea"/>
              </a:rPr>
              <a:t>，</a:t>
            </a:r>
            <a:r>
              <a:rPr lang="en-US" altLang="zh-CN" sz="2000" b="1" dirty="0">
                <a:solidFill>
                  <a:srgbClr val="FF0000"/>
                </a:solidFill>
                <a:latin typeface="+mn-ea"/>
              </a:rPr>
              <a:t>.56</a:t>
            </a:r>
            <a:r>
              <a:rPr lang="zh-CN" altLang="en-US" sz="2000" dirty="0">
                <a:solidFill>
                  <a:srgbClr val="0070C0"/>
                </a:solidFill>
                <a:latin typeface="+mn-ea"/>
              </a:rPr>
              <a:t>表示 </a:t>
            </a:r>
            <a:r>
              <a:rPr lang="en-US" altLang="zh-CN" sz="2000" dirty="0">
                <a:solidFill>
                  <a:srgbClr val="0070C0"/>
                </a:solidFill>
                <a:latin typeface="+mn-ea"/>
              </a:rPr>
              <a:t>0.56 </a:t>
            </a:r>
            <a:r>
              <a:rPr lang="zh-CN" altLang="zh-CN" sz="2000" dirty="0">
                <a:solidFill>
                  <a:srgbClr val="0070C0"/>
                </a:solidFill>
                <a:latin typeface="+mn-ea"/>
              </a:rPr>
              <a:t>。</a:t>
            </a:r>
          </a:p>
          <a:p>
            <a:pPr marL="0" indent="0">
              <a:lnSpc>
                <a:spcPct val="150000"/>
              </a:lnSpc>
              <a:spcAft>
                <a:spcPts val="600"/>
              </a:spcAft>
              <a:buClr>
                <a:srgbClr val="7030A0"/>
              </a:buClr>
              <a:buSzPct val="60000"/>
              <a:buNone/>
            </a:pPr>
            <a:r>
              <a:rPr lang="zh-CN" altLang="zh-CN" sz="2000" dirty="0">
                <a:latin typeface="+mn-ea"/>
              </a:rPr>
              <a:t>（</a:t>
            </a:r>
            <a:r>
              <a:rPr lang="en-US" altLang="zh-CN" sz="2000" dirty="0">
                <a:latin typeface="+mn-ea"/>
              </a:rPr>
              <a:t>2</a:t>
            </a:r>
            <a:r>
              <a:rPr lang="zh-CN" altLang="zh-CN" sz="2000" dirty="0">
                <a:latin typeface="+mn-ea"/>
              </a:rPr>
              <a:t>）指数形式。指数形式即用科学计数法表示的浮点数。</a:t>
            </a:r>
            <a:endParaRPr lang="en-US" altLang="zh-CN" sz="2000" dirty="0">
              <a:latin typeface="+mn-ea"/>
            </a:endParaRPr>
          </a:p>
          <a:p>
            <a:pPr marL="0" indent="0">
              <a:lnSpc>
                <a:spcPct val="150000"/>
              </a:lnSpc>
              <a:spcAft>
                <a:spcPts val="600"/>
              </a:spcAft>
              <a:buClr>
                <a:srgbClr val="7030A0"/>
              </a:buClr>
              <a:buSzPct val="60000"/>
              <a:buNone/>
            </a:pPr>
            <a:r>
              <a:rPr lang="zh-CN" altLang="zh-CN" sz="2000" dirty="0">
                <a:latin typeface="+mn-ea"/>
              </a:rPr>
              <a:t>例如，</a:t>
            </a:r>
            <a:r>
              <a:rPr lang="en-US" altLang="zh-CN" sz="2000" b="1" dirty="0">
                <a:solidFill>
                  <a:srgbClr val="0070C0"/>
                </a:solidFill>
                <a:latin typeface="+mn-ea"/>
              </a:rPr>
              <a:t>45e-5</a:t>
            </a:r>
            <a:r>
              <a:rPr lang="zh-CN" altLang="zh-CN" sz="2000" b="1" dirty="0">
                <a:solidFill>
                  <a:srgbClr val="0070C0"/>
                </a:solidFill>
                <a:latin typeface="+mn-ea"/>
              </a:rPr>
              <a:t>、</a:t>
            </a:r>
            <a:r>
              <a:rPr lang="en-US" altLang="zh-CN" sz="2000" b="1" dirty="0">
                <a:solidFill>
                  <a:srgbClr val="0070C0"/>
                </a:solidFill>
                <a:latin typeface="+mn-ea"/>
              </a:rPr>
              <a:t>      45e-6</a:t>
            </a:r>
            <a:r>
              <a:rPr lang="zh-CN" altLang="zh-CN" sz="2000" b="1" dirty="0">
                <a:solidFill>
                  <a:srgbClr val="0070C0"/>
                </a:solidFill>
                <a:latin typeface="+mn-ea"/>
              </a:rPr>
              <a:t>、</a:t>
            </a:r>
            <a:r>
              <a:rPr lang="en-US" altLang="zh-CN" sz="2000" b="1" dirty="0">
                <a:solidFill>
                  <a:srgbClr val="0070C0"/>
                </a:solidFill>
                <a:latin typeface="+mn-ea"/>
              </a:rPr>
              <a:t>      -9.34e2       </a:t>
            </a:r>
            <a:r>
              <a:rPr lang="zh-CN" altLang="zh-CN" sz="2000" dirty="0">
                <a:latin typeface="+mn-ea"/>
              </a:rPr>
              <a:t>，分别代表</a:t>
            </a:r>
            <a:r>
              <a:rPr lang="en-US" altLang="zh-CN" sz="2000" dirty="0">
                <a:latin typeface="+mn-ea"/>
              </a:rPr>
              <a:t>:</a:t>
            </a:r>
          </a:p>
          <a:p>
            <a:pPr marL="720000" indent="0">
              <a:lnSpc>
                <a:spcPct val="150000"/>
              </a:lnSpc>
              <a:spcAft>
                <a:spcPts val="600"/>
              </a:spcAft>
              <a:buClr>
                <a:srgbClr val="7030A0"/>
              </a:buClr>
              <a:buSzPct val="60000"/>
              <a:buNone/>
            </a:pPr>
            <a:r>
              <a:rPr lang="en-US" altLang="zh-CN" sz="2000" dirty="0">
                <a:solidFill>
                  <a:srgbClr val="0070C0"/>
                </a:solidFill>
                <a:latin typeface="+mn-ea"/>
              </a:rPr>
              <a:t>45×10</a:t>
            </a:r>
            <a:r>
              <a:rPr lang="en-US" altLang="zh-CN" sz="2000" baseline="30000" dirty="0">
                <a:solidFill>
                  <a:srgbClr val="0070C0"/>
                </a:solidFill>
                <a:latin typeface="+mn-ea"/>
              </a:rPr>
              <a:t>-5</a:t>
            </a:r>
            <a:r>
              <a:rPr lang="zh-CN" altLang="zh-CN" sz="2000" dirty="0">
                <a:solidFill>
                  <a:srgbClr val="0070C0"/>
                </a:solidFill>
                <a:latin typeface="+mn-ea"/>
              </a:rPr>
              <a:t>、</a:t>
            </a:r>
            <a:r>
              <a:rPr lang="en-US" altLang="zh-CN" sz="2000" dirty="0">
                <a:solidFill>
                  <a:srgbClr val="0070C0"/>
                </a:solidFill>
                <a:latin typeface="+mn-ea"/>
              </a:rPr>
              <a:t>   45×10</a:t>
            </a:r>
            <a:r>
              <a:rPr lang="en-US" altLang="zh-CN" sz="2000" baseline="30000" dirty="0">
                <a:solidFill>
                  <a:srgbClr val="0070C0"/>
                </a:solidFill>
                <a:latin typeface="+mn-ea"/>
              </a:rPr>
              <a:t>-6</a:t>
            </a:r>
            <a:r>
              <a:rPr lang="zh-CN" altLang="zh-CN" sz="2000" dirty="0">
                <a:solidFill>
                  <a:srgbClr val="0070C0"/>
                </a:solidFill>
                <a:latin typeface="+mn-ea"/>
              </a:rPr>
              <a:t>、</a:t>
            </a:r>
            <a:r>
              <a:rPr lang="en-US" altLang="zh-CN" sz="2000" dirty="0">
                <a:solidFill>
                  <a:srgbClr val="0070C0"/>
                </a:solidFill>
                <a:latin typeface="+mn-ea"/>
              </a:rPr>
              <a:t>    -9.34×10</a:t>
            </a:r>
            <a:r>
              <a:rPr lang="en-US" altLang="zh-CN" sz="2000" baseline="30000" dirty="0">
                <a:solidFill>
                  <a:srgbClr val="0070C0"/>
                </a:solidFill>
                <a:latin typeface="+mn-ea"/>
              </a:rPr>
              <a:t>2</a:t>
            </a:r>
            <a:r>
              <a:rPr lang="zh-CN" altLang="zh-CN" sz="2000" dirty="0">
                <a:latin typeface="+mn-ea"/>
              </a:rPr>
              <a:t>。</a:t>
            </a:r>
          </a:p>
        </p:txBody>
      </p:sp>
      <p:cxnSp>
        <p:nvCxnSpPr>
          <p:cNvPr id="6" name="直接箭头连接符 5"/>
          <p:cNvCxnSpPr/>
          <p:nvPr/>
        </p:nvCxnSpPr>
        <p:spPr>
          <a:xfrm>
            <a:off x="1763688" y="5373216"/>
            <a:ext cx="0" cy="432048"/>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a:off x="3203848" y="5373216"/>
            <a:ext cx="0" cy="432048"/>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4644008" y="5373216"/>
            <a:ext cx="0" cy="432048"/>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58630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left)">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wipe(left)">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wipe(left)">
                                      <p:cBhvr>
                                        <p:cTn id="23" dur="500"/>
                                        <p:tgtEl>
                                          <p:spTgt spid="4">
                                            <p:txEl>
                                              <p:pRg st="4" end="4"/>
                                            </p:txEl>
                                          </p:spTgt>
                                        </p:tgtEl>
                                      </p:cBhvr>
                                    </p:animEffect>
                                  </p:childTnLst>
                                </p:cTn>
                              </p:par>
                              <p:par>
                                <p:cTn id="24" presetID="22" presetClass="entr" presetSubtype="8" fill="hold"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wipe(left)">
                                      <p:cBhvr>
                                        <p:cTn id="26" dur="500"/>
                                        <p:tgtEl>
                                          <p:spTgt spid="4">
                                            <p:txEl>
                                              <p:pRg st="5" end="5"/>
                                            </p:txEl>
                                          </p:spTgt>
                                        </p:tgtEl>
                                      </p:cBhvr>
                                    </p:animEffect>
                                  </p:childTnLst>
                                </p:cTn>
                              </p:par>
                              <p:par>
                                <p:cTn id="27" presetID="22" presetClass="entr" presetSubtype="8"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wipe(left)">
                                      <p:cBhvr>
                                        <p:cTn id="29" dur="500"/>
                                        <p:tgtEl>
                                          <p:spTgt spid="4">
                                            <p:txEl>
                                              <p:pRg st="6" end="6"/>
                                            </p:txEl>
                                          </p:spTgt>
                                        </p:tgtEl>
                                      </p:cBhvr>
                                    </p:animEffect>
                                  </p:childTnLst>
                                </p:cTn>
                              </p:par>
                            </p:childTnLst>
                          </p:cTn>
                        </p:par>
                        <p:par>
                          <p:cTn id="30" fill="hold">
                            <p:stCondLst>
                              <p:cond delay="500"/>
                            </p:stCondLst>
                            <p:childTnLst>
                              <p:par>
                                <p:cTn id="31" presetID="22" presetClass="entr" presetSubtype="1"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up)">
                                      <p:cBhvr>
                                        <p:cTn id="33" dur="500"/>
                                        <p:tgtEl>
                                          <p:spTgt spid="6"/>
                                        </p:tgtEl>
                                      </p:cBhvr>
                                    </p:animEffect>
                                  </p:childTnLst>
                                </p:cTn>
                              </p:par>
                            </p:childTnLst>
                          </p:cTn>
                        </p:par>
                        <p:par>
                          <p:cTn id="34" fill="hold">
                            <p:stCondLst>
                              <p:cond delay="1000"/>
                            </p:stCondLst>
                            <p:childTnLst>
                              <p:par>
                                <p:cTn id="35" presetID="22" presetClass="entr" presetSubtype="1"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up)">
                                      <p:cBhvr>
                                        <p:cTn id="37" dur="500"/>
                                        <p:tgtEl>
                                          <p:spTgt spid="8"/>
                                        </p:tgtEl>
                                      </p:cBhvr>
                                    </p:animEffect>
                                  </p:childTnLst>
                                </p:cTn>
                              </p:par>
                            </p:childTnLst>
                          </p:cTn>
                        </p:par>
                        <p:par>
                          <p:cTn id="38" fill="hold">
                            <p:stCondLst>
                              <p:cond delay="1500"/>
                            </p:stCondLst>
                            <p:childTnLst>
                              <p:par>
                                <p:cTn id="39" presetID="22" presetClass="entr" presetSubtype="1" fill="hold" nodeType="after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up)">
                                      <p:cBhvr>
                                        <p:cTn id="4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2.1.2  </a:t>
            </a:r>
            <a:r>
              <a:rPr lang="zh-CN" altLang="en-US"/>
              <a:t>数字</a:t>
            </a:r>
          </a:p>
        </p:txBody>
      </p:sp>
      <p:sp>
        <p:nvSpPr>
          <p:cNvPr id="3" name="Content Placeholder 2"/>
          <p:cNvSpPr>
            <a:spLocks noGrp="1"/>
          </p:cNvSpPr>
          <p:nvPr>
            <p:ph idx="1"/>
          </p:nvPr>
        </p:nvSpPr>
        <p:spPr>
          <a:xfrm>
            <a:off x="628650" y="3035808"/>
            <a:ext cx="7886700" cy="1774317"/>
          </a:xfrm>
        </p:spPr>
        <p:txBody>
          <a:bodyPr/>
          <a:lstStyle/>
          <a:p>
            <a:pPr fontAlgn="auto">
              <a:lnSpc>
                <a:spcPct val="150000"/>
              </a:lnSpc>
            </a:pPr>
            <a:r>
              <a:rPr lang="en-US" sz="2400" dirty="0" err="1">
                <a:latin typeface="微软雅黑" panose="020B0503020204020204" pitchFamily="34" charset="-122"/>
                <a:ea typeface="微软雅黑" panose="020B0503020204020204" pitchFamily="34" charset="-122"/>
              </a:rPr>
              <a:t>Python支持</a:t>
            </a:r>
            <a:r>
              <a:rPr lang="en-US" sz="2400" dirty="0" err="1">
                <a:solidFill>
                  <a:srgbClr val="FF0000"/>
                </a:solidFill>
                <a:latin typeface="微软雅黑" panose="020B0503020204020204" pitchFamily="34" charset="-122"/>
                <a:ea typeface="微软雅黑" panose="020B0503020204020204" pitchFamily="34" charset="-122"/>
              </a:rPr>
              <a:t>任意大</a:t>
            </a:r>
            <a:r>
              <a:rPr lang="en-US" sz="2400" dirty="0" err="1">
                <a:latin typeface="微软雅黑" panose="020B0503020204020204" pitchFamily="34" charset="-122"/>
                <a:ea typeface="微软雅黑" panose="020B0503020204020204" pitchFamily="34" charset="-122"/>
              </a:rPr>
              <a:t>的数字，具体可以大到什么程度仅受内存大小的限制</a:t>
            </a:r>
            <a:r>
              <a:rPr lang="en-US" sz="1800" dirty="0"/>
              <a:t>。</a:t>
            </a: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17</a:t>
            </a:fld>
            <a:endParaRPr lang="zh-CN" altLang="en-US"/>
          </a:p>
        </p:txBody>
      </p:sp>
    </p:spTree>
    <p:extLst>
      <p:ext uri="{BB962C8B-B14F-4D97-AF65-F5344CB8AC3E}">
        <p14:creationId xmlns:p14="http://schemas.microsoft.com/office/powerpoint/2010/main" val="521067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  </a:t>
            </a:r>
            <a:r>
              <a:rPr lang="zh-CN" altLang="en-US">
                <a:sym typeface="+mn-ea"/>
              </a:rPr>
              <a:t>数字</a:t>
            </a:r>
            <a:endParaRPr lang="en-US"/>
          </a:p>
        </p:txBody>
      </p:sp>
      <p:sp>
        <p:nvSpPr>
          <p:cNvPr id="3" name="Content Placeholder 2"/>
          <p:cNvSpPr>
            <a:spLocks noGrp="1"/>
          </p:cNvSpPr>
          <p:nvPr>
            <p:ph idx="1"/>
          </p:nvPr>
        </p:nvSpPr>
        <p:spPr>
          <a:xfrm>
            <a:off x="576263" y="1763712"/>
            <a:ext cx="7886700" cy="4957763"/>
          </a:xfrm>
        </p:spPr>
        <p:txBody>
          <a:bodyPr>
            <a:noAutofit/>
          </a:bodyPr>
          <a:lstStyle/>
          <a:p>
            <a:pPr marL="0" indent="0">
              <a:lnSpc>
                <a:spcPct val="150000"/>
              </a:lnSpc>
              <a:spcBef>
                <a:spcPts val="0"/>
              </a:spcBef>
              <a:buNone/>
            </a:pPr>
            <a:r>
              <a:rPr lang="en-US" sz="1800" dirty="0">
                <a:latin typeface="微软雅黑" panose="020B0503020204020204" pitchFamily="34" charset="-122"/>
                <a:ea typeface="微软雅黑" panose="020B0503020204020204" pitchFamily="34" charset="-122"/>
              </a:rPr>
              <a:t>&gt;&gt;&gt; 9999 ** 99                   </a:t>
            </a:r>
            <a:r>
              <a:rPr lang="en-US" sz="1600" b="1" dirty="0">
                <a:solidFill>
                  <a:srgbClr val="00B050"/>
                </a:solidFill>
                <a:latin typeface="微软雅黑" panose="020B0503020204020204" pitchFamily="34" charset="-122"/>
                <a:ea typeface="微软雅黑" panose="020B0503020204020204" pitchFamily="34" charset="-122"/>
              </a:rPr>
              <a:t>#</a:t>
            </a:r>
            <a:r>
              <a:rPr lang="en-US" sz="1600" b="1" dirty="0" err="1">
                <a:solidFill>
                  <a:srgbClr val="00B050"/>
                </a:solidFill>
                <a:latin typeface="微软雅黑" panose="020B0503020204020204" pitchFamily="34" charset="-122"/>
                <a:ea typeface="微软雅黑" panose="020B0503020204020204" pitchFamily="34" charset="-122"/>
              </a:rPr>
              <a:t>这里</a:t>
            </a:r>
            <a:r>
              <a:rPr lang="en-US" sz="1600" b="1" dirty="0">
                <a:solidFill>
                  <a:srgbClr val="00B050"/>
                </a:solidFill>
                <a:latin typeface="微软雅黑" panose="020B0503020204020204" pitchFamily="34" charset="-122"/>
                <a:ea typeface="微软雅黑" panose="020B0503020204020204" pitchFamily="34" charset="-122"/>
              </a:rPr>
              <a:t>**</a:t>
            </a:r>
            <a:r>
              <a:rPr lang="en-US" sz="1600" b="1" dirty="0" err="1">
                <a:solidFill>
                  <a:srgbClr val="00B050"/>
                </a:solidFill>
                <a:latin typeface="微软雅黑" panose="020B0503020204020204" pitchFamily="34" charset="-122"/>
                <a:ea typeface="微软雅黑" panose="020B0503020204020204" pitchFamily="34" charset="-122"/>
              </a:rPr>
              <a:t>是幂乘运算符，等价于内置函数pow</a:t>
            </a:r>
            <a:r>
              <a:rPr lang="en-US" sz="1600" b="1" dirty="0">
                <a:solidFill>
                  <a:srgbClr val="00B050"/>
                </a:solidFill>
                <a:latin typeface="微软雅黑" panose="020B0503020204020204" pitchFamily="34" charset="-122"/>
                <a:ea typeface="微软雅黑" panose="020B0503020204020204" pitchFamily="34" charset="-122"/>
              </a:rPr>
              <a:t>()</a:t>
            </a:r>
          </a:p>
          <a:p>
            <a:pPr marL="0" indent="0">
              <a:lnSpc>
                <a:spcPct val="150000"/>
              </a:lnSpc>
              <a:spcBef>
                <a:spcPts val="0"/>
              </a:spcBef>
              <a:buNone/>
            </a:pPr>
            <a:r>
              <a:rPr lang="en-US" sz="1800" dirty="0">
                <a:solidFill>
                  <a:srgbClr val="FF0000"/>
                </a:solidFill>
                <a:latin typeface="微软雅黑" panose="020B0503020204020204" pitchFamily="34" charset="-122"/>
                <a:ea typeface="微软雅黑" panose="020B0503020204020204" pitchFamily="34" charset="-122"/>
              </a:rPr>
              <a:t>990148353526723</a:t>
            </a:r>
            <a:r>
              <a:rPr lang="en-US" sz="1800" dirty="0">
                <a:solidFill>
                  <a:srgbClr val="00B0F0"/>
                </a:solidFill>
                <a:latin typeface="微软雅黑" panose="020B0503020204020204" pitchFamily="34" charset="-122"/>
                <a:ea typeface="微软雅黑" panose="020B0503020204020204" pitchFamily="34" charset="-122"/>
              </a:rPr>
              <a:t>487602263124753282625570559528895791057324326529121794837894053513464422176826916433932586924386677766244032001623756821400432975051208820204980098735552703841362304669970510691243800218202840374329378800694920309791954185117798434329591212159106298699938669908067573374724331208942425544893910910073205049031656789220889560732962926226305865706593594917896276756396848514900989999</a:t>
            </a:r>
          </a:p>
          <a:p>
            <a:pPr marL="0" indent="0">
              <a:lnSpc>
                <a:spcPct val="150000"/>
              </a:lnSpc>
              <a:spcBef>
                <a:spcPts val="0"/>
              </a:spcBef>
              <a:buNone/>
            </a:pPr>
            <a:endParaRPr lang="en-US" sz="1800" dirty="0">
              <a:solidFill>
                <a:srgbClr val="00B0F0"/>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dirty="0">
                <a:latin typeface="微软雅黑" panose="020B0503020204020204" pitchFamily="34" charset="-122"/>
                <a:ea typeface="微软雅黑" panose="020B0503020204020204" pitchFamily="34" charset="-122"/>
              </a:rPr>
              <a:t>&gt;&gt;&gt; 9.999 ** 99                   </a:t>
            </a:r>
            <a:r>
              <a:rPr lang="en-US" altLang="zh-CN" sz="1800" b="1" dirty="0">
                <a:solidFill>
                  <a:srgbClr val="00B050"/>
                </a:solidFill>
                <a:latin typeface="微软雅黑" panose="020B0503020204020204" pitchFamily="34" charset="-122"/>
                <a:ea typeface="微软雅黑" panose="020B0503020204020204" pitchFamily="34" charset="-122"/>
              </a:rPr>
              <a:t>#</a:t>
            </a:r>
            <a:r>
              <a:rPr lang="zh-CN" altLang="en-US" sz="1800" b="1" dirty="0">
                <a:solidFill>
                  <a:srgbClr val="00B050"/>
                </a:solidFill>
                <a:latin typeface="微软雅黑" panose="020B0503020204020204" pitchFamily="34" charset="-122"/>
                <a:ea typeface="微软雅黑" panose="020B0503020204020204" pitchFamily="34" charset="-122"/>
              </a:rPr>
              <a:t>浮点数有效数字</a:t>
            </a:r>
            <a:r>
              <a:rPr lang="en-US" altLang="zh-CN" sz="1800" b="1" dirty="0">
                <a:solidFill>
                  <a:srgbClr val="00B050"/>
                </a:solidFill>
                <a:latin typeface="微软雅黑" panose="020B0503020204020204" pitchFamily="34" charset="-122"/>
                <a:ea typeface="微软雅黑" panose="020B0503020204020204" pitchFamily="34" charset="-122"/>
              </a:rPr>
              <a:t>15</a:t>
            </a:r>
            <a:r>
              <a:rPr lang="zh-CN" altLang="en-US" sz="1800" b="1" dirty="0">
                <a:solidFill>
                  <a:srgbClr val="00B050"/>
                </a:solidFill>
                <a:latin typeface="微软雅黑" panose="020B0503020204020204" pitchFamily="34" charset="-122"/>
                <a:ea typeface="微软雅黑" panose="020B0503020204020204" pitchFamily="34" charset="-122"/>
              </a:rPr>
              <a:t>个，超出的数字不精确</a:t>
            </a:r>
            <a:endParaRPr lang="en-US" altLang="zh-CN" sz="1800" b="1" dirty="0">
              <a:solidFill>
                <a:srgbClr val="00B050"/>
              </a:solidFill>
              <a:latin typeface="微软雅黑" panose="020B0503020204020204" pitchFamily="34" charset="-122"/>
              <a:ea typeface="微软雅黑" panose="020B0503020204020204" pitchFamily="34" charset="-122"/>
            </a:endParaRPr>
          </a:p>
          <a:p>
            <a:pPr marL="0" indent="0">
              <a:lnSpc>
                <a:spcPct val="150000"/>
              </a:lnSpc>
              <a:spcBef>
                <a:spcPts val="0"/>
              </a:spcBef>
              <a:buNone/>
            </a:pPr>
            <a:r>
              <a:rPr lang="en-US" altLang="zh-CN" sz="1800" dirty="0">
                <a:solidFill>
                  <a:srgbClr val="FF0000"/>
                </a:solidFill>
                <a:latin typeface="微软雅黑" panose="020B0503020204020204" pitchFamily="34" charset="-122"/>
                <a:ea typeface="微软雅黑" panose="020B0503020204020204" pitchFamily="34" charset="-122"/>
              </a:rPr>
              <a:t>9.9014835352672</a:t>
            </a:r>
            <a:r>
              <a:rPr lang="en-US" altLang="zh-CN" sz="1800" dirty="0">
                <a:solidFill>
                  <a:srgbClr val="00B0F0"/>
                </a:solidFill>
                <a:latin typeface="微软雅黑" panose="020B0503020204020204" pitchFamily="34" charset="-122"/>
                <a:ea typeface="微软雅黑" panose="020B0503020204020204" pitchFamily="34" charset="-122"/>
              </a:rPr>
              <a:t>89e+98</a:t>
            </a: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18</a:t>
            </a:fld>
            <a:endParaRPr lang="zh-CN" altLang="en-US"/>
          </a:p>
        </p:txBody>
      </p:sp>
      <p:cxnSp>
        <p:nvCxnSpPr>
          <p:cNvPr id="6" name="直接箭头连接符 5">
            <a:extLst>
              <a:ext uri="{FF2B5EF4-FFF2-40B4-BE49-F238E27FC236}">
                <a16:creationId xmlns:a16="http://schemas.microsoft.com/office/drawing/2014/main" id="{A4043B9C-522A-4436-8841-202434927E77}"/>
              </a:ext>
            </a:extLst>
          </p:cNvPr>
          <p:cNvCxnSpPr>
            <a:cxnSpLocks/>
          </p:cNvCxnSpPr>
          <p:nvPr/>
        </p:nvCxnSpPr>
        <p:spPr>
          <a:xfrm flipH="1">
            <a:off x="3491880" y="1412776"/>
            <a:ext cx="432048" cy="8640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E3DA4E89-BB60-4FF1-8B6C-6548BD6144B2}"/>
              </a:ext>
            </a:extLst>
          </p:cNvPr>
          <p:cNvSpPr txBox="1"/>
          <p:nvPr/>
        </p:nvSpPr>
        <p:spPr>
          <a:xfrm>
            <a:off x="3906173" y="1182321"/>
            <a:ext cx="1569660" cy="369332"/>
          </a:xfrm>
          <a:prstGeom prst="rect">
            <a:avLst/>
          </a:prstGeom>
          <a:noFill/>
        </p:spPr>
        <p:txBody>
          <a:bodyPr wrap="none" rtlCol="0">
            <a:spAutoFit/>
          </a:bodyPr>
          <a:lstStyle/>
          <a:p>
            <a:r>
              <a:rPr lang="zh-CN" altLang="en-US" dirty="0"/>
              <a:t>结果是精确的</a:t>
            </a:r>
          </a:p>
        </p:txBody>
      </p:sp>
    </p:spTree>
    <p:extLst>
      <p:ext uri="{BB962C8B-B14F-4D97-AF65-F5344CB8AC3E}">
        <p14:creationId xmlns:p14="http://schemas.microsoft.com/office/powerpoint/2010/main" val="266667708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left)">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  </a:t>
            </a:r>
            <a:r>
              <a:rPr lang="zh-CN" altLang="en-US">
                <a:sym typeface="+mn-ea"/>
              </a:rPr>
              <a:t>误差问题</a:t>
            </a:r>
            <a:endParaRPr lang="en-US"/>
          </a:p>
        </p:txBody>
      </p:sp>
      <p:sp>
        <p:nvSpPr>
          <p:cNvPr id="3" name="Content Placeholder 2"/>
          <p:cNvSpPr>
            <a:spLocks noGrp="1"/>
          </p:cNvSpPr>
          <p:nvPr>
            <p:ph idx="1"/>
          </p:nvPr>
        </p:nvSpPr>
        <p:spPr>
          <a:xfrm>
            <a:off x="576263" y="1763712"/>
            <a:ext cx="7886700" cy="4957763"/>
          </a:xfrm>
        </p:spPr>
        <p:txBody>
          <a:bodyPr>
            <a:noAutofit/>
          </a:bodyPr>
          <a:lstStyle/>
          <a:p>
            <a:pPr marL="0" indent="0">
              <a:lnSpc>
                <a:spcPct val="200000"/>
              </a:lnSpc>
              <a:spcBef>
                <a:spcPts val="0"/>
              </a:spcBef>
              <a:buNone/>
            </a:pPr>
            <a:r>
              <a:rPr lang="en-US" sz="1800" dirty="0">
                <a:latin typeface="微软雅黑" panose="020B0503020204020204" pitchFamily="34" charset="-122"/>
                <a:ea typeface="微软雅黑" panose="020B0503020204020204" pitchFamily="34" charset="-122"/>
              </a:rPr>
              <a:t>&gt;&gt;&gt; 0.3 + 0.2                    </a:t>
            </a:r>
          </a:p>
          <a:p>
            <a:pPr marL="0" indent="0">
              <a:lnSpc>
                <a:spcPct val="200000"/>
              </a:lnSpc>
              <a:spcBef>
                <a:spcPts val="0"/>
              </a:spcBef>
              <a:buNone/>
            </a:pPr>
            <a:r>
              <a:rPr lang="en-US" sz="1800" dirty="0">
                <a:solidFill>
                  <a:srgbClr val="00B0F0"/>
                </a:solidFill>
                <a:latin typeface="微软雅黑" panose="020B0503020204020204" pitchFamily="34" charset="-122"/>
                <a:ea typeface="微软雅黑" panose="020B0503020204020204" pitchFamily="34" charset="-122"/>
              </a:rPr>
              <a:t>0.5</a:t>
            </a:r>
          </a:p>
          <a:p>
            <a:pPr marL="0" indent="0">
              <a:lnSpc>
                <a:spcPct val="200000"/>
              </a:lnSpc>
              <a:spcBef>
                <a:spcPts val="0"/>
              </a:spcBef>
              <a:buNone/>
            </a:pPr>
            <a:r>
              <a:rPr lang="en-US" sz="1800" dirty="0">
                <a:latin typeface="微软雅黑" panose="020B0503020204020204" pitchFamily="34" charset="-122"/>
                <a:ea typeface="微软雅黑" panose="020B0503020204020204" pitchFamily="34" charset="-122"/>
              </a:rPr>
              <a:t>&gt;&gt;&gt; 0.4 - 0.1                    #</a:t>
            </a:r>
            <a:r>
              <a:rPr lang="en-US" sz="1800" dirty="0" err="1">
                <a:latin typeface="微软雅黑" panose="020B0503020204020204" pitchFamily="34" charset="-122"/>
                <a:ea typeface="微软雅黑" panose="020B0503020204020204" pitchFamily="34" charset="-122"/>
              </a:rPr>
              <a:t>实数相减，结果稍微有点偏差</a:t>
            </a:r>
            <a:endParaRPr lang="en-US" sz="1800" dirty="0">
              <a:latin typeface="微软雅黑" panose="020B0503020204020204" pitchFamily="34" charset="-122"/>
              <a:ea typeface="微软雅黑" panose="020B0503020204020204" pitchFamily="34" charset="-122"/>
            </a:endParaRPr>
          </a:p>
          <a:p>
            <a:pPr marL="0" indent="0">
              <a:lnSpc>
                <a:spcPct val="200000"/>
              </a:lnSpc>
              <a:spcBef>
                <a:spcPts val="0"/>
              </a:spcBef>
              <a:buNone/>
            </a:pPr>
            <a:r>
              <a:rPr lang="en-US" sz="1800" dirty="0">
                <a:solidFill>
                  <a:srgbClr val="00B0F0"/>
                </a:solidFill>
                <a:latin typeface="微软雅黑" panose="020B0503020204020204" pitchFamily="34" charset="-122"/>
                <a:ea typeface="微软雅黑" panose="020B0503020204020204" pitchFamily="34" charset="-122"/>
              </a:rPr>
              <a:t>0.30000000000000004</a:t>
            </a: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19</a:t>
            </a:fld>
            <a:endParaRPr lang="zh-CN" altLang="en-US"/>
          </a:p>
        </p:txBody>
      </p:sp>
    </p:spTree>
    <p:extLst>
      <p:ext uri="{BB962C8B-B14F-4D97-AF65-F5344CB8AC3E}">
        <p14:creationId xmlns:p14="http://schemas.microsoft.com/office/powerpoint/2010/main" val="10096100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2  </a:t>
            </a:r>
            <a:r>
              <a:rPr lang="zh-CN" altLang="en-US"/>
              <a:t>数字</a:t>
            </a:r>
          </a:p>
        </p:txBody>
      </p:sp>
      <p:sp>
        <p:nvSpPr>
          <p:cNvPr id="3" name="Content Placeholder 2"/>
          <p:cNvSpPr>
            <a:spLocks noGrp="1"/>
          </p:cNvSpPr>
          <p:nvPr>
            <p:ph idx="1"/>
          </p:nvPr>
        </p:nvSpPr>
        <p:spPr>
          <a:xfrm>
            <a:off x="628650" y="1825625"/>
            <a:ext cx="7243763" cy="4351338"/>
          </a:xfrm>
        </p:spPr>
        <p:txBody>
          <a:bodyPr>
            <a:normAutofit/>
          </a:bodyPr>
          <a:lstStyle/>
          <a:p>
            <a:pPr fontAlgn="auto">
              <a:lnSpc>
                <a:spcPct val="150000"/>
              </a:lnSpc>
            </a:pPr>
            <a:r>
              <a:rPr lang="en-US" sz="2000" dirty="0"/>
              <a:t>由于精度的问题，对于实数运算可能会有一定的误差，</a:t>
            </a:r>
            <a:r>
              <a:rPr lang="en-US" sz="2000" dirty="0">
                <a:solidFill>
                  <a:srgbClr val="FF0000"/>
                </a:solidFill>
              </a:rPr>
              <a:t>应尽量避免在实数之间直接进行相等性测试</a:t>
            </a:r>
            <a:r>
              <a:rPr lang="en-US" sz="2000" dirty="0"/>
              <a:t>，而是应该以二者之差的绝对值是否足够小作为两个实数是否相等的依据。</a:t>
            </a: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20</a:t>
            </a:fld>
            <a:endParaRPr lang="zh-CN" altLang="en-US"/>
          </a:p>
        </p:txBody>
      </p:sp>
      <p:sp>
        <p:nvSpPr>
          <p:cNvPr id="6" name="Content Placeholder 2"/>
          <p:cNvSpPr txBox="1">
            <a:spLocks/>
          </p:cNvSpPr>
          <p:nvPr/>
        </p:nvSpPr>
        <p:spPr>
          <a:xfrm>
            <a:off x="683568" y="3645024"/>
            <a:ext cx="7886700" cy="247002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spcBef>
                <a:spcPts val="0"/>
              </a:spcBef>
              <a:buFont typeface="Arial" panose="020B0604020202020204" pitchFamily="34" charset="0"/>
              <a:buNone/>
            </a:pPr>
            <a:r>
              <a:rPr lang="en-US" sz="1800">
                <a:latin typeface="微软雅黑" panose="020B0503020204020204" pitchFamily="34" charset="-122"/>
                <a:ea typeface="微软雅黑" panose="020B0503020204020204" pitchFamily="34" charset="-122"/>
              </a:rPr>
              <a:t>&gt;&gt;&gt; 0.4 - 0.1 == 0.3                   </a:t>
            </a:r>
            <a:r>
              <a:rPr lang="en-US" sz="1800">
                <a:solidFill>
                  <a:srgbClr val="00B050"/>
                </a:solidFill>
                <a:latin typeface="微软雅黑" panose="020B0503020204020204" pitchFamily="34" charset="-122"/>
                <a:ea typeface="微软雅黑" panose="020B0503020204020204" pitchFamily="34" charset="-122"/>
              </a:rPr>
              <a:t>#应尽量避免直接比较两个实数是否相等</a:t>
            </a:r>
          </a:p>
          <a:p>
            <a:pPr marL="0" indent="0">
              <a:lnSpc>
                <a:spcPct val="200000"/>
              </a:lnSpc>
              <a:spcBef>
                <a:spcPts val="0"/>
              </a:spcBef>
              <a:buFont typeface="Arial" panose="020B0604020202020204" pitchFamily="34" charset="0"/>
              <a:buNone/>
            </a:pPr>
            <a:r>
              <a:rPr lang="en-US" sz="1800">
                <a:solidFill>
                  <a:srgbClr val="FF0000"/>
                </a:solidFill>
                <a:latin typeface="微软雅黑" panose="020B0503020204020204" pitchFamily="34" charset="-122"/>
                <a:ea typeface="微软雅黑" panose="020B0503020204020204" pitchFamily="34" charset="-122"/>
              </a:rPr>
              <a:t>False</a:t>
            </a:r>
          </a:p>
          <a:p>
            <a:pPr marL="0" indent="0">
              <a:lnSpc>
                <a:spcPct val="200000"/>
              </a:lnSpc>
              <a:spcBef>
                <a:spcPts val="0"/>
              </a:spcBef>
              <a:buFont typeface="Arial" panose="020B0604020202020204" pitchFamily="34" charset="0"/>
              <a:buNone/>
            </a:pPr>
            <a:r>
              <a:rPr lang="en-US" sz="1800">
                <a:latin typeface="微软雅黑" panose="020B0503020204020204" pitchFamily="34" charset="-122"/>
                <a:ea typeface="微软雅黑" panose="020B0503020204020204" pitchFamily="34" charset="-122"/>
              </a:rPr>
              <a:t>&gt;&gt;&gt; abs(0.4-0.1 - 0.3) &lt; 1e-6              </a:t>
            </a:r>
            <a:r>
              <a:rPr lang="en-US" sz="1800">
                <a:solidFill>
                  <a:srgbClr val="00B050"/>
                </a:solidFill>
                <a:latin typeface="微软雅黑" panose="020B0503020204020204" pitchFamily="34" charset="-122"/>
                <a:ea typeface="微软雅黑" panose="020B0503020204020204" pitchFamily="34" charset="-122"/>
              </a:rPr>
              <a:t>#这里1e-6表示10的-6次方</a:t>
            </a:r>
          </a:p>
          <a:p>
            <a:pPr marL="0" indent="0">
              <a:lnSpc>
                <a:spcPct val="200000"/>
              </a:lnSpc>
              <a:spcBef>
                <a:spcPts val="0"/>
              </a:spcBef>
              <a:buFont typeface="Arial" panose="020B0604020202020204" pitchFamily="34" charset="0"/>
              <a:buNone/>
            </a:pPr>
            <a:r>
              <a:rPr lang="en-US" sz="1800">
                <a:solidFill>
                  <a:srgbClr val="00B0F0"/>
                </a:solidFill>
                <a:latin typeface="微软雅黑" panose="020B0503020204020204" pitchFamily="34" charset="-122"/>
                <a:ea typeface="微软雅黑" panose="020B0503020204020204" pitchFamily="34" charset="-122"/>
              </a:rPr>
              <a:t>True</a:t>
            </a:r>
            <a:endParaRPr lang="en-US" sz="1800" dirty="0">
              <a:solidFill>
                <a:srgbClr val="00B0F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36574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  </a:t>
            </a:r>
            <a:r>
              <a:rPr lang="zh-CN" altLang="en-US">
                <a:sym typeface="+mn-ea"/>
              </a:rPr>
              <a:t>数字</a:t>
            </a:r>
            <a:endParaRPr lang="en-US"/>
          </a:p>
        </p:txBody>
      </p:sp>
      <p:sp>
        <p:nvSpPr>
          <p:cNvPr id="3" name="Content Placeholder 2"/>
          <p:cNvSpPr>
            <a:spLocks noGrp="1"/>
          </p:cNvSpPr>
          <p:nvPr>
            <p:ph idx="1"/>
          </p:nvPr>
        </p:nvSpPr>
        <p:spPr>
          <a:xfrm>
            <a:off x="628650" y="1848327"/>
            <a:ext cx="7886700" cy="4576286"/>
          </a:xfrm>
        </p:spPr>
        <p:txBody>
          <a:bodyPr>
            <a:normAutofit/>
          </a:bodyPr>
          <a:lstStyle/>
          <a:p>
            <a:pPr fontAlgn="auto">
              <a:lnSpc>
                <a:spcPct val="150000"/>
              </a:lnSpc>
              <a:buFont typeface="Wingdings" panose="05000000000000000000" charset="0"/>
              <a:buChar char=""/>
            </a:pPr>
            <a:r>
              <a:rPr lang="en-US" sz="1800" dirty="0"/>
              <a:t>Python 3.6.x支持在数字中间位置使用</a:t>
            </a:r>
            <a:r>
              <a:rPr lang="en-US" sz="1800" dirty="0">
                <a:solidFill>
                  <a:srgbClr val="FF0000"/>
                </a:solidFill>
              </a:rPr>
              <a:t>单个下划线</a:t>
            </a:r>
            <a:r>
              <a:rPr lang="en-US" sz="1800" dirty="0"/>
              <a:t>作为分隔来提高数字的可读性，类似于数学上使用逗号作为千位分隔符。</a:t>
            </a:r>
          </a:p>
          <a:p>
            <a:pPr fontAlgn="auto">
              <a:lnSpc>
                <a:spcPct val="150000"/>
              </a:lnSpc>
              <a:buFont typeface="Wingdings" panose="05000000000000000000" charset="0"/>
              <a:buChar char=""/>
            </a:pPr>
            <a:r>
              <a:rPr lang="en-US" sz="1800" dirty="0" err="1"/>
              <a:t>在Python数字中单个下划线可以出现在中间任意位置，但</a:t>
            </a:r>
            <a:r>
              <a:rPr lang="en-US" sz="1800" dirty="0" err="1">
                <a:solidFill>
                  <a:srgbClr val="FF0000"/>
                </a:solidFill>
              </a:rPr>
              <a:t>不能出现开头和结尾位置，也不能使用多个连续的下划线</a:t>
            </a:r>
            <a:r>
              <a:rPr lang="en-US" sz="1800" dirty="0"/>
              <a:t>。</a:t>
            </a:r>
          </a:p>
          <a:p>
            <a:pPr marL="0" indent="0">
              <a:lnSpc>
                <a:spcPct val="200000"/>
              </a:lnSpc>
              <a:spcBef>
                <a:spcPts val="0"/>
              </a:spcBef>
              <a:buNone/>
            </a:pPr>
            <a:r>
              <a:rPr lang="en-US" sz="2000" dirty="0">
                <a:latin typeface="Consolas" panose="020B0609020204030204" charset="0"/>
              </a:rPr>
              <a:t>&gt;&gt;&gt; 1_000_000</a:t>
            </a:r>
          </a:p>
          <a:p>
            <a:pPr marL="0" indent="0">
              <a:lnSpc>
                <a:spcPct val="200000"/>
              </a:lnSpc>
              <a:spcBef>
                <a:spcPts val="0"/>
              </a:spcBef>
              <a:buNone/>
            </a:pPr>
            <a:r>
              <a:rPr lang="en-US" sz="2000" dirty="0">
                <a:solidFill>
                  <a:srgbClr val="00B0F0"/>
                </a:solidFill>
                <a:latin typeface="Consolas" panose="020B0609020204030204" charset="0"/>
              </a:rPr>
              <a:t>1000000</a:t>
            </a:r>
          </a:p>
          <a:p>
            <a:pPr marL="0" indent="0">
              <a:lnSpc>
                <a:spcPct val="200000"/>
              </a:lnSpc>
              <a:spcBef>
                <a:spcPts val="0"/>
              </a:spcBef>
              <a:buNone/>
            </a:pPr>
            <a:r>
              <a:rPr lang="en-US" sz="2000" dirty="0">
                <a:latin typeface="Consolas" panose="020B0609020204030204" charset="0"/>
              </a:rPr>
              <a:t>&gt;&gt;&gt; 1_2_3_4</a:t>
            </a:r>
          </a:p>
          <a:p>
            <a:pPr marL="0" indent="0">
              <a:lnSpc>
                <a:spcPct val="200000"/>
              </a:lnSpc>
              <a:spcBef>
                <a:spcPts val="0"/>
              </a:spcBef>
              <a:buNone/>
            </a:pPr>
            <a:r>
              <a:rPr lang="en-US" sz="2000" dirty="0">
                <a:solidFill>
                  <a:srgbClr val="00B0F0"/>
                </a:solidFill>
                <a:latin typeface="Consolas" panose="020B0609020204030204" charset="0"/>
              </a:rPr>
              <a:t>1234</a:t>
            </a: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21</a:t>
            </a:fld>
            <a:endParaRPr lang="zh-CN" altLang="en-US"/>
          </a:p>
        </p:txBody>
      </p:sp>
      <p:sp>
        <p:nvSpPr>
          <p:cNvPr id="5" name="矩形 4"/>
          <p:cNvSpPr/>
          <p:nvPr/>
        </p:nvSpPr>
        <p:spPr>
          <a:xfrm>
            <a:off x="3851920" y="332656"/>
            <a:ext cx="1569660" cy="923330"/>
          </a:xfrm>
          <a:prstGeom prst="rect">
            <a:avLst/>
          </a:prstGeom>
          <a:noFill/>
        </p:spPr>
        <p:style>
          <a:lnRef idx="1">
            <a:schemeClr val="accent1"/>
          </a:lnRef>
          <a:fillRef idx="2">
            <a:schemeClr val="accent1"/>
          </a:fillRef>
          <a:effectRef idx="1">
            <a:schemeClr val="accent1"/>
          </a:effectRef>
          <a:fontRef idx="minor">
            <a:schemeClr val="dk1"/>
          </a:fontRef>
        </p:style>
        <p:txBody>
          <a:bodyPr wrap="none" lIns="91440" tIns="45720" rIns="91440" bIns="45720">
            <a:spAutoFit/>
          </a:bodyPr>
          <a:lstStyle/>
          <a:p>
            <a:pPr algn="ctr"/>
            <a:r>
              <a:rPr lang="zh-CN" altLang="en-US" sz="54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不考</a:t>
            </a:r>
          </a:p>
        </p:txBody>
      </p:sp>
      <p:sp>
        <p:nvSpPr>
          <p:cNvPr id="6" name="文本框 5">
            <a:extLst>
              <a:ext uri="{FF2B5EF4-FFF2-40B4-BE49-F238E27FC236}">
                <a16:creationId xmlns:a16="http://schemas.microsoft.com/office/drawing/2014/main" id="{5107CBF6-D5C4-4091-88F4-7CF7740CB4B7}"/>
              </a:ext>
            </a:extLst>
          </p:cNvPr>
          <p:cNvSpPr txBox="1"/>
          <p:nvPr/>
        </p:nvSpPr>
        <p:spPr>
          <a:xfrm>
            <a:off x="5796136" y="4221088"/>
            <a:ext cx="1691489" cy="369332"/>
          </a:xfrm>
          <a:prstGeom prst="rect">
            <a:avLst/>
          </a:prstGeom>
          <a:noFill/>
        </p:spPr>
        <p:txBody>
          <a:bodyPr wrap="none" rtlCol="0">
            <a:spAutoFit/>
          </a:bodyPr>
          <a:lstStyle/>
          <a:p>
            <a:r>
              <a:rPr lang="en-US" altLang="zh-CN" dirty="0"/>
              <a:t>_1234</a:t>
            </a:r>
            <a:r>
              <a:rPr lang="zh-CN" altLang="en-US" dirty="0"/>
              <a:t>是标识符</a:t>
            </a:r>
          </a:p>
        </p:txBody>
      </p:sp>
    </p:spTree>
    <p:extLst>
      <p:ext uri="{BB962C8B-B14F-4D97-AF65-F5344CB8AC3E}">
        <p14:creationId xmlns:p14="http://schemas.microsoft.com/office/powerpoint/2010/main" val="28218967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b="1">
                <a:solidFill>
                  <a:srgbClr val="245794"/>
                </a:solidFill>
              </a:rPr>
              <a:t>3</a:t>
            </a:r>
            <a:r>
              <a:rPr lang="zh-CN" altLang="zh-CN" b="1">
                <a:solidFill>
                  <a:srgbClr val="245794"/>
                </a:solidFill>
              </a:rPr>
              <a:t>．复数型数据</a:t>
            </a:r>
            <a:endParaRPr lang="zh-CN" altLang="en-US"/>
          </a:p>
        </p:txBody>
      </p:sp>
      <p:sp>
        <p:nvSpPr>
          <p:cNvPr id="4" name="内容占位符 3"/>
          <p:cNvSpPr>
            <a:spLocks noGrp="1"/>
          </p:cNvSpPr>
          <p:nvPr>
            <p:ph idx="1"/>
          </p:nvPr>
        </p:nvSpPr>
        <p:spPr>
          <a:xfrm>
            <a:off x="628650" y="1844824"/>
            <a:ext cx="5671542" cy="1584176"/>
          </a:xfrm>
        </p:spPr>
        <p:txBody>
          <a:bodyPr/>
          <a:lstStyle/>
          <a:p>
            <a:pPr>
              <a:lnSpc>
                <a:spcPct val="100000"/>
              </a:lnSpc>
            </a:pPr>
            <a:r>
              <a:rPr lang="en-US" altLang="zh-CN"/>
              <a:t> </a:t>
            </a:r>
            <a:r>
              <a:rPr lang="zh-CN" altLang="zh-CN" sz="2000">
                <a:latin typeface="+mn-ea"/>
              </a:rPr>
              <a:t>复数类型数据的形式为：</a:t>
            </a:r>
            <a:endParaRPr lang="en-US" altLang="zh-CN" sz="2000">
              <a:latin typeface="+mn-ea"/>
            </a:endParaRPr>
          </a:p>
          <a:p>
            <a:pPr marL="0" indent="0">
              <a:lnSpc>
                <a:spcPct val="100000"/>
              </a:lnSpc>
              <a:spcAft>
                <a:spcPts val="600"/>
              </a:spcAft>
              <a:buClr>
                <a:srgbClr val="7030A0"/>
              </a:buClr>
              <a:buSzPct val="60000"/>
              <a:buNone/>
            </a:pPr>
            <a:r>
              <a:rPr lang="en-US" altLang="zh-CN" sz="2000">
                <a:latin typeface="+mn-ea"/>
                <a:cs typeface="Courier New" pitchFamily="49" charset="0"/>
              </a:rPr>
              <a:t>              </a:t>
            </a:r>
            <a:r>
              <a:rPr lang="en-US" altLang="zh-CN" sz="2000" b="1">
                <a:solidFill>
                  <a:srgbClr val="0070C0"/>
                </a:solidFill>
                <a:latin typeface="+mn-ea"/>
                <a:cs typeface="Courier New" pitchFamily="49" charset="0"/>
              </a:rPr>
              <a:t>a+bJ</a:t>
            </a:r>
            <a:endParaRPr lang="zh-CN" altLang="zh-CN" sz="2000" b="1">
              <a:solidFill>
                <a:srgbClr val="0070C0"/>
              </a:solidFill>
              <a:latin typeface="+mn-ea"/>
              <a:cs typeface="Courier New" pitchFamily="49" charset="0"/>
            </a:endParaRPr>
          </a:p>
          <a:p>
            <a:pPr>
              <a:lnSpc>
                <a:spcPct val="100000"/>
              </a:lnSpc>
              <a:spcAft>
                <a:spcPts val="600"/>
              </a:spcAft>
              <a:buClr>
                <a:srgbClr val="7030A0"/>
              </a:buClr>
              <a:buSzPct val="60000"/>
            </a:pPr>
            <a:r>
              <a:rPr lang="zh-CN" altLang="zh-CN" sz="2000">
                <a:latin typeface="+mn-ea"/>
              </a:rPr>
              <a:t>注</a:t>
            </a:r>
            <a:r>
              <a:rPr lang="en-US" altLang="zh-CN" sz="2000">
                <a:latin typeface="+mn-ea"/>
              </a:rPr>
              <a:t>: J</a:t>
            </a:r>
            <a:r>
              <a:rPr lang="zh-CN" altLang="zh-CN" sz="2000">
                <a:latin typeface="+mn-ea"/>
              </a:rPr>
              <a:t>也可以写成小写</a:t>
            </a:r>
            <a:r>
              <a:rPr lang="en-US" altLang="zh-CN" sz="2000">
                <a:latin typeface="+mn-ea"/>
              </a:rPr>
              <a:t>j</a:t>
            </a:r>
            <a:r>
              <a:rPr lang="zh-CN" altLang="zh-CN" sz="2000">
                <a:latin typeface="+mn-ea"/>
              </a:rPr>
              <a:t>，</a:t>
            </a:r>
            <a:r>
              <a:rPr lang="zh-CN" altLang="en-US" sz="2000">
                <a:latin typeface="+mn-ea"/>
              </a:rPr>
              <a:t>但</a:t>
            </a:r>
            <a:r>
              <a:rPr lang="zh-CN" altLang="zh-CN" sz="2000">
                <a:latin typeface="+mn-ea"/>
              </a:rPr>
              <a:t>不是数学上的</a:t>
            </a:r>
            <a:r>
              <a:rPr lang="en-US" altLang="zh-CN" sz="2000">
                <a:latin typeface="+mn-ea"/>
              </a:rPr>
              <a:t>i</a:t>
            </a:r>
            <a:r>
              <a:rPr lang="zh-CN" altLang="zh-CN" sz="2000">
                <a:latin typeface="+mn-ea"/>
              </a:rPr>
              <a:t>。</a:t>
            </a:r>
          </a:p>
        </p:txBody>
      </p:sp>
      <p:sp>
        <p:nvSpPr>
          <p:cNvPr id="5" name="矩形 4"/>
          <p:cNvSpPr/>
          <p:nvPr/>
        </p:nvSpPr>
        <p:spPr>
          <a:xfrm>
            <a:off x="6444208" y="1916832"/>
            <a:ext cx="1728192" cy="1754326"/>
          </a:xfrm>
          <a:prstGeom prst="rect">
            <a:avLst/>
          </a:prstGeom>
          <a:solidFill>
            <a:schemeClr val="bg1">
              <a:lumMod val="95000"/>
            </a:schemeClr>
          </a:solidFill>
        </p:spPr>
        <p:txBody>
          <a:bodyPr wrap="square">
            <a:spAutoFit/>
          </a:bodyPr>
          <a:lstStyle/>
          <a:p>
            <a:pPr>
              <a:lnSpc>
                <a:spcPct val="150000"/>
              </a:lnSpc>
            </a:pPr>
            <a:r>
              <a:rPr lang="zh-CN" altLang="en-US" sz="2400">
                <a:solidFill>
                  <a:srgbClr val="00B050"/>
                </a:solidFill>
              </a:rPr>
              <a:t>&gt;&gt;&gt;</a:t>
            </a:r>
            <a:r>
              <a:rPr lang="zh-CN" altLang="en-US" sz="2400"/>
              <a:t> x=3+6J</a:t>
            </a:r>
          </a:p>
          <a:p>
            <a:pPr>
              <a:lnSpc>
                <a:spcPct val="150000"/>
              </a:lnSpc>
            </a:pPr>
            <a:r>
              <a:rPr lang="zh-CN" altLang="en-US" sz="2400">
                <a:solidFill>
                  <a:srgbClr val="00B050"/>
                </a:solidFill>
              </a:rPr>
              <a:t>&gt;&gt;&gt;</a:t>
            </a:r>
            <a:r>
              <a:rPr lang="zh-CN" altLang="en-US" sz="2400"/>
              <a:t> x</a:t>
            </a:r>
          </a:p>
          <a:p>
            <a:pPr>
              <a:lnSpc>
                <a:spcPct val="150000"/>
              </a:lnSpc>
            </a:pPr>
            <a:r>
              <a:rPr lang="zh-CN" altLang="en-US" sz="2400"/>
              <a:t>(3+6j)</a:t>
            </a:r>
          </a:p>
        </p:txBody>
      </p:sp>
      <p:sp>
        <p:nvSpPr>
          <p:cNvPr id="6" name="矩形 5"/>
          <p:cNvSpPr/>
          <p:nvPr/>
        </p:nvSpPr>
        <p:spPr>
          <a:xfrm>
            <a:off x="971600" y="4005064"/>
            <a:ext cx="1656184" cy="2308324"/>
          </a:xfrm>
          <a:prstGeom prst="rect">
            <a:avLst/>
          </a:prstGeom>
          <a:solidFill>
            <a:schemeClr val="bg1">
              <a:lumMod val="95000"/>
            </a:schemeClr>
          </a:solidFill>
        </p:spPr>
        <p:txBody>
          <a:bodyPr wrap="square">
            <a:spAutoFit/>
          </a:bodyPr>
          <a:lstStyle/>
          <a:p>
            <a:pPr>
              <a:lnSpc>
                <a:spcPct val="150000"/>
              </a:lnSpc>
            </a:pPr>
            <a:r>
              <a:rPr lang="zh-CN" altLang="en-US" sz="2400">
                <a:solidFill>
                  <a:srgbClr val="00B050"/>
                </a:solidFill>
              </a:rPr>
              <a:t>&gt;&gt;&gt;</a:t>
            </a:r>
            <a:r>
              <a:rPr lang="zh-CN" altLang="en-US" sz="2400"/>
              <a:t> x.real</a:t>
            </a:r>
          </a:p>
          <a:p>
            <a:pPr>
              <a:lnSpc>
                <a:spcPct val="150000"/>
              </a:lnSpc>
            </a:pPr>
            <a:r>
              <a:rPr lang="zh-CN" altLang="en-US" sz="2400"/>
              <a:t>3.0</a:t>
            </a:r>
          </a:p>
          <a:p>
            <a:pPr>
              <a:lnSpc>
                <a:spcPct val="150000"/>
              </a:lnSpc>
            </a:pPr>
            <a:r>
              <a:rPr lang="zh-CN" altLang="en-US" sz="2400">
                <a:solidFill>
                  <a:srgbClr val="00B050"/>
                </a:solidFill>
              </a:rPr>
              <a:t>&gt;&gt;&gt;</a:t>
            </a:r>
            <a:r>
              <a:rPr lang="zh-CN" altLang="en-US" sz="2400"/>
              <a:t> x.imag</a:t>
            </a:r>
          </a:p>
          <a:p>
            <a:pPr>
              <a:lnSpc>
                <a:spcPct val="150000"/>
              </a:lnSpc>
            </a:pPr>
            <a:r>
              <a:rPr lang="zh-CN" altLang="en-US" sz="2400"/>
              <a:t>6.0</a:t>
            </a:r>
          </a:p>
        </p:txBody>
      </p:sp>
      <p:sp>
        <p:nvSpPr>
          <p:cNvPr id="7" name="矩形 6"/>
          <p:cNvSpPr/>
          <p:nvPr/>
        </p:nvSpPr>
        <p:spPr>
          <a:xfrm>
            <a:off x="2987824" y="4437112"/>
            <a:ext cx="4572000" cy="1123513"/>
          </a:xfrm>
          <a:prstGeom prst="rect">
            <a:avLst/>
          </a:prstGeom>
        </p:spPr>
        <p:txBody>
          <a:bodyPr>
            <a:spAutoFit/>
          </a:bodyPr>
          <a:lstStyle/>
          <a:p>
            <a:pPr marL="285750" indent="-285750">
              <a:lnSpc>
                <a:spcPct val="200000"/>
              </a:lnSpc>
              <a:spcAft>
                <a:spcPts val="600"/>
              </a:spcAft>
              <a:buClr>
                <a:srgbClr val="7030A0"/>
              </a:buClr>
              <a:buSzPct val="60000"/>
              <a:buFont typeface="Arial" panose="020B0604020202020204" pitchFamily="34" charset="0"/>
              <a:buChar char="•"/>
            </a:pPr>
            <a:r>
              <a:rPr lang="zh-CN" altLang="zh-CN">
                <a:latin typeface="+mn-ea"/>
              </a:rPr>
              <a:t>可以通过</a:t>
            </a:r>
            <a:r>
              <a:rPr lang="en-US" altLang="zh-CN">
                <a:latin typeface="+mn-ea"/>
              </a:rPr>
              <a:t>x.real</a:t>
            </a:r>
            <a:r>
              <a:rPr lang="zh-CN" altLang="zh-CN">
                <a:latin typeface="+mn-ea"/>
              </a:rPr>
              <a:t>和</a:t>
            </a:r>
            <a:r>
              <a:rPr lang="en-US" altLang="zh-CN">
                <a:latin typeface="+mn-ea"/>
              </a:rPr>
              <a:t>x.imag</a:t>
            </a:r>
            <a:r>
              <a:rPr lang="zh-CN" altLang="zh-CN">
                <a:latin typeface="+mn-ea"/>
              </a:rPr>
              <a:t>来分别获取复数</a:t>
            </a:r>
            <a:r>
              <a:rPr lang="en-US" altLang="zh-CN">
                <a:latin typeface="+mn-ea"/>
              </a:rPr>
              <a:t>x</a:t>
            </a:r>
            <a:r>
              <a:rPr lang="zh-CN" altLang="zh-CN">
                <a:latin typeface="+mn-ea"/>
              </a:rPr>
              <a:t>的实部和虚部，结果都是浮点型。</a:t>
            </a:r>
          </a:p>
        </p:txBody>
      </p:sp>
    </p:spTree>
    <p:extLst>
      <p:ext uri="{BB962C8B-B14F-4D97-AF65-F5344CB8AC3E}">
        <p14:creationId xmlns:p14="http://schemas.microsoft.com/office/powerpoint/2010/main" val="273586302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up)">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en-US" altLang="zh-CN" sz="3600" b="1">
                <a:solidFill>
                  <a:srgbClr val="245794"/>
                </a:solidFill>
                <a:latin typeface="+mn-ea"/>
                <a:ea typeface="+mn-ea"/>
              </a:rPr>
              <a:t>1.4.2  </a:t>
            </a:r>
            <a:r>
              <a:rPr lang="zh-CN" altLang="zh-CN" sz="3600" b="1">
                <a:solidFill>
                  <a:srgbClr val="245794"/>
                </a:solidFill>
                <a:latin typeface="+mn-ea"/>
                <a:ea typeface="+mn-ea"/>
              </a:rPr>
              <a:t>字符串类型</a:t>
            </a:r>
            <a:endParaRPr lang="zh-CN" altLang="en-US" sz="3600">
              <a:latin typeface="+mn-ea"/>
              <a:ea typeface="+mn-ea"/>
            </a:endParaRPr>
          </a:p>
        </p:txBody>
      </p:sp>
      <p:sp>
        <p:nvSpPr>
          <p:cNvPr id="4" name="内容占位符 3"/>
          <p:cNvSpPr>
            <a:spLocks noGrp="1"/>
          </p:cNvSpPr>
          <p:nvPr>
            <p:ph idx="1"/>
          </p:nvPr>
        </p:nvSpPr>
        <p:spPr>
          <a:xfrm>
            <a:off x="628650" y="1825625"/>
            <a:ext cx="3439294" cy="4351338"/>
          </a:xfrm>
          <a:solidFill>
            <a:schemeClr val="accent1">
              <a:lumMod val="20000"/>
              <a:lumOff val="80000"/>
            </a:schemeClr>
          </a:solidFill>
        </p:spPr>
        <p:txBody>
          <a:bodyPr>
            <a:normAutofit fontScale="85000" lnSpcReduction="10000"/>
          </a:bodyPr>
          <a:lstStyle/>
          <a:p>
            <a:pPr>
              <a:lnSpc>
                <a:spcPct val="200000"/>
              </a:lnSpc>
              <a:spcAft>
                <a:spcPts val="600"/>
              </a:spcAft>
              <a:buClr>
                <a:srgbClr val="7030A0"/>
              </a:buClr>
              <a:buSzPct val="60000"/>
            </a:pPr>
            <a:r>
              <a:rPr lang="zh-CN" altLang="zh-CN" sz="2000">
                <a:solidFill>
                  <a:srgbClr val="245794"/>
                </a:solidFill>
                <a:latin typeface="+mn-ea"/>
              </a:rPr>
              <a:t>定义一个标准字符串可以使用</a:t>
            </a:r>
            <a:r>
              <a:rPr lang="zh-CN" altLang="zh-CN" sz="2000">
                <a:solidFill>
                  <a:srgbClr val="FF0000"/>
                </a:solidFill>
                <a:latin typeface="+mn-ea"/>
              </a:rPr>
              <a:t>单引号</a:t>
            </a:r>
            <a:r>
              <a:rPr lang="zh-CN" altLang="zh-CN" sz="2000">
                <a:solidFill>
                  <a:srgbClr val="245794"/>
                </a:solidFill>
                <a:latin typeface="+mn-ea"/>
              </a:rPr>
              <a:t>、</a:t>
            </a:r>
            <a:r>
              <a:rPr lang="zh-CN" altLang="zh-CN" sz="2000">
                <a:solidFill>
                  <a:srgbClr val="FF0000"/>
                </a:solidFill>
                <a:latin typeface="+mn-ea"/>
              </a:rPr>
              <a:t>双引号</a:t>
            </a:r>
            <a:r>
              <a:rPr lang="zh-CN" altLang="zh-CN" sz="2000">
                <a:solidFill>
                  <a:srgbClr val="245794"/>
                </a:solidFill>
                <a:latin typeface="+mn-ea"/>
              </a:rPr>
              <a:t>和</a:t>
            </a:r>
            <a:r>
              <a:rPr lang="zh-CN" altLang="zh-CN" sz="2000">
                <a:solidFill>
                  <a:srgbClr val="FF0000"/>
                </a:solidFill>
                <a:latin typeface="+mn-ea"/>
              </a:rPr>
              <a:t>三引号</a:t>
            </a:r>
            <a:r>
              <a:rPr lang="zh-CN" altLang="zh-CN" sz="2000">
                <a:solidFill>
                  <a:srgbClr val="245794"/>
                </a:solidFill>
                <a:latin typeface="+mn-ea"/>
              </a:rPr>
              <a:t>（三个单引号或三个双引号</a:t>
            </a:r>
            <a:r>
              <a:rPr lang="zh-CN" altLang="en-US" sz="2000">
                <a:solidFill>
                  <a:srgbClr val="245794"/>
                </a:solidFill>
                <a:latin typeface="+mn-ea"/>
              </a:rPr>
              <a:t>）为定界符。</a:t>
            </a:r>
            <a:endParaRPr lang="zh-CN" altLang="zh-CN" sz="2000">
              <a:solidFill>
                <a:srgbClr val="245794"/>
              </a:solidFill>
              <a:latin typeface="+mn-ea"/>
            </a:endParaRPr>
          </a:p>
          <a:p>
            <a:pPr>
              <a:lnSpc>
                <a:spcPct val="200000"/>
              </a:lnSpc>
              <a:spcAft>
                <a:spcPts val="600"/>
              </a:spcAft>
              <a:buClr>
                <a:srgbClr val="7030A0"/>
              </a:buClr>
              <a:buSzPct val="60000"/>
            </a:pPr>
            <a:r>
              <a:rPr lang="zh-CN" altLang="zh-CN" sz="2000">
                <a:solidFill>
                  <a:srgbClr val="245794"/>
                </a:solidFill>
                <a:latin typeface="+mn-ea"/>
              </a:rPr>
              <a:t>用单引号或双引号括起来的字符串必须在</a:t>
            </a:r>
            <a:r>
              <a:rPr lang="zh-CN" altLang="zh-CN" sz="2000">
                <a:solidFill>
                  <a:srgbClr val="FF0000"/>
                </a:solidFill>
                <a:latin typeface="+mn-ea"/>
              </a:rPr>
              <a:t>一行</a:t>
            </a:r>
            <a:r>
              <a:rPr lang="zh-CN" altLang="zh-CN" sz="2000">
                <a:solidFill>
                  <a:srgbClr val="245794"/>
                </a:solidFill>
                <a:latin typeface="+mn-ea"/>
              </a:rPr>
              <a:t>内。</a:t>
            </a:r>
            <a:endParaRPr lang="en-US" altLang="zh-CN" sz="2000">
              <a:solidFill>
                <a:srgbClr val="245794"/>
              </a:solidFill>
              <a:latin typeface="+mn-ea"/>
            </a:endParaRPr>
          </a:p>
          <a:p>
            <a:pPr>
              <a:lnSpc>
                <a:spcPct val="200000"/>
              </a:lnSpc>
              <a:spcAft>
                <a:spcPts val="600"/>
              </a:spcAft>
              <a:buClr>
                <a:srgbClr val="7030A0"/>
              </a:buClr>
              <a:buSzPct val="60000"/>
            </a:pPr>
            <a:r>
              <a:rPr lang="zh-CN" altLang="zh-CN" sz="2000">
                <a:solidFill>
                  <a:srgbClr val="245794"/>
                </a:solidFill>
                <a:latin typeface="+mn-ea"/>
              </a:rPr>
              <a:t>用三引号括起来的字符串可以是</a:t>
            </a:r>
            <a:r>
              <a:rPr lang="zh-CN" altLang="zh-CN" sz="2000">
                <a:solidFill>
                  <a:srgbClr val="FF0000"/>
                </a:solidFill>
                <a:latin typeface="+mn-ea"/>
              </a:rPr>
              <a:t>多行</a:t>
            </a:r>
            <a:r>
              <a:rPr lang="zh-CN" altLang="zh-CN" sz="2000">
                <a:solidFill>
                  <a:srgbClr val="245794"/>
                </a:solidFill>
                <a:latin typeface="+mn-ea"/>
              </a:rPr>
              <a:t>的。</a:t>
            </a:r>
          </a:p>
        </p:txBody>
      </p:sp>
      <p:sp>
        <p:nvSpPr>
          <p:cNvPr id="5" name="矩形 4"/>
          <p:cNvSpPr/>
          <p:nvPr/>
        </p:nvSpPr>
        <p:spPr>
          <a:xfrm>
            <a:off x="4788024" y="1772816"/>
            <a:ext cx="2448272" cy="1938992"/>
          </a:xfrm>
          <a:prstGeom prst="rect">
            <a:avLst/>
          </a:prstGeom>
          <a:solidFill>
            <a:schemeClr val="bg1">
              <a:lumMod val="95000"/>
            </a:schemeClr>
          </a:solidFill>
        </p:spPr>
        <p:txBody>
          <a:bodyPr wrap="square">
            <a:spAutoFit/>
          </a:bodyPr>
          <a:lstStyle/>
          <a:p>
            <a:pPr>
              <a:lnSpc>
                <a:spcPct val="150000"/>
              </a:lnSpc>
            </a:pPr>
            <a:r>
              <a:rPr lang="zh-CN" altLang="en-US" sz="2000">
                <a:latin typeface="+mn-ea"/>
              </a:rPr>
              <a:t>&gt;&gt;&gt; </a:t>
            </a:r>
            <a:r>
              <a:rPr lang="zh-CN" altLang="en-US" sz="2000" b="1">
                <a:solidFill>
                  <a:srgbClr val="FF0000"/>
                </a:solidFill>
                <a:latin typeface="+mn-ea"/>
              </a:rPr>
              <a:t>'</a:t>
            </a:r>
            <a:r>
              <a:rPr lang="zh-CN" altLang="en-US" sz="2000">
                <a:latin typeface="+mn-ea"/>
              </a:rPr>
              <a:t>hello</a:t>
            </a:r>
            <a:r>
              <a:rPr lang="zh-CN" altLang="en-US" sz="2000" b="1">
                <a:solidFill>
                  <a:srgbClr val="FF0000"/>
                </a:solidFill>
                <a:latin typeface="+mn-ea"/>
              </a:rPr>
              <a:t>'</a:t>
            </a:r>
          </a:p>
          <a:p>
            <a:pPr>
              <a:lnSpc>
                <a:spcPct val="150000"/>
              </a:lnSpc>
            </a:pPr>
            <a:r>
              <a:rPr lang="zh-CN" altLang="en-US" sz="2000">
                <a:latin typeface="+mn-ea"/>
              </a:rPr>
              <a:t>'hello'</a:t>
            </a:r>
          </a:p>
          <a:p>
            <a:pPr>
              <a:lnSpc>
                <a:spcPct val="150000"/>
              </a:lnSpc>
            </a:pPr>
            <a:r>
              <a:rPr lang="zh-CN" altLang="en-US" sz="2000">
                <a:latin typeface="+mn-ea"/>
              </a:rPr>
              <a:t>&gt;&gt;&gt; </a:t>
            </a:r>
            <a:r>
              <a:rPr lang="zh-CN" altLang="en-US" sz="2000" b="1">
                <a:solidFill>
                  <a:srgbClr val="FF0000"/>
                </a:solidFill>
                <a:latin typeface="+mn-ea"/>
              </a:rPr>
              <a:t>"</a:t>
            </a:r>
            <a:r>
              <a:rPr lang="zh-CN" altLang="en-US" sz="2000">
                <a:latin typeface="+mn-ea"/>
              </a:rPr>
              <a:t>welcome</a:t>
            </a:r>
            <a:r>
              <a:rPr lang="zh-CN" altLang="en-US" sz="2000" b="1">
                <a:solidFill>
                  <a:srgbClr val="FF0000"/>
                </a:solidFill>
                <a:latin typeface="+mn-ea"/>
              </a:rPr>
              <a:t>"</a:t>
            </a:r>
          </a:p>
          <a:p>
            <a:pPr>
              <a:lnSpc>
                <a:spcPct val="150000"/>
              </a:lnSpc>
            </a:pPr>
            <a:r>
              <a:rPr lang="zh-CN" altLang="en-US" sz="2000">
                <a:latin typeface="+mn-ea"/>
              </a:rPr>
              <a:t>'welcome'</a:t>
            </a:r>
          </a:p>
        </p:txBody>
      </p:sp>
      <p:sp>
        <p:nvSpPr>
          <p:cNvPr id="6" name="矩形 5"/>
          <p:cNvSpPr/>
          <p:nvPr/>
        </p:nvSpPr>
        <p:spPr>
          <a:xfrm>
            <a:off x="4784697" y="4409180"/>
            <a:ext cx="3456384" cy="1754326"/>
          </a:xfrm>
          <a:prstGeom prst="rect">
            <a:avLst/>
          </a:prstGeom>
          <a:solidFill>
            <a:schemeClr val="bg1">
              <a:lumMod val="95000"/>
            </a:schemeClr>
          </a:solidFill>
        </p:spPr>
        <p:txBody>
          <a:bodyPr wrap="square">
            <a:spAutoFit/>
          </a:bodyPr>
          <a:lstStyle/>
          <a:p>
            <a:pPr>
              <a:lnSpc>
                <a:spcPct val="200000"/>
              </a:lnSpc>
            </a:pPr>
            <a:r>
              <a:rPr lang="zh-CN" altLang="en-US">
                <a:latin typeface="+mn-ea"/>
              </a:rPr>
              <a:t>&gt;&gt;&gt; </a:t>
            </a:r>
            <a:r>
              <a:rPr lang="zh-CN" altLang="en-US" b="1">
                <a:solidFill>
                  <a:srgbClr val="FF0000"/>
                </a:solidFill>
                <a:latin typeface="+mn-ea"/>
              </a:rPr>
              <a:t>'''</a:t>
            </a:r>
            <a:r>
              <a:rPr lang="zh-CN" altLang="en-US">
                <a:latin typeface="+mn-ea"/>
              </a:rPr>
              <a:t>hello world</a:t>
            </a:r>
          </a:p>
          <a:p>
            <a:pPr>
              <a:lnSpc>
                <a:spcPct val="200000"/>
              </a:lnSpc>
            </a:pPr>
            <a:r>
              <a:rPr lang="zh-CN" altLang="en-US">
                <a:latin typeface="+mn-ea"/>
              </a:rPr>
              <a:t>welcome to china</a:t>
            </a:r>
            <a:r>
              <a:rPr lang="zh-CN" altLang="en-US" b="1">
                <a:solidFill>
                  <a:srgbClr val="FF0000"/>
                </a:solidFill>
                <a:latin typeface="+mn-ea"/>
              </a:rPr>
              <a:t>'''</a:t>
            </a:r>
          </a:p>
          <a:p>
            <a:pPr>
              <a:lnSpc>
                <a:spcPct val="200000"/>
              </a:lnSpc>
            </a:pPr>
            <a:r>
              <a:rPr lang="zh-CN" altLang="en-US">
                <a:latin typeface="+mn-ea"/>
              </a:rPr>
              <a:t>'hello world</a:t>
            </a:r>
            <a:r>
              <a:rPr lang="zh-CN" altLang="en-US" b="1">
                <a:solidFill>
                  <a:srgbClr val="FF0000"/>
                </a:solidFill>
                <a:latin typeface="+mn-ea"/>
              </a:rPr>
              <a:t>\n</a:t>
            </a:r>
            <a:r>
              <a:rPr lang="zh-CN" altLang="en-US">
                <a:latin typeface="+mn-ea"/>
              </a:rPr>
              <a:t>welcome to china'</a:t>
            </a:r>
          </a:p>
        </p:txBody>
      </p:sp>
      <p:cxnSp>
        <p:nvCxnSpPr>
          <p:cNvPr id="8" name="曲线连接符 7"/>
          <p:cNvCxnSpPr/>
          <p:nvPr/>
        </p:nvCxnSpPr>
        <p:spPr>
          <a:xfrm flipV="1">
            <a:off x="3923928" y="2060848"/>
            <a:ext cx="864096" cy="72008"/>
          </a:xfrm>
          <a:prstGeom prst="curvedConnector3">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 name="曲线连接符 8"/>
          <p:cNvCxnSpPr/>
          <p:nvPr/>
        </p:nvCxnSpPr>
        <p:spPr>
          <a:xfrm flipV="1">
            <a:off x="3920601" y="4797152"/>
            <a:ext cx="939431" cy="525195"/>
          </a:xfrm>
          <a:prstGeom prst="curvedConnector3">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 name="右大括号 10"/>
          <p:cNvSpPr/>
          <p:nvPr/>
        </p:nvSpPr>
        <p:spPr>
          <a:xfrm>
            <a:off x="7452320" y="4725144"/>
            <a:ext cx="216024" cy="648072"/>
          </a:xfrm>
          <a:prstGeom prst="rightBrace">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矩形 11"/>
          <p:cNvSpPr/>
          <p:nvPr/>
        </p:nvSpPr>
        <p:spPr>
          <a:xfrm>
            <a:off x="7788742" y="4787570"/>
            <a:ext cx="726481" cy="523220"/>
          </a:xfrm>
          <a:prstGeom prst="rect">
            <a:avLst/>
          </a:prstGeom>
          <a:noFill/>
        </p:spPr>
        <p:txBody>
          <a:bodyPr wrap="none" lIns="91440" tIns="45720" rIns="91440" bIns="45720">
            <a:spAutoFit/>
          </a:bodyPr>
          <a:lstStyle/>
          <a:p>
            <a:pPr algn="ctr"/>
            <a:r>
              <a:rPr lang="en-US" altLang="zh-CN" sz="2800" b="1" cap="none" spc="0">
                <a:ln w="22225">
                  <a:solidFill>
                    <a:schemeClr val="accent2"/>
                  </a:solidFill>
                  <a:prstDash val="solid"/>
                </a:ln>
                <a:solidFill>
                  <a:schemeClr val="accent2">
                    <a:lumMod val="40000"/>
                    <a:lumOff val="60000"/>
                  </a:schemeClr>
                </a:solidFill>
                <a:effectLst/>
              </a:rPr>
              <a:t>2</a:t>
            </a:r>
            <a:r>
              <a:rPr lang="zh-CN" altLang="en-US" sz="2800" b="1" cap="none" spc="0">
                <a:ln w="22225">
                  <a:solidFill>
                    <a:schemeClr val="accent2"/>
                  </a:solidFill>
                  <a:prstDash val="solid"/>
                </a:ln>
                <a:solidFill>
                  <a:schemeClr val="accent2">
                    <a:lumMod val="40000"/>
                    <a:lumOff val="60000"/>
                  </a:schemeClr>
                </a:solidFill>
                <a:effectLst/>
              </a:rPr>
              <a:t>行</a:t>
            </a:r>
          </a:p>
        </p:txBody>
      </p:sp>
      <p:sp>
        <p:nvSpPr>
          <p:cNvPr id="13" name="矩形 12"/>
          <p:cNvSpPr/>
          <p:nvPr/>
        </p:nvSpPr>
        <p:spPr>
          <a:xfrm>
            <a:off x="4683661" y="6376104"/>
            <a:ext cx="2768659" cy="400110"/>
          </a:xfrm>
          <a:prstGeom prst="rect">
            <a:avLst/>
          </a:prstGeom>
          <a:noFill/>
        </p:spPr>
        <p:txBody>
          <a:bodyPr wrap="square" lIns="91440" tIns="45720" rIns="91440" bIns="45720">
            <a:spAutoFit/>
          </a:bodyPr>
          <a:lstStyle/>
          <a:p>
            <a:pPr algn="ctr"/>
            <a:r>
              <a:rPr lang="zh-CN" altLang="en-US" sz="2000" b="1" cap="none" spc="0">
                <a:ln w="22225">
                  <a:solidFill>
                    <a:schemeClr val="accent2"/>
                  </a:solidFill>
                  <a:prstDash val="solid"/>
                </a:ln>
                <a:solidFill>
                  <a:schemeClr val="accent2">
                    <a:lumMod val="40000"/>
                    <a:lumOff val="60000"/>
                  </a:schemeClr>
                </a:solidFill>
                <a:effectLst/>
              </a:rPr>
              <a:t>换行回车符</a:t>
            </a:r>
          </a:p>
        </p:txBody>
      </p:sp>
      <p:cxnSp>
        <p:nvCxnSpPr>
          <p:cNvPr id="15" name="直接箭头连接符 14"/>
          <p:cNvCxnSpPr>
            <a:stCxn id="13" idx="0"/>
          </p:cNvCxnSpPr>
          <p:nvPr/>
        </p:nvCxnSpPr>
        <p:spPr>
          <a:xfrm flipV="1">
            <a:off x="6067991" y="5988132"/>
            <a:ext cx="16177" cy="387972"/>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64422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wipe(left)">
                                      <p:cBhvr>
                                        <p:cTn id="21" dur="500"/>
                                        <p:tgtEl>
                                          <p:spTgt spid="4">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wipe(left)">
                                      <p:cBhvr>
                                        <p:cTn id="26" dur="500"/>
                                        <p:tgtEl>
                                          <p:spTgt spid="4">
                                            <p:txEl>
                                              <p:pRg st="2" end="2"/>
                                            </p:txEl>
                                          </p:spTgt>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par>
                          <p:cTn id="31" fill="hold">
                            <p:stCondLst>
                              <p:cond delay="1000"/>
                            </p:stCondLst>
                            <p:childTnLst>
                              <p:par>
                                <p:cTn id="32" presetID="22" presetClass="entr" presetSubtype="1"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up)">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barn(inVertical)">
                                      <p:cBhvr>
                                        <p:cTn id="48" dur="500"/>
                                        <p:tgtEl>
                                          <p:spTgt spid="13"/>
                                        </p:tgtEl>
                                      </p:cBhvr>
                                    </p:animEffect>
                                  </p:childTnLst>
                                </p:cTn>
                              </p:par>
                            </p:childTnLst>
                          </p:cTn>
                        </p:par>
                        <p:par>
                          <p:cTn id="49" fill="hold">
                            <p:stCondLst>
                              <p:cond delay="500"/>
                            </p:stCondLst>
                            <p:childTnLst>
                              <p:par>
                                <p:cTn id="50" presetID="22" presetClass="entr" presetSubtype="4" fill="hold" nodeType="after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down)">
                                      <p:cBhvr>
                                        <p:cTn id="5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1" grpId="0" animBg="1"/>
      <p:bldP spid="12"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2.1.3  </a:t>
            </a:r>
            <a:r>
              <a:rPr lang="zh-CN" altLang="en-US">
                <a:sym typeface="+mn-ea"/>
              </a:rPr>
              <a:t>字符串</a:t>
            </a:r>
            <a:endParaRPr lang="en-US"/>
          </a:p>
        </p:txBody>
      </p:sp>
      <p:sp>
        <p:nvSpPr>
          <p:cNvPr id="3" name="Content Placeholder 2"/>
          <p:cNvSpPr>
            <a:spLocks noGrp="1"/>
          </p:cNvSpPr>
          <p:nvPr>
            <p:ph idx="1"/>
          </p:nvPr>
        </p:nvSpPr>
        <p:spPr>
          <a:xfrm>
            <a:off x="628650" y="1848327"/>
            <a:ext cx="7886700" cy="2444770"/>
          </a:xfrm>
        </p:spPr>
        <p:txBody>
          <a:bodyPr>
            <a:normAutofit/>
          </a:bodyPr>
          <a:lstStyle/>
          <a:p>
            <a:pPr>
              <a:lnSpc>
                <a:spcPct val="200000"/>
              </a:lnSpc>
              <a:spcBef>
                <a:spcPts val="0"/>
              </a:spcBef>
            </a:pPr>
            <a:r>
              <a:rPr lang="en-US" altLang="zh-CN" sz="2000">
                <a:latin typeface="微软雅黑" panose="020B0503020204020204" pitchFamily="34" charset="-122"/>
                <a:ea typeface="微软雅黑" panose="020B0503020204020204" pitchFamily="34" charset="-122"/>
              </a:rPr>
              <a:t>不同的定界符之间可以互相嵌套。</a:t>
            </a:r>
            <a:endParaRPr lang="en-US" sz="2000">
              <a:latin typeface="微软雅黑" panose="020B0503020204020204" pitchFamily="34" charset="-122"/>
              <a:ea typeface="微软雅黑" panose="020B0503020204020204" pitchFamily="34" charset="-122"/>
            </a:endParaRPr>
          </a:p>
          <a:p>
            <a:pPr marL="0" indent="0">
              <a:lnSpc>
                <a:spcPct val="200000"/>
              </a:lnSpc>
              <a:spcBef>
                <a:spcPts val="0"/>
              </a:spcBef>
              <a:buNone/>
            </a:pPr>
            <a:r>
              <a:rPr lang="en-US" sz="1800">
                <a:latin typeface="微软雅黑" panose="020B0503020204020204" pitchFamily="34" charset="-122"/>
                <a:ea typeface="微软雅黑" panose="020B0503020204020204" pitchFamily="34" charset="-122"/>
              </a:rPr>
              <a:t>&gt;&gt;&gt; </a:t>
            </a:r>
            <a:r>
              <a:rPr lang="en-US" altLang="zh-CN" sz="1800">
                <a:latin typeface="微软雅黑" panose="020B0503020204020204" pitchFamily="34" charset="-122"/>
                <a:ea typeface="微软雅黑" panose="020B0503020204020204" pitchFamily="34" charset="-122"/>
              </a:rPr>
              <a:t>print(</a:t>
            </a:r>
            <a:r>
              <a:rPr lang="en-US" sz="1800">
                <a:latin typeface="微软雅黑" panose="020B0503020204020204" pitchFamily="34" charset="-122"/>
                <a:ea typeface="微软雅黑" panose="020B0503020204020204" pitchFamily="34" charset="-122"/>
              </a:rPr>
              <a:t> </a:t>
            </a:r>
            <a:r>
              <a:rPr lang="en-US" sz="1800" dirty="0">
                <a:solidFill>
                  <a:srgbClr val="FF0000"/>
                </a:solidFill>
                <a:latin typeface="微软雅黑" panose="020B0503020204020204" pitchFamily="34" charset="-122"/>
                <a:ea typeface="微软雅黑" panose="020B0503020204020204" pitchFamily="34" charset="-122"/>
              </a:rPr>
              <a:t>'''</a:t>
            </a:r>
            <a:r>
              <a:rPr lang="en-US" sz="1800" dirty="0">
                <a:latin typeface="微软雅黑" panose="020B0503020204020204" pitchFamily="34" charset="-122"/>
                <a:ea typeface="微软雅黑" panose="020B0503020204020204" pitchFamily="34" charset="-122"/>
              </a:rPr>
              <a:t>Tom said, </a:t>
            </a:r>
            <a:r>
              <a:rPr lang="en-US" sz="1800" b="1" dirty="0">
                <a:solidFill>
                  <a:srgbClr val="00B0F0"/>
                </a:solidFill>
                <a:latin typeface="微软雅黑" panose="020B0503020204020204" pitchFamily="34" charset="-122"/>
                <a:ea typeface="微软雅黑" panose="020B0503020204020204" pitchFamily="34" charset="-122"/>
              </a:rPr>
              <a:t>"</a:t>
            </a:r>
            <a:r>
              <a:rPr lang="en-US" sz="1800" dirty="0">
                <a:latin typeface="微软雅黑" panose="020B0503020204020204" pitchFamily="34" charset="-122"/>
                <a:ea typeface="微软雅黑" panose="020B0503020204020204" pitchFamily="34" charset="-122"/>
              </a:rPr>
              <a:t>Let's </a:t>
            </a:r>
            <a:r>
              <a:rPr lang="en-US" sz="1800">
                <a:latin typeface="微软雅黑" panose="020B0503020204020204" pitchFamily="34" charset="-122"/>
                <a:ea typeface="微软雅黑" panose="020B0503020204020204" pitchFamily="34" charset="-122"/>
              </a:rPr>
              <a:t>go.</a:t>
            </a:r>
            <a:r>
              <a:rPr lang="en-US" sz="1800" b="1">
                <a:solidFill>
                  <a:srgbClr val="00B0F0"/>
                </a:solidFill>
                <a:latin typeface="微软雅黑" panose="020B0503020204020204" pitchFamily="34" charset="-122"/>
                <a:ea typeface="微软雅黑" panose="020B0503020204020204" pitchFamily="34" charset="-122"/>
              </a:rPr>
              <a:t>"</a:t>
            </a:r>
            <a:r>
              <a:rPr lang="en-US" sz="1800">
                <a:solidFill>
                  <a:srgbClr val="FF0000"/>
                </a:solidFill>
                <a:latin typeface="微软雅黑" panose="020B0503020204020204" pitchFamily="34" charset="-122"/>
                <a:ea typeface="微软雅黑" panose="020B0503020204020204" pitchFamily="34" charset="-122"/>
              </a:rPr>
              <a:t>'''</a:t>
            </a:r>
            <a:r>
              <a:rPr lang="en-US" sz="1800">
                <a:latin typeface="微软雅黑" panose="020B0503020204020204" pitchFamily="34" charset="-122"/>
                <a:ea typeface="微软雅黑" panose="020B0503020204020204" pitchFamily="34" charset="-122"/>
              </a:rPr>
              <a:t>)</a:t>
            </a:r>
            <a:endParaRPr lang="en-US" sz="1800" dirty="0">
              <a:latin typeface="微软雅黑" panose="020B0503020204020204" pitchFamily="34" charset="-122"/>
              <a:ea typeface="微软雅黑" panose="020B0503020204020204" pitchFamily="34" charset="-122"/>
            </a:endParaRPr>
          </a:p>
          <a:p>
            <a:pPr marL="0" indent="0">
              <a:lnSpc>
                <a:spcPct val="200000"/>
              </a:lnSpc>
              <a:spcBef>
                <a:spcPts val="0"/>
              </a:spcBef>
              <a:buNone/>
            </a:pPr>
            <a:endParaRPr lang="en-US" sz="1800" dirty="0">
              <a:latin typeface="微软雅黑" panose="020B0503020204020204" pitchFamily="34" charset="-122"/>
              <a:ea typeface="微软雅黑" panose="020B0503020204020204" pitchFamily="34" charset="-122"/>
            </a:endParaRPr>
          </a:p>
          <a:p>
            <a:pPr marL="0" indent="0">
              <a:lnSpc>
                <a:spcPct val="200000"/>
              </a:lnSpc>
              <a:spcBef>
                <a:spcPts val="0"/>
              </a:spcBef>
              <a:buNone/>
            </a:pPr>
            <a:r>
              <a:rPr lang="en-US" sz="1800" dirty="0">
                <a:solidFill>
                  <a:srgbClr val="00B0F0"/>
                </a:solidFill>
                <a:latin typeface="微软雅黑" panose="020B0503020204020204" pitchFamily="34" charset="-122"/>
                <a:ea typeface="微软雅黑" panose="020B0503020204020204" pitchFamily="34" charset="-122"/>
              </a:rPr>
              <a:t>Tom said, "Let's go."</a:t>
            </a:r>
          </a:p>
          <a:p>
            <a:pPr marL="0" indent="0">
              <a:lnSpc>
                <a:spcPct val="100000"/>
              </a:lnSpc>
              <a:spcBef>
                <a:spcPts val="0"/>
              </a:spcBef>
              <a:buNone/>
            </a:pPr>
            <a:endParaRPr lang="en-US" sz="1500" dirty="0">
              <a:solidFill>
                <a:srgbClr val="00B0F0"/>
              </a:solidFill>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24</a:t>
            </a:fld>
            <a:endParaRPr lang="zh-CN" altLang="en-US"/>
          </a:p>
        </p:txBody>
      </p:sp>
      <p:cxnSp>
        <p:nvCxnSpPr>
          <p:cNvPr id="6" name="直接箭头连接符 5"/>
          <p:cNvCxnSpPr/>
          <p:nvPr/>
        </p:nvCxnSpPr>
        <p:spPr>
          <a:xfrm flipV="1">
            <a:off x="3322464" y="2924944"/>
            <a:ext cx="0" cy="79208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4330576" y="2924944"/>
            <a:ext cx="0" cy="79208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3923928" y="4285457"/>
            <a:ext cx="3538084" cy="646331"/>
          </a:xfrm>
          <a:prstGeom prst="rect">
            <a:avLst/>
          </a:prstGeom>
          <a:solidFill>
            <a:schemeClr val="bg2"/>
          </a:solidFill>
        </p:spPr>
        <p:txBody>
          <a:bodyPr wrap="none">
            <a:spAutoFit/>
          </a:bodyPr>
          <a:lstStyle/>
          <a:p>
            <a:pPr>
              <a:lnSpc>
                <a:spcPct val="200000"/>
              </a:lnSpc>
            </a:pPr>
            <a:r>
              <a:rPr lang="en-US" altLang="zh-CN">
                <a:latin typeface="微软雅黑" panose="020B0503020204020204" pitchFamily="34" charset="-122"/>
                <a:ea typeface="微软雅黑" panose="020B0503020204020204" pitchFamily="34" charset="-122"/>
              </a:rPr>
              <a:t>print( </a:t>
            </a:r>
            <a:r>
              <a:rPr lang="en-US" altLang="zh-CN">
                <a:solidFill>
                  <a:srgbClr val="FF0000"/>
                </a:solidFill>
                <a:latin typeface="微软雅黑" panose="020B0503020204020204" pitchFamily="34" charset="-122"/>
                <a:ea typeface="微软雅黑" panose="020B0503020204020204" pitchFamily="34" charset="-122"/>
              </a:rPr>
              <a:t>" </a:t>
            </a:r>
            <a:r>
              <a:rPr lang="en-US" altLang="zh-CN">
                <a:latin typeface="微软雅黑" panose="020B0503020204020204" pitchFamily="34" charset="-122"/>
                <a:ea typeface="微软雅黑" panose="020B0503020204020204" pitchFamily="34" charset="-122"/>
              </a:rPr>
              <a:t>Tom said, </a:t>
            </a:r>
            <a:r>
              <a:rPr lang="en-US" altLang="zh-CN" b="1">
                <a:solidFill>
                  <a:srgbClr val="00B0F0"/>
                </a:solidFill>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Let's go.</a:t>
            </a:r>
            <a:r>
              <a:rPr lang="en-US" altLang="zh-CN" b="1">
                <a:solidFill>
                  <a:srgbClr val="00B0F0"/>
                </a:solidFill>
                <a:latin typeface="微软雅黑" panose="020B0503020204020204" pitchFamily="34" charset="-122"/>
                <a:ea typeface="微软雅黑" panose="020B0503020204020204" pitchFamily="34" charset="-122"/>
              </a:rPr>
              <a:t>" </a:t>
            </a:r>
            <a:r>
              <a:rPr lang="en-US" altLang="zh-CN">
                <a:solidFill>
                  <a:srgbClr val="FF0000"/>
                </a:solidFill>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p:txBody>
      </p:sp>
      <p:sp>
        <p:nvSpPr>
          <p:cNvPr id="9" name="文本框 8"/>
          <p:cNvSpPr txBox="1"/>
          <p:nvPr/>
        </p:nvSpPr>
        <p:spPr>
          <a:xfrm>
            <a:off x="6228184" y="4614104"/>
            <a:ext cx="808522" cy="1107996"/>
          </a:xfrm>
          <a:prstGeom prst="rect">
            <a:avLst/>
          </a:prstGeom>
          <a:noFill/>
        </p:spPr>
        <p:txBody>
          <a:bodyPr wrap="square" rtlCol="0">
            <a:spAutoFit/>
          </a:bodyPr>
          <a:lstStyle/>
          <a:p>
            <a:r>
              <a:rPr lang="en-US" altLang="zh-CN" sz="6600" b="1">
                <a:solidFill>
                  <a:srgbClr val="FF0000"/>
                </a:solidFill>
                <a:latin typeface="Bradley Hand ITC" panose="03070402050302030203" pitchFamily="66" charset="0"/>
              </a:rPr>
              <a:t>X</a:t>
            </a:r>
            <a:endParaRPr lang="zh-CN" altLang="en-US" sz="6600" b="1">
              <a:solidFill>
                <a:srgbClr val="FF0000"/>
              </a:solidFill>
              <a:latin typeface="Bradley Hand ITC" panose="03070402050302030203" pitchFamily="66" charset="0"/>
            </a:endParaRPr>
          </a:p>
        </p:txBody>
      </p:sp>
      <p:sp>
        <p:nvSpPr>
          <p:cNvPr id="7" name="椭圆 6"/>
          <p:cNvSpPr/>
          <p:nvPr/>
        </p:nvSpPr>
        <p:spPr>
          <a:xfrm>
            <a:off x="4499992" y="4287057"/>
            <a:ext cx="360040" cy="43808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101835" y="4353983"/>
            <a:ext cx="360040" cy="43808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631768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lef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arn(inVertical)">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barn(inVertical)">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p:bldP spid="7"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365126"/>
            <a:ext cx="8335838" cy="1325563"/>
          </a:xfrm>
        </p:spPr>
        <p:txBody>
          <a:bodyPr>
            <a:normAutofit/>
          </a:bodyPr>
          <a:lstStyle/>
          <a:p>
            <a:r>
              <a:rPr lang="zh-CN" altLang="en-US" sz="3600">
                <a:sym typeface="+mn-ea"/>
              </a:rPr>
              <a:t>字符串的使用</a:t>
            </a:r>
            <a:r>
              <a:rPr lang="en-US" altLang="zh-CN" sz="3600">
                <a:sym typeface="+mn-ea"/>
              </a:rPr>
              <a:t>——</a:t>
            </a:r>
            <a:r>
              <a:rPr lang="zh-CN" altLang="en-US" sz="3600">
                <a:sym typeface="+mn-ea"/>
              </a:rPr>
              <a:t>注释（第二章内容提前）</a:t>
            </a:r>
            <a:endParaRPr lang="zh-CN" altLang="en-US" sz="3600" dirty="0"/>
          </a:p>
        </p:txBody>
      </p:sp>
      <p:sp>
        <p:nvSpPr>
          <p:cNvPr id="3" name="内容占位符 2"/>
          <p:cNvSpPr>
            <a:spLocks noGrp="1"/>
          </p:cNvSpPr>
          <p:nvPr>
            <p:ph idx="1"/>
          </p:nvPr>
        </p:nvSpPr>
        <p:spPr>
          <a:xfrm>
            <a:off x="626536" y="1712613"/>
            <a:ext cx="7886700" cy="1954181"/>
          </a:xfrm>
        </p:spPr>
        <p:txBody>
          <a:bodyPr>
            <a:normAutofit/>
          </a:bodyPr>
          <a:lstStyle/>
          <a:p>
            <a:pPr fontAlgn="base">
              <a:lnSpc>
                <a:spcPct val="150000"/>
              </a:lnSpc>
              <a:buSzPct val="90000"/>
              <a:buNone/>
            </a:pPr>
            <a:r>
              <a:rPr lang="zh-CN" altLang="en-US" sz="1800" dirty="0">
                <a:sym typeface="+mn-ea"/>
              </a:rPr>
              <a:t>（</a:t>
            </a:r>
            <a:r>
              <a:rPr lang="en-US" altLang="x-none" sz="1800" dirty="0">
                <a:sym typeface="+mn-ea"/>
              </a:rPr>
              <a:t>6</a:t>
            </a:r>
            <a:r>
              <a:rPr lang="zh-CN" altLang="en-US" sz="1800" dirty="0">
                <a:sym typeface="+mn-ea"/>
              </a:rPr>
              <a:t>）注释</a:t>
            </a:r>
            <a:endParaRPr lang="en-US" altLang="zh-CN" sz="1800" dirty="0">
              <a:sym typeface="+mn-ea"/>
            </a:endParaRPr>
          </a:p>
          <a:p>
            <a:pPr fontAlgn="base">
              <a:lnSpc>
                <a:spcPct val="150000"/>
              </a:lnSpc>
              <a:buSzPct val="90000"/>
              <a:buFont typeface="Wingdings" panose="05000000000000000000" pitchFamily="2" charset="2"/>
              <a:buChar char="ü"/>
            </a:pPr>
            <a:r>
              <a:rPr lang="zh-CN" altLang="en-US" sz="1800" dirty="0">
                <a:sym typeface="+mn-ea"/>
              </a:rPr>
              <a:t>包含在一对</a:t>
            </a:r>
            <a:r>
              <a:rPr lang="zh-CN" altLang="en-US" sz="1800" dirty="0">
                <a:solidFill>
                  <a:srgbClr val="FF0000"/>
                </a:solidFill>
                <a:sym typeface="+mn-ea"/>
              </a:rPr>
              <a:t>三引号</a:t>
            </a:r>
            <a:r>
              <a:rPr lang="zh-CN" altLang="en-US" sz="1800" dirty="0">
                <a:sym typeface="+mn-ea"/>
              </a:rPr>
              <a:t>‘’‘...’‘’或“”“...”“”之间且不属于任何语句的内容作为注释。</a:t>
            </a:r>
            <a:endParaRPr lang="en-US" altLang="zh-CN" sz="1800" dirty="0">
              <a:sym typeface="+mn-ea"/>
            </a:endParaRPr>
          </a:p>
          <a:p>
            <a:pPr fontAlgn="base">
              <a:lnSpc>
                <a:spcPct val="150000"/>
              </a:lnSpc>
              <a:buSzPct val="90000"/>
              <a:buFont typeface="Wingdings" panose="05000000000000000000" pitchFamily="2" charset="2"/>
              <a:buChar char="ü"/>
            </a:pPr>
            <a:r>
              <a:rPr lang="zh-CN" altLang="en-US" sz="1800" dirty="0">
                <a:sym typeface="+mn-ea"/>
              </a:rPr>
              <a:t>以</a:t>
            </a:r>
            <a:r>
              <a:rPr lang="zh-CN" altLang="en-US" sz="1800" dirty="0">
                <a:solidFill>
                  <a:srgbClr val="FF0000"/>
                </a:solidFill>
                <a:sym typeface="+mn-ea"/>
              </a:rPr>
              <a:t>符号#</a:t>
            </a:r>
            <a:r>
              <a:rPr lang="zh-CN" altLang="en-US" sz="1800" dirty="0">
                <a:sym typeface="+mn-ea"/>
              </a:rPr>
              <a:t>开始，表示本行#之后的内容为注释。</a:t>
            </a:r>
            <a:endParaRPr lang="zh-CN" altLang="en-US" sz="1800" noProof="1"/>
          </a:p>
        </p:txBody>
      </p:sp>
      <p:sp>
        <p:nvSpPr>
          <p:cNvPr id="4" name="灯片编号占位符 3"/>
          <p:cNvSpPr>
            <a:spLocks noGrp="1"/>
          </p:cNvSpPr>
          <p:nvPr>
            <p:ph type="sldNum" sz="quarter" idx="12"/>
          </p:nvPr>
        </p:nvSpPr>
        <p:spPr/>
        <p:txBody>
          <a:bodyPr/>
          <a:lstStyle/>
          <a:p>
            <a:fld id="{565CE74E-AB26-4998-AD42-012C4C1AD076}" type="slidenum">
              <a:rPr lang="zh-CN" altLang="en-US" smtClean="0"/>
              <a:t>25</a:t>
            </a:fld>
            <a:endParaRPr lang="zh-CN" altLang="en-US"/>
          </a:p>
        </p:txBody>
      </p:sp>
      <p:sp>
        <p:nvSpPr>
          <p:cNvPr id="6" name="文本框 5"/>
          <p:cNvSpPr txBox="1"/>
          <p:nvPr/>
        </p:nvSpPr>
        <p:spPr>
          <a:xfrm>
            <a:off x="899592" y="3643283"/>
            <a:ext cx="6552727" cy="3054682"/>
          </a:xfrm>
          <a:prstGeom prst="rect">
            <a:avLst/>
          </a:prstGeom>
          <a:solidFill>
            <a:schemeClr val="accent1">
              <a:lumMod val="20000"/>
              <a:lumOff val="80000"/>
            </a:schemeClr>
          </a:solidFill>
        </p:spPr>
        <p:txBody>
          <a:bodyPr wrap="square" rtlCol="0">
            <a:spAutoFit/>
          </a:bodyPr>
          <a:lstStyle/>
          <a:p>
            <a:pPr>
              <a:spcBef>
                <a:spcPts val="300"/>
              </a:spcBef>
            </a:pPr>
            <a:r>
              <a:rPr lang="en-US" altLang="zh-CN" b="1">
                <a:solidFill>
                  <a:srgbClr val="92D050"/>
                </a:solidFill>
                <a:latin typeface="微软雅黑" panose="020B0503020204020204" pitchFamily="34" charset="-122"/>
                <a:ea typeface="微软雅黑" panose="020B0503020204020204" pitchFamily="34" charset="-122"/>
                <a:sym typeface="+mn-ea"/>
              </a:rPr>
              <a:t>'''</a:t>
            </a:r>
          </a:p>
          <a:p>
            <a:pPr>
              <a:spcBef>
                <a:spcPts val="300"/>
              </a:spcBef>
            </a:pPr>
            <a:r>
              <a:rPr lang="zh-CN" altLang="en-US" b="1">
                <a:solidFill>
                  <a:srgbClr val="92D050"/>
                </a:solidFill>
                <a:latin typeface="微软雅黑" panose="020B0503020204020204" pitchFamily="34" charset="-122"/>
                <a:ea typeface="微软雅黑" panose="020B0503020204020204" pitchFamily="34" charset="-122"/>
                <a:sym typeface="+mn-ea"/>
              </a:rPr>
              <a:t>作者：</a:t>
            </a:r>
            <a:r>
              <a:rPr lang="en-US" altLang="zh-CN" b="1">
                <a:solidFill>
                  <a:srgbClr val="92D050"/>
                </a:solidFill>
                <a:latin typeface="微软雅黑" panose="020B0503020204020204" pitchFamily="34" charset="-122"/>
                <a:ea typeface="微软雅黑" panose="020B0503020204020204" pitchFamily="34" charset="-122"/>
                <a:sym typeface="+mn-ea"/>
              </a:rPr>
              <a:t>iris</a:t>
            </a:r>
          </a:p>
          <a:p>
            <a:pPr>
              <a:spcBef>
                <a:spcPts val="300"/>
              </a:spcBef>
            </a:pPr>
            <a:r>
              <a:rPr lang="zh-CN" altLang="en-US" b="1">
                <a:solidFill>
                  <a:srgbClr val="92D050"/>
                </a:solidFill>
                <a:latin typeface="微软雅黑" panose="020B0503020204020204" pitchFamily="34" charset="-122"/>
                <a:ea typeface="微软雅黑" panose="020B0503020204020204" pitchFamily="34" charset="-122"/>
                <a:sym typeface="+mn-ea"/>
              </a:rPr>
              <a:t>数据类型及运算举例</a:t>
            </a:r>
            <a:r>
              <a:rPr lang="en-US" altLang="zh-CN" b="1">
                <a:solidFill>
                  <a:srgbClr val="92D050"/>
                </a:solidFill>
                <a:latin typeface="微软雅黑" panose="020B0503020204020204" pitchFamily="34" charset="-122"/>
                <a:ea typeface="微软雅黑" panose="020B0503020204020204" pitchFamily="34" charset="-122"/>
                <a:sym typeface="+mn-ea"/>
              </a:rPr>
              <a:t>1</a:t>
            </a:r>
          </a:p>
          <a:p>
            <a:pPr>
              <a:spcBef>
                <a:spcPts val="300"/>
              </a:spcBef>
            </a:pPr>
            <a:r>
              <a:rPr lang="en-US" altLang="zh-CN" b="1">
                <a:solidFill>
                  <a:srgbClr val="92D050"/>
                </a:solidFill>
                <a:latin typeface="微软雅黑" panose="020B0503020204020204" pitchFamily="34" charset="-122"/>
                <a:ea typeface="微软雅黑" panose="020B0503020204020204" pitchFamily="34" charset="-122"/>
                <a:sym typeface="+mn-ea"/>
              </a:rPr>
              <a:t>'''</a:t>
            </a:r>
          </a:p>
          <a:p>
            <a:pPr>
              <a:spcBef>
                <a:spcPts val="300"/>
              </a:spcBef>
            </a:pPr>
            <a:r>
              <a:rPr lang="en-US" altLang="zh-CN">
                <a:latin typeface="微软雅黑" panose="020B0503020204020204" pitchFamily="34" charset="-122"/>
                <a:ea typeface="微软雅黑" panose="020B0503020204020204" pitchFamily="34" charset="-122"/>
                <a:sym typeface="+mn-ea"/>
              </a:rPr>
              <a:t>print(2+4)</a:t>
            </a:r>
            <a:r>
              <a:rPr lang="zh-CN" altLang="en-US">
                <a:latin typeface="微软雅黑" panose="020B0503020204020204" pitchFamily="34" charset="-122"/>
                <a:ea typeface="微软雅黑" panose="020B0503020204020204" pitchFamily="34" charset="-122"/>
                <a:sym typeface="+mn-ea"/>
              </a:rPr>
              <a:t>     </a:t>
            </a:r>
            <a:r>
              <a:rPr lang="zh-CN" altLang="en-US">
                <a:solidFill>
                  <a:schemeClr val="accent5"/>
                </a:solidFill>
                <a:latin typeface="微软雅黑" panose="020B0503020204020204" pitchFamily="34" charset="-122"/>
                <a:ea typeface="微软雅黑" panose="020B0503020204020204" pitchFamily="34" charset="-122"/>
                <a:sym typeface="+mn-ea"/>
              </a:rPr>
              <a:t>                                     </a:t>
            </a:r>
            <a:r>
              <a:rPr lang="en-US" altLang="zh-CN">
                <a:solidFill>
                  <a:srgbClr val="FF0000"/>
                </a:solidFill>
                <a:latin typeface="微软雅黑" panose="020B0503020204020204" pitchFamily="34" charset="-122"/>
                <a:ea typeface="微软雅黑" panose="020B0503020204020204" pitchFamily="34" charset="-122"/>
                <a:sym typeface="+mn-ea"/>
              </a:rPr>
              <a:t>#</a:t>
            </a:r>
            <a:r>
              <a:rPr lang="zh-CN" altLang="en-US">
                <a:solidFill>
                  <a:srgbClr val="FF0000"/>
                </a:solidFill>
                <a:latin typeface="微软雅黑" panose="020B0503020204020204" pitchFamily="34" charset="-122"/>
                <a:ea typeface="微软雅黑" panose="020B0503020204020204" pitchFamily="34" charset="-122"/>
                <a:sym typeface="+mn-ea"/>
              </a:rPr>
              <a:t>加法运算</a:t>
            </a:r>
            <a:endParaRPr lang="zh-CN" altLang="en-US" dirty="0">
              <a:solidFill>
                <a:srgbClr val="FF0000"/>
              </a:solidFill>
              <a:latin typeface="微软雅黑" panose="020B0503020204020204" pitchFamily="34" charset="-122"/>
              <a:ea typeface="微软雅黑" panose="020B0503020204020204" pitchFamily="34" charset="-122"/>
              <a:sym typeface="+mn-ea"/>
            </a:endParaRPr>
          </a:p>
          <a:p>
            <a:pPr>
              <a:spcBef>
                <a:spcPts val="300"/>
              </a:spcBef>
            </a:pPr>
            <a:r>
              <a:rPr lang="en-US" altLang="zh-CN">
                <a:latin typeface="微软雅黑" panose="020B0503020204020204" pitchFamily="34" charset="-122"/>
                <a:ea typeface="微软雅黑" panose="020B0503020204020204" pitchFamily="34" charset="-122"/>
                <a:sym typeface="+mn-ea"/>
              </a:rPr>
              <a:t>print("2"+"4")                                    </a:t>
            </a:r>
            <a:r>
              <a:rPr lang="en-US" altLang="zh-CN">
                <a:solidFill>
                  <a:srgbClr val="FF0000"/>
                </a:solidFill>
                <a:latin typeface="微软雅黑" panose="020B0503020204020204" pitchFamily="34" charset="-122"/>
                <a:ea typeface="微软雅黑" panose="020B0503020204020204" pitchFamily="34" charset="-122"/>
                <a:sym typeface="+mn-ea"/>
              </a:rPr>
              <a:t>#</a:t>
            </a:r>
            <a:r>
              <a:rPr lang="zh-CN" altLang="en-US">
                <a:solidFill>
                  <a:srgbClr val="FF0000"/>
                </a:solidFill>
                <a:latin typeface="微软雅黑" panose="020B0503020204020204" pitchFamily="34" charset="-122"/>
                <a:ea typeface="微软雅黑" panose="020B0503020204020204" pitchFamily="34" charset="-122"/>
                <a:sym typeface="+mn-ea"/>
              </a:rPr>
              <a:t>字符串相连</a:t>
            </a:r>
            <a:endParaRPr lang="en-US" altLang="zh-CN">
              <a:solidFill>
                <a:srgbClr val="FF0000"/>
              </a:solidFill>
              <a:latin typeface="微软雅黑" panose="020B0503020204020204" pitchFamily="34" charset="-122"/>
              <a:ea typeface="微软雅黑" panose="020B0503020204020204" pitchFamily="34" charset="-122"/>
              <a:sym typeface="+mn-ea"/>
            </a:endParaRPr>
          </a:p>
          <a:p>
            <a:pPr>
              <a:lnSpc>
                <a:spcPct val="200000"/>
              </a:lnSpc>
            </a:pPr>
            <a:r>
              <a:rPr lang="en-US" altLang="zh-CN">
                <a:latin typeface="微软雅黑" panose="020B0503020204020204" pitchFamily="34" charset="-122"/>
                <a:ea typeface="微软雅黑" panose="020B0503020204020204" pitchFamily="34" charset="-122"/>
              </a:rPr>
              <a:t>print( </a:t>
            </a:r>
            <a:r>
              <a:rPr lang="en-US" altLang="zh-CN">
                <a:solidFill>
                  <a:srgbClr val="FF0000"/>
                </a:solidFill>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Tom said, </a:t>
            </a:r>
            <a:r>
              <a:rPr lang="en-US" altLang="zh-CN" b="1">
                <a:solidFill>
                  <a:srgbClr val="00B0F0"/>
                </a:solidFill>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Let's go.</a:t>
            </a:r>
            <a:r>
              <a:rPr lang="en-US" altLang="zh-CN" b="1">
                <a:solidFill>
                  <a:srgbClr val="00B0F0"/>
                </a:solidFill>
                <a:latin typeface="微软雅黑" panose="020B0503020204020204" pitchFamily="34" charset="-122"/>
                <a:ea typeface="微软雅黑" panose="020B0503020204020204" pitchFamily="34" charset="-122"/>
              </a:rPr>
              <a:t>"</a:t>
            </a:r>
            <a:r>
              <a:rPr lang="en-US" altLang="zh-CN">
                <a:solidFill>
                  <a:srgbClr val="FF0000"/>
                </a:solidFill>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         </a:t>
            </a:r>
            <a:r>
              <a:rPr lang="en-US" altLang="zh-CN">
                <a:solidFill>
                  <a:srgbClr val="FF0000"/>
                </a:solidFill>
                <a:latin typeface="微软雅黑" panose="020B0503020204020204" pitchFamily="34" charset="-122"/>
                <a:ea typeface="微软雅黑" panose="020B0503020204020204" pitchFamily="34" charset="-122"/>
              </a:rPr>
              <a:t>#</a:t>
            </a:r>
            <a:r>
              <a:rPr lang="zh-CN" altLang="en-US">
                <a:solidFill>
                  <a:srgbClr val="FF0000"/>
                </a:solidFill>
                <a:latin typeface="微软雅黑" panose="020B0503020204020204" pitchFamily="34" charset="-122"/>
                <a:ea typeface="微软雅黑" panose="020B0503020204020204" pitchFamily="34" charset="-122"/>
              </a:rPr>
              <a:t>引号的使用</a:t>
            </a:r>
            <a:endParaRPr lang="en-US" altLang="zh-CN">
              <a:solidFill>
                <a:srgbClr val="FF0000"/>
              </a:solidFill>
              <a:latin typeface="微软雅黑" panose="020B0503020204020204" pitchFamily="34" charset="-122"/>
              <a:ea typeface="微软雅黑" panose="020B0503020204020204" pitchFamily="34" charset="-122"/>
            </a:endParaRPr>
          </a:p>
          <a:p>
            <a:pPr>
              <a:lnSpc>
                <a:spcPct val="200000"/>
              </a:lnSpc>
            </a:pPr>
            <a:r>
              <a:rPr lang="en-US" altLang="zh-CN">
                <a:latin typeface="微软雅黑" panose="020B0503020204020204" pitchFamily="34" charset="-122"/>
                <a:ea typeface="微软雅黑" panose="020B0503020204020204" pitchFamily="34" charset="-122"/>
              </a:rPr>
              <a:t>print(</a:t>
            </a:r>
            <a:r>
              <a:rPr lang="en-US" altLang="zh-CN">
                <a:solidFill>
                  <a:srgbClr val="FF0000"/>
                </a:solidFill>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Tom said,\n </a:t>
            </a:r>
            <a:r>
              <a:rPr lang="en-US" altLang="zh-CN" b="1">
                <a:solidFill>
                  <a:srgbClr val="00B0F0"/>
                </a:solidFill>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Let's \t go.</a:t>
            </a:r>
            <a:r>
              <a:rPr lang="en-US" altLang="zh-CN" b="1">
                <a:solidFill>
                  <a:srgbClr val="00B0F0"/>
                </a:solidFill>
                <a:latin typeface="微软雅黑" panose="020B0503020204020204" pitchFamily="34" charset="-122"/>
                <a:ea typeface="微软雅黑" panose="020B0503020204020204" pitchFamily="34" charset="-122"/>
              </a:rPr>
              <a:t>"</a:t>
            </a:r>
            <a:r>
              <a:rPr lang="en-US" altLang="zh-CN">
                <a:solidFill>
                  <a:srgbClr val="FF0000"/>
                </a:solidFill>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         </a:t>
            </a:r>
            <a:r>
              <a:rPr lang="en-US" altLang="zh-CN">
                <a:solidFill>
                  <a:srgbClr val="FF0000"/>
                </a:solidFill>
                <a:latin typeface="微软雅黑" panose="020B0503020204020204" pitchFamily="34" charset="-122"/>
                <a:ea typeface="微软雅黑" panose="020B0503020204020204" pitchFamily="34" charset="-122"/>
              </a:rPr>
              <a:t>#</a:t>
            </a:r>
            <a:r>
              <a:rPr lang="zh-CN" altLang="en-US">
                <a:solidFill>
                  <a:srgbClr val="FF0000"/>
                </a:solidFill>
                <a:latin typeface="微软雅黑" panose="020B0503020204020204" pitchFamily="34" charset="-122"/>
                <a:ea typeface="微软雅黑" panose="020B0503020204020204" pitchFamily="34" charset="-122"/>
              </a:rPr>
              <a:t>使用转义字符</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6588224" y="2996952"/>
            <a:ext cx="2198068" cy="646331"/>
          </a:xfrm>
          <a:prstGeom prst="rect">
            <a:avLst/>
          </a:prstGeom>
          <a:solidFill>
            <a:schemeClr val="accent6">
              <a:lumMod val="20000"/>
              <a:lumOff val="80000"/>
            </a:schemeClr>
          </a:solidFill>
        </p:spPr>
        <p:txBody>
          <a:bodyPr wrap="square" rtlCol="0">
            <a:spAutoFit/>
          </a:bodyPr>
          <a:lstStyle/>
          <a:p>
            <a:r>
              <a:rPr lang="zh-CN" altLang="en-US">
                <a:sym typeface="+mn-ea"/>
              </a:rPr>
              <a:t>（注释文字不执行，仅方便</a:t>
            </a:r>
            <a:r>
              <a:rPr lang="zh-CN" altLang="en-US" dirty="0">
                <a:sym typeface="+mn-ea"/>
              </a:rPr>
              <a:t>阅读）</a:t>
            </a:r>
            <a:endParaRPr lang="zh-CN" altLang="en-US" noProof="1"/>
          </a:p>
        </p:txBody>
      </p:sp>
      <p:cxnSp>
        <p:nvCxnSpPr>
          <p:cNvPr id="9" name="曲线连接符 8"/>
          <p:cNvCxnSpPr>
            <a:stCxn id="7" idx="1"/>
          </p:cNvCxnSpPr>
          <p:nvPr/>
        </p:nvCxnSpPr>
        <p:spPr>
          <a:xfrm rot="10800000" flipV="1">
            <a:off x="4211960" y="3320118"/>
            <a:ext cx="2376264" cy="756954"/>
          </a:xfrm>
          <a:prstGeom prst="curvedConnector3">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605258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par>
                          <p:cTn id="18" fill="hold">
                            <p:stCondLst>
                              <p:cond delay="500"/>
                            </p:stCondLst>
                            <p:childTnLst>
                              <p:par>
                                <p:cTn id="19" presetID="22" presetClass="entr" presetSubtype="2"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righ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wipe(left)">
                                      <p:cBhvr>
                                        <p:cTn id="2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fr-FR" altLang="zh-CN" b="1">
                <a:solidFill>
                  <a:srgbClr val="245794"/>
                </a:solidFill>
              </a:rPr>
              <a:t>2</a:t>
            </a:r>
            <a:r>
              <a:rPr lang="zh-CN" altLang="zh-CN" b="1">
                <a:solidFill>
                  <a:srgbClr val="245794"/>
                </a:solidFill>
              </a:rPr>
              <a:t>．转义字符</a:t>
            </a:r>
            <a:endParaRPr lang="zh-CN" altLang="en-US"/>
          </a:p>
        </p:txBody>
      </p:sp>
      <p:sp>
        <p:nvSpPr>
          <p:cNvPr id="4" name="内容占位符 3"/>
          <p:cNvSpPr>
            <a:spLocks noGrp="1"/>
          </p:cNvSpPr>
          <p:nvPr>
            <p:ph idx="1"/>
          </p:nvPr>
        </p:nvSpPr>
        <p:spPr/>
        <p:txBody>
          <a:bodyPr>
            <a:normAutofit/>
          </a:bodyPr>
          <a:lstStyle/>
          <a:p>
            <a:pPr>
              <a:lnSpc>
                <a:spcPct val="150000"/>
              </a:lnSpc>
            </a:pPr>
            <a:r>
              <a:rPr lang="zh-CN" altLang="zh-CN" sz="2000">
                <a:latin typeface="+mn-ea"/>
              </a:rPr>
              <a:t>转义字符以反斜杠“</a:t>
            </a:r>
            <a:r>
              <a:rPr lang="en-US" altLang="zh-CN" sz="2000">
                <a:latin typeface="+mn-ea"/>
              </a:rPr>
              <a:t>\</a:t>
            </a:r>
            <a:r>
              <a:rPr lang="zh-CN" altLang="zh-CN" sz="2000">
                <a:latin typeface="+mn-ea"/>
              </a:rPr>
              <a:t>”开头，后跟一个或几个字符。</a:t>
            </a:r>
            <a:endParaRPr lang="en-US" altLang="zh-CN" sz="2000">
              <a:latin typeface="+mn-ea"/>
            </a:endParaRPr>
          </a:p>
          <a:p>
            <a:pPr>
              <a:lnSpc>
                <a:spcPct val="150000"/>
              </a:lnSpc>
              <a:buFont typeface="Wingdings" panose="05000000000000000000" pitchFamily="2" charset="2"/>
              <a:buChar char="Ø"/>
            </a:pPr>
            <a:r>
              <a:rPr lang="zh-CN" altLang="zh-CN" sz="2000">
                <a:latin typeface="+mn-ea"/>
              </a:rPr>
              <a:t>用来表示那些用一般字符不便于表示的控制代码。</a:t>
            </a:r>
            <a:endParaRPr lang="en-US" altLang="zh-CN" sz="2000">
              <a:latin typeface="+mn-ea"/>
            </a:endParaRPr>
          </a:p>
          <a:p>
            <a:pPr marL="0" indent="0">
              <a:lnSpc>
                <a:spcPct val="150000"/>
              </a:lnSpc>
              <a:buNone/>
            </a:pPr>
            <a:r>
              <a:rPr lang="zh-CN" altLang="zh-CN" sz="2000">
                <a:latin typeface="+mn-ea"/>
              </a:rPr>
              <a:t>例如，</a:t>
            </a:r>
            <a:endParaRPr lang="en-US" altLang="zh-CN" sz="2000">
              <a:latin typeface="+mn-ea"/>
            </a:endParaRPr>
          </a:p>
          <a:p>
            <a:pPr marL="0" indent="457200">
              <a:lnSpc>
                <a:spcPct val="150000"/>
              </a:lnSpc>
              <a:buNone/>
            </a:pPr>
            <a:r>
              <a:rPr lang="zh-CN" altLang="en-US" sz="2000">
                <a:solidFill>
                  <a:srgbClr val="0070C0"/>
                </a:solidFill>
                <a:latin typeface="+mn-ea"/>
              </a:rPr>
              <a:t>‘</a:t>
            </a:r>
            <a:r>
              <a:rPr lang="en-US" altLang="zh-CN" sz="2000">
                <a:solidFill>
                  <a:srgbClr val="0070C0"/>
                </a:solidFill>
                <a:latin typeface="+mn-ea"/>
              </a:rPr>
              <a:t>\n</a:t>
            </a:r>
            <a:r>
              <a:rPr lang="zh-CN" altLang="en-US" sz="2000">
                <a:solidFill>
                  <a:srgbClr val="0070C0"/>
                </a:solidFill>
                <a:latin typeface="+mn-ea"/>
              </a:rPr>
              <a:t>’</a:t>
            </a:r>
            <a:r>
              <a:rPr lang="en-US" altLang="zh-CN" sz="2000">
                <a:solidFill>
                  <a:srgbClr val="0070C0"/>
                </a:solidFill>
                <a:latin typeface="+mn-ea"/>
              </a:rPr>
              <a:t> </a:t>
            </a:r>
            <a:r>
              <a:rPr lang="zh-CN" altLang="en-US" sz="2000">
                <a:solidFill>
                  <a:srgbClr val="0070C0"/>
                </a:solidFill>
                <a:latin typeface="+mn-ea"/>
              </a:rPr>
              <a:t>换行回车符 </a:t>
            </a:r>
            <a:r>
              <a:rPr lang="zh-CN" altLang="zh-CN" sz="2000">
                <a:solidFill>
                  <a:srgbClr val="0070C0"/>
                </a:solidFill>
                <a:latin typeface="+mn-ea"/>
              </a:rPr>
              <a:t>；</a:t>
            </a:r>
            <a:endParaRPr lang="en-US" altLang="zh-CN" sz="2000">
              <a:solidFill>
                <a:srgbClr val="0070C0"/>
              </a:solidFill>
              <a:latin typeface="+mn-ea"/>
            </a:endParaRPr>
          </a:p>
          <a:p>
            <a:pPr marL="0" indent="457200">
              <a:lnSpc>
                <a:spcPct val="150000"/>
              </a:lnSpc>
              <a:buNone/>
            </a:pPr>
            <a:r>
              <a:rPr lang="zh-CN" altLang="en-US" sz="2000">
                <a:solidFill>
                  <a:srgbClr val="0070C0"/>
                </a:solidFill>
                <a:latin typeface="+mn-ea"/>
              </a:rPr>
              <a:t>‘</a:t>
            </a:r>
            <a:r>
              <a:rPr lang="en-US" altLang="zh-CN" sz="2000">
                <a:solidFill>
                  <a:srgbClr val="0070C0"/>
                </a:solidFill>
                <a:latin typeface="+mn-ea"/>
              </a:rPr>
              <a:t>\t</a:t>
            </a:r>
            <a:r>
              <a:rPr lang="zh-CN" altLang="en-US" sz="2000">
                <a:solidFill>
                  <a:srgbClr val="0070C0"/>
                </a:solidFill>
                <a:latin typeface="+mn-ea"/>
              </a:rPr>
              <a:t>’</a:t>
            </a:r>
            <a:r>
              <a:rPr lang="zh-CN" altLang="zh-CN" sz="2000">
                <a:solidFill>
                  <a:srgbClr val="0070C0"/>
                </a:solidFill>
                <a:latin typeface="+mn-ea"/>
              </a:rPr>
              <a:t>是制表符，使当前输出位置横向跳至一个输出区的第一列。</a:t>
            </a:r>
            <a:endParaRPr lang="en-US" altLang="zh-CN" sz="2000">
              <a:solidFill>
                <a:srgbClr val="0070C0"/>
              </a:solidFill>
              <a:latin typeface="+mn-ea"/>
            </a:endParaRPr>
          </a:p>
          <a:p>
            <a:pPr marL="0" indent="457200">
              <a:lnSpc>
                <a:spcPct val="150000"/>
              </a:lnSpc>
              <a:buNone/>
            </a:pPr>
            <a:r>
              <a:rPr lang="zh-CN" altLang="en-US" sz="2000">
                <a:solidFill>
                  <a:srgbClr val="0070C0"/>
                </a:solidFill>
                <a:latin typeface="+mn-ea"/>
              </a:rPr>
              <a:t>‘</a:t>
            </a:r>
            <a:r>
              <a:rPr lang="en-US" altLang="zh-CN" sz="2000">
                <a:solidFill>
                  <a:srgbClr val="0070C0"/>
                </a:solidFill>
                <a:latin typeface="+mn-ea"/>
              </a:rPr>
              <a:t>\r</a:t>
            </a:r>
            <a:r>
              <a:rPr lang="zh-CN" altLang="en-US" sz="2000">
                <a:solidFill>
                  <a:srgbClr val="0070C0"/>
                </a:solidFill>
                <a:latin typeface="+mn-ea"/>
              </a:rPr>
              <a:t>’</a:t>
            </a:r>
            <a:r>
              <a:rPr lang="en-US" altLang="zh-CN" sz="2000">
                <a:solidFill>
                  <a:srgbClr val="0070C0"/>
                </a:solidFill>
                <a:latin typeface="+mn-ea"/>
              </a:rPr>
              <a:t> </a:t>
            </a:r>
            <a:r>
              <a:rPr lang="zh-CN" altLang="zh-CN" sz="2000">
                <a:solidFill>
                  <a:srgbClr val="0070C0"/>
                </a:solidFill>
                <a:latin typeface="+mn-ea"/>
              </a:rPr>
              <a:t>只回车，不换行；</a:t>
            </a:r>
            <a:r>
              <a:rPr lang="zh-CN" altLang="en-US" sz="2000">
                <a:solidFill>
                  <a:srgbClr val="0070C0"/>
                </a:solidFill>
                <a:latin typeface="+mn-ea"/>
              </a:rPr>
              <a:t>（</a:t>
            </a:r>
            <a:r>
              <a:rPr lang="zh-CN" altLang="en-US" sz="2000">
                <a:solidFill>
                  <a:srgbClr val="FF0000"/>
                </a:solidFill>
                <a:latin typeface="+mn-ea"/>
              </a:rPr>
              <a:t>注：</a:t>
            </a:r>
            <a:r>
              <a:rPr lang="en-US" altLang="zh-CN" sz="2000">
                <a:solidFill>
                  <a:srgbClr val="FF0000"/>
                </a:solidFill>
                <a:latin typeface="+mn-ea"/>
              </a:rPr>
              <a:t>IDLE</a:t>
            </a:r>
            <a:r>
              <a:rPr lang="zh-CN" altLang="en-US" sz="2000">
                <a:solidFill>
                  <a:srgbClr val="FF0000"/>
                </a:solidFill>
                <a:latin typeface="+mn-ea"/>
              </a:rPr>
              <a:t>不支持该转义字符</a:t>
            </a:r>
            <a:r>
              <a:rPr lang="zh-CN" altLang="en-US" sz="2000">
                <a:solidFill>
                  <a:srgbClr val="0070C0"/>
                </a:solidFill>
                <a:latin typeface="+mn-ea"/>
              </a:rPr>
              <a:t>）</a:t>
            </a:r>
            <a:endParaRPr lang="en-US" altLang="zh-CN" sz="2000">
              <a:solidFill>
                <a:srgbClr val="0070C0"/>
              </a:solidFill>
              <a:latin typeface="+mn-ea"/>
            </a:endParaRPr>
          </a:p>
          <a:p>
            <a:pPr marL="0" indent="457200">
              <a:lnSpc>
                <a:spcPct val="150000"/>
              </a:lnSpc>
              <a:buNone/>
            </a:pPr>
            <a:endParaRPr lang="zh-CN" altLang="zh-CN" sz="2000">
              <a:solidFill>
                <a:srgbClr val="0070C0"/>
              </a:solidFill>
              <a:latin typeface="+mn-ea"/>
            </a:endParaRPr>
          </a:p>
        </p:txBody>
      </p:sp>
    </p:spTree>
    <p:extLst>
      <p:ext uri="{BB962C8B-B14F-4D97-AF65-F5344CB8AC3E}">
        <p14:creationId xmlns:p14="http://schemas.microsoft.com/office/powerpoint/2010/main" val="19134462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wipe(up)">
                                      <p:cBhvr>
                                        <p:cTn id="7" dur="500"/>
                                        <p:tgtEl>
                                          <p:spTgt spid="4">
                                            <p:txEl>
                                              <p:pRg st="3" end="3"/>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4">
                                            <p:txEl>
                                              <p:pRg st="4" end="4"/>
                                            </p:txEl>
                                          </p:spTgt>
                                        </p:tgtEl>
                                        <p:attrNameLst>
                                          <p:attrName>style.visibility</p:attrName>
                                        </p:attrNameLst>
                                      </p:cBhvr>
                                      <p:to>
                                        <p:strVal val="visible"/>
                                      </p:to>
                                    </p:set>
                                    <p:animEffect transition="in" filter="wipe(up)">
                                      <p:cBhvr>
                                        <p:cTn id="10" dur="500"/>
                                        <p:tgtEl>
                                          <p:spTgt spid="4">
                                            <p:txEl>
                                              <p:pRg st="4" end="4"/>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animEffect transition="in" filter="wipe(up)">
                                      <p:cBhvr>
                                        <p:cTn id="13"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65CE74E-AB26-4998-AD42-012C4C1AD076}" type="slidenum">
              <a:rPr lang="zh-CN" altLang="en-US" smtClean="0"/>
              <a:t>27</a:t>
            </a:fld>
            <a:endParaRPr lang="zh-CN" altLang="en-US"/>
          </a:p>
        </p:txBody>
      </p:sp>
      <p:sp>
        <p:nvSpPr>
          <p:cNvPr id="6" name="文本框 5"/>
          <p:cNvSpPr txBox="1"/>
          <p:nvPr>
            <p:custDataLst>
              <p:tags r:id="rId2"/>
            </p:custDataLst>
          </p:nvPr>
        </p:nvSpPr>
        <p:spPr>
          <a:xfrm>
            <a:off x="683568" y="940832"/>
            <a:ext cx="7992888" cy="1380017"/>
          </a:xfrm>
          <a:prstGeom prst="rect">
            <a:avLst/>
          </a:prstGeom>
          <a:solidFill>
            <a:schemeClr val="accent1">
              <a:lumMod val="20000"/>
              <a:lumOff val="80000"/>
            </a:schemeClr>
          </a:solidFill>
        </p:spPr>
        <p:txBody>
          <a:bodyPr vert="horz" wrap="square" rtlCol="0" anchor="ctr" anchorCtr="0">
            <a:noAutofit/>
          </a:bodyPr>
          <a:lstStyle/>
          <a:p>
            <a:r>
              <a:rPr lang="en-US" altLang="zh-CN" sz="2800" dirty="0"/>
              <a:t>Python</a:t>
            </a:r>
            <a:r>
              <a:rPr lang="zh-CN" altLang="zh-CN" sz="2800" dirty="0"/>
              <a:t>语句</a:t>
            </a:r>
            <a:r>
              <a:rPr lang="en-US" altLang="zh-CN" sz="2800" dirty="0"/>
              <a:t>print(“\</a:t>
            </a:r>
            <a:r>
              <a:rPr lang="en-US" altLang="zh-CN" sz="2800" dirty="0" err="1"/>
              <a:t>nGood</a:t>
            </a:r>
            <a:r>
              <a:rPr lang="en-US" altLang="zh-CN" sz="2800" dirty="0"/>
              <a:t>”)</a:t>
            </a:r>
            <a:r>
              <a:rPr lang="zh-CN" altLang="zh-CN" sz="2800" dirty="0"/>
              <a:t>的运行结果是（</a:t>
            </a:r>
            <a:r>
              <a:rPr lang="en-US" altLang="zh-CN" sz="2800" dirty="0"/>
              <a:t>     </a:t>
            </a:r>
            <a:r>
              <a:rPr lang="zh-CN" altLang="en-US" sz="2800" dirty="0"/>
              <a:t>）。</a:t>
            </a:r>
            <a:endParaRPr lang="zh-CN" altLang="en-US" sz="3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3"/>
            </p:custDataLst>
          </p:nvPr>
        </p:nvSpPr>
        <p:spPr>
          <a:xfrm>
            <a:off x="1828800" y="2708920"/>
            <a:ext cx="1231032" cy="642938"/>
          </a:xfrm>
          <a:prstGeom prst="rect">
            <a:avLst/>
          </a:prstGeom>
          <a:solidFill>
            <a:schemeClr val="accent2">
              <a:lumMod val="20000"/>
              <a:lumOff val="80000"/>
            </a:schemeClr>
          </a:solidFill>
        </p:spPr>
        <p:txBody>
          <a:bodyPr vert="horz" rtlCol="0" anchor="ctr" anchorCtr="0">
            <a:noAutofit/>
          </a:bodyPr>
          <a:lstStyle/>
          <a:p>
            <a:r>
              <a:rPr lang="zh-CN" altLang="en-US" sz="2400" dirty="0"/>
              <a:t>空</a:t>
            </a:r>
            <a:r>
              <a:rPr lang="zh-CN" altLang="zh-CN" sz="2400" dirty="0"/>
              <a:t>行</a:t>
            </a:r>
            <a:endParaRPr lang="en-US" altLang="zh-CN" sz="2400" dirty="0"/>
          </a:p>
          <a:p>
            <a:r>
              <a:rPr lang="en-US" altLang="zh-CN" sz="2400" dirty="0"/>
              <a:t>Good</a:t>
            </a:r>
            <a:endParaRPr lang="zh-CN" altLang="en-US" sz="3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4"/>
            </p:custDataLst>
          </p:nvPr>
        </p:nvSpPr>
        <p:spPr>
          <a:xfrm>
            <a:off x="1825774" y="3739929"/>
            <a:ext cx="1450082" cy="642938"/>
          </a:xfrm>
          <a:prstGeom prst="rect">
            <a:avLst/>
          </a:prstGeom>
          <a:solidFill>
            <a:schemeClr val="accent2">
              <a:lumMod val="20000"/>
              <a:lumOff val="80000"/>
            </a:schemeClr>
          </a:solidFill>
        </p:spPr>
        <p:txBody>
          <a:bodyPr vert="horz" rtlCol="0" anchor="ctr" anchorCtr="0">
            <a:noAutofit/>
          </a:bodyPr>
          <a:lstStyle/>
          <a:p>
            <a:r>
              <a:rPr lang="en-US" altLang="zh-CN" sz="2400" dirty="0"/>
              <a:t>"\</a:t>
            </a:r>
            <a:r>
              <a:rPr lang="en-US" altLang="zh-CN" sz="2400" dirty="0" err="1"/>
              <a:t>nGood</a:t>
            </a:r>
            <a:r>
              <a:rPr lang="en-US" altLang="zh-CN" sz="2400" dirty="0"/>
              <a:t>"</a:t>
            </a:r>
            <a:endParaRPr lang="zh-CN" altLang="en-US" sz="3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5"/>
            </p:custDataLst>
          </p:nvPr>
        </p:nvSpPr>
        <p:spPr>
          <a:xfrm>
            <a:off x="1828800" y="4763987"/>
            <a:ext cx="1447056" cy="642938"/>
          </a:xfrm>
          <a:prstGeom prst="rect">
            <a:avLst/>
          </a:prstGeom>
          <a:solidFill>
            <a:schemeClr val="accent2">
              <a:lumMod val="20000"/>
              <a:lumOff val="80000"/>
            </a:schemeClr>
          </a:solidFill>
        </p:spPr>
        <p:txBody>
          <a:bodyPr vert="horz" rtlCol="0" anchor="ctr" anchorCtr="0">
            <a:noAutofit/>
          </a:bodyPr>
          <a:lstStyle/>
          <a:p>
            <a:r>
              <a:rPr lang="en-US" altLang="zh-CN" sz="2400" dirty="0"/>
              <a:t>\</a:t>
            </a:r>
            <a:r>
              <a:rPr lang="en-US" altLang="zh-CN" sz="2400" dirty="0" err="1"/>
              <a:t>nGood</a:t>
            </a:r>
            <a:endParaRPr lang="zh-CN" altLang="en-US" sz="3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6"/>
            </p:custDataLst>
          </p:nvPr>
        </p:nvSpPr>
        <p:spPr>
          <a:xfrm>
            <a:off x="1114425" y="2713112"/>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7"/>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8"/>
            </p:custDataLst>
          </p:nvPr>
        </p:nvSpPr>
        <p:spPr>
          <a:xfrm>
            <a:off x="1114425" y="4767311"/>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圆角矩形 14"/>
          <p:cNvSpPr/>
          <p:nvPr>
            <p:custDataLst>
              <p:tags r:id="rId9"/>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p:cNvGrpSpPr/>
          <p:nvPr>
            <p:custDataLst>
              <p:tags r:id="rId10"/>
            </p:custDataLst>
          </p:nvPr>
        </p:nvGrpSpPr>
        <p:grpSpPr>
          <a:xfrm>
            <a:off x="0" y="0"/>
            <a:ext cx="9144000" cy="635000"/>
            <a:chOff x="0" y="0"/>
            <a:chExt cx="9144000" cy="635000"/>
          </a:xfrm>
        </p:grpSpPr>
        <p:sp>
          <p:nvSpPr>
            <p:cNvPr id="16" name="TitleBackground"/>
            <p:cNvSpPr/>
            <p:nvPr>
              <p:custDataLst>
                <p:tags r:id="rId12"/>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p:cNvSpPr txBox="1"/>
            <p:nvPr>
              <p:custDataLst>
                <p:tags r:id="rId15"/>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11"/>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15336619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65CE74E-AB26-4998-AD42-012C4C1AD076}" type="slidenum">
              <a:rPr lang="zh-CN" altLang="en-US" smtClean="0"/>
              <a:t>28</a:t>
            </a:fld>
            <a:endParaRPr lang="zh-CN" altLang="en-US"/>
          </a:p>
        </p:txBody>
      </p:sp>
      <p:sp>
        <p:nvSpPr>
          <p:cNvPr id="6" name="文本框 5"/>
          <p:cNvSpPr txBox="1"/>
          <p:nvPr>
            <p:custDataLst>
              <p:tags r:id="rId2"/>
            </p:custDataLst>
          </p:nvPr>
        </p:nvSpPr>
        <p:spPr>
          <a:xfrm>
            <a:off x="683568" y="940832"/>
            <a:ext cx="7992888" cy="1380017"/>
          </a:xfrm>
          <a:prstGeom prst="rect">
            <a:avLst/>
          </a:prstGeom>
          <a:solidFill>
            <a:schemeClr val="accent1">
              <a:lumMod val="20000"/>
              <a:lumOff val="80000"/>
            </a:schemeClr>
          </a:solidFill>
        </p:spPr>
        <p:txBody>
          <a:bodyPr vert="horz" wrap="square" rtlCol="0" anchor="ctr" anchorCtr="0">
            <a:noAutofit/>
          </a:bodyPr>
          <a:lstStyle/>
          <a:p>
            <a:r>
              <a:rPr lang="en-US" altLang="zh-CN" sz="2800" dirty="0"/>
              <a:t>Python</a:t>
            </a:r>
            <a:r>
              <a:rPr lang="zh-CN" altLang="zh-CN" sz="2800" dirty="0"/>
              <a:t>语句</a:t>
            </a:r>
            <a:r>
              <a:rPr lang="en-US" altLang="zh-CN" sz="2800" dirty="0"/>
              <a:t>print(</a:t>
            </a:r>
            <a:r>
              <a:rPr lang="en-US" altLang="zh-CN" sz="2800" dirty="0">
                <a:solidFill>
                  <a:srgbClr val="FF0000"/>
                </a:solidFill>
              </a:rPr>
              <a:t>r</a:t>
            </a:r>
            <a:r>
              <a:rPr lang="en-US" altLang="zh-CN" sz="2800" dirty="0"/>
              <a:t>“\</a:t>
            </a:r>
            <a:r>
              <a:rPr lang="en-US" altLang="zh-CN" sz="2800" dirty="0" err="1"/>
              <a:t>nGood</a:t>
            </a:r>
            <a:r>
              <a:rPr lang="en-US" altLang="zh-CN" sz="2800" dirty="0"/>
              <a:t>”)</a:t>
            </a:r>
            <a:r>
              <a:rPr lang="zh-CN" altLang="zh-CN" sz="2800" dirty="0"/>
              <a:t>的运行结果是（</a:t>
            </a:r>
            <a:r>
              <a:rPr lang="en-US" altLang="zh-CN" sz="2800" dirty="0"/>
              <a:t>     </a:t>
            </a:r>
            <a:r>
              <a:rPr lang="zh-CN" altLang="en-US" sz="2800" dirty="0"/>
              <a:t>）。</a:t>
            </a:r>
            <a:endParaRPr lang="zh-CN" altLang="en-US" sz="3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3"/>
            </p:custDataLst>
          </p:nvPr>
        </p:nvSpPr>
        <p:spPr>
          <a:xfrm>
            <a:off x="1828800" y="2708920"/>
            <a:ext cx="1231032" cy="642938"/>
          </a:xfrm>
          <a:prstGeom prst="rect">
            <a:avLst/>
          </a:prstGeom>
          <a:solidFill>
            <a:schemeClr val="accent2">
              <a:lumMod val="20000"/>
              <a:lumOff val="80000"/>
            </a:schemeClr>
          </a:solidFill>
        </p:spPr>
        <p:txBody>
          <a:bodyPr vert="horz" rtlCol="0" anchor="ctr" anchorCtr="0">
            <a:noAutofit/>
          </a:bodyPr>
          <a:lstStyle/>
          <a:p>
            <a:r>
              <a:rPr lang="zh-CN" altLang="en-US" sz="2400" dirty="0"/>
              <a:t>空</a:t>
            </a:r>
            <a:r>
              <a:rPr lang="zh-CN" altLang="zh-CN" sz="2400" dirty="0"/>
              <a:t>行</a:t>
            </a:r>
            <a:endParaRPr lang="en-US" altLang="zh-CN" sz="2400" dirty="0"/>
          </a:p>
          <a:p>
            <a:r>
              <a:rPr lang="en-US" altLang="zh-CN" sz="2400" dirty="0"/>
              <a:t>Good</a:t>
            </a:r>
            <a:endParaRPr lang="zh-CN" altLang="en-US" sz="3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4"/>
            </p:custDataLst>
          </p:nvPr>
        </p:nvSpPr>
        <p:spPr>
          <a:xfrm>
            <a:off x="1825774" y="3739929"/>
            <a:ext cx="1522090" cy="642938"/>
          </a:xfrm>
          <a:prstGeom prst="rect">
            <a:avLst/>
          </a:prstGeom>
          <a:solidFill>
            <a:schemeClr val="accent2">
              <a:lumMod val="20000"/>
              <a:lumOff val="80000"/>
            </a:schemeClr>
          </a:solidFill>
        </p:spPr>
        <p:txBody>
          <a:bodyPr vert="horz" rtlCol="0" anchor="ctr" anchorCtr="0">
            <a:noAutofit/>
          </a:bodyPr>
          <a:lstStyle/>
          <a:p>
            <a:r>
              <a:rPr lang="en-US" altLang="zh-CN" sz="2400" dirty="0"/>
              <a:t>r"\</a:t>
            </a:r>
            <a:r>
              <a:rPr lang="en-US" altLang="zh-CN" sz="2400" dirty="0" err="1"/>
              <a:t>nGood</a:t>
            </a:r>
            <a:r>
              <a:rPr lang="en-US" altLang="zh-CN" sz="2400" dirty="0"/>
              <a:t>"</a:t>
            </a:r>
            <a:endParaRPr lang="zh-CN" altLang="en-US" sz="3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5"/>
            </p:custDataLst>
          </p:nvPr>
        </p:nvSpPr>
        <p:spPr>
          <a:xfrm>
            <a:off x="1828800" y="4763987"/>
            <a:ext cx="1519064" cy="642938"/>
          </a:xfrm>
          <a:prstGeom prst="rect">
            <a:avLst/>
          </a:prstGeom>
          <a:solidFill>
            <a:schemeClr val="accent2">
              <a:lumMod val="20000"/>
              <a:lumOff val="80000"/>
            </a:schemeClr>
          </a:solidFill>
        </p:spPr>
        <p:txBody>
          <a:bodyPr vert="horz" rtlCol="0" anchor="ctr" anchorCtr="0">
            <a:noAutofit/>
          </a:bodyPr>
          <a:lstStyle/>
          <a:p>
            <a:r>
              <a:rPr lang="en-US" altLang="zh-CN" sz="2400" dirty="0"/>
              <a:t>\</a:t>
            </a:r>
            <a:r>
              <a:rPr lang="en-US" altLang="zh-CN" sz="2400" dirty="0" err="1"/>
              <a:t>nGood</a:t>
            </a:r>
            <a:endParaRPr lang="zh-CN" altLang="en-US" sz="3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p:cNvSpPr txBox="1"/>
          <p:nvPr>
            <p:custDataLst>
              <p:tags r:id="rId6"/>
            </p:custDataLst>
          </p:nvPr>
        </p:nvSpPr>
        <p:spPr>
          <a:xfrm>
            <a:off x="1828800" y="5717853"/>
            <a:ext cx="1015008" cy="1023515"/>
          </a:xfrm>
          <a:prstGeom prst="rect">
            <a:avLst/>
          </a:prstGeom>
          <a:solidFill>
            <a:schemeClr val="accent2">
              <a:lumMod val="20000"/>
              <a:lumOff val="80000"/>
            </a:schemeClr>
          </a:solidFill>
        </p:spPr>
        <p:txBody>
          <a:bodyPr vert="horz" rtlCol="0" anchor="ctr" anchorCtr="0">
            <a:noAutofit/>
          </a:bodyPr>
          <a:lstStyle/>
          <a:p>
            <a:r>
              <a:rPr lang="en-US" altLang="zh-CN" sz="2400" dirty="0"/>
              <a:t>r</a:t>
            </a:r>
          </a:p>
          <a:p>
            <a:r>
              <a:rPr lang="zh-CN" altLang="en-US" sz="2400" dirty="0"/>
              <a:t>空</a:t>
            </a:r>
            <a:r>
              <a:rPr lang="zh-CN" altLang="zh-CN" sz="2400" dirty="0"/>
              <a:t>行</a:t>
            </a:r>
            <a:endParaRPr lang="en-US" altLang="zh-CN" sz="2400" dirty="0"/>
          </a:p>
          <a:p>
            <a:r>
              <a:rPr lang="en-US" altLang="zh-CN" sz="2400" dirty="0"/>
              <a:t>Good</a:t>
            </a:r>
            <a:endParaRPr lang="zh-CN" altLang="en-US" sz="32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7"/>
            </p:custDataLst>
          </p:nvPr>
        </p:nvSpPr>
        <p:spPr>
          <a:xfrm>
            <a:off x="1114425" y="2713112"/>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9"/>
            </p:custDataLst>
          </p:nvPr>
        </p:nvSpPr>
        <p:spPr>
          <a:xfrm>
            <a:off x="1114425" y="4767311"/>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p:cNvSpPr>
            <a:spLocks noChangeAspect="1"/>
          </p:cNvSpPr>
          <p:nvPr>
            <p:custDataLst>
              <p:tags r:id="rId10"/>
            </p:custDataLst>
          </p:nvPr>
        </p:nvSpPr>
        <p:spPr>
          <a:xfrm>
            <a:off x="1114425" y="5624561"/>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圆角矩形 14"/>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2" name="线形标注 1 21"/>
          <p:cNvSpPr/>
          <p:nvPr/>
        </p:nvSpPr>
        <p:spPr>
          <a:xfrm>
            <a:off x="5652120" y="3229932"/>
            <a:ext cx="2232248" cy="992024"/>
          </a:xfrm>
          <a:prstGeom prst="borderCallout1">
            <a:avLst>
              <a:gd name="adj1" fmla="val 18750"/>
              <a:gd name="adj2" fmla="val -8333"/>
              <a:gd name="adj3" fmla="val -141749"/>
              <a:gd name="adj4" fmla="val -99664"/>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b="1" dirty="0"/>
              <a:t>字符串前加</a:t>
            </a:r>
            <a:r>
              <a:rPr lang="en-US" altLang="zh-CN" sz="2400" b="1" dirty="0"/>
              <a:t>r</a:t>
            </a:r>
            <a:r>
              <a:rPr lang="zh-CN" altLang="en-US" sz="2400" b="1" dirty="0"/>
              <a:t>，</a:t>
            </a:r>
            <a:r>
              <a:rPr lang="en-US" altLang="zh-CN" sz="2400" b="1" dirty="0"/>
              <a:t>\n</a:t>
            </a:r>
            <a:r>
              <a:rPr lang="zh-CN" altLang="en-US" sz="2400" b="1" dirty="0"/>
              <a:t>不转义</a:t>
            </a:r>
          </a:p>
        </p:txBody>
      </p:sp>
      <p:grpSp>
        <p:nvGrpSpPr>
          <p:cNvPr id="20" name="组合 19"/>
          <p:cNvGrpSpPr/>
          <p:nvPr>
            <p:custDataLst>
              <p:tags r:id="rId12"/>
            </p:custDataLst>
          </p:nvPr>
        </p:nvGrpSpPr>
        <p:grpSpPr>
          <a:xfrm>
            <a:off x="0" y="0"/>
            <a:ext cx="9144000" cy="635000"/>
            <a:chOff x="0" y="0"/>
            <a:chExt cx="9144000" cy="635000"/>
          </a:xfrm>
        </p:grpSpPr>
        <p:sp>
          <p:nvSpPr>
            <p:cNvPr id="16"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2283650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down)">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b="1">
                <a:solidFill>
                  <a:srgbClr val="245794"/>
                </a:solidFill>
              </a:rPr>
              <a:t>3</a:t>
            </a:r>
            <a:r>
              <a:rPr lang="zh-CN" altLang="zh-CN" b="1">
                <a:solidFill>
                  <a:srgbClr val="245794"/>
                </a:solidFill>
              </a:rPr>
              <a:t>．基本的字符串函数</a:t>
            </a:r>
            <a:endParaRPr lang="zh-CN" altLang="en-US"/>
          </a:p>
        </p:txBody>
      </p:sp>
      <p:sp>
        <p:nvSpPr>
          <p:cNvPr id="4" name="内容占位符 3"/>
          <p:cNvSpPr>
            <a:spLocks noGrp="1"/>
          </p:cNvSpPr>
          <p:nvPr>
            <p:ph idx="1"/>
          </p:nvPr>
        </p:nvSpPr>
        <p:spPr>
          <a:xfrm>
            <a:off x="628650" y="1825625"/>
            <a:ext cx="7886700" cy="1675383"/>
          </a:xfrm>
        </p:spPr>
        <p:txBody>
          <a:bodyPr>
            <a:normAutofit/>
          </a:bodyPr>
          <a:lstStyle/>
          <a:p>
            <a:pPr marL="0" indent="0">
              <a:lnSpc>
                <a:spcPct val="150000"/>
              </a:lnSpc>
              <a:spcAft>
                <a:spcPts val="600"/>
              </a:spcAft>
              <a:buClr>
                <a:srgbClr val="7030A0"/>
              </a:buClr>
              <a:buSzPct val="60000"/>
              <a:buNone/>
            </a:pPr>
            <a:r>
              <a:rPr lang="zh-CN" altLang="zh-CN" sz="2400">
                <a:solidFill>
                  <a:srgbClr val="245794"/>
                </a:solidFill>
                <a:latin typeface="+mn-ea"/>
              </a:rPr>
              <a:t>（</a:t>
            </a:r>
            <a:r>
              <a:rPr lang="en-US" altLang="zh-CN" sz="2400">
                <a:solidFill>
                  <a:srgbClr val="245794"/>
                </a:solidFill>
                <a:latin typeface="+mn-ea"/>
              </a:rPr>
              <a:t>1</a:t>
            </a:r>
            <a:r>
              <a:rPr lang="zh-CN" altLang="zh-CN" sz="2400">
                <a:solidFill>
                  <a:srgbClr val="245794"/>
                </a:solidFill>
                <a:latin typeface="+mn-ea"/>
              </a:rPr>
              <a:t>）</a:t>
            </a:r>
            <a:r>
              <a:rPr lang="en-US" altLang="zh-CN" sz="2400">
                <a:solidFill>
                  <a:srgbClr val="245794"/>
                </a:solidFill>
                <a:latin typeface="+mn-ea"/>
              </a:rPr>
              <a:t>eval(</a:t>
            </a:r>
            <a:r>
              <a:rPr lang="zh-CN" altLang="zh-CN" sz="2400">
                <a:solidFill>
                  <a:srgbClr val="245794"/>
                </a:solidFill>
                <a:latin typeface="+mn-ea"/>
              </a:rPr>
              <a:t>字符串</a:t>
            </a:r>
            <a:r>
              <a:rPr lang="en-US" altLang="zh-CN" sz="2400">
                <a:solidFill>
                  <a:srgbClr val="245794"/>
                </a:solidFill>
                <a:latin typeface="+mn-ea"/>
              </a:rPr>
              <a:t>)</a:t>
            </a:r>
            <a:endParaRPr lang="zh-CN" altLang="zh-CN" sz="2400">
              <a:solidFill>
                <a:srgbClr val="245794"/>
              </a:solidFill>
              <a:latin typeface="+mn-ea"/>
            </a:endParaRPr>
          </a:p>
          <a:p>
            <a:pPr marL="0" indent="0">
              <a:lnSpc>
                <a:spcPct val="150000"/>
              </a:lnSpc>
              <a:spcAft>
                <a:spcPts val="600"/>
              </a:spcAft>
              <a:buClr>
                <a:srgbClr val="7030A0"/>
              </a:buClr>
              <a:buSzPct val="60000"/>
              <a:buNone/>
            </a:pPr>
            <a:r>
              <a:rPr lang="zh-CN" altLang="zh-CN" sz="2400">
                <a:solidFill>
                  <a:srgbClr val="245794"/>
                </a:solidFill>
                <a:latin typeface="+mn-ea"/>
              </a:rPr>
              <a:t>作用</a:t>
            </a:r>
            <a:r>
              <a:rPr lang="zh-CN" altLang="en-US" sz="2400">
                <a:solidFill>
                  <a:srgbClr val="245794"/>
                </a:solidFill>
                <a:latin typeface="+mn-ea"/>
              </a:rPr>
              <a:t>：</a:t>
            </a:r>
            <a:r>
              <a:rPr lang="zh-CN" altLang="zh-CN" sz="2400">
                <a:solidFill>
                  <a:srgbClr val="245794"/>
                </a:solidFill>
                <a:latin typeface="+mn-ea"/>
              </a:rPr>
              <a:t>把字符串的内容作为对应的</a:t>
            </a:r>
            <a:r>
              <a:rPr lang="en-US" altLang="zh-CN" sz="2400">
                <a:solidFill>
                  <a:srgbClr val="245794"/>
                </a:solidFill>
                <a:latin typeface="+mn-ea"/>
              </a:rPr>
              <a:t>Python</a:t>
            </a:r>
            <a:r>
              <a:rPr lang="zh-CN" altLang="zh-CN" sz="2400">
                <a:solidFill>
                  <a:srgbClr val="245794"/>
                </a:solidFill>
                <a:latin typeface="+mn-ea"/>
              </a:rPr>
              <a:t>语句来执行。</a:t>
            </a:r>
            <a:r>
              <a:rPr lang="zh-CN" altLang="en-US" sz="2400">
                <a:solidFill>
                  <a:srgbClr val="245794"/>
                </a:solidFill>
                <a:latin typeface="+mn-ea"/>
              </a:rPr>
              <a:t>　　</a:t>
            </a:r>
            <a:endParaRPr lang="zh-CN" altLang="zh-CN" sz="2400">
              <a:solidFill>
                <a:srgbClr val="245794"/>
              </a:solidFill>
              <a:latin typeface="+mn-ea"/>
            </a:endParaRPr>
          </a:p>
        </p:txBody>
      </p:sp>
      <p:sp>
        <p:nvSpPr>
          <p:cNvPr id="5" name="矩形 4"/>
          <p:cNvSpPr/>
          <p:nvPr/>
        </p:nvSpPr>
        <p:spPr>
          <a:xfrm>
            <a:off x="5148064" y="3617256"/>
            <a:ext cx="2664296" cy="922625"/>
          </a:xfrm>
          <a:prstGeom prst="rect">
            <a:avLst/>
          </a:prstGeom>
          <a:solidFill>
            <a:schemeClr val="bg1">
              <a:lumMod val="95000"/>
            </a:schemeClr>
          </a:solidFill>
        </p:spPr>
        <p:txBody>
          <a:bodyPr wrap="square">
            <a:spAutoFit/>
          </a:bodyPr>
          <a:lstStyle/>
          <a:p>
            <a:pPr>
              <a:lnSpc>
                <a:spcPct val="150000"/>
              </a:lnSpc>
            </a:pPr>
            <a:r>
              <a:rPr lang="en-US" altLang="zh-CN" dirty="0">
                <a:latin typeface="+mj-ea"/>
              </a:rPr>
              <a:t>&gt;&gt;&gt; </a:t>
            </a:r>
            <a:r>
              <a:rPr lang="en-US" altLang="zh-CN" b="1" dirty="0">
                <a:latin typeface="+mj-ea"/>
              </a:rPr>
              <a:t>eval(</a:t>
            </a:r>
            <a:r>
              <a:rPr lang="en-US" altLang="zh-CN" b="1" dirty="0">
                <a:latin typeface="微软雅黑" panose="020B0503020204020204" pitchFamily="34" charset="-122"/>
                <a:ea typeface="微软雅黑" panose="020B0503020204020204" pitchFamily="34" charset="-122"/>
              </a:rPr>
              <a:t>'</a:t>
            </a:r>
            <a:r>
              <a:rPr lang="en-US" altLang="zh-CN" b="1" dirty="0">
                <a:latin typeface="+mj-ea"/>
              </a:rPr>
              <a:t> </a:t>
            </a:r>
            <a:r>
              <a:rPr lang="en-US" altLang="zh-CN" b="1" dirty="0">
                <a:solidFill>
                  <a:srgbClr val="FF0000"/>
                </a:solidFill>
                <a:latin typeface="+mj-ea"/>
              </a:rPr>
              <a:t>3+45-10 </a:t>
            </a:r>
            <a:r>
              <a:rPr lang="en-US" altLang="zh-CN" b="1" dirty="0">
                <a:latin typeface="微软雅黑" panose="020B0503020204020204" pitchFamily="34" charset="-122"/>
                <a:ea typeface="微软雅黑" panose="020B0503020204020204" pitchFamily="34" charset="-122"/>
              </a:rPr>
              <a:t>'</a:t>
            </a:r>
            <a:r>
              <a:rPr lang="en-US" altLang="zh-CN" b="1" dirty="0">
                <a:latin typeface="+mj-ea"/>
              </a:rPr>
              <a:t>)                     </a:t>
            </a:r>
          </a:p>
          <a:p>
            <a:pPr>
              <a:lnSpc>
                <a:spcPct val="150000"/>
              </a:lnSpc>
            </a:pPr>
            <a:r>
              <a:rPr lang="en-US" altLang="zh-CN" sz="2000" b="1" dirty="0">
                <a:solidFill>
                  <a:srgbClr val="00B0F0"/>
                </a:solidFill>
                <a:latin typeface="+mj-ea"/>
              </a:rPr>
              <a:t>38</a:t>
            </a:r>
          </a:p>
        </p:txBody>
      </p:sp>
      <p:sp>
        <p:nvSpPr>
          <p:cNvPr id="6" name="矩形 5"/>
          <p:cNvSpPr/>
          <p:nvPr/>
        </p:nvSpPr>
        <p:spPr>
          <a:xfrm>
            <a:off x="899592" y="3617256"/>
            <a:ext cx="2664296" cy="969496"/>
          </a:xfrm>
          <a:prstGeom prst="rect">
            <a:avLst/>
          </a:prstGeom>
          <a:solidFill>
            <a:schemeClr val="bg1">
              <a:lumMod val="95000"/>
            </a:schemeClr>
          </a:solidFill>
        </p:spPr>
        <p:txBody>
          <a:bodyPr wrap="square">
            <a:spAutoFit/>
          </a:bodyPr>
          <a:lstStyle/>
          <a:p>
            <a:pPr>
              <a:lnSpc>
                <a:spcPct val="150000"/>
              </a:lnSpc>
            </a:pPr>
            <a:r>
              <a:rPr lang="en-US" altLang="zh-CN" sz="2000" b="1">
                <a:latin typeface="+mj-ea"/>
              </a:rPr>
              <a:t>&gt;&gt;&gt; eval(</a:t>
            </a:r>
            <a:r>
              <a:rPr lang="en-US" altLang="zh-CN" b="1">
                <a:latin typeface="微软雅黑" panose="020B0503020204020204" pitchFamily="34" charset="-122"/>
                <a:ea typeface="微软雅黑" panose="020B0503020204020204" pitchFamily="34" charset="-122"/>
              </a:rPr>
              <a:t>' </a:t>
            </a:r>
            <a:r>
              <a:rPr lang="en-US" altLang="zh-CN" sz="2000" b="1">
                <a:solidFill>
                  <a:srgbClr val="FF0000"/>
                </a:solidFill>
                <a:latin typeface="+mj-ea"/>
              </a:rPr>
              <a:t>345 </a:t>
            </a:r>
            <a:r>
              <a:rPr lang="en-US" altLang="zh-CN" b="1">
                <a:latin typeface="微软雅黑" panose="020B0503020204020204" pitchFamily="34" charset="-122"/>
                <a:ea typeface="微软雅黑" panose="020B0503020204020204" pitchFamily="34" charset="-122"/>
              </a:rPr>
              <a:t>'</a:t>
            </a:r>
            <a:r>
              <a:rPr lang="en-US" altLang="zh-CN" sz="2000" b="1">
                <a:latin typeface="+mj-ea"/>
              </a:rPr>
              <a:t>)                     </a:t>
            </a:r>
          </a:p>
          <a:p>
            <a:pPr>
              <a:lnSpc>
                <a:spcPct val="150000"/>
              </a:lnSpc>
            </a:pPr>
            <a:r>
              <a:rPr lang="en-US" altLang="zh-CN" b="1">
                <a:solidFill>
                  <a:srgbClr val="00B0F0"/>
                </a:solidFill>
                <a:latin typeface="+mj-ea"/>
              </a:rPr>
              <a:t>345</a:t>
            </a:r>
            <a:endParaRPr lang="en-US" altLang="zh-CN" b="1" dirty="0">
              <a:solidFill>
                <a:srgbClr val="00B0F0"/>
              </a:solidFill>
              <a:latin typeface="+mj-ea"/>
            </a:endParaRPr>
          </a:p>
        </p:txBody>
      </p:sp>
      <p:sp>
        <p:nvSpPr>
          <p:cNvPr id="2" name="文本框 1"/>
          <p:cNvSpPr txBox="1"/>
          <p:nvPr/>
        </p:nvSpPr>
        <p:spPr>
          <a:xfrm>
            <a:off x="899592" y="4899104"/>
            <a:ext cx="2736304" cy="923330"/>
          </a:xfrm>
          <a:prstGeom prst="rect">
            <a:avLst/>
          </a:prstGeom>
          <a:solidFill>
            <a:schemeClr val="accent2">
              <a:lumMod val="20000"/>
              <a:lumOff val="80000"/>
            </a:schemeClr>
          </a:solidFill>
        </p:spPr>
        <p:txBody>
          <a:bodyPr wrap="square" rtlCol="0">
            <a:spAutoFit/>
          </a:bodyPr>
          <a:lstStyle/>
          <a:p>
            <a:pPr marL="285750" indent="-285750">
              <a:lnSpc>
                <a:spcPct val="150000"/>
              </a:lnSpc>
              <a:buFont typeface="Arial" panose="020B0604020202020204" pitchFamily="34" charset="0"/>
              <a:buChar char="•"/>
            </a:pPr>
            <a:r>
              <a:rPr lang="zh-CN" altLang="en-US"/>
              <a:t>应用</a:t>
            </a:r>
            <a:r>
              <a:rPr lang="en-US" altLang="zh-CN"/>
              <a:t>1</a:t>
            </a:r>
            <a:r>
              <a:rPr lang="zh-CN" altLang="en-US"/>
              <a:t>：</a:t>
            </a:r>
            <a:endParaRPr lang="en-US" altLang="zh-CN"/>
          </a:p>
          <a:p>
            <a:pPr>
              <a:lnSpc>
                <a:spcPct val="150000"/>
              </a:lnSpc>
            </a:pPr>
            <a:r>
              <a:rPr lang="zh-CN" altLang="en-US"/>
              <a:t>将字符串转为数值</a:t>
            </a:r>
          </a:p>
        </p:txBody>
      </p:sp>
      <p:sp>
        <p:nvSpPr>
          <p:cNvPr id="7" name="文本框 6"/>
          <p:cNvSpPr txBox="1"/>
          <p:nvPr/>
        </p:nvSpPr>
        <p:spPr>
          <a:xfrm>
            <a:off x="5149984" y="4899104"/>
            <a:ext cx="2662376" cy="923330"/>
          </a:xfrm>
          <a:prstGeom prst="rect">
            <a:avLst/>
          </a:prstGeom>
          <a:solidFill>
            <a:schemeClr val="accent2">
              <a:lumMod val="20000"/>
              <a:lumOff val="80000"/>
            </a:schemeClr>
          </a:solidFill>
        </p:spPr>
        <p:txBody>
          <a:bodyPr wrap="square" rtlCol="0">
            <a:spAutoFit/>
          </a:bodyPr>
          <a:lstStyle/>
          <a:p>
            <a:pPr marL="285750" indent="-285750">
              <a:lnSpc>
                <a:spcPct val="150000"/>
              </a:lnSpc>
              <a:buFont typeface="Arial" panose="020B0604020202020204" pitchFamily="34" charset="0"/>
              <a:buChar char="•"/>
            </a:pPr>
            <a:r>
              <a:rPr lang="zh-CN" altLang="en-US"/>
              <a:t>应用</a:t>
            </a:r>
            <a:r>
              <a:rPr lang="en-US" altLang="zh-CN"/>
              <a:t>2</a:t>
            </a:r>
            <a:r>
              <a:rPr lang="zh-CN" altLang="en-US"/>
              <a:t>：</a:t>
            </a:r>
            <a:endParaRPr lang="en-US" altLang="zh-CN"/>
          </a:p>
          <a:p>
            <a:pPr>
              <a:lnSpc>
                <a:spcPct val="150000"/>
              </a:lnSpc>
            </a:pPr>
            <a:r>
              <a:rPr lang="zh-CN" altLang="en-US"/>
              <a:t>    计算公式、执行命令</a:t>
            </a:r>
          </a:p>
        </p:txBody>
      </p:sp>
      <p:sp>
        <p:nvSpPr>
          <p:cNvPr id="8" name="文本框 7">
            <a:extLst>
              <a:ext uri="{FF2B5EF4-FFF2-40B4-BE49-F238E27FC236}">
                <a16:creationId xmlns:a16="http://schemas.microsoft.com/office/drawing/2014/main" id="{318B2307-BA4A-490C-934C-C941434EA30F}"/>
              </a:ext>
            </a:extLst>
          </p:cNvPr>
          <p:cNvSpPr txBox="1"/>
          <p:nvPr/>
        </p:nvSpPr>
        <p:spPr>
          <a:xfrm>
            <a:off x="5148064" y="1819079"/>
            <a:ext cx="3457998" cy="461665"/>
          </a:xfrm>
          <a:prstGeom prst="rect">
            <a:avLst/>
          </a:prstGeom>
          <a:noFill/>
        </p:spPr>
        <p:txBody>
          <a:bodyPr wrap="none" rtlCol="0">
            <a:spAutoFit/>
          </a:bodyPr>
          <a:lstStyle/>
          <a:p>
            <a:r>
              <a:rPr lang="zh-CN" altLang="en-US" sz="2400" dirty="0"/>
              <a:t>函数</a:t>
            </a:r>
            <a:r>
              <a:rPr lang="en-US" altLang="zh-CN" sz="2400" dirty="0"/>
              <a:t>y = f(a) = a*a+2*a + 1</a:t>
            </a:r>
            <a:endParaRPr lang="zh-CN" altLang="en-US" sz="2400" dirty="0"/>
          </a:p>
        </p:txBody>
      </p:sp>
      <p:cxnSp>
        <p:nvCxnSpPr>
          <p:cNvPr id="10" name="直接箭头连接符 9">
            <a:extLst>
              <a:ext uri="{FF2B5EF4-FFF2-40B4-BE49-F238E27FC236}">
                <a16:creationId xmlns:a16="http://schemas.microsoft.com/office/drawing/2014/main" id="{91345B5C-D3B1-4C3E-88D8-CB87B3EAE6DB}"/>
              </a:ext>
            </a:extLst>
          </p:cNvPr>
          <p:cNvCxnSpPr/>
          <p:nvPr/>
        </p:nvCxnSpPr>
        <p:spPr>
          <a:xfrm flipH="1">
            <a:off x="6556658" y="1589598"/>
            <a:ext cx="252028" cy="360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030A769-6EEC-4D14-BC7B-41114E616F55}"/>
              </a:ext>
            </a:extLst>
          </p:cNvPr>
          <p:cNvSpPr txBox="1"/>
          <p:nvPr/>
        </p:nvSpPr>
        <p:spPr>
          <a:xfrm>
            <a:off x="6732240" y="1329298"/>
            <a:ext cx="340158" cy="461665"/>
          </a:xfrm>
          <a:prstGeom prst="rect">
            <a:avLst/>
          </a:prstGeom>
          <a:noFill/>
        </p:spPr>
        <p:txBody>
          <a:bodyPr wrap="none" rtlCol="0">
            <a:spAutoFit/>
          </a:bodyPr>
          <a:lstStyle/>
          <a:p>
            <a:r>
              <a:rPr lang="en-US" altLang="zh-CN" sz="2400" dirty="0"/>
              <a:t>2</a:t>
            </a:r>
            <a:endParaRPr lang="zh-CN" altLang="en-US" sz="2400" dirty="0"/>
          </a:p>
        </p:txBody>
      </p:sp>
    </p:spTree>
    <p:extLst>
      <p:ext uri="{BB962C8B-B14F-4D97-AF65-F5344CB8AC3E}">
        <p14:creationId xmlns:p14="http://schemas.microsoft.com/office/powerpoint/2010/main" val="41319378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buFont typeface="Arial" panose="020B0604020202020204" pitchFamily="34" charset="0"/>
              <a:buChar char="•"/>
            </a:pPr>
            <a:r>
              <a:rPr lang="en-US" sz="4000">
                <a:sym typeface="+mn-ea"/>
              </a:rPr>
              <a:t>eval</a:t>
            </a:r>
            <a:r>
              <a:rPr lang="zh-CN" altLang="en-US" sz="4000">
                <a:sym typeface="+mn-ea"/>
              </a:rPr>
              <a:t>函数的应用</a:t>
            </a:r>
            <a:r>
              <a:rPr lang="en-US" altLang="zh-CN" sz="4000">
                <a:sym typeface="+mn-ea"/>
              </a:rPr>
              <a:t>1</a:t>
            </a:r>
            <a:endParaRPr lang="en-US" sz="2800" dirty="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30</a:t>
            </a:fld>
            <a:endParaRPr lang="zh-CN" altLang="en-US"/>
          </a:p>
        </p:txBody>
      </p:sp>
      <p:sp>
        <p:nvSpPr>
          <p:cNvPr id="6" name="Content Placeholder 2"/>
          <p:cNvSpPr txBox="1">
            <a:spLocks/>
          </p:cNvSpPr>
          <p:nvPr/>
        </p:nvSpPr>
        <p:spPr>
          <a:xfrm>
            <a:off x="323528" y="1916832"/>
            <a:ext cx="4104456" cy="1450020"/>
          </a:xfrm>
          <a:prstGeom prst="rect">
            <a:avLst/>
          </a:prstGeom>
          <a:ln>
            <a:solidFill>
              <a:schemeClr val="accent2"/>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en-US" altLang="zh-CN" sz="2000" dirty="0">
                <a:latin typeface="微软雅黑" panose="020B0503020204020204" pitchFamily="34" charset="-122"/>
                <a:ea typeface="微软雅黑" panose="020B0503020204020204" pitchFamily="34" charset="-122"/>
              </a:rPr>
              <a:t>&gt;&gt;&gt; x = eval(input('</a:t>
            </a:r>
            <a:r>
              <a:rPr lang="zh-CN" altLang="en-US" sz="2000" dirty="0">
                <a:latin typeface="微软雅黑" panose="020B0503020204020204" pitchFamily="34" charset="-122"/>
                <a:ea typeface="微软雅黑" panose="020B0503020204020204" pitchFamily="34" charset="-122"/>
              </a:rPr>
              <a:t>请输入：</a:t>
            </a:r>
            <a:r>
              <a:rPr lang="en-US" altLang="zh-CN" sz="2000" dirty="0">
                <a:latin typeface="微软雅黑" panose="020B0503020204020204" pitchFamily="34" charset="-122"/>
                <a:ea typeface="微软雅黑" panose="020B0503020204020204" pitchFamily="34" charset="-122"/>
              </a:rPr>
              <a:t>'))</a:t>
            </a:r>
          </a:p>
          <a:p>
            <a:pPr marL="0" indent="0">
              <a:lnSpc>
                <a:spcPct val="100000"/>
              </a:lnSpc>
              <a:spcBef>
                <a:spcPts val="0"/>
              </a:spcBef>
              <a:buFont typeface="Arial" panose="020B0604020202020204" pitchFamily="34" charset="0"/>
              <a:buNone/>
            </a:pPr>
            <a:r>
              <a:rPr lang="zh-CN" altLang="en-US" sz="2000" dirty="0">
                <a:solidFill>
                  <a:srgbClr val="00B0F0"/>
                </a:solidFill>
                <a:latin typeface="微软雅黑" panose="020B0503020204020204" pitchFamily="34" charset="-122"/>
                <a:ea typeface="微软雅黑" panose="020B0503020204020204" pitchFamily="34" charset="-122"/>
              </a:rPr>
              <a:t>请输入</a:t>
            </a:r>
            <a:r>
              <a:rPr lang="en-US" altLang="zh-CN" sz="2000" dirty="0">
                <a:solidFill>
                  <a:srgbClr val="00B0F0"/>
                </a:solidFill>
                <a:latin typeface="微软雅黑" panose="020B0503020204020204" pitchFamily="34" charset="-122"/>
                <a:ea typeface="微软雅黑" panose="020B0503020204020204" pitchFamily="34" charset="-122"/>
              </a:rPr>
              <a:t>: </a:t>
            </a:r>
          </a:p>
          <a:p>
            <a:pPr marL="0" indent="0">
              <a:lnSpc>
                <a:spcPct val="100000"/>
              </a:lnSpc>
              <a:spcBef>
                <a:spcPts val="0"/>
              </a:spcBef>
              <a:buFont typeface="Arial" panose="020B0604020202020204" pitchFamily="34" charset="0"/>
              <a:buNone/>
            </a:pPr>
            <a:r>
              <a:rPr lang="en-US" altLang="zh-CN" sz="2000" dirty="0">
                <a:latin typeface="微软雅黑" panose="020B0503020204020204" pitchFamily="34" charset="-122"/>
                <a:ea typeface="微软雅黑" panose="020B0503020204020204" pitchFamily="34" charset="-122"/>
              </a:rPr>
              <a:t>&gt;&gt;&gt; x</a:t>
            </a:r>
          </a:p>
          <a:p>
            <a:pPr marL="0" indent="0">
              <a:lnSpc>
                <a:spcPct val="100000"/>
              </a:lnSpc>
              <a:spcBef>
                <a:spcPts val="0"/>
              </a:spcBef>
              <a:buFont typeface="Arial" panose="020B0604020202020204" pitchFamily="34" charset="0"/>
              <a:buNone/>
            </a:pPr>
            <a:r>
              <a:rPr lang="en-US" altLang="zh-CN" sz="2000" dirty="0">
                <a:solidFill>
                  <a:srgbClr val="00B0F0"/>
                </a:solidFill>
                <a:latin typeface="微软雅黑" panose="020B0503020204020204" pitchFamily="34" charset="-122"/>
                <a:ea typeface="微软雅黑" panose="020B0503020204020204" pitchFamily="34" charset="-122"/>
              </a:rPr>
              <a:t>123</a:t>
            </a:r>
          </a:p>
        </p:txBody>
      </p:sp>
      <p:sp>
        <p:nvSpPr>
          <p:cNvPr id="7" name="矩形 6"/>
          <p:cNvSpPr/>
          <p:nvPr/>
        </p:nvSpPr>
        <p:spPr>
          <a:xfrm>
            <a:off x="1500969" y="2272510"/>
            <a:ext cx="588623" cy="369332"/>
          </a:xfrm>
          <a:prstGeom prst="rect">
            <a:avLst/>
          </a:prstGeom>
          <a:solidFill>
            <a:schemeClr val="accent3">
              <a:lumMod val="40000"/>
              <a:lumOff val="60000"/>
            </a:schemeClr>
          </a:solidFill>
        </p:spPr>
        <p:txBody>
          <a:bodyPr wrap="none">
            <a:spAutoFit/>
          </a:bodyPr>
          <a:lstStyle/>
          <a:p>
            <a:r>
              <a:rPr lang="en-US" altLang="zh-CN">
                <a:solidFill>
                  <a:srgbClr val="00B0F0"/>
                </a:solidFill>
                <a:latin typeface="微软雅黑" panose="020B0503020204020204" pitchFamily="34" charset="-122"/>
                <a:ea typeface="微软雅黑" panose="020B0503020204020204" pitchFamily="34" charset="-122"/>
              </a:rPr>
              <a:t>123</a:t>
            </a:r>
          </a:p>
        </p:txBody>
      </p:sp>
      <p:sp>
        <p:nvSpPr>
          <p:cNvPr id="10" name="Content Placeholder 2"/>
          <p:cNvSpPr txBox="1">
            <a:spLocks/>
          </p:cNvSpPr>
          <p:nvPr/>
        </p:nvSpPr>
        <p:spPr>
          <a:xfrm>
            <a:off x="5220072" y="2243310"/>
            <a:ext cx="3528392" cy="792088"/>
          </a:xfrm>
          <a:prstGeom prst="rect">
            <a:avLst/>
          </a:prstGeom>
          <a:ln>
            <a:solidFill>
              <a:schemeClr val="accent2"/>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000">
                <a:latin typeface="微软雅黑" panose="020B0503020204020204" pitchFamily="34" charset="-122"/>
                <a:ea typeface="微软雅黑" panose="020B0503020204020204" pitchFamily="34" charset="-122"/>
              </a:rPr>
              <a:t>&gt;&gt;&gt; x = input('</a:t>
            </a:r>
            <a:r>
              <a:rPr lang="zh-CN" altLang="en-US" sz="2000">
                <a:latin typeface="微软雅黑" panose="020B0503020204020204" pitchFamily="34" charset="-122"/>
                <a:ea typeface="微软雅黑" panose="020B0503020204020204" pitchFamily="34" charset="-122"/>
              </a:rPr>
              <a:t>请输入</a:t>
            </a:r>
            <a:r>
              <a:rPr lang="en-US" altLang="zh-CN" sz="2000">
                <a:latin typeface="微软雅黑" panose="020B0503020204020204" pitchFamily="34" charset="-122"/>
                <a:ea typeface="微软雅黑" panose="020B0503020204020204" pitchFamily="34" charset="-122"/>
              </a:rPr>
              <a:t>: ')</a:t>
            </a:r>
          </a:p>
          <a:p>
            <a:pPr marL="0" indent="0">
              <a:lnSpc>
                <a:spcPct val="100000"/>
              </a:lnSpc>
              <a:spcBef>
                <a:spcPts val="0"/>
              </a:spcBef>
              <a:buFont typeface="Arial" panose="020B0604020202020204" pitchFamily="34" charset="0"/>
              <a:buNone/>
            </a:pPr>
            <a:r>
              <a:rPr lang="zh-CN" altLang="en-US" sz="2000">
                <a:solidFill>
                  <a:srgbClr val="00B0F0"/>
                </a:solidFill>
                <a:latin typeface="微软雅黑" panose="020B0503020204020204" pitchFamily="34" charset="-122"/>
                <a:ea typeface="微软雅黑" panose="020B0503020204020204" pitchFamily="34" charset="-122"/>
              </a:rPr>
              <a:t>请输入</a:t>
            </a:r>
            <a:r>
              <a:rPr lang="en-US" altLang="zh-CN" sz="2000">
                <a:solidFill>
                  <a:srgbClr val="00B0F0"/>
                </a:solidFill>
                <a:latin typeface="微软雅黑" panose="020B0503020204020204" pitchFamily="34" charset="-122"/>
                <a:ea typeface="微软雅黑" panose="020B0503020204020204" pitchFamily="34" charset="-122"/>
              </a:rPr>
              <a:t>: </a:t>
            </a:r>
          </a:p>
        </p:txBody>
      </p:sp>
      <p:sp>
        <p:nvSpPr>
          <p:cNvPr id="12" name="矩形 11"/>
          <p:cNvSpPr/>
          <p:nvPr/>
        </p:nvSpPr>
        <p:spPr>
          <a:xfrm>
            <a:off x="6407550" y="2598988"/>
            <a:ext cx="588623" cy="369332"/>
          </a:xfrm>
          <a:prstGeom prst="rect">
            <a:avLst/>
          </a:prstGeom>
          <a:solidFill>
            <a:schemeClr val="accent3">
              <a:lumMod val="40000"/>
              <a:lumOff val="60000"/>
            </a:schemeClr>
          </a:solidFill>
        </p:spPr>
        <p:txBody>
          <a:bodyPr wrap="none">
            <a:spAutoFit/>
          </a:bodyPr>
          <a:lstStyle/>
          <a:p>
            <a:r>
              <a:rPr lang="en-US" altLang="zh-CN">
                <a:solidFill>
                  <a:srgbClr val="00B0F0"/>
                </a:solidFill>
                <a:latin typeface="微软雅黑" panose="020B0503020204020204" pitchFamily="34" charset="-122"/>
                <a:ea typeface="微软雅黑" panose="020B0503020204020204" pitchFamily="34" charset="-122"/>
              </a:rPr>
              <a:t>123</a:t>
            </a:r>
          </a:p>
        </p:txBody>
      </p:sp>
      <p:sp>
        <p:nvSpPr>
          <p:cNvPr id="13" name="Content Placeholder 2"/>
          <p:cNvSpPr txBox="1">
            <a:spLocks/>
          </p:cNvSpPr>
          <p:nvPr/>
        </p:nvSpPr>
        <p:spPr>
          <a:xfrm>
            <a:off x="5220072" y="4544505"/>
            <a:ext cx="3528392" cy="792088"/>
          </a:xfrm>
          <a:prstGeom prst="rect">
            <a:avLst/>
          </a:prstGeom>
          <a:ln>
            <a:solidFill>
              <a:schemeClr val="accent2"/>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000">
                <a:latin typeface="微软雅黑" panose="020B0503020204020204" pitchFamily="34" charset="-122"/>
                <a:ea typeface="微软雅黑" panose="020B0503020204020204" pitchFamily="34" charset="-122"/>
              </a:rPr>
              <a:t>&gt;&gt;&gt; x = eval(x)</a:t>
            </a:r>
          </a:p>
          <a:p>
            <a:pPr marL="0" indent="0">
              <a:lnSpc>
                <a:spcPct val="100000"/>
              </a:lnSpc>
              <a:spcBef>
                <a:spcPts val="0"/>
              </a:spcBef>
              <a:buFont typeface="Arial" panose="020B0604020202020204" pitchFamily="34" charset="0"/>
              <a:buNone/>
            </a:pPr>
            <a:r>
              <a:rPr lang="en-US" altLang="zh-CN" sz="2000">
                <a:solidFill>
                  <a:srgbClr val="00B0F0"/>
                </a:solidFill>
                <a:latin typeface="微软雅黑" panose="020B0503020204020204" pitchFamily="34" charset="-122"/>
                <a:ea typeface="微软雅黑" panose="020B0503020204020204" pitchFamily="34" charset="-122"/>
              </a:rPr>
              <a:t>123 </a:t>
            </a:r>
          </a:p>
        </p:txBody>
      </p:sp>
      <p:sp>
        <p:nvSpPr>
          <p:cNvPr id="8" name="文本框 7"/>
          <p:cNvSpPr txBox="1"/>
          <p:nvPr/>
        </p:nvSpPr>
        <p:spPr>
          <a:xfrm>
            <a:off x="6359823" y="3166797"/>
            <a:ext cx="684075" cy="400110"/>
          </a:xfrm>
          <a:prstGeom prst="rect">
            <a:avLst/>
          </a:prstGeom>
          <a:solidFill>
            <a:schemeClr val="accent2">
              <a:lumMod val="20000"/>
              <a:lumOff val="80000"/>
            </a:schemeClr>
          </a:solidFill>
        </p:spPr>
        <p:txBody>
          <a:bodyPr wrap="square" rtlCol="0">
            <a:spAutoFit/>
          </a:bodyPr>
          <a:lstStyle/>
          <a:p>
            <a:r>
              <a:rPr lang="en-US" altLang="zh-CN" sz="2000"/>
              <a:t>'123'</a:t>
            </a:r>
            <a:endParaRPr lang="zh-CN" altLang="en-US" sz="2000"/>
          </a:p>
        </p:txBody>
      </p:sp>
      <p:cxnSp>
        <p:nvCxnSpPr>
          <p:cNvPr id="15" name="曲线连接符 14"/>
          <p:cNvCxnSpPr/>
          <p:nvPr/>
        </p:nvCxnSpPr>
        <p:spPr>
          <a:xfrm rot="16200000" flipH="1">
            <a:off x="6158968" y="3755829"/>
            <a:ext cx="1709970" cy="84647"/>
          </a:xfrm>
          <a:prstGeom prst="curvedConnector3">
            <a:avLst>
              <a:gd name="adj1" fmla="val 8409"/>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7" name="左右箭头 16"/>
          <p:cNvSpPr/>
          <p:nvPr/>
        </p:nvSpPr>
        <p:spPr>
          <a:xfrm>
            <a:off x="3995936" y="2420888"/>
            <a:ext cx="1164034" cy="360040"/>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 name="线形标注 1 21"/>
          <p:cNvSpPr/>
          <p:nvPr/>
        </p:nvSpPr>
        <p:spPr>
          <a:xfrm>
            <a:off x="1155235" y="4185086"/>
            <a:ext cx="1868713" cy="936104"/>
          </a:xfrm>
          <a:prstGeom prst="borderCallout1">
            <a:avLst>
              <a:gd name="adj1" fmla="val 18750"/>
              <a:gd name="adj2" fmla="val -8333"/>
              <a:gd name="adj3" fmla="val -215307"/>
              <a:gd name="adj4" fmla="val 36209"/>
            </a:avLst>
          </a:prstGeom>
          <a:solidFill>
            <a:schemeClr val="accent2">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将输入的数字字符串转为数字 </a:t>
            </a:r>
          </a:p>
        </p:txBody>
      </p:sp>
    </p:spTree>
    <p:extLst>
      <p:ext uri="{BB962C8B-B14F-4D97-AF65-F5344CB8AC3E}">
        <p14:creationId xmlns:p14="http://schemas.microsoft.com/office/powerpoint/2010/main" val="210698022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nodeType="after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left)">
                                      <p:cBhvr>
                                        <p:cTn id="10" dur="500"/>
                                        <p:tgtEl>
                                          <p:spTgt spid="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wipe(left)">
                                      <p:cBhvr>
                                        <p:cTn id="15" dur="500"/>
                                        <p:tgtEl>
                                          <p:spTgt spid="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wipe(left)">
                                      <p:cBhvr>
                                        <p:cTn id="25" dur="500"/>
                                        <p:tgtEl>
                                          <p:spTgt spid="6">
                                            <p:txEl>
                                              <p:pRg st="2" end="2"/>
                                            </p:txEl>
                                          </p:spTgt>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6">
                                            <p:txEl>
                                              <p:pRg st="3" end="3"/>
                                            </p:txEl>
                                          </p:spTgt>
                                        </p:tgtEl>
                                        <p:attrNameLst>
                                          <p:attrName>style.visibility</p:attrName>
                                        </p:attrNameLst>
                                      </p:cBhvr>
                                      <p:to>
                                        <p:strVal val="visible"/>
                                      </p:to>
                                    </p:set>
                                    <p:animEffect transition="in" filter="wipe(left)">
                                      <p:cBhvr>
                                        <p:cTn id="29" dur="500"/>
                                        <p:tgtEl>
                                          <p:spTgt spid="6">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barn(inVertical)">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par>
                          <p:cTn id="39" fill="hold">
                            <p:stCondLst>
                              <p:cond delay="0"/>
                            </p:stCondLst>
                            <p:childTnLst>
                              <p:par>
                                <p:cTn id="40" presetID="22" presetClass="entr" presetSubtype="8" fill="hold" nodeType="afterEffect">
                                  <p:stCondLst>
                                    <p:cond delay="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wipe(left)">
                                      <p:cBhvr>
                                        <p:cTn id="42" dur="500"/>
                                        <p:tgtEl>
                                          <p:spTgt spid="1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0">
                                            <p:txEl>
                                              <p:pRg st="1" end="1"/>
                                            </p:txEl>
                                          </p:spTgt>
                                        </p:tgtEl>
                                        <p:attrNameLst>
                                          <p:attrName>style.visibility</p:attrName>
                                        </p:attrNameLst>
                                      </p:cBhvr>
                                      <p:to>
                                        <p:strVal val="visible"/>
                                      </p:to>
                                    </p:set>
                                    <p:animEffect transition="in" filter="wipe(left)">
                                      <p:cBhvr>
                                        <p:cTn id="47" dur="500"/>
                                        <p:tgtEl>
                                          <p:spTgt spid="10">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Effect transition="in" filter="wipe(left)">
                                      <p:cBhvr>
                                        <p:cTn id="52" dur="500"/>
                                        <p:tgtEl>
                                          <p:spTgt spid="12"/>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circle(in)">
                                      <p:cBhvr>
                                        <p:cTn id="57" dur="1000"/>
                                        <p:tgtEl>
                                          <p:spTgt spid="8"/>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childTnLst>
                                </p:cTn>
                              </p:par>
                            </p:childTnLst>
                          </p:cTn>
                        </p:par>
                        <p:par>
                          <p:cTn id="62" fill="hold">
                            <p:stCondLst>
                              <p:cond delay="0"/>
                            </p:stCondLst>
                            <p:childTnLst>
                              <p:par>
                                <p:cTn id="63" presetID="22" presetClass="entr" presetSubtype="8" fill="hold" nodeType="afterEffect">
                                  <p:stCondLst>
                                    <p:cond delay="0"/>
                                  </p:stCondLst>
                                  <p:childTnLst>
                                    <p:set>
                                      <p:cBhvr>
                                        <p:cTn id="64" dur="1" fill="hold">
                                          <p:stCondLst>
                                            <p:cond delay="0"/>
                                          </p:stCondLst>
                                        </p:cTn>
                                        <p:tgtEl>
                                          <p:spTgt spid="13">
                                            <p:txEl>
                                              <p:pRg st="0" end="0"/>
                                            </p:txEl>
                                          </p:spTgt>
                                        </p:tgtEl>
                                        <p:attrNameLst>
                                          <p:attrName>style.visibility</p:attrName>
                                        </p:attrNameLst>
                                      </p:cBhvr>
                                      <p:to>
                                        <p:strVal val="visible"/>
                                      </p:to>
                                    </p:set>
                                    <p:animEffect transition="in" filter="wipe(left)">
                                      <p:cBhvr>
                                        <p:cTn id="65" dur="500"/>
                                        <p:tgtEl>
                                          <p:spTgt spid="13">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wipe(up)">
                                      <p:cBhvr>
                                        <p:cTn id="70" dur="500"/>
                                        <p:tgtEl>
                                          <p:spTgt spid="15"/>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3">
                                            <p:txEl>
                                              <p:pRg st="1" end="1"/>
                                            </p:txEl>
                                          </p:spTgt>
                                        </p:tgtEl>
                                        <p:attrNameLst>
                                          <p:attrName>style.visibility</p:attrName>
                                        </p:attrNameLst>
                                      </p:cBhvr>
                                      <p:to>
                                        <p:strVal val="visible"/>
                                      </p:to>
                                    </p:set>
                                    <p:animEffect transition="in" filter="wipe(left)">
                                      <p:cBhvr>
                                        <p:cTn id="75" dur="500"/>
                                        <p:tgtEl>
                                          <p:spTgt spid="13">
                                            <p:txEl>
                                              <p:pRg st="1" end="1"/>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22"/>
                                        </p:tgtEl>
                                        <p:attrNameLst>
                                          <p:attrName>style.visibility</p:attrName>
                                        </p:attrNameLst>
                                      </p:cBhvr>
                                      <p:to>
                                        <p:strVal val="visible"/>
                                      </p:to>
                                    </p:set>
                                    <p:animEffect transition="in" filter="wipe(left)">
                                      <p:cBhvr>
                                        <p:cTn id="8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2" grpId="0" animBg="1"/>
      <p:bldP spid="13" grpId="0" animBg="1"/>
      <p:bldP spid="8" grpId="0" animBg="1"/>
      <p:bldP spid="17" grpId="0" animBg="1"/>
      <p:bldP spid="2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buFont typeface="Arial" panose="020B0604020202020204" pitchFamily="34" charset="0"/>
              <a:buChar char="•"/>
            </a:pPr>
            <a:r>
              <a:rPr lang="en-US" sz="4000">
                <a:sym typeface="+mn-ea"/>
              </a:rPr>
              <a:t>eval</a:t>
            </a:r>
            <a:r>
              <a:rPr lang="zh-CN" altLang="en-US" sz="4000">
                <a:sym typeface="+mn-ea"/>
              </a:rPr>
              <a:t>函数的应用</a:t>
            </a:r>
            <a:r>
              <a:rPr lang="en-US" altLang="zh-CN" sz="4000">
                <a:sym typeface="+mn-ea"/>
              </a:rPr>
              <a:t>2</a:t>
            </a:r>
            <a:endParaRPr lang="en-US" sz="2800" dirty="0"/>
          </a:p>
        </p:txBody>
      </p:sp>
      <p:sp>
        <p:nvSpPr>
          <p:cNvPr id="3" name="Content Placeholder 2"/>
          <p:cNvSpPr>
            <a:spLocks noGrp="1"/>
          </p:cNvSpPr>
          <p:nvPr>
            <p:ph idx="1"/>
          </p:nvPr>
        </p:nvSpPr>
        <p:spPr>
          <a:xfrm>
            <a:off x="323528" y="1845066"/>
            <a:ext cx="2914423" cy="543318"/>
          </a:xfrm>
        </p:spPr>
        <p:txBody>
          <a:bodyPr>
            <a:normAutofit/>
          </a:bodyPr>
          <a:lstStyle/>
          <a:p>
            <a:pPr>
              <a:lnSpc>
                <a:spcPct val="100000"/>
              </a:lnSpc>
              <a:spcBef>
                <a:spcPts val="0"/>
              </a:spcBef>
            </a:pPr>
            <a:r>
              <a:rPr lang="zh-CN" altLang="en-US" sz="2400">
                <a:solidFill>
                  <a:srgbClr val="0070C0"/>
                </a:solidFill>
                <a:latin typeface="微软雅黑" panose="020B0503020204020204" pitchFamily="34" charset="-122"/>
                <a:ea typeface="微软雅黑" panose="020B0503020204020204" pitchFamily="34" charset="-122"/>
              </a:rPr>
              <a:t>计算输入的公式</a:t>
            </a:r>
            <a:endParaRPr lang="en-US" altLang="zh-CN" sz="2400">
              <a:solidFill>
                <a:srgbClr val="0070C0"/>
              </a:solidFill>
              <a:latin typeface="微软雅黑" panose="020B0503020204020204" pitchFamily="34" charset="-122"/>
              <a:ea typeface="微软雅黑" panose="020B0503020204020204" pitchFamily="34" charset="-122"/>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31</a:t>
            </a:fld>
            <a:endParaRPr lang="zh-CN" altLang="en-US"/>
          </a:p>
        </p:txBody>
      </p:sp>
      <p:sp>
        <p:nvSpPr>
          <p:cNvPr id="6" name="Content Placeholder 2"/>
          <p:cNvSpPr txBox="1">
            <a:spLocks/>
          </p:cNvSpPr>
          <p:nvPr/>
        </p:nvSpPr>
        <p:spPr>
          <a:xfrm>
            <a:off x="4860033" y="2573500"/>
            <a:ext cx="3384376" cy="855500"/>
          </a:xfrm>
          <a:prstGeom prst="rect">
            <a:avLst/>
          </a:prstGeom>
          <a:ln>
            <a:solidFill>
              <a:schemeClr val="accent2"/>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000">
                <a:latin typeface="微软雅黑" panose="020B0503020204020204" pitchFamily="34" charset="-122"/>
                <a:ea typeface="微软雅黑" panose="020B0503020204020204" pitchFamily="34" charset="-122"/>
              </a:rPr>
              <a:t>&gt;&gt;&gt; x = input('</a:t>
            </a:r>
            <a:r>
              <a:rPr lang="zh-CN" altLang="en-US" sz="2000">
                <a:latin typeface="微软雅黑" panose="020B0503020204020204" pitchFamily="34" charset="-122"/>
                <a:ea typeface="微软雅黑" panose="020B0503020204020204" pitchFamily="34" charset="-122"/>
              </a:rPr>
              <a:t>输入公式</a:t>
            </a:r>
            <a:r>
              <a:rPr lang="en-US" altLang="zh-CN" sz="2000">
                <a:latin typeface="微软雅黑" panose="020B0503020204020204" pitchFamily="34" charset="-122"/>
                <a:ea typeface="微软雅黑" panose="020B0503020204020204" pitchFamily="34" charset="-122"/>
              </a:rPr>
              <a:t> ')</a:t>
            </a:r>
          </a:p>
          <a:p>
            <a:pPr marL="0" indent="0">
              <a:lnSpc>
                <a:spcPct val="100000"/>
              </a:lnSpc>
              <a:spcBef>
                <a:spcPts val="0"/>
              </a:spcBef>
              <a:buFont typeface="Arial" panose="020B0604020202020204" pitchFamily="34" charset="0"/>
              <a:buNone/>
            </a:pPr>
            <a:r>
              <a:rPr lang="zh-CN" altLang="en-US" sz="2000">
                <a:solidFill>
                  <a:srgbClr val="00B0F0"/>
                </a:solidFill>
                <a:latin typeface="微软雅黑" panose="020B0503020204020204" pitchFamily="34" charset="-122"/>
                <a:ea typeface="微软雅黑" panose="020B0503020204020204" pitchFamily="34" charset="-122"/>
              </a:rPr>
              <a:t>输入公式</a:t>
            </a:r>
            <a:r>
              <a:rPr lang="en-US" altLang="zh-CN" sz="2000">
                <a:solidFill>
                  <a:srgbClr val="00B0F0"/>
                </a:solidFill>
                <a:latin typeface="微软雅黑" panose="020B0503020204020204" pitchFamily="34" charset="-122"/>
                <a:ea typeface="微软雅黑" panose="020B0503020204020204" pitchFamily="34" charset="-122"/>
              </a:rPr>
              <a:t> </a:t>
            </a:r>
          </a:p>
        </p:txBody>
      </p:sp>
      <p:sp>
        <p:nvSpPr>
          <p:cNvPr id="7" name="矩形 6"/>
          <p:cNvSpPr/>
          <p:nvPr/>
        </p:nvSpPr>
        <p:spPr>
          <a:xfrm>
            <a:off x="6145204" y="2929178"/>
            <a:ext cx="865943" cy="369332"/>
          </a:xfrm>
          <a:prstGeom prst="rect">
            <a:avLst/>
          </a:prstGeom>
          <a:solidFill>
            <a:schemeClr val="accent3">
              <a:lumMod val="40000"/>
              <a:lumOff val="60000"/>
            </a:schemeClr>
          </a:solidFill>
        </p:spPr>
        <p:txBody>
          <a:bodyPr wrap="none">
            <a:spAutoFit/>
          </a:bodyPr>
          <a:lstStyle/>
          <a:p>
            <a:r>
              <a:rPr lang="en-US" altLang="zh-CN">
                <a:solidFill>
                  <a:srgbClr val="00B0F0"/>
                </a:solidFill>
                <a:latin typeface="微软雅黑" panose="020B0503020204020204" pitchFamily="34" charset="-122"/>
                <a:ea typeface="微软雅黑" panose="020B0503020204020204" pitchFamily="34" charset="-122"/>
              </a:rPr>
              <a:t>1+3</a:t>
            </a:r>
            <a:r>
              <a:rPr lang="zh-CN" altLang="en-US">
                <a:solidFill>
                  <a:srgbClr val="00B0F0"/>
                </a:solidFill>
                <a:latin typeface="微软雅黑" panose="020B0503020204020204" pitchFamily="34" charset="-122"/>
                <a:ea typeface="微软雅黑" panose="020B0503020204020204" pitchFamily="34" charset="-122"/>
              </a:rPr>
              <a:t>*</a:t>
            </a:r>
            <a:r>
              <a:rPr lang="en-US" altLang="zh-CN">
                <a:solidFill>
                  <a:srgbClr val="00B0F0"/>
                </a:solidFill>
                <a:latin typeface="微软雅黑" panose="020B0503020204020204" pitchFamily="34" charset="-122"/>
                <a:ea typeface="微软雅黑" panose="020B0503020204020204" pitchFamily="34" charset="-122"/>
              </a:rPr>
              <a:t>9</a:t>
            </a:r>
          </a:p>
        </p:txBody>
      </p:sp>
      <p:sp>
        <p:nvSpPr>
          <p:cNvPr id="9" name="Content Placeholder 2"/>
          <p:cNvSpPr txBox="1">
            <a:spLocks/>
          </p:cNvSpPr>
          <p:nvPr/>
        </p:nvSpPr>
        <p:spPr>
          <a:xfrm>
            <a:off x="281897" y="2554207"/>
            <a:ext cx="3930063" cy="1390114"/>
          </a:xfrm>
          <a:prstGeom prst="rect">
            <a:avLst/>
          </a:prstGeom>
          <a:ln>
            <a:solidFill>
              <a:schemeClr val="accent2"/>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000">
                <a:latin typeface="微软雅黑" panose="020B0503020204020204" pitchFamily="34" charset="-122"/>
                <a:ea typeface="微软雅黑" panose="020B0503020204020204" pitchFamily="34" charset="-122"/>
              </a:rPr>
              <a:t>&gt;&gt;&gt; x = </a:t>
            </a:r>
            <a:r>
              <a:rPr lang="en-US" altLang="zh-CN" sz="2000">
                <a:solidFill>
                  <a:srgbClr val="FF0000"/>
                </a:solidFill>
                <a:latin typeface="微软雅黑" panose="020B0503020204020204" pitchFamily="34" charset="-122"/>
                <a:ea typeface="微软雅黑" panose="020B0503020204020204" pitchFamily="34" charset="-122"/>
              </a:rPr>
              <a:t>eval</a:t>
            </a:r>
            <a:r>
              <a:rPr lang="en-US" altLang="zh-CN" sz="2000">
                <a:latin typeface="微软雅黑" panose="020B0503020204020204" pitchFamily="34" charset="-122"/>
                <a:ea typeface="微软雅黑" panose="020B0503020204020204" pitchFamily="34" charset="-122"/>
              </a:rPr>
              <a:t>(input('</a:t>
            </a:r>
            <a:r>
              <a:rPr lang="zh-CN" altLang="en-US" sz="2000">
                <a:latin typeface="微软雅黑" panose="020B0503020204020204" pitchFamily="34" charset="-122"/>
                <a:ea typeface="微软雅黑" panose="020B0503020204020204" pitchFamily="34" charset="-122"/>
              </a:rPr>
              <a:t>输入公式</a:t>
            </a:r>
            <a:r>
              <a:rPr lang="en-US" altLang="zh-CN" sz="2000">
                <a:latin typeface="微软雅黑" panose="020B0503020204020204" pitchFamily="34" charset="-122"/>
                <a:ea typeface="微软雅黑" panose="020B0503020204020204" pitchFamily="34" charset="-122"/>
              </a:rPr>
              <a:t> '))</a:t>
            </a:r>
          </a:p>
          <a:p>
            <a:pPr marL="0" indent="0">
              <a:lnSpc>
                <a:spcPct val="100000"/>
              </a:lnSpc>
              <a:spcBef>
                <a:spcPts val="0"/>
              </a:spcBef>
              <a:buFont typeface="Arial" panose="020B0604020202020204" pitchFamily="34" charset="0"/>
              <a:buNone/>
            </a:pPr>
            <a:r>
              <a:rPr lang="zh-CN" altLang="en-US" sz="2000">
                <a:solidFill>
                  <a:srgbClr val="00B0F0"/>
                </a:solidFill>
                <a:latin typeface="微软雅黑" panose="020B0503020204020204" pitchFamily="34" charset="-122"/>
                <a:ea typeface="微软雅黑" panose="020B0503020204020204" pitchFamily="34" charset="-122"/>
              </a:rPr>
              <a:t>输入公式</a:t>
            </a:r>
            <a:r>
              <a:rPr lang="en-US" altLang="zh-CN" sz="2000">
                <a:solidFill>
                  <a:srgbClr val="00B0F0"/>
                </a:solidFill>
                <a:latin typeface="微软雅黑" panose="020B0503020204020204" pitchFamily="34" charset="-122"/>
                <a:ea typeface="微软雅黑" panose="020B0503020204020204" pitchFamily="34" charset="-122"/>
              </a:rPr>
              <a:t> </a:t>
            </a:r>
          </a:p>
          <a:p>
            <a:pPr marL="0" indent="0">
              <a:lnSpc>
                <a:spcPct val="100000"/>
              </a:lnSpc>
              <a:spcBef>
                <a:spcPts val="0"/>
              </a:spcBef>
              <a:buFont typeface="Arial" panose="020B0604020202020204" pitchFamily="34" charset="0"/>
              <a:buNone/>
            </a:pPr>
            <a:r>
              <a:rPr lang="en-US" altLang="zh-CN" sz="2000">
                <a:latin typeface="微软雅黑" panose="020B0503020204020204" pitchFamily="34" charset="-122"/>
                <a:ea typeface="微软雅黑" panose="020B0503020204020204" pitchFamily="34" charset="-122"/>
              </a:rPr>
              <a:t>&gt;&gt;&gt; x</a:t>
            </a:r>
          </a:p>
          <a:p>
            <a:pPr marL="0" indent="0">
              <a:lnSpc>
                <a:spcPct val="100000"/>
              </a:lnSpc>
              <a:spcBef>
                <a:spcPts val="0"/>
              </a:spcBef>
              <a:buFont typeface="Arial" panose="020B0604020202020204" pitchFamily="34" charset="0"/>
              <a:buNone/>
            </a:pPr>
            <a:r>
              <a:rPr lang="en-US" altLang="zh-CN" sz="2000">
                <a:solidFill>
                  <a:srgbClr val="00B0F0"/>
                </a:solidFill>
                <a:latin typeface="微软雅黑" panose="020B0503020204020204" pitchFamily="34" charset="-122"/>
                <a:ea typeface="微软雅黑" panose="020B0503020204020204" pitchFamily="34" charset="-122"/>
              </a:rPr>
              <a:t>28</a:t>
            </a:r>
            <a:endParaRPr lang="en-US" altLang="zh-CN" sz="2000" dirty="0">
              <a:solidFill>
                <a:srgbClr val="00B0F0"/>
              </a:solidFill>
              <a:latin typeface="微软雅黑" panose="020B0503020204020204" pitchFamily="34" charset="-122"/>
              <a:ea typeface="微软雅黑" panose="020B0503020204020204" pitchFamily="34" charset="-122"/>
            </a:endParaRPr>
          </a:p>
        </p:txBody>
      </p:sp>
      <p:sp>
        <p:nvSpPr>
          <p:cNvPr id="11" name="矩形 10"/>
          <p:cNvSpPr/>
          <p:nvPr/>
        </p:nvSpPr>
        <p:spPr>
          <a:xfrm>
            <a:off x="1547664" y="2879932"/>
            <a:ext cx="865943" cy="369332"/>
          </a:xfrm>
          <a:prstGeom prst="rect">
            <a:avLst/>
          </a:prstGeom>
          <a:solidFill>
            <a:schemeClr val="accent3">
              <a:lumMod val="40000"/>
              <a:lumOff val="60000"/>
            </a:schemeClr>
          </a:solidFill>
        </p:spPr>
        <p:txBody>
          <a:bodyPr wrap="none">
            <a:spAutoFit/>
          </a:bodyPr>
          <a:lstStyle/>
          <a:p>
            <a:r>
              <a:rPr lang="en-US" altLang="zh-CN">
                <a:solidFill>
                  <a:srgbClr val="00B0F0"/>
                </a:solidFill>
                <a:latin typeface="微软雅黑" panose="020B0503020204020204" pitchFamily="34" charset="-122"/>
                <a:ea typeface="微软雅黑" panose="020B0503020204020204" pitchFamily="34" charset="-122"/>
              </a:rPr>
              <a:t>1+3</a:t>
            </a:r>
            <a:r>
              <a:rPr lang="zh-CN" altLang="en-US">
                <a:solidFill>
                  <a:srgbClr val="00B0F0"/>
                </a:solidFill>
                <a:latin typeface="微软雅黑" panose="020B0503020204020204" pitchFamily="34" charset="-122"/>
                <a:ea typeface="微软雅黑" panose="020B0503020204020204" pitchFamily="34" charset="-122"/>
              </a:rPr>
              <a:t>*</a:t>
            </a:r>
            <a:r>
              <a:rPr lang="en-US" altLang="zh-CN">
                <a:solidFill>
                  <a:srgbClr val="00B0F0"/>
                </a:solidFill>
                <a:latin typeface="微软雅黑" panose="020B0503020204020204" pitchFamily="34" charset="-122"/>
                <a:ea typeface="微软雅黑" panose="020B0503020204020204" pitchFamily="34" charset="-122"/>
              </a:rPr>
              <a:t>9</a:t>
            </a:r>
            <a:endParaRPr lang="en-US" altLang="zh-CN" dirty="0">
              <a:solidFill>
                <a:srgbClr val="00B0F0"/>
              </a:solidFill>
              <a:latin typeface="微软雅黑" panose="020B0503020204020204" pitchFamily="34" charset="-122"/>
              <a:ea typeface="微软雅黑" panose="020B0503020204020204" pitchFamily="34" charset="-122"/>
            </a:endParaRPr>
          </a:p>
        </p:txBody>
      </p:sp>
      <p:sp>
        <p:nvSpPr>
          <p:cNvPr id="5" name="矩形 4"/>
          <p:cNvSpPr/>
          <p:nvPr/>
        </p:nvSpPr>
        <p:spPr>
          <a:xfrm>
            <a:off x="6049566" y="3574989"/>
            <a:ext cx="984565" cy="369332"/>
          </a:xfrm>
          <a:prstGeom prst="rect">
            <a:avLst/>
          </a:prstGeom>
          <a:solidFill>
            <a:schemeClr val="accent2">
              <a:lumMod val="20000"/>
              <a:lumOff val="80000"/>
            </a:schemeClr>
          </a:solidFill>
        </p:spPr>
        <p:txBody>
          <a:bodyPr wrap="none">
            <a:spAutoFit/>
          </a:bodyPr>
          <a:lstStyle/>
          <a:p>
            <a:r>
              <a:rPr lang="en-US" altLang="zh-CN">
                <a:solidFill>
                  <a:srgbClr val="00B0F0"/>
                </a:solidFill>
                <a:latin typeface="微软雅黑" panose="020B0503020204020204" pitchFamily="34" charset="-122"/>
                <a:ea typeface="微软雅黑" panose="020B0503020204020204" pitchFamily="34" charset="-122"/>
              </a:rPr>
              <a:t>'1+3</a:t>
            </a:r>
            <a:r>
              <a:rPr lang="zh-CN" altLang="en-US">
                <a:solidFill>
                  <a:srgbClr val="00B0F0"/>
                </a:solidFill>
                <a:latin typeface="微软雅黑" panose="020B0503020204020204" pitchFamily="34" charset="-122"/>
                <a:ea typeface="微软雅黑" panose="020B0503020204020204" pitchFamily="34" charset="-122"/>
              </a:rPr>
              <a:t>*</a:t>
            </a:r>
            <a:r>
              <a:rPr lang="en-US" altLang="zh-CN">
                <a:solidFill>
                  <a:srgbClr val="00B0F0"/>
                </a:solidFill>
                <a:latin typeface="微软雅黑" panose="020B0503020204020204" pitchFamily="34" charset="-122"/>
                <a:ea typeface="微软雅黑" panose="020B0503020204020204" pitchFamily="34" charset="-122"/>
              </a:rPr>
              <a:t>9'</a:t>
            </a:r>
          </a:p>
        </p:txBody>
      </p:sp>
      <p:sp>
        <p:nvSpPr>
          <p:cNvPr id="10" name="Content Placeholder 2"/>
          <p:cNvSpPr txBox="1">
            <a:spLocks/>
          </p:cNvSpPr>
          <p:nvPr/>
        </p:nvSpPr>
        <p:spPr>
          <a:xfrm>
            <a:off x="4728440" y="4726393"/>
            <a:ext cx="2232926" cy="792088"/>
          </a:xfrm>
          <a:prstGeom prst="rect">
            <a:avLst/>
          </a:prstGeom>
          <a:ln>
            <a:solidFill>
              <a:schemeClr val="accent2"/>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altLang="zh-CN" sz="2000">
                <a:latin typeface="微软雅黑" panose="020B0503020204020204" pitchFamily="34" charset="-122"/>
                <a:ea typeface="微软雅黑" panose="020B0503020204020204" pitchFamily="34" charset="-122"/>
              </a:rPr>
              <a:t>&gt;&gt;&gt; x = </a:t>
            </a:r>
            <a:r>
              <a:rPr lang="en-US" altLang="zh-CN" sz="2000">
                <a:solidFill>
                  <a:srgbClr val="00B050"/>
                </a:solidFill>
                <a:latin typeface="微软雅黑" panose="020B0503020204020204" pitchFamily="34" charset="-122"/>
                <a:ea typeface="微软雅黑" panose="020B0503020204020204" pitchFamily="34" charset="-122"/>
              </a:rPr>
              <a:t>eval(x)</a:t>
            </a:r>
          </a:p>
          <a:p>
            <a:pPr marL="0" indent="0">
              <a:lnSpc>
                <a:spcPct val="100000"/>
              </a:lnSpc>
              <a:spcBef>
                <a:spcPts val="0"/>
              </a:spcBef>
              <a:buFont typeface="Arial" panose="020B0604020202020204" pitchFamily="34" charset="0"/>
              <a:buNone/>
            </a:pPr>
            <a:r>
              <a:rPr lang="en-US" altLang="zh-CN" sz="2000">
                <a:solidFill>
                  <a:srgbClr val="00B0F0"/>
                </a:solidFill>
                <a:latin typeface="微软雅黑" panose="020B0503020204020204" pitchFamily="34" charset="-122"/>
                <a:ea typeface="微软雅黑" panose="020B0503020204020204" pitchFamily="34" charset="-122"/>
              </a:rPr>
              <a:t>28 </a:t>
            </a:r>
          </a:p>
        </p:txBody>
      </p:sp>
      <p:cxnSp>
        <p:nvCxnSpPr>
          <p:cNvPr id="12" name="曲线连接符 11"/>
          <p:cNvCxnSpPr/>
          <p:nvPr/>
        </p:nvCxnSpPr>
        <p:spPr>
          <a:xfrm rot="5400000">
            <a:off x="6158348" y="4294147"/>
            <a:ext cx="896878" cy="109132"/>
          </a:xfrm>
          <a:prstGeom prst="curvedConnector3">
            <a:avLst>
              <a:gd name="adj1" fmla="val 50000"/>
            </a:avLst>
          </a:prstGeom>
          <a:ln w="38100">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3" name="矩形 12"/>
          <p:cNvSpPr/>
          <p:nvPr/>
        </p:nvSpPr>
        <p:spPr>
          <a:xfrm>
            <a:off x="7155192" y="4726393"/>
            <a:ext cx="473206" cy="369332"/>
          </a:xfrm>
          <a:prstGeom prst="rect">
            <a:avLst/>
          </a:prstGeom>
          <a:solidFill>
            <a:schemeClr val="bg1"/>
          </a:solidFill>
        </p:spPr>
        <p:txBody>
          <a:bodyPr wrap="none">
            <a:spAutoFit/>
          </a:bodyPr>
          <a:lstStyle/>
          <a:p>
            <a:r>
              <a:rPr lang="en-US" altLang="zh-CN">
                <a:latin typeface="微软雅黑" panose="020B0503020204020204" pitchFamily="34" charset="-122"/>
                <a:ea typeface="微软雅黑" panose="020B0503020204020204" pitchFamily="34" charset="-122"/>
              </a:rPr>
              <a:t>x=</a:t>
            </a:r>
            <a:endParaRPr lang="en-US" altLang="zh-CN" b="1">
              <a:solidFill>
                <a:srgbClr val="00B050"/>
              </a:solidFill>
              <a:latin typeface="微软雅黑" panose="020B0503020204020204" pitchFamily="34" charset="-122"/>
              <a:ea typeface="微软雅黑" panose="020B0503020204020204" pitchFamily="34" charset="-122"/>
            </a:endParaRPr>
          </a:p>
        </p:txBody>
      </p:sp>
      <p:sp>
        <p:nvSpPr>
          <p:cNvPr id="14" name="矩形 13"/>
          <p:cNvSpPr/>
          <p:nvPr/>
        </p:nvSpPr>
        <p:spPr>
          <a:xfrm>
            <a:off x="7628398" y="4726393"/>
            <a:ext cx="901209" cy="369332"/>
          </a:xfrm>
          <a:prstGeom prst="rect">
            <a:avLst/>
          </a:prstGeom>
          <a:solidFill>
            <a:schemeClr val="accent1">
              <a:lumMod val="20000"/>
              <a:lumOff val="80000"/>
            </a:schemeClr>
          </a:solidFill>
          <a:ln>
            <a:solidFill>
              <a:schemeClr val="accent1"/>
            </a:solidFill>
          </a:ln>
        </p:spPr>
        <p:txBody>
          <a:bodyPr wrap="none">
            <a:spAutoFit/>
          </a:bodyPr>
          <a:lstStyle/>
          <a:p>
            <a:r>
              <a:rPr lang="en-US" altLang="zh-CN" b="1">
                <a:solidFill>
                  <a:srgbClr val="00B050"/>
                </a:solidFill>
                <a:latin typeface="微软雅黑" panose="020B0503020204020204" pitchFamily="34" charset="-122"/>
                <a:ea typeface="微软雅黑" panose="020B0503020204020204" pitchFamily="34" charset="-122"/>
              </a:rPr>
              <a:t>1+3</a:t>
            </a:r>
            <a:r>
              <a:rPr lang="zh-CN" altLang="en-US" b="1">
                <a:solidFill>
                  <a:srgbClr val="00B050"/>
                </a:solidFill>
                <a:latin typeface="微软雅黑" panose="020B0503020204020204" pitchFamily="34" charset="-122"/>
                <a:ea typeface="微软雅黑" panose="020B0503020204020204" pitchFamily="34" charset="-122"/>
              </a:rPr>
              <a:t>*</a:t>
            </a:r>
            <a:r>
              <a:rPr lang="en-US" altLang="zh-CN" b="1">
                <a:solidFill>
                  <a:srgbClr val="00B050"/>
                </a:solidFill>
                <a:latin typeface="微软雅黑" panose="020B0503020204020204" pitchFamily="34" charset="-122"/>
                <a:ea typeface="微软雅黑" panose="020B0503020204020204" pitchFamily="34" charset="-122"/>
              </a:rPr>
              <a:t>9</a:t>
            </a:r>
          </a:p>
        </p:txBody>
      </p:sp>
      <p:sp>
        <p:nvSpPr>
          <p:cNvPr id="16" name="线形标注 1 15"/>
          <p:cNvSpPr/>
          <p:nvPr/>
        </p:nvSpPr>
        <p:spPr>
          <a:xfrm>
            <a:off x="971600" y="4869160"/>
            <a:ext cx="1868713" cy="936104"/>
          </a:xfrm>
          <a:prstGeom prst="borderCallout1">
            <a:avLst>
              <a:gd name="adj1" fmla="val 18750"/>
              <a:gd name="adj2" fmla="val -8333"/>
              <a:gd name="adj3" fmla="val -215307"/>
              <a:gd name="adj4" fmla="val 36209"/>
            </a:avLst>
          </a:prstGeom>
          <a:solidFill>
            <a:schemeClr val="accent2">
              <a:lumMod val="20000"/>
              <a:lumOff val="8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solidFill>
                  <a:schemeClr val="tx1"/>
                </a:solidFill>
              </a:rPr>
              <a:t>执行输入的公式或命令</a:t>
            </a:r>
          </a:p>
        </p:txBody>
      </p:sp>
    </p:spTree>
    <p:extLst>
      <p:ext uri="{BB962C8B-B14F-4D97-AF65-F5344CB8AC3E}">
        <p14:creationId xmlns:p14="http://schemas.microsoft.com/office/powerpoint/2010/main" val="189918716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22" presetClass="entr" presetSubtype="8" fill="hold" nodeType="with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wipe(left)">
                                      <p:cBhvr>
                                        <p:cTn id="14" dur="500"/>
                                        <p:tgtEl>
                                          <p:spTgt spid="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animEffect transition="in" filter="wipe(left)">
                                      <p:cBhvr>
                                        <p:cTn id="19" dur="500"/>
                                        <p:tgtEl>
                                          <p:spTgt spid="9">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9">
                                            <p:txEl>
                                              <p:pRg st="2" end="2"/>
                                            </p:txEl>
                                          </p:spTgt>
                                        </p:tgtEl>
                                        <p:attrNameLst>
                                          <p:attrName>style.visibility</p:attrName>
                                        </p:attrNameLst>
                                      </p:cBhvr>
                                      <p:to>
                                        <p:strVal val="visible"/>
                                      </p:to>
                                    </p:set>
                                    <p:animEffect transition="in" filter="wipe(left)">
                                      <p:cBhvr>
                                        <p:cTn id="29" dur="500"/>
                                        <p:tgtEl>
                                          <p:spTgt spid="9">
                                            <p:txEl>
                                              <p:pRg st="2" end="2"/>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9">
                                            <p:txEl>
                                              <p:pRg st="3" end="3"/>
                                            </p:txEl>
                                          </p:spTgt>
                                        </p:tgtEl>
                                        <p:attrNameLst>
                                          <p:attrName>style.visibility</p:attrName>
                                        </p:attrNameLst>
                                      </p:cBhvr>
                                      <p:to>
                                        <p:strVal val="visible"/>
                                      </p:to>
                                    </p:set>
                                    <p:animEffect transition="in" filter="wipe(left)">
                                      <p:cBhvr>
                                        <p:cTn id="34" dur="500"/>
                                        <p:tgtEl>
                                          <p:spTgt spid="9">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par>
                          <p:cTn id="39" fill="hold">
                            <p:stCondLst>
                              <p:cond delay="0"/>
                            </p:stCondLst>
                            <p:childTnLst>
                              <p:par>
                                <p:cTn id="40" presetID="22" presetClass="entr" presetSubtype="8" fill="hold" nodeType="afterEffect">
                                  <p:stCondLst>
                                    <p:cond delay="0"/>
                                  </p:stCondLst>
                                  <p:childTnLst>
                                    <p:set>
                                      <p:cBhvr>
                                        <p:cTn id="41" dur="1" fill="hold">
                                          <p:stCondLst>
                                            <p:cond delay="0"/>
                                          </p:stCondLst>
                                        </p:cTn>
                                        <p:tgtEl>
                                          <p:spTgt spid="6">
                                            <p:txEl>
                                              <p:pRg st="0" end="0"/>
                                            </p:txEl>
                                          </p:spTgt>
                                        </p:tgtEl>
                                        <p:attrNameLst>
                                          <p:attrName>style.visibility</p:attrName>
                                        </p:attrNameLst>
                                      </p:cBhvr>
                                      <p:to>
                                        <p:strVal val="visible"/>
                                      </p:to>
                                    </p:set>
                                    <p:animEffect transition="in" filter="wipe(left)">
                                      <p:cBhvr>
                                        <p:cTn id="42" dur="500"/>
                                        <p:tgtEl>
                                          <p:spTgt spid="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xEl>
                                              <p:pRg st="1" end="1"/>
                                            </p:txEl>
                                          </p:spTgt>
                                        </p:tgtEl>
                                        <p:attrNameLst>
                                          <p:attrName>style.visibility</p:attrName>
                                        </p:attrNameLst>
                                      </p:cBhvr>
                                      <p:to>
                                        <p:strVal val="visible"/>
                                      </p:to>
                                    </p:set>
                                    <p:animEffect transition="in" filter="wipe(left)">
                                      <p:cBhvr>
                                        <p:cTn id="47" dur="500"/>
                                        <p:tgtEl>
                                          <p:spTgt spid="6">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wipe(left)">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barn(inVertical)">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childTnLst>
                                </p:cTn>
                              </p:par>
                            </p:childTnLst>
                          </p:cTn>
                        </p:par>
                        <p:par>
                          <p:cTn id="62" fill="hold">
                            <p:stCondLst>
                              <p:cond delay="0"/>
                            </p:stCondLst>
                            <p:childTnLst>
                              <p:par>
                                <p:cTn id="63" presetID="22" presetClass="entr" presetSubtype="8" fill="hold" nodeType="afterEffect">
                                  <p:stCondLst>
                                    <p:cond delay="0"/>
                                  </p:stCondLst>
                                  <p:childTnLst>
                                    <p:set>
                                      <p:cBhvr>
                                        <p:cTn id="64" dur="1" fill="hold">
                                          <p:stCondLst>
                                            <p:cond delay="0"/>
                                          </p:stCondLst>
                                        </p:cTn>
                                        <p:tgtEl>
                                          <p:spTgt spid="10">
                                            <p:txEl>
                                              <p:pRg st="0" end="0"/>
                                            </p:txEl>
                                          </p:spTgt>
                                        </p:tgtEl>
                                        <p:attrNameLst>
                                          <p:attrName>style.visibility</p:attrName>
                                        </p:attrNameLst>
                                      </p:cBhvr>
                                      <p:to>
                                        <p:strVal val="visible"/>
                                      </p:to>
                                    </p:set>
                                    <p:animEffect transition="in" filter="wipe(left)">
                                      <p:cBhvr>
                                        <p:cTn id="65" dur="500"/>
                                        <p:tgtEl>
                                          <p:spTgt spid="10">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1" fill="hold" nodeType="click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wipe(up)">
                                      <p:cBhvr>
                                        <p:cTn id="70" dur="500"/>
                                        <p:tgtEl>
                                          <p:spTgt spid="12"/>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21" fill="hold" grpId="0" nodeType="clickEffect">
                                  <p:stCondLst>
                                    <p:cond delay="0"/>
                                  </p:stCondLst>
                                  <p:childTnLst>
                                    <p:set>
                                      <p:cBhvr>
                                        <p:cTn id="74" dur="1" fill="hold">
                                          <p:stCondLst>
                                            <p:cond delay="0"/>
                                          </p:stCondLst>
                                        </p:cTn>
                                        <p:tgtEl>
                                          <p:spTgt spid="13"/>
                                        </p:tgtEl>
                                        <p:attrNameLst>
                                          <p:attrName>style.visibility</p:attrName>
                                        </p:attrNameLst>
                                      </p:cBhvr>
                                      <p:to>
                                        <p:strVal val="visible"/>
                                      </p:to>
                                    </p:set>
                                    <p:animEffect transition="in" filter="barn(inVertical)">
                                      <p:cBhvr>
                                        <p:cTn id="75" dur="500"/>
                                        <p:tgtEl>
                                          <p:spTgt spid="13"/>
                                        </p:tgtEl>
                                      </p:cBhvr>
                                    </p:animEffect>
                                  </p:childTnLst>
                                </p:cTn>
                              </p:par>
                            </p:childTnLst>
                          </p:cTn>
                        </p:par>
                        <p:par>
                          <p:cTn id="76" fill="hold">
                            <p:stCondLst>
                              <p:cond delay="500"/>
                            </p:stCondLst>
                            <p:childTnLst>
                              <p:par>
                                <p:cTn id="77" presetID="16" presetClass="entr" presetSubtype="21" fill="hold" grpId="0" nodeType="afterEffect">
                                  <p:stCondLst>
                                    <p:cond delay="0"/>
                                  </p:stCondLst>
                                  <p:childTnLst>
                                    <p:set>
                                      <p:cBhvr>
                                        <p:cTn id="78" dur="1" fill="hold">
                                          <p:stCondLst>
                                            <p:cond delay="0"/>
                                          </p:stCondLst>
                                        </p:cTn>
                                        <p:tgtEl>
                                          <p:spTgt spid="14"/>
                                        </p:tgtEl>
                                        <p:attrNameLst>
                                          <p:attrName>style.visibility</p:attrName>
                                        </p:attrNameLst>
                                      </p:cBhvr>
                                      <p:to>
                                        <p:strVal val="visible"/>
                                      </p:to>
                                    </p:set>
                                    <p:animEffect transition="in" filter="barn(inVertical)">
                                      <p:cBhvr>
                                        <p:cTn id="79" dur="500"/>
                                        <p:tgtEl>
                                          <p:spTgt spid="14"/>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10">
                                            <p:txEl>
                                              <p:pRg st="1" end="1"/>
                                            </p:txEl>
                                          </p:spTgt>
                                        </p:tgtEl>
                                        <p:attrNameLst>
                                          <p:attrName>style.visibility</p:attrName>
                                        </p:attrNameLst>
                                      </p:cBhvr>
                                      <p:to>
                                        <p:strVal val="visible"/>
                                      </p:to>
                                    </p:set>
                                    <p:animEffect transition="in" filter="wipe(left)">
                                      <p:cBhvr>
                                        <p:cTn id="84" dur="500"/>
                                        <p:tgtEl>
                                          <p:spTgt spid="10">
                                            <p:txEl>
                                              <p:pRg st="1" end="1"/>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6"/>
                                        </p:tgtEl>
                                        <p:attrNameLst>
                                          <p:attrName>style.visibility</p:attrName>
                                        </p:attrNameLst>
                                      </p:cBhvr>
                                      <p:to>
                                        <p:strVal val="visible"/>
                                      </p:to>
                                    </p:set>
                                    <p:animEffect transition="in" filter="wipe(left)">
                                      <p:cBhvr>
                                        <p:cTn id="8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7" grpId="0" animBg="1"/>
      <p:bldP spid="9" grpId="0" animBg="1"/>
      <p:bldP spid="11" grpId="0" animBg="1"/>
      <p:bldP spid="5" grpId="0" animBg="1"/>
      <p:bldP spid="10" grpId="0" animBg="1"/>
      <p:bldP spid="13" grpId="0" animBg="1"/>
      <p:bldP spid="14" grpId="0" animBg="1"/>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565CE74E-AB26-4998-AD42-012C4C1AD076}" type="slidenum">
              <a:rPr lang="zh-CN" altLang="en-US" smtClean="0"/>
              <a:t>32</a:t>
            </a:fld>
            <a:endParaRPr lang="zh-CN" altLang="en-US"/>
          </a:p>
        </p:txBody>
      </p:sp>
      <p:sp>
        <p:nvSpPr>
          <p:cNvPr id="6" name="文本框 5"/>
          <p:cNvSpPr txBox="1"/>
          <p:nvPr>
            <p:custDataLst>
              <p:tags r:id="rId2"/>
            </p:custDataLst>
          </p:nvPr>
        </p:nvSpPr>
        <p:spPr>
          <a:xfrm>
            <a:off x="914400" y="635001"/>
            <a:ext cx="7315200" cy="1831816"/>
          </a:xfrm>
          <a:prstGeom prst="rect">
            <a:avLst/>
          </a:prstGeom>
          <a:solidFill>
            <a:schemeClr val="accent1">
              <a:lumMod val="20000"/>
              <a:lumOff val="80000"/>
            </a:schemeClr>
          </a:solidFill>
        </p:spPr>
        <p:txBody>
          <a:bodyPr vert="horz" wrap="square" rtlCol="0" anchor="ctr" anchorCtr="0">
            <a:noAutofit/>
          </a:bodyPr>
          <a:lstStyle/>
          <a:p>
            <a:r>
              <a:rPr lang="zh-CN" altLang="zh-CN" sz="2800"/>
              <a:t>语句</a:t>
            </a:r>
            <a:r>
              <a:rPr lang="pt-BR" altLang="zh-CN" sz="2800"/>
              <a:t>eval('2+4/5')</a:t>
            </a:r>
            <a:r>
              <a:rPr lang="zh-CN" altLang="zh-CN" sz="2800"/>
              <a:t>执行后的输出结果是（</a:t>
            </a:r>
            <a:r>
              <a:rPr lang="pt-BR" altLang="zh-CN" sz="2800"/>
              <a:t>      </a:t>
            </a:r>
            <a:r>
              <a:rPr lang="zh-CN" altLang="zh-CN" sz="2800"/>
              <a:t>）。</a:t>
            </a:r>
            <a:endParaRPr lang="zh-CN" altLang="en-US" sz="3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7" name="文本框 6"/>
          <p:cNvSpPr txBox="1"/>
          <p:nvPr>
            <p:custDataLst>
              <p:tags r:id="rId3"/>
            </p:custDataLst>
          </p:nvPr>
        </p:nvSpPr>
        <p:spPr>
          <a:xfrm>
            <a:off x="1828800" y="2786063"/>
            <a:ext cx="1159024" cy="642938"/>
          </a:xfrm>
          <a:prstGeom prst="rect">
            <a:avLst/>
          </a:prstGeom>
          <a:noFill/>
        </p:spPr>
        <p:txBody>
          <a:bodyPr vert="horz" rtlCol="0" anchor="ctr" anchorCtr="0">
            <a:noAutofit/>
          </a:bodyPr>
          <a:lstStyle/>
          <a:p>
            <a:r>
              <a:rPr lang="pt-BR" altLang="zh-CN" sz="2400"/>
              <a:t>2.8</a:t>
            </a:r>
            <a:endParaRPr lang="zh-CN" altLang="en-US" sz="32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8" name="文本框 7"/>
          <p:cNvSpPr txBox="1"/>
          <p:nvPr>
            <p:custDataLst>
              <p:tags r:id="rId4"/>
            </p:custDataLst>
          </p:nvPr>
        </p:nvSpPr>
        <p:spPr>
          <a:xfrm>
            <a:off x="1828800" y="3643313"/>
            <a:ext cx="1159024" cy="642938"/>
          </a:xfrm>
          <a:prstGeom prst="rect">
            <a:avLst/>
          </a:prstGeom>
          <a:noFill/>
        </p:spPr>
        <p:txBody>
          <a:bodyPr vert="horz" rtlCol="0" anchor="ctr" anchorCtr="0">
            <a:noAutofit/>
          </a:bodyPr>
          <a:lstStyle/>
          <a:p>
            <a:r>
              <a:rPr lang="pt-BR" altLang="zh-CN" sz="2400"/>
              <a:t>2</a:t>
            </a:r>
            <a:endParaRPr lang="zh-CN" altLang="en-US" sz="32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5"/>
            </p:custDataLst>
          </p:nvPr>
        </p:nvSpPr>
        <p:spPr>
          <a:xfrm>
            <a:off x="1828800" y="4500563"/>
            <a:ext cx="1159024" cy="642938"/>
          </a:xfrm>
          <a:prstGeom prst="rect">
            <a:avLst/>
          </a:prstGeom>
          <a:noFill/>
        </p:spPr>
        <p:txBody>
          <a:bodyPr vert="horz" rtlCol="0" anchor="ctr" anchorCtr="0">
            <a:noAutofit/>
          </a:bodyPr>
          <a:lstStyle/>
          <a:p>
            <a:r>
              <a:rPr lang="pt-BR" altLang="zh-CN" sz="2400"/>
              <a:t>2+4/5</a:t>
            </a:r>
            <a:endParaRPr lang="zh-CN" altLang="en-US" sz="32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文本框 9"/>
          <p:cNvSpPr txBox="1"/>
          <p:nvPr>
            <p:custDataLst>
              <p:tags r:id="rId6"/>
            </p:custDataLst>
          </p:nvPr>
        </p:nvSpPr>
        <p:spPr>
          <a:xfrm>
            <a:off x="1828800" y="5357813"/>
            <a:ext cx="1159024" cy="642938"/>
          </a:xfrm>
          <a:prstGeom prst="rect">
            <a:avLst/>
          </a:prstGeom>
          <a:noFill/>
        </p:spPr>
        <p:txBody>
          <a:bodyPr vert="horz" rtlCol="0" anchor="ctr" anchorCtr="0">
            <a:noAutofit/>
          </a:bodyPr>
          <a:lstStyle/>
          <a:p>
            <a:r>
              <a:rPr lang="pt-BR" altLang="zh-CN" sz="2400"/>
              <a:t>'2+4/5'</a:t>
            </a:r>
            <a:endParaRPr lang="zh-CN" altLang="en-US" sz="32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7"/>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圆角矩形 14"/>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0" name="组合 19"/>
          <p:cNvGrpSpPr/>
          <p:nvPr>
            <p:custDataLst>
              <p:tags r:id="rId12"/>
            </p:custDataLst>
          </p:nvPr>
        </p:nvGrpSpPr>
        <p:grpSpPr>
          <a:xfrm>
            <a:off x="0" y="0"/>
            <a:ext cx="9144000" cy="635000"/>
            <a:chOff x="0" y="0"/>
            <a:chExt cx="9144000" cy="635000"/>
          </a:xfrm>
        </p:grpSpPr>
        <p:sp>
          <p:nvSpPr>
            <p:cNvPr id="16" name="TitleBackground"/>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33090110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b="1">
                <a:solidFill>
                  <a:srgbClr val="245794"/>
                </a:solidFill>
              </a:rPr>
              <a:t>3</a:t>
            </a:r>
            <a:r>
              <a:rPr lang="zh-CN" altLang="zh-CN" b="1">
                <a:solidFill>
                  <a:srgbClr val="245794"/>
                </a:solidFill>
              </a:rPr>
              <a:t>．基本的字符串函数</a:t>
            </a:r>
            <a:endParaRPr lang="zh-CN" altLang="en-US"/>
          </a:p>
        </p:txBody>
      </p:sp>
      <p:sp>
        <p:nvSpPr>
          <p:cNvPr id="4" name="内容占位符 3"/>
          <p:cNvSpPr>
            <a:spLocks noGrp="1"/>
          </p:cNvSpPr>
          <p:nvPr>
            <p:ph idx="1"/>
          </p:nvPr>
        </p:nvSpPr>
        <p:spPr>
          <a:xfrm>
            <a:off x="628650" y="1825625"/>
            <a:ext cx="7886700" cy="1747391"/>
          </a:xfrm>
        </p:spPr>
        <p:txBody>
          <a:bodyPr>
            <a:normAutofit/>
          </a:bodyPr>
          <a:lstStyle/>
          <a:p>
            <a:pPr marL="0" indent="0">
              <a:lnSpc>
                <a:spcPct val="150000"/>
              </a:lnSpc>
              <a:spcAft>
                <a:spcPts val="600"/>
              </a:spcAft>
              <a:buClr>
                <a:srgbClr val="7030A0"/>
              </a:buClr>
              <a:buSzPct val="60000"/>
              <a:buNone/>
            </a:pPr>
            <a:r>
              <a:rPr lang="zh-CN" altLang="zh-CN" sz="2400">
                <a:solidFill>
                  <a:srgbClr val="245794"/>
                </a:solidFill>
                <a:latin typeface="+mn-ea"/>
              </a:rPr>
              <a:t>（</a:t>
            </a:r>
            <a:r>
              <a:rPr lang="en-US" altLang="zh-CN" sz="2400">
                <a:solidFill>
                  <a:srgbClr val="245794"/>
                </a:solidFill>
                <a:latin typeface="+mn-ea"/>
              </a:rPr>
              <a:t>2</a:t>
            </a:r>
            <a:r>
              <a:rPr lang="zh-CN" altLang="zh-CN" sz="2400">
                <a:solidFill>
                  <a:srgbClr val="245794"/>
                </a:solidFill>
                <a:latin typeface="+mn-ea"/>
              </a:rPr>
              <a:t>）</a:t>
            </a:r>
            <a:r>
              <a:rPr lang="en-US" altLang="zh-CN" sz="2400">
                <a:solidFill>
                  <a:srgbClr val="245794"/>
                </a:solidFill>
                <a:latin typeface="+mn-ea"/>
              </a:rPr>
              <a:t>len(</a:t>
            </a:r>
            <a:r>
              <a:rPr lang="zh-CN" altLang="zh-CN" sz="2400">
                <a:solidFill>
                  <a:srgbClr val="245794"/>
                </a:solidFill>
                <a:latin typeface="+mn-ea"/>
              </a:rPr>
              <a:t>字符串</a:t>
            </a:r>
            <a:r>
              <a:rPr lang="en-US" altLang="zh-CN" sz="2400">
                <a:solidFill>
                  <a:srgbClr val="245794"/>
                </a:solidFill>
                <a:latin typeface="+mn-ea"/>
              </a:rPr>
              <a:t>)</a:t>
            </a:r>
            <a:endParaRPr lang="zh-CN" altLang="zh-CN" sz="2400">
              <a:solidFill>
                <a:srgbClr val="245794"/>
              </a:solidFill>
              <a:latin typeface="+mn-ea"/>
            </a:endParaRPr>
          </a:p>
          <a:p>
            <a:pPr marL="0" indent="0">
              <a:lnSpc>
                <a:spcPct val="150000"/>
              </a:lnSpc>
              <a:spcAft>
                <a:spcPts val="600"/>
              </a:spcAft>
              <a:buClr>
                <a:srgbClr val="7030A0"/>
              </a:buClr>
              <a:buSzPct val="60000"/>
              <a:buNone/>
            </a:pPr>
            <a:r>
              <a:rPr lang="zh-CN" altLang="en-US" sz="2400">
                <a:solidFill>
                  <a:srgbClr val="245794"/>
                </a:solidFill>
                <a:latin typeface="+mn-ea"/>
              </a:rPr>
              <a:t>作用：</a:t>
            </a:r>
            <a:r>
              <a:rPr lang="zh-CN" altLang="zh-CN" sz="2400">
                <a:solidFill>
                  <a:srgbClr val="245794"/>
                </a:solidFill>
                <a:latin typeface="+mn-ea"/>
              </a:rPr>
              <a:t>返回字符串的长度，即字符串中所包含的字符个数</a:t>
            </a:r>
            <a:r>
              <a:rPr lang="zh-CN" altLang="en-US" sz="2400">
                <a:solidFill>
                  <a:srgbClr val="245794"/>
                </a:solidFill>
                <a:latin typeface="+mn-ea"/>
              </a:rPr>
              <a:t>。　　</a:t>
            </a:r>
            <a:endParaRPr lang="zh-CN" altLang="zh-CN" sz="2400">
              <a:solidFill>
                <a:srgbClr val="245794"/>
              </a:solidFill>
              <a:latin typeface="+mn-ea"/>
            </a:endParaRPr>
          </a:p>
        </p:txBody>
      </p:sp>
      <p:sp>
        <p:nvSpPr>
          <p:cNvPr id="2" name="矩形 1"/>
          <p:cNvSpPr/>
          <p:nvPr/>
        </p:nvSpPr>
        <p:spPr>
          <a:xfrm>
            <a:off x="2627784" y="3429000"/>
            <a:ext cx="2808312" cy="2943563"/>
          </a:xfrm>
          <a:prstGeom prst="rect">
            <a:avLst/>
          </a:prstGeom>
          <a:solidFill>
            <a:schemeClr val="bg1">
              <a:lumMod val="95000"/>
            </a:schemeClr>
          </a:solidFill>
        </p:spPr>
        <p:txBody>
          <a:bodyPr wrap="square">
            <a:spAutoFit/>
          </a:bodyPr>
          <a:lstStyle/>
          <a:p>
            <a:pPr>
              <a:lnSpc>
                <a:spcPct val="200000"/>
              </a:lnSpc>
            </a:pPr>
            <a:r>
              <a:rPr lang="zh-CN" altLang="en-US" sz="2400" dirty="0"/>
              <a:t>&gt;&gt;&gt; len('abc de’)</a:t>
            </a:r>
          </a:p>
          <a:p>
            <a:pPr>
              <a:lnSpc>
                <a:spcPct val="200000"/>
              </a:lnSpc>
            </a:pPr>
            <a:r>
              <a:rPr lang="zh-CN" altLang="en-US" sz="2400" dirty="0"/>
              <a:t>6</a:t>
            </a:r>
            <a:endParaRPr lang="en-US" altLang="zh-CN" sz="2400" dirty="0"/>
          </a:p>
          <a:p>
            <a:pPr>
              <a:lnSpc>
                <a:spcPct val="200000"/>
              </a:lnSpc>
            </a:pPr>
            <a:r>
              <a:rPr lang="zh-CN" altLang="en-US" sz="2400" dirty="0"/>
              <a:t>&gt;&gt;&gt; len(‘abc</a:t>
            </a:r>
            <a:r>
              <a:rPr lang="en-US" altLang="zh-CN" sz="2400" dirty="0"/>
              <a:t>\n</a:t>
            </a:r>
            <a:r>
              <a:rPr lang="zh-CN" altLang="en-US" sz="2400" dirty="0"/>
              <a:t>de’)</a:t>
            </a:r>
            <a:endParaRPr lang="en-US" altLang="zh-CN" sz="2400" dirty="0"/>
          </a:p>
          <a:p>
            <a:pPr>
              <a:lnSpc>
                <a:spcPct val="200000"/>
              </a:lnSpc>
            </a:pPr>
            <a:r>
              <a:rPr lang="zh-CN" altLang="en-US" sz="2400" dirty="0"/>
              <a:t>6</a:t>
            </a:r>
            <a:endParaRPr lang="en-US" altLang="zh-CN" sz="2400" dirty="0"/>
          </a:p>
        </p:txBody>
      </p:sp>
    </p:spTree>
    <p:extLst>
      <p:ext uri="{BB962C8B-B14F-4D97-AF65-F5344CB8AC3E}">
        <p14:creationId xmlns:p14="http://schemas.microsoft.com/office/powerpoint/2010/main" val="393031984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b="1">
                <a:solidFill>
                  <a:srgbClr val="245794"/>
                </a:solidFill>
              </a:rPr>
              <a:t>1.4.3  </a:t>
            </a:r>
            <a:r>
              <a:rPr lang="zh-CN" altLang="zh-CN" b="1">
                <a:solidFill>
                  <a:srgbClr val="245794"/>
                </a:solidFill>
              </a:rPr>
              <a:t>布尔类型</a:t>
            </a:r>
            <a:endParaRPr lang="zh-CN" altLang="en-US"/>
          </a:p>
        </p:txBody>
      </p:sp>
      <p:sp>
        <p:nvSpPr>
          <p:cNvPr id="4" name="内容占位符 3"/>
          <p:cNvSpPr>
            <a:spLocks noGrp="1"/>
          </p:cNvSpPr>
          <p:nvPr>
            <p:ph idx="1"/>
          </p:nvPr>
        </p:nvSpPr>
        <p:spPr>
          <a:xfrm>
            <a:off x="628650" y="1825624"/>
            <a:ext cx="7886700" cy="4843735"/>
          </a:xfrm>
        </p:spPr>
        <p:txBody>
          <a:bodyPr>
            <a:normAutofit fontScale="92500" lnSpcReduction="10000"/>
          </a:bodyPr>
          <a:lstStyle/>
          <a:p>
            <a:pPr>
              <a:lnSpc>
                <a:spcPct val="160000"/>
              </a:lnSpc>
              <a:spcAft>
                <a:spcPts val="600"/>
              </a:spcAft>
              <a:buClr>
                <a:srgbClr val="7030A0"/>
              </a:buClr>
              <a:buSzPct val="60000"/>
            </a:pPr>
            <a:r>
              <a:rPr lang="zh-CN" altLang="zh-CN" sz="2400" dirty="0">
                <a:solidFill>
                  <a:srgbClr val="245794"/>
                </a:solidFill>
                <a:latin typeface="+mn-ea"/>
              </a:rPr>
              <a:t>布尔型数据有</a:t>
            </a:r>
            <a:r>
              <a:rPr lang="en-US" altLang="zh-CN" sz="2400" dirty="0">
                <a:solidFill>
                  <a:srgbClr val="FF0000"/>
                </a:solidFill>
                <a:latin typeface="+mn-ea"/>
              </a:rPr>
              <a:t>True</a:t>
            </a:r>
            <a:r>
              <a:rPr lang="zh-CN" altLang="zh-CN" sz="2400" dirty="0">
                <a:solidFill>
                  <a:srgbClr val="245794"/>
                </a:solidFill>
                <a:latin typeface="+mn-ea"/>
              </a:rPr>
              <a:t>和</a:t>
            </a:r>
            <a:r>
              <a:rPr lang="en-US" altLang="zh-CN" sz="2400" dirty="0">
                <a:solidFill>
                  <a:srgbClr val="FF0000"/>
                </a:solidFill>
                <a:latin typeface="+mn-ea"/>
              </a:rPr>
              <a:t>False</a:t>
            </a:r>
            <a:r>
              <a:rPr lang="zh-CN" altLang="zh-CN" sz="2400" dirty="0">
                <a:solidFill>
                  <a:srgbClr val="245794"/>
                </a:solidFill>
                <a:latin typeface="+mn-ea"/>
              </a:rPr>
              <a:t>，分别代表逻辑真和逻辑假。</a:t>
            </a:r>
          </a:p>
          <a:p>
            <a:pPr>
              <a:lnSpc>
                <a:spcPct val="160000"/>
              </a:lnSpc>
              <a:spcAft>
                <a:spcPts val="600"/>
              </a:spcAft>
              <a:buClr>
                <a:srgbClr val="7030A0"/>
              </a:buClr>
              <a:buSzPct val="60000"/>
            </a:pPr>
            <a:r>
              <a:rPr lang="zh-CN" altLang="zh-CN" sz="2400" dirty="0">
                <a:solidFill>
                  <a:srgbClr val="245794"/>
                </a:solidFill>
                <a:latin typeface="+mn-ea"/>
              </a:rPr>
              <a:t>值为真或假的表达式称为</a:t>
            </a:r>
            <a:r>
              <a:rPr lang="zh-CN" altLang="zh-CN" sz="2400" dirty="0">
                <a:solidFill>
                  <a:srgbClr val="FF0000"/>
                </a:solidFill>
                <a:latin typeface="+mn-ea"/>
              </a:rPr>
              <a:t>布尔表达式</a:t>
            </a:r>
            <a:endParaRPr lang="en-US" altLang="zh-CN" sz="2400" dirty="0">
              <a:solidFill>
                <a:srgbClr val="FF0000"/>
              </a:solidFill>
              <a:latin typeface="+mn-ea"/>
            </a:endParaRPr>
          </a:p>
          <a:p>
            <a:pPr>
              <a:lnSpc>
                <a:spcPct val="160000"/>
              </a:lnSpc>
              <a:spcAft>
                <a:spcPts val="600"/>
              </a:spcAft>
              <a:buClr>
                <a:srgbClr val="7030A0"/>
              </a:buClr>
              <a:buSzPct val="60000"/>
            </a:pPr>
            <a:r>
              <a:rPr lang="zh-CN" altLang="zh-CN" sz="2400" dirty="0">
                <a:solidFill>
                  <a:srgbClr val="245794"/>
                </a:solidFill>
                <a:latin typeface="+mn-ea"/>
              </a:rPr>
              <a:t>在</a:t>
            </a:r>
            <a:r>
              <a:rPr lang="en-US" altLang="zh-CN" sz="2400" dirty="0">
                <a:solidFill>
                  <a:srgbClr val="245794"/>
                </a:solidFill>
                <a:latin typeface="+mn-ea"/>
              </a:rPr>
              <a:t>Python</a:t>
            </a:r>
            <a:r>
              <a:rPr lang="zh-CN" altLang="zh-CN" sz="2400" dirty="0">
                <a:solidFill>
                  <a:srgbClr val="245794"/>
                </a:solidFill>
                <a:latin typeface="+mn-ea"/>
              </a:rPr>
              <a:t>中，逻辑值</a:t>
            </a:r>
            <a:r>
              <a:rPr lang="en-US" altLang="zh-CN" sz="2400" dirty="0">
                <a:solidFill>
                  <a:srgbClr val="245794"/>
                </a:solidFill>
                <a:latin typeface="+mn-ea"/>
              </a:rPr>
              <a:t>True</a:t>
            </a:r>
            <a:r>
              <a:rPr lang="zh-CN" altLang="zh-CN" sz="2400" dirty="0">
                <a:solidFill>
                  <a:srgbClr val="245794"/>
                </a:solidFill>
                <a:latin typeface="+mn-ea"/>
              </a:rPr>
              <a:t>和</a:t>
            </a:r>
            <a:r>
              <a:rPr lang="en-US" altLang="zh-CN" sz="2400" dirty="0">
                <a:solidFill>
                  <a:srgbClr val="245794"/>
                </a:solidFill>
                <a:latin typeface="+mn-ea"/>
              </a:rPr>
              <a:t>False</a:t>
            </a:r>
            <a:r>
              <a:rPr lang="zh-CN" altLang="zh-CN" sz="2400" dirty="0">
                <a:solidFill>
                  <a:srgbClr val="245794"/>
                </a:solidFill>
                <a:latin typeface="+mn-ea"/>
              </a:rPr>
              <a:t>实际上是分别用整型值</a:t>
            </a:r>
            <a:r>
              <a:rPr lang="en-US" altLang="zh-CN" sz="2400" dirty="0">
                <a:solidFill>
                  <a:srgbClr val="FF0000"/>
                </a:solidFill>
                <a:latin typeface="+mn-ea"/>
              </a:rPr>
              <a:t>1</a:t>
            </a:r>
            <a:r>
              <a:rPr lang="zh-CN" altLang="zh-CN" sz="2400" dirty="0">
                <a:solidFill>
                  <a:srgbClr val="245794"/>
                </a:solidFill>
                <a:latin typeface="+mn-ea"/>
              </a:rPr>
              <a:t>和</a:t>
            </a:r>
            <a:r>
              <a:rPr lang="en-US" altLang="zh-CN" sz="2400" dirty="0">
                <a:solidFill>
                  <a:srgbClr val="FF0000"/>
                </a:solidFill>
                <a:latin typeface="+mn-ea"/>
              </a:rPr>
              <a:t>0</a:t>
            </a:r>
            <a:r>
              <a:rPr lang="zh-CN" altLang="zh-CN" sz="2400" dirty="0">
                <a:solidFill>
                  <a:srgbClr val="245794"/>
                </a:solidFill>
                <a:latin typeface="+mn-ea"/>
              </a:rPr>
              <a:t>参与运算。例如：</a:t>
            </a:r>
          </a:p>
          <a:p>
            <a:pPr marL="720000" indent="0">
              <a:lnSpc>
                <a:spcPct val="160000"/>
              </a:lnSpc>
              <a:spcAft>
                <a:spcPts val="600"/>
              </a:spcAft>
              <a:buClr>
                <a:srgbClr val="7030A0"/>
              </a:buClr>
              <a:buSzPct val="60000"/>
              <a:buNone/>
            </a:pPr>
            <a:r>
              <a:rPr lang="en-US" altLang="zh-CN" sz="2400" dirty="0">
                <a:solidFill>
                  <a:srgbClr val="245794"/>
                </a:solidFill>
                <a:latin typeface="+mn-ea"/>
                <a:cs typeface="Courier New" pitchFamily="49" charset="0"/>
              </a:rPr>
              <a:t>&gt;&gt;&gt; x=False                          &gt;&gt;&gt; False == 0</a:t>
            </a:r>
            <a:endParaRPr lang="zh-CN" altLang="zh-CN" sz="2400" dirty="0">
              <a:solidFill>
                <a:srgbClr val="245794"/>
              </a:solidFill>
              <a:latin typeface="+mn-ea"/>
              <a:cs typeface="Courier New" pitchFamily="49" charset="0"/>
            </a:endParaRPr>
          </a:p>
          <a:p>
            <a:pPr marL="720000" indent="0">
              <a:lnSpc>
                <a:spcPct val="160000"/>
              </a:lnSpc>
              <a:spcAft>
                <a:spcPts val="600"/>
              </a:spcAft>
              <a:buClr>
                <a:srgbClr val="7030A0"/>
              </a:buClr>
              <a:buSzPct val="60000"/>
              <a:buNone/>
            </a:pPr>
            <a:r>
              <a:rPr lang="en-US" altLang="zh-CN" sz="2400" dirty="0">
                <a:solidFill>
                  <a:srgbClr val="245794"/>
                </a:solidFill>
                <a:latin typeface="+mn-ea"/>
                <a:cs typeface="Courier New" pitchFamily="49" charset="0"/>
              </a:rPr>
              <a:t>&gt;&gt;&gt; x+(5&gt;4)                          True</a:t>
            </a:r>
            <a:endParaRPr lang="zh-CN" altLang="zh-CN" sz="2400" dirty="0">
              <a:solidFill>
                <a:srgbClr val="245794"/>
              </a:solidFill>
              <a:latin typeface="+mn-ea"/>
              <a:cs typeface="Courier New" pitchFamily="49" charset="0"/>
            </a:endParaRPr>
          </a:p>
          <a:p>
            <a:pPr marL="720000" indent="0">
              <a:lnSpc>
                <a:spcPct val="160000"/>
              </a:lnSpc>
              <a:spcAft>
                <a:spcPts val="600"/>
              </a:spcAft>
              <a:buClr>
                <a:srgbClr val="7030A0"/>
              </a:buClr>
              <a:buSzPct val="60000"/>
              <a:buNone/>
            </a:pPr>
            <a:r>
              <a:rPr lang="en-US" altLang="zh-CN" sz="2400" dirty="0">
                <a:solidFill>
                  <a:srgbClr val="245794"/>
                </a:solidFill>
                <a:latin typeface="+mn-ea"/>
                <a:cs typeface="Courier New" pitchFamily="49" charset="0"/>
              </a:rPr>
              <a:t>1</a:t>
            </a:r>
            <a:endParaRPr lang="zh-CN" altLang="zh-CN" sz="2400" dirty="0">
              <a:solidFill>
                <a:srgbClr val="245794"/>
              </a:solidFill>
              <a:latin typeface="+mn-ea"/>
              <a:cs typeface="Courier New" pitchFamily="49" charset="0"/>
            </a:endParaRPr>
          </a:p>
          <a:p>
            <a:endParaRPr lang="zh-CN" altLang="en-US" dirty="0"/>
          </a:p>
        </p:txBody>
      </p:sp>
      <p:sp>
        <p:nvSpPr>
          <p:cNvPr id="2" name="文本框 1">
            <a:extLst>
              <a:ext uri="{FF2B5EF4-FFF2-40B4-BE49-F238E27FC236}">
                <a16:creationId xmlns:a16="http://schemas.microsoft.com/office/drawing/2014/main" id="{0885C93F-5220-483F-A74D-B8AED5AFDFFE}"/>
              </a:ext>
            </a:extLst>
          </p:cNvPr>
          <p:cNvSpPr txBox="1"/>
          <p:nvPr/>
        </p:nvSpPr>
        <p:spPr>
          <a:xfrm>
            <a:off x="5148064" y="836712"/>
            <a:ext cx="3826689" cy="369332"/>
          </a:xfrm>
          <a:prstGeom prst="rect">
            <a:avLst/>
          </a:prstGeom>
          <a:noFill/>
        </p:spPr>
        <p:txBody>
          <a:bodyPr wrap="none" rtlCol="0">
            <a:spAutoFit/>
          </a:bodyPr>
          <a:lstStyle/>
          <a:p>
            <a:r>
              <a:rPr lang="en-US" altLang="zh-CN" dirty="0"/>
              <a:t>TRUE   </a:t>
            </a:r>
            <a:r>
              <a:rPr lang="en-US" altLang="zh-CN" dirty="0" err="1"/>
              <a:t>true</a:t>
            </a:r>
            <a:r>
              <a:rPr lang="en-US" altLang="zh-CN" dirty="0"/>
              <a:t> </a:t>
            </a:r>
            <a:r>
              <a:rPr lang="zh-CN" altLang="en-US" dirty="0"/>
              <a:t>都是标识符，大小写敏感</a:t>
            </a:r>
          </a:p>
        </p:txBody>
      </p:sp>
    </p:spTree>
    <p:extLst>
      <p:ext uri="{BB962C8B-B14F-4D97-AF65-F5344CB8AC3E}">
        <p14:creationId xmlns:p14="http://schemas.microsoft.com/office/powerpoint/2010/main" val="365833995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wipe(left)">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wipe(left)">
                                      <p:cBhvr>
                                        <p:cTn id="12" dur="500"/>
                                        <p:tgtEl>
                                          <p:spTgt spid="4">
                                            <p:txEl>
                                              <p:pRg st="3" end="3"/>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animEffect transition="in" filter="wipe(left)">
                                      <p:cBhvr>
                                        <p:cTn id="15" dur="500"/>
                                        <p:tgtEl>
                                          <p:spTgt spid="4">
                                            <p:txEl>
                                              <p:pRg st="4" end="4"/>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4">
                                            <p:txEl>
                                              <p:pRg st="5" end="5"/>
                                            </p:txEl>
                                          </p:spTgt>
                                        </p:tgtEl>
                                        <p:attrNameLst>
                                          <p:attrName>style.visibility</p:attrName>
                                        </p:attrNameLst>
                                      </p:cBhvr>
                                      <p:to>
                                        <p:strVal val="visible"/>
                                      </p:to>
                                    </p:set>
                                    <p:animEffect transition="in" filter="wipe(left)">
                                      <p:cBhvr>
                                        <p:cTn id="18"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6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5989</TotalTime>
  <Words>1923</Words>
  <Application>Microsoft Office PowerPoint</Application>
  <PresentationFormat>全屏显示(4:3)</PresentationFormat>
  <Paragraphs>385</Paragraphs>
  <Slides>34</Slides>
  <Notes>2</Notes>
  <HiddenSlides>4</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34</vt:i4>
      </vt:variant>
    </vt:vector>
  </HeadingPairs>
  <TitlesOfParts>
    <vt:vector size="47" baseType="lpstr">
      <vt:lpstr>等线</vt:lpstr>
      <vt:lpstr>等线 Light</vt:lpstr>
      <vt:lpstr>黑体</vt:lpstr>
      <vt:lpstr>宋体</vt:lpstr>
      <vt:lpstr>Microsoft Yahei</vt:lpstr>
      <vt:lpstr>Microsoft Yahei</vt:lpstr>
      <vt:lpstr>Arial</vt:lpstr>
      <vt:lpstr>Bradley Hand ITC</vt:lpstr>
      <vt:lpstr>Calibri</vt:lpstr>
      <vt:lpstr>Calibri Light</vt:lpstr>
      <vt:lpstr>Consolas</vt:lpstr>
      <vt:lpstr>Wingdings</vt:lpstr>
      <vt:lpstr>Office 主题</vt:lpstr>
      <vt:lpstr>Python语法基础</vt:lpstr>
      <vt:lpstr>1.3  常量与变量</vt:lpstr>
      <vt:lpstr>1.3  常量与变量</vt:lpstr>
      <vt:lpstr>标识符-----取名规则</vt:lpstr>
      <vt:lpstr>标识符与变量</vt:lpstr>
      <vt:lpstr>PowerPoint 演示文稿</vt:lpstr>
      <vt:lpstr>特殊变量   _</vt:lpstr>
      <vt:lpstr>2.3  Python关键字简要说明</vt:lpstr>
      <vt:lpstr>2.3  Python关键字简要说明</vt:lpstr>
      <vt:lpstr>2.3  Python关键字简要说明</vt:lpstr>
      <vt:lpstr>1.4  Python数据类型</vt:lpstr>
      <vt:lpstr>PowerPoint 演示文稿</vt:lpstr>
      <vt:lpstr>常用的进制</vt:lpstr>
      <vt:lpstr>整型常量的4种表示形式</vt:lpstr>
      <vt:lpstr>PowerPoint 演示文稿</vt:lpstr>
      <vt:lpstr>浮点型数据的两种表示形式</vt:lpstr>
      <vt:lpstr>2.1.2  数字</vt:lpstr>
      <vt:lpstr>2  数字</vt:lpstr>
      <vt:lpstr>2  误差问题</vt:lpstr>
      <vt:lpstr>2  数字</vt:lpstr>
      <vt:lpstr>2  数字</vt:lpstr>
      <vt:lpstr>3．复数型数据</vt:lpstr>
      <vt:lpstr>1.4.2  字符串类型</vt:lpstr>
      <vt:lpstr>2.1.3  字符串</vt:lpstr>
      <vt:lpstr>字符串的使用——注释（第二章内容提前）</vt:lpstr>
      <vt:lpstr>2．转义字符</vt:lpstr>
      <vt:lpstr>PowerPoint 演示文稿</vt:lpstr>
      <vt:lpstr>PowerPoint 演示文稿</vt:lpstr>
      <vt:lpstr>3．基本的字符串函数</vt:lpstr>
      <vt:lpstr>eval函数的应用1</vt:lpstr>
      <vt:lpstr>eval函数的应用2</vt:lpstr>
      <vt:lpstr>PowerPoint 演示文稿</vt:lpstr>
      <vt:lpstr>3．基本的字符串函数</vt:lpstr>
      <vt:lpstr>1.4.3  布尔类型</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cyj</cp:lastModifiedBy>
  <cp:revision>235</cp:revision>
  <dcterms:created xsi:type="dcterms:W3CDTF">2016-08-25T03:48:37Z</dcterms:created>
  <dcterms:modified xsi:type="dcterms:W3CDTF">2024-09-10T05:52:05Z</dcterms:modified>
</cp:coreProperties>
</file>