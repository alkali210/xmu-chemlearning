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  <p:sldMasterId id="2147483684" r:id="rId2"/>
  </p:sldMasterIdLst>
  <p:notesMasterIdLst>
    <p:notesMasterId r:id="rId22"/>
  </p:notesMasterIdLst>
  <p:handoutMasterIdLst>
    <p:handoutMasterId r:id="rId23"/>
  </p:handoutMasterIdLst>
  <p:sldIdLst>
    <p:sldId id="848" r:id="rId3"/>
    <p:sldId id="1859" r:id="rId4"/>
    <p:sldId id="1872" r:id="rId5"/>
    <p:sldId id="1773" r:id="rId6"/>
    <p:sldId id="1810" r:id="rId7"/>
    <p:sldId id="1811" r:id="rId8"/>
    <p:sldId id="1814" r:id="rId9"/>
    <p:sldId id="1815" r:id="rId10"/>
    <p:sldId id="1853" r:id="rId11"/>
    <p:sldId id="1844" r:id="rId12"/>
    <p:sldId id="1827" r:id="rId13"/>
    <p:sldId id="1874" r:id="rId14"/>
    <p:sldId id="1881" r:id="rId15"/>
    <p:sldId id="1880" r:id="rId16"/>
    <p:sldId id="1829" r:id="rId17"/>
    <p:sldId id="1830" r:id="rId18"/>
    <p:sldId id="1840" r:id="rId19"/>
    <p:sldId id="1841" r:id="rId20"/>
    <p:sldId id="18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00000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51828" y="3371852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82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 userDrawn="1"/>
        </p:nvSpPr>
        <p:spPr bwMode="auto">
          <a:xfrm>
            <a:off x="298819" y="1460503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7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5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26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7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8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31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0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6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29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51828" y="3371852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221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98819" y="1460503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507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84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5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40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99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84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39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66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23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83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50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39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26" Type="http://schemas.openxmlformats.org/officeDocument/2006/relationships/tags" Target="../tags/tag43.xml"/><Relationship Id="rId3" Type="http://schemas.openxmlformats.org/officeDocument/2006/relationships/tags" Target="../tags/tag20.xml"/><Relationship Id="rId21" Type="http://schemas.openxmlformats.org/officeDocument/2006/relationships/tags" Target="../tags/tag38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tags" Target="../tags/tag42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tags" Target="../tags/tag37.xml"/><Relationship Id="rId29" Type="http://schemas.openxmlformats.org/officeDocument/2006/relationships/image" Target="../media/image4.tmp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tags" Target="../tags/tag41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40.xml"/><Relationship Id="rId28" Type="http://schemas.openxmlformats.org/officeDocument/2006/relationships/slideLayout" Target="../slideLayouts/slideLayout18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tags" Target="../tags/tag39.xml"/><Relationship Id="rId27" Type="http://schemas.openxmlformats.org/officeDocument/2006/relationships/tags" Target="../tags/tag4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18" Type="http://schemas.openxmlformats.org/officeDocument/2006/relationships/tags" Target="../tags/tag62.xml"/><Relationship Id="rId26" Type="http://schemas.openxmlformats.org/officeDocument/2006/relationships/tags" Target="../tags/tag70.xml"/><Relationship Id="rId3" Type="http://schemas.openxmlformats.org/officeDocument/2006/relationships/tags" Target="../tags/tag47.xml"/><Relationship Id="rId21" Type="http://schemas.openxmlformats.org/officeDocument/2006/relationships/tags" Target="../tags/tag65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tags" Target="../tags/tag69.xml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tags" Target="../tags/tag64.xml"/><Relationship Id="rId29" Type="http://schemas.openxmlformats.org/officeDocument/2006/relationships/image" Target="../media/image4.tmp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tags" Target="../tags/tag68.xml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tags" Target="../tags/tag67.xml"/><Relationship Id="rId28" Type="http://schemas.openxmlformats.org/officeDocument/2006/relationships/slideLayout" Target="../slideLayouts/slideLayout18.xml"/><Relationship Id="rId10" Type="http://schemas.openxmlformats.org/officeDocument/2006/relationships/tags" Target="../tags/tag54.xml"/><Relationship Id="rId19" Type="http://schemas.openxmlformats.org/officeDocument/2006/relationships/tags" Target="../tags/tag63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tags" Target="../tags/tag66.xml"/><Relationship Id="rId27" Type="http://schemas.openxmlformats.org/officeDocument/2006/relationships/tags" Target="../tags/tag7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 选择结构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多分支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常见错误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将相等关系运算符“==”误写作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赋值运算符“=”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if a=3:          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SyntaxError: invalid syntax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(a=3) and (b=4):	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SyntaxError: invalid syntax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线形标注 1(带强调线) 4"/>
          <p:cNvSpPr/>
          <p:nvPr/>
        </p:nvSpPr>
        <p:spPr>
          <a:xfrm>
            <a:off x="6246145" y="2658347"/>
            <a:ext cx="3461922" cy="1254034"/>
          </a:xfrm>
          <a:prstGeom prst="accentCallout1">
            <a:avLst>
              <a:gd name="adj1" fmla="val 18750"/>
              <a:gd name="adj2" fmla="val -8333"/>
              <a:gd name="adj3" fmla="val 43931"/>
              <a:gd name="adj4" fmla="val -71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#条件表达式中不允许使用赋值运算符</a:t>
            </a:r>
          </a:p>
        </p:txBody>
      </p:sp>
    </p:spTree>
    <p:extLst>
      <p:ext uri="{BB962C8B-B14F-4D97-AF65-F5344CB8AC3E}">
        <p14:creationId xmlns:p14="http://schemas.microsoft.com/office/powerpoint/2010/main" val="51997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身份</a:t>
            </a:r>
            <a:r>
              <a:rPr lang="en-US" sz="3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运算符is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3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同一性测试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测试两个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是否是同一个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，如果是则返回True，否则返回False。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如果两个对象是同一个，二者具有相同的内存地址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is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[1, 2, 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y = [1, 2, 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is y              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上面形式创建的x和y不是同一个列表对象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x[0] is y[0]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椭圆形标注 4"/>
          <p:cNvSpPr/>
          <p:nvPr/>
        </p:nvSpPr>
        <p:spPr>
          <a:xfrm>
            <a:off x="7815385" y="457200"/>
            <a:ext cx="2961472" cy="819755"/>
          </a:xfrm>
          <a:prstGeom prst="wedgeEllipseCallout">
            <a:avLst>
              <a:gd name="adj1" fmla="val -43866"/>
              <a:gd name="adj2" fmla="val 5608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谨慎使用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52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单分支选择结构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双分支选择结构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多分支选择结构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嵌套的分支结构</a:t>
            </a:r>
          </a:p>
          <a:p>
            <a:pPr fontAlgn="auto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2152650" y="3582236"/>
            <a:ext cx="7886700" cy="127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.2.1  单分支选择结构</a:t>
            </a:r>
          </a:p>
        </p:txBody>
      </p:sp>
      <p:sp>
        <p:nvSpPr>
          <p:cNvPr id="24578" name="文本占位符 23554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</a:p>
          <a:p>
            <a:pPr>
              <a:spcBef>
                <a:spcPts val="100"/>
              </a:spcBef>
              <a:buSzPct val="70000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graphicFrame>
        <p:nvGraphicFramePr>
          <p:cNvPr id="24579" name="Object -2147482619"/>
          <p:cNvGraphicFramePr/>
          <p:nvPr>
            <p:extLst>
              <p:ext uri="{D42A27DB-BD31-4B8C-83A1-F6EECF244321}">
                <p14:modId xmlns:p14="http://schemas.microsoft.com/office/powerpoint/2010/main" val="2170080403"/>
              </p:ext>
            </p:extLst>
          </p:nvPr>
        </p:nvGraphicFramePr>
        <p:xfrm>
          <a:off x="5782721" y="1460500"/>
          <a:ext cx="3774748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" r:id="rId3" imgW="2381250" imgH="3064510" progId="Visio.Drawing.11">
                  <p:embed/>
                </p:oleObj>
              </mc:Choice>
              <mc:Fallback>
                <p:oleObj r:id="rId3" imgW="2381250" imgH="3064510" progId="Visio.Drawing.11">
                  <p:embed/>
                  <p:pic>
                    <p:nvPicPr>
                      <p:cNvPr id="24579" name="Object -21474826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2721" y="1460500"/>
                        <a:ext cx="3774748" cy="489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>
            <a:spLocks/>
          </p:cNvSpPr>
          <p:nvPr/>
        </p:nvSpPr>
        <p:spPr>
          <a:xfrm>
            <a:off x="838200" y="3962708"/>
            <a:ext cx="4197097" cy="2485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条件表达式的值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True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时，执行内嵌的语句块。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37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4.2.2  双分支选择结构</a:t>
            </a:r>
          </a:p>
        </p:txBody>
      </p:sp>
      <p:sp>
        <p:nvSpPr>
          <p:cNvPr id="25602" name="文本占位符 24578"/>
          <p:cNvSpPr>
            <a:spLocks noGrp="1"/>
          </p:cNvSpPr>
          <p:nvPr>
            <p:ph idx="1"/>
          </p:nvPr>
        </p:nvSpPr>
        <p:spPr>
          <a:xfrm>
            <a:off x="967331" y="1777917"/>
            <a:ext cx="2307880" cy="1591618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graphicFrame>
        <p:nvGraphicFramePr>
          <p:cNvPr id="25603" name="Object -21474826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178223"/>
              </p:ext>
            </p:extLst>
          </p:nvPr>
        </p:nvGraphicFramePr>
        <p:xfrm>
          <a:off x="6291858" y="1491021"/>
          <a:ext cx="4466338" cy="4869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" r:id="rId3" imgW="3255645" imgH="3547110" progId="Visio.Drawing.11">
                  <p:embed/>
                </p:oleObj>
              </mc:Choice>
              <mc:Fallback>
                <p:oleObj r:id="rId3" imgW="3255645" imgH="3547110" progId="Visio.Drawing.11">
                  <p:embed/>
                  <p:pic>
                    <p:nvPicPr>
                      <p:cNvPr id="25603" name="Object -21474826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91858" y="1491021"/>
                        <a:ext cx="4466338" cy="4869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882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 多分支选择结构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1" y="1690689"/>
            <a:ext cx="1917232" cy="5030787"/>
          </a:xfrm>
          <a:ln>
            <a:solidFill>
              <a:srgbClr val="00B0F0"/>
            </a:solidFill>
          </a:ln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else: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2000" dirty="0">
              <a:latin typeface="Consolas" panose="020B0609020204030204" charset="0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2000" dirty="0">
              <a:latin typeface="Consolas" panose="020B060902020403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80446" y="1728375"/>
            <a:ext cx="366813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70000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else 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的缩写。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52650" y="2763683"/>
            <a:ext cx="1856200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buSzPct val="7000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elif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2: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buSzPct val="7000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语句块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52650" y="3947234"/>
            <a:ext cx="1856200" cy="1015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buSzPct val="70000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elif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3: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buSzPct val="7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>
            <a:stCxn id="5" idx="1"/>
          </p:cNvCxnSpPr>
          <p:nvPr/>
        </p:nvCxnSpPr>
        <p:spPr>
          <a:xfrm flipH="1">
            <a:off x="2544280" y="2051541"/>
            <a:ext cx="2836166" cy="9515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152650" y="5130786"/>
            <a:ext cx="18562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buSzPct val="7000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......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235" y="3198467"/>
            <a:ext cx="6098907" cy="233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046001" y="5532590"/>
            <a:ext cx="47880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245794"/>
                </a:solidFill>
                <a:latin typeface="Arial" pitchFamily="34" charset="0"/>
                <a:ea typeface="方正书宋简体" charset="-122"/>
                <a:cs typeface="Times New Roman" pitchFamily="18" charset="0"/>
              </a:rPr>
              <a:t>多分支</a:t>
            </a:r>
            <a:r>
              <a:rPr lang="en-US" altLang="zh-CN" b="1" dirty="0">
                <a:solidFill>
                  <a:srgbClr val="245794"/>
                </a:solidFill>
                <a:latin typeface="Arial" pitchFamily="34" charset="0"/>
                <a:ea typeface="方正书宋简体" charset="-122"/>
                <a:cs typeface="Times New Roman" pitchFamily="18" charset="0"/>
              </a:rPr>
              <a:t>if</a:t>
            </a:r>
            <a:r>
              <a:rPr lang="zh-CN" altLang="en-US" b="1" dirty="0">
                <a:solidFill>
                  <a:srgbClr val="245794"/>
                </a:solidFill>
                <a:latin typeface="Arial" pitchFamily="34" charset="0"/>
                <a:ea typeface="方正书宋简体" charset="-122"/>
                <a:cs typeface="Times New Roman" pitchFamily="18" charset="0"/>
              </a:rPr>
              <a:t>选择结构的执行过程</a:t>
            </a:r>
            <a:endParaRPr lang="zh-CN" altLang="en-US" b="1" dirty="0">
              <a:solidFill>
                <a:srgbClr val="245794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904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问题解决：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使用多分支选择结构将成绩从百分制变换到等级制。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2000" dirty="0"/>
              <a:t>score=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(input('</a:t>
            </a:r>
            <a:r>
              <a:rPr lang="zh-CN" altLang="en-US" sz="2000" dirty="0"/>
              <a:t>输入分数</a:t>
            </a:r>
            <a:r>
              <a:rPr lang="en-US" altLang="zh-CN" sz="2000" dirty="0"/>
              <a:t>'))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if </a:t>
            </a:r>
            <a:r>
              <a:rPr lang="en-US" altLang="zh-CN" sz="20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 100 or score &lt; 0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: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    print('wrong score must between 0 and 100.')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2000" dirty="0" err="1">
                <a:latin typeface="Consolas" panose="020B0609020204030204" charset="0"/>
                <a:sym typeface="+mn-ea"/>
              </a:rPr>
              <a:t>elif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 </a:t>
            </a:r>
            <a:r>
              <a:rPr lang="en-US" altLang="zh-CN" sz="20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&gt;= 90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: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	 print('A')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2000" dirty="0" err="1">
                <a:latin typeface="Consolas" panose="020B0609020204030204" charset="0"/>
                <a:sym typeface="+mn-ea"/>
              </a:rPr>
              <a:t>elif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 </a:t>
            </a:r>
            <a:r>
              <a:rPr lang="en-US" altLang="zh-CN" sz="20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&gt;= 80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: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    print('B')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2000" dirty="0" err="1">
                <a:latin typeface="Consolas" panose="020B0609020204030204" charset="0"/>
                <a:sym typeface="+mn-ea"/>
              </a:rPr>
              <a:t>elif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 </a:t>
            </a:r>
            <a:r>
              <a:rPr lang="en-US" altLang="zh-CN" sz="20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&gt;= 70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: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    print('C')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2000" dirty="0" err="1">
                <a:latin typeface="Consolas" panose="020B0609020204030204" charset="0"/>
                <a:sym typeface="+mn-ea"/>
              </a:rPr>
              <a:t>elif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 </a:t>
            </a:r>
            <a:r>
              <a:rPr lang="en-US" altLang="zh-CN" sz="20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&gt;= 60</a:t>
            </a:r>
            <a:r>
              <a:rPr lang="en-US" altLang="zh-CN" sz="2000" dirty="0">
                <a:latin typeface="Consolas" panose="020B0609020204030204" charset="0"/>
                <a:sym typeface="+mn-ea"/>
              </a:rPr>
              <a:t>: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    print('D')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else:</a:t>
            </a:r>
          </a:p>
          <a:p>
            <a:pPr marL="1905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2000" dirty="0">
                <a:latin typeface="Consolas" panose="020B0609020204030204" charset="0"/>
                <a:sym typeface="+mn-ea"/>
              </a:rPr>
              <a:t>        print('E')	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13750" y="3650069"/>
            <a:ext cx="151500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7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条件表达式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5438997" y="2360923"/>
            <a:ext cx="1874753" cy="12891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4005345" y="3005497"/>
            <a:ext cx="3308405" cy="734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4005345" y="4001294"/>
            <a:ext cx="3308405" cy="7535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9D3EE84-AC29-4C43-A0BF-4B2BA830903C}"/>
              </a:ext>
            </a:extLst>
          </p:cNvPr>
          <p:cNvCxnSpPr>
            <a:cxnSpLocks/>
          </p:cNvCxnSpPr>
          <p:nvPr/>
        </p:nvCxnSpPr>
        <p:spPr>
          <a:xfrm>
            <a:off x="3523376" y="4496499"/>
            <a:ext cx="2441196" cy="578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1D9AE48-0A6B-4B7B-AA10-4EC46658081A}"/>
              </a:ext>
            </a:extLst>
          </p:cNvPr>
          <p:cNvSpPr txBox="1"/>
          <p:nvPr/>
        </p:nvSpPr>
        <p:spPr>
          <a:xfrm>
            <a:off x="5897461" y="4983061"/>
            <a:ext cx="58078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当执行</a:t>
            </a:r>
            <a:r>
              <a:rPr lang="en-US" altLang="zh-CN" dirty="0"/>
              <a:t>print(‘C’)</a:t>
            </a:r>
            <a:r>
              <a:rPr lang="zh-CN" altLang="en-US" dirty="0"/>
              <a:t>时，</a:t>
            </a:r>
            <a:r>
              <a:rPr lang="en-US" altLang="zh-CN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 100 or score &lt; 0</a:t>
            </a:r>
            <a:r>
              <a:rPr lang="zh-CN" altLang="en-US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为假</a:t>
            </a:r>
            <a:endParaRPr lang="en-US" altLang="zh-CN" sz="1800" b="1" u="sng" dirty="0">
              <a:solidFill>
                <a:srgbClr val="FF0000"/>
              </a:solidFill>
              <a:latin typeface="Consolas" panose="020B0609020204030204" charset="0"/>
              <a:sym typeface="+mn-ea"/>
            </a:endParaRPr>
          </a:p>
          <a:p>
            <a:r>
              <a:rPr lang="zh-CN" altLang="en-US" dirty="0"/>
              <a:t>                                 且</a:t>
            </a:r>
            <a:r>
              <a:rPr lang="en-US" altLang="zh-CN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&gt;= 90</a:t>
            </a:r>
            <a:r>
              <a:rPr lang="zh-CN" altLang="en-US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为假</a:t>
            </a:r>
            <a:endParaRPr lang="en-US" altLang="zh-CN" sz="1800" b="1" u="sng" dirty="0">
              <a:solidFill>
                <a:srgbClr val="FF0000"/>
              </a:solidFill>
              <a:latin typeface="Consolas" panose="020B0609020204030204" charset="0"/>
              <a:sym typeface="+mn-ea"/>
            </a:endParaRPr>
          </a:p>
          <a:p>
            <a:r>
              <a:rPr lang="zh-CN" altLang="en-US" dirty="0"/>
              <a:t>                                 且</a:t>
            </a:r>
            <a:r>
              <a:rPr lang="en-US" altLang="zh-CN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&gt;= 80</a:t>
            </a:r>
            <a:r>
              <a:rPr lang="zh-CN" altLang="en-US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为假</a:t>
            </a:r>
            <a:endParaRPr lang="en-US" altLang="zh-CN" dirty="0"/>
          </a:p>
          <a:p>
            <a:r>
              <a:rPr lang="zh-CN" altLang="en-US" dirty="0"/>
              <a:t>                                 且</a:t>
            </a:r>
            <a:r>
              <a:rPr lang="en-US" altLang="zh-CN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score &gt;= 70</a:t>
            </a:r>
            <a:r>
              <a:rPr lang="zh-CN" altLang="en-US" sz="1800" b="1" u="sng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为真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683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524000" y="65267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分析上一题，当输入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80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时，输出（   ）。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7652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52801" y="4747333"/>
            <a:ext cx="49570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886092" y="2895190"/>
            <a:ext cx="924025" cy="149624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852404" y="4811628"/>
            <a:ext cx="49570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81162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142602" y="284162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138028" y="4875921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87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双分支选择结构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Python还提供了一个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三元运算符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，语法为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value1 if condition else value2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当条件表达式condition的值与True等价时，表达式的值为value1，否则表达式的值为value2。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b = 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if 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&gt;13 else 9        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#赋值运算符优先级更低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b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52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06547" y="4349411"/>
            <a:ext cx="1621971" cy="946491"/>
          </a:xfrm>
          <a:prstGeom prst="rect">
            <a:avLst/>
          </a:prstGeom>
          <a:solidFill>
            <a:schemeClr val="accent1">
              <a:lumMod val="40000"/>
              <a:lumOff val="60000"/>
              <a:alpha val="4902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206548" y="2135018"/>
            <a:ext cx="1621971" cy="1905000"/>
          </a:xfrm>
          <a:prstGeom prst="rect">
            <a:avLst/>
          </a:prstGeom>
          <a:solidFill>
            <a:schemeClr val="accent1">
              <a:lumMod val="40000"/>
              <a:lumOff val="60000"/>
              <a:alpha val="4902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4.2.4  选择结构的嵌套</a:t>
            </a:r>
          </a:p>
        </p:txBody>
      </p:sp>
      <p:sp>
        <p:nvSpPr>
          <p:cNvPr id="30722" name="文本占位符 2969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 lnSpcReduction="10000"/>
          </a:bodyPr>
          <a:lstStyle/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表达式1: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语句块1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表达式2: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语句块2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else: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语句块3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表达式4: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语句块4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缩进必须要正确并且一致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30723" name="Picture -21474826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395" y="1690690"/>
            <a:ext cx="2597150" cy="34004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14022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8200" y="1690688"/>
            <a:ext cx="832585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分析：可以用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四个单分支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结构实现，也可以用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多分支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实现。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输入学生的成绩，根据成绩进行分类，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以上为优秀，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70~84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为良好，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60~69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为及格，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以下为不及格。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8200" y="2489122"/>
            <a:ext cx="4727713" cy="38318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g=float(input("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请输入学生成绩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:"))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g&lt;60: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g&lt;70: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g&lt;85: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g&gt;=85: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2785" y="2176199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错误顺序：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6333877" y="2489122"/>
            <a:ext cx="4727713" cy="38318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g=float(input("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请输入学生成绩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:"))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g&lt;60 and g &gt;= 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g&lt;70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g &lt;= 60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g&lt;85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g &gt;=70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g&gt;=85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g &lt;= 100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5565913" y="4007457"/>
            <a:ext cx="767964" cy="4850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6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8200" y="1758468"/>
            <a:ext cx="832585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分析：可以用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四个单分支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结构实现，也可以用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多分支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实现。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输入学生的成绩，根据成绩进行分类，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以上为优秀，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70~84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为良好，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60~69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为及格，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以下为不及格。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58016" y="2465268"/>
            <a:ext cx="4876510" cy="3831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g=float(input("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请输入学生成绩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:"))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g&lt;60: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g&lt;70: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g&lt;85: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6321287" y="4007457"/>
            <a:ext cx="5032513" cy="23854"/>
          </a:xfrm>
          <a:prstGeom prst="straightConnector1">
            <a:avLst/>
          </a:prstGeom>
          <a:ln w="285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6427694" y="3434013"/>
            <a:ext cx="1297208" cy="600105"/>
          </a:xfrm>
          <a:custGeom>
            <a:avLst/>
            <a:gdLst>
              <a:gd name="connsiteX0" fmla="*/ 1183341 w 1297208"/>
              <a:gd name="connsiteY0" fmla="*/ 600105 h 600105"/>
              <a:gd name="connsiteX1" fmla="*/ 1183341 w 1297208"/>
              <a:gd name="connsiteY1" fmla="*/ 44293 h 600105"/>
              <a:gd name="connsiteX2" fmla="*/ 0 w 1297208"/>
              <a:gd name="connsiteY2" fmla="*/ 35328 h 600105"/>
              <a:gd name="connsiteX3" fmla="*/ 0 w 1297208"/>
              <a:gd name="connsiteY3" fmla="*/ 35328 h 60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7208" h="600105">
                <a:moveTo>
                  <a:pt x="1183341" y="600105"/>
                </a:moveTo>
                <a:cubicBezTo>
                  <a:pt x="1281953" y="369264"/>
                  <a:pt x="1380565" y="138423"/>
                  <a:pt x="1183341" y="44293"/>
                </a:cubicBezTo>
                <a:cubicBezTo>
                  <a:pt x="986117" y="-49837"/>
                  <a:pt x="0" y="35328"/>
                  <a:pt x="0" y="35328"/>
                </a:cubicBezTo>
                <a:lnTo>
                  <a:pt x="0" y="35328"/>
                </a:lnTo>
              </a:path>
            </a:pathLst>
          </a:cu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7601405" y="3340281"/>
            <a:ext cx="1430998" cy="675907"/>
          </a:xfrm>
          <a:custGeom>
            <a:avLst/>
            <a:gdLst>
              <a:gd name="connsiteX0" fmla="*/ 1327442 w 1430998"/>
              <a:gd name="connsiteY0" fmla="*/ 675907 h 675907"/>
              <a:gd name="connsiteX1" fmla="*/ 1318477 w 1430998"/>
              <a:gd name="connsiteY1" fmla="*/ 48378 h 675907"/>
              <a:gd name="connsiteX2" fmla="*/ 179960 w 1430998"/>
              <a:gd name="connsiteY2" fmla="*/ 111131 h 675907"/>
              <a:gd name="connsiteX3" fmla="*/ 18595 w 1430998"/>
              <a:gd name="connsiteY3" fmla="*/ 657978 h 67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998" h="675907">
                <a:moveTo>
                  <a:pt x="1327442" y="675907"/>
                </a:moveTo>
                <a:cubicBezTo>
                  <a:pt x="1418583" y="409207"/>
                  <a:pt x="1509724" y="142507"/>
                  <a:pt x="1318477" y="48378"/>
                </a:cubicBezTo>
                <a:cubicBezTo>
                  <a:pt x="1127230" y="-45751"/>
                  <a:pt x="396607" y="9531"/>
                  <a:pt x="179960" y="111131"/>
                </a:cubicBezTo>
                <a:cubicBezTo>
                  <a:pt x="-36687" y="212731"/>
                  <a:pt x="-9046" y="435354"/>
                  <a:pt x="18595" y="657978"/>
                </a:cubicBezTo>
              </a:path>
            </a:pathLst>
          </a:cu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8898613" y="3347842"/>
            <a:ext cx="1307501" cy="675907"/>
          </a:xfrm>
          <a:custGeom>
            <a:avLst/>
            <a:gdLst>
              <a:gd name="connsiteX0" fmla="*/ 1327442 w 1430998"/>
              <a:gd name="connsiteY0" fmla="*/ 675907 h 675907"/>
              <a:gd name="connsiteX1" fmla="*/ 1318477 w 1430998"/>
              <a:gd name="connsiteY1" fmla="*/ 48378 h 675907"/>
              <a:gd name="connsiteX2" fmla="*/ 179960 w 1430998"/>
              <a:gd name="connsiteY2" fmla="*/ 111131 h 675907"/>
              <a:gd name="connsiteX3" fmla="*/ 18595 w 1430998"/>
              <a:gd name="connsiteY3" fmla="*/ 657978 h 67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0998" h="675907">
                <a:moveTo>
                  <a:pt x="1327442" y="675907"/>
                </a:moveTo>
                <a:cubicBezTo>
                  <a:pt x="1418583" y="409207"/>
                  <a:pt x="1509724" y="142507"/>
                  <a:pt x="1318477" y="48378"/>
                </a:cubicBezTo>
                <a:cubicBezTo>
                  <a:pt x="1127230" y="-45751"/>
                  <a:pt x="396607" y="9531"/>
                  <a:pt x="179960" y="111131"/>
                </a:cubicBezTo>
                <a:cubicBezTo>
                  <a:pt x="-36687" y="212731"/>
                  <a:pt x="-9046" y="435354"/>
                  <a:pt x="18595" y="657978"/>
                </a:cubicBezTo>
              </a:path>
            </a:pathLst>
          </a:cu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>
            <a:off x="9994844" y="3358006"/>
            <a:ext cx="1297208" cy="668346"/>
          </a:xfrm>
          <a:custGeom>
            <a:avLst/>
            <a:gdLst>
              <a:gd name="connsiteX0" fmla="*/ 1183341 w 1297208"/>
              <a:gd name="connsiteY0" fmla="*/ 600105 h 600105"/>
              <a:gd name="connsiteX1" fmla="*/ 1183341 w 1297208"/>
              <a:gd name="connsiteY1" fmla="*/ 44293 h 600105"/>
              <a:gd name="connsiteX2" fmla="*/ 0 w 1297208"/>
              <a:gd name="connsiteY2" fmla="*/ 35328 h 600105"/>
              <a:gd name="connsiteX3" fmla="*/ 0 w 1297208"/>
              <a:gd name="connsiteY3" fmla="*/ 35328 h 60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7208" h="600105">
                <a:moveTo>
                  <a:pt x="1183341" y="600105"/>
                </a:moveTo>
                <a:cubicBezTo>
                  <a:pt x="1281953" y="369264"/>
                  <a:pt x="1380565" y="138423"/>
                  <a:pt x="1183341" y="44293"/>
                </a:cubicBezTo>
                <a:cubicBezTo>
                  <a:pt x="986117" y="-49837"/>
                  <a:pt x="0" y="35328"/>
                  <a:pt x="0" y="35328"/>
                </a:cubicBezTo>
                <a:lnTo>
                  <a:pt x="0" y="35328"/>
                </a:lnTo>
              </a:path>
            </a:pathLst>
          </a:cu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392053" y="410735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60</a:t>
            </a:r>
            <a:endParaRPr lang="zh-CN" altLang="en-US" sz="24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8668404" y="410735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70</a:t>
            </a:r>
            <a:endParaRPr lang="zh-CN" altLang="en-US" sz="24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839418" y="410735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85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6070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多分支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的条件顺序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2783321"/>
            <a:ext cx="2731936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g&lt;85: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g&lt;70: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g&lt;60: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print("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不及格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2541" y="2223158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错误顺序：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764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A89853-5984-46E9-8548-F1ED8272AAA7}" type="datetime1">
              <a:rPr lang="zh-CN" altLang="en-US" smtClean="0"/>
              <a:pPr>
                <a:defRPr/>
              </a:pPr>
              <a:t>2024/10/8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2519366" y="1110344"/>
            <a:ext cx="3862384" cy="4909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x=2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y=-1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z=2 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x&lt;y: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if y&lt;0: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z=0 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e</a:t>
            </a:r>
            <a:r>
              <a:rPr lang="da-DK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lse:</a:t>
            </a:r>
          </a:p>
          <a:p>
            <a:pPr>
              <a:lnSpc>
                <a:spcPct val="150000"/>
              </a:lnSpc>
            </a:pPr>
            <a:r>
              <a:rPr lang="da-DK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z=z+1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print(z)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224157" y="219279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8224157" y="305004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8224157" y="390729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8224157" y="476454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7509782" y="225708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509782" y="311433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509782" y="397158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509782" y="482883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2" name="矩形 1"/>
          <p:cNvSpPr/>
          <p:nvPr>
            <p:custDataLst>
              <p:tags r:id="rId12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12827000" y="1270000"/>
            <a:ext cx="3332480" cy="4093428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y&lt;0: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z=0 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e</a:t>
            </a:r>
            <a:r>
              <a:rPr lang="da-DK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lse:</a:t>
            </a:r>
          </a:p>
          <a:p>
            <a:r>
              <a:rPr lang="da-DK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z=z+1 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
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
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 x&lt;y
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的内嵌语句，因为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x&lt;y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不满足，所以
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if y&lt;0: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z=0 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e</a:t>
            </a:r>
            <a:r>
              <a:rPr lang="da-DK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lse:</a:t>
            </a:r>
          </a:p>
          <a:p>
            <a:r>
              <a:rPr lang="da-DK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z=z+1 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
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不执行，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z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不会被重新赋值</a:t>
            </a:r>
          </a:p>
        </p:txBody>
      </p: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3" name="RemarkBack"/>
            <p:cNvSpPr/>
            <p:nvPr>
              <p:custDataLst>
                <p:tags r:id="rId2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6" name="RemarkBack"/>
          <p:cNvSpPr/>
          <p:nvPr>
            <p:custDataLst>
              <p:tags r:id="rId16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markBlock"/>
          <p:cNvSpPr/>
          <p:nvPr>
            <p:custDataLst>
              <p:tags r:id="rId17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markTitleText"/>
          <p:cNvSpPr txBox="1"/>
          <p:nvPr>
            <p:custDataLst>
              <p:tags r:id="rId18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1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22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884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A89853-5984-46E9-8548-F1ED8272AAA7}" type="datetime1">
              <a:rPr lang="zh-CN" altLang="en-US" smtClean="0"/>
              <a:pPr>
                <a:defRPr/>
              </a:pPr>
              <a:t>2024/10/8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2519366" y="951722"/>
            <a:ext cx="3862384" cy="50680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x=2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y=-1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z=2 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x&lt;y: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if y&lt;0: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z=0 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da-DK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lse:</a:t>
            </a:r>
          </a:p>
          <a:p>
            <a:pPr>
              <a:lnSpc>
                <a:spcPct val="150000"/>
              </a:lnSpc>
            </a:pPr>
            <a:r>
              <a:rPr lang="da-DK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z=z+1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print(z)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224157" y="219279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8224157" y="305004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8224157" y="390729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8224157" y="4764542"/>
            <a:ext cx="11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7509782" y="225708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509782" y="311433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509782" y="397158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509782" y="482883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2" name="矩形 1"/>
          <p:cNvSpPr/>
          <p:nvPr>
            <p:custDataLst>
              <p:tags r:id="rId12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12827000" y="1270001"/>
            <a:ext cx="3332480" cy="1323439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z=z+1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else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的内嵌语句，因为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x&lt;y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不满足，所以执行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else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分支的语句</a:t>
            </a:r>
            <a:r>
              <a:rPr lang="da-DK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z=+1 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3" name="RemarkBack"/>
            <p:cNvSpPr/>
            <p:nvPr>
              <p:custDataLst>
                <p:tags r:id="rId2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6" name="RemarkBack"/>
          <p:cNvSpPr/>
          <p:nvPr>
            <p:custDataLst>
              <p:tags r:id="rId16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markBlock"/>
          <p:cNvSpPr/>
          <p:nvPr>
            <p:custDataLst>
              <p:tags r:id="rId17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markTitleText"/>
          <p:cNvSpPr txBox="1"/>
          <p:nvPr>
            <p:custDataLst>
              <p:tags r:id="rId18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1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22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810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程序的效率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218945" y="2772330"/>
            <a:ext cx="3020133" cy="4085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=a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x1&gt;=x2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x1&gt;=x3: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=x1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x2&gt;=x1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x2&gt;=x3: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=x2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x3&gt;=x2 and x3&gt;=x1: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=x3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print(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2152650" y="1719720"/>
            <a:ext cx="3332008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输入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x1,x2,x3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，输出其中的最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大数。</a:t>
            </a:r>
            <a:endParaRPr lang="zh-CN" altLang="en-US" sz="2000" dirty="0"/>
          </a:p>
        </p:txBody>
      </p:sp>
      <p:sp>
        <p:nvSpPr>
          <p:cNvPr id="10" name="文本框 4"/>
          <p:cNvSpPr>
            <a:spLocks noChangeArrowheads="1"/>
          </p:cNvSpPr>
          <p:nvPr/>
        </p:nvSpPr>
        <p:spPr bwMode="auto">
          <a:xfrm>
            <a:off x="6450424" y="2202993"/>
            <a:ext cx="2717961" cy="1015663"/>
          </a:xfrm>
          <a:prstGeom prst="rect">
            <a:avLst/>
          </a:prstGeom>
          <a:gradFill rotWithShape="1">
            <a:gsLst>
              <a:gs pos="0">
                <a:srgbClr val="A6E4FF"/>
              </a:gs>
              <a:gs pos="34999">
                <a:srgbClr val="BFEDFF"/>
              </a:gs>
              <a:gs pos="100000">
                <a:srgbClr val="E6F9FF"/>
              </a:gs>
            </a:gsLst>
            <a:lin ang="5400000" scaled="1"/>
          </a:gradFill>
          <a:ln w="9525">
            <a:solidFill>
              <a:srgbClr val="4BACC6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模拟单步执行行：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假定输入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9 -3  7</a:t>
            </a:r>
          </a:p>
        </p:txBody>
      </p:sp>
      <p:sp>
        <p:nvSpPr>
          <p:cNvPr id="11" name="矩形 15"/>
          <p:cNvSpPr>
            <a:spLocks noChangeArrowheads="1"/>
          </p:cNvSpPr>
          <p:nvPr/>
        </p:nvSpPr>
        <p:spPr bwMode="auto">
          <a:xfrm>
            <a:off x="2262189" y="5245536"/>
            <a:ext cx="2808287" cy="385762"/>
          </a:xfrm>
          <a:prstGeom prst="rect">
            <a:avLst/>
          </a:prstGeom>
          <a:solidFill>
            <a:srgbClr val="FFFF00">
              <a:alpha val="30196"/>
            </a:srgbClr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2" name="矩形 14"/>
          <p:cNvSpPr>
            <a:spLocks noChangeArrowheads="1"/>
          </p:cNvSpPr>
          <p:nvPr/>
        </p:nvSpPr>
        <p:spPr bwMode="auto">
          <a:xfrm>
            <a:off x="2233074" y="4396598"/>
            <a:ext cx="3113086" cy="382588"/>
          </a:xfrm>
          <a:prstGeom prst="rect">
            <a:avLst/>
          </a:prstGeom>
          <a:solidFill>
            <a:srgbClr val="FFFF00">
              <a:alpha val="30196"/>
            </a:srgbClr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3" name="矩形 13"/>
          <p:cNvSpPr>
            <a:spLocks noChangeArrowheads="1"/>
          </p:cNvSpPr>
          <p:nvPr/>
        </p:nvSpPr>
        <p:spPr bwMode="auto">
          <a:xfrm>
            <a:off x="2209663" y="3910039"/>
            <a:ext cx="2808287" cy="385763"/>
          </a:xfrm>
          <a:prstGeom prst="rect">
            <a:avLst/>
          </a:prstGeom>
          <a:solidFill>
            <a:srgbClr val="FFFF00">
              <a:alpha val="30196"/>
            </a:srgbClr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/>
        </p:nvSpPr>
        <p:spPr bwMode="auto">
          <a:xfrm>
            <a:off x="2262189" y="3441386"/>
            <a:ext cx="2808287" cy="382588"/>
          </a:xfrm>
          <a:prstGeom prst="rect">
            <a:avLst/>
          </a:prstGeom>
          <a:solidFill>
            <a:srgbClr val="FFFF00">
              <a:alpha val="30196"/>
            </a:srgbClr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5" name="左中括号 3"/>
          <p:cNvSpPr>
            <a:spLocks/>
          </p:cNvSpPr>
          <p:nvPr/>
        </p:nvSpPr>
        <p:spPr bwMode="auto">
          <a:xfrm>
            <a:off x="1968987" y="3689634"/>
            <a:ext cx="142875" cy="576263"/>
          </a:xfrm>
          <a:prstGeom prst="leftBracket">
            <a:avLst>
              <a:gd name="adj" fmla="val 33611"/>
            </a:avLst>
          </a:prstGeom>
          <a:solidFill>
            <a:srgbClr val="FFFF00">
              <a:alpha val="30196"/>
            </a:srgb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6" name="左中括号 5"/>
          <p:cNvSpPr>
            <a:spLocks/>
          </p:cNvSpPr>
          <p:nvPr/>
        </p:nvSpPr>
        <p:spPr bwMode="auto">
          <a:xfrm>
            <a:off x="1964043" y="4524720"/>
            <a:ext cx="144462" cy="576263"/>
          </a:xfrm>
          <a:prstGeom prst="leftBracket">
            <a:avLst>
              <a:gd name="adj" fmla="val 33242"/>
            </a:avLst>
          </a:prstGeom>
          <a:solidFill>
            <a:srgbClr val="FFFF00">
              <a:alpha val="30196"/>
            </a:srgb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7" name="左中括号 6"/>
          <p:cNvSpPr>
            <a:spLocks/>
          </p:cNvSpPr>
          <p:nvPr/>
        </p:nvSpPr>
        <p:spPr bwMode="auto">
          <a:xfrm>
            <a:off x="1976681" y="5438417"/>
            <a:ext cx="144463" cy="576262"/>
          </a:xfrm>
          <a:prstGeom prst="leftBracket">
            <a:avLst>
              <a:gd name="adj" fmla="val 33242"/>
            </a:avLst>
          </a:prstGeom>
          <a:solidFill>
            <a:srgbClr val="FFFF00">
              <a:alpha val="30196"/>
            </a:srgb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8" name="矩形 16"/>
          <p:cNvSpPr>
            <a:spLocks noChangeArrowheads="1"/>
          </p:cNvSpPr>
          <p:nvPr/>
        </p:nvSpPr>
        <p:spPr bwMode="auto">
          <a:xfrm>
            <a:off x="2218945" y="6211367"/>
            <a:ext cx="2851531" cy="384175"/>
          </a:xfrm>
          <a:prstGeom prst="rect">
            <a:avLst/>
          </a:prstGeom>
          <a:solidFill>
            <a:srgbClr val="FFFF00">
              <a:alpha val="30196"/>
            </a:srgbClr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2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450423" y="4102919"/>
            <a:ext cx="3183466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条判断语句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已获得最大值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判断是多余的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有办法跳过多余的判断吗？</a:t>
            </a:r>
          </a:p>
        </p:txBody>
      </p:sp>
    </p:spTree>
    <p:extLst>
      <p:ext uri="{BB962C8B-B14F-4D97-AF65-F5344CB8AC3E}">
        <p14:creationId xmlns:p14="http://schemas.microsoft.com/office/powerpoint/2010/main" val="94153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bldLvl="0" animBg="1" autoUpdateAnimBg="0"/>
      <p:bldP spid="11" grpId="0" bldLvl="0" animBg="1" autoUpdateAnimBg="0"/>
      <p:bldP spid="12" grpId="0" bldLvl="0" animBg="1" autoUpdateAnimBg="0"/>
      <p:bldP spid="13" grpId="0" bldLvl="0" animBg="1" autoUpdateAnimBg="0"/>
      <p:bldP spid="14" grpId="0" bldLvl="0" animBg="1" autoUpdateAnimBg="0"/>
      <p:bldP spid="15" grpId="0" bldLvl="0" animBg="1" autoUpdateAnimBg="0"/>
      <p:bldP spid="16" grpId="0" bldLvl="0" animBg="1" autoUpdateAnimBg="0"/>
      <p:bldP spid="17" grpId="0" bldLvl="0" animBg="1" autoUpdateAnimBg="0"/>
      <p:bldP spid="18" grpId="0" bldLvl="0" animBg="1" autoUpdateAnimBg="0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程序的效率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218944" y="2772330"/>
            <a:ext cx="4345142" cy="4085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rtlCol="0" anchor="ctr" anchorCtr="0">
            <a:noAutofit/>
          </a:bodyPr>
          <a:lstStyle/>
          <a:p>
            <a:pPr>
              <a:lnSpc>
                <a:spcPts val="3100"/>
              </a:lnSpc>
            </a:pP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=a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x1&gt;=x2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x1&gt;=x3: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=x1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else: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if x2&gt;=x1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x2&gt;=x3: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=x2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else: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    if x3&gt;=x2 and x3&gt;=x1: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    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=x3</a:t>
            </a:r>
          </a:p>
          <a:p>
            <a:pPr>
              <a:lnSpc>
                <a:spcPts val="31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print(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2152650" y="1719720"/>
            <a:ext cx="3332008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输入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x1,x2,x3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，输出其中的最大数。（嵌套编程方法）</a:t>
            </a:r>
            <a:endParaRPr lang="zh-CN" altLang="en-US" sz="2000" dirty="0"/>
          </a:p>
        </p:txBody>
      </p:sp>
      <p:sp>
        <p:nvSpPr>
          <p:cNvPr id="19" name="矩形 18"/>
          <p:cNvSpPr/>
          <p:nvPr/>
        </p:nvSpPr>
        <p:spPr bwMode="auto">
          <a:xfrm>
            <a:off x="2534051" y="4411439"/>
            <a:ext cx="3300692" cy="194491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912975" y="2478205"/>
            <a:ext cx="3646168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已获得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不执行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分支的内嵌语句，跳过多余的判断</a:t>
            </a:r>
          </a:p>
        </p:txBody>
      </p:sp>
      <p:cxnSp>
        <p:nvCxnSpPr>
          <p:cNvPr id="21" name="曲线连接符 20"/>
          <p:cNvCxnSpPr>
            <a:stCxn id="20" idx="1"/>
          </p:cNvCxnSpPr>
          <p:nvPr/>
        </p:nvCxnSpPr>
        <p:spPr bwMode="auto">
          <a:xfrm rot="10800000" flipV="1">
            <a:off x="5791222" y="3216869"/>
            <a:ext cx="1121755" cy="1327911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6876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304" y="115690"/>
            <a:ext cx="8012186" cy="80534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分段函数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38" y="1982482"/>
            <a:ext cx="3536326" cy="151716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01304" y="1030501"/>
            <a:ext cx="6822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，按下面的公式计算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的值，并输出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073572" y="1761436"/>
            <a:ext cx="2440354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altLang="zh-CN" sz="2400" dirty="0"/>
              <a:t>x = float(input())</a:t>
            </a:r>
          </a:p>
          <a:p>
            <a:r>
              <a:rPr lang="es-ES" altLang="zh-CN" sz="2400" dirty="0"/>
              <a:t>if x &lt; 0 :</a:t>
            </a:r>
          </a:p>
          <a:p>
            <a:r>
              <a:rPr lang="es-ES" altLang="zh-CN" sz="2400" dirty="0"/>
              <a:t>    y = 0</a:t>
            </a:r>
          </a:p>
          <a:p>
            <a:r>
              <a:rPr lang="es-ES" altLang="zh-CN" sz="2400" dirty="0"/>
              <a:t>elif x &lt; 5:</a:t>
            </a:r>
          </a:p>
          <a:p>
            <a:r>
              <a:rPr lang="es-ES" altLang="zh-CN" sz="2400" dirty="0"/>
              <a:t>    y = x</a:t>
            </a:r>
          </a:p>
          <a:p>
            <a:r>
              <a:rPr lang="es-ES" altLang="zh-CN" sz="2400" dirty="0"/>
              <a:t>elif x &lt; 10:</a:t>
            </a:r>
          </a:p>
          <a:p>
            <a:r>
              <a:rPr lang="es-ES" altLang="zh-CN" sz="2400" dirty="0"/>
              <a:t>    y = 3 * x - 5</a:t>
            </a:r>
          </a:p>
          <a:p>
            <a:r>
              <a:rPr lang="es-ES" altLang="zh-CN" sz="2400" dirty="0"/>
              <a:t>elif x &lt; 20:</a:t>
            </a:r>
          </a:p>
          <a:p>
            <a:r>
              <a:rPr lang="es-ES" altLang="zh-CN" sz="2400" dirty="0"/>
              <a:t>    y = 0.5 * x - 2</a:t>
            </a:r>
          </a:p>
          <a:p>
            <a:r>
              <a:rPr lang="es-ES" altLang="zh-CN" sz="2400" dirty="0"/>
              <a:t>else:</a:t>
            </a:r>
          </a:p>
          <a:p>
            <a:r>
              <a:rPr lang="es-ES" altLang="zh-CN" sz="2400" dirty="0"/>
              <a:t>    y = 0</a:t>
            </a:r>
          </a:p>
          <a:p>
            <a:r>
              <a:rPr lang="es-ES" altLang="zh-CN" sz="2400" dirty="0"/>
              <a:t>    </a:t>
            </a:r>
          </a:p>
          <a:p>
            <a:r>
              <a:rPr lang="es-ES" altLang="zh-CN" sz="2400" dirty="0"/>
              <a:t>print(y)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5461233" y="1753299"/>
            <a:ext cx="3264645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altLang="zh-CN" sz="2400" dirty="0"/>
              <a:t>x = float(input())</a:t>
            </a:r>
          </a:p>
          <a:p>
            <a:r>
              <a:rPr lang="es-ES" altLang="zh-CN" sz="2400" dirty="0"/>
              <a:t>if x &lt; 0 :</a:t>
            </a:r>
          </a:p>
          <a:p>
            <a:r>
              <a:rPr lang="es-ES" altLang="zh-CN" sz="2400" dirty="0"/>
              <a:t>    y = 0</a:t>
            </a:r>
          </a:p>
          <a:p>
            <a:r>
              <a:rPr lang="es-ES" altLang="zh-CN" sz="2400" dirty="0"/>
              <a:t>if 0</a:t>
            </a:r>
            <a:r>
              <a:rPr lang="en-US" altLang="zh-CN" sz="2400" dirty="0"/>
              <a:t> &lt;= </a:t>
            </a:r>
            <a:r>
              <a:rPr lang="es-ES" altLang="zh-CN" sz="2400" dirty="0"/>
              <a:t>x &lt; 5:</a:t>
            </a:r>
          </a:p>
          <a:p>
            <a:r>
              <a:rPr lang="es-ES" altLang="zh-CN" sz="2400" dirty="0"/>
              <a:t>    y = x</a:t>
            </a:r>
          </a:p>
          <a:p>
            <a:r>
              <a:rPr lang="es-ES" altLang="zh-CN" sz="2400" dirty="0"/>
              <a:t>if 5 &lt;= x &lt; 10:</a:t>
            </a:r>
          </a:p>
          <a:p>
            <a:r>
              <a:rPr lang="es-ES" altLang="zh-CN" sz="2400" dirty="0"/>
              <a:t>    y = 3 * x - 5</a:t>
            </a:r>
          </a:p>
          <a:p>
            <a:r>
              <a:rPr lang="es-ES" altLang="zh-CN" sz="2400" dirty="0"/>
              <a:t>if 10 &lt;= x &lt; 20:</a:t>
            </a:r>
          </a:p>
          <a:p>
            <a:r>
              <a:rPr lang="es-ES" altLang="zh-CN" sz="2400" dirty="0"/>
              <a:t>    y = 0.5 * x - 2</a:t>
            </a:r>
          </a:p>
          <a:p>
            <a:r>
              <a:rPr lang="en-US" altLang="zh-CN" sz="2400" dirty="0" err="1"/>
              <a:t>i</a:t>
            </a:r>
            <a:r>
              <a:rPr lang="es-ES" altLang="zh-CN" sz="2400" dirty="0"/>
              <a:t>f x &gt;= 20:</a:t>
            </a:r>
          </a:p>
          <a:p>
            <a:r>
              <a:rPr lang="es-ES" altLang="zh-CN" sz="2400" dirty="0"/>
              <a:t>    y = 0</a:t>
            </a:r>
          </a:p>
          <a:p>
            <a:r>
              <a:rPr lang="es-ES" altLang="zh-CN" sz="2400" dirty="0"/>
              <a:t>    </a:t>
            </a:r>
          </a:p>
          <a:p>
            <a:r>
              <a:rPr lang="es-ES" altLang="zh-CN" sz="2400" dirty="0"/>
              <a:t>print(y)</a:t>
            </a:r>
            <a:endParaRPr lang="zh-CN" altLang="en-US" sz="2400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4A2CE60-C5E1-4419-A92D-7BD64BC949CA}"/>
              </a:ext>
            </a:extLst>
          </p:cNvPr>
          <p:cNvCxnSpPr>
            <a:cxnSpLocks/>
          </p:cNvCxnSpPr>
          <p:nvPr/>
        </p:nvCxnSpPr>
        <p:spPr>
          <a:xfrm flipV="1">
            <a:off x="4013064" y="4513278"/>
            <a:ext cx="1263611" cy="528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B02C5A0-815C-4A56-90EA-D2B9EBD114BF}"/>
              </a:ext>
            </a:extLst>
          </p:cNvPr>
          <p:cNvSpPr txBox="1"/>
          <p:nvPr/>
        </p:nvSpPr>
        <p:spPr>
          <a:xfrm>
            <a:off x="3342997" y="50417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效率低</a:t>
            </a:r>
          </a:p>
        </p:txBody>
      </p:sp>
    </p:spTree>
    <p:extLst>
      <p:ext uri="{BB962C8B-B14F-4D97-AF65-F5344CB8AC3E}">
        <p14:creationId xmlns:p14="http://schemas.microsoft.com/office/powerpoint/2010/main" val="112032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if y&lt;0:&#10;        z=0 &#10;   else:&#10;        z=z+1 &#10;是&#10;if x&lt;y&#10;的内嵌语句，因为x&lt;y不满足，所以&#10; if y&lt;0:&#10;        z=0 &#10;   else:&#10;        z=z+1 &#10;不执行，z不会被重新赋值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z=z+1&#10;是else的内嵌语句，因为x&lt;y不满足，所以执行else分支的语句 z=+1 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3705</TotalTime>
  <Words>1501</Words>
  <Application>Microsoft Office PowerPoint</Application>
  <PresentationFormat>宽屏</PresentationFormat>
  <Paragraphs>282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宋体</vt:lpstr>
      <vt:lpstr>微软雅黑</vt:lpstr>
      <vt:lpstr>微软雅黑</vt:lpstr>
      <vt:lpstr>Arial</vt:lpstr>
      <vt:lpstr>Calibri</vt:lpstr>
      <vt:lpstr>Calibri Light</vt:lpstr>
      <vt:lpstr>Consolas</vt:lpstr>
      <vt:lpstr>Wingdings</vt:lpstr>
      <vt:lpstr>1_Office 主题</vt:lpstr>
      <vt:lpstr>2_Office 主题</vt:lpstr>
      <vt:lpstr>Visio.Drawing.11</vt:lpstr>
      <vt:lpstr>第3章  选择结构</vt:lpstr>
      <vt:lpstr>常见错误</vt:lpstr>
      <vt:lpstr>身份运算符is（同一性测试）</vt:lpstr>
      <vt:lpstr>3.2 选择结构</vt:lpstr>
      <vt:lpstr>3.2.1  单分支选择结构</vt:lpstr>
      <vt:lpstr>4.2.2  双分支选择结构</vt:lpstr>
      <vt:lpstr>4.2.3  多分支选择结构</vt:lpstr>
      <vt:lpstr>问题解决：使用多分支选择结构将成绩从百分制变换到等级制。</vt:lpstr>
      <vt:lpstr>PowerPoint 演示文稿</vt:lpstr>
      <vt:lpstr>双分支选择结构</vt:lpstr>
      <vt:lpstr>4.2.4  选择结构的嵌套</vt:lpstr>
      <vt:lpstr>例   输入学生的成绩，根据成绩进行分类，85以上为优秀，70~84为良好，60~69为及格，60以下为不及格。</vt:lpstr>
      <vt:lpstr>例   输入学生的成绩，根据成绩进行分类，85以上为优秀，70~84为良好，60~69为及格，60以下为不及格。</vt:lpstr>
      <vt:lpstr>注意多分支if语句的条件顺序</vt:lpstr>
      <vt:lpstr>PowerPoint 演示文稿</vt:lpstr>
      <vt:lpstr>PowerPoint 演示文稿</vt:lpstr>
      <vt:lpstr>程序的效率</vt:lpstr>
      <vt:lpstr>程序的效率</vt:lpstr>
      <vt:lpstr>分段函数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程序控制结构</dc:title>
  <dc:creator>Dong</dc:creator>
  <cp:lastModifiedBy>cyj</cp:lastModifiedBy>
  <cp:revision>472</cp:revision>
  <dcterms:created xsi:type="dcterms:W3CDTF">2015-05-05T08:02:00Z</dcterms:created>
  <dcterms:modified xsi:type="dcterms:W3CDTF">2024-10-07T17:04:09Z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