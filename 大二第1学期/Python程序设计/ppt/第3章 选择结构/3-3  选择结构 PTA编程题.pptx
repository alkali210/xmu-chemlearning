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83" r:id="rId3"/>
    <p:sldId id="281" r:id="rId4"/>
    <p:sldId id="282" r:id="rId5"/>
    <p:sldId id="273" r:id="rId6"/>
    <p:sldId id="272" r:id="rId7"/>
    <p:sldId id="277" r:id="rId8"/>
    <p:sldId id="279" r:id="rId9"/>
    <p:sldId id="274" r:id="rId10"/>
    <p:sldId id="27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HQ" initials="L" lastIdx="1" clrIdx="0">
    <p:extLst>
      <p:ext uri="{19B8F6BF-5375-455C-9EA6-DF929625EA0E}">
        <p15:presenceInfo xmlns:p15="http://schemas.microsoft.com/office/powerpoint/2012/main" userId="LiH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407459" y="3325814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752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12680" y="1505745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055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919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36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98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87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96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45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26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01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2024/10/20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08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/>
              <a:t>python </a:t>
            </a:r>
            <a:r>
              <a:rPr lang="zh-CN" altLang="en-US" b="1" dirty="0"/>
              <a:t>第三章 选择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19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684A43-E622-4232-A1E8-8093DC2D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E1EE88-0BB4-40E3-80FE-72DFF3191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997" y="1888091"/>
            <a:ext cx="3209925" cy="22764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950EEAE-928F-43D9-B30F-50DA66970147}"/>
              </a:ext>
            </a:extLst>
          </p:cNvPr>
          <p:cNvSpPr txBox="1"/>
          <p:nvPr/>
        </p:nvSpPr>
        <p:spPr>
          <a:xfrm>
            <a:off x="4622334" y="2290195"/>
            <a:ext cx="7290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等价的意思是：</a:t>
            </a:r>
            <a:r>
              <a:rPr lang="en-US" altLang="zh-CN" dirty="0"/>
              <a:t>x</a:t>
            </a:r>
            <a:r>
              <a:rPr lang="zh-CN" altLang="en-US" dirty="0"/>
              <a:t>取任意的值，两个表达式同真同假，那么就是等价。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x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时，</a:t>
            </a:r>
            <a:r>
              <a:rPr lang="en-US" altLang="zh-CN" dirty="0"/>
              <a:t>x==0</a:t>
            </a:r>
            <a:r>
              <a:rPr lang="zh-CN" altLang="en-US" dirty="0"/>
              <a:t>和</a:t>
            </a:r>
            <a:r>
              <a:rPr lang="en-US" altLang="zh-CN" dirty="0"/>
              <a:t>not x</a:t>
            </a:r>
            <a:r>
              <a:rPr lang="zh-CN" altLang="en-US" dirty="0"/>
              <a:t>都为真；当</a:t>
            </a:r>
            <a:r>
              <a:rPr lang="en-US" altLang="zh-CN" dirty="0"/>
              <a:t>x</a:t>
            </a:r>
            <a:r>
              <a:rPr lang="zh-CN" altLang="en-US" dirty="0"/>
              <a:t>为非零时， </a:t>
            </a:r>
            <a:r>
              <a:rPr lang="en-US" altLang="zh-CN" dirty="0"/>
              <a:t>x==0</a:t>
            </a:r>
            <a:r>
              <a:rPr lang="zh-CN" altLang="en-US" dirty="0"/>
              <a:t>和</a:t>
            </a:r>
            <a:r>
              <a:rPr lang="en-US" altLang="zh-CN" dirty="0"/>
              <a:t>not x</a:t>
            </a:r>
            <a:r>
              <a:rPr lang="zh-CN" altLang="en-US" dirty="0"/>
              <a:t>都为假。</a:t>
            </a:r>
          </a:p>
        </p:txBody>
      </p:sp>
    </p:spTree>
    <p:extLst>
      <p:ext uri="{BB962C8B-B14F-4D97-AF65-F5344CB8AC3E}">
        <p14:creationId xmlns:p14="http://schemas.microsoft.com/office/powerpoint/2010/main" val="14579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3563" y="1085843"/>
            <a:ext cx="107926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'x=${:7.2f}'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.format(123.5678))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执行后的输出结果是（ ）。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选项中的□代表空格。</a:t>
            </a:r>
          </a:p>
        </p:txBody>
      </p:sp>
      <p:sp>
        <p:nvSpPr>
          <p:cNvPr id="6" name="矩形 5"/>
          <p:cNvSpPr/>
          <p:nvPr/>
        </p:nvSpPr>
        <p:spPr>
          <a:xfrm>
            <a:off x="870065" y="4291738"/>
            <a:ext cx="99986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'{:7.2f}{:2}'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.format(101/7,101%8))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的运行结果是（ ）。</a:t>
            </a:r>
          </a:p>
        </p:txBody>
      </p:sp>
      <p:sp>
        <p:nvSpPr>
          <p:cNvPr id="7" name="矩形 6"/>
          <p:cNvSpPr/>
          <p:nvPr/>
        </p:nvSpPr>
        <p:spPr>
          <a:xfrm>
            <a:off x="870065" y="46373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2400" b="1" dirty="0"/>
          </a:p>
          <a:p>
            <a:r>
              <a:rPr lang="en-US" altLang="zh-CN" sz="2400" b="1" dirty="0"/>
              <a:t>B.</a:t>
            </a:r>
          </a:p>
          <a:p>
            <a:r>
              <a:rPr lang="en-US" altLang="zh-CN" sz="2400" b="1" dirty="0"/>
              <a:t>□□14.43□5</a:t>
            </a:r>
            <a:r>
              <a:rPr lang="zh-CN" altLang="en-US" sz="2400" b="1" dirty="0"/>
              <a:t>（□代表空格）</a:t>
            </a:r>
          </a:p>
        </p:txBody>
      </p:sp>
      <p:sp>
        <p:nvSpPr>
          <p:cNvPr id="8" name="矩形 7"/>
          <p:cNvSpPr/>
          <p:nvPr/>
        </p:nvSpPr>
        <p:spPr>
          <a:xfrm>
            <a:off x="870065" y="266406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2400" b="1" dirty="0"/>
          </a:p>
          <a:p>
            <a:r>
              <a:rPr lang="en-US" altLang="zh-CN" sz="2400" b="1" dirty="0"/>
              <a:t>C.</a:t>
            </a:r>
          </a:p>
          <a:p>
            <a:r>
              <a:rPr lang="en-US" altLang="zh-CN" sz="2400" b="1" dirty="0"/>
              <a:t>x=$□123.57</a:t>
            </a:r>
            <a:endParaRPr lang="zh-CN" altLang="en-US" sz="2400" b="1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37776C9-9285-4320-947A-D14BE01BD270}"/>
              </a:ext>
            </a:extLst>
          </p:cNvPr>
          <p:cNvCxnSpPr/>
          <p:nvPr/>
        </p:nvCxnSpPr>
        <p:spPr>
          <a:xfrm flipH="1">
            <a:off x="2709644" y="3229761"/>
            <a:ext cx="1342239" cy="31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EDA12E6-B12A-48A0-8679-5B8B72734769}"/>
              </a:ext>
            </a:extLst>
          </p:cNvPr>
          <p:cNvSpPr txBox="1"/>
          <p:nvPr/>
        </p:nvSpPr>
        <p:spPr>
          <a:xfrm>
            <a:off x="4228051" y="30535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四舍五入</a:t>
            </a:r>
          </a:p>
        </p:txBody>
      </p:sp>
    </p:spTree>
    <p:extLst>
      <p:ext uri="{BB962C8B-B14F-4D97-AF65-F5344CB8AC3E}">
        <p14:creationId xmlns:p14="http://schemas.microsoft.com/office/powerpoint/2010/main" val="252697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10146" y="711907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b="1" dirty="0"/>
              <a:t>x=5.6</a:t>
            </a:r>
          </a:p>
          <a:p>
            <a:endParaRPr lang="en-US" altLang="zh-CN" sz="2800" b="1" dirty="0"/>
          </a:p>
          <a:p>
            <a:r>
              <a:rPr lang="en-US" altLang="zh-CN" sz="2800" b="1" dirty="0" err="1"/>
              <a:t>f'the</a:t>
            </a:r>
            <a:r>
              <a:rPr lang="en-US" altLang="zh-CN" sz="2800" b="1" dirty="0"/>
              <a:t> value of x is {x:7.3f}'</a:t>
            </a:r>
          </a:p>
          <a:p>
            <a:endParaRPr lang="en-US" altLang="zh-CN" sz="2800" b="1" dirty="0"/>
          </a:p>
          <a:p>
            <a:r>
              <a:rPr lang="zh-CN" altLang="en-US" sz="2800" b="1" dirty="0"/>
              <a:t>值是（ ）。</a:t>
            </a:r>
          </a:p>
        </p:txBody>
      </p:sp>
      <p:sp>
        <p:nvSpPr>
          <p:cNvPr id="4" name="矩形 3"/>
          <p:cNvSpPr/>
          <p:nvPr/>
        </p:nvSpPr>
        <p:spPr>
          <a:xfrm>
            <a:off x="1593273" y="37154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2400" b="1" dirty="0"/>
          </a:p>
          <a:p>
            <a:r>
              <a:rPr lang="en-US" altLang="zh-CN" sz="2400" b="1" dirty="0"/>
              <a:t>A.</a:t>
            </a:r>
          </a:p>
          <a:p>
            <a:r>
              <a:rPr lang="en-US" altLang="zh-CN" sz="2400" b="1" dirty="0"/>
              <a:t>'the value of x is □□5.600'</a:t>
            </a:r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6688974" y="839276"/>
            <a:ext cx="46648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print(10, 30, 50, 70, </a:t>
            </a:r>
            <a:r>
              <a:rPr lang="en-US" altLang="zh-CN" sz="2400" b="1" dirty="0" err="1">
                <a:solidFill>
                  <a:srgbClr val="FF0000"/>
                </a:solidFill>
              </a:rPr>
              <a:t>sep</a:t>
            </a:r>
            <a:r>
              <a:rPr lang="en-US" altLang="zh-CN" sz="2400" b="1" dirty="0"/>
              <a:t>=',', </a:t>
            </a:r>
            <a:r>
              <a:rPr lang="en-US" altLang="zh-CN" sz="2400" b="1" dirty="0">
                <a:solidFill>
                  <a:srgbClr val="FF0000"/>
                </a:solidFill>
              </a:rPr>
              <a:t>end</a:t>
            </a:r>
            <a:r>
              <a:rPr lang="en-US" altLang="zh-CN" sz="2400" b="1" dirty="0"/>
              <a:t>='.')</a:t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输出结果是（ ）。</a:t>
            </a:r>
          </a:p>
        </p:txBody>
      </p:sp>
      <p:sp>
        <p:nvSpPr>
          <p:cNvPr id="6" name="矩形 5"/>
          <p:cNvSpPr/>
          <p:nvPr/>
        </p:nvSpPr>
        <p:spPr>
          <a:xfrm>
            <a:off x="6863542" y="4147552"/>
            <a:ext cx="39263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/>
              <a:t>D.</a:t>
            </a:r>
          </a:p>
          <a:p>
            <a:r>
              <a:rPr lang="en-US" altLang="zh-CN" sz="2400" b="1" dirty="0"/>
              <a:t>10,30,50,70.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0668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7-8 </a:t>
            </a:r>
            <a:r>
              <a:rPr lang="zh-CN" altLang="en-US" b="1" dirty="0"/>
              <a:t>分段函数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30333" y="2120384"/>
            <a:ext cx="23663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为实数</a:t>
            </a:r>
          </a:p>
        </p:txBody>
      </p:sp>
      <p:sp>
        <p:nvSpPr>
          <p:cNvPr id="9" name="矩形 8"/>
          <p:cNvSpPr/>
          <p:nvPr/>
        </p:nvSpPr>
        <p:spPr>
          <a:xfrm>
            <a:off x="4089621" y="1827828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altLang="zh-CN" sz="2400" dirty="0"/>
              <a:t>x = </a:t>
            </a:r>
            <a:r>
              <a:rPr lang="es-ES" altLang="zh-CN" sz="2400" dirty="0">
                <a:solidFill>
                  <a:srgbClr val="FF0000"/>
                </a:solidFill>
              </a:rPr>
              <a:t>float</a:t>
            </a:r>
            <a:r>
              <a:rPr lang="es-ES" altLang="zh-CN" sz="2400" dirty="0"/>
              <a:t>(input())</a:t>
            </a:r>
          </a:p>
          <a:p>
            <a:r>
              <a:rPr lang="es-ES" altLang="zh-CN" sz="2400" dirty="0"/>
              <a:t>if x &lt; 0 :</a:t>
            </a:r>
          </a:p>
          <a:p>
            <a:r>
              <a:rPr lang="es-ES" altLang="zh-CN" sz="2400" dirty="0"/>
              <a:t>    y = 0</a:t>
            </a:r>
          </a:p>
          <a:p>
            <a:r>
              <a:rPr lang="es-ES" altLang="zh-CN" sz="2400" dirty="0"/>
              <a:t>elif x &lt; 5 :</a:t>
            </a:r>
          </a:p>
          <a:p>
            <a:r>
              <a:rPr lang="es-ES" altLang="zh-CN" sz="2400" dirty="0"/>
              <a:t>    y = x</a:t>
            </a:r>
          </a:p>
          <a:p>
            <a:r>
              <a:rPr lang="es-ES" altLang="zh-CN" sz="2400" dirty="0"/>
              <a:t>elif x &lt; 10 :</a:t>
            </a:r>
          </a:p>
          <a:p>
            <a:r>
              <a:rPr lang="es-ES" altLang="zh-CN" sz="2400" dirty="0"/>
              <a:t>    y = 3 * x - 5</a:t>
            </a:r>
          </a:p>
          <a:p>
            <a:r>
              <a:rPr lang="es-ES" altLang="zh-CN" sz="2400" dirty="0"/>
              <a:t>elif x &lt; 20 :</a:t>
            </a:r>
          </a:p>
          <a:p>
            <a:r>
              <a:rPr lang="es-ES" altLang="zh-CN" sz="2400" dirty="0"/>
              <a:t>    y = 0.5 * x - 2</a:t>
            </a:r>
          </a:p>
          <a:p>
            <a:r>
              <a:rPr lang="es-ES" altLang="zh-CN" sz="2400" dirty="0"/>
              <a:t>else :</a:t>
            </a:r>
          </a:p>
          <a:p>
            <a:r>
              <a:rPr lang="es-ES" altLang="zh-CN" sz="2400" dirty="0"/>
              <a:t>    y = 0</a:t>
            </a:r>
          </a:p>
          <a:p>
            <a:endParaRPr lang="es-ES" altLang="zh-CN" sz="2400" dirty="0"/>
          </a:p>
          <a:p>
            <a:r>
              <a:rPr lang="es-ES" altLang="zh-CN" sz="2400" dirty="0"/>
              <a:t>print(y)</a:t>
            </a:r>
            <a:endParaRPr lang="zh-CN" altLang="en-US" sz="2400" dirty="0"/>
          </a:p>
        </p:txBody>
      </p:sp>
      <p:sp>
        <p:nvSpPr>
          <p:cNvPr id="10" name="线形标注 1(带强调线) 9"/>
          <p:cNvSpPr/>
          <p:nvPr/>
        </p:nvSpPr>
        <p:spPr>
          <a:xfrm>
            <a:off x="7455672" y="747423"/>
            <a:ext cx="3055952" cy="851789"/>
          </a:xfrm>
          <a:prstGeom prst="accentCallout1">
            <a:avLst>
              <a:gd name="adj1" fmla="val 18750"/>
              <a:gd name="adj2" fmla="val -8333"/>
              <a:gd name="adj3" fmla="val 136865"/>
              <a:gd name="adj4" fmla="val -7496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 第一句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出现一个测试点错误</a:t>
            </a:r>
          </a:p>
        </p:txBody>
      </p:sp>
      <p:sp>
        <p:nvSpPr>
          <p:cNvPr id="11" name="线形标注 1(带强调线) 10"/>
          <p:cNvSpPr/>
          <p:nvPr/>
        </p:nvSpPr>
        <p:spPr>
          <a:xfrm>
            <a:off x="7798903" y="2456953"/>
            <a:ext cx="3064840" cy="2098269"/>
          </a:xfrm>
          <a:prstGeom prst="accentCallout1">
            <a:avLst>
              <a:gd name="adj1" fmla="val 18750"/>
              <a:gd name="adj2" fmla="val -8333"/>
              <a:gd name="adj3" fmla="val 113461"/>
              <a:gd name="adj4" fmla="val -8120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原因：例如，输入数据为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是整数形式，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= 3 * x – 5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得到整数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而非实数，打印出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的时候是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，而不是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19.0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。标准答案是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19.0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。与测试数据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19.0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不一致。</a:t>
            </a:r>
          </a:p>
        </p:txBody>
      </p:sp>
    </p:spTree>
    <p:extLst>
      <p:ext uri="{BB962C8B-B14F-4D97-AF65-F5344CB8AC3E}">
        <p14:creationId xmlns:p14="http://schemas.microsoft.com/office/powerpoint/2010/main" val="15067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第三章 选择</a:t>
            </a:r>
            <a:br>
              <a:rPr lang="en-US" altLang="zh-CN" dirty="0"/>
            </a:br>
            <a:r>
              <a:rPr lang="en-US" altLang="zh-CN" b="1" dirty="0"/>
              <a:t>7-6 </a:t>
            </a:r>
            <a:r>
              <a:rPr lang="zh-CN" altLang="en-US" b="1" dirty="0"/>
              <a:t>超速处罚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8200" y="1981885"/>
            <a:ext cx="111364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输入在一行中给出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个正整数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，分别对应车速和限速，其间以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</a:t>
            </a:r>
          </a:p>
        </p:txBody>
      </p:sp>
      <p:sp>
        <p:nvSpPr>
          <p:cNvPr id="10" name="矩形 9"/>
          <p:cNvSpPr/>
          <p:nvPr/>
        </p:nvSpPr>
        <p:spPr>
          <a:xfrm>
            <a:off x="1905994" y="2505105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/>
              <a:t>a, b = input().split()</a:t>
            </a:r>
          </a:p>
          <a:p>
            <a:endParaRPr lang="en-US" altLang="zh-CN" sz="2800" dirty="0"/>
          </a:p>
          <a:p>
            <a:r>
              <a:rPr lang="en-US" altLang="zh-CN" sz="2800" dirty="0"/>
              <a:t>a =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(a)    </a:t>
            </a:r>
            <a:r>
              <a:rPr lang="en-US" altLang="zh-CN" sz="2800" dirty="0">
                <a:solidFill>
                  <a:srgbClr val="C00000"/>
                </a:solidFill>
              </a:rPr>
              <a:t>#</a:t>
            </a:r>
            <a:r>
              <a:rPr lang="zh-CN" altLang="en-US" sz="2800" dirty="0">
                <a:solidFill>
                  <a:srgbClr val="C00000"/>
                </a:solidFill>
              </a:rPr>
              <a:t>车速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en-US" altLang="zh-CN" sz="2800" dirty="0"/>
              <a:t>b =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(b</a:t>
            </a:r>
            <a:r>
              <a:rPr lang="en-US" altLang="zh-CN" sz="2800" dirty="0">
                <a:solidFill>
                  <a:srgbClr val="C00000"/>
                </a:solidFill>
              </a:rPr>
              <a:t>)    #</a:t>
            </a:r>
            <a:r>
              <a:rPr lang="zh-CN" altLang="en-US" sz="2800" dirty="0">
                <a:solidFill>
                  <a:srgbClr val="C00000"/>
                </a:solidFill>
              </a:rPr>
              <a:t>限速</a:t>
            </a:r>
            <a:endParaRPr lang="en-US" altLang="zh-CN" sz="2800" dirty="0">
              <a:solidFill>
                <a:srgbClr val="C00000"/>
              </a:solidFill>
            </a:endParaRPr>
          </a:p>
          <a:p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838200" y="4961816"/>
            <a:ext cx="11136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计算超速的百分比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，其它方法容易有浮点数误差导致测试点无法通过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输出复制题目中的提示信息，以免出错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744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1050" y="704463"/>
            <a:ext cx="11049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达到或超出本车道限速的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元罚款；若达到或超出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，就要吊销驾驶证</a:t>
            </a:r>
          </a:p>
        </p:txBody>
      </p:sp>
      <p:sp>
        <p:nvSpPr>
          <p:cNvPr id="6" name="矩形 5"/>
          <p:cNvSpPr/>
          <p:nvPr/>
        </p:nvSpPr>
        <p:spPr>
          <a:xfrm>
            <a:off x="1047750" y="2312938"/>
            <a:ext cx="99631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x = (a-b)/b * 100   </a:t>
            </a:r>
            <a:r>
              <a:rPr lang="en-US" altLang="zh-CN" sz="2800" dirty="0">
                <a:solidFill>
                  <a:srgbClr val="C00000"/>
                </a:solidFill>
              </a:rPr>
              <a:t>#x</a:t>
            </a:r>
            <a:r>
              <a:rPr lang="zh-CN" altLang="en-US" sz="2800" dirty="0">
                <a:solidFill>
                  <a:srgbClr val="C00000"/>
                </a:solidFill>
              </a:rPr>
              <a:t>是超速的百分比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en-US" altLang="zh-CN" sz="2800" dirty="0">
                <a:solidFill>
                  <a:srgbClr val="0070C0"/>
                </a:solidFill>
              </a:rPr>
              <a:t># 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int(x)</a:t>
            </a:r>
            <a:endParaRPr lang="en-US" altLang="zh-CN" sz="2800" dirty="0">
              <a:solidFill>
                <a:srgbClr val="0070C0"/>
              </a:solidFill>
            </a:endParaRPr>
          </a:p>
          <a:p>
            <a:r>
              <a:rPr lang="en-US" altLang="zh-CN" sz="2800" dirty="0"/>
              <a:t>if x &lt; 10:</a:t>
            </a:r>
          </a:p>
          <a:p>
            <a:r>
              <a:rPr lang="en-US" altLang="zh-CN" sz="2800" dirty="0"/>
              <a:t>    print('OK')</a:t>
            </a:r>
          </a:p>
          <a:p>
            <a:r>
              <a:rPr lang="en-US" altLang="zh-CN" sz="2800" dirty="0" err="1"/>
              <a:t>elif</a:t>
            </a:r>
            <a:r>
              <a:rPr lang="en-US" altLang="zh-CN" sz="2800" dirty="0"/>
              <a:t> 10 &lt;= x &lt; 50:</a:t>
            </a:r>
          </a:p>
          <a:p>
            <a:r>
              <a:rPr lang="en-US" altLang="zh-CN" sz="2800" dirty="0"/>
              <a:t>    print('Exceed {:.0f}%. Ticket 200'.format(x)) </a:t>
            </a:r>
          </a:p>
          <a:p>
            <a:r>
              <a:rPr lang="en-US" altLang="zh-CN" sz="2800" dirty="0"/>
              <a:t>else:  # x &gt;= 50</a:t>
            </a:r>
          </a:p>
          <a:p>
            <a:r>
              <a:rPr lang="en-US" altLang="zh-CN" sz="2800" dirty="0"/>
              <a:t>    print('Exceed {:.0f}%. License </a:t>
            </a:r>
            <a:r>
              <a:rPr lang="en-US" altLang="zh-CN" sz="2800" dirty="0" err="1"/>
              <a:t>Revoked'.format</a:t>
            </a:r>
            <a:r>
              <a:rPr lang="en-US" altLang="zh-CN" sz="2800" dirty="0"/>
              <a:t>(x))</a:t>
            </a:r>
            <a:endParaRPr lang="zh-CN" altLang="en-US" sz="2800" dirty="0"/>
          </a:p>
        </p:txBody>
      </p:sp>
      <p:sp>
        <p:nvSpPr>
          <p:cNvPr id="7" name="线形标注 2 6"/>
          <p:cNvSpPr/>
          <p:nvPr/>
        </p:nvSpPr>
        <p:spPr>
          <a:xfrm>
            <a:off x="7820190" y="2162552"/>
            <a:ext cx="4324020" cy="1821737"/>
          </a:xfrm>
          <a:prstGeom prst="borderCallout2">
            <a:avLst>
              <a:gd name="adj1" fmla="val 18027"/>
              <a:gd name="adj2" fmla="val -961"/>
              <a:gd name="adj3" fmla="val 18750"/>
              <a:gd name="adj4" fmla="val -16667"/>
              <a:gd name="adj5" fmla="val 130308"/>
              <a:gd name="adj6" fmla="val -94496"/>
            </a:avLst>
          </a:pr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精确到整数输出时指定小数点后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位，自动四舍五入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或者在第一条语句后面添加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int(x)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向下取整也可以，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但这里要用整型格式输出</a:t>
            </a:r>
          </a:p>
        </p:txBody>
      </p:sp>
    </p:spTree>
    <p:extLst>
      <p:ext uri="{BB962C8B-B14F-4D97-AF65-F5344CB8AC3E}">
        <p14:creationId xmlns:p14="http://schemas.microsoft.com/office/powerpoint/2010/main" val="78576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916" y="1137037"/>
            <a:ext cx="7487859" cy="395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8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7-9 </a:t>
            </a:r>
            <a:r>
              <a:rPr lang="zh-CN" altLang="en-US" b="1" dirty="0"/>
              <a:t>求方程的解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838200" y="1825625"/>
            <a:ext cx="41148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系数</a:t>
            </a:r>
            <a:r>
              <a:rPr lang="en-US" altLang="zh-CN" dirty="0"/>
              <a:t>a, b, c </a:t>
            </a:r>
            <a:r>
              <a:rPr lang="zh-CN" altLang="en-US" dirty="0"/>
              <a:t>为实数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嵌套的分支判断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如果方程有</a:t>
            </a:r>
            <a:r>
              <a:rPr lang="en-US" altLang="zh-CN" dirty="0"/>
              <a:t>2</a:t>
            </a:r>
            <a:r>
              <a:rPr lang="zh-CN" altLang="en-US" dirty="0"/>
              <a:t>个不等实根，则一起输出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空格</a:t>
            </a:r>
            <a:r>
              <a:rPr lang="zh-CN" altLang="en-US" dirty="0"/>
              <a:t>分开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528145" y="1825625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/>
              <a:t>if a == 0:     #a</a:t>
            </a:r>
            <a:r>
              <a:rPr lang="zh-CN" altLang="en-US" sz="2400" dirty="0"/>
              <a:t>等于零有两种情况</a:t>
            </a:r>
            <a:endParaRPr lang="en-US" altLang="zh-CN" sz="2400" dirty="0"/>
          </a:p>
          <a:p>
            <a:r>
              <a:rPr lang="en-US" altLang="zh-CN" sz="2400" dirty="0"/>
              <a:t>    if b == 0:</a:t>
            </a:r>
          </a:p>
          <a:p>
            <a:r>
              <a:rPr lang="en-US" altLang="zh-CN" sz="2400" dirty="0"/>
              <a:t>         </a:t>
            </a:r>
          </a:p>
          <a:p>
            <a:r>
              <a:rPr lang="en-US" altLang="zh-CN" sz="2400" dirty="0"/>
              <a:t>    else:  # b !=0</a:t>
            </a:r>
          </a:p>
          <a:p>
            <a:endParaRPr lang="en-US" altLang="zh-CN" sz="2400" dirty="0"/>
          </a:p>
          <a:p>
            <a:r>
              <a:rPr lang="en-US" altLang="zh-CN" sz="2400" dirty="0"/>
              <a:t>else:            #a !=0 a</a:t>
            </a:r>
            <a:r>
              <a:rPr lang="zh-CN" altLang="en-US" sz="2400" dirty="0"/>
              <a:t>不等于零有三种情况</a:t>
            </a:r>
            <a:endParaRPr lang="en-US" altLang="zh-CN" sz="2400" dirty="0"/>
          </a:p>
          <a:p>
            <a:r>
              <a:rPr lang="en-US" altLang="zh-CN" sz="2400" dirty="0"/>
              <a:t>    if delta==0:</a:t>
            </a:r>
          </a:p>
          <a:p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elif</a:t>
            </a:r>
            <a:r>
              <a:rPr lang="en-US" altLang="zh-CN" sz="2400" dirty="0"/>
              <a:t> delta&gt;0:</a:t>
            </a:r>
          </a:p>
          <a:p>
            <a:endParaRPr lang="en-US" altLang="zh-CN" sz="2400" dirty="0"/>
          </a:p>
          <a:p>
            <a:r>
              <a:rPr lang="en-US" altLang="zh-CN" sz="2400" dirty="0"/>
              <a:t>    else:  #delta&lt;0 :</a:t>
            </a:r>
          </a:p>
          <a:p>
            <a:r>
              <a:rPr lang="en-US" altLang="zh-CN" sz="2400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41049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75" y="473826"/>
            <a:ext cx="6819945" cy="599890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10600" y="473826"/>
            <a:ext cx="203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多分支的嵌套</a:t>
            </a:r>
          </a:p>
        </p:txBody>
      </p:sp>
      <p:sp>
        <p:nvSpPr>
          <p:cNvPr id="3" name="矩形 2"/>
          <p:cNvSpPr/>
          <p:nvPr/>
        </p:nvSpPr>
        <p:spPr>
          <a:xfrm>
            <a:off x="1487979" y="473826"/>
            <a:ext cx="6210642" cy="10889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87979" y="1562793"/>
            <a:ext cx="6210641" cy="49099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097282" y="1939637"/>
            <a:ext cx="5601338" cy="13023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097282" y="3618807"/>
            <a:ext cx="5601337" cy="28539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565565" y="2208415"/>
            <a:ext cx="5133054" cy="3435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565565" y="2928849"/>
            <a:ext cx="5133054" cy="3214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565565" y="3901439"/>
            <a:ext cx="5133054" cy="4433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65565" y="4602422"/>
            <a:ext cx="5133054" cy="11167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565565" y="6029383"/>
            <a:ext cx="5133054" cy="4433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30F7EAD-E1B6-4096-BD9C-501B1F08065F}"/>
              </a:ext>
            </a:extLst>
          </p:cNvPr>
          <p:cNvCxnSpPr/>
          <p:nvPr/>
        </p:nvCxnSpPr>
        <p:spPr>
          <a:xfrm flipH="1">
            <a:off x="3137483" y="1451295"/>
            <a:ext cx="4865614" cy="293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DFC82ED-DF1F-41B3-82FB-B4A3DC8D7D0E}"/>
              </a:ext>
            </a:extLst>
          </p:cNvPr>
          <p:cNvSpPr txBox="1"/>
          <p:nvPr/>
        </p:nvSpPr>
        <p:spPr>
          <a:xfrm>
            <a:off x="8196044" y="1342239"/>
            <a:ext cx="28637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a</a:t>
            </a:r>
            <a:r>
              <a:rPr lang="zh-CN" altLang="en-US" dirty="0"/>
              <a:t>是浮点数，</a:t>
            </a:r>
            <a:endParaRPr lang="en-US" altLang="zh-CN" dirty="0"/>
          </a:p>
          <a:p>
            <a:r>
              <a:rPr lang="en-US" altLang="zh-CN" dirty="0"/>
              <a:t>a == 0   </a:t>
            </a:r>
            <a:r>
              <a:rPr lang="zh-CN" altLang="en-US" dirty="0"/>
              <a:t>改为：</a:t>
            </a:r>
            <a:r>
              <a:rPr lang="en-US" altLang="zh-CN" dirty="0"/>
              <a:t>abs(a) &lt; 1E-6 </a:t>
            </a:r>
          </a:p>
          <a:p>
            <a:r>
              <a:rPr lang="zh-CN" altLang="en-US"/>
              <a:t>下同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850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650</Words>
  <Application>Microsoft Office PowerPoint</Application>
  <PresentationFormat>宽屏</PresentationFormat>
  <Paragraphs>98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宋体</vt:lpstr>
      <vt:lpstr>微软雅黑</vt:lpstr>
      <vt:lpstr>Arial</vt:lpstr>
      <vt:lpstr>Calibri</vt:lpstr>
      <vt:lpstr>Calibri Light</vt:lpstr>
      <vt:lpstr>1_Office 主题</vt:lpstr>
      <vt:lpstr>python 第三章 选择</vt:lpstr>
      <vt:lpstr>PowerPoint 演示文稿</vt:lpstr>
      <vt:lpstr>PowerPoint 演示文稿</vt:lpstr>
      <vt:lpstr>PowerPoint 演示文稿</vt:lpstr>
      <vt:lpstr>7-8 分段函数</vt:lpstr>
      <vt:lpstr>python 第三章 选择 7-6 超速处罚</vt:lpstr>
      <vt:lpstr>PowerPoint 演示文稿</vt:lpstr>
      <vt:lpstr>PowerPoint 演示文稿</vt:lpstr>
      <vt:lpstr>7-9 求方程的解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输入问题</dc:title>
  <dc:creator>LiHQ</dc:creator>
  <cp:lastModifiedBy>cyj</cp:lastModifiedBy>
  <cp:revision>40</cp:revision>
  <dcterms:created xsi:type="dcterms:W3CDTF">2020-09-29T23:29:55Z</dcterms:created>
  <dcterms:modified xsi:type="dcterms:W3CDTF">2024-10-20T04:59:49Z</dcterms:modified>
</cp:coreProperties>
</file>