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1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6" r:id="rId1"/>
    <p:sldMasterId id="2147483672" r:id="rId2"/>
    <p:sldMasterId id="2147483684" r:id="rId3"/>
  </p:sldMasterIdLst>
  <p:notesMasterIdLst>
    <p:notesMasterId r:id="rId32"/>
  </p:notesMasterIdLst>
  <p:handoutMasterIdLst>
    <p:handoutMasterId r:id="rId33"/>
  </p:handoutMasterIdLst>
  <p:sldIdLst>
    <p:sldId id="848" r:id="rId4"/>
    <p:sldId id="1791" r:id="rId5"/>
    <p:sldId id="1885" r:id="rId6"/>
    <p:sldId id="1900" r:id="rId7"/>
    <p:sldId id="1898" r:id="rId8"/>
    <p:sldId id="1899" r:id="rId9"/>
    <p:sldId id="1901" r:id="rId10"/>
    <p:sldId id="1902" r:id="rId11"/>
    <p:sldId id="1888" r:id="rId12"/>
    <p:sldId id="1889" r:id="rId13"/>
    <p:sldId id="1903" r:id="rId14"/>
    <p:sldId id="1907" r:id="rId15"/>
    <p:sldId id="1906" r:id="rId16"/>
    <p:sldId id="1865" r:id="rId17"/>
    <p:sldId id="1864" r:id="rId18"/>
    <p:sldId id="1896" r:id="rId19"/>
    <p:sldId id="1897" r:id="rId20"/>
    <p:sldId id="1894" r:id="rId21"/>
    <p:sldId id="1867" r:id="rId22"/>
    <p:sldId id="1868" r:id="rId23"/>
    <p:sldId id="1895" r:id="rId24"/>
    <p:sldId id="1862" r:id="rId25"/>
    <p:sldId id="1863" r:id="rId26"/>
    <p:sldId id="1866" r:id="rId27"/>
    <p:sldId id="1890" r:id="rId28"/>
    <p:sldId id="1908" r:id="rId29"/>
    <p:sldId id="1909" r:id="rId30"/>
    <p:sldId id="1910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00"/>
    <a:srgbClr val="FBE5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/>
            <a:fld id="{F669C317-29F1-4588-AE1A-EA669E514E21}" type="slidenum">
              <a:rPr lang="en-US" altLang="zh-CN" smtClean="0">
                <a:latin typeface="Arial" charset="0"/>
              </a:rPr>
              <a:pPr eaLnBrk="1" hangingPunct="1"/>
              <a:t>11</a:t>
            </a:fld>
            <a:endParaRPr lang="en-US" altLang="zh-CN">
              <a:latin typeface="Arial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3407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812800" y="1219200"/>
            <a:ext cx="10566400" cy="9144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6" name="Picture 9" descr="MPj04393470000[1]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300" y="3789364"/>
            <a:ext cx="3168651" cy="237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46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1" y="1524000"/>
            <a:ext cx="10164233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3962400"/>
            <a:ext cx="87376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DFA9D7-EDC1-4B2C-9065-5EF92298BA4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8942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50000"/>
              </a:lnSpc>
              <a:defRPr sz="2400"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D730B2-896E-4EF5-B6D1-A6FD092D53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6218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CE82A2-93D2-4569-9ED2-A3857D3EA3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1228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AF0D4E-DD41-4346-BCC2-433C10E8A2F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2938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7F4035-D039-45E7-A021-60408320DD8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1430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43A19B-8CCA-44D6-BB97-E1E39C421C8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2350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6B9015-B4A4-4E01-B27C-96FC7E92A5C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9555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1C61E8-D871-4236-9405-D2C36E8850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8015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19A508-40F2-4D38-A730-119DC93DD30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382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6487E3-2592-46CD-B6FD-9BA24953B5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0306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CC7F92-D98E-48E5-9263-F08FCB27306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6209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9"/>
          <p:cNvSpPr>
            <a:spLocks noChangeArrowheads="1"/>
          </p:cNvSpPr>
          <p:nvPr userDrawn="1"/>
        </p:nvSpPr>
        <p:spPr bwMode="auto">
          <a:xfrm>
            <a:off x="351828" y="3371852"/>
            <a:ext cx="11377083" cy="230187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zh-CN" sz="1800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1822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矩形 9"/>
          <p:cNvSpPr>
            <a:spLocks noChangeArrowheads="1"/>
          </p:cNvSpPr>
          <p:nvPr userDrawn="1"/>
        </p:nvSpPr>
        <p:spPr bwMode="auto">
          <a:xfrm>
            <a:off x="298819" y="1460503"/>
            <a:ext cx="11377083" cy="230187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zh-CN" sz="1800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52718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3344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5559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8265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976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989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318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07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164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129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9"/>
          <p:cNvSpPr>
            <a:spLocks noChangeArrowheads="1"/>
          </p:cNvSpPr>
          <p:nvPr userDrawn="1"/>
        </p:nvSpPr>
        <p:spPr bwMode="auto">
          <a:xfrm>
            <a:off x="351828" y="3371852"/>
            <a:ext cx="11377083" cy="230187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zh-CN" sz="1800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586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9"/>
          <p:cNvSpPr>
            <a:spLocks noChangeArrowheads="1"/>
          </p:cNvSpPr>
          <p:nvPr userDrawn="1"/>
        </p:nvSpPr>
        <p:spPr bwMode="auto">
          <a:xfrm>
            <a:off x="298819" y="1460503"/>
            <a:ext cx="11377083" cy="230187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zh-CN" sz="1800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0462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01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6681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135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119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1006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259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642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6690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794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360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0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j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0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3638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j-lt"/>
              </a:defRPr>
            </a:lvl1pPr>
          </a:lstStyle>
          <a:p>
            <a:pPr>
              <a:defRPr/>
            </a:pPr>
            <a:fld id="{B126AE88-B762-4C4D-9585-F651037FDAD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3" name="Rectangle 9"/>
          <p:cNvSpPr>
            <a:spLocks noChangeArrowheads="1"/>
          </p:cNvSpPr>
          <p:nvPr userDrawn="1"/>
        </p:nvSpPr>
        <p:spPr bwMode="auto">
          <a:xfrm>
            <a:off x="497418" y="908050"/>
            <a:ext cx="11694583" cy="71438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accent2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pic>
        <p:nvPicPr>
          <p:cNvPr id="1034" name="Picture 10" descr="MMj03567760000[1]"/>
          <p:cNvPicPr>
            <a:picLocks noChangeAspect="1" noChangeArrowheads="1" noCrop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6117" y="304800"/>
            <a:ext cx="13716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0687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lnSpc>
          <a:spcPct val="2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lnSpc>
          <a:spcPct val="200000"/>
        </a:lnSpc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400">
          <a:solidFill>
            <a:schemeClr val="tx1"/>
          </a:solidFill>
          <a:latin typeface="+mn-lt"/>
          <a:ea typeface="+mn-ea"/>
        </a:defRPr>
      </a:lvl2pPr>
      <a:lvl3pPr marL="1022350" indent="-350838" algn="l" rtl="0" eaLnBrk="0" fontAlgn="base" hangingPunct="0">
        <a:lnSpc>
          <a:spcPct val="2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3pPr>
      <a:lvl4pPr marL="1339850" indent="-315913" algn="l" rtl="0" eaLnBrk="0" fontAlgn="base" hangingPunct="0">
        <a:lnSpc>
          <a:spcPct val="200000"/>
        </a:lnSpc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1800">
          <a:solidFill>
            <a:schemeClr val="tx1"/>
          </a:solidFill>
          <a:latin typeface="+mn-lt"/>
          <a:ea typeface="+mn-ea"/>
        </a:defRPr>
      </a:lvl4pPr>
      <a:lvl5pPr marL="1681163" indent="-339725" algn="l" rtl="0" eaLnBrk="0" fontAlgn="base" hangingPunct="0">
        <a:lnSpc>
          <a:spcPct val="200000"/>
        </a:lnSpc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800">
          <a:solidFill>
            <a:schemeClr val="tx1"/>
          </a:solidFill>
          <a:latin typeface="+mn-lt"/>
          <a:ea typeface="+mn-ea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4508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562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29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4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29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4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10" Type="http://schemas.openxmlformats.org/officeDocument/2006/relationships/image" Target="../media/image4.tmp"/><Relationship Id="rId4" Type="http://schemas.openxmlformats.org/officeDocument/2006/relationships/tags" Target="../tags/tag38.xml"/><Relationship Id="rId9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gif"/><Relationship Id="rId3" Type="http://schemas.openxmlformats.org/officeDocument/2006/relationships/oleObject" Target="../embeddings/oleObject1.bin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0.png"/><Relationship Id="rId4" Type="http://schemas.openxmlformats.org/officeDocument/2006/relationships/image" Target="../media/image9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9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13" Type="http://schemas.openxmlformats.org/officeDocument/2006/relationships/tags" Target="../tags/tag55.xml"/><Relationship Id="rId3" Type="http://schemas.openxmlformats.org/officeDocument/2006/relationships/tags" Target="../tags/tag45.xml"/><Relationship Id="rId7" Type="http://schemas.openxmlformats.org/officeDocument/2006/relationships/tags" Target="../tags/tag49.xml"/><Relationship Id="rId12" Type="http://schemas.openxmlformats.org/officeDocument/2006/relationships/tags" Target="../tags/tag54.xml"/><Relationship Id="rId17" Type="http://schemas.openxmlformats.org/officeDocument/2006/relationships/image" Target="../media/image4.tmp"/><Relationship Id="rId2" Type="http://schemas.openxmlformats.org/officeDocument/2006/relationships/tags" Target="../tags/tag44.xml"/><Relationship Id="rId16" Type="http://schemas.openxmlformats.org/officeDocument/2006/relationships/slideLayout" Target="../slideLayouts/slideLayout29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tags" Target="../tags/tag53.xml"/><Relationship Id="rId5" Type="http://schemas.openxmlformats.org/officeDocument/2006/relationships/tags" Target="../tags/tag47.xml"/><Relationship Id="rId15" Type="http://schemas.openxmlformats.org/officeDocument/2006/relationships/tags" Target="../tags/tag57.xml"/><Relationship Id="rId10" Type="http://schemas.openxmlformats.org/officeDocument/2006/relationships/tags" Target="../tags/tag52.xml"/><Relationship Id="rId4" Type="http://schemas.openxmlformats.org/officeDocument/2006/relationships/tags" Target="../tags/tag46.xml"/><Relationship Id="rId9" Type="http://schemas.openxmlformats.org/officeDocument/2006/relationships/tags" Target="../tags/tag51.xml"/><Relationship Id="rId14" Type="http://schemas.openxmlformats.org/officeDocument/2006/relationships/tags" Target="../tags/tag5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fontAlgn="auto">
              <a:lnSpc>
                <a:spcPct val="120000"/>
              </a:lnSpc>
            </a:pPr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程序控制结构</a:t>
            </a: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813094" y="3064428"/>
            <a:ext cx="3011816" cy="18408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while 条件表达式 :</a:t>
            </a:r>
          </a:p>
          <a:p>
            <a:pPr>
              <a:lnSpc>
                <a:spcPct val="250000"/>
              </a:lnSpc>
            </a:pP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循环体</a:t>
            </a:r>
            <a:endParaRPr lang="zh-CN" altLang="en-US"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4.1  </a:t>
            </a:r>
            <a:r>
              <a:rPr lang="zh-CN" altLang="en-US" dirty="0"/>
              <a:t>while循环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2512" y="1790650"/>
            <a:ext cx="2090487" cy="445937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语法格式：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750508" y="3452948"/>
            <a:ext cx="1588168" cy="45720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359072" y="4404202"/>
            <a:ext cx="1185520" cy="45720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线形标注 1 8"/>
          <p:cNvSpPr/>
          <p:nvPr/>
        </p:nvSpPr>
        <p:spPr>
          <a:xfrm>
            <a:off x="3824910" y="5438457"/>
            <a:ext cx="2468109" cy="1100455"/>
          </a:xfrm>
          <a:prstGeom prst="borderCallout1">
            <a:avLst>
              <a:gd name="adj1" fmla="val 30995"/>
              <a:gd name="adj2" fmla="val -3276"/>
              <a:gd name="adj3" fmla="val -53362"/>
              <a:gd name="adj4" fmla="val -84104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重复执行的语句块，称作循环体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线形标注 1 6"/>
          <p:cNvSpPr/>
          <p:nvPr/>
        </p:nvSpPr>
        <p:spPr>
          <a:xfrm>
            <a:off x="4208208" y="1963973"/>
            <a:ext cx="2768556" cy="2054354"/>
          </a:xfrm>
          <a:prstGeom prst="borderCallout1">
            <a:avLst>
              <a:gd name="adj1" fmla="val 12879"/>
              <a:gd name="adj2" fmla="val 335"/>
              <a:gd name="adj3" fmla="val 71470"/>
              <a:gd name="adj4" fmla="val -70347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表示循环条件，可以是结果能解释为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r>
              <a:rPr lang="zh-CN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的任何表达式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389497" y="1810246"/>
            <a:ext cx="1624701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k=5</a:t>
            </a:r>
            <a:endParaRPr lang="zh-CN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 k:</a:t>
            </a:r>
            <a:endParaRPr lang="zh-CN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k=k-1</a:t>
            </a:r>
            <a:endParaRPr lang="zh-CN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482538" y="2446352"/>
            <a:ext cx="1044918" cy="36928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k=5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k=k-1</a:t>
            </a:r>
          </a:p>
          <a:p>
            <a:pPr>
              <a:lnSpc>
                <a:spcPct val="20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k=k-1</a:t>
            </a:r>
          </a:p>
          <a:p>
            <a:pPr>
              <a:lnSpc>
                <a:spcPct val="20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k=k-1</a:t>
            </a:r>
          </a:p>
          <a:p>
            <a:pPr>
              <a:lnSpc>
                <a:spcPct val="20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k=k-1</a:t>
            </a:r>
          </a:p>
          <a:p>
            <a:pPr>
              <a:lnSpc>
                <a:spcPct val="20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k=k-1</a:t>
            </a:r>
          </a:p>
        </p:txBody>
      </p:sp>
      <p:sp>
        <p:nvSpPr>
          <p:cNvPr id="13" name="椭圆 12"/>
          <p:cNvSpPr/>
          <p:nvPr/>
        </p:nvSpPr>
        <p:spPr>
          <a:xfrm>
            <a:off x="8283018" y="2454965"/>
            <a:ext cx="407504" cy="44726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920369" y="917076"/>
            <a:ext cx="2228600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的数判为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箭头连接符 17"/>
          <p:cNvCxnSpPr>
            <a:cxnSpLocks/>
            <a:stCxn id="14" idx="2"/>
            <a:endCxn id="13" idx="7"/>
          </p:cNvCxnSpPr>
          <p:nvPr/>
        </p:nvCxnSpPr>
        <p:spPr>
          <a:xfrm flipH="1">
            <a:off x="8630844" y="1317186"/>
            <a:ext cx="1403825" cy="120327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10950835" y="2631691"/>
            <a:ext cx="691984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0527456" y="3312216"/>
            <a:ext cx="3193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0561478" y="3914463"/>
            <a:ext cx="3193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0553197" y="4535988"/>
            <a:ext cx="3193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0548722" y="5101847"/>
            <a:ext cx="3193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0561478" y="5733205"/>
            <a:ext cx="3193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0995796" y="5733205"/>
            <a:ext cx="755656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7121387" y="1639957"/>
            <a:ext cx="49696" cy="5218043"/>
          </a:xfrm>
          <a:prstGeom prst="line">
            <a:avLst/>
          </a:prstGeom>
          <a:ln w="28575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10995796" y="4489982"/>
            <a:ext cx="691984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0995796" y="5076837"/>
            <a:ext cx="691984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0979661" y="3258942"/>
            <a:ext cx="691984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0995202" y="3882087"/>
            <a:ext cx="691984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7327672" y="4485015"/>
            <a:ext cx="162416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循环</a:t>
            </a:r>
            <a:r>
              <a:rPr lang="en-US" altLang="zh-CN" sz="3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5</a:t>
            </a:r>
            <a:r>
              <a:rPr lang="zh-CN" altLang="en-US" sz="3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次</a:t>
            </a:r>
            <a:endParaRPr lang="zh-CN" altLang="en-US" sz="3200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37" name="左大括号 36"/>
          <p:cNvSpPr/>
          <p:nvPr/>
        </p:nvSpPr>
        <p:spPr>
          <a:xfrm>
            <a:off x="8964706" y="3388659"/>
            <a:ext cx="384945" cy="2713878"/>
          </a:xfrm>
          <a:prstGeom prst="leftBrac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E8EC726-7CED-4BA7-BB65-1491A1588AB0}"/>
              </a:ext>
            </a:extLst>
          </p:cNvPr>
          <p:cNvSpPr txBox="1"/>
          <p:nvPr/>
        </p:nvSpPr>
        <p:spPr>
          <a:xfrm>
            <a:off x="7256770" y="139045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循环次数：循环体执行的次数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B00D75CF-2A44-48F4-8E2F-BAE9F97E5F6F}"/>
              </a:ext>
            </a:extLst>
          </p:cNvPr>
          <p:cNvCxnSpPr>
            <a:stCxn id="19" idx="1"/>
          </p:cNvCxnSpPr>
          <p:nvPr/>
        </p:nvCxnSpPr>
        <p:spPr>
          <a:xfrm flipH="1">
            <a:off x="10125512" y="2816357"/>
            <a:ext cx="825323" cy="495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FE053565-DE2F-43E8-9C91-83472AB5423C}"/>
              </a:ext>
            </a:extLst>
          </p:cNvPr>
          <p:cNvCxnSpPr/>
          <p:nvPr/>
        </p:nvCxnSpPr>
        <p:spPr>
          <a:xfrm flipH="1">
            <a:off x="10136060" y="3473312"/>
            <a:ext cx="825323" cy="495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226E00B0-2905-4FAF-8515-0A69B80180EB}"/>
              </a:ext>
            </a:extLst>
          </p:cNvPr>
          <p:cNvCxnSpPr/>
          <p:nvPr/>
        </p:nvCxnSpPr>
        <p:spPr>
          <a:xfrm flipH="1">
            <a:off x="10169879" y="4083099"/>
            <a:ext cx="825323" cy="495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DBC865B1-1D6C-4B2A-B013-19F4D22F5021}"/>
              </a:ext>
            </a:extLst>
          </p:cNvPr>
          <p:cNvCxnSpPr/>
          <p:nvPr/>
        </p:nvCxnSpPr>
        <p:spPr>
          <a:xfrm flipH="1">
            <a:off x="10169878" y="4689303"/>
            <a:ext cx="825323" cy="495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14711082-75A5-47D1-AEBA-4D1E07D9FFE5}"/>
              </a:ext>
            </a:extLst>
          </p:cNvPr>
          <p:cNvCxnSpPr/>
          <p:nvPr/>
        </p:nvCxnSpPr>
        <p:spPr>
          <a:xfrm flipH="1">
            <a:off x="10154338" y="5268083"/>
            <a:ext cx="825323" cy="495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6F90D13D-2DDA-4468-A0CA-837B0F01C933}"/>
              </a:ext>
            </a:extLst>
          </p:cNvPr>
          <p:cNvSpPr txBox="1"/>
          <p:nvPr/>
        </p:nvSpPr>
        <p:spPr>
          <a:xfrm>
            <a:off x="7327672" y="6356350"/>
            <a:ext cx="2456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True</a:t>
            </a:r>
            <a:r>
              <a:rPr lang="zh-CN" altLang="en-US" dirty="0">
                <a:solidFill>
                  <a:srgbClr val="FF0000"/>
                </a:solidFill>
              </a:rPr>
              <a:t>了</a:t>
            </a:r>
            <a:r>
              <a:rPr lang="en-US" altLang="zh-CN" dirty="0">
                <a:solidFill>
                  <a:srgbClr val="FF0000"/>
                </a:solidFill>
              </a:rPr>
              <a:t>5</a:t>
            </a:r>
            <a:r>
              <a:rPr lang="zh-CN" altLang="en-US" dirty="0">
                <a:solidFill>
                  <a:srgbClr val="FF0000"/>
                </a:solidFill>
              </a:rPr>
              <a:t>次，</a:t>
            </a:r>
            <a:r>
              <a:rPr lang="en-US" altLang="zh-CN" dirty="0">
                <a:solidFill>
                  <a:srgbClr val="FF0000"/>
                </a:solidFill>
              </a:rPr>
              <a:t>False</a:t>
            </a:r>
            <a:r>
              <a:rPr lang="zh-CN" altLang="en-US" dirty="0">
                <a:solidFill>
                  <a:srgbClr val="FF0000"/>
                </a:solidFill>
              </a:rPr>
              <a:t>了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次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06C2848-CC1E-403F-8DB8-022308679241}"/>
              </a:ext>
            </a:extLst>
          </p:cNvPr>
          <p:cNvSpPr/>
          <p:nvPr/>
        </p:nvSpPr>
        <p:spPr>
          <a:xfrm>
            <a:off x="10548721" y="2683962"/>
            <a:ext cx="3193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7" grpId="0" animBg="1"/>
      <p:bldP spid="5" grpId="0" animBg="1"/>
      <p:bldP spid="12" grpId="0" animBg="1"/>
      <p:bldP spid="13" grpId="0" animBg="1"/>
      <p:bldP spid="14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 animBg="1"/>
      <p:bldP spid="31" grpId="0" animBg="1"/>
      <p:bldP spid="32" grpId="0" animBg="1"/>
      <p:bldP spid="33" grpId="0" animBg="1"/>
      <p:bldP spid="34" grpId="0" animBg="1"/>
      <p:bldP spid="35" grpId="0"/>
      <p:bldP spid="37" grpId="0" animBg="1"/>
      <p:bldP spid="4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7171830" y="5688287"/>
            <a:ext cx="2276905" cy="484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</a:pPr>
            <a:r>
              <a:rPr lang="en-US" altLang="zh-CN" b="1" dirty="0"/>
              <a:t>while</a:t>
            </a:r>
            <a:r>
              <a:rPr lang="zh-CN" altLang="en-US" b="1" dirty="0"/>
              <a:t>语法的执行过程</a:t>
            </a:r>
          </a:p>
        </p:txBody>
      </p:sp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3865" y="1944187"/>
            <a:ext cx="3074652" cy="3374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/>
          <p:cNvSpPr/>
          <p:nvPr/>
        </p:nvSpPr>
        <p:spPr>
          <a:xfrm>
            <a:off x="1878496" y="1740973"/>
            <a:ext cx="2111903" cy="23083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K=5</a:t>
            </a:r>
          </a:p>
          <a:p>
            <a:pPr>
              <a:lnSpc>
                <a:spcPct val="200000"/>
              </a:lnSpc>
            </a:pP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while    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 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>
              <a:lnSpc>
                <a:spcPct val="200000"/>
              </a:lnSpc>
            </a:pP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k=k-1</a:t>
            </a:r>
            <a:endParaRPr lang="zh-CN" altLang="en-US"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曲线连接符 9"/>
          <p:cNvCxnSpPr/>
          <p:nvPr/>
        </p:nvCxnSpPr>
        <p:spPr>
          <a:xfrm rot="5400000">
            <a:off x="2853979" y="2387971"/>
            <a:ext cx="839990" cy="12700"/>
          </a:xfrm>
          <a:prstGeom prst="curvedConnector3">
            <a:avLst>
              <a:gd name="adj1" fmla="val 89132"/>
            </a:avLst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曲线连接符 12"/>
          <p:cNvCxnSpPr/>
          <p:nvPr/>
        </p:nvCxnSpPr>
        <p:spPr>
          <a:xfrm rot="5400000">
            <a:off x="2939497" y="3179388"/>
            <a:ext cx="404261" cy="264694"/>
          </a:xfrm>
          <a:prstGeom prst="curvedConnector3">
            <a:avLst>
              <a:gd name="adj1" fmla="val 72619"/>
            </a:avLst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曲线连接符 15"/>
          <p:cNvCxnSpPr/>
          <p:nvPr/>
        </p:nvCxnSpPr>
        <p:spPr>
          <a:xfrm rot="16200000" flipV="1">
            <a:off x="1331645" y="2885386"/>
            <a:ext cx="965570" cy="695658"/>
          </a:xfrm>
          <a:prstGeom prst="curvedConnector3">
            <a:avLst>
              <a:gd name="adj1" fmla="val -2611"/>
            </a:avLst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曲线连接符 20"/>
          <p:cNvCxnSpPr/>
          <p:nvPr/>
        </p:nvCxnSpPr>
        <p:spPr>
          <a:xfrm>
            <a:off x="1466601" y="2737199"/>
            <a:ext cx="1821036" cy="13231"/>
          </a:xfrm>
          <a:prstGeom prst="curvedConnector3">
            <a:avLst>
              <a:gd name="adj1" fmla="val 50000"/>
            </a:avLst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曲线连接符 23"/>
          <p:cNvCxnSpPr/>
          <p:nvPr/>
        </p:nvCxnSpPr>
        <p:spPr>
          <a:xfrm rot="10800000" flipV="1">
            <a:off x="2865022" y="2851030"/>
            <a:ext cx="1506355" cy="1310411"/>
          </a:xfrm>
          <a:prstGeom prst="curvedConnector3">
            <a:avLst>
              <a:gd name="adj1" fmla="val -5591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五角星 33"/>
          <p:cNvSpPr/>
          <p:nvPr/>
        </p:nvSpPr>
        <p:spPr>
          <a:xfrm>
            <a:off x="3168526" y="1985857"/>
            <a:ext cx="238223" cy="158817"/>
          </a:xfrm>
          <a:prstGeom prst="star5">
            <a:avLst>
              <a:gd name="adj" fmla="val 16357"/>
              <a:gd name="hf" fmla="val 105146"/>
              <a:gd name="vf" fmla="val 11055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五角星 35"/>
          <p:cNvSpPr/>
          <p:nvPr/>
        </p:nvSpPr>
        <p:spPr>
          <a:xfrm>
            <a:off x="3150474" y="2636599"/>
            <a:ext cx="238223" cy="158817"/>
          </a:xfrm>
          <a:prstGeom prst="star5">
            <a:avLst>
              <a:gd name="adj" fmla="val 0"/>
              <a:gd name="hf" fmla="val 105146"/>
              <a:gd name="vf" fmla="val 110557"/>
            </a:avLst>
          </a:prstGeom>
          <a:solidFill>
            <a:srgbClr val="FF00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五角星 36"/>
          <p:cNvSpPr/>
          <p:nvPr/>
        </p:nvSpPr>
        <p:spPr>
          <a:xfrm>
            <a:off x="3196970" y="2631785"/>
            <a:ext cx="209779" cy="162750"/>
          </a:xfrm>
          <a:prstGeom prst="star5">
            <a:avLst/>
          </a:prstGeom>
          <a:solidFill>
            <a:srgbClr val="FF00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3819097" y="2489645"/>
            <a:ext cx="11538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False</a:t>
            </a:r>
            <a:endParaRPr lang="zh-CN" altLang="en-US" sz="2000" dirty="0"/>
          </a:p>
        </p:txBody>
      </p:sp>
      <p:sp>
        <p:nvSpPr>
          <p:cNvPr id="39" name="文本框 38"/>
          <p:cNvSpPr txBox="1"/>
          <p:nvPr/>
        </p:nvSpPr>
        <p:spPr>
          <a:xfrm>
            <a:off x="2666051" y="2325030"/>
            <a:ext cx="6775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True</a:t>
            </a:r>
            <a:endParaRPr lang="zh-CN" altLang="en-US" sz="2000" dirty="0"/>
          </a:p>
        </p:txBody>
      </p:sp>
      <p:cxnSp>
        <p:nvCxnSpPr>
          <p:cNvPr id="28" name="直接连接符 27"/>
          <p:cNvCxnSpPr/>
          <p:nvPr/>
        </p:nvCxnSpPr>
        <p:spPr>
          <a:xfrm>
            <a:off x="3301859" y="2822819"/>
            <a:ext cx="1069518" cy="7231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8261191" y="1709271"/>
            <a:ext cx="0" cy="284480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 flipH="1" flipV="1">
            <a:off x="7004424" y="4488329"/>
            <a:ext cx="1165411" cy="1793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 flipV="1">
            <a:off x="6986497" y="2367867"/>
            <a:ext cx="17927" cy="2102534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7004424" y="2354726"/>
            <a:ext cx="1165411" cy="5976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>
            <a:off x="8373035" y="2988534"/>
            <a:ext cx="1016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 flipH="1">
            <a:off x="9299388" y="2988534"/>
            <a:ext cx="29883" cy="179861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 flipH="1">
            <a:off x="8149348" y="4697320"/>
            <a:ext cx="106637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 flipH="1">
            <a:off x="8122452" y="4673600"/>
            <a:ext cx="41404" cy="6633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5775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95 0.04166 L 0.00117 0.09444 " pathEditMode="relative" rAng="0" ptsTypes="AA">
                                      <p:cBhvr>
                                        <p:cTn id="63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" y="28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0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3.33333E-6 1.11111E-6 L -3.33333E-6 0.00023 C 0.00013 0.00995 0.00026 0.01967 0.00039 0.02917 C 0.00052 0.03009 0.00091 0.03079 0.00091 0.03171 C 0.00091 0.03889 0.00078 0.0463 0.00039 0.0537 C 0.00039 0.05509 0.00013 0.06342 -0.00078 0.0669 C -0.00091 0.06759 -0.00117 0.06852 -0.00156 0.06967 C -0.00156 0.07315 -0.00182 0.07708 -0.00195 0.08102 C -0.00195 0.08403 -0.00195 0.0868 -0.00221 0.08981 C -0.00221 0.09051 -0.00234 0.09143 -0.0026 0.0919 C -0.00299 0.09259 -0.00338 0.09282 -0.00377 0.09329 C -0.00494 0.10255 -0.00338 0.0912 -0.00455 0.0993 C -0.00468 0.10023 -0.00481 0.10139 -0.00494 0.10255 C -0.0052 0.1044 -0.00534 0.10625 -0.00638 0.10787 C -0.00677 0.10856 -0.00716 0.10856 -0.00755 0.10903 C -0.00781 0.10972 -0.0082 0.11065 -0.00833 0.11088 C -0.00859 0.1118 -0.00846 0.1125 -0.00872 0.11273 C -0.00911 0.11319 -0.0095 0.11342 -0.00989 0.11366 C -0.01198 0.1162 -0.00989 0.11505 -0.01289 0.11597 C -0.01328 0.1162 -0.01367 0.11643 -0.01406 0.1169 C -0.01445 0.11713 -0.01484 0.11713 -0.01523 0.11736 C -0.01588 0.11805 -0.01653 0.11898 -0.01705 0.11967 C -0.01744 0.11991 -0.01744 0.12083 -0.01784 0.12083 C -0.01849 0.12176 -0.01888 0.12176 -0.0194 0.12199 C -0.01992 0.12292 -0.0207 0.12407 -0.02083 0.12523 C -0.02109 0.12546 -0.02109 0.12616 -0.02122 0.12639 C -0.02161 0.12708 -0.022 0.12708 -0.02239 0.12731 C -0.0233 0.13194 -0.02226 0.12801 -0.02526 0.13194 C -0.02539 0.13264 -0.02565 0.13264 -0.02604 0.1331 C -0.02643 0.13333 -0.02695 0.13333 -0.02747 0.13333 C -0.02786 0.13356 -0.02825 0.13356 -0.02864 0.13403 C -0.02903 0.13426 -0.02942 0.13449 -0.02981 0.13542 C -0.0302 0.13542 -0.03047 0.13542 -0.03086 0.13542 C -0.03138 0.13588 -0.0319 0.13634 -0.03242 0.13634 C -0.03333 0.13727 -0.0345 0.13727 -0.03554 0.13727 C -0.03606 0.13727 -0.03659 0.1375 -0.03711 0.13773 C -0.03815 0.13819 -0.03906 0.13819 -0.0401 0.13819 C -0.04153 0.13866 -0.04284 0.13912 -0.04427 0.13935 C -0.04609 0.13958 -0.04791 0.13958 -0.04961 0.13981 C -0.05364 0.14259 -0.05052 0.14074 -0.05599 0.14167 C -0.05781 0.14213 -0.0608 0.14259 -0.0608 0.14305 C -0.06119 0.14352 -0.06159 0.14421 -0.06224 0.14467 C -0.06276 0.14491 -0.06328 0.14491 -0.0638 0.14491 C -0.06666 0.14583 -0.06627 0.1456 -0.07031 0.14676 L -0.12356 0.1456 C -0.12435 0.1456 -0.12448 0.14398 -0.12513 0.14352 C -0.12565 0.14305 -0.1263 0.14259 -0.12656 0.14236 C -0.12903 0.13981 -0.1276 0.14074 -0.12903 0.13866 C -0.12955 0.13819 -0.13034 0.13727 -0.13099 0.13634 L -0.1332 0.1331 C -0.13372 0.13264 -0.13437 0.13171 -0.13476 0.13102 L -0.13619 0.12824 C -0.13632 0.12708 -0.13632 0.12616 -0.13659 0.12546 C -0.13711 0.1243 -0.13789 0.12407 -0.13854 0.12268 C -0.14062 0.11898 -0.13867 0.12083 -0.14088 0.11898 C -0.1414 0.11782 -0.14231 0.1162 -0.14284 0.11458 C -0.14427 0.11065 -0.14179 0.1162 -0.14388 0.1118 C -0.14414 0.10995 -0.14453 0.1088 -0.14466 0.10717 C -0.14479 0.10602 -0.14479 0.10463 -0.14505 0.10347 C -0.14518 0.10255 -0.14557 0.10162 -0.14583 0.10069 C -0.14583 0.10023 -0.14609 0.09977 -0.14622 0.0993 C -0.14648 0.09792 -0.14687 0.0963 -0.14687 0.09514 C -0.147 0.09421 -0.147 0.09329 -0.14726 0.09236 C -0.14739 0.0919 -0.14778 0.09143 -0.14804 0.09097 C -0.14922 0.08634 -0.14765 0.09329 -0.14922 0.08403 C -0.15 0.07917 -0.14961 0.08287 -0.15052 0.07407 C -0.15052 0.06597 -0.15052 0.05787 -0.15039 0.05 C -0.15039 0.04815 -0.14987 0.0463 -0.14961 0.04491 C -0.14948 0.04398 -0.14948 0.04282 -0.14922 0.04259 C -0.14909 0.0419 -0.14869 0.0419 -0.14843 0.04097 C -0.1483 0.04074 -0.14817 0.04005 -0.14804 0.03981 C -0.14778 0.03796 -0.14817 0.03542 -0.14726 0.03356 C -0.14583 0.03055 -0.14726 0.03356 -0.14583 0.02893 C -0.14453 0.02454 -0.1457 0.02755 -0.14427 0.02546 C -0.14388 0.02454 -0.14362 0.02361 -0.1431 0.02338 C -0.14284 0.02268 -0.14244 0.02268 -0.14205 0.02268 C -0.14023 0.01898 -0.14244 0.02338 -0.13932 0.01991 C -0.13854 0.01921 -0.13867 0.01829 -0.13776 0.01736 C -0.13724 0.01713 -0.13645 0.01713 -0.13593 0.01713 C -0.1332 0.0162 -0.13554 0.01667 -0.1332 0.0162 C -0.13268 0.01551 -0.13216 0.01528 -0.13177 0.01528 C -0.12799 0.01528 -0.12422 0.01528 -0.12057 0.01481 C -0.11718 0.01296 -0.11966 0.01412 -0.11484 0.01204 C -0.11445 0.01204 -0.11406 0.01204 -0.11367 0.0118 C -0.11041 0.01111 -0.10534 0.01088 -0.1026 0.01065 C -0.10143 0.01065 -0.10039 0.01065 -0.09922 0.00995 C -0.09882 0.00995 -0.09843 0.00995 -0.09804 0.00972 C -0.09244 0.00717 -0.09804 0.00972 -0.0931 0.00787 C -0.09257 0.00764 -0.09244 0.00764 -0.09179 0.00741 C -0.0901 0.00694 -0.08828 0.00671 -0.08659 0.00625 C -0.08346 0.00555 -0.0845 0.00579 -0.08125 0.00532 C -0.0763 0.00486 -0.07734 0.00509 -0.07291 0.0044 C -0.07213 0.0044 -0.07122 0.00417 -0.07031 0.00393 C -0.06393 0.00069 -0.0707 0.00393 -0.05299 0.00278 C -0.04987 0.00278 -0.04648 0.00208 -0.0431 0.00185 C -0.04218 0.00162 -0.04127 0.00162 -0.04049 0.00116 C -0.03919 0.00092 -0.03789 0.00069 -0.03672 0.00069 C -0.03554 1.11111E-6 -0.03489 -0.00023 -0.03359 -0.00023 C -0.02877 -0.00116 -0.0194 -0.00116 -0.0194 -0.00116 C -0.01901 -0.00116 -0.01263 -0.00116 -0.01054 -0.00093 C -0.01015 -0.0007 -0.00976 -0.00023 -0.00911 1.11111E-6 C -0.00846 0.00023 -0.00781 0.00023 -0.00716 0.00069 C -0.00638 0.00069 -0.00573 0.00162 -0.00494 0.00185 C -0.00442 0.00185 -0.0039 0.00208 -0.00338 0.00208 C -0.00221 0.00347 -0.00234 0.00347 -0.00117 0.00393 C -0.00052 0.00417 -0.00013 0.00069 -3.33333E-6 1.11111E-6 Z " pathEditMode="relative" rAng="0" ptsTypes="AAAAAAAAAAAAAAAAAAAAAAAAAAAAAAAAAAAAAAAAAAAAAAAAAAAAAAAAAAAAAAAAAAAAAAAAAAAAAAAAAAAAAAAAAAAAAAAAAAAAAAAAAA">
                                      <p:cBhvr>
                                        <p:cTn id="71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487" y="72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1.85185E-6 L -1.04167E-6 0.00023 C -0.0013 0.00787 -0.00091 0.00301 -0.00039 0.01134 C -1.04167E-6 0.01945 -0.00325 0.02986 0.00078 0.03542 C 0.00104 0.03611 0.00156 0.03634 0.00195 0.03727 C 0.00234 0.0375 0.00248 0.0382 0.00274 0.03889 C 0.00326 0.03935 0.00378 0.03982 0.00417 0.04051 C 0.00456 0.04074 0.00586 0.04306 0.00664 0.04329 C 0.00925 0.04375 0.01185 0.04352 0.01445 0.04375 C 0.01563 0.04398 0.01706 0.04398 0.01836 0.04445 C 0.0194 0.04468 0.02031 0.04584 0.02149 0.04607 C 0.0263 0.04676 0.03594 0.04699 0.03594 0.04722 C 0.0375 0.04746 0.03906 0.04769 0.0405 0.04815 C 0.04193 0.04884 0.04323 0.04977 0.0444 0.04977 C 0.04636 0.05046 0.04844 0.05023 0.05026 0.05046 C 0.05521 0.05116 0.05195 0.05116 0.05781 0.05139 L 0.07721 0.05255 C 0.07865 0.05324 0.07969 0.05371 0.08112 0.05371 C 0.08359 0.05417 0.08581 0.05417 0.08815 0.0544 C 0.08893 0.05764 0.08802 0.05463 0.08971 0.05764 C 0.09024 0.05857 0.09128 0.06111 0.09128 0.06134 C 0.09141 0.06181 0.09141 0.0625 0.09167 0.0632 C 0.09271 0.06574 0.09297 0.06621 0.09401 0.06759 C 0.09544 0.07384 0.0931 0.06459 0.09518 0.07107 C 0.09557 0.07246 0.09649 0.07709 0.09675 0.07824 C 0.09688 0.08009 0.09688 0.08195 0.09714 0.0838 C 0.09727 0.08496 0.09792 0.08704 0.09792 0.08727 C 0.09805 0.08889 0.09818 0.09074 0.09844 0.09236 C 0.09844 0.09375 0.09909 0.09514 0.09909 0.09676 C 0.09961 0.10347 0.09961 0.11042 0.09987 0.11736 C 0.1 0.11852 0.10039 0.11991 0.10039 0.12107 C 0.10052 0.12269 0.10052 0.12408 0.10091 0.12546 C 0.10052 0.12986 0.10052 0.1338 0.10039 0.13773 C 0.10039 0.13935 0.10039 0.14097 0.09987 0.14236 C 0.09987 0.14283 0.09935 0.14306 0.09909 0.14329 C 0.09883 0.14375 0.09766 0.14722 0.09714 0.14792 C 0.09649 0.14884 0.09518 0.1507 0.09518 0.15093 C 0.09505 0.15209 0.09492 0.15301 0.09401 0.15394 C 0.09375 0.15463 0.09336 0.15463 0.09297 0.15509 C 0.09024 0.1625 0.0931 0.15602 0.09063 0.15949 C 0.08763 0.16366 0.09102 0.16019 0.08815 0.16296 C 0.08763 0.16412 0.08737 0.16482 0.08659 0.16574 C 0.0862 0.16621 0.08581 0.16644 0.08542 0.1669 C 0.08516 0.16736 0.0849 0.16806 0.08451 0.16852 C 0.08359 0.17014 0.08359 0.16921 0.08229 0.17014 C 0.0819 0.1706 0.08164 0.17084 0.08112 0.1713 C 0.07969 0.17431 0.08112 0.17176 0.0793 0.17338 C 0.07826 0.17431 0.07774 0.17523 0.07695 0.1757 C 0.07513 0.17662 0.07617 0.17616 0.07409 0.17685 C 0.07383 0.17709 0.0737 0.17778 0.07331 0.17778 C 0.07136 0.17986 0.07214 0.17847 0.06953 0.18009 C 0.06862 0.18079 0.06784 0.18148 0.06719 0.18195 C 0.06667 0.18218 0.06615 0.18218 0.06563 0.18241 C 0.06276 0.18357 0.06641 0.18241 0.0625 0.18357 C 0.05951 0.18681 0.0625 0.18403 0.05807 0.18588 C 0.05768 0.18588 0.05716 0.18658 0.05664 0.18681 C 0.05534 0.18773 0.053 0.18773 0.05182 0.18796 C 0.05117 0.18843 0.05065 0.18935 0.04987 0.18959 C 0.04922 0.19005 0.04857 0.19005 0.04805 0.19028 C 0.04714 0.19051 0.04636 0.19097 0.0457 0.19121 C 0.04518 0.19167 0.04466 0.19213 0.04401 0.19236 C 0.04141 0.19375 0.04089 0.19352 0.03815 0.19398 C 0.03633 0.19468 0.03307 0.1956 0.03177 0.1963 C 0.03086 0.19653 0.03008 0.19722 0.02943 0.19746 C 0.02865 0.19769 0.02787 0.19792 0.02721 0.19792 C 0.02656 0.19838 0.02578 0.19838 0.025 0.19838 C 0.02383 0.19908 0.02266 0.19954 0.02149 0.20023 C 0.02109 0.20046 0.0207 0.20116 0.02031 0.20139 C 0.01966 0.20162 0.01354 0.20232 0.01315 0.20255 C 0.01081 0.20278 0.00859 0.20371 0.00625 0.20417 C 0.00495 0.2044 0.00339 0.20463 0.00234 0.20463 C -0.0043 0.20579 0.00339 0.20463 -0.00586 0.20579 C -0.00703 0.20625 -0.0082 0.20648 -0.00937 0.20695 C -0.01211 0.20787 -0.00859 0.20718 -0.0125 0.2081 C -0.01419 0.20834 -0.01797 0.20903 -0.01797 0.20926 C -0.01862 0.20949 -0.01953 0.20996 -0.02044 0.21019 C -0.02239 0.21111 -0.02122 0.21042 -0.02305 0.21134 C -0.0237 0.21158 -0.02474 0.21158 -0.02513 0.2125 C -0.02526 0.21343 -0.02513 0.21505 -0.02513 0.21621 L -0.02513 0.21713 " pathEditMode="relative" rAng="0" ptsTypes="AAAAAAAAAAAAAAAAAAAAAAAAAAAAAAAAAAAAAAAAAAAAAAAAAAAAAAAAAAAAAAAAAAAAAAAAAAAAAAAA">
                                      <p:cBhvr>
                                        <p:cTn id="76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89" y="108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</p:childTnLst>
        </p:cTn>
      </p:par>
    </p:tnLst>
    <p:bldLst>
      <p:bldP spid="34" grpId="0" animBg="1"/>
      <p:bldP spid="34" grpId="2" animBg="1"/>
      <p:bldP spid="34" grpId="3" animBg="1"/>
      <p:bldP spid="37" grpId="0" animBg="1"/>
      <p:bldP spid="37" grpId="1" animBg="1"/>
      <p:bldP spid="37" grpId="2" animBg="1"/>
      <p:bldP spid="38" grpId="0"/>
      <p:bldP spid="3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46937" y="859919"/>
            <a:ext cx="8292387" cy="1531830"/>
          </a:xfrm>
        </p:spPr>
        <p:txBody>
          <a:bodyPr>
            <a:noAutofit/>
          </a:bodyPr>
          <a:lstStyle/>
          <a:p>
            <a:pPr marL="0" indent="0">
              <a:lnSpc>
                <a:spcPct val="210000"/>
              </a:lnSpc>
              <a:buNone/>
            </a:pPr>
            <a:r>
              <a:rPr lang="zh-CN" altLang="zh-CN" sz="2400" dirty="0">
                <a:latin typeface="+mn-ea"/>
              </a:rPr>
              <a:t>（</a:t>
            </a:r>
            <a:r>
              <a:rPr lang="en-US" altLang="zh-CN" sz="2400" dirty="0">
                <a:latin typeface="+mn-ea"/>
              </a:rPr>
              <a:t>1</a:t>
            </a:r>
            <a:r>
              <a:rPr lang="zh-CN" altLang="zh-CN" sz="2400" dirty="0">
                <a:latin typeface="+mn-ea"/>
              </a:rPr>
              <a:t>）与</a:t>
            </a:r>
            <a:r>
              <a:rPr lang="en-US" altLang="zh-CN" sz="2400" dirty="0">
                <a:latin typeface="+mn-ea"/>
              </a:rPr>
              <a:t>if</a:t>
            </a:r>
            <a:r>
              <a:rPr lang="zh-CN" altLang="zh-CN" sz="2400" dirty="0">
                <a:latin typeface="+mn-ea"/>
              </a:rPr>
              <a:t>语句的语法类似，如果</a:t>
            </a:r>
            <a:r>
              <a:rPr lang="en-US" altLang="zh-CN" sz="2400" dirty="0">
                <a:latin typeface="+mn-ea"/>
              </a:rPr>
              <a:t>while</a:t>
            </a:r>
            <a:r>
              <a:rPr lang="zh-CN" altLang="zh-CN" sz="2400" dirty="0">
                <a:latin typeface="+mn-ea"/>
              </a:rPr>
              <a:t>循环体中只有一条语句，可以将该语句与</a:t>
            </a:r>
            <a:r>
              <a:rPr lang="en-US" altLang="zh-CN" sz="2400" dirty="0">
                <a:latin typeface="+mn-ea"/>
              </a:rPr>
              <a:t>while</a:t>
            </a:r>
            <a:r>
              <a:rPr lang="zh-CN" altLang="zh-CN" sz="2400" dirty="0">
                <a:latin typeface="+mn-ea"/>
              </a:rPr>
              <a:t>写在同一行中。</a:t>
            </a:r>
            <a:endParaRPr lang="en-US" altLang="zh-CN" sz="2400" dirty="0">
              <a:latin typeface="+mn-ea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8540818" y="854930"/>
            <a:ext cx="514951" cy="35888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9317318" y="1464469"/>
            <a:ext cx="2658153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k=5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 k:   k=k-1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317318" y="2792562"/>
            <a:ext cx="2060506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k=5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 k: 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print(k)  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k=k-1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9"/>
          <p:cNvSpPr>
            <a:spLocks noChangeArrowheads="1"/>
          </p:cNvSpPr>
          <p:nvPr/>
        </p:nvSpPr>
        <p:spPr bwMode="auto">
          <a:xfrm>
            <a:off x="107576" y="873054"/>
            <a:ext cx="11377083" cy="230187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zh-CN" sz="1800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81794" y="125798"/>
            <a:ext cx="873957" cy="7472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10000"/>
              </a:lnSpc>
            </a:pP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9461" y="3701016"/>
            <a:ext cx="8696700" cy="30830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10000"/>
              </a:lnSpc>
            </a:pPr>
            <a:r>
              <a:rPr lang="zh-CN" altLang="zh-CN" sz="2400" dirty="0">
                <a:latin typeface="+mn-ea"/>
              </a:rPr>
              <a:t>（</a:t>
            </a:r>
            <a:r>
              <a:rPr lang="en-US" altLang="zh-CN" sz="2400" dirty="0">
                <a:latin typeface="+mn-ea"/>
              </a:rPr>
              <a:t>3</a:t>
            </a:r>
            <a:r>
              <a:rPr lang="zh-CN" altLang="zh-CN" sz="2400" dirty="0">
                <a:latin typeface="+mn-ea"/>
              </a:rPr>
              <a:t>）如果</a:t>
            </a:r>
            <a:r>
              <a:rPr lang="zh-CN" altLang="zh-CN" sz="2400" dirty="0">
                <a:solidFill>
                  <a:srgbClr val="FF0000"/>
                </a:solidFill>
                <a:latin typeface="+mn-ea"/>
              </a:rPr>
              <a:t>表达式永远为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True</a:t>
            </a:r>
            <a:r>
              <a:rPr lang="zh-CN" altLang="zh-CN" sz="2400" dirty="0">
                <a:latin typeface="+mn-ea"/>
              </a:rPr>
              <a:t>，循环将会无限地执行下去（俗称</a:t>
            </a:r>
            <a:r>
              <a:rPr lang="zh-CN" altLang="zh-CN" sz="2400" dirty="0">
                <a:solidFill>
                  <a:srgbClr val="FF0000"/>
                </a:solidFill>
                <a:latin typeface="+mn-ea"/>
              </a:rPr>
              <a:t>“死”循环</a:t>
            </a:r>
            <a:r>
              <a:rPr lang="zh-CN" altLang="zh-CN" sz="2400" dirty="0">
                <a:latin typeface="+mn-ea"/>
              </a:rPr>
              <a:t>）。</a:t>
            </a:r>
            <a:endParaRPr lang="en-US" altLang="zh-CN" sz="2400" dirty="0">
              <a:latin typeface="+mn-ea"/>
            </a:endParaRPr>
          </a:p>
          <a:p>
            <a:pPr marL="720000">
              <a:lnSpc>
                <a:spcPct val="210000"/>
              </a:lnSpc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+mn-ea"/>
              </a:rPr>
              <a:t>在循环体内必须有修改表达式值的语句，使其值趋向</a:t>
            </a:r>
            <a:r>
              <a:rPr lang="en-US" altLang="zh-CN" sz="2400" dirty="0">
                <a:latin typeface="+mn-ea"/>
              </a:rPr>
              <a:t>False</a:t>
            </a:r>
            <a:r>
              <a:rPr lang="zh-CN" altLang="zh-CN" sz="2400" dirty="0">
                <a:latin typeface="+mn-ea"/>
              </a:rPr>
              <a:t>，让循环趋于结束，避免无限循环。</a:t>
            </a:r>
          </a:p>
        </p:txBody>
      </p:sp>
      <p:sp>
        <p:nvSpPr>
          <p:cNvPr id="23" name="矩形 22"/>
          <p:cNvSpPr/>
          <p:nvPr/>
        </p:nvSpPr>
        <p:spPr>
          <a:xfrm>
            <a:off x="9317318" y="4743832"/>
            <a:ext cx="2060506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k=5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 k: 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print(k)  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k=k-1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9505029" y="6065614"/>
            <a:ext cx="1307431" cy="597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cxnSpLocks/>
            <a:endCxn id="23" idx="1"/>
          </p:cNvCxnSpPr>
          <p:nvPr/>
        </p:nvCxnSpPr>
        <p:spPr>
          <a:xfrm flipV="1">
            <a:off x="8716161" y="5528662"/>
            <a:ext cx="601157" cy="1428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107576" y="2240554"/>
            <a:ext cx="8321941" cy="1531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10000"/>
              </a:lnSpc>
            </a:pPr>
            <a:r>
              <a:rPr lang="zh-CN" altLang="zh-CN" sz="2400" dirty="0">
                <a:latin typeface="+mn-ea"/>
              </a:rPr>
              <a:t>（</a:t>
            </a:r>
            <a:r>
              <a:rPr lang="en-US" altLang="zh-CN" sz="2400" dirty="0">
                <a:latin typeface="+mn-ea"/>
              </a:rPr>
              <a:t>2</a:t>
            </a:r>
            <a:r>
              <a:rPr lang="zh-CN" altLang="zh-CN" sz="2400" dirty="0">
                <a:latin typeface="+mn-ea"/>
              </a:rPr>
              <a:t>）当循环体由多个语句构成时，必须用缩进对齐的方式组成一个语句块。</a:t>
            </a:r>
            <a:endParaRPr lang="en-US" altLang="zh-CN" sz="2400" dirty="0">
              <a:latin typeface="+mn-ea"/>
            </a:endParaRPr>
          </a:p>
        </p:txBody>
      </p:sp>
      <p:cxnSp>
        <p:nvCxnSpPr>
          <p:cNvPr id="22" name="直接箭头连接符 21"/>
          <p:cNvCxnSpPr>
            <a:cxnSpLocks/>
          </p:cNvCxnSpPr>
          <p:nvPr/>
        </p:nvCxnSpPr>
        <p:spPr>
          <a:xfrm>
            <a:off x="8396941" y="3358750"/>
            <a:ext cx="920377" cy="601999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>
            <a:cxnSpLocks/>
          </p:cNvCxnSpPr>
          <p:nvPr/>
        </p:nvCxnSpPr>
        <p:spPr>
          <a:xfrm>
            <a:off x="9682689" y="3701016"/>
            <a:ext cx="0" cy="597196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cxnSpLocks/>
          </p:cNvCxnSpPr>
          <p:nvPr/>
        </p:nvCxnSpPr>
        <p:spPr>
          <a:xfrm>
            <a:off x="8439325" y="1627464"/>
            <a:ext cx="850284" cy="284957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4140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8" grpId="0"/>
      <p:bldP spid="23" grpId="0" animBg="1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396047" y="6458302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886501" y="635001"/>
            <a:ext cx="4542118" cy="22547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k=10</a:t>
            </a:r>
            <a:endParaRPr lang="zh-CN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while 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 print(k) </a:t>
            </a: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 k=k-1</a:t>
            </a:r>
            <a:endParaRPr lang="zh-CN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则下面描述中正确的是（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zh-CN" altLang="en-US" sz="2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606852" y="3000375"/>
            <a:ext cx="3032873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循环执行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606852" y="3857625"/>
            <a:ext cx="3032873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循环是无限循环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1606852" y="4714875"/>
            <a:ext cx="3032873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循环体语句一次也不执行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1606852" y="5572125"/>
            <a:ext cx="274600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循环体语句执行一次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892477" y="3064668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892477" y="3921918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892477" y="4779168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892477" y="5636418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圆角矩形 14"/>
          <p:cNvSpPr/>
          <p:nvPr>
            <p:custDataLst>
              <p:tags r:id="rId11"/>
            </p:custDataLst>
          </p:nvPr>
        </p:nvSpPr>
        <p:spPr>
          <a:xfrm>
            <a:off x="5500353" y="6257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1" name="矩形 20"/>
          <p:cNvSpPr/>
          <p:nvPr/>
        </p:nvSpPr>
        <p:spPr>
          <a:xfrm>
            <a:off x="8762195" y="1265250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2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9</a:t>
            </a:r>
            <a:endParaRPr lang="zh-CN" altLang="en-US" sz="3200" b="0" cap="none" spc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762195" y="1781345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2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8</a:t>
            </a:r>
            <a:endParaRPr lang="zh-CN" altLang="en-US" sz="3200" b="0" cap="none" spc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762195" y="2314704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2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7</a:t>
            </a:r>
            <a:endParaRPr lang="zh-CN" altLang="en-US" sz="3200" b="0" cap="none" spc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8762195" y="2842846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2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6</a:t>
            </a:r>
            <a:endParaRPr lang="zh-CN" altLang="en-US" sz="3200" b="0" cap="none" spc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762196" y="3364769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2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5</a:t>
            </a:r>
            <a:endParaRPr lang="zh-CN" altLang="en-US" sz="3200" b="0" cap="none" spc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8762195" y="3843062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2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4</a:t>
            </a:r>
            <a:endParaRPr lang="zh-CN" altLang="en-US" sz="3200" b="0" cap="none" spc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762195" y="4359157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2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</a:t>
            </a:r>
            <a:endParaRPr lang="zh-CN" altLang="en-US" sz="3200" b="0" cap="none" spc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762195" y="4856660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2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  <a:endParaRPr lang="zh-CN" altLang="en-US" sz="3200" b="0" cap="none" spc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8762195" y="5420658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2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  <a:endParaRPr lang="zh-CN" altLang="en-US" sz="3200" b="0" cap="none" spc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762195" y="5957415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2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0</a:t>
            </a:r>
            <a:endParaRPr lang="zh-CN" altLang="en-US" sz="3200" b="0" cap="none" spc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7331997" y="673765"/>
            <a:ext cx="111492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6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print</a:t>
            </a:r>
            <a:endParaRPr lang="zh-CN" altLang="en-US" sz="3600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9826755" y="5876057"/>
            <a:ext cx="1290610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8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stop</a:t>
            </a:r>
            <a:endParaRPr lang="zh-CN" altLang="en-US" sz="4800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7475218" y="5356371"/>
            <a:ext cx="111492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6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print</a:t>
            </a:r>
            <a:endParaRPr lang="zh-CN" altLang="en-US" sz="3600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8590139" y="710990"/>
            <a:ext cx="60144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2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10</a:t>
            </a:r>
            <a:endParaRPr lang="zh-CN" altLang="en-US" sz="3200" b="0" cap="none" spc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8354064" y="6005433"/>
            <a:ext cx="2553823" cy="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8590139" y="34968"/>
            <a:ext cx="6671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K=</a:t>
            </a:r>
            <a:endParaRPr lang="zh-CN" altLang="en-US" sz="36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886451" y="722055"/>
            <a:ext cx="113204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000" b="0" cap="none" spc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K!=0</a:t>
            </a:r>
            <a:endParaRPr lang="zh-CN" altLang="en-US" sz="4000" b="0" cap="none" spc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6" name="左右箭头 35"/>
          <p:cNvSpPr/>
          <p:nvPr/>
        </p:nvSpPr>
        <p:spPr>
          <a:xfrm rot="21156639">
            <a:off x="1943027" y="1063399"/>
            <a:ext cx="1983471" cy="295546"/>
          </a:xfrm>
          <a:prstGeom prst="leftRightArrow">
            <a:avLst>
              <a:gd name="adj1" fmla="val 28316"/>
              <a:gd name="adj2" fmla="val 50000"/>
            </a:avLst>
          </a:prstGeom>
          <a:ln>
            <a:solidFill>
              <a:srgbClr val="FFFF00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" name="组合 19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4070074" cy="635000"/>
            <a:chOff x="-1539437" y="-11334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1539437" y="-11334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/>
            <p:cNvSpPr/>
            <p:nvPr>
              <p:custDataLst>
                <p:tags r:id="rId15"/>
              </p:custDataLst>
            </p:nvPr>
          </p:nvSpPr>
          <p:spPr>
            <a:xfrm>
              <a:off x="-1539437" y="-11334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968790" y="-11334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888726" y="97886"/>
              <a:ext cx="2285999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75899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500"/>
                            </p:stCondLst>
                            <p:childTnLst>
                              <p:par>
                                <p:cTn id="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" grpId="0"/>
      <p:bldP spid="31" grpId="0"/>
      <p:bldP spid="32" grpId="0"/>
      <p:bldP spid="33" grpId="0"/>
      <p:bldP spid="2" grpId="0"/>
      <p:bldP spid="34" grpId="0"/>
      <p:bldP spid="3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54000" y="1045322"/>
            <a:ext cx="4837112" cy="43655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pt-BR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n=0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pt-BR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p=0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p!=100 and n&lt;3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p=int(input())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n+=1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循环结束的条件是（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5943600" y="1499265"/>
            <a:ext cx="46990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的值不等于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并且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的值小于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6005512" y="2421730"/>
            <a:ext cx="515184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的值等于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并且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的值大于等于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6005512" y="3413917"/>
            <a:ext cx="544546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的值不等于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的值小于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6005512" y="4384674"/>
            <a:ext cx="528607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的值等于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的值大于等于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291138" y="1528365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291137" y="2486023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291137" y="347821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291137" y="4448967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圆角矩形 12"/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4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/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45199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81781" y="5972795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1047318" y="3571405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3358694" y="3571405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831699" y="3635653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矩形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8047529" y="3635653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圆角矩形 14"/>
          <p:cNvSpPr/>
          <p:nvPr>
            <p:custDataLst>
              <p:tags r:id="rId6"/>
            </p:custDataLst>
          </p:nvPr>
        </p:nvSpPr>
        <p:spPr>
          <a:xfrm>
            <a:off x="9294902" y="2617941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4" name="矩形 23"/>
          <p:cNvSpPr/>
          <p:nvPr/>
        </p:nvSpPr>
        <p:spPr>
          <a:xfrm>
            <a:off x="3191498" y="188201"/>
            <a:ext cx="2471457" cy="21236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初值</a:t>
            </a:r>
            <a:endParaRPr lang="en-US" altLang="zh-CN" sz="2200" baseline="-25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while </a:t>
            </a:r>
            <a:r>
              <a:rPr lang="en-US" altLang="zh-CN" sz="22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&lt;=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终值</a:t>
            </a:r>
            <a:r>
              <a:rPr lang="zh-CN" altLang="en-US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CN" sz="22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......</a:t>
            </a:r>
            <a:endParaRPr lang="zh-CN" altLang="en-US" sz="22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2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22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步长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6089532" y="436824"/>
            <a:ext cx="32053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Clr>
                <a:srgbClr val="00B0F0"/>
              </a:buClr>
              <a:buFont typeface="Wingdings" panose="05000000000000000000" pitchFamily="2" charset="2"/>
              <a:buChar char="u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通过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i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初值、终值、步长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设计循环的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次数</a:t>
            </a:r>
          </a:p>
        </p:txBody>
      </p:sp>
      <p:sp>
        <p:nvSpPr>
          <p:cNvPr id="26" name="矩形 25"/>
          <p:cNvSpPr/>
          <p:nvPr/>
        </p:nvSpPr>
        <p:spPr>
          <a:xfrm>
            <a:off x="178826" y="4334378"/>
            <a:ext cx="2008174" cy="22430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&lt;=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......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=i+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634346" y="4305914"/>
            <a:ext cx="1963045" cy="22430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&gt;=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......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=i-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107351" y="4334401"/>
            <a:ext cx="1963045" cy="22430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&lt;=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......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=i+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500258" y="4334378"/>
            <a:ext cx="1963045" cy="22430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&lt;=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......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=i+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9837132" y="4334401"/>
            <a:ext cx="2046003" cy="22430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&lt;=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......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=i+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0444282" y="3591733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cxnSp>
        <p:nvCxnSpPr>
          <p:cNvPr id="36" name="直接连接符 35"/>
          <p:cNvCxnSpPr/>
          <p:nvPr/>
        </p:nvCxnSpPr>
        <p:spPr>
          <a:xfrm>
            <a:off x="55780" y="2464037"/>
            <a:ext cx="12067504" cy="32197"/>
          </a:xfrm>
          <a:prstGeom prst="line">
            <a:avLst/>
          </a:prstGeom>
          <a:ln w="28575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4008876" y="2589171"/>
            <a:ext cx="3133436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（   ）循环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次。</a:t>
            </a:r>
          </a:p>
        </p:txBody>
      </p:sp>
      <p:pic>
        <p:nvPicPr>
          <p:cNvPr id="5" name="图片 4"/>
          <p:cNvPicPr>
            <a:picLocks/>
          </p:cNvPicPr>
          <p:nvPr>
            <p:custDataLst>
              <p:tags r:id="rId8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D68E3627-B55C-4A5C-8ABB-C821BFE93D5E}"/>
              </a:ext>
            </a:extLst>
          </p:cNvPr>
          <p:cNvSpPr txBox="1"/>
          <p:nvPr/>
        </p:nvSpPr>
        <p:spPr>
          <a:xfrm>
            <a:off x="232281" y="201122"/>
            <a:ext cx="16300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多选题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60073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26" grpId="0" animBg="1"/>
      <p:bldP spid="27" grpId="0" animBg="1"/>
      <p:bldP spid="28" grpId="0" animBg="1"/>
      <p:bldP spid="29" grpId="0" animBg="1"/>
      <p:bldP spid="32" grpId="0" animBg="1"/>
      <p:bldP spid="34" grpId="0" animBg="1"/>
      <p:bldP spid="3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内容占位符 2"/>
          <p:cNvSpPr>
            <a:spLocks noGrp="1"/>
          </p:cNvSpPr>
          <p:nvPr>
            <p:ph idx="1"/>
          </p:nvPr>
        </p:nvSpPr>
        <p:spPr>
          <a:xfrm>
            <a:off x="765386" y="1229237"/>
            <a:ext cx="1653260" cy="2873965"/>
          </a:xfrm>
          <a:solidFill>
            <a:srgbClr val="CCFFFF"/>
          </a:solidFill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US" altLang="zh-CN" sz="2400" dirty="0"/>
              <a:t>print(1)</a:t>
            </a:r>
            <a:endParaRPr lang="zh-CN" altLang="en-US" sz="2400" dirty="0"/>
          </a:p>
          <a:p>
            <a:pPr eaLnBrk="1" hangingPunct="1">
              <a:buNone/>
            </a:pPr>
            <a:r>
              <a:rPr lang="en-US" altLang="zh-CN" sz="2400" dirty="0"/>
              <a:t>print(2)</a:t>
            </a:r>
            <a:endParaRPr lang="zh-CN" altLang="en-US" sz="2400" dirty="0"/>
          </a:p>
          <a:p>
            <a:pPr eaLnBrk="1" hangingPunct="1">
              <a:buNone/>
            </a:pPr>
            <a:r>
              <a:rPr lang="en-US" altLang="zh-CN" sz="2400" dirty="0"/>
              <a:t>print(3)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altLang="zh-CN" sz="2400" dirty="0"/>
              <a:t>……</a:t>
            </a:r>
          </a:p>
          <a:p>
            <a:pPr eaLnBrk="1" hangingPunct="1">
              <a:buNone/>
            </a:pPr>
            <a:r>
              <a:rPr lang="en-US" altLang="zh-CN" sz="2400" dirty="0"/>
              <a:t>print(29)</a:t>
            </a:r>
          </a:p>
          <a:p>
            <a:pPr eaLnBrk="1" hangingPunct="1">
              <a:buNone/>
            </a:pPr>
            <a:r>
              <a:rPr lang="en-US" altLang="zh-CN" sz="2400" dirty="0"/>
              <a:t>print(30)</a:t>
            </a:r>
            <a:endParaRPr lang="zh-CN" altLang="en-US" sz="2400" dirty="0"/>
          </a:p>
          <a:p>
            <a:pPr eaLnBrk="1" hangingPunct="1">
              <a:lnSpc>
                <a:spcPct val="80000"/>
              </a:lnSpc>
              <a:buFont typeface="Wingdings 2" pitchFamily="18" charset="2"/>
              <a:buNone/>
            </a:pPr>
            <a:endParaRPr lang="zh-CN" altLang="en-US" sz="2400" dirty="0"/>
          </a:p>
        </p:txBody>
      </p:sp>
      <p:sp>
        <p:nvSpPr>
          <p:cNvPr id="14341" name="矩形 5"/>
          <p:cNvSpPr>
            <a:spLocks noChangeArrowheads="1"/>
          </p:cNvSpPr>
          <p:nvPr/>
        </p:nvSpPr>
        <p:spPr bwMode="auto">
          <a:xfrm>
            <a:off x="109592" y="319559"/>
            <a:ext cx="2993127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eaLnBrk="1" hangingPunct="1">
              <a:buFont typeface="微软雅黑" panose="020B0503020204020204" pitchFamily="34" charset="-122"/>
              <a:buChar char="①"/>
            </a:pPr>
            <a:r>
              <a:rPr lang="zh-CN" altLang="en-US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1-30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，一行一个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 bwMode="auto">
          <a:xfrm>
            <a:off x="3676097" y="970854"/>
            <a:ext cx="1440160" cy="3096345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69925" indent="-325438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Font typeface="Wingdings 2" pitchFamily="18" charset="2"/>
              <a:buNone/>
            </a:pPr>
            <a:r>
              <a:rPr lang="en-US" altLang="zh-CN" sz="2000" kern="0" dirty="0"/>
              <a:t>s=0</a:t>
            </a:r>
            <a:endParaRPr lang="zh-CN" altLang="en-US" sz="2000" kern="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kern="0" dirty="0"/>
              <a:t>s=s+1</a:t>
            </a:r>
            <a:endParaRPr lang="zh-CN" altLang="en-US" sz="2000" kern="0" dirty="0"/>
          </a:p>
          <a:p>
            <a:pPr eaLnBrk="1" hangingPunct="1">
              <a:buNone/>
            </a:pPr>
            <a:r>
              <a:rPr lang="en-US" altLang="zh-CN" sz="2000" kern="0" dirty="0"/>
              <a:t>s=s+2</a:t>
            </a:r>
            <a:endParaRPr lang="zh-CN" altLang="en-US" sz="2000" kern="0" dirty="0"/>
          </a:p>
          <a:p>
            <a:pPr eaLnBrk="1" hangingPunct="1">
              <a:buFont typeface="Wingdings 2" pitchFamily="18" charset="2"/>
              <a:buNone/>
            </a:pPr>
            <a:r>
              <a:rPr lang="en-US" altLang="zh-CN" sz="2000" kern="0" dirty="0"/>
              <a:t>……</a:t>
            </a:r>
          </a:p>
          <a:p>
            <a:pPr eaLnBrk="1" hangingPunct="1">
              <a:buNone/>
            </a:pPr>
            <a:r>
              <a:rPr lang="en-US" altLang="zh-CN" sz="2000" kern="0" dirty="0"/>
              <a:t>s=s+29</a:t>
            </a:r>
            <a:endParaRPr lang="zh-CN" altLang="en-US" sz="2000" kern="0" dirty="0"/>
          </a:p>
          <a:p>
            <a:pPr eaLnBrk="1" hangingPunct="1">
              <a:buNone/>
            </a:pPr>
            <a:r>
              <a:rPr lang="en-US" altLang="zh-CN" sz="2000" kern="0" dirty="0"/>
              <a:t>s=s+30</a:t>
            </a:r>
            <a:endParaRPr lang="zh-CN" altLang="en-US" sz="2000" kern="0" dirty="0"/>
          </a:p>
        </p:txBody>
      </p:sp>
      <p:sp>
        <p:nvSpPr>
          <p:cNvPr id="8" name="内容占位符 2"/>
          <p:cNvSpPr txBox="1">
            <a:spLocks/>
          </p:cNvSpPr>
          <p:nvPr/>
        </p:nvSpPr>
        <p:spPr bwMode="auto">
          <a:xfrm>
            <a:off x="6651438" y="925027"/>
            <a:ext cx="1212270" cy="3168352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69925" indent="-325438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Font typeface="Wingdings 2" pitchFamily="18" charset="2"/>
              <a:buNone/>
            </a:pPr>
            <a:r>
              <a:rPr lang="en-US" altLang="zh-CN" sz="2000" kern="0"/>
              <a:t>s=1</a:t>
            </a:r>
            <a:endParaRPr lang="zh-CN" altLang="en-US" sz="2000" kern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kern="0"/>
              <a:t>s=s*1</a:t>
            </a:r>
            <a:endParaRPr lang="zh-CN" altLang="en-US" sz="2000" kern="0"/>
          </a:p>
          <a:p>
            <a:pPr eaLnBrk="1" hangingPunct="1">
              <a:buNone/>
            </a:pPr>
            <a:r>
              <a:rPr lang="en-US" altLang="zh-CN" sz="2000" kern="0"/>
              <a:t>s=s*2</a:t>
            </a:r>
            <a:endParaRPr lang="zh-CN" altLang="en-US" sz="2000" kern="0"/>
          </a:p>
          <a:p>
            <a:pPr eaLnBrk="1" hangingPunct="1">
              <a:buFont typeface="Wingdings 2" pitchFamily="18" charset="2"/>
              <a:buNone/>
            </a:pPr>
            <a:r>
              <a:rPr lang="en-US" altLang="zh-CN" sz="2000" kern="0"/>
              <a:t>……</a:t>
            </a:r>
          </a:p>
          <a:p>
            <a:pPr eaLnBrk="1" hangingPunct="1">
              <a:buNone/>
            </a:pPr>
            <a:r>
              <a:rPr lang="en-US" altLang="zh-CN" sz="2000" kern="0"/>
              <a:t>s=s*29</a:t>
            </a:r>
            <a:endParaRPr lang="zh-CN" altLang="en-US" sz="2000" kern="0"/>
          </a:p>
          <a:p>
            <a:pPr eaLnBrk="1" hangingPunct="1">
              <a:buNone/>
            </a:pPr>
            <a:r>
              <a:rPr lang="en-US" altLang="zh-CN" sz="2000" kern="0"/>
              <a:t>s=s*30</a:t>
            </a:r>
            <a:endParaRPr lang="zh-CN" altLang="en-US" sz="2000" kern="0"/>
          </a:p>
        </p:txBody>
      </p:sp>
      <p:sp>
        <p:nvSpPr>
          <p:cNvPr id="9" name="矩形 5"/>
          <p:cNvSpPr>
            <a:spLocks noChangeArrowheads="1"/>
          </p:cNvSpPr>
          <p:nvPr/>
        </p:nvSpPr>
        <p:spPr bwMode="auto">
          <a:xfrm>
            <a:off x="3389974" y="231666"/>
            <a:ext cx="2304256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eaLnBrk="1" hangingPunct="1">
              <a:buFont typeface="微软雅黑" panose="020B0503020204020204" pitchFamily="34" charset="-122"/>
              <a:buChar char="②"/>
            </a:pPr>
            <a:r>
              <a:rPr lang="zh-CN" altLang="en-US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求和：</a:t>
            </a:r>
            <a:endParaRPr lang="en-US" altLang="zh-CN" sz="2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en-US" altLang="zh-CN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1+2+3+......+30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5"/>
          <p:cNvSpPr>
            <a:spLocks noChangeArrowheads="1"/>
          </p:cNvSpPr>
          <p:nvPr/>
        </p:nvSpPr>
        <p:spPr bwMode="auto">
          <a:xfrm>
            <a:off x="6351484" y="227753"/>
            <a:ext cx="1849664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457200" indent="-457200" eaLnBrk="1" hangingPunct="1">
              <a:buFont typeface="+mj-ea"/>
              <a:buAutoNum type="circleNumDbPlain" startAt="3"/>
            </a:pPr>
            <a:r>
              <a:rPr lang="zh-CN" altLang="en-US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求积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30!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en-US" altLang="zh-CN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3*......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内容占位符 2"/>
          <p:cNvSpPr txBox="1">
            <a:spLocks/>
          </p:cNvSpPr>
          <p:nvPr/>
        </p:nvSpPr>
        <p:spPr bwMode="auto">
          <a:xfrm>
            <a:off x="9509704" y="934850"/>
            <a:ext cx="1285800" cy="3168352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69925" indent="-325438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Font typeface="Wingdings 2" pitchFamily="18" charset="2"/>
              <a:buNone/>
            </a:pPr>
            <a:r>
              <a:rPr lang="en-US" altLang="zh-CN" sz="2000" kern="0"/>
              <a:t>s=1</a:t>
            </a:r>
            <a:endParaRPr lang="zh-CN" altLang="en-US" sz="2000" kern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kern="0"/>
              <a:t>s=s/1</a:t>
            </a:r>
            <a:endParaRPr lang="zh-CN" altLang="en-US" sz="2000" kern="0"/>
          </a:p>
          <a:p>
            <a:pPr eaLnBrk="1" hangingPunct="1">
              <a:buNone/>
            </a:pPr>
            <a:r>
              <a:rPr lang="en-US" altLang="zh-CN" sz="2000" kern="0"/>
              <a:t>s=s/2</a:t>
            </a:r>
            <a:endParaRPr lang="zh-CN" altLang="en-US" sz="2000" kern="0"/>
          </a:p>
          <a:p>
            <a:pPr eaLnBrk="1" hangingPunct="1">
              <a:buFont typeface="Wingdings 2" pitchFamily="18" charset="2"/>
              <a:buNone/>
            </a:pPr>
            <a:r>
              <a:rPr lang="en-US" altLang="zh-CN" sz="2000" kern="0"/>
              <a:t>……</a:t>
            </a:r>
          </a:p>
          <a:p>
            <a:pPr eaLnBrk="1" hangingPunct="1">
              <a:buNone/>
            </a:pPr>
            <a:r>
              <a:rPr lang="en-US" altLang="zh-CN" sz="2000" kern="0"/>
              <a:t>s=s/29</a:t>
            </a:r>
            <a:endParaRPr lang="zh-CN" altLang="en-US" sz="2000" kern="0"/>
          </a:p>
          <a:p>
            <a:pPr eaLnBrk="1" hangingPunct="1">
              <a:buNone/>
            </a:pPr>
            <a:r>
              <a:rPr lang="en-US" altLang="zh-CN" sz="2000" kern="0"/>
              <a:t>s=s/30</a:t>
            </a:r>
            <a:endParaRPr lang="zh-CN" altLang="en-US" sz="2000" kern="0"/>
          </a:p>
        </p:txBody>
      </p:sp>
      <p:sp>
        <p:nvSpPr>
          <p:cNvPr id="12" name="矩形 5"/>
          <p:cNvSpPr>
            <a:spLocks noChangeArrowheads="1"/>
          </p:cNvSpPr>
          <p:nvPr/>
        </p:nvSpPr>
        <p:spPr bwMode="auto">
          <a:xfrm>
            <a:off x="8870267" y="225703"/>
            <a:ext cx="2122701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457200" indent="-457200" eaLnBrk="1" hangingPunct="1">
              <a:buFont typeface="+mj-ea"/>
              <a:buAutoNum type="circleNumDbPlain" startAt="4"/>
            </a:pPr>
            <a:r>
              <a:rPr lang="zh-CN" altLang="en-US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求积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1/30!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en-US" altLang="zh-CN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1/(1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......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30)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989032" y="232608"/>
            <a:ext cx="0" cy="590393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3097640" y="222847"/>
            <a:ext cx="0" cy="590393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8797344" y="266452"/>
            <a:ext cx="0" cy="590393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V="1">
            <a:off x="131304" y="4107486"/>
            <a:ext cx="12192000" cy="144016"/>
          </a:xfrm>
          <a:prstGeom prst="line">
            <a:avLst/>
          </a:prstGeom>
          <a:ln>
            <a:solidFill>
              <a:srgbClr val="92D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V="1">
            <a:off x="109056" y="939867"/>
            <a:ext cx="12192000" cy="8583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1052606" y="259992"/>
            <a:ext cx="24206" cy="587655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11101600" y="2275499"/>
            <a:ext cx="1152128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zh-CN" altLang="en-US"/>
              <a:t>重复</a:t>
            </a:r>
            <a:r>
              <a:rPr lang="en-US" altLang="zh-CN"/>
              <a:t>30</a:t>
            </a:r>
            <a:r>
              <a:rPr lang="zh-CN" altLang="en-US"/>
              <a:t>次</a:t>
            </a:r>
          </a:p>
        </p:txBody>
      </p:sp>
      <p:sp>
        <p:nvSpPr>
          <p:cNvPr id="23" name="矩形 22"/>
          <p:cNvSpPr/>
          <p:nvPr/>
        </p:nvSpPr>
        <p:spPr>
          <a:xfrm>
            <a:off x="390253" y="4955250"/>
            <a:ext cx="18993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eaLnBrk="1" hangingPunct="1">
              <a:buNone/>
              <a:defRPr/>
            </a:pPr>
            <a:r>
              <a:rPr lang="en-US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while i &lt;=30:</a:t>
            </a:r>
            <a:endParaRPr lang="zh-CN" altLang="zh-CN" sz="20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981826" y="5294963"/>
            <a:ext cx="107096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eaLnBrk="1" hangingPunct="1">
              <a:buNone/>
              <a:defRPr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print(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132431" y="4238068"/>
            <a:ext cx="6447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buFont typeface="Wingdings 2" pitchFamily="18" charset="2"/>
              <a:buNone/>
            </a:pPr>
            <a:r>
              <a:rPr lang="en-US" altLang="zh-CN" sz="2000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s=0</a:t>
            </a:r>
            <a:endParaRPr lang="zh-CN" altLang="en-US" sz="2000" ker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165620" y="4948909"/>
            <a:ext cx="19126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while i &lt;=30:</a:t>
            </a:r>
            <a:endParaRPr lang="zh-CN" altLang="zh-CN" sz="20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094381" y="4948909"/>
            <a:ext cx="184818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while </a:t>
            </a:r>
            <a:r>
              <a:rPr lang="en-US" altLang="zh-CN" sz="2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&lt;=30:</a:t>
            </a:r>
            <a:endParaRPr lang="zh-CN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8817285" y="4955250"/>
            <a:ext cx="186706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while i &lt;=30:</a:t>
            </a:r>
            <a:endParaRPr lang="zh-CN" altLang="zh-CN" sz="20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750809" y="5285129"/>
            <a:ext cx="8787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buNone/>
            </a:pPr>
            <a:r>
              <a:rPr lang="en-US" altLang="zh-CN" sz="2000" kern="0">
                <a:latin typeface="微软雅黑" panose="020B0503020204020204" pitchFamily="34" charset="-122"/>
                <a:ea typeface="微软雅黑" panose="020B0503020204020204" pitchFamily="34" charset="-122"/>
              </a:rPr>
              <a:t>s=s+</a:t>
            </a:r>
            <a:r>
              <a:rPr lang="en-US" altLang="zh-CN" sz="2000" b="1" ker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endParaRPr lang="zh-CN" altLang="en-US" sz="2000" ker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723775" y="5244751"/>
            <a:ext cx="805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buNone/>
            </a:pPr>
            <a:r>
              <a:rPr lang="en-US" altLang="zh-CN" sz="2000" kern="0">
                <a:latin typeface="微软雅黑" panose="020B0503020204020204" pitchFamily="34" charset="-122"/>
                <a:ea typeface="微软雅黑" panose="020B0503020204020204" pitchFamily="34" charset="-122"/>
              </a:rPr>
              <a:t>s=s*</a:t>
            </a:r>
            <a:r>
              <a:rPr lang="en-US" altLang="zh-CN" sz="2000" b="1" ker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endParaRPr lang="zh-CN" altLang="en-US" sz="2000" ker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9472165" y="5234617"/>
            <a:ext cx="79701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buNone/>
            </a:pPr>
            <a:r>
              <a:rPr lang="en-US" altLang="zh-CN" sz="2000" kern="0">
                <a:latin typeface="微软雅黑" panose="020B0503020204020204" pitchFamily="34" charset="-122"/>
                <a:ea typeface="微软雅黑" panose="020B0503020204020204" pitchFamily="34" charset="-122"/>
              </a:rPr>
              <a:t>s=s/</a:t>
            </a:r>
            <a:r>
              <a:rPr lang="en-US" altLang="zh-CN" sz="2000" b="1" ker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endParaRPr lang="zh-CN" altLang="en-US" sz="2000" ker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079047" y="4244223"/>
            <a:ext cx="6447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buFont typeface="Wingdings 2" pitchFamily="18" charset="2"/>
              <a:buNone/>
            </a:pPr>
            <a:r>
              <a:rPr lang="en-US" altLang="zh-CN" sz="2000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s=1</a:t>
            </a:r>
            <a:endParaRPr lang="zh-CN" altLang="en-US" sz="2000" ker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8784242" y="4156408"/>
            <a:ext cx="6447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buFont typeface="Wingdings 2" pitchFamily="18" charset="2"/>
              <a:buNone/>
            </a:pPr>
            <a:r>
              <a:rPr lang="en-US" altLang="zh-CN" sz="2000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s=1</a:t>
            </a:r>
            <a:endParaRPr lang="zh-CN" altLang="en-US" sz="2000" ker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98659" y="4634424"/>
            <a:ext cx="5950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buFont typeface="Wingdings 2" pitchFamily="18" charset="2"/>
              <a:buNone/>
            </a:pPr>
            <a:r>
              <a:rPr lang="en-US" altLang="zh-CN" sz="2000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</a:t>
            </a:r>
            <a:endParaRPr lang="zh-CN" altLang="en-US" sz="2000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157278" y="4634452"/>
            <a:ext cx="5950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buFont typeface="Wingdings 2" pitchFamily="18" charset="2"/>
              <a:buNone/>
            </a:pPr>
            <a:r>
              <a:rPr lang="en-US" altLang="zh-CN" sz="2000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i=1</a:t>
            </a:r>
            <a:endParaRPr lang="zh-CN" altLang="en-US" sz="2000" ker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750809" y="5661232"/>
            <a:ext cx="8547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buFont typeface="Wingdings 2" pitchFamily="18" charset="2"/>
              <a:buNone/>
            </a:pPr>
            <a:r>
              <a:rPr lang="en-US" altLang="zh-CN" sz="2000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i=i+1</a:t>
            </a:r>
            <a:endParaRPr lang="zh-CN" altLang="en-US" sz="2000" ker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737701" y="5644861"/>
            <a:ext cx="8547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buFont typeface="Wingdings 2" pitchFamily="18" charset="2"/>
              <a:buNone/>
            </a:pPr>
            <a:r>
              <a:rPr lang="en-US" altLang="zh-CN" sz="2000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i=i+1</a:t>
            </a:r>
            <a:endParaRPr lang="zh-CN" altLang="en-US" sz="2000" ker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9501985" y="5661232"/>
            <a:ext cx="8547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buFont typeface="Wingdings 2" pitchFamily="18" charset="2"/>
              <a:buNone/>
            </a:pPr>
            <a:r>
              <a:rPr lang="en-US" altLang="zh-CN" sz="2000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i=i+1</a:t>
            </a:r>
            <a:endParaRPr lang="zh-CN" altLang="en-US" sz="2000" ker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6098363" y="4638155"/>
            <a:ext cx="5950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buFont typeface="Wingdings 2" pitchFamily="18" charset="2"/>
              <a:buNone/>
            </a:pPr>
            <a:r>
              <a:rPr lang="en-US" altLang="zh-CN" sz="2000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</a:t>
            </a:r>
            <a:endParaRPr lang="zh-CN" altLang="en-US" sz="2000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8817285" y="4634424"/>
            <a:ext cx="5950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buFont typeface="Wingdings 2" pitchFamily="18" charset="2"/>
              <a:buNone/>
            </a:pPr>
            <a:r>
              <a:rPr lang="en-US" altLang="zh-CN" sz="2000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i=1</a:t>
            </a:r>
            <a:endParaRPr lang="zh-CN" altLang="en-US" sz="2000" ker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5" name="直接连接符 44"/>
          <p:cNvCxnSpPr/>
          <p:nvPr/>
        </p:nvCxnSpPr>
        <p:spPr>
          <a:xfrm flipV="1">
            <a:off x="3097640" y="1477149"/>
            <a:ext cx="9203416" cy="24711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3097640" y="4535638"/>
            <a:ext cx="9203416" cy="80136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11239027" y="4137747"/>
            <a:ext cx="985152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zh-CN" altLang="en-US"/>
              <a:t>赋初值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11146476" y="1036197"/>
            <a:ext cx="985152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zh-CN" altLang="en-US"/>
              <a:t>赋初值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11115196" y="5208416"/>
            <a:ext cx="1152128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zh-CN" altLang="en-US"/>
              <a:t>重复</a:t>
            </a:r>
            <a:r>
              <a:rPr lang="en-US" altLang="zh-CN"/>
              <a:t>30</a:t>
            </a:r>
            <a:r>
              <a:rPr lang="zh-CN" altLang="en-US"/>
              <a:t>次</a:t>
            </a:r>
          </a:p>
        </p:txBody>
      </p:sp>
      <p:sp>
        <p:nvSpPr>
          <p:cNvPr id="50" name="矩形 49"/>
          <p:cNvSpPr/>
          <p:nvPr/>
        </p:nvSpPr>
        <p:spPr>
          <a:xfrm>
            <a:off x="981826" y="5661232"/>
            <a:ext cx="8547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buFont typeface="Wingdings 2" pitchFamily="18" charset="2"/>
              <a:buNone/>
            </a:pPr>
            <a:r>
              <a:rPr lang="en-US" altLang="zh-CN" sz="2000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=i+1</a:t>
            </a:r>
            <a:endParaRPr lang="zh-CN" altLang="en-US" sz="2000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2334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000"/>
                            </p:stCondLst>
                            <p:childTnLst>
                              <p:par>
                                <p:cTn id="1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29" grpId="0" animBg="1"/>
      <p:bldP spid="23" grpId="0"/>
      <p:bldP spid="31" grpId="0"/>
      <p:bldP spid="25" grpId="0"/>
      <p:bldP spid="33" grpId="0"/>
      <p:bldP spid="34" grpId="0"/>
      <p:bldP spid="35" grpId="0"/>
      <p:bldP spid="26" grpId="0"/>
      <p:bldP spid="28" grpId="0"/>
      <p:bldP spid="30" grpId="0"/>
      <p:bldP spid="32" grpId="0"/>
      <p:bldP spid="36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7" grpId="0" animBg="1"/>
      <p:bldP spid="48" grpId="0" animBg="1"/>
      <p:bldP spid="49" grpId="0" animBg="1"/>
      <p:bldP spid="5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常用赋值语句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6557" y="4231144"/>
            <a:ext cx="2444315" cy="760087"/>
          </a:xfrm>
        </p:spPr>
        <p:txBody>
          <a:bodyPr>
            <a:normAutofit/>
          </a:bodyPr>
          <a:lstStyle/>
          <a:p>
            <a:pPr marL="0" indent="0">
              <a:lnSpc>
                <a:spcPct val="250000"/>
              </a:lnSpc>
              <a:spcAft>
                <a:spcPts val="450"/>
              </a:spcAft>
              <a:buNone/>
            </a:pPr>
            <a:r>
              <a:rPr lang="zh-CN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递推式</a:t>
            </a:r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8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=i</a:t>
            </a:r>
            <a:r>
              <a:rPr lang="en-US" altLang="zh-CN" sz="18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k-1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+1</a:t>
            </a:r>
            <a:endParaRPr lang="zh-CN" altLang="zh-CN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492225" y="2992699"/>
            <a:ext cx="894797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400"/>
              <a:t>s+=n</a:t>
            </a:r>
            <a:endParaRPr lang="zh-CN" altLang="en-US" sz="2400"/>
          </a:p>
        </p:txBody>
      </p:sp>
      <p:sp>
        <p:nvSpPr>
          <p:cNvPr id="6" name="矩形 5"/>
          <p:cNvSpPr/>
          <p:nvPr/>
        </p:nvSpPr>
        <p:spPr>
          <a:xfrm>
            <a:off x="1492225" y="4779966"/>
            <a:ext cx="940620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+=1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箭头连接符 9"/>
          <p:cNvCxnSpPr>
            <a:cxnSpLocks/>
          </p:cNvCxnSpPr>
          <p:nvPr/>
        </p:nvCxnSpPr>
        <p:spPr>
          <a:xfrm>
            <a:off x="2580023" y="3035488"/>
            <a:ext cx="2008755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cxnSpLocks/>
          </p:cNvCxnSpPr>
          <p:nvPr/>
        </p:nvCxnSpPr>
        <p:spPr>
          <a:xfrm flipV="1">
            <a:off x="2581639" y="4690857"/>
            <a:ext cx="2007139" cy="1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4588778" y="2850822"/>
            <a:ext cx="20906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递推式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=s</a:t>
            </a:r>
            <a:r>
              <a:rPr lang="en-US" altLang="zh-CN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i-1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+n</a:t>
            </a:r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492225" y="2405295"/>
            <a:ext cx="894797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400"/>
              <a:t>s=s+n</a:t>
            </a:r>
            <a:endParaRPr lang="zh-CN" altLang="en-US" sz="2400"/>
          </a:p>
        </p:txBody>
      </p:sp>
      <p:sp>
        <p:nvSpPr>
          <p:cNvPr id="19" name="矩形 18"/>
          <p:cNvSpPr/>
          <p:nvPr/>
        </p:nvSpPr>
        <p:spPr>
          <a:xfrm>
            <a:off x="1492225" y="4290747"/>
            <a:ext cx="940620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i =i+1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046389" y="2544109"/>
            <a:ext cx="1321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rgbClr val="0070C0"/>
                </a:solidFill>
              </a:rPr>
              <a:t>实现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3045454" y="4109151"/>
            <a:ext cx="1321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rgbClr val="0070C0"/>
                </a:solidFill>
              </a:rPr>
              <a:t>实现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DFDC9EA-D34B-4F58-B02E-0E9B3479287E}"/>
              </a:ext>
            </a:extLst>
          </p:cNvPr>
          <p:cNvSpPr txBox="1"/>
          <p:nvPr/>
        </p:nvSpPr>
        <p:spPr>
          <a:xfrm>
            <a:off x="1115736" y="304603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或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88B0D16-C1E8-4D5B-AB3F-682C52C15E9F}"/>
              </a:ext>
            </a:extLst>
          </p:cNvPr>
          <p:cNvSpPr txBox="1"/>
          <p:nvPr/>
        </p:nvSpPr>
        <p:spPr>
          <a:xfrm>
            <a:off x="1115736" y="479090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或</a:t>
            </a:r>
          </a:p>
        </p:txBody>
      </p:sp>
    </p:spTree>
    <p:extLst>
      <p:ext uri="{BB962C8B-B14F-4D97-AF65-F5344CB8AC3E}">
        <p14:creationId xmlns:p14="http://schemas.microsoft.com/office/powerpoint/2010/main" val="2137070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3" grpId="0"/>
      <p:bldP spid="16" grpId="0" animBg="1"/>
      <p:bldP spid="19" grpId="0" animBg="1"/>
      <p:bldP spid="20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完整程序：</a:t>
            </a:r>
            <a:r>
              <a:rPr lang="en-US" altLang="zh-CN" b="1">
                <a:solidFill>
                  <a:srgbClr val="245794"/>
                </a:solidFill>
              </a:rPr>
              <a:t> </a:t>
            </a:r>
            <a:r>
              <a:rPr lang="zh-CN" altLang="zh-CN"/>
              <a:t>计算</a:t>
            </a:r>
            <a:r>
              <a:rPr lang="en-US" altLang="zh-CN"/>
              <a:t>1+2+3+</a:t>
            </a:r>
            <a:r>
              <a:rPr lang="zh-CN" altLang="zh-CN"/>
              <a:t>……</a:t>
            </a:r>
            <a:r>
              <a:rPr lang="en-US" altLang="zh-CN"/>
              <a:t>+100</a:t>
            </a:r>
            <a:r>
              <a:rPr lang="zh-CN" altLang="zh-CN"/>
              <a:t>的值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097887" y="1621226"/>
            <a:ext cx="5024948" cy="497584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eaLnBrk="0" hangingPunct="0">
              <a:lnSpc>
                <a:spcPct val="150000"/>
              </a:lnSpc>
              <a:spcAft>
                <a:spcPct val="0"/>
              </a:spcAft>
              <a:buClr>
                <a:schemeClr val="accent2"/>
              </a:buClr>
            </a:pPr>
            <a:r>
              <a:rPr lang="zh-CN" altLang="en-US" sz="2400" dirty="0">
                <a:solidFill>
                  <a:srgbClr val="1717B7"/>
                </a:solidFill>
                <a:latin typeface="+mn-ea"/>
              </a:rPr>
              <a:t>代码如下：</a:t>
            </a:r>
            <a:endParaRPr lang="en-US" altLang="zh-CN" sz="2400" dirty="0">
              <a:solidFill>
                <a:srgbClr val="1717B7"/>
              </a:solidFill>
              <a:latin typeface="+mn-ea"/>
            </a:endParaRPr>
          </a:p>
          <a:p>
            <a:pPr eaLnBrk="0" hangingPunct="0">
              <a:lnSpc>
                <a:spcPct val="200000"/>
              </a:lnSpc>
              <a:spcAft>
                <a:spcPct val="0"/>
              </a:spcAft>
              <a:buClr>
                <a:schemeClr val="accent2"/>
              </a:buClr>
            </a:pPr>
            <a:r>
              <a:rPr lang="en-US" altLang="zh-CN" sz="2400" dirty="0">
                <a:latin typeface="+mn-ea"/>
              </a:rPr>
              <a:t>s=0</a:t>
            </a:r>
          </a:p>
          <a:p>
            <a:pPr eaLnBrk="0" hangingPunct="0">
              <a:lnSpc>
                <a:spcPct val="200000"/>
              </a:lnSpc>
              <a:spcAft>
                <a:spcPct val="0"/>
              </a:spcAft>
              <a:buClr>
                <a:schemeClr val="accent2"/>
              </a:buClr>
            </a:pPr>
            <a:r>
              <a:rPr lang="en-US" altLang="zh-CN" sz="2400" dirty="0">
                <a:latin typeface="+mn-ea"/>
              </a:rPr>
              <a:t>n=1</a:t>
            </a:r>
          </a:p>
          <a:p>
            <a:pPr eaLnBrk="0" hangingPunct="0">
              <a:lnSpc>
                <a:spcPct val="200000"/>
              </a:lnSpc>
              <a:spcAft>
                <a:spcPct val="0"/>
              </a:spcAft>
              <a:buClr>
                <a:schemeClr val="accent2"/>
              </a:buClr>
            </a:pPr>
            <a:r>
              <a:rPr lang="en-US" altLang="zh-CN" sz="2400" dirty="0">
                <a:latin typeface="+mn-ea"/>
              </a:rPr>
              <a:t>while 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</a:rPr>
              <a:t>n&lt;=100</a:t>
            </a:r>
            <a:r>
              <a:rPr lang="en-US" altLang="zh-CN" sz="2400" dirty="0">
                <a:latin typeface="+mn-ea"/>
              </a:rPr>
              <a:t>:      </a:t>
            </a:r>
            <a:r>
              <a:rPr lang="en-US" altLang="zh-CN" sz="2400" dirty="0">
                <a:solidFill>
                  <a:srgbClr val="00B050"/>
                </a:solidFill>
                <a:latin typeface="+mn-ea"/>
              </a:rPr>
              <a:t>#</a:t>
            </a:r>
            <a:r>
              <a:rPr lang="zh-CN" altLang="en-US" sz="2400" dirty="0">
                <a:solidFill>
                  <a:srgbClr val="00B050"/>
                </a:solidFill>
                <a:latin typeface="+mn-ea"/>
              </a:rPr>
              <a:t>循环条件</a:t>
            </a:r>
          </a:p>
          <a:p>
            <a:pPr eaLnBrk="0" hangingPunct="0">
              <a:lnSpc>
                <a:spcPct val="200000"/>
              </a:lnSpc>
              <a:spcAft>
                <a:spcPct val="0"/>
              </a:spcAft>
              <a:buClr>
                <a:schemeClr val="accent2"/>
              </a:buClr>
            </a:pPr>
            <a:r>
              <a:rPr lang="zh-CN" altLang="en-US" sz="2400" dirty="0">
                <a:latin typeface="+mn-ea"/>
              </a:rPr>
              <a:t>      </a:t>
            </a:r>
            <a:r>
              <a:rPr lang="en-US" altLang="zh-CN" sz="2400" dirty="0">
                <a:latin typeface="+mn-ea"/>
              </a:rPr>
              <a:t>s+=n               </a:t>
            </a:r>
            <a:r>
              <a:rPr lang="en-US" altLang="zh-CN" sz="2400" dirty="0">
                <a:solidFill>
                  <a:srgbClr val="00B050"/>
                </a:solidFill>
                <a:latin typeface="+mn-ea"/>
              </a:rPr>
              <a:t>#</a:t>
            </a:r>
            <a:r>
              <a:rPr lang="zh-CN" altLang="en-US" sz="2400" dirty="0">
                <a:solidFill>
                  <a:srgbClr val="00B050"/>
                </a:solidFill>
                <a:latin typeface="+mn-ea"/>
              </a:rPr>
              <a:t>实现累加求和</a:t>
            </a:r>
          </a:p>
          <a:p>
            <a:pPr eaLnBrk="0" hangingPunct="0">
              <a:lnSpc>
                <a:spcPct val="200000"/>
              </a:lnSpc>
              <a:spcAft>
                <a:spcPct val="0"/>
              </a:spcAft>
              <a:buClr>
                <a:schemeClr val="accent2"/>
              </a:buClr>
            </a:pPr>
            <a:r>
              <a:rPr lang="zh-CN" altLang="en-US" sz="2400" dirty="0">
                <a:latin typeface="+mn-ea"/>
              </a:rPr>
              <a:t>      </a:t>
            </a:r>
            <a:r>
              <a:rPr lang="en-US" altLang="zh-CN" sz="2400" dirty="0">
                <a:latin typeface="+mn-ea"/>
              </a:rPr>
              <a:t>n+=1            	  </a:t>
            </a:r>
            <a:r>
              <a:rPr lang="en-US" altLang="zh-CN" sz="2400" dirty="0">
                <a:solidFill>
                  <a:srgbClr val="00B050"/>
                </a:solidFill>
                <a:latin typeface="+mn-ea"/>
              </a:rPr>
              <a:t>#n</a:t>
            </a:r>
            <a:r>
              <a:rPr lang="zh-CN" altLang="en-US" sz="2400" dirty="0">
                <a:solidFill>
                  <a:srgbClr val="00B050"/>
                </a:solidFill>
                <a:latin typeface="+mn-ea"/>
              </a:rPr>
              <a:t>增</a:t>
            </a:r>
            <a:r>
              <a:rPr lang="en-US" altLang="zh-CN" sz="2400" dirty="0">
                <a:solidFill>
                  <a:srgbClr val="00B050"/>
                </a:solidFill>
                <a:latin typeface="+mn-ea"/>
              </a:rPr>
              <a:t>1</a:t>
            </a:r>
          </a:p>
          <a:p>
            <a:pPr eaLnBrk="0" hangingPunct="0">
              <a:lnSpc>
                <a:spcPct val="200000"/>
              </a:lnSpc>
              <a:spcAft>
                <a:spcPct val="0"/>
              </a:spcAft>
              <a:buClr>
                <a:schemeClr val="accent2"/>
              </a:buClr>
            </a:pPr>
            <a:r>
              <a:rPr lang="en-US" altLang="zh-CN" sz="2400" dirty="0">
                <a:latin typeface="+mn-ea"/>
              </a:rPr>
              <a:t>print("1+2+3+……+9+100=",s) </a:t>
            </a:r>
            <a:endParaRPr lang="zh-CN" altLang="zh-CN" sz="2400" dirty="0">
              <a:latin typeface="+mn-ea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0DC5E9C1-1378-4FAA-867C-5CFD5738F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6557" y="4231144"/>
            <a:ext cx="2444315" cy="760087"/>
          </a:xfrm>
        </p:spPr>
        <p:txBody>
          <a:bodyPr>
            <a:normAutofit/>
          </a:bodyPr>
          <a:lstStyle/>
          <a:p>
            <a:pPr marL="0" indent="0">
              <a:lnSpc>
                <a:spcPct val="250000"/>
              </a:lnSpc>
              <a:spcAft>
                <a:spcPts val="450"/>
              </a:spcAft>
              <a:buNone/>
            </a:pPr>
            <a:r>
              <a:rPr lang="zh-CN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递推式</a:t>
            </a:r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8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=i</a:t>
            </a:r>
            <a:r>
              <a:rPr lang="en-US" altLang="zh-CN" sz="18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k-1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+1</a:t>
            </a:r>
            <a:endParaRPr lang="zh-CN" altLang="zh-CN" sz="16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433DBC2-D8F8-45BA-982C-870B69994F52}"/>
              </a:ext>
            </a:extLst>
          </p:cNvPr>
          <p:cNvSpPr/>
          <p:nvPr/>
        </p:nvSpPr>
        <p:spPr>
          <a:xfrm>
            <a:off x="1492225" y="2992699"/>
            <a:ext cx="894797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400"/>
              <a:t>s+=n</a:t>
            </a:r>
            <a:endParaRPr lang="zh-CN" altLang="en-US" sz="24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C684BFB-1A70-4986-A2F7-9004E71946DA}"/>
              </a:ext>
            </a:extLst>
          </p:cNvPr>
          <p:cNvSpPr/>
          <p:nvPr/>
        </p:nvSpPr>
        <p:spPr>
          <a:xfrm>
            <a:off x="1492225" y="4779966"/>
            <a:ext cx="940620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+=1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097A2A59-AB2A-48E8-903D-067A70674714}"/>
              </a:ext>
            </a:extLst>
          </p:cNvPr>
          <p:cNvCxnSpPr>
            <a:cxnSpLocks/>
          </p:cNvCxnSpPr>
          <p:nvPr/>
        </p:nvCxnSpPr>
        <p:spPr>
          <a:xfrm>
            <a:off x="2580023" y="3035488"/>
            <a:ext cx="2008755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FBE82443-C07B-4F18-8E19-B3C2558BDF26}"/>
              </a:ext>
            </a:extLst>
          </p:cNvPr>
          <p:cNvCxnSpPr>
            <a:cxnSpLocks/>
          </p:cNvCxnSpPr>
          <p:nvPr/>
        </p:nvCxnSpPr>
        <p:spPr>
          <a:xfrm flipV="1">
            <a:off x="2581639" y="4690857"/>
            <a:ext cx="2007139" cy="1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C7602CC6-71FB-400D-B670-76B87829E766}"/>
              </a:ext>
            </a:extLst>
          </p:cNvPr>
          <p:cNvSpPr/>
          <p:nvPr/>
        </p:nvSpPr>
        <p:spPr>
          <a:xfrm>
            <a:off x="4588778" y="2850822"/>
            <a:ext cx="20906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递推式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=s</a:t>
            </a:r>
            <a:r>
              <a:rPr lang="en-US" altLang="zh-CN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i-1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+n</a:t>
            </a:r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32E3E4A-3159-4DE0-B476-5EB7D6056EF8}"/>
              </a:ext>
            </a:extLst>
          </p:cNvPr>
          <p:cNvSpPr/>
          <p:nvPr/>
        </p:nvSpPr>
        <p:spPr>
          <a:xfrm>
            <a:off x="1492225" y="2405295"/>
            <a:ext cx="894797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400"/>
              <a:t>s=s+n</a:t>
            </a:r>
            <a:endParaRPr lang="zh-CN" altLang="en-US" sz="240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D87D84A-33AE-4A7C-8C0D-69425CC5788F}"/>
              </a:ext>
            </a:extLst>
          </p:cNvPr>
          <p:cNvSpPr/>
          <p:nvPr/>
        </p:nvSpPr>
        <p:spPr>
          <a:xfrm>
            <a:off x="1492225" y="4290747"/>
            <a:ext cx="940620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i =i+1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0954039-A2ED-431A-ABAC-433A88E6EE6F}"/>
              </a:ext>
            </a:extLst>
          </p:cNvPr>
          <p:cNvSpPr txBox="1"/>
          <p:nvPr/>
        </p:nvSpPr>
        <p:spPr>
          <a:xfrm>
            <a:off x="3046389" y="2544109"/>
            <a:ext cx="1321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rgbClr val="0070C0"/>
                </a:solidFill>
              </a:rPr>
              <a:t>实现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8574954-0730-4EE7-8783-7F7B2C0776DC}"/>
              </a:ext>
            </a:extLst>
          </p:cNvPr>
          <p:cNvSpPr txBox="1"/>
          <p:nvPr/>
        </p:nvSpPr>
        <p:spPr>
          <a:xfrm>
            <a:off x="3045454" y="4109151"/>
            <a:ext cx="1321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rgbClr val="0070C0"/>
                </a:solidFill>
              </a:rPr>
              <a:t>实现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B796125-5E8B-40C1-B80C-7644E7AC848A}"/>
              </a:ext>
            </a:extLst>
          </p:cNvPr>
          <p:cNvSpPr txBox="1"/>
          <p:nvPr/>
        </p:nvSpPr>
        <p:spPr>
          <a:xfrm>
            <a:off x="1115736" y="304603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或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8296BF5-599C-49E5-9CF2-17B5C8033E81}"/>
              </a:ext>
            </a:extLst>
          </p:cNvPr>
          <p:cNvSpPr txBox="1"/>
          <p:nvPr/>
        </p:nvSpPr>
        <p:spPr>
          <a:xfrm>
            <a:off x="1115736" y="479090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或</a:t>
            </a:r>
          </a:p>
        </p:txBody>
      </p:sp>
    </p:spTree>
    <p:extLst>
      <p:ext uri="{BB962C8B-B14F-4D97-AF65-F5344CB8AC3E}">
        <p14:creationId xmlns:p14="http://schemas.microsoft.com/office/powerpoint/2010/main" val="967988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9"/>
          <p:cNvSpPr>
            <a:spLocks noChangeArrowheads="1"/>
          </p:cNvSpPr>
          <p:nvPr/>
        </p:nvSpPr>
        <p:spPr bwMode="auto">
          <a:xfrm rot="10800000">
            <a:off x="46996" y="1377531"/>
            <a:ext cx="12145004" cy="122363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scene3d>
            <a:camera prst="obliqueTopLeft"/>
            <a:lightRig rig="threePt" dir="t"/>
          </a:scene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endParaRPr lang="zh-CN" altLang="zh-CN" sz="2400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54646" y="791906"/>
            <a:ext cx="531753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11</a:t>
            </a:r>
            <a:r>
              <a:rPr lang="en-US" altLang="zh-CN" sz="3200" dirty="0">
                <a:solidFill>
                  <a:schemeClr val="bg1"/>
                </a:solidFill>
              </a:rPr>
              <a:t> 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2329" y="1384794"/>
            <a:ext cx="1248139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x=input()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819003" y="1362978"/>
            <a:ext cx="1248139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x=input()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375676" y="1384793"/>
            <a:ext cx="1248139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x=input()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932349" y="1396870"/>
            <a:ext cx="1248139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x=input()</a:t>
            </a:r>
          </a:p>
        </p:txBody>
      </p:sp>
      <p:sp>
        <p:nvSpPr>
          <p:cNvPr id="28" name="矩形 27"/>
          <p:cNvSpPr/>
          <p:nvPr/>
        </p:nvSpPr>
        <p:spPr>
          <a:xfrm>
            <a:off x="259386" y="5483808"/>
            <a:ext cx="1544131" cy="82227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1" name="矩形 30"/>
          <p:cNvSpPr/>
          <p:nvPr/>
        </p:nvSpPr>
        <p:spPr>
          <a:xfrm>
            <a:off x="256549" y="4672340"/>
            <a:ext cx="1546968" cy="790432"/>
          </a:xfrm>
          <a:prstGeom prst="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2" name="矩形 31"/>
          <p:cNvSpPr/>
          <p:nvPr/>
        </p:nvSpPr>
        <p:spPr>
          <a:xfrm>
            <a:off x="236348" y="3784636"/>
            <a:ext cx="1588903" cy="878257"/>
          </a:xfrm>
          <a:prstGeom prst="rect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3" name="矩形 32"/>
          <p:cNvSpPr/>
          <p:nvPr/>
        </p:nvSpPr>
        <p:spPr>
          <a:xfrm>
            <a:off x="224123" y="2905342"/>
            <a:ext cx="1588903" cy="835860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4" name="矩形 33"/>
          <p:cNvSpPr/>
          <p:nvPr/>
        </p:nvSpPr>
        <p:spPr>
          <a:xfrm>
            <a:off x="236349" y="2873320"/>
            <a:ext cx="1576677" cy="3003836"/>
          </a:xfrm>
          <a:prstGeom prst="rect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3333"/>
              </a:lnSpc>
              <a:defRPr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x=input()    	           </a:t>
            </a:r>
          </a:p>
          <a:p>
            <a:pPr>
              <a:lnSpc>
                <a:spcPts val="3333"/>
              </a:lnSpc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  <a:p>
            <a:pPr>
              <a:lnSpc>
                <a:spcPts val="3333"/>
              </a:lnSpc>
              <a:defRPr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x=input()    	           </a:t>
            </a:r>
          </a:p>
          <a:p>
            <a:pPr>
              <a:lnSpc>
                <a:spcPts val="3333"/>
              </a:lnSpc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  <a:p>
            <a:pPr>
              <a:lnSpc>
                <a:spcPts val="3333"/>
              </a:lnSpc>
              <a:defRPr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x=input()    	           </a:t>
            </a:r>
          </a:p>
          <a:p>
            <a:pPr>
              <a:lnSpc>
                <a:spcPts val="3333"/>
              </a:lnSpc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  <a:p>
            <a:pPr>
              <a:lnSpc>
                <a:spcPts val="3333"/>
              </a:lnSpc>
              <a:defRPr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x=input()    	           </a:t>
            </a:r>
          </a:p>
        </p:txBody>
      </p:sp>
      <p:sp>
        <p:nvSpPr>
          <p:cNvPr id="38" name="矩形 37"/>
          <p:cNvSpPr/>
          <p:nvPr/>
        </p:nvSpPr>
        <p:spPr>
          <a:xfrm>
            <a:off x="3213855" y="2793979"/>
            <a:ext cx="3888177" cy="2461700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x=input()       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输入第一个数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         </a:t>
            </a:r>
          </a:p>
          <a:p>
            <a:pPr>
              <a:lnSpc>
                <a:spcPct val="200000"/>
              </a:lnSpc>
              <a:defRPr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 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不满足结束条件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>
              <a:lnSpc>
                <a:spcPct val="200000"/>
              </a:lnSpc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处理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  <a:p>
            <a:pPr>
              <a:lnSpc>
                <a:spcPct val="200000"/>
              </a:lnSpc>
              <a:defRPr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x=input()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读入下一个数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zh-CN" altLang="zh-CN" sz="20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272446" y="1410877"/>
            <a:ext cx="82952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8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stop</a:t>
            </a:r>
            <a:endParaRPr lang="zh-CN" altLang="en-US" sz="2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3" name="右大括号 2">
            <a:extLst>
              <a:ext uri="{FF2B5EF4-FFF2-40B4-BE49-F238E27FC236}">
                <a16:creationId xmlns:a16="http://schemas.microsoft.com/office/drawing/2014/main" id="{752926D8-1E5A-4BEA-9EAD-10A5B67BD4DF}"/>
              </a:ext>
            </a:extLst>
          </p:cNvPr>
          <p:cNvSpPr/>
          <p:nvPr/>
        </p:nvSpPr>
        <p:spPr>
          <a:xfrm>
            <a:off x="1945607" y="3470049"/>
            <a:ext cx="147474" cy="62917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右大括号 25">
            <a:extLst>
              <a:ext uri="{FF2B5EF4-FFF2-40B4-BE49-F238E27FC236}">
                <a16:creationId xmlns:a16="http://schemas.microsoft.com/office/drawing/2014/main" id="{16EFBA3B-A96C-4E9B-B8EB-5450824D2B77}"/>
              </a:ext>
            </a:extLst>
          </p:cNvPr>
          <p:cNvSpPr/>
          <p:nvPr/>
        </p:nvSpPr>
        <p:spPr>
          <a:xfrm>
            <a:off x="1945607" y="4280825"/>
            <a:ext cx="147474" cy="62917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右大括号 26">
            <a:extLst>
              <a:ext uri="{FF2B5EF4-FFF2-40B4-BE49-F238E27FC236}">
                <a16:creationId xmlns:a16="http://schemas.microsoft.com/office/drawing/2014/main" id="{9ED1BD81-D95D-4960-AEC6-E3D386B8D996}"/>
              </a:ext>
            </a:extLst>
          </p:cNvPr>
          <p:cNvSpPr/>
          <p:nvPr/>
        </p:nvSpPr>
        <p:spPr>
          <a:xfrm>
            <a:off x="1936097" y="5091601"/>
            <a:ext cx="147474" cy="62917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486F90C-023E-4F9F-A9DE-6140B6C6D04D}"/>
              </a:ext>
            </a:extLst>
          </p:cNvPr>
          <p:cNvSpPr txBox="1"/>
          <p:nvPr/>
        </p:nvSpPr>
        <p:spPr>
          <a:xfrm>
            <a:off x="2093081" y="359997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循环体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8C5DE63-E6AE-4193-B9C5-DB2339429C96}"/>
              </a:ext>
            </a:extLst>
          </p:cNvPr>
          <p:cNvSpPr txBox="1"/>
          <p:nvPr/>
        </p:nvSpPr>
        <p:spPr>
          <a:xfrm>
            <a:off x="2070591" y="440822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循环体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8856813-98D8-4C12-9F28-2E9791687950}"/>
              </a:ext>
            </a:extLst>
          </p:cNvPr>
          <p:cNvSpPr txBox="1"/>
          <p:nvPr/>
        </p:nvSpPr>
        <p:spPr>
          <a:xfrm>
            <a:off x="2093081" y="51816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循环体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0AAE1BB3-9258-426B-9DFB-0E0E1F1513C1}"/>
              </a:ext>
            </a:extLst>
          </p:cNvPr>
          <p:cNvSpPr txBox="1"/>
          <p:nvPr/>
        </p:nvSpPr>
        <p:spPr>
          <a:xfrm>
            <a:off x="220333" y="331617"/>
            <a:ext cx="94240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ea"/>
              <a:buAutoNum type="circleNumDbPlain"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输入的数据不定长：输入一组数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负数为止），输出这组数，以逗号分隔。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847C9F0-B55A-4C7A-AB3A-0CBAD99BEC59}"/>
              </a:ext>
            </a:extLst>
          </p:cNvPr>
          <p:cNvSpPr/>
          <p:nvPr/>
        </p:nvSpPr>
        <p:spPr>
          <a:xfrm>
            <a:off x="8039787" y="2793979"/>
            <a:ext cx="3888177" cy="246170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x=input()       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输入第一个数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         </a:t>
            </a:r>
          </a:p>
          <a:p>
            <a:pPr>
              <a:lnSpc>
                <a:spcPct val="200000"/>
              </a:lnSpc>
              <a:defRPr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eval(x) 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&gt;= 0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>
              <a:lnSpc>
                <a:spcPct val="200000"/>
              </a:lnSpc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print(x, end=',’)</a:t>
            </a:r>
          </a:p>
          <a:p>
            <a:pPr>
              <a:lnSpc>
                <a:spcPct val="200000"/>
              </a:lnSpc>
              <a:defRPr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x=input()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读入下一个数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zh-CN" altLang="zh-CN" sz="20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46634AC-696A-492C-BA29-9C13A9EABA2E}"/>
              </a:ext>
            </a:extLst>
          </p:cNvPr>
          <p:cNvSpPr txBox="1"/>
          <p:nvPr/>
        </p:nvSpPr>
        <p:spPr>
          <a:xfrm>
            <a:off x="1936097" y="806523"/>
            <a:ext cx="531753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6</a:t>
            </a:r>
            <a:r>
              <a:rPr lang="en-US" altLang="zh-CN" sz="3200" dirty="0">
                <a:solidFill>
                  <a:schemeClr val="bg1"/>
                </a:solidFill>
              </a:rPr>
              <a:t> 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19C4B0E2-4FC2-4D6A-A911-6E102FC004B4}"/>
              </a:ext>
            </a:extLst>
          </p:cNvPr>
          <p:cNvSpPr txBox="1"/>
          <p:nvPr/>
        </p:nvSpPr>
        <p:spPr>
          <a:xfrm>
            <a:off x="3517548" y="806523"/>
            <a:ext cx="531753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9</a:t>
            </a:r>
            <a:r>
              <a:rPr lang="en-US" altLang="zh-CN" sz="3200" dirty="0">
                <a:solidFill>
                  <a:schemeClr val="bg1"/>
                </a:solidFill>
              </a:rPr>
              <a:t> 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15D269EB-F7F8-4CEE-A97E-FF5A099B2E9B}"/>
              </a:ext>
            </a:extLst>
          </p:cNvPr>
          <p:cNvSpPr txBox="1"/>
          <p:nvPr/>
        </p:nvSpPr>
        <p:spPr>
          <a:xfrm>
            <a:off x="5120844" y="791905"/>
            <a:ext cx="531753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-5</a:t>
            </a:r>
            <a:r>
              <a:rPr lang="en-US" altLang="zh-CN" sz="3200" dirty="0">
                <a:solidFill>
                  <a:schemeClr val="bg1"/>
                </a:solidFill>
              </a:rPr>
              <a:t> 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54" name="线形标注 1 63">
            <a:extLst>
              <a:ext uri="{FF2B5EF4-FFF2-40B4-BE49-F238E27FC236}">
                <a16:creationId xmlns:a16="http://schemas.microsoft.com/office/drawing/2014/main" id="{B042EC59-41C3-4D38-B0CF-555DEDF2FD96}"/>
              </a:ext>
            </a:extLst>
          </p:cNvPr>
          <p:cNvSpPr/>
          <p:nvPr/>
        </p:nvSpPr>
        <p:spPr>
          <a:xfrm>
            <a:off x="7147165" y="5480470"/>
            <a:ext cx="3392935" cy="1187468"/>
          </a:xfrm>
          <a:prstGeom prst="borderCallout1">
            <a:avLst>
              <a:gd name="adj1" fmla="val -829"/>
              <a:gd name="adj2" fmla="val 28952"/>
              <a:gd name="adj3" fmla="val -125522"/>
              <a:gd name="adj4" fmla="val 55385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此处是否可以改为：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&gt;= 0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99015D6-5F11-41BB-9E77-51E4F53E5F7F}"/>
              </a:ext>
            </a:extLst>
          </p:cNvPr>
          <p:cNvSpPr txBox="1"/>
          <p:nvPr/>
        </p:nvSpPr>
        <p:spPr>
          <a:xfrm>
            <a:off x="9452743" y="5236182"/>
            <a:ext cx="10622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>
                <a:solidFill>
                  <a:srgbClr val="FF0000"/>
                </a:solidFill>
                <a:latin typeface="Bradley Hand ITC" panose="03070402050302030203" pitchFamily="66" charset="0"/>
              </a:rPr>
              <a:t>x</a:t>
            </a:r>
            <a:endParaRPr lang="zh-CN" altLang="en-US" sz="7200" dirty="0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B44B9D0-3267-4590-B331-60D442282467}"/>
              </a:ext>
            </a:extLst>
          </p:cNvPr>
          <p:cNvSpPr/>
          <p:nvPr/>
        </p:nvSpPr>
        <p:spPr>
          <a:xfrm>
            <a:off x="8794274" y="1063926"/>
            <a:ext cx="3133690" cy="1705403"/>
          </a:xfrm>
          <a:prstGeom prst="rect">
            <a:avLst/>
          </a:prstGeom>
          <a:solidFill>
            <a:srgbClr val="B8FEFE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是字符串</a:t>
            </a:r>
            <a:endParaRPr lang="en-US" altLang="zh-CN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∵&gt;=</a:t>
            </a:r>
            <a:r>
              <a:rPr lang="zh-CN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两边数据</a:t>
            </a:r>
            <a:r>
              <a:rPr lang="zh-CN" alt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zh-CN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必须</a:t>
            </a:r>
            <a:r>
              <a:rPr lang="zh-CN" alt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相同</a:t>
            </a:r>
            <a:r>
              <a:rPr lang="en-US" altLang="zh-CN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∴ </a:t>
            </a:r>
            <a:r>
              <a:rPr lang="zh-CN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应使用</a:t>
            </a:r>
            <a:r>
              <a:rPr lang="en-US" altLang="zh-CN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eval</a:t>
            </a:r>
            <a:r>
              <a:rPr lang="zh-CN" alt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转</a:t>
            </a:r>
            <a:r>
              <a:rPr lang="en-US" altLang="zh-CN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为数值</a:t>
            </a:r>
            <a:r>
              <a:rPr lang="zh-CN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型</a:t>
            </a:r>
            <a:endParaRPr lang="zh-CN" altLang="en-US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3492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0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3" dur="1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/>
      <p:bldP spid="10" grpId="0"/>
      <p:bldP spid="19" grpId="0"/>
      <p:bldP spid="25" grpId="0"/>
      <p:bldP spid="28" grpId="0" animBg="1"/>
      <p:bldP spid="31" grpId="0" animBg="1"/>
      <p:bldP spid="32" grpId="0" animBg="1"/>
      <p:bldP spid="33" grpId="0" animBg="1"/>
      <p:bldP spid="34" grpId="0" animBg="1"/>
      <p:bldP spid="38" grpId="0" animBg="1"/>
      <p:bldP spid="45" grpId="0"/>
      <p:bldP spid="49" grpId="0" animBg="1"/>
      <p:bldP spid="50" grpId="0" animBg="1"/>
      <p:bldP spid="51" grpId="0" animBg="1"/>
      <p:bldP spid="53" grpId="0" animBg="1"/>
      <p:bldP spid="54" grpId="0" animBg="1"/>
      <p:bldP spid="55" grpId="0"/>
      <p:bldP spid="5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线形标注 1 63"/>
          <p:cNvSpPr/>
          <p:nvPr/>
        </p:nvSpPr>
        <p:spPr>
          <a:xfrm>
            <a:off x="3856614" y="3608625"/>
            <a:ext cx="2015296" cy="932175"/>
          </a:xfrm>
          <a:prstGeom prst="borderCallout1">
            <a:avLst>
              <a:gd name="adj1" fmla="val 50743"/>
              <a:gd name="adj2" fmla="val 766"/>
              <a:gd name="adj3" fmla="val 235767"/>
              <a:gd name="adj4" fmla="val -119908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此处是否可以改为：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x&gt;=0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38" name="标题 1"/>
          <p:cNvSpPr>
            <a:spLocks noGrp="1"/>
          </p:cNvSpPr>
          <p:nvPr>
            <p:ph type="title"/>
          </p:nvPr>
        </p:nvSpPr>
        <p:spPr>
          <a:xfrm>
            <a:off x="609600" y="264004"/>
            <a:ext cx="10972800" cy="578739"/>
          </a:xfrm>
        </p:spPr>
        <p:txBody>
          <a:bodyPr>
            <a:noAutofit/>
          </a:bodyPr>
          <a:lstStyle/>
          <a:p>
            <a:pPr algn="ctr" eaLnBrk="1" hangingPunct="1"/>
            <a:r>
              <a:rPr lang="zh-CN" altLang="en-US" sz="3200" dirty="0"/>
              <a:t>分析程序的功能</a:t>
            </a:r>
          </a:p>
        </p:txBody>
      </p:sp>
      <p:sp>
        <p:nvSpPr>
          <p:cNvPr id="14339" name="内容占位符 2"/>
          <p:cNvSpPr>
            <a:spLocks noGrp="1"/>
          </p:cNvSpPr>
          <p:nvPr>
            <p:ph idx="1"/>
          </p:nvPr>
        </p:nvSpPr>
        <p:spPr>
          <a:xfrm>
            <a:off x="266253" y="1597817"/>
            <a:ext cx="2055992" cy="345015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x=input()</a:t>
            </a:r>
          </a:p>
          <a:p>
            <a:pPr eaLnBrk="1" hangingPunct="1"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print(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x,end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=',')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x=input()</a:t>
            </a:r>
          </a:p>
          <a:p>
            <a:pPr marL="0" indent="0">
              <a:buNone/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print(</a:t>
            </a:r>
            <a:r>
              <a:rPr lang="en-US" altLang="zh-CN" sz="16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x,end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=',')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x=input()</a:t>
            </a:r>
          </a:p>
          <a:p>
            <a:pPr eaLnBrk="1" hangingPunct="1">
              <a:buNone/>
            </a:pP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print(</a:t>
            </a:r>
            <a:r>
              <a:rPr lang="en-US" altLang="zh-CN" sz="16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x,end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=',')</a:t>
            </a:r>
          </a:p>
          <a:p>
            <a:pPr eaLnBrk="1" hangingPunct="1"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x=input()</a:t>
            </a:r>
          </a:p>
        </p:txBody>
      </p:sp>
      <p:sp>
        <p:nvSpPr>
          <p:cNvPr id="14341" name="矩形 5"/>
          <p:cNvSpPr>
            <a:spLocks noChangeArrowheads="1"/>
          </p:cNvSpPr>
          <p:nvPr/>
        </p:nvSpPr>
        <p:spPr bwMode="auto">
          <a:xfrm>
            <a:off x="-2226" y="976371"/>
            <a:ext cx="2898570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eaLnBrk="1" hangingPunct="1">
              <a:buFont typeface="微软雅黑" panose="020B0503020204020204" pitchFamily="34" charset="-122"/>
              <a:buChar char="①"/>
            </a:pP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输入一组数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负数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为止）</a:t>
            </a:r>
            <a:endParaRPr lang="en-US" altLang="zh-CN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输出这组数，以逗号分隔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5"/>
          <p:cNvSpPr>
            <a:spLocks noChangeArrowheads="1"/>
          </p:cNvSpPr>
          <p:nvPr/>
        </p:nvSpPr>
        <p:spPr bwMode="auto">
          <a:xfrm>
            <a:off x="6339779" y="970816"/>
            <a:ext cx="2921767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eaLnBrk="1" hangingPunct="1">
              <a:buFont typeface="微软雅黑" panose="020B0503020204020204" pitchFamily="34" charset="-122"/>
              <a:buChar char="①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输入一组数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空字符串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为止）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输出这组数，以空格分隔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9262659" y="936898"/>
            <a:ext cx="0" cy="590393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2988584" y="944300"/>
            <a:ext cx="0" cy="590393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0" y="5071228"/>
            <a:ext cx="2988584" cy="4372"/>
          </a:xfrm>
          <a:prstGeom prst="line">
            <a:avLst/>
          </a:prstGeom>
          <a:ln>
            <a:solidFill>
              <a:srgbClr val="92D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0" y="1531203"/>
            <a:ext cx="2988584" cy="39256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6329660" y="950589"/>
            <a:ext cx="24206" cy="587655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281196" y="5676703"/>
            <a:ext cx="200874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eaLnBrk="1" hangingPunct="1">
              <a:buNone/>
              <a:defRPr/>
            </a:pP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while 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eval(x) 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&gt;=0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zh-CN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92859" y="6006582"/>
            <a:ext cx="193327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eaLnBrk="1" hangingPunct="1">
              <a:buNone/>
              <a:defRPr/>
            </a:pP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print(x,end=',')</a:t>
            </a:r>
            <a:endParaRPr lang="zh-CN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481942" y="5634793"/>
            <a:ext cx="191268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while </a:t>
            </a:r>
            <a:r>
              <a:rPr lang="en-US" altLang="zh-CN"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!='':</a:t>
            </a:r>
            <a:endParaRPr lang="zh-CN" altLang="zh-CN" sz="1600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857449" y="5999496"/>
            <a:ext cx="163859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print(</a:t>
            </a: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x,end=' '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74052" y="5335646"/>
            <a:ext cx="10951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x=input()</a:t>
            </a:r>
          </a:p>
        </p:txBody>
      </p:sp>
      <p:sp>
        <p:nvSpPr>
          <p:cNvPr id="39" name="矩形 38"/>
          <p:cNvSpPr/>
          <p:nvPr/>
        </p:nvSpPr>
        <p:spPr>
          <a:xfrm>
            <a:off x="6473600" y="5320336"/>
            <a:ext cx="10951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x=input()</a:t>
            </a:r>
          </a:p>
        </p:txBody>
      </p:sp>
      <p:sp>
        <p:nvSpPr>
          <p:cNvPr id="40" name="矩形 39"/>
          <p:cNvSpPr/>
          <p:nvPr/>
        </p:nvSpPr>
        <p:spPr>
          <a:xfrm>
            <a:off x="6863063" y="6409740"/>
            <a:ext cx="10951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x=input()</a:t>
            </a:r>
          </a:p>
        </p:txBody>
      </p:sp>
      <p:sp>
        <p:nvSpPr>
          <p:cNvPr id="50" name="矩形 49"/>
          <p:cNvSpPr/>
          <p:nvPr/>
        </p:nvSpPr>
        <p:spPr>
          <a:xfrm>
            <a:off x="692038" y="6377948"/>
            <a:ext cx="10951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x=input()</a:t>
            </a:r>
          </a:p>
        </p:txBody>
      </p:sp>
      <p:sp>
        <p:nvSpPr>
          <p:cNvPr id="51" name="内容占位符 2"/>
          <p:cNvSpPr txBox="1">
            <a:spLocks/>
          </p:cNvSpPr>
          <p:nvPr/>
        </p:nvSpPr>
        <p:spPr bwMode="auto">
          <a:xfrm>
            <a:off x="6575042" y="1561146"/>
            <a:ext cx="2055992" cy="34209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69925" indent="-325438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defTabSz="914400">
              <a:buFont typeface="Wingdings" pitchFamily="2" charset="2"/>
              <a:buNone/>
            </a:pPr>
            <a:r>
              <a:rPr lang="en-US" altLang="zh-CN" sz="1600" kern="0" dirty="0"/>
              <a:t>x=input()</a:t>
            </a:r>
          </a:p>
          <a:p>
            <a:pPr defTabSz="914400" eaLnBrk="1" hangingPunct="1">
              <a:buFont typeface="Wingdings" pitchFamily="2" charset="2"/>
              <a:buNone/>
            </a:pPr>
            <a:r>
              <a:rPr lang="en-US" altLang="zh-CN" sz="1600" kern="0" dirty="0"/>
              <a:t>print(</a:t>
            </a:r>
            <a:r>
              <a:rPr lang="en-US" altLang="zh-CN" sz="1600" kern="0" dirty="0" err="1"/>
              <a:t>x,end</a:t>
            </a:r>
            <a:r>
              <a:rPr lang="en-US" altLang="zh-CN" sz="1600" kern="0" dirty="0"/>
              <a:t>=',')</a:t>
            </a:r>
            <a:endParaRPr lang="zh-CN" altLang="en-US" sz="1600" kern="0" dirty="0"/>
          </a:p>
          <a:p>
            <a:pPr marL="0" indent="0" defTabSz="914400">
              <a:spcBef>
                <a:spcPts val="1200"/>
              </a:spcBef>
              <a:buFont typeface="Wingdings" pitchFamily="2" charset="2"/>
              <a:buNone/>
            </a:pPr>
            <a:r>
              <a:rPr lang="en-US" altLang="zh-CN" sz="1600" kern="0" dirty="0">
                <a:solidFill>
                  <a:srgbClr val="FF0000"/>
                </a:solidFill>
              </a:rPr>
              <a:t>x=input()</a:t>
            </a:r>
          </a:p>
          <a:p>
            <a:pPr marL="0" indent="0" defTabSz="914400">
              <a:buFont typeface="Wingdings" pitchFamily="2" charset="2"/>
              <a:buNone/>
            </a:pPr>
            <a:r>
              <a:rPr lang="en-US" altLang="zh-CN" sz="1600" kern="0" dirty="0">
                <a:solidFill>
                  <a:srgbClr val="FF0000"/>
                </a:solidFill>
              </a:rPr>
              <a:t>print(</a:t>
            </a:r>
            <a:r>
              <a:rPr lang="en-US" altLang="zh-CN" sz="1600" kern="0" dirty="0" err="1">
                <a:solidFill>
                  <a:srgbClr val="FF0000"/>
                </a:solidFill>
              </a:rPr>
              <a:t>x,end</a:t>
            </a:r>
            <a:r>
              <a:rPr lang="en-US" altLang="zh-CN" sz="1600" kern="0" dirty="0">
                <a:solidFill>
                  <a:srgbClr val="FF0000"/>
                </a:solidFill>
              </a:rPr>
              <a:t>=',')</a:t>
            </a:r>
            <a:endParaRPr lang="zh-CN" altLang="en-US" sz="1600" kern="0" dirty="0">
              <a:solidFill>
                <a:srgbClr val="FF0000"/>
              </a:solidFill>
            </a:endParaRPr>
          </a:p>
          <a:p>
            <a:pPr marL="0" indent="0" defTabSz="914400">
              <a:buFont typeface="Wingdings" pitchFamily="2" charset="2"/>
              <a:buNone/>
            </a:pPr>
            <a:r>
              <a:rPr lang="en-US" altLang="zh-CN" sz="1600" b="1" kern="0" dirty="0">
                <a:solidFill>
                  <a:srgbClr val="0070C0"/>
                </a:solidFill>
              </a:rPr>
              <a:t>x=input()</a:t>
            </a:r>
          </a:p>
          <a:p>
            <a:pPr defTabSz="914400" eaLnBrk="1" hangingPunct="1">
              <a:buFont typeface="Wingdings" pitchFamily="2" charset="2"/>
              <a:buNone/>
            </a:pPr>
            <a:r>
              <a:rPr lang="en-US" altLang="zh-CN" sz="1600" b="1" kern="0" dirty="0">
                <a:solidFill>
                  <a:srgbClr val="0070C0"/>
                </a:solidFill>
              </a:rPr>
              <a:t>print(</a:t>
            </a:r>
            <a:r>
              <a:rPr lang="en-US" altLang="zh-CN" sz="1600" b="1" kern="0" dirty="0" err="1">
                <a:solidFill>
                  <a:srgbClr val="0070C0"/>
                </a:solidFill>
              </a:rPr>
              <a:t>x,end</a:t>
            </a:r>
            <a:r>
              <a:rPr lang="en-US" altLang="zh-CN" sz="1600" b="1" kern="0" dirty="0">
                <a:solidFill>
                  <a:srgbClr val="0070C0"/>
                </a:solidFill>
              </a:rPr>
              <a:t>=',')</a:t>
            </a:r>
          </a:p>
          <a:p>
            <a:pPr defTabSz="914400" eaLnBrk="1" hangingPunct="1">
              <a:buNone/>
            </a:pPr>
            <a:r>
              <a:rPr lang="en-US" altLang="zh-CN" sz="1600" dirty="0"/>
              <a:t>x=input()</a:t>
            </a:r>
          </a:p>
        </p:txBody>
      </p:sp>
      <p:sp>
        <p:nvSpPr>
          <p:cNvPr id="4" name="矩形 3"/>
          <p:cNvSpPr/>
          <p:nvPr/>
        </p:nvSpPr>
        <p:spPr>
          <a:xfrm>
            <a:off x="1835661" y="4578127"/>
            <a:ext cx="505267" cy="523220"/>
          </a:xfrm>
          <a:prstGeom prst="rect">
            <a:avLst/>
          </a:prstGeom>
          <a:solidFill>
            <a:schemeClr val="tx1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800" b="0" cap="none" spc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-5</a:t>
            </a:r>
            <a:endParaRPr lang="zh-CN" altLang="en-US" sz="2800" b="0" cap="none" spc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412086" y="4629888"/>
            <a:ext cx="713906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/>
              <a:t>stop</a:t>
            </a:r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8743715" y="4565701"/>
            <a:ext cx="703915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/>
              <a:t>stop</a:t>
            </a:r>
            <a:endParaRPr lang="zh-CN" altLang="en-US"/>
          </a:p>
        </p:txBody>
      </p:sp>
      <p:cxnSp>
        <p:nvCxnSpPr>
          <p:cNvPr id="55" name="肘形连接符 54"/>
          <p:cNvCxnSpPr/>
          <p:nvPr/>
        </p:nvCxnSpPr>
        <p:spPr>
          <a:xfrm rot="10800000" flipV="1">
            <a:off x="8035074" y="5024749"/>
            <a:ext cx="144017" cy="173221"/>
          </a:xfrm>
          <a:prstGeom prst="bentConnector3">
            <a:avLst>
              <a:gd name="adj1" fmla="val -16138"/>
            </a:avLst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8268932" y="4551453"/>
            <a:ext cx="451943" cy="484704"/>
            <a:chOff x="4796408" y="5071228"/>
            <a:chExt cx="451943" cy="484704"/>
          </a:xfrm>
        </p:grpSpPr>
        <p:sp>
          <p:nvSpPr>
            <p:cNvPr id="13" name="文本框 12"/>
            <p:cNvSpPr txBox="1"/>
            <p:nvPr/>
          </p:nvSpPr>
          <p:spPr>
            <a:xfrm>
              <a:off x="4796408" y="5071228"/>
              <a:ext cx="451943" cy="484704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endParaRPr lang="zh-CN" altLang="en-US"/>
            </a:p>
          </p:txBody>
        </p:sp>
        <p:cxnSp>
          <p:nvCxnSpPr>
            <p:cNvPr id="54" name="肘形连接符 53"/>
            <p:cNvCxnSpPr/>
            <p:nvPr/>
          </p:nvCxnSpPr>
          <p:spPr>
            <a:xfrm rot="10800000" flipV="1">
              <a:off x="4894183" y="5212168"/>
              <a:ext cx="144017" cy="173221"/>
            </a:xfrm>
            <a:prstGeom prst="bentConnector3">
              <a:avLst>
                <a:gd name="adj1" fmla="val -16138"/>
              </a:avLst>
            </a:prstGeom>
            <a:ln w="28575">
              <a:solidFill>
                <a:schemeClr val="bg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56" name="直接连接符 55"/>
          <p:cNvCxnSpPr/>
          <p:nvPr/>
        </p:nvCxnSpPr>
        <p:spPr>
          <a:xfrm>
            <a:off x="6459046" y="1563482"/>
            <a:ext cx="2802500" cy="17066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 flipV="1">
            <a:off x="6330148" y="5091953"/>
            <a:ext cx="2987170" cy="5600"/>
          </a:xfrm>
          <a:prstGeom prst="line">
            <a:avLst/>
          </a:prstGeom>
          <a:ln>
            <a:solidFill>
              <a:srgbClr val="92D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4473344" y="3888866"/>
            <a:ext cx="8606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600">
                <a:solidFill>
                  <a:srgbClr val="FF0000"/>
                </a:solidFill>
                <a:latin typeface="Bradley Hand ITC" panose="03070402050302030203" pitchFamily="66" charset="0"/>
              </a:rPr>
              <a:t>x</a:t>
            </a:r>
            <a:endParaRPr lang="zh-CN" altLang="en-US" sz="9600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193564" y="1224127"/>
            <a:ext cx="3065666" cy="1846659"/>
          </a:xfrm>
          <a:prstGeom prst="rect">
            <a:avLst/>
          </a:prstGeom>
          <a:solidFill>
            <a:srgbClr val="B8FEFE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是字符串</a:t>
            </a:r>
            <a:endParaRPr lang="en-US" altLang="zh-CN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</a:p>
          <a:p>
            <a:pPr>
              <a:lnSpc>
                <a:spcPct val="150000"/>
              </a:lnSpc>
            </a:pPr>
            <a:r>
              <a:rPr lang="en-US" altLang="zh-CN" sz="20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∵&gt;=</a:t>
            </a:r>
            <a:r>
              <a:rPr lang="zh-CN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两边数据</a:t>
            </a:r>
            <a:r>
              <a:rPr lang="zh-CN" altLang="en-US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zh-CN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必须</a:t>
            </a:r>
            <a:r>
              <a:rPr lang="zh-CN" altLang="en-US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相同</a:t>
            </a:r>
            <a:r>
              <a:rPr lang="en-US" altLang="zh-CN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zh-CN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∴ </a:t>
            </a:r>
            <a:r>
              <a:rPr lang="zh-CN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应使用</a:t>
            </a:r>
            <a:r>
              <a:rPr lang="en-US" altLang="zh-CN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eval</a:t>
            </a:r>
            <a:r>
              <a:rPr lang="zh-CN" altLang="en-US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转</a:t>
            </a:r>
            <a:r>
              <a:rPr lang="en-US" altLang="zh-CN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为数值</a:t>
            </a:r>
            <a:r>
              <a:rPr lang="zh-CN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型</a:t>
            </a:r>
            <a:endParaRPr lang="zh-CN" altLang="en-US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线形标注 1 64"/>
          <p:cNvSpPr/>
          <p:nvPr/>
        </p:nvSpPr>
        <p:spPr>
          <a:xfrm>
            <a:off x="9696730" y="3560490"/>
            <a:ext cx="2015296" cy="932175"/>
          </a:xfrm>
          <a:prstGeom prst="borderCallout1">
            <a:avLst>
              <a:gd name="adj1" fmla="val 50743"/>
              <a:gd name="adj2" fmla="val 766"/>
              <a:gd name="adj3" fmla="val 235767"/>
              <a:gd name="adj4" fmla="val -119908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此处是否要改为：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eval(x)!=''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10704378" y="3670306"/>
            <a:ext cx="8606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600">
                <a:solidFill>
                  <a:srgbClr val="FF0000"/>
                </a:solidFill>
                <a:latin typeface="Bradley Hand ITC" panose="03070402050302030203" pitchFamily="66" charset="0"/>
              </a:rPr>
              <a:t>x</a:t>
            </a:r>
            <a:endParaRPr lang="zh-CN" altLang="en-US" sz="9600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9405987" y="5190165"/>
            <a:ext cx="2766607" cy="1338828"/>
          </a:xfrm>
          <a:prstGeom prst="rect">
            <a:avLst/>
          </a:prstGeom>
          <a:solidFill>
            <a:srgbClr val="B8FEFE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是字符串</a:t>
            </a:r>
            <a:endParaRPr lang="en-US" altLang="zh-CN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''</a:t>
            </a:r>
            <a:r>
              <a:rPr lang="zh-CN" altLang="en-US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是字符串</a:t>
            </a:r>
            <a:endParaRPr lang="en-US" altLang="zh-CN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∴</a:t>
            </a:r>
            <a:r>
              <a:rPr lang="zh-CN" altLang="en-US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类型相同，</a:t>
            </a:r>
            <a:r>
              <a:rPr lang="en-US" altLang="zh-CN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不需转类型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E2FF1D1-D077-4A1A-8C91-A3FE3A184093}"/>
              </a:ext>
            </a:extLst>
          </p:cNvPr>
          <p:cNvSpPr txBox="1"/>
          <p:nvPr/>
        </p:nvSpPr>
        <p:spPr>
          <a:xfrm>
            <a:off x="9696730" y="32717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有空要改这三页</a:t>
            </a:r>
          </a:p>
        </p:txBody>
      </p:sp>
    </p:spTree>
    <p:extLst>
      <p:ext uri="{BB962C8B-B14F-4D97-AF65-F5344CB8AC3E}">
        <p14:creationId xmlns:p14="http://schemas.microsoft.com/office/powerpoint/2010/main" val="1726186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4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7" dur="1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9" grpId="0" animBg="1"/>
      <p:bldP spid="23" grpId="0"/>
      <p:bldP spid="31" grpId="0"/>
      <p:bldP spid="33" grpId="0"/>
      <p:bldP spid="26" grpId="0"/>
      <p:bldP spid="38" grpId="0"/>
      <p:bldP spid="39" grpId="0"/>
      <p:bldP spid="40" grpId="0"/>
      <p:bldP spid="50" grpId="0"/>
      <p:bldP spid="51" grpId="0" animBg="1"/>
      <p:bldP spid="4" grpId="0" animBg="1"/>
      <p:bldP spid="5" grpId="0" animBg="1"/>
      <p:bldP spid="53" grpId="0" animBg="1"/>
      <p:bldP spid="20" grpId="0"/>
      <p:bldP spid="21" grpId="0" animBg="1"/>
      <p:bldP spid="65" grpId="0" animBg="1"/>
      <p:bldP spid="66" grpId="0"/>
      <p:bldP spid="6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矩形 74"/>
          <p:cNvSpPr/>
          <p:nvPr/>
        </p:nvSpPr>
        <p:spPr>
          <a:xfrm>
            <a:off x="9206435" y="3025055"/>
            <a:ext cx="1848185" cy="46166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while x !='':</a:t>
            </a:r>
            <a:endParaRPr lang="zh-CN" altLang="zh-CN"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内容占位符 2"/>
          <p:cNvSpPr txBox="1">
            <a:spLocks/>
          </p:cNvSpPr>
          <p:nvPr/>
        </p:nvSpPr>
        <p:spPr bwMode="auto">
          <a:xfrm>
            <a:off x="2336532" y="2057320"/>
            <a:ext cx="2193195" cy="3420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69925" indent="-325438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Font typeface="Wingdings 2" pitchFamily="18" charset="2"/>
              <a:buNone/>
            </a:pPr>
            <a:r>
              <a:rPr lang="en-US" altLang="zh-CN" sz="2400" kern="0" dirty="0"/>
              <a:t>s=0</a:t>
            </a:r>
          </a:p>
          <a:p>
            <a:pPr eaLnBrk="1" hangingPunct="1">
              <a:buNone/>
            </a:pPr>
            <a:r>
              <a:rPr lang="en-US" altLang="zh-CN" sz="2400" kern="0" dirty="0"/>
              <a:t>x=input()</a:t>
            </a:r>
            <a:endParaRPr lang="zh-CN" altLang="en-US" sz="2400" kern="0" dirty="0"/>
          </a:p>
          <a:p>
            <a:pPr eaLnBrk="1" hangingPunct="1">
              <a:buNone/>
            </a:pPr>
            <a:r>
              <a:rPr lang="en-US" altLang="zh-CN" sz="2400" kern="0" dirty="0"/>
              <a:t>s=</a:t>
            </a:r>
            <a:r>
              <a:rPr lang="en-US" altLang="zh-CN" sz="2400" kern="0" dirty="0" err="1"/>
              <a:t>s+eval</a:t>
            </a:r>
            <a:r>
              <a:rPr lang="en-US" altLang="zh-CN" sz="2400" kern="0" dirty="0"/>
              <a:t>(x)</a:t>
            </a:r>
            <a:endParaRPr lang="zh-CN" altLang="en-US" sz="2400" kern="0" dirty="0"/>
          </a:p>
          <a:p>
            <a:pPr eaLnBrk="1" hangingPunct="1">
              <a:buNone/>
            </a:pPr>
            <a:r>
              <a:rPr lang="en-US" altLang="zh-CN" sz="2400" kern="0" dirty="0"/>
              <a:t>x=input()</a:t>
            </a:r>
            <a:endParaRPr lang="zh-CN" altLang="en-US" sz="2400" kern="0" dirty="0"/>
          </a:p>
          <a:p>
            <a:pPr eaLnBrk="1" hangingPunct="1">
              <a:buNone/>
            </a:pPr>
            <a:r>
              <a:rPr lang="en-US" altLang="zh-CN" sz="2400" kern="0" dirty="0"/>
              <a:t>s=</a:t>
            </a:r>
            <a:r>
              <a:rPr lang="en-US" altLang="zh-CN" sz="2400" kern="0" dirty="0" err="1"/>
              <a:t>s+eval</a:t>
            </a:r>
            <a:r>
              <a:rPr lang="en-US" altLang="zh-CN" sz="2400" kern="0" dirty="0"/>
              <a:t>(x)</a:t>
            </a:r>
            <a:endParaRPr lang="zh-CN" altLang="en-US" sz="2400" kern="0" dirty="0"/>
          </a:p>
          <a:p>
            <a:pPr eaLnBrk="1" hangingPunct="1">
              <a:buFont typeface="Wingdings 2" pitchFamily="18" charset="2"/>
              <a:buNone/>
            </a:pPr>
            <a:r>
              <a:rPr lang="en-US" altLang="zh-CN" sz="2400" kern="0" dirty="0"/>
              <a:t>……</a:t>
            </a:r>
          </a:p>
          <a:p>
            <a:pPr eaLnBrk="1" hangingPunct="1">
              <a:buNone/>
            </a:pPr>
            <a:r>
              <a:rPr lang="en-US" altLang="zh-CN" sz="2400" kern="0" dirty="0"/>
              <a:t>x=input()</a:t>
            </a:r>
            <a:endParaRPr lang="zh-CN" altLang="en-US" sz="2400" kern="0" dirty="0"/>
          </a:p>
        </p:txBody>
      </p:sp>
      <p:cxnSp>
        <p:nvCxnSpPr>
          <p:cNvPr id="73" name="直接连接符 72"/>
          <p:cNvCxnSpPr/>
          <p:nvPr/>
        </p:nvCxnSpPr>
        <p:spPr>
          <a:xfrm>
            <a:off x="0" y="2032001"/>
            <a:ext cx="12192000" cy="71717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38" name="标题 1"/>
          <p:cNvSpPr>
            <a:spLocks noGrp="1"/>
          </p:cNvSpPr>
          <p:nvPr>
            <p:ph type="title"/>
          </p:nvPr>
        </p:nvSpPr>
        <p:spPr>
          <a:xfrm>
            <a:off x="484094" y="88420"/>
            <a:ext cx="10231363" cy="578739"/>
          </a:xfrm>
        </p:spPr>
        <p:txBody>
          <a:bodyPr>
            <a:noAutofit/>
          </a:bodyPr>
          <a:lstStyle/>
          <a:p>
            <a:pPr algn="ctr" eaLnBrk="1" hangingPunct="1"/>
            <a:r>
              <a:rPr lang="zh-CN" altLang="en-US" sz="3200" dirty="0"/>
              <a:t>分析程序的功能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041153" y="815531"/>
            <a:ext cx="0" cy="590393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237540" y="1442115"/>
            <a:ext cx="5732954" cy="6184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/>
          <p:cNvSpPr txBox="1"/>
          <p:nvPr/>
        </p:nvSpPr>
        <p:spPr>
          <a:xfrm>
            <a:off x="10569435" y="2467315"/>
            <a:ext cx="8606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600">
                <a:solidFill>
                  <a:srgbClr val="FF0000"/>
                </a:solidFill>
                <a:latin typeface="Bradley Hand ITC" panose="03070402050302030203" pitchFamily="66" charset="0"/>
              </a:rPr>
              <a:t>x</a:t>
            </a:r>
            <a:endParaRPr lang="zh-CN" altLang="en-US" sz="9600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8516311" y="5030418"/>
            <a:ext cx="3614077" cy="1689052"/>
          </a:xfrm>
          <a:prstGeom prst="rect">
            <a:avLst/>
          </a:prstGeom>
          <a:solidFill>
            <a:srgbClr val="B8FEFE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n w="0"/>
                <a:solidFill>
                  <a:srgbClr val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dirty="0">
                <a:ln w="0"/>
                <a:solidFill>
                  <a:srgbClr val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是数值</a:t>
            </a:r>
            <a:endParaRPr lang="en-US" altLang="zh-CN" sz="2400" dirty="0">
              <a:ln w="0"/>
              <a:solidFill>
                <a:srgbClr val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n w="0"/>
                <a:solidFill>
                  <a:srgbClr val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''</a:t>
            </a:r>
            <a:r>
              <a:rPr lang="zh-CN" altLang="en-US" sz="2400" dirty="0">
                <a:ln w="0"/>
                <a:solidFill>
                  <a:srgbClr val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是字符串</a:t>
            </a:r>
            <a:endParaRPr lang="en-US" altLang="zh-CN" sz="2400" dirty="0">
              <a:ln w="0"/>
              <a:solidFill>
                <a:srgbClr val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n w="0"/>
                <a:solidFill>
                  <a:srgbClr val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∴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!=''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出错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dirty="0">
                <a:ln w="0"/>
                <a:solidFill>
                  <a:srgbClr val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类型不同</a:t>
            </a:r>
            <a:endParaRPr lang="en-US" altLang="zh-CN" sz="2400" dirty="0">
              <a:ln w="0"/>
              <a:solidFill>
                <a:srgbClr val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4043179" y="6024590"/>
            <a:ext cx="703915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/>
              <a:t>stop</a:t>
            </a:r>
            <a:endParaRPr lang="zh-CN" altLang="en-US"/>
          </a:p>
        </p:txBody>
      </p:sp>
      <p:sp>
        <p:nvSpPr>
          <p:cNvPr id="71" name="矩形 5"/>
          <p:cNvSpPr>
            <a:spLocks noChangeArrowheads="1"/>
          </p:cNvSpPr>
          <p:nvPr/>
        </p:nvSpPr>
        <p:spPr bwMode="auto">
          <a:xfrm>
            <a:off x="271095" y="829292"/>
            <a:ext cx="4345729" cy="8309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+mj-ea"/>
              <a:buAutoNum type="circleNumDbPlain" startAt="4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输入一组数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空字符串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为止）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这组数的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9730307" y="1387245"/>
            <a:ext cx="985152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zh-CN" altLang="en-US"/>
              <a:t>赋初值</a:t>
            </a:r>
          </a:p>
        </p:txBody>
      </p:sp>
      <p:sp>
        <p:nvSpPr>
          <p:cNvPr id="76" name="矩形 75"/>
          <p:cNvSpPr/>
          <p:nvPr/>
        </p:nvSpPr>
        <p:spPr>
          <a:xfrm>
            <a:off x="9615328" y="3432154"/>
            <a:ext cx="11047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buNone/>
            </a:pP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s=</a:t>
            </a:r>
            <a:r>
              <a:rPr lang="en-US" altLang="zh-CN" sz="24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s+</a:t>
            </a:r>
            <a:r>
              <a:rPr lang="en-US" altLang="zh-CN" sz="2400" b="1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endParaRPr lang="zh-CN" altLang="en-US" sz="24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9615328" y="3862061"/>
            <a:ext cx="23724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x=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eval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(input())</a:t>
            </a:r>
          </a:p>
        </p:txBody>
      </p:sp>
      <p:sp>
        <p:nvSpPr>
          <p:cNvPr id="78" name="矩形 77"/>
          <p:cNvSpPr/>
          <p:nvPr/>
        </p:nvSpPr>
        <p:spPr>
          <a:xfrm>
            <a:off x="9206435" y="2503578"/>
            <a:ext cx="23724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x=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eval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(input())</a:t>
            </a:r>
          </a:p>
        </p:txBody>
      </p:sp>
      <p:sp>
        <p:nvSpPr>
          <p:cNvPr id="22" name="矩形 21"/>
          <p:cNvSpPr/>
          <p:nvPr/>
        </p:nvSpPr>
        <p:spPr>
          <a:xfrm>
            <a:off x="9150847" y="1900712"/>
            <a:ext cx="1980029" cy="5232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8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错误的方法</a:t>
            </a:r>
            <a:endParaRPr lang="zh-CN" altLang="en-US" sz="2800" b="0" cap="none" spc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1C0D5FD-5C8B-4C18-965A-290A85821F8D}"/>
              </a:ext>
            </a:extLst>
          </p:cNvPr>
          <p:cNvSpPr txBox="1"/>
          <p:nvPr/>
        </p:nvSpPr>
        <p:spPr>
          <a:xfrm>
            <a:off x="5231861" y="2030620"/>
            <a:ext cx="2520242" cy="3231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s=0</a:t>
            </a:r>
            <a:endParaRPr lang="zh-CN" altLang="en-US" sz="24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x=input()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while x !=‘’:</a:t>
            </a:r>
            <a:endParaRPr lang="zh-CN" altLang="zh-CN"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s=</a:t>
            </a:r>
            <a:r>
              <a:rPr lang="en-US" altLang="zh-CN" sz="24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s+</a:t>
            </a:r>
            <a:r>
              <a:rPr lang="en-US" altLang="zh-CN" sz="2400" b="1" kern="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eval</a:t>
            </a:r>
            <a:r>
              <a:rPr lang="en-US" altLang="zh-CN" sz="24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(x)</a:t>
            </a:r>
            <a:endParaRPr lang="zh-CN" altLang="en-US" sz="24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x=input()</a:t>
            </a:r>
          </a:p>
          <a:p>
            <a:endParaRPr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BE0FA6B-8091-41BA-8B9B-8885736EF106}"/>
              </a:ext>
            </a:extLst>
          </p:cNvPr>
          <p:cNvSpPr txBox="1"/>
          <p:nvPr/>
        </p:nvSpPr>
        <p:spPr>
          <a:xfrm>
            <a:off x="514286" y="2160863"/>
            <a:ext cx="110799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输入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r>
              <a:rPr lang="en-US" altLang="zh-CN" sz="2400" dirty="0"/>
              <a:t>20</a:t>
            </a:r>
          </a:p>
          <a:p>
            <a:r>
              <a:rPr lang="en-US" altLang="zh-CN" sz="2400" dirty="0"/>
              <a:t>13</a:t>
            </a:r>
          </a:p>
          <a:p>
            <a:r>
              <a:rPr lang="en-US" altLang="zh-CN" sz="2400" dirty="0"/>
              <a:t>17</a:t>
            </a:r>
          </a:p>
          <a:p>
            <a:r>
              <a:rPr lang="en-US" altLang="zh-CN" sz="2400" dirty="0"/>
              <a:t>19</a:t>
            </a:r>
          </a:p>
          <a:p>
            <a:r>
              <a:rPr lang="en-US" altLang="zh-CN" sz="2400" dirty="0"/>
              <a:t>-22</a:t>
            </a:r>
          </a:p>
          <a:p>
            <a:r>
              <a:rPr lang="en-US" altLang="zh-CN" sz="2400" dirty="0"/>
              <a:t>12</a:t>
            </a:r>
          </a:p>
          <a:p>
            <a:r>
              <a:rPr lang="zh-CN" altLang="en-US" sz="2400" dirty="0"/>
              <a:t>回车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027345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2" dur="1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52" grpId="0" animBg="1"/>
      <p:bldP spid="66" grpId="0"/>
      <p:bldP spid="67" grpId="0" animBg="1"/>
      <p:bldP spid="70" grpId="0" animBg="1"/>
      <p:bldP spid="71" grpId="0" animBg="1"/>
      <p:bldP spid="74" grpId="0" animBg="1"/>
      <p:bldP spid="76" grpId="0"/>
      <p:bldP spid="77" grpId="0"/>
      <p:bldP spid="78" grpId="0"/>
      <p:bldP spid="2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输入一组考试成绩，求平均值。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08808" y="1893534"/>
            <a:ext cx="5829300" cy="501227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dirty="0"/>
              <a:t>total=0.0</a:t>
            </a:r>
          </a:p>
          <a:p>
            <a:pPr marL="0" indent="0">
              <a:buNone/>
            </a:pPr>
            <a:r>
              <a:rPr lang="en-US" altLang="zh-CN" dirty="0"/>
              <a:t>count=0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x=float(input(“</a:t>
            </a:r>
            <a:r>
              <a:rPr lang="zh-CN" altLang="en-US" dirty="0"/>
              <a:t>输入一个数，</a:t>
            </a:r>
            <a:r>
              <a:rPr lang="zh-CN" altLang="en-US" dirty="0">
                <a:solidFill>
                  <a:srgbClr val="FF0000"/>
                </a:solidFill>
              </a:rPr>
              <a:t>负数退出</a:t>
            </a:r>
            <a:r>
              <a:rPr lang="en-US" altLang="zh-CN" dirty="0"/>
              <a:t>"))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while </a:t>
            </a:r>
            <a:r>
              <a:rPr lang="en-US" altLang="zh-CN" dirty="0">
                <a:solidFill>
                  <a:srgbClr val="FF0000"/>
                </a:solidFill>
              </a:rPr>
              <a:t>x &gt;= 0</a:t>
            </a:r>
            <a:r>
              <a:rPr lang="en-US" altLang="zh-CN" dirty="0"/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    </a:t>
            </a:r>
            <a:r>
              <a:rPr lang="en-US" altLang="zh-CN" b="1" dirty="0">
                <a:solidFill>
                  <a:srgbClr val="0070C0"/>
                </a:solidFill>
              </a:rPr>
              <a:t>total=</a:t>
            </a:r>
            <a:r>
              <a:rPr lang="en-US" altLang="zh-CN" b="1" dirty="0" err="1">
                <a:solidFill>
                  <a:srgbClr val="0070C0"/>
                </a:solidFill>
              </a:rPr>
              <a:t>total+x</a:t>
            </a:r>
            <a:endParaRPr lang="en-US" altLang="zh-CN" b="1" dirty="0">
              <a:solidFill>
                <a:srgbClr val="0070C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b="1" dirty="0">
                <a:solidFill>
                  <a:srgbClr val="0070C0"/>
                </a:solidFill>
              </a:rPr>
              <a:t>    count=count+1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    x=float(input("</a:t>
            </a:r>
            <a:r>
              <a:rPr lang="zh-CN" altLang="en-US" dirty="0"/>
              <a:t>输入一个数</a:t>
            </a:r>
            <a:r>
              <a:rPr lang="en-US" altLang="zh-CN" dirty="0"/>
              <a:t>"))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print('</a:t>
            </a:r>
            <a:r>
              <a:rPr lang="zh-CN" altLang="en-US" dirty="0"/>
              <a:t>平均数是</a:t>
            </a:r>
            <a:r>
              <a:rPr lang="en-US" altLang="zh-CN" dirty="0"/>
              <a:t>',total/count)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6" name="线形标注 1(无边框) 5"/>
          <p:cNvSpPr/>
          <p:nvPr/>
        </p:nvSpPr>
        <p:spPr>
          <a:xfrm>
            <a:off x="8299519" y="1845722"/>
            <a:ext cx="3596645" cy="1737521"/>
          </a:xfrm>
          <a:prstGeom prst="callout1">
            <a:avLst>
              <a:gd name="adj1" fmla="val 18750"/>
              <a:gd name="adj2" fmla="val -8333"/>
              <a:gd name="adj3" fmla="val -31777"/>
              <a:gd name="adj4" fmla="val -146246"/>
            </a:avLst>
          </a:prstGeom>
          <a:ln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/>
              <a:t>不知道数的个数</a:t>
            </a:r>
            <a:endParaRPr lang="en-US" altLang="zh-CN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/>
              <a:t>成绩不得低于</a:t>
            </a:r>
            <a:r>
              <a:rPr lang="en-US" altLang="zh-CN" sz="2400" dirty="0"/>
              <a:t>0</a:t>
            </a:r>
            <a:r>
              <a:rPr lang="zh-CN" altLang="en-US" sz="2400" dirty="0"/>
              <a:t>，可用负数来表示数据结束</a:t>
            </a:r>
          </a:p>
        </p:txBody>
      </p:sp>
      <p:sp>
        <p:nvSpPr>
          <p:cNvPr id="11" name="矩形 10"/>
          <p:cNvSpPr/>
          <p:nvPr/>
        </p:nvSpPr>
        <p:spPr>
          <a:xfrm>
            <a:off x="2349007" y="4309907"/>
            <a:ext cx="2339825" cy="1077218"/>
          </a:xfrm>
          <a:prstGeom prst="rect">
            <a:avLst/>
          </a:prstGeom>
          <a:solidFill>
            <a:srgbClr val="EDEDED">
              <a:alpha val="69804"/>
            </a:srgb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处     理</a:t>
            </a:r>
            <a:endParaRPr lang="en-US" altLang="zh-CN" sz="32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zh-CN" altLang="en-US" sz="3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数     据</a:t>
            </a:r>
          </a:p>
        </p:txBody>
      </p:sp>
    </p:spTree>
    <p:extLst>
      <p:ext uri="{BB962C8B-B14F-4D97-AF65-F5344CB8AC3E}">
        <p14:creationId xmlns:p14="http://schemas.microsoft.com/office/powerpoint/2010/main" val="852053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输入</a:t>
            </a:r>
            <a:r>
              <a:rPr lang="zh-CN" altLang="en-US" dirty="0">
                <a:solidFill>
                  <a:srgbClr val="FF0000"/>
                </a:solidFill>
              </a:rPr>
              <a:t>一组数</a:t>
            </a:r>
            <a:r>
              <a:rPr lang="zh-CN" altLang="en-US" dirty="0"/>
              <a:t>，求平均值。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2650" y="1825625"/>
            <a:ext cx="5097236" cy="479032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dirty="0"/>
              <a:t>total=0.0</a:t>
            </a:r>
          </a:p>
          <a:p>
            <a:pPr marL="0" indent="0">
              <a:buNone/>
            </a:pPr>
            <a:r>
              <a:rPr lang="en-US" altLang="zh-CN" dirty="0"/>
              <a:t>count=0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x=input("</a:t>
            </a:r>
            <a:r>
              <a:rPr lang="zh-CN" altLang="en-US" dirty="0"/>
              <a:t>输入一个数</a:t>
            </a:r>
            <a:r>
              <a:rPr lang="en-US" altLang="zh-CN" dirty="0"/>
              <a:t>")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while </a:t>
            </a:r>
            <a:r>
              <a:rPr lang="en-US" altLang="zh-CN" b="1" dirty="0">
                <a:solidFill>
                  <a:srgbClr val="FF0000"/>
                </a:solidFill>
              </a:rPr>
              <a:t>x!="":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    x=float(x)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    total=</a:t>
            </a:r>
            <a:r>
              <a:rPr lang="en-US" altLang="zh-CN" dirty="0" err="1"/>
              <a:t>total+x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    count=count+1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    x=input("</a:t>
            </a:r>
            <a:r>
              <a:rPr lang="zh-CN" altLang="en-US" dirty="0"/>
              <a:t>输入一个数</a:t>
            </a:r>
            <a:r>
              <a:rPr lang="en-US" altLang="zh-CN" dirty="0"/>
              <a:t>")</a:t>
            </a:r>
          </a:p>
          <a:p>
            <a:pPr marL="0" indent="0">
              <a:buNone/>
            </a:pPr>
            <a:r>
              <a:rPr lang="en-US" altLang="zh-CN" dirty="0"/>
              <a:t>print('</a:t>
            </a:r>
            <a:r>
              <a:rPr lang="zh-CN" altLang="en-US" dirty="0"/>
              <a:t>平均数是</a:t>
            </a:r>
            <a:r>
              <a:rPr lang="en-US" altLang="zh-CN" dirty="0"/>
              <a:t>',total/count)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6" name="线形标注 1(无边框) 5"/>
          <p:cNvSpPr/>
          <p:nvPr/>
        </p:nvSpPr>
        <p:spPr>
          <a:xfrm>
            <a:off x="6799941" y="2232772"/>
            <a:ext cx="4489611" cy="1193831"/>
          </a:xfrm>
          <a:prstGeom prst="callout1">
            <a:avLst>
              <a:gd name="adj1" fmla="val 18750"/>
              <a:gd name="adj2" fmla="val -8333"/>
              <a:gd name="adj3" fmla="val -77834"/>
              <a:gd name="adj4" fmla="val -87105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数可正可负，用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空字符串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为条件</a:t>
            </a:r>
          </a:p>
        </p:txBody>
      </p:sp>
      <p:sp>
        <p:nvSpPr>
          <p:cNvPr id="7" name="矩形 6"/>
          <p:cNvSpPr/>
          <p:nvPr/>
        </p:nvSpPr>
        <p:spPr>
          <a:xfrm>
            <a:off x="2474513" y="4489201"/>
            <a:ext cx="2339825" cy="1077218"/>
          </a:xfrm>
          <a:prstGeom prst="rect">
            <a:avLst/>
          </a:prstGeom>
          <a:solidFill>
            <a:srgbClr val="EDEDED">
              <a:alpha val="69804"/>
            </a:srgb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处     理</a:t>
            </a:r>
            <a:endParaRPr lang="en-US" altLang="zh-CN" sz="32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zh-CN" altLang="en-US" sz="3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数     据</a:t>
            </a:r>
          </a:p>
        </p:txBody>
      </p:sp>
    </p:spTree>
    <p:extLst>
      <p:ext uri="{BB962C8B-B14F-4D97-AF65-F5344CB8AC3E}">
        <p14:creationId xmlns:p14="http://schemas.microsoft.com/office/powerpoint/2010/main" val="3229224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3204"/>
          </a:xfrm>
        </p:spPr>
        <p:txBody>
          <a:bodyPr vert="horz" wrap="square" lIns="91440" tIns="45720" rIns="91440" bIns="45720" rtlCol="0" anchor="b">
            <a:normAutofit/>
          </a:bodyPr>
          <a:lstStyle/>
          <a:p>
            <a:pPr eaLnBrk="1" hangingPunct="1"/>
            <a:r>
              <a:rPr lang="zh-CN" altLang="en-US" sz="2800" dirty="0"/>
              <a:t>问题提出</a:t>
            </a:r>
          </a:p>
        </p:txBody>
      </p:sp>
      <p:sp>
        <p:nvSpPr>
          <p:cNvPr id="5122" name="Rectangle 3"/>
          <p:cNvSpPr>
            <a:spLocks noGrp="1"/>
          </p:cNvSpPr>
          <p:nvPr>
            <p:ph idx="1"/>
          </p:nvPr>
        </p:nvSpPr>
        <p:spPr>
          <a:xfrm>
            <a:off x="235333" y="1910791"/>
            <a:ext cx="2991961" cy="378448"/>
          </a:xfrm>
        </p:spPr>
        <p:txBody>
          <a:bodyPr vert="horz" wrap="square" lIns="91440" tIns="45720" rIns="91440" bIns="45720" rtlCol="0" anchor="t">
            <a:normAutofit fontScale="92500" lnSpcReduction="20000"/>
            <a:scene3d>
              <a:camera prst="orthographicFront"/>
              <a:lightRig rig="threePt" dir="t"/>
            </a:scene3d>
          </a:bodyPr>
          <a:lstStyle/>
          <a:p>
            <a:pPr eaLnBrk="1" hangingPunct="1"/>
            <a:r>
              <a:rPr lang="zh-CN" altLang="en-US" b="1" dirty="0">
                <a:sym typeface="+mn-ea"/>
              </a:rPr>
              <a:t>累加求和实例</a:t>
            </a:r>
          </a:p>
          <a:p>
            <a:pPr eaLnBrk="1" hangingPunct="1"/>
            <a:endParaRPr lang="zh-CN" altLang="en-US" b="1" dirty="0">
              <a:solidFill>
                <a:schemeClr val="tx1"/>
              </a:solidFill>
              <a:effectLst/>
              <a:sym typeface="+mn-ea"/>
            </a:endParaRPr>
          </a:p>
          <a:p>
            <a:pPr eaLnBrk="1" hangingPunct="1"/>
            <a:endParaRPr lang="zh-CN" altLang="en-US" b="1" dirty="0">
              <a:solidFill>
                <a:schemeClr val="tx1"/>
              </a:solidFill>
              <a:effectLst/>
              <a:sym typeface="+mn-ea"/>
            </a:endParaRPr>
          </a:p>
          <a:p>
            <a:pPr eaLnBrk="1" hangingPunct="1"/>
            <a:endParaRPr lang="zh-CN" altLang="en-US" b="1" dirty="0">
              <a:solidFill>
                <a:schemeClr val="tx1"/>
              </a:solidFill>
              <a:effectLst/>
              <a:sym typeface="+mn-ea"/>
            </a:endParaRPr>
          </a:p>
          <a:p>
            <a:pPr eaLnBrk="1" hangingPunct="1"/>
            <a:endParaRPr lang="en-US" altLang="zh-CN" b="1" dirty="0">
              <a:solidFill>
                <a:schemeClr val="tx1"/>
              </a:solidFill>
              <a:effectLst/>
              <a:sym typeface="+mn-ea"/>
            </a:endParaRPr>
          </a:p>
          <a:p>
            <a:pPr eaLnBrk="1" hangingPunct="1"/>
            <a:endParaRPr lang="en-US" altLang="zh-CN" b="1" dirty="0"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en-US" altLang="zh-CN" noProof="1" dirty="0">
                <a:latin typeface="Verdana" pitchFamily="34" charset="0"/>
                <a:ea typeface="宋体" pitchFamily="2" charset="-122"/>
                <a:cs typeface="+mn-ea"/>
              </a:rPr>
              <a:t>16</a:t>
            </a:fld>
            <a:endParaRPr lang="en-US" altLang="zh-CN" noProof="1"/>
          </a:p>
        </p:txBody>
      </p:sp>
      <p:graphicFrame>
        <p:nvGraphicFramePr>
          <p:cNvPr id="230404" name="内容占位符 230403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310125715"/>
              </p:ext>
            </p:extLst>
          </p:nvPr>
        </p:nvGraphicFramePr>
        <p:xfrm>
          <a:off x="847406" y="4692781"/>
          <a:ext cx="3768725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" name="公式" r:id="rId3" imgW="1600200" imgH="203040" progId="Equation.3">
                  <p:embed/>
                </p:oleObj>
              </mc:Choice>
              <mc:Fallback>
                <p:oleObj name="公式" r:id="rId3" imgW="1600200" imgH="203040" progId="Equation.3">
                  <p:embed/>
                  <p:pic>
                    <p:nvPicPr>
                      <p:cNvPr id="230404" name="内容占位符 23040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47406" y="4692781"/>
                        <a:ext cx="3768725" cy="47783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2759331"/>
              </p:ext>
            </p:extLst>
          </p:nvPr>
        </p:nvGraphicFramePr>
        <p:xfrm>
          <a:off x="847406" y="2433992"/>
          <a:ext cx="3456383" cy="7165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" name="公式" r:id="rId5" imgW="1828800" imgH="406080" progId="Equation.3">
                  <p:embed/>
                </p:oleObj>
              </mc:Choice>
              <mc:Fallback>
                <p:oleObj name="公式" r:id="rId5" imgW="1828800" imgH="406080" progId="Equation.3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406" y="2433992"/>
                        <a:ext cx="3456383" cy="7165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806573" y="3391791"/>
            <a:ext cx="28905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1-3+5-7...-99+101</a:t>
            </a:r>
            <a:endParaRPr lang="zh-CN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806573" y="4094687"/>
            <a:ext cx="46810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1-1/2+1/3-1/4+...-1/99+1/100</a:t>
            </a:r>
            <a:endParaRPr lang="en-US" altLang="zh-CN" sz="2400" b="1" dirty="0">
              <a:sym typeface="+mn-ea"/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955" y="5463460"/>
            <a:ext cx="5372100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510715" y="1108330"/>
            <a:ext cx="4199769" cy="15131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ym typeface="+mn-ea"/>
              </a:rPr>
              <a:t>共同特点：</a:t>
            </a:r>
            <a:endParaRPr lang="en-US" altLang="zh-CN" sz="2400" b="1" dirty="0">
              <a:sym typeface="+mn-ea"/>
            </a:endParaRPr>
          </a:p>
          <a:p>
            <a:pPr marL="360000">
              <a:lnSpc>
                <a:spcPct val="150000"/>
              </a:lnSpc>
              <a:buBlip>
                <a:blip r:embed="rId8"/>
              </a:buBlip>
            </a:pPr>
            <a:r>
              <a:rPr lang="zh-CN" altLang="en-US" sz="2400" b="1" dirty="0">
                <a:sym typeface="+mn-ea"/>
              </a:rPr>
              <a:t>累加计算 </a:t>
            </a:r>
            <a:r>
              <a:rPr lang="en-US" altLang="zh-CN" sz="2400" b="1" dirty="0">
                <a:sym typeface="+mn-ea"/>
              </a:rPr>
              <a:t>——</a:t>
            </a:r>
            <a:r>
              <a:rPr lang="zh-CN" altLang="en-US" sz="2400" b="1" dirty="0">
                <a:sym typeface="+mn-ea"/>
              </a:rPr>
              <a:t>循环</a:t>
            </a:r>
          </a:p>
          <a:p>
            <a:pPr marL="360000">
              <a:lnSpc>
                <a:spcPct val="150000"/>
              </a:lnSpc>
              <a:buBlip>
                <a:blip r:embed="rId8"/>
              </a:buBlip>
            </a:pPr>
            <a:r>
              <a:rPr lang="zh-CN" altLang="en-US" sz="2400" b="1" dirty="0">
                <a:sym typeface="+mn-ea"/>
              </a:rPr>
              <a:t>寻找累加项的构成规律</a:t>
            </a:r>
            <a:endParaRPr lang="zh-CN" altLang="en-US" sz="24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9F7CB7-8A85-4FC8-A720-300C6F863797}"/>
              </a:ext>
            </a:extLst>
          </p:cNvPr>
          <p:cNvSpPr/>
          <p:nvPr/>
        </p:nvSpPr>
        <p:spPr>
          <a:xfrm>
            <a:off x="6678686" y="3401928"/>
            <a:ext cx="44165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1+(-3)+5+(-7)+...+(-99)+101</a:t>
            </a:r>
            <a:endParaRPr lang="zh-CN" altLang="en-US" sz="2400" dirty="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5F0C7C07-ADE4-47D6-AC74-493A769D1852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>
            <a:off x="3697108" y="3622624"/>
            <a:ext cx="2981578" cy="10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A0733853-99CE-47B1-8A2D-6FD15AB0793D}"/>
              </a:ext>
            </a:extLst>
          </p:cNvPr>
          <p:cNvSpPr/>
          <p:nvPr/>
        </p:nvSpPr>
        <p:spPr>
          <a:xfrm>
            <a:off x="6096000" y="4094426"/>
            <a:ext cx="59795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1+(-1/2)+1/3+(-1/4)+...+(-1/99)+1/100</a:t>
            </a:r>
            <a:endParaRPr lang="en-US" altLang="zh-CN" sz="2400" b="1" dirty="0">
              <a:sym typeface="+mn-ea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9A54894E-C291-4666-BA97-83AFD666CF3A}"/>
              </a:ext>
            </a:extLst>
          </p:cNvPr>
          <p:cNvCxnSpPr>
            <a:stCxn id="5" idx="3"/>
          </p:cNvCxnSpPr>
          <p:nvPr/>
        </p:nvCxnSpPr>
        <p:spPr>
          <a:xfrm flipV="1">
            <a:off x="5487663" y="4325258"/>
            <a:ext cx="671090" cy="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5242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0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29464" y="166966"/>
            <a:ext cx="4899993" cy="743088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累加求和的解决方法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3014" y="645656"/>
            <a:ext cx="5842986" cy="97180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累加和初始化为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或第一项</a:t>
            </a:r>
          </a:p>
          <a:p>
            <a:pPr>
              <a:lnSpc>
                <a:spcPct val="100000"/>
              </a:lnSpc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关键是寻找累加项的构成规律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54790-AC9C-4CC1-9CCB-14F41907C59E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02286" y="2001207"/>
            <a:ext cx="3456384" cy="15696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例题：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1+2+3+...+100</a:t>
            </a: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累加项：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term=i</a:t>
            </a: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累加：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sum=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sum+term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023991" y="1928234"/>
            <a:ext cx="4733655" cy="15696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例题：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1+1/2+1/3+...+1/200</a:t>
            </a: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累加项：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term=1/i</a:t>
            </a: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累加：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sum=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sum+term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3014" y="3741864"/>
            <a:ext cx="3627178" cy="2797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nn-NO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i=1</a:t>
            </a:r>
          </a:p>
          <a:p>
            <a:pPr>
              <a:lnSpc>
                <a:spcPct val="150000"/>
              </a:lnSpc>
            </a:pPr>
            <a:r>
              <a:rPr lang="nn-NO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 i&lt;=</a:t>
            </a:r>
            <a:r>
              <a:rPr lang="nn-NO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nn-NO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nn-NO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term = </a:t>
            </a:r>
            <a:r>
              <a:rPr lang="nn-NO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endParaRPr lang="nn-NO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nn-NO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sum=sum +term</a:t>
            </a:r>
          </a:p>
          <a:p>
            <a:pPr>
              <a:lnSpc>
                <a:spcPct val="150000"/>
              </a:lnSpc>
            </a:pPr>
            <a:r>
              <a:rPr lang="nn-NO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=i+1</a:t>
            </a:r>
            <a:endParaRPr lang="nn-NO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029137" y="3741864"/>
            <a:ext cx="3627178" cy="2797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nn-NO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i=1</a:t>
            </a:r>
          </a:p>
          <a:p>
            <a:pPr>
              <a:lnSpc>
                <a:spcPct val="150000"/>
              </a:lnSpc>
            </a:pPr>
            <a:r>
              <a:rPr lang="nn-NO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 i&lt;=</a:t>
            </a:r>
            <a:r>
              <a:rPr lang="nn-NO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nn-NO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nn-NO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term = </a:t>
            </a:r>
            <a:r>
              <a:rPr lang="nn-NO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1/i</a:t>
            </a:r>
            <a:endParaRPr lang="nn-NO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nn-NO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sum=sum +term</a:t>
            </a:r>
          </a:p>
          <a:p>
            <a:pPr>
              <a:lnSpc>
                <a:spcPct val="150000"/>
              </a:lnSpc>
            </a:pPr>
            <a:r>
              <a:rPr lang="nn-NO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=i+1</a:t>
            </a:r>
            <a:endParaRPr lang="nn-NO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5591944" y="4365104"/>
            <a:ext cx="0" cy="184724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右大括号 8">
            <a:extLst>
              <a:ext uri="{FF2B5EF4-FFF2-40B4-BE49-F238E27FC236}">
                <a16:creationId xmlns:a16="http://schemas.microsoft.com/office/drawing/2014/main" id="{6114B49B-B95B-4094-A192-65A9F2C966C9}"/>
              </a:ext>
            </a:extLst>
          </p:cNvPr>
          <p:cNvSpPr/>
          <p:nvPr/>
        </p:nvSpPr>
        <p:spPr>
          <a:xfrm>
            <a:off x="3380763" y="5134062"/>
            <a:ext cx="92279" cy="74662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89EF03D-66BA-4005-9F04-7565BC6EE6A8}"/>
              </a:ext>
            </a:extLst>
          </p:cNvPr>
          <p:cNvSpPr txBox="1"/>
          <p:nvPr/>
        </p:nvSpPr>
        <p:spPr>
          <a:xfrm>
            <a:off x="3567519" y="5295162"/>
            <a:ext cx="20489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sum = sum + </a:t>
            </a:r>
            <a:r>
              <a:rPr lang="en-US" altLang="zh-CN" sz="2000" b="1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endParaRPr lang="zh-CN" altLang="en-US" sz="20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右大括号 11">
            <a:extLst>
              <a:ext uri="{FF2B5EF4-FFF2-40B4-BE49-F238E27FC236}">
                <a16:creationId xmlns:a16="http://schemas.microsoft.com/office/drawing/2014/main" id="{08AEB6A1-271D-4828-A18A-E25036042FF6}"/>
              </a:ext>
            </a:extLst>
          </p:cNvPr>
          <p:cNvSpPr/>
          <p:nvPr/>
        </p:nvSpPr>
        <p:spPr>
          <a:xfrm>
            <a:off x="9118085" y="5114434"/>
            <a:ext cx="92279" cy="74662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CF2641E-3E03-4BC1-8531-A889103BB3B7}"/>
              </a:ext>
            </a:extLst>
          </p:cNvPr>
          <p:cNvSpPr txBox="1"/>
          <p:nvPr/>
        </p:nvSpPr>
        <p:spPr>
          <a:xfrm>
            <a:off x="9304841" y="5275534"/>
            <a:ext cx="23294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sum = sum + 1/</a:t>
            </a:r>
            <a:r>
              <a:rPr lang="en-US" altLang="zh-CN" sz="2000" b="1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endParaRPr lang="zh-CN" altLang="en-US" sz="20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8224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54790-AC9C-4CC1-9CCB-14F41907C59E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-21113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zh-CN" altLang="en-US" b="1" dirty="0">
                <a:solidFill>
                  <a:schemeClr val="accent5"/>
                </a:solidFill>
              </a:rPr>
              <a:t>累加法</a:t>
            </a:r>
          </a:p>
        </p:txBody>
      </p:sp>
      <p:sp>
        <p:nvSpPr>
          <p:cNvPr id="5" name="矩形 4"/>
          <p:cNvSpPr/>
          <p:nvPr/>
        </p:nvSpPr>
        <p:spPr>
          <a:xfrm>
            <a:off x="5627" y="891811"/>
            <a:ext cx="10387182" cy="22266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405138" y="1129992"/>
            <a:ext cx="3216603" cy="949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dirty="0">
                <a:hlinkClick r:id="rId2" action="ppaction://hlinksldjump"/>
              </a:rPr>
              <a:t>累加项</a:t>
            </a:r>
            <a:r>
              <a:rPr lang="zh-CN" altLang="en-US">
                <a:hlinkClick r:id="rId2" action="ppaction://hlinksldjump"/>
              </a:rPr>
              <a:t>符号反转</a:t>
            </a:r>
            <a:endParaRPr lang="en-US" altLang="zh-CN" dirty="0"/>
          </a:p>
        </p:txBody>
      </p:sp>
      <p:sp>
        <p:nvSpPr>
          <p:cNvPr id="10" name="矩形 9"/>
          <p:cNvSpPr/>
          <p:nvPr/>
        </p:nvSpPr>
        <p:spPr>
          <a:xfrm>
            <a:off x="584762" y="2811387"/>
            <a:ext cx="4051109" cy="738664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求：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1-3+5-7...-99+101</a:t>
            </a:r>
          </a:p>
        </p:txBody>
      </p:sp>
      <p:sp>
        <p:nvSpPr>
          <p:cNvPr id="11" name="矩形 10"/>
          <p:cNvSpPr/>
          <p:nvPr/>
        </p:nvSpPr>
        <p:spPr>
          <a:xfrm>
            <a:off x="5440261" y="1232344"/>
            <a:ext cx="2895421" cy="50783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nn-NO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sign=1</a:t>
            </a:r>
          </a:p>
          <a:p>
            <a:pPr>
              <a:lnSpc>
                <a:spcPct val="150000"/>
              </a:lnSpc>
            </a:pPr>
            <a:r>
              <a:rPr lang="nn-NO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nn-NO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=1</a:t>
            </a:r>
          </a:p>
          <a:p>
            <a:pPr>
              <a:lnSpc>
                <a:spcPct val="150000"/>
              </a:lnSpc>
            </a:pPr>
            <a:r>
              <a:rPr lang="nn-NO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term=1</a:t>
            </a:r>
          </a:p>
          <a:p>
            <a:pPr>
              <a:lnSpc>
                <a:spcPct val="150000"/>
              </a:lnSpc>
            </a:pPr>
            <a:r>
              <a:rPr lang="nn-NO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 </a:t>
            </a:r>
            <a:r>
              <a:rPr lang="nn-NO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nn-NO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&lt;=101:</a:t>
            </a:r>
          </a:p>
          <a:p>
            <a:pPr>
              <a:lnSpc>
                <a:spcPct val="150000"/>
              </a:lnSpc>
            </a:pPr>
            <a:r>
              <a:rPr lang="nn-NO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</a:p>
          <a:p>
            <a:pPr>
              <a:lnSpc>
                <a:spcPct val="150000"/>
              </a:lnSpc>
            </a:pPr>
            <a:endParaRPr lang="nn-NO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nn-NO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nn-NO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nn-NO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03365" y="4269596"/>
            <a:ext cx="2324847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nn-NO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nn-NO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+=2</a:t>
            </a:r>
          </a:p>
          <a:p>
            <a:pPr>
              <a:lnSpc>
                <a:spcPct val="150000"/>
              </a:lnSpc>
            </a:pPr>
            <a:r>
              <a:rPr lang="nn-NO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sign=-sign</a:t>
            </a:r>
          </a:p>
          <a:p>
            <a:pPr>
              <a:lnSpc>
                <a:spcPct val="150000"/>
              </a:lnSpc>
            </a:pPr>
            <a:r>
              <a:rPr lang="nn-NO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term =</a:t>
            </a:r>
            <a:r>
              <a:rPr lang="nn-NO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sign</a:t>
            </a:r>
            <a:r>
              <a:rPr lang="nn-NO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 </a:t>
            </a:r>
            <a:r>
              <a:rPr lang="nn-NO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endParaRPr lang="nn-NO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973483" y="3688539"/>
            <a:ext cx="2354729" cy="5810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nn-NO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sum += term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9413103" y="3779012"/>
            <a:ext cx="12191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累加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9197788" y="4947578"/>
            <a:ext cx="2635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求下一个累加项</a:t>
            </a:r>
          </a:p>
        </p:txBody>
      </p:sp>
      <p:cxnSp>
        <p:nvCxnSpPr>
          <p:cNvPr id="19" name="直接箭头连接符 18"/>
          <p:cNvCxnSpPr/>
          <p:nvPr/>
        </p:nvCxnSpPr>
        <p:spPr>
          <a:xfrm flipH="1">
            <a:off x="8335682" y="4035246"/>
            <a:ext cx="941295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H="1">
            <a:off x="8328212" y="5200152"/>
            <a:ext cx="941295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453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7" grpId="0" animBg="1"/>
      <p:bldP spid="9" grpId="0" animBg="1"/>
      <p:bldP spid="15" grpId="0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标题 197633"/>
          <p:cNvSpPr>
            <a:spLocks noGrp="1"/>
          </p:cNvSpPr>
          <p:nvPr>
            <p:ph type="title"/>
          </p:nvPr>
        </p:nvSpPr>
        <p:spPr>
          <a:xfrm>
            <a:off x="561561" y="283093"/>
            <a:ext cx="10788926" cy="641527"/>
          </a:xfrm>
        </p:spPr>
        <p:txBody>
          <a:bodyPr anchor="b">
            <a:noAutofit/>
          </a:bodyPr>
          <a:lstStyle/>
          <a:p>
            <a:pPr algn="l"/>
            <a:r>
              <a:rPr lang="zh-CN" altLang="en-US" sz="2800" dirty="0">
                <a:latin typeface="+mn-ea"/>
                <a:ea typeface="+mn-ea"/>
              </a:rPr>
              <a:t>例</a:t>
            </a:r>
            <a:r>
              <a:rPr lang="en-US" altLang="zh-CN" sz="2800" dirty="0">
                <a:latin typeface="+mn-ea"/>
                <a:ea typeface="+mn-ea"/>
              </a:rPr>
              <a:t>. </a:t>
            </a:r>
            <a:r>
              <a:rPr lang="zh-CN" altLang="en-US" sz="2800" dirty="0">
                <a:latin typeface="+mn-ea"/>
                <a:ea typeface="+mn-ea"/>
              </a:rPr>
              <a:t>求</a:t>
            </a:r>
            <a:r>
              <a:rPr lang="zh-CN" altLang="en-US" sz="2800" dirty="0">
                <a:latin typeface="+mn-ea"/>
                <a:ea typeface="+mn-ea"/>
                <a:cs typeface="Arial" charset="0"/>
              </a:rPr>
              <a:t>π的</a:t>
            </a:r>
            <a:r>
              <a:rPr lang="zh-CN" altLang="en-US" sz="2800" dirty="0">
                <a:latin typeface="+mn-ea"/>
                <a:ea typeface="+mn-ea"/>
                <a:sym typeface="+mn-ea"/>
              </a:rPr>
              <a:t>近似值，精确到累加的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最后一项之后的绝对值都小于</a:t>
            </a:r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</a:t>
            </a:r>
            <a:r>
              <a:rPr lang="en-US" altLang="zh-CN" sz="2800" b="1" baseline="30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-6</a:t>
            </a:r>
            <a:r>
              <a:rPr lang="zh-CN" altLang="en-US" sz="2800" dirty="0">
                <a:latin typeface="+mn-ea"/>
                <a:ea typeface="+mn-ea"/>
                <a:sym typeface="+mn-ea"/>
              </a:rPr>
              <a:t>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1561" y="1146072"/>
            <a:ext cx="9867697" cy="5576992"/>
          </a:xfrm>
        </p:spPr>
        <p:txBody>
          <a:bodyPr>
            <a:noAutofit/>
          </a:bodyPr>
          <a:lstStyle/>
          <a:p>
            <a:pPr>
              <a:lnSpc>
                <a:spcPts val="2880"/>
              </a:lnSpc>
            </a:pPr>
            <a:r>
              <a:rPr lang="zh-CN" altLang="en-US" dirty="0">
                <a:sym typeface="+mn-ea"/>
              </a:rPr>
              <a:t>计算公式：</a:t>
            </a:r>
          </a:p>
          <a:p>
            <a:pPr>
              <a:lnSpc>
                <a:spcPct val="10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sym typeface="+mn-ea"/>
              </a:rPr>
              <a:t>变量设定：</a:t>
            </a:r>
          </a:p>
          <a:p>
            <a:pPr lvl="1" algn="l">
              <a:lnSpc>
                <a:spcPct val="100000"/>
              </a:lnSpc>
            </a:pPr>
            <a:r>
              <a:rPr lang="zh-CN" altLang="en-US" dirty="0">
                <a:latin typeface="+mn-ea"/>
                <a:sym typeface="+mn-ea"/>
              </a:rPr>
              <a:t>累加和：</a:t>
            </a:r>
            <a:r>
              <a:rPr lang="zh-CN" altLang="en-US" dirty="0">
                <a:latin typeface="+mj-ea"/>
                <a:ea typeface="+mj-ea"/>
                <a:sym typeface="+mn-ea"/>
              </a:rPr>
              <a:t>sum</a:t>
            </a:r>
            <a:endParaRPr lang="zh-CN" altLang="en-US" dirty="0">
              <a:latin typeface="+mj-ea"/>
              <a:ea typeface="+mj-ea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+mn-ea"/>
                <a:sym typeface="+mn-ea"/>
              </a:rPr>
              <a:t>累加项：</a:t>
            </a:r>
            <a:r>
              <a:rPr lang="en-US" altLang="zh-CN" dirty="0">
                <a:latin typeface="+mj-ea"/>
                <a:ea typeface="+mj-ea"/>
                <a:sym typeface="+mn-ea"/>
              </a:rPr>
              <a:t>term, s, </a:t>
            </a:r>
            <a:r>
              <a:rPr lang="en-US" altLang="zh-CN" dirty="0" err="1">
                <a:latin typeface="+mj-ea"/>
                <a:ea typeface="+mj-ea"/>
                <a:sym typeface="+mn-ea"/>
              </a:rPr>
              <a:t>i</a:t>
            </a:r>
            <a:r>
              <a:rPr lang="zh-CN" altLang="en-US" dirty="0">
                <a:latin typeface="+mj-ea"/>
                <a:ea typeface="+mj-ea"/>
                <a:sym typeface="+mn-ea"/>
              </a:rPr>
              <a:t>；</a:t>
            </a:r>
            <a:r>
              <a:rPr lang="en-US" altLang="zh-CN" dirty="0">
                <a:latin typeface="+mj-ea"/>
                <a:ea typeface="+mj-ea"/>
                <a:sym typeface="+mn-ea"/>
              </a:rPr>
              <a:t>          </a:t>
            </a:r>
            <a:r>
              <a:rPr lang="zh-CN" altLang="en-US" dirty="0">
                <a:latin typeface="+mj-ea"/>
                <a:ea typeface="+mj-ea"/>
                <a:sym typeface="+mn-ea"/>
              </a:rPr>
              <a:t>分子</a:t>
            </a:r>
            <a:r>
              <a:rPr lang="en-US" altLang="zh-CN" dirty="0">
                <a:latin typeface="+mj-ea"/>
                <a:ea typeface="+mj-ea"/>
                <a:sym typeface="+mn-ea"/>
              </a:rPr>
              <a:t>s, </a:t>
            </a:r>
            <a:r>
              <a:rPr lang="zh-CN" altLang="en-US" dirty="0">
                <a:latin typeface="+mj-ea"/>
                <a:ea typeface="+mj-ea"/>
                <a:sym typeface="+mn-ea"/>
              </a:rPr>
              <a:t>分母</a:t>
            </a:r>
            <a:r>
              <a:rPr lang="en-US" altLang="zh-CN" dirty="0" err="1">
                <a:latin typeface="+mj-ea"/>
                <a:ea typeface="+mj-ea"/>
                <a:sym typeface="+mn-ea"/>
              </a:rPr>
              <a:t>i</a:t>
            </a:r>
            <a:r>
              <a:rPr lang="zh-CN" altLang="en-US" dirty="0">
                <a:latin typeface="+mj-ea"/>
                <a:ea typeface="+mj-ea"/>
                <a:sym typeface="+mn-ea"/>
              </a:rPr>
              <a:t>，项</a:t>
            </a:r>
            <a:r>
              <a:rPr lang="en-US" altLang="zh-CN" dirty="0">
                <a:latin typeface="+mj-ea"/>
                <a:ea typeface="+mj-ea"/>
                <a:sym typeface="+mn-ea"/>
              </a:rPr>
              <a:t>term = s / </a:t>
            </a:r>
            <a:r>
              <a:rPr lang="en-US" altLang="zh-CN" dirty="0" err="1">
                <a:latin typeface="+mj-ea"/>
                <a:ea typeface="+mj-ea"/>
                <a:sym typeface="+mn-ea"/>
              </a:rPr>
              <a:t>i</a:t>
            </a:r>
            <a:r>
              <a:rPr lang="en-US" altLang="zh-CN" dirty="0">
                <a:latin typeface="+mj-ea"/>
                <a:ea typeface="+mj-ea"/>
                <a:sym typeface="+mn-ea"/>
              </a:rPr>
              <a:t>  </a:t>
            </a:r>
            <a:r>
              <a:rPr lang="en-US" altLang="zh-CN" dirty="0">
                <a:latin typeface="+mn-ea"/>
                <a:sym typeface="+mn-ea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sym typeface="+mn-ea"/>
              </a:rPr>
              <a:t>循环初始化</a:t>
            </a:r>
            <a:r>
              <a:rPr lang="zh-CN" altLang="en-US" sz="2400" dirty="0">
                <a:latin typeface="+mn-ea"/>
                <a:sym typeface="+mn-ea"/>
              </a:rPr>
              <a:t>：</a:t>
            </a:r>
            <a:r>
              <a:rPr lang="en-US" altLang="zh-CN" sz="2400" dirty="0">
                <a:latin typeface="+mj-ea"/>
                <a:ea typeface="+mj-ea"/>
                <a:sym typeface="+mn-ea"/>
              </a:rPr>
              <a:t>sum = 0, term =1, s=1, i=1</a:t>
            </a:r>
            <a:endParaRPr lang="en-US" altLang="zh-CN" sz="2400" dirty="0">
              <a:latin typeface="+mj-ea"/>
              <a:ea typeface="+mj-ea"/>
            </a:endParaRPr>
          </a:p>
          <a:p>
            <a:pPr>
              <a:lnSpc>
                <a:spcPct val="10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sym typeface="+mn-ea"/>
              </a:rPr>
              <a:t>循环条件</a:t>
            </a:r>
            <a:r>
              <a:rPr lang="zh-CN" altLang="en-US" sz="2400" dirty="0">
                <a:latin typeface="+mn-ea"/>
                <a:sym typeface="Wingdings" pitchFamily="2" charset="2"/>
              </a:rPr>
              <a:t>：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itchFamily="2" charset="2"/>
              </a:rPr>
              <a:t>(|term|&gt;=10</a:t>
            </a:r>
            <a:r>
              <a:rPr lang="en-US" altLang="zh-CN" sz="2000" b="1" baseline="30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itchFamily="2" charset="2"/>
              </a:rPr>
              <a:t>-6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itchFamily="2" charset="2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sym typeface="Wingdings" pitchFamily="2" charset="2"/>
              </a:rPr>
              <a:t>循环体</a:t>
            </a:r>
            <a:r>
              <a:rPr lang="zh-CN" altLang="en-US" sz="2400" dirty="0">
                <a:latin typeface="+mn-ea"/>
                <a:sym typeface="Wingdings" pitchFamily="2" charset="2"/>
              </a:rPr>
              <a:t>：</a:t>
            </a: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+mn-ea"/>
                <a:sym typeface="+mn-ea"/>
              </a:rPr>
              <a:t>累加求和</a:t>
            </a:r>
            <a:r>
              <a:rPr lang="zh-CN" altLang="en-US" sz="2000" dirty="0">
                <a:latin typeface="+mn-ea"/>
                <a:sym typeface="+mn-ea"/>
              </a:rPr>
              <a:t>：</a:t>
            </a:r>
            <a:r>
              <a:rPr lang="en-US" altLang="zh-CN" dirty="0">
                <a:latin typeface="+mj-ea"/>
                <a:ea typeface="+mj-ea"/>
                <a:sym typeface="+mn-ea"/>
              </a:rPr>
              <a:t>sum=</a:t>
            </a:r>
            <a:r>
              <a:rPr lang="en-US" altLang="zh-CN" dirty="0" err="1">
                <a:latin typeface="+mj-ea"/>
                <a:ea typeface="+mj-ea"/>
                <a:sym typeface="+mn-ea"/>
              </a:rPr>
              <a:t>sum+term</a:t>
            </a:r>
            <a:endParaRPr lang="en-US" altLang="zh-CN" dirty="0">
              <a:latin typeface="+mj-ea"/>
              <a:ea typeface="+mj-ea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+mn-ea"/>
                <a:sym typeface="+mn-ea"/>
              </a:rPr>
              <a:t>下一项</a:t>
            </a:r>
            <a:r>
              <a:rPr lang="zh-CN" altLang="en-US" sz="2000" dirty="0">
                <a:latin typeface="+mn-ea"/>
                <a:sym typeface="+mn-ea"/>
              </a:rPr>
              <a:t>：</a:t>
            </a:r>
            <a:endParaRPr lang="en-US" altLang="zh-CN" sz="2000" dirty="0">
              <a:latin typeface="+mn-ea"/>
              <a:sym typeface="+mn-ea"/>
            </a:endParaRPr>
          </a:p>
          <a:p>
            <a:pPr marL="344488" lvl="1" indent="0">
              <a:lnSpc>
                <a:spcPct val="100000"/>
              </a:lnSpc>
              <a:buNone/>
            </a:pPr>
            <a:r>
              <a:rPr lang="en-US" altLang="zh-CN" sz="2000" dirty="0">
                <a:latin typeface="+mn-ea"/>
                <a:sym typeface="+mn-ea"/>
              </a:rPr>
              <a:t>		</a:t>
            </a:r>
            <a:r>
              <a:rPr lang="zh-CN" altLang="en-US" dirty="0">
                <a:latin typeface="+mj-ea"/>
                <a:ea typeface="+mj-ea"/>
                <a:sym typeface="+mn-ea"/>
              </a:rPr>
              <a:t>分母</a:t>
            </a:r>
            <a:r>
              <a:rPr lang="en-US" altLang="zh-CN" dirty="0">
                <a:latin typeface="+mj-ea"/>
                <a:ea typeface="+mj-ea"/>
                <a:sym typeface="+mn-ea"/>
              </a:rPr>
              <a:t>i</a:t>
            </a:r>
            <a:r>
              <a:rPr lang="zh-CN" altLang="en-US" dirty="0">
                <a:latin typeface="+mj-ea"/>
                <a:ea typeface="+mj-ea"/>
                <a:sym typeface="+mn-ea"/>
              </a:rPr>
              <a:t>加</a:t>
            </a:r>
            <a:r>
              <a:rPr lang="en-US" altLang="zh-CN" dirty="0">
                <a:latin typeface="+mj-ea"/>
                <a:ea typeface="+mj-ea"/>
                <a:sym typeface="+mn-ea"/>
              </a:rPr>
              <a:t>2</a:t>
            </a:r>
          </a:p>
          <a:p>
            <a:pPr marL="344488" lvl="1" indent="0">
              <a:lnSpc>
                <a:spcPct val="100000"/>
              </a:lnSpc>
              <a:buNone/>
            </a:pPr>
            <a:r>
              <a:rPr lang="en-US" altLang="zh-CN" dirty="0">
                <a:latin typeface="+mj-ea"/>
                <a:ea typeface="+mj-ea"/>
                <a:sym typeface="+mn-ea"/>
              </a:rPr>
              <a:t>		</a:t>
            </a:r>
            <a:r>
              <a:rPr lang="zh-CN" altLang="en-US" dirty="0">
                <a:latin typeface="+mj-ea"/>
                <a:ea typeface="+mj-ea"/>
                <a:sym typeface="+mn-ea"/>
              </a:rPr>
              <a:t>分子控制符号正负反转</a:t>
            </a:r>
            <a:r>
              <a:rPr lang="en-US" altLang="zh-CN" dirty="0">
                <a:latin typeface="+mj-ea"/>
                <a:ea typeface="+mj-ea"/>
                <a:sym typeface="+mn-ea"/>
              </a:rPr>
              <a:t>: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s=-s</a:t>
            </a:r>
          </a:p>
          <a:p>
            <a:pPr marL="344488" lvl="1" indent="0">
              <a:lnSpc>
                <a:spcPct val="100000"/>
              </a:lnSpc>
              <a:buNone/>
            </a:pPr>
            <a:r>
              <a:rPr lang="en-US" altLang="zh-CN" dirty="0">
                <a:latin typeface="+mj-ea"/>
                <a:ea typeface="+mj-ea"/>
                <a:sym typeface="+mn-ea"/>
              </a:rPr>
              <a:t>		term=s/i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534400" y="6357939"/>
            <a:ext cx="2133600" cy="365125"/>
          </a:xfrm>
          <a:prstGeom prst="rect">
            <a:avLst/>
          </a:prstGeom>
        </p:spPr>
        <p:txBody>
          <a:bodyPr/>
          <a:lstStyle/>
          <a:p>
            <a:fld id="{D0354790-AC9C-4CC1-9CCB-14F41907C59E}" type="slidenum">
              <a:rPr lang="zh-CN" altLang="en-US" smtClean="0"/>
              <a:t>19</a:t>
            </a:fld>
            <a:endParaRPr lang="zh-CN" altLang="en-US"/>
          </a:p>
        </p:txBody>
      </p:sp>
      <p:graphicFrame>
        <p:nvGraphicFramePr>
          <p:cNvPr id="236548" name="对象 236547"/>
          <p:cNvGraphicFramePr/>
          <p:nvPr/>
        </p:nvGraphicFramePr>
        <p:xfrm>
          <a:off x="2633251" y="1030352"/>
          <a:ext cx="2771358" cy="6541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" r:id="rId3" imgW="1371600" imgH="393700" progId="Equation.3">
                  <p:embed/>
                </p:oleObj>
              </mc:Choice>
              <mc:Fallback>
                <p:oleObj r:id="rId3" imgW="1371600" imgH="393700" progId="Equation.3">
                  <p:embed/>
                  <p:pic>
                    <p:nvPicPr>
                      <p:cNvPr id="236548" name="对象 23654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33251" y="1030352"/>
                        <a:ext cx="2771358" cy="654149"/>
                      </a:xfrm>
                      <a:prstGeom prst="rect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1702" y="4292857"/>
            <a:ext cx="3036297" cy="219801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153968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36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 bwMode="auto">
          <a:xfrm>
            <a:off x="2832676" y="3855533"/>
            <a:ext cx="2536437" cy="16451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97635" name="内容占位符 197634"/>
          <p:cNvSpPr>
            <a:spLocks noGrp="1"/>
          </p:cNvSpPr>
          <p:nvPr>
            <p:ph idx="1"/>
          </p:nvPr>
        </p:nvSpPr>
        <p:spPr>
          <a:xfrm>
            <a:off x="2305961" y="2153209"/>
            <a:ext cx="8135536" cy="4387292"/>
          </a:xfrm>
        </p:spPr>
        <p:txBody>
          <a:bodyPr>
            <a:noAutofit/>
          </a:bodyPr>
          <a:lstStyle/>
          <a:p>
            <a:pPr>
              <a:lnSpc>
                <a:spcPts val="33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import math</a:t>
            </a:r>
          </a:p>
          <a:p>
            <a:pPr>
              <a:lnSpc>
                <a:spcPts val="33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sum=0</a:t>
            </a:r>
          </a:p>
          <a:p>
            <a:pPr>
              <a:lnSpc>
                <a:spcPts val="3300"/>
              </a:lnSpc>
              <a:spcBef>
                <a:spcPts val="0"/>
              </a:spcBef>
              <a:buNone/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=1;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s=1; term=1</a:t>
            </a:r>
          </a:p>
          <a:p>
            <a:pPr>
              <a:lnSpc>
                <a:spcPts val="33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while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math.fabs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(term)&gt;0.000001:       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</a:t>
            </a:r>
            <a:r>
              <a:rPr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循环条件</a:t>
            </a:r>
          </a:p>
          <a:p>
            <a:pPr>
              <a:lnSpc>
                <a:spcPts val="33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sum=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sum+term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		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</a:t>
            </a:r>
            <a:r>
              <a:rPr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累加</a:t>
            </a:r>
          </a:p>
          <a:p>
            <a:pPr>
              <a:lnSpc>
                <a:spcPts val="33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=i+2					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</a:t>
            </a:r>
            <a:r>
              <a:rPr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改变分母</a:t>
            </a:r>
          </a:p>
          <a:p>
            <a:pPr>
              <a:lnSpc>
                <a:spcPts val="33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s=-s					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</a:t>
            </a:r>
            <a:r>
              <a:rPr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符号翻转</a:t>
            </a:r>
          </a:p>
          <a:p>
            <a:pPr>
              <a:lnSpc>
                <a:spcPts val="33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term=s/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				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</a:t>
            </a:r>
            <a:r>
              <a:rPr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求得新的一项</a:t>
            </a:r>
          </a:p>
          <a:p>
            <a:pPr>
              <a:lnSpc>
                <a:spcPts val="3300"/>
              </a:lnSpc>
              <a:spcBef>
                <a:spcPts val="0"/>
              </a:spcBef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ts val="33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print(sum*4)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534400" y="6357939"/>
            <a:ext cx="2133600" cy="365125"/>
          </a:xfrm>
          <a:prstGeom prst="rect">
            <a:avLst/>
          </a:prstGeom>
        </p:spPr>
        <p:txBody>
          <a:bodyPr/>
          <a:lstStyle/>
          <a:p>
            <a:fld id="{D0354790-AC9C-4CC1-9CCB-14F41907C59E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7" name="标题 197633"/>
          <p:cNvSpPr txBox="1">
            <a:spLocks/>
          </p:cNvSpPr>
          <p:nvPr/>
        </p:nvSpPr>
        <p:spPr bwMode="auto">
          <a:xfrm>
            <a:off x="60384" y="1656400"/>
            <a:ext cx="2145921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>
            <a:lvl1pPr marL="685800" indent="-685800"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+mj-lt"/>
                <a:ea typeface="+mj-ea"/>
                <a:cs typeface="+mj-cs"/>
                <a:sym typeface="Calibri" pitchFamily="34" charset="0"/>
              </a:defRPr>
            </a:lvl1pPr>
            <a:lvl2pPr marL="685800" indent="-685800"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黑体" pitchFamily="49" charset="-122"/>
                <a:ea typeface="黑体" pitchFamily="49" charset="-122"/>
                <a:sym typeface="Calibri" pitchFamily="34" charset="0"/>
              </a:defRPr>
            </a:lvl2pPr>
            <a:lvl3pPr marL="685800" indent="-685800"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黑体" pitchFamily="49" charset="-122"/>
                <a:ea typeface="黑体" pitchFamily="49" charset="-122"/>
                <a:sym typeface="Calibri" pitchFamily="34" charset="0"/>
              </a:defRPr>
            </a:lvl3pPr>
            <a:lvl4pPr marL="685800" indent="-685800"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黑体" pitchFamily="49" charset="-122"/>
                <a:ea typeface="黑体" pitchFamily="49" charset="-122"/>
                <a:sym typeface="Calibri" pitchFamily="34" charset="0"/>
              </a:defRPr>
            </a:lvl4pPr>
            <a:lvl5pPr marL="685800" indent="-685800"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黑体" pitchFamily="49" charset="-122"/>
                <a:ea typeface="黑体" pitchFamily="49" charset="-122"/>
                <a:sym typeface="Calibri" pitchFamily="34" charset="0"/>
              </a:defRPr>
            </a:lvl5pPr>
            <a:lvl6pPr marL="1143000" indent="-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黑体" pitchFamily="49" charset="-122"/>
                <a:ea typeface="黑体" pitchFamily="49" charset="-122"/>
                <a:sym typeface="Calibri" pitchFamily="34" charset="0"/>
              </a:defRPr>
            </a:lvl6pPr>
            <a:lvl7pPr marL="1600200" indent="-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黑体" pitchFamily="49" charset="-122"/>
                <a:ea typeface="黑体" pitchFamily="49" charset="-122"/>
                <a:sym typeface="Calibri" pitchFamily="34" charset="0"/>
              </a:defRPr>
            </a:lvl7pPr>
            <a:lvl8pPr marL="2057400" indent="-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黑体" pitchFamily="49" charset="-122"/>
                <a:ea typeface="黑体" pitchFamily="49" charset="-122"/>
                <a:sym typeface="Calibri" pitchFamily="34" charset="0"/>
              </a:defRPr>
            </a:lvl8pPr>
            <a:lvl9pPr marL="2514600" indent="-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黑体" pitchFamily="49" charset="-122"/>
                <a:ea typeface="黑体" pitchFamily="49" charset="-122"/>
                <a:sym typeface="Calibri" pitchFamily="34" charset="0"/>
              </a:defRPr>
            </a:lvl9pPr>
          </a:lstStyle>
          <a:p>
            <a:r>
              <a:rPr lang="zh-CN" altLang="en-US" sz="2800" kern="0" dirty="0"/>
              <a:t>完整源程序</a:t>
            </a:r>
          </a:p>
        </p:txBody>
      </p:sp>
      <p:sp>
        <p:nvSpPr>
          <p:cNvPr id="6" name="标题 197633">
            <a:extLst>
              <a:ext uri="{FF2B5EF4-FFF2-40B4-BE49-F238E27FC236}">
                <a16:creationId xmlns:a16="http://schemas.microsoft.com/office/drawing/2014/main" id="{6B9502C9-8565-44AA-BB5C-49F3BDEA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561" y="283093"/>
            <a:ext cx="10788926" cy="641527"/>
          </a:xfrm>
        </p:spPr>
        <p:txBody>
          <a:bodyPr anchor="b">
            <a:noAutofit/>
          </a:bodyPr>
          <a:lstStyle/>
          <a:p>
            <a:pPr algn="l"/>
            <a:r>
              <a:rPr lang="zh-CN" altLang="en-US" sz="2800" dirty="0">
                <a:latin typeface="+mn-ea"/>
                <a:ea typeface="+mn-ea"/>
              </a:rPr>
              <a:t>例</a:t>
            </a:r>
            <a:r>
              <a:rPr lang="en-US" altLang="zh-CN" sz="2800" dirty="0">
                <a:latin typeface="+mn-ea"/>
                <a:ea typeface="+mn-ea"/>
              </a:rPr>
              <a:t>. </a:t>
            </a:r>
            <a:r>
              <a:rPr lang="zh-CN" altLang="en-US" sz="2800" dirty="0">
                <a:latin typeface="+mn-ea"/>
                <a:ea typeface="+mn-ea"/>
              </a:rPr>
              <a:t>求</a:t>
            </a:r>
            <a:r>
              <a:rPr lang="zh-CN" altLang="en-US" sz="2800" dirty="0">
                <a:latin typeface="+mn-ea"/>
                <a:ea typeface="+mn-ea"/>
                <a:cs typeface="Arial" charset="0"/>
              </a:rPr>
              <a:t>π的</a:t>
            </a:r>
            <a:r>
              <a:rPr lang="zh-CN" altLang="en-US" sz="2800" dirty="0">
                <a:latin typeface="+mn-ea"/>
                <a:ea typeface="+mn-ea"/>
                <a:sym typeface="+mn-ea"/>
              </a:rPr>
              <a:t>近似值，精确到累加的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最后一项之后的绝对值都小于</a:t>
            </a:r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</a:t>
            </a:r>
            <a:r>
              <a:rPr lang="en-US" altLang="zh-CN" sz="2800" b="1" baseline="30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-6</a:t>
            </a:r>
            <a:r>
              <a:rPr lang="zh-CN" altLang="en-US" sz="2800" dirty="0">
                <a:latin typeface="+mn-ea"/>
                <a:ea typeface="+mn-ea"/>
                <a:sym typeface="+mn-ea"/>
              </a:rPr>
              <a:t>。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A596DBD-C879-4F6B-9CE8-6073CEE75C3E}"/>
              </a:ext>
            </a:extLst>
          </p:cNvPr>
          <p:cNvGraphicFramePr/>
          <p:nvPr/>
        </p:nvGraphicFramePr>
        <p:xfrm>
          <a:off x="2633251" y="1030352"/>
          <a:ext cx="2771358" cy="6541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r:id="rId3" imgW="1371600" imgH="393700" progId="Equation.3">
                  <p:embed/>
                </p:oleObj>
              </mc:Choice>
              <mc:Fallback>
                <p:oleObj r:id="rId3" imgW="1371600" imgH="393700" progId="Equation.3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7A596DBD-C879-4F6B-9CE8-6073CEE75C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33251" y="1030352"/>
                        <a:ext cx="2771358" cy="654149"/>
                      </a:xfrm>
                      <a:prstGeom prst="rect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29232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54790-AC9C-4CC1-9CCB-14F41907C59E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148611"/>
            <a:ext cx="10515600" cy="965814"/>
          </a:xfrm>
        </p:spPr>
        <p:txBody>
          <a:bodyPr>
            <a:normAutofit/>
          </a:bodyPr>
          <a:lstStyle/>
          <a:p>
            <a:pPr algn="ctr"/>
            <a:r>
              <a:rPr lang="zh-CN" altLang="en-US" b="1" dirty="0">
                <a:solidFill>
                  <a:schemeClr val="accent5"/>
                </a:solidFill>
              </a:rPr>
              <a:t>累加法</a:t>
            </a:r>
          </a:p>
        </p:txBody>
      </p:sp>
      <p:sp>
        <p:nvSpPr>
          <p:cNvPr id="5" name="矩形 4"/>
          <p:cNvSpPr/>
          <p:nvPr/>
        </p:nvSpPr>
        <p:spPr>
          <a:xfrm>
            <a:off x="5627" y="891811"/>
            <a:ext cx="10387182" cy="22266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148149" y="950396"/>
            <a:ext cx="5259702" cy="907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>
                <a:hlinkClick r:id="rId3" action="ppaction://hlinksldjump"/>
              </a:rPr>
              <a:t>累加</a:t>
            </a:r>
            <a:r>
              <a:rPr lang="zh-CN" altLang="en-US" dirty="0">
                <a:hlinkClick r:id="rId3" action="ppaction://hlinksldjump"/>
              </a:rPr>
              <a:t>项的前后项之间</a:t>
            </a:r>
            <a:r>
              <a:rPr lang="zh-CN" altLang="en-US" dirty="0">
                <a:solidFill>
                  <a:srgbClr val="FF0000"/>
                </a:solidFill>
                <a:hlinkClick r:id="rId3" action="ppaction://hlinksldjump"/>
              </a:rPr>
              <a:t>有关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4714241" y="1519383"/>
            <a:ext cx="7326847" cy="50906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eaLnBrk="0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</a:pPr>
            <a:r>
              <a:rPr lang="en-US" altLang="zh-CN" sz="2400">
                <a:latin typeface="+mn-ea"/>
              </a:rPr>
              <a:t>from math import *</a:t>
            </a:r>
          </a:p>
          <a:p>
            <a:pPr eaLnBrk="0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</a:pPr>
            <a:r>
              <a:rPr lang="en-US" altLang="zh-CN" sz="2400">
                <a:latin typeface="+mn-ea"/>
              </a:rPr>
              <a:t>i=1</a:t>
            </a:r>
          </a:p>
          <a:p>
            <a:pPr eaLnBrk="0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</a:pPr>
            <a:r>
              <a:rPr lang="en-US" altLang="zh-CN" sz="2400">
                <a:latin typeface="+mn-ea"/>
              </a:rPr>
              <a:t>x1=int(input())                            </a:t>
            </a:r>
            <a:r>
              <a:rPr lang="en-US" altLang="zh-CN" b="1">
                <a:solidFill>
                  <a:srgbClr val="00B050"/>
                </a:solidFill>
                <a:latin typeface="+mn-ea"/>
              </a:rPr>
              <a:t>#</a:t>
            </a:r>
            <a:r>
              <a:rPr lang="zh-CN" altLang="en-US" b="1">
                <a:solidFill>
                  <a:srgbClr val="00B050"/>
                </a:solidFill>
                <a:latin typeface="+mn-ea"/>
              </a:rPr>
              <a:t>输入一个角度</a:t>
            </a:r>
          </a:p>
          <a:p>
            <a:pPr eaLnBrk="0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</a:pPr>
            <a:r>
              <a:rPr lang="en-US" altLang="zh-CN" sz="2400">
                <a:latin typeface="+mn-ea"/>
              </a:rPr>
              <a:t>x=radians(x1)                             </a:t>
            </a:r>
            <a:r>
              <a:rPr lang="en-US" altLang="zh-CN" b="1">
                <a:solidFill>
                  <a:srgbClr val="00B050"/>
                </a:solidFill>
                <a:latin typeface="+mn-ea"/>
              </a:rPr>
              <a:t>#</a:t>
            </a:r>
            <a:r>
              <a:rPr lang="zh-CN" altLang="en-US" b="1">
                <a:solidFill>
                  <a:srgbClr val="00B050"/>
                </a:solidFill>
                <a:latin typeface="+mn-ea"/>
              </a:rPr>
              <a:t>将角度化为弧度</a:t>
            </a:r>
          </a:p>
          <a:p>
            <a:pPr eaLnBrk="0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</a:pPr>
            <a:r>
              <a:rPr lang="en-US" altLang="zh-CN" sz="2400">
                <a:latin typeface="+mn-ea"/>
              </a:rPr>
              <a:t>s=x</a:t>
            </a:r>
          </a:p>
          <a:p>
            <a:pPr eaLnBrk="0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</a:pPr>
            <a:r>
              <a:rPr lang="en-US" altLang="zh-CN" sz="2400">
                <a:latin typeface="+mn-ea"/>
              </a:rPr>
              <a:t>a=x</a:t>
            </a:r>
          </a:p>
          <a:p>
            <a:pPr ea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</a:pPr>
            <a:r>
              <a:rPr lang="en-US" altLang="zh-CN" sz="2800">
                <a:solidFill>
                  <a:srgbClr val="1717B7"/>
                </a:solidFill>
                <a:latin typeface="+mn-ea"/>
              </a:rPr>
              <a:t>while fabs(term)&gt;=1e-6:</a:t>
            </a:r>
          </a:p>
          <a:p>
            <a:pPr ea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</a:pPr>
            <a:endParaRPr lang="en-US" altLang="zh-CN" sz="2800">
              <a:solidFill>
                <a:srgbClr val="1717B7"/>
              </a:solidFill>
              <a:latin typeface="+mn-ea"/>
            </a:endParaRPr>
          </a:p>
          <a:p>
            <a:pPr ea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</a:pPr>
            <a:endParaRPr lang="en-US" altLang="zh-CN" sz="2800">
              <a:solidFill>
                <a:srgbClr val="1717B7"/>
              </a:solidFill>
              <a:latin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764295" y="4948014"/>
            <a:ext cx="4028140" cy="166199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eaLnBrk="0" hangingPunct="0">
              <a:spcBef>
                <a:spcPts val="1800"/>
              </a:spcBef>
              <a:spcAft>
                <a:spcPct val="0"/>
              </a:spcAft>
              <a:buClr>
                <a:schemeClr val="accent2"/>
              </a:buClr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i+=1</a:t>
            </a:r>
          </a:p>
          <a:p>
            <a:pPr eaLnBrk="0" hangingPunct="0">
              <a:spcBef>
                <a:spcPts val="1800"/>
              </a:spcBef>
              <a:spcAft>
                <a:spcPct val="0"/>
              </a:spcAft>
              <a:buClr>
                <a:schemeClr val="accent2"/>
              </a:buClr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a*=-x*x/(2*i-2)/(2*i-1) </a:t>
            </a:r>
          </a:p>
          <a:p>
            <a:pPr eaLnBrk="0" hangingPunct="0">
              <a:spcBef>
                <a:spcPts val="1800"/>
              </a:spcBef>
              <a:spcAft>
                <a:spcPct val="0"/>
              </a:spcAft>
              <a:buClr>
                <a:schemeClr val="accent2"/>
              </a:buClr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s+=a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752622" y="5556085"/>
            <a:ext cx="1529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求累加项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0870570" y="6325245"/>
            <a:ext cx="12191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累加</a:t>
            </a:r>
          </a:p>
        </p:txBody>
      </p:sp>
      <p:cxnSp>
        <p:nvCxnSpPr>
          <p:cNvPr id="20" name="直接箭头连接符 19"/>
          <p:cNvCxnSpPr/>
          <p:nvPr/>
        </p:nvCxnSpPr>
        <p:spPr>
          <a:xfrm flipH="1">
            <a:off x="9798732" y="5738081"/>
            <a:ext cx="941295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H="1">
            <a:off x="9783792" y="6525300"/>
            <a:ext cx="941295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745" y="1978486"/>
            <a:ext cx="4104173" cy="83210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9665513" y="3939978"/>
            <a:ext cx="211914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</a:pPr>
            <a:r>
              <a:rPr lang="en-US" altLang="zh-CN" b="1">
                <a:solidFill>
                  <a:srgbClr val="00B050"/>
                </a:solidFill>
                <a:latin typeface="+mn-ea"/>
              </a:rPr>
              <a:t>#|a|≥1e-6</a:t>
            </a:r>
            <a:r>
              <a:rPr lang="zh-CN" altLang="en-US" b="1">
                <a:solidFill>
                  <a:srgbClr val="00B050"/>
                </a:solidFill>
                <a:latin typeface="+mn-ea"/>
              </a:rPr>
              <a:t>继续循环，否则退出循环</a:t>
            </a:r>
          </a:p>
        </p:txBody>
      </p:sp>
      <p:sp>
        <p:nvSpPr>
          <p:cNvPr id="22" name="矩形 21"/>
          <p:cNvSpPr/>
          <p:nvPr/>
        </p:nvSpPr>
        <p:spPr>
          <a:xfrm>
            <a:off x="26775" y="3672733"/>
            <a:ext cx="45540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直到最后一项的绝对值小于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CN" sz="2400" baseline="30000">
                <a:latin typeface="微软雅黑" panose="020B0503020204020204" pitchFamily="34" charset="-122"/>
                <a:ea typeface="微软雅黑" panose="020B0503020204020204" pitchFamily="34" charset="-122"/>
              </a:rPr>
              <a:t>-6</a:t>
            </a:r>
            <a:endParaRPr lang="zh-CN" altLang="en-US" sz="2400" baseline="30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148149" y="4739147"/>
          <a:ext cx="4432697" cy="998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8" name="公式" r:id="rId5" imgW="3390840" imgH="685800" progId="Equation.3">
                  <p:embed/>
                </p:oleObj>
              </mc:Choice>
              <mc:Fallback>
                <p:oleObj name="公式" r:id="rId5" imgW="3390840" imgH="685800" progId="Equation.3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149" y="4739147"/>
                        <a:ext cx="4432697" cy="99893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56889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  <p:bldP spid="16" grpId="0"/>
      <p:bldP spid="17" grpId="0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title"/>
          </p:nvPr>
        </p:nvSpPr>
        <p:spPr>
          <a:xfrm>
            <a:off x="1756234" y="330159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+mn-ea"/>
                <a:ea typeface="+mn-ea"/>
              </a:rPr>
              <a:t>while</a:t>
            </a:r>
            <a:r>
              <a:rPr lang="zh-CN" altLang="en-US" dirty="0">
                <a:latin typeface="+mn-ea"/>
                <a:ea typeface="+mn-ea"/>
              </a:rPr>
              <a:t>（</a:t>
            </a:r>
            <a:r>
              <a:rPr lang="zh-CN" altLang="en-US" dirty="0">
                <a:solidFill>
                  <a:srgbClr val="00B050"/>
                </a:solidFill>
                <a:latin typeface="+mn-ea"/>
                <a:ea typeface="+mn-ea"/>
              </a:rPr>
              <a:t>不知循环次数的编程</a:t>
            </a:r>
            <a:r>
              <a:rPr lang="zh-CN" altLang="en-US" dirty="0">
                <a:latin typeface="+mn-ea"/>
                <a:ea typeface="+mn-ea"/>
              </a:rPr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8236" y="1718270"/>
            <a:ext cx="5410856" cy="154242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zh-CN" sz="2400" dirty="0">
                <a:latin typeface="+mn-ea"/>
              </a:rPr>
              <a:t>例</a:t>
            </a:r>
            <a:r>
              <a:rPr lang="en-US" altLang="zh-CN" sz="2400" dirty="0">
                <a:latin typeface="+mn-ea"/>
              </a:rPr>
              <a:t> </a:t>
            </a:r>
            <a:r>
              <a:rPr lang="zh-CN" altLang="zh-CN" sz="2400" dirty="0">
                <a:latin typeface="+mn-ea"/>
              </a:rPr>
              <a:t>求</a:t>
            </a:r>
            <a:r>
              <a:rPr lang="en-US" altLang="zh-CN" sz="2400" dirty="0">
                <a:latin typeface="+mn-ea"/>
              </a:rPr>
              <a:t>1+2+3+…+n</a:t>
            </a:r>
            <a:r>
              <a:rPr lang="zh-CN" altLang="zh-CN" sz="2400" dirty="0">
                <a:latin typeface="+mn-ea"/>
              </a:rPr>
              <a:t>，当</a:t>
            </a:r>
            <a:r>
              <a:rPr lang="zh-CN" altLang="zh-CN" sz="2400" b="1" dirty="0">
                <a:solidFill>
                  <a:srgbClr val="FF0000"/>
                </a:solidFill>
                <a:latin typeface="+mn-ea"/>
              </a:rPr>
              <a:t>和超过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</a:rPr>
              <a:t>98</a:t>
            </a:r>
            <a:r>
              <a:rPr lang="zh-CN" altLang="zh-CN" sz="2400" dirty="0">
                <a:latin typeface="+mn-ea"/>
              </a:rPr>
              <a:t>时，停止求和</a:t>
            </a:r>
            <a:r>
              <a:rPr lang="zh-CN" altLang="en-US" sz="2400" dirty="0">
                <a:latin typeface="+mn-ea"/>
              </a:rPr>
              <a:t>，</a:t>
            </a:r>
            <a:r>
              <a:rPr lang="zh-CN" altLang="zh-CN" sz="2400" dirty="0">
                <a:latin typeface="+mn-ea"/>
              </a:rPr>
              <a:t>输出和以及最后项</a:t>
            </a:r>
            <a:r>
              <a:rPr lang="en-US" altLang="zh-CN" sz="2400" dirty="0">
                <a:latin typeface="+mn-ea"/>
              </a:rPr>
              <a:t> </a:t>
            </a:r>
            <a:r>
              <a:rPr lang="zh-CN" altLang="zh-CN" sz="2400" dirty="0">
                <a:latin typeface="+mn-ea"/>
              </a:rPr>
              <a:t>。</a:t>
            </a:r>
          </a:p>
        </p:txBody>
      </p:sp>
      <p:sp>
        <p:nvSpPr>
          <p:cNvPr id="2" name="矩形 1"/>
          <p:cNvSpPr/>
          <p:nvPr/>
        </p:nvSpPr>
        <p:spPr>
          <a:xfrm>
            <a:off x="6423748" y="1880117"/>
            <a:ext cx="3689290" cy="36323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nn-NO" altLang="zh-CN" sz="2600" dirty="0">
                <a:latin typeface="+mn-ea"/>
              </a:rPr>
              <a:t>sum=0</a:t>
            </a:r>
          </a:p>
          <a:p>
            <a:pPr>
              <a:lnSpc>
                <a:spcPct val="150000"/>
              </a:lnSpc>
              <a:defRPr/>
            </a:pPr>
            <a:r>
              <a:rPr lang="nn-NO" altLang="zh-CN" sz="2600" dirty="0">
                <a:latin typeface="+mn-ea"/>
              </a:rPr>
              <a:t>t</a:t>
            </a:r>
            <a:r>
              <a:rPr lang="en-US" altLang="zh-CN" sz="2600" dirty="0">
                <a:latin typeface="+mn-ea"/>
              </a:rPr>
              <a:t>erm</a:t>
            </a:r>
            <a:r>
              <a:rPr lang="nn-NO" altLang="zh-CN" sz="2600" dirty="0">
                <a:latin typeface="+mn-ea"/>
              </a:rPr>
              <a:t>=0</a:t>
            </a:r>
          </a:p>
          <a:p>
            <a:pPr>
              <a:lnSpc>
                <a:spcPct val="150000"/>
              </a:lnSpc>
              <a:defRPr/>
            </a:pPr>
            <a:r>
              <a:rPr lang="nn-NO" altLang="zh-CN" sz="2600" dirty="0">
                <a:latin typeface="+mn-ea"/>
              </a:rPr>
              <a:t>while sum&lt;=98:</a:t>
            </a:r>
          </a:p>
          <a:p>
            <a:pPr>
              <a:lnSpc>
                <a:spcPct val="150000"/>
              </a:lnSpc>
              <a:defRPr/>
            </a:pPr>
            <a:r>
              <a:rPr lang="nn-NO" altLang="zh-CN" sz="2600" dirty="0">
                <a:latin typeface="+mn-ea"/>
              </a:rPr>
              <a:t>      term+=1</a:t>
            </a:r>
          </a:p>
          <a:p>
            <a:pPr>
              <a:lnSpc>
                <a:spcPct val="150000"/>
              </a:lnSpc>
              <a:defRPr/>
            </a:pPr>
            <a:r>
              <a:rPr lang="nn-NO" altLang="zh-CN" sz="2600" dirty="0">
                <a:latin typeface="+mn-ea"/>
              </a:rPr>
              <a:t>      sum=sum+term</a:t>
            </a:r>
          </a:p>
          <a:p>
            <a:pPr>
              <a:lnSpc>
                <a:spcPct val="150000"/>
              </a:lnSpc>
              <a:defRPr/>
            </a:pPr>
            <a:r>
              <a:rPr lang="nn-NO" altLang="zh-CN" sz="2600" dirty="0">
                <a:latin typeface="+mn-ea"/>
              </a:rPr>
              <a:t>print(sum,term)</a:t>
            </a:r>
            <a:endParaRPr lang="zh-CN" altLang="zh-CN" sz="2600" dirty="0">
              <a:latin typeface="+mn-ea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763547" y="3397236"/>
            <a:ext cx="3848209" cy="125924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5588" algn="l" defTabSz="685800" rtl="0" eaLnBrk="0" fontAlgn="base" hangingPunct="0">
              <a:spcBef>
                <a:spcPct val="15000"/>
              </a:spcBef>
              <a:spcAft>
                <a:spcPct val="0"/>
              </a:spcAft>
              <a:buFont typeface="Arial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itchFamily="34" charset="0"/>
              </a:defRPr>
            </a:lvl1pPr>
            <a:lvl2pPr marL="557213" indent="-212725" algn="l" defTabSz="685800" rtl="0" eaLnBrk="0" fontAlgn="base" hangingPunct="0">
              <a:spcBef>
                <a:spcPct val="15000"/>
              </a:spcBef>
              <a:spcAft>
                <a:spcPct val="0"/>
              </a:spcAft>
              <a:buFont typeface="Arial" charset="0"/>
              <a:buChar char="–"/>
              <a:defRPr sz="21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2pPr>
            <a:lvl3pPr marL="857250" indent="-169863" algn="l" defTabSz="685800" rtl="0" eaLnBrk="0" fontAlgn="base" hangingPunct="0">
              <a:spcBef>
                <a:spcPct val="150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3pPr>
            <a:lvl4pPr marL="1200150" indent="-169863" algn="l" defTabSz="685800" rtl="0" eaLnBrk="0" fontAlgn="base" hangingPunct="0">
              <a:spcBef>
                <a:spcPct val="1500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4pPr>
            <a:lvl5pPr marL="1543050" indent="-169863" algn="l" defTabSz="685800" rtl="0" eaLnBrk="0" fontAlgn="base" hangingPunct="0">
              <a:spcBef>
                <a:spcPct val="15000"/>
              </a:spcBef>
              <a:spcAft>
                <a:spcPct val="0"/>
              </a:spcAft>
              <a:buFont typeface="Arial" charset="0"/>
              <a:buChar char="»"/>
              <a:defRPr sz="15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5pPr>
            <a:lvl6pPr marL="2000250" indent="-169863" algn="l" defTabSz="685800" rtl="0" fontAlgn="base">
              <a:spcBef>
                <a:spcPct val="15000"/>
              </a:spcBef>
              <a:spcAft>
                <a:spcPct val="0"/>
              </a:spcAft>
              <a:buFont typeface="Arial" pitchFamily="34" charset="0"/>
              <a:buChar char="»"/>
              <a:defRPr sz="15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6pPr>
            <a:lvl7pPr marL="2457450" indent="-169863" algn="l" defTabSz="685800" rtl="0" fontAlgn="base">
              <a:spcBef>
                <a:spcPct val="15000"/>
              </a:spcBef>
              <a:spcAft>
                <a:spcPct val="0"/>
              </a:spcAft>
              <a:buFont typeface="Arial" pitchFamily="34" charset="0"/>
              <a:buChar char="»"/>
              <a:defRPr sz="15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7pPr>
            <a:lvl8pPr marL="2914650" indent="-169863" algn="l" defTabSz="685800" rtl="0" fontAlgn="base">
              <a:spcBef>
                <a:spcPct val="15000"/>
              </a:spcBef>
              <a:spcAft>
                <a:spcPct val="0"/>
              </a:spcAft>
              <a:buFont typeface="Arial" pitchFamily="34" charset="0"/>
              <a:buChar char="»"/>
              <a:defRPr sz="15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8pPr>
            <a:lvl9pPr marL="3371850" indent="-169863" algn="l" defTabSz="685800" rtl="0" fontAlgn="base">
              <a:spcBef>
                <a:spcPct val="15000"/>
              </a:spcBef>
              <a:spcAft>
                <a:spcPct val="0"/>
              </a:spcAft>
              <a:buFont typeface="Arial" pitchFamily="34" charset="0"/>
              <a:buChar char="»"/>
              <a:defRPr sz="15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kern="0" dirty="0">
                <a:latin typeface="+mn-ea"/>
              </a:rPr>
              <a:t>循环条件与循环次数无关</a:t>
            </a:r>
            <a:endParaRPr lang="en-US" altLang="zh-CN" kern="0" dirty="0">
              <a:latin typeface="+mn-ea"/>
            </a:endParaRPr>
          </a:p>
          <a:p>
            <a:pPr marL="1587" indent="0"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FF0000"/>
                </a:solidFill>
                <a:latin typeface="+mn-ea"/>
              </a:rPr>
              <a:t>     sum&lt;=98</a:t>
            </a:r>
          </a:p>
        </p:txBody>
      </p:sp>
    </p:spTree>
    <p:extLst>
      <p:ext uri="{BB962C8B-B14F-4D97-AF65-F5344CB8AC3E}">
        <p14:creationId xmlns:p14="http://schemas.microsoft.com/office/powerpoint/2010/main" val="3959023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419284" y="662941"/>
            <a:ext cx="7925188" cy="263683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vert="horz" wrap="square" rtlCol="0" anchor="ctr" anchorCtr="0">
            <a:noAutofit/>
          </a:bodyPr>
          <a:lstStyle/>
          <a:p>
            <a:pPr>
              <a:defRPr/>
            </a:pPr>
            <a:r>
              <a:rPr lang="nn-NO" altLang="zh-CN" sz="2400" b="1" dirty="0">
                <a:latin typeface="+mn-ea"/>
              </a:rPr>
              <a:t>sum=0</a:t>
            </a:r>
          </a:p>
          <a:p>
            <a:pPr>
              <a:defRPr/>
            </a:pPr>
            <a:r>
              <a:rPr lang="nn-NO" altLang="zh-CN" sz="2400" b="1" dirty="0">
                <a:latin typeface="+mn-ea"/>
              </a:rPr>
              <a:t>i=0</a:t>
            </a:r>
          </a:p>
          <a:p>
            <a:pPr>
              <a:defRPr/>
            </a:pPr>
            <a:r>
              <a:rPr lang="nn-NO" altLang="zh-CN" sz="2400" b="1" dirty="0">
                <a:latin typeface="+mn-ea"/>
              </a:rPr>
              <a:t>while sum&lt;=98:</a:t>
            </a:r>
          </a:p>
          <a:p>
            <a:pPr>
              <a:defRPr/>
            </a:pPr>
            <a:r>
              <a:rPr lang="nn-NO" altLang="zh-CN" sz="2400" b="1" dirty="0">
                <a:latin typeface="+mn-ea"/>
              </a:rPr>
              <a:t>    sum=sum+i</a:t>
            </a:r>
          </a:p>
          <a:p>
            <a:pPr>
              <a:defRPr/>
            </a:pPr>
            <a:r>
              <a:rPr lang="nn-NO" altLang="zh-CN" sz="2400" b="1" dirty="0">
                <a:latin typeface="+mn-ea"/>
              </a:rPr>
              <a:t>    i=i+1</a:t>
            </a:r>
          </a:p>
          <a:p>
            <a:pPr>
              <a:defRPr/>
            </a:pPr>
            <a:r>
              <a:rPr lang="nn-NO" altLang="zh-CN" sz="2400" b="1" dirty="0">
                <a:latin typeface="+mn-ea"/>
              </a:rPr>
              <a:t>print(sum,  </a:t>
            </a:r>
            <a:r>
              <a:rPr lang="nn-NO" altLang="zh-CN" sz="2400" b="1" u="sng" dirty="0">
                <a:solidFill>
                  <a:srgbClr val="FF0000"/>
                </a:solidFill>
                <a:latin typeface="+mn-ea"/>
              </a:rPr>
              <a:t>                          </a:t>
            </a:r>
            <a:r>
              <a:rPr lang="nn-NO" altLang="zh-CN" sz="2400" b="1" dirty="0">
                <a:latin typeface="+mn-ea"/>
              </a:rPr>
              <a:t> )</a:t>
            </a:r>
          </a:p>
          <a:p>
            <a:pPr>
              <a:defRPr/>
            </a:pPr>
            <a:r>
              <a:rPr lang="en-US" altLang="zh-CN" sz="2400" b="1" dirty="0">
                <a:latin typeface="+mn-ea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sym typeface="Microsoft Yahei"/>
              </a:rPr>
              <a:t>功能与上题相同，空格处应填什么语句？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3352800" y="3447826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/>
              </a:rPr>
              <a:t>i</a:t>
            </a:r>
            <a:endParaRPr lang="zh-CN" altLang="en-US" sz="2600" dirty="0">
              <a:solidFill>
                <a:srgbClr val="000000"/>
              </a:solidFill>
              <a:latin typeface="+mn-ea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3352800" y="4305076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/>
              </a:rPr>
              <a:t>i+1</a:t>
            </a:r>
            <a:endParaRPr lang="zh-CN" altLang="en-US" sz="2600" dirty="0">
              <a:solidFill>
                <a:srgbClr val="000000"/>
              </a:solidFill>
              <a:latin typeface="+mn-ea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3352800" y="5162326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/>
              </a:rPr>
              <a:t>i-1</a:t>
            </a:r>
            <a:endParaRPr lang="zh-CN" altLang="en-US" sz="2600" dirty="0">
              <a:solidFill>
                <a:srgbClr val="000000"/>
              </a:solidFill>
              <a:latin typeface="+mn-ea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2638425" y="3512119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638425" y="4369369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2638425" y="5226619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9"/>
            </p:custDataLst>
          </p:nvPr>
        </p:nvSpPr>
        <p:spPr bwMode="auto"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2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3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65190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title"/>
          </p:nvPr>
        </p:nvSpPr>
        <p:spPr>
          <a:xfrm>
            <a:off x="1900813" y="265151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+mn-ea"/>
                <a:ea typeface="+mn-ea"/>
              </a:rPr>
              <a:t>while</a:t>
            </a:r>
            <a:r>
              <a:rPr lang="zh-CN" altLang="en-US" dirty="0">
                <a:latin typeface="+mn-ea"/>
                <a:ea typeface="+mn-ea"/>
              </a:rPr>
              <a:t>（</a:t>
            </a:r>
            <a:r>
              <a:rPr lang="zh-CN" altLang="en-US" dirty="0">
                <a:solidFill>
                  <a:srgbClr val="00B050"/>
                </a:solidFill>
                <a:latin typeface="+mn-ea"/>
                <a:ea typeface="+mn-ea"/>
              </a:rPr>
              <a:t>不知循环次数的编程</a:t>
            </a:r>
            <a:r>
              <a:rPr lang="zh-CN" altLang="en-US" dirty="0">
                <a:latin typeface="+mn-ea"/>
                <a:ea typeface="+mn-ea"/>
              </a:rPr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1" y="1504895"/>
            <a:ext cx="8901465" cy="123568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zh-CN" sz="2600" dirty="0">
                <a:latin typeface="+mn-ea"/>
              </a:rPr>
              <a:t>例</a:t>
            </a:r>
            <a:r>
              <a:rPr lang="en-US" altLang="zh-CN" sz="2600" dirty="0">
                <a:latin typeface="+mn-ea"/>
              </a:rPr>
              <a:t> </a:t>
            </a:r>
            <a:r>
              <a:rPr lang="zh-CN" altLang="zh-CN" sz="2600" dirty="0">
                <a:latin typeface="+mn-ea"/>
              </a:rPr>
              <a:t>求</a:t>
            </a:r>
            <a:r>
              <a:rPr lang="en-US" altLang="zh-CN" sz="2600" dirty="0">
                <a:latin typeface="+mn-ea"/>
              </a:rPr>
              <a:t>1+2+3+…+n</a:t>
            </a:r>
            <a:r>
              <a:rPr lang="zh-CN" altLang="zh-CN" sz="2600" dirty="0">
                <a:latin typeface="+mn-ea"/>
              </a:rPr>
              <a:t>，当</a:t>
            </a:r>
            <a:r>
              <a:rPr lang="zh-CN" altLang="zh-CN" sz="2600" b="1" dirty="0">
                <a:solidFill>
                  <a:srgbClr val="FF0000"/>
                </a:solidFill>
                <a:latin typeface="+mn-ea"/>
              </a:rPr>
              <a:t>和超过</a:t>
            </a:r>
            <a:r>
              <a:rPr lang="en-US" altLang="zh-CN" sz="2600" b="1" dirty="0">
                <a:solidFill>
                  <a:srgbClr val="FF0000"/>
                </a:solidFill>
                <a:latin typeface="+mn-ea"/>
              </a:rPr>
              <a:t>98</a:t>
            </a:r>
            <a:r>
              <a:rPr lang="zh-CN" altLang="zh-CN" sz="2600" dirty="0">
                <a:latin typeface="+mn-ea"/>
              </a:rPr>
              <a:t>时，停止求和</a:t>
            </a:r>
            <a:r>
              <a:rPr lang="zh-CN" altLang="en-US" sz="2600" dirty="0">
                <a:latin typeface="+mn-ea"/>
              </a:rPr>
              <a:t>，</a:t>
            </a:r>
            <a:r>
              <a:rPr lang="zh-CN" altLang="zh-CN" sz="2600" dirty="0">
                <a:latin typeface="+mn-ea"/>
              </a:rPr>
              <a:t>输出和以及最后项</a:t>
            </a:r>
            <a:r>
              <a:rPr lang="en-US" altLang="zh-CN" sz="2600" dirty="0">
                <a:latin typeface="+mn-ea"/>
              </a:rPr>
              <a:t> </a:t>
            </a:r>
            <a:r>
              <a:rPr lang="zh-CN" altLang="zh-CN" sz="2600" dirty="0">
                <a:latin typeface="+mn-ea"/>
              </a:rPr>
              <a:t>。</a:t>
            </a:r>
          </a:p>
        </p:txBody>
      </p:sp>
      <p:sp>
        <p:nvSpPr>
          <p:cNvPr id="2" name="矩形 1"/>
          <p:cNvSpPr/>
          <p:nvPr/>
        </p:nvSpPr>
        <p:spPr>
          <a:xfrm>
            <a:off x="3878516" y="2371800"/>
            <a:ext cx="3121837" cy="429348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nn-NO" altLang="zh-CN" sz="2600" dirty="0">
                <a:latin typeface="+mn-ea"/>
              </a:rPr>
              <a:t>sum=0</a:t>
            </a:r>
          </a:p>
          <a:p>
            <a:pPr>
              <a:lnSpc>
                <a:spcPct val="150000"/>
              </a:lnSpc>
              <a:defRPr/>
            </a:pPr>
            <a:r>
              <a:rPr lang="nn-NO" altLang="zh-CN" sz="2600" dirty="0">
                <a:latin typeface="+mn-ea"/>
              </a:rPr>
              <a:t>i=0</a:t>
            </a:r>
          </a:p>
          <a:p>
            <a:pPr>
              <a:lnSpc>
                <a:spcPct val="150000"/>
              </a:lnSpc>
              <a:defRPr/>
            </a:pPr>
            <a:r>
              <a:rPr lang="nn-NO" altLang="zh-CN" sz="2600" dirty="0">
                <a:latin typeface="+mn-ea"/>
              </a:rPr>
              <a:t>while sum&lt;=98:</a:t>
            </a:r>
          </a:p>
          <a:p>
            <a:pPr>
              <a:lnSpc>
                <a:spcPct val="150000"/>
              </a:lnSpc>
              <a:defRPr/>
            </a:pPr>
            <a:r>
              <a:rPr lang="nn-NO" altLang="zh-CN" sz="2600" dirty="0">
                <a:latin typeface="+mn-ea"/>
              </a:rPr>
              <a:t>    sum=sum+i</a:t>
            </a:r>
          </a:p>
          <a:p>
            <a:pPr>
              <a:lnSpc>
                <a:spcPct val="150000"/>
              </a:lnSpc>
              <a:defRPr/>
            </a:pPr>
            <a:r>
              <a:rPr lang="nn-NO" altLang="zh-CN" sz="2600" dirty="0">
                <a:latin typeface="+mn-ea"/>
              </a:rPr>
              <a:t>    i=i+1</a:t>
            </a:r>
          </a:p>
          <a:p>
            <a:pPr>
              <a:lnSpc>
                <a:spcPct val="150000"/>
              </a:lnSpc>
              <a:defRPr/>
            </a:pPr>
            <a:endParaRPr lang="nn-NO" altLang="zh-CN" sz="2600" dirty="0"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nn-NO" altLang="zh-CN" sz="2600" dirty="0">
                <a:latin typeface="+mn-ea"/>
              </a:rPr>
              <a:t>print(sum,i</a:t>
            </a:r>
            <a:r>
              <a:rPr lang="en-US" altLang="zh-CN" sz="2600" dirty="0">
                <a:latin typeface="+mn-ea"/>
              </a:rPr>
              <a:t>-1</a:t>
            </a:r>
            <a:r>
              <a:rPr lang="nn-NO" altLang="zh-CN" sz="2600" dirty="0">
                <a:latin typeface="+mn-ea"/>
              </a:rPr>
              <a:t>)</a:t>
            </a:r>
            <a:endParaRPr lang="zh-CN" altLang="zh-CN" sz="2600" dirty="0">
              <a:latin typeface="+mn-ea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6115" y="5652866"/>
            <a:ext cx="1357027" cy="896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6038" y="2371799"/>
            <a:ext cx="932370" cy="440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6039" y="2865060"/>
            <a:ext cx="1220775" cy="417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5562" y="3356992"/>
            <a:ext cx="967580" cy="511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6038" y="3933056"/>
            <a:ext cx="1436426" cy="422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0354" y="4486387"/>
            <a:ext cx="958054" cy="506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曲线连接符 10"/>
          <p:cNvCxnSpPr/>
          <p:nvPr/>
        </p:nvCxnSpPr>
        <p:spPr bwMode="auto">
          <a:xfrm flipV="1">
            <a:off x="6307016" y="4177683"/>
            <a:ext cx="2309265" cy="370491"/>
          </a:xfrm>
          <a:prstGeom prst="curvedConnector3">
            <a:avLst/>
          </a:prstGeom>
          <a:ln>
            <a:headEnd type="none" w="med" len="med"/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" name="曲线连接符 12"/>
          <p:cNvCxnSpPr/>
          <p:nvPr/>
        </p:nvCxnSpPr>
        <p:spPr bwMode="auto">
          <a:xfrm flipV="1">
            <a:off x="5397640" y="5021862"/>
            <a:ext cx="3412714" cy="138430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6" name="曲线连接符 15"/>
          <p:cNvCxnSpPr/>
          <p:nvPr/>
        </p:nvCxnSpPr>
        <p:spPr bwMode="auto">
          <a:xfrm rot="5400000">
            <a:off x="9252443" y="5161841"/>
            <a:ext cx="754682" cy="366714"/>
          </a:xfrm>
          <a:prstGeom prst="curvedConnector3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3577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31694" y="1899055"/>
            <a:ext cx="4903694" cy="3911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lnSpc>
                <a:spcPct val="150000"/>
              </a:lnSpc>
              <a:spcAft>
                <a:spcPct val="0"/>
              </a:spcAft>
              <a:buClr>
                <a:schemeClr val="accent2"/>
              </a:buClr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代码如下：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50000"/>
              </a:lnSpc>
              <a:spcAft>
                <a:spcPct val="0"/>
              </a:spcAft>
              <a:buClr>
                <a:schemeClr val="accent2"/>
              </a:buClr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s=1</a:t>
            </a:r>
          </a:p>
          <a:p>
            <a:pPr eaLnBrk="0" hangingPunct="0">
              <a:lnSpc>
                <a:spcPct val="150000"/>
              </a:lnSpc>
              <a:spcAft>
                <a:spcPct val="0"/>
              </a:spcAft>
              <a:buClr>
                <a:schemeClr val="accent2"/>
              </a:buClr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n=1</a:t>
            </a:r>
          </a:p>
          <a:p>
            <a:pPr eaLnBrk="0" hangingPunct="0">
              <a:lnSpc>
                <a:spcPct val="150000"/>
              </a:lnSpc>
              <a:spcAft>
                <a:spcPct val="0"/>
              </a:spcAft>
              <a:buClr>
                <a:schemeClr val="accent2"/>
              </a:buClr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 n&lt;=100:      	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循环条件</a:t>
            </a:r>
          </a:p>
          <a:p>
            <a:pPr eaLnBrk="0" hangingPunct="0">
              <a:lnSpc>
                <a:spcPct val="150000"/>
              </a:lnSpc>
              <a:spcAft>
                <a:spcPct val="0"/>
              </a:spcAft>
              <a:buClr>
                <a:schemeClr val="accent2"/>
              </a:buClr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=n                  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实现累加</a:t>
            </a:r>
            <a:endParaRPr lang="en-US" altLang="zh-CN" sz="24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50000"/>
              </a:lnSpc>
              <a:spcAft>
                <a:spcPct val="0"/>
              </a:spcAft>
              <a:buClr>
                <a:schemeClr val="accent2"/>
              </a:buClr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n+=1              	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#n</a:t>
            </a:r>
            <a:r>
              <a:rPr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 eaLnBrk="0" hangingPunct="0">
              <a:lnSpc>
                <a:spcPct val="150000"/>
              </a:lnSpc>
              <a:spcAft>
                <a:spcPct val="0"/>
              </a:spcAft>
              <a:buClr>
                <a:schemeClr val="accent2"/>
              </a:buClr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print("</a:t>
            </a:r>
            <a:r>
              <a:rPr lang="en-US" altLang="zh-CN" sz="2400" dirty="0">
                <a:solidFill>
                  <a:srgbClr val="1717B7"/>
                </a:solidFill>
              </a:rPr>
              <a:t> 1+2+3+……+9+100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=",s)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829922" y="1914572"/>
            <a:ext cx="5880972" cy="3895810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ea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提前对比欣赏</a:t>
            </a:r>
            <a:r>
              <a:rPr lang="zh-CN" altLang="en-US" sz="2400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：利用列表求和函数来实现累加求和？</a:t>
            </a:r>
            <a:endParaRPr lang="en-US" altLang="zh-CN" sz="2400" dirty="0">
              <a:solidFill>
                <a:srgbClr val="1717B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</a:pPr>
            <a:r>
              <a:rPr lang="en-US" altLang="zh-CN" sz="24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lst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list(range(1,101))</a:t>
            </a:r>
          </a:p>
          <a:p>
            <a:pPr ea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</a:pP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s=sum(</a:t>
            </a:r>
            <a:r>
              <a:rPr lang="en-US" altLang="zh-CN" sz="24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lst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ea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</a:pPr>
            <a:r>
              <a:rPr lang="en-US" altLang="zh-CN" sz="2400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print("1+2+3+……+9+100=",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sz="2400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zh-CN" sz="2400" dirty="0">
              <a:solidFill>
                <a:srgbClr val="1717B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例</a:t>
            </a:r>
            <a:r>
              <a:rPr lang="en-US" altLang="zh-CN"/>
              <a:t>4-1</a:t>
            </a:r>
            <a:r>
              <a:rPr lang="zh-CN" altLang="en-US"/>
              <a:t>：</a:t>
            </a:r>
            <a:r>
              <a:rPr lang="en-US" altLang="zh-CN" b="1">
                <a:solidFill>
                  <a:srgbClr val="245794"/>
                </a:solidFill>
              </a:rPr>
              <a:t> </a:t>
            </a:r>
            <a:r>
              <a:rPr lang="zh-CN" altLang="zh-CN"/>
              <a:t>计算</a:t>
            </a:r>
            <a:r>
              <a:rPr lang="en-US" altLang="zh-CN"/>
              <a:t>1+2+3+</a:t>
            </a:r>
            <a:r>
              <a:rPr lang="zh-CN" altLang="zh-CN"/>
              <a:t>……</a:t>
            </a:r>
            <a:r>
              <a:rPr lang="en-US" altLang="zh-CN"/>
              <a:t>+100</a:t>
            </a:r>
            <a:r>
              <a:rPr lang="zh-CN" altLang="zh-CN"/>
              <a:t>的值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52564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2152650" y="4134282"/>
            <a:ext cx="2826819" cy="149989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[else:</a:t>
            </a:r>
          </a:p>
          <a:p>
            <a:pPr>
              <a:lnSpc>
                <a:spcPct val="250000"/>
              </a:lnSpc>
            </a:pPr>
            <a:r>
              <a: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else子句代码块]</a:t>
            </a:r>
            <a:endParaRPr lang="zh-CN" altLang="en-US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152651" y="2188897"/>
            <a:ext cx="2826819" cy="178138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while 条件表达式:</a:t>
            </a:r>
          </a:p>
          <a:p>
            <a:pPr>
              <a:lnSpc>
                <a:spcPct val="250000"/>
              </a:lnSpc>
            </a:pP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循环体</a:t>
            </a:r>
            <a:endParaRPr lang="zh-CN" altLang="en-US"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4.1  </a:t>
            </a:r>
            <a:r>
              <a:rPr lang="en-US" altLang="zh-CN" sz="4000" b="1">
                <a:latin typeface="+mj-ea"/>
              </a:rPr>
              <a:t>while</a:t>
            </a:r>
            <a:r>
              <a:rPr lang="zh-CN" altLang="zh-CN" sz="4000" b="1">
                <a:latin typeface="+mj-ea"/>
              </a:rPr>
              <a:t>循环</a:t>
            </a:r>
            <a:r>
              <a:rPr lang="zh-CN" altLang="en-US" sz="4000" b="1">
                <a:latin typeface="+mj-ea"/>
              </a:rPr>
              <a:t>中使用</a:t>
            </a:r>
            <a:r>
              <a:rPr lang="en-US" altLang="zh-CN" sz="4000" b="1">
                <a:latin typeface="+mj-ea"/>
              </a:rPr>
              <a:t>else</a:t>
            </a:r>
            <a:r>
              <a:rPr lang="zh-CN" altLang="en-US" sz="4000" b="1">
                <a:latin typeface="+mj-ea"/>
              </a:rPr>
              <a:t>子句</a:t>
            </a:r>
            <a:endParaRPr lang="zh-CN" altLang="en-US" sz="4000" dirty="0">
              <a:latin typeface="+mj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2650" y="1825626"/>
            <a:ext cx="7886700" cy="445937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语法格式：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zh-CN" altLang="en-US" sz="2000" dirty="0">
              <a:latin typeface="Consolas" panose="020B060902020403020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9" name="线形标注 1 8"/>
          <p:cNvSpPr/>
          <p:nvPr/>
        </p:nvSpPr>
        <p:spPr>
          <a:xfrm>
            <a:off x="6644641" y="3433555"/>
            <a:ext cx="2366010" cy="1422391"/>
          </a:xfrm>
          <a:prstGeom prst="borderCallout1">
            <a:avLst>
              <a:gd name="adj1" fmla="val 30995"/>
              <a:gd name="adj2" fmla="val -3276"/>
              <a:gd name="adj3" fmla="val 134074"/>
              <a:gd name="adj4" fmla="val -106159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循环正常执行完的情况下执行（不管是否执行循环体）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4812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4.1  </a:t>
            </a:r>
            <a:r>
              <a:rPr lang="en-US" altLang="zh-CN" sz="3600" b="1">
                <a:latin typeface="+mj-ea"/>
              </a:rPr>
              <a:t>while</a:t>
            </a:r>
            <a:r>
              <a:rPr lang="zh-CN" altLang="zh-CN" sz="3600" b="1">
                <a:latin typeface="+mj-ea"/>
              </a:rPr>
              <a:t>循环</a:t>
            </a:r>
            <a:r>
              <a:rPr lang="zh-CN" altLang="en-US" sz="3600" b="1">
                <a:latin typeface="+mj-ea"/>
              </a:rPr>
              <a:t>中使用</a:t>
            </a:r>
            <a:r>
              <a:rPr lang="en-US" altLang="zh-CN" sz="3600" b="1">
                <a:latin typeface="+mj-ea"/>
              </a:rPr>
              <a:t>else</a:t>
            </a:r>
            <a:r>
              <a:rPr lang="zh-CN" altLang="en-US" sz="3600" b="1">
                <a:latin typeface="+mj-ea"/>
              </a:rPr>
              <a:t>子句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77798" y="2005225"/>
            <a:ext cx="4745461" cy="4351125"/>
          </a:xfrm>
        </p:spPr>
        <p:txBody>
          <a:bodyPr>
            <a:normAutofit/>
          </a:bodyPr>
          <a:lstStyle/>
          <a:p>
            <a:pPr marL="0">
              <a:lnSpc>
                <a:spcPct val="150000"/>
              </a:lnSpc>
            </a:pP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60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count=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(input())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60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 count&lt;5:</a:t>
            </a:r>
          </a:p>
          <a:p>
            <a:pPr indent="0">
              <a:lnSpc>
                <a:spcPct val="160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print(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count,"is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less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han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5")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60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count=count+1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60000"/>
              </a:lnSpc>
              <a:buNone/>
            </a:pPr>
            <a:r>
              <a:rPr lang="en-US" altLang="zh-CN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else:</a:t>
            </a:r>
            <a:endParaRPr lang="zh-CN" altLang="zh-CN" sz="20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60000"/>
              </a:lnSpc>
              <a:buNone/>
            </a:pPr>
            <a:r>
              <a:rPr lang="en-US" altLang="zh-CN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print(</a:t>
            </a:r>
            <a:r>
              <a:rPr lang="en-US" altLang="zh-CN" sz="2000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count,"is</a:t>
            </a:r>
            <a:r>
              <a:rPr lang="en-US" altLang="zh-CN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not less than 5")</a:t>
            </a:r>
            <a:endParaRPr lang="zh-CN" altLang="zh-CN" sz="20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27</a:t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668852" y="2592360"/>
            <a:ext cx="3053987" cy="150656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en-US" altLang="zh-CN" sz="2000" dirty="0"/>
              <a:t>8↙</a:t>
            </a:r>
          </a:p>
          <a:p>
            <a:pPr>
              <a:lnSpc>
                <a:spcPct val="250000"/>
              </a:lnSpc>
            </a:pPr>
            <a:r>
              <a:rPr lang="en-US" altLang="zh-CN" sz="2000" dirty="0">
                <a:solidFill>
                  <a:schemeClr val="accent2"/>
                </a:solidFill>
              </a:rPr>
              <a:t>8 is not less than 5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6668854" y="2060426"/>
            <a:ext cx="2954655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zh-CN"/>
              <a:t>程序的一次运行结果如下：</a:t>
            </a:r>
          </a:p>
        </p:txBody>
      </p:sp>
    </p:spTree>
    <p:extLst>
      <p:ext uri="{BB962C8B-B14F-4D97-AF65-F5344CB8AC3E}">
        <p14:creationId xmlns:p14="http://schemas.microsoft.com/office/powerpoint/2010/main" val="1348402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4.1  </a:t>
            </a:r>
            <a:r>
              <a:rPr lang="en-US" altLang="zh-CN" sz="3600" b="1">
                <a:latin typeface="+mj-ea"/>
              </a:rPr>
              <a:t>while</a:t>
            </a:r>
            <a:r>
              <a:rPr lang="zh-CN" altLang="zh-CN" sz="3600" b="1">
                <a:latin typeface="+mj-ea"/>
              </a:rPr>
              <a:t>循环</a:t>
            </a:r>
            <a:r>
              <a:rPr lang="zh-CN" altLang="en-US" sz="3600" b="1">
                <a:latin typeface="+mj-ea"/>
              </a:rPr>
              <a:t>中使用</a:t>
            </a:r>
            <a:r>
              <a:rPr lang="en-US" altLang="zh-CN" sz="3600" b="1">
                <a:latin typeface="+mj-ea"/>
              </a:rPr>
              <a:t>else</a:t>
            </a:r>
            <a:r>
              <a:rPr lang="zh-CN" altLang="en-US" sz="3600" b="1">
                <a:latin typeface="+mj-ea"/>
              </a:rPr>
              <a:t>子句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2649" y="2005225"/>
            <a:ext cx="4270610" cy="3827685"/>
          </a:xfrm>
        </p:spPr>
        <p:txBody>
          <a:bodyPr>
            <a:normAutofit fontScale="85000" lnSpcReduction="10000"/>
          </a:bodyPr>
          <a:lstStyle/>
          <a:p>
            <a:pPr marL="0">
              <a:lnSpc>
                <a:spcPct val="150000"/>
              </a:lnSpc>
            </a:pPr>
            <a:r>
              <a:rPr lang="zh-CN" altLang="zh-CN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60000"/>
              </a:lnSpc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count=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(input())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60000"/>
              </a:lnSpc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 count&lt;5:</a:t>
            </a:r>
          </a:p>
          <a:p>
            <a:pPr indent="0">
              <a:lnSpc>
                <a:spcPct val="160000"/>
              </a:lnSpc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print(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count,"is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less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han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5")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60000"/>
              </a:lnSpc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    count=count+1</a:t>
            </a:r>
          </a:p>
          <a:p>
            <a:pPr indent="0">
              <a:lnSpc>
                <a:spcPct val="160000"/>
              </a:lnSpc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break</a:t>
            </a:r>
            <a:endParaRPr lang="zh-CN" altLang="zh-CN" sz="1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60000"/>
              </a:lnSpc>
              <a:buNone/>
            </a:pPr>
            <a:r>
              <a:rPr lang="en-US" altLang="zh-CN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else:</a:t>
            </a:r>
            <a:endParaRPr lang="zh-CN" altLang="zh-CN" sz="1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60000"/>
              </a:lnSpc>
              <a:buNone/>
            </a:pPr>
            <a:r>
              <a:rPr lang="en-US" altLang="zh-CN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print(</a:t>
            </a:r>
            <a:r>
              <a:rPr lang="en-US" altLang="zh-CN" sz="1800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count,"is</a:t>
            </a:r>
            <a:r>
              <a:rPr lang="en-US" altLang="zh-CN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not less than </a:t>
            </a:r>
            <a:r>
              <a:rPr lang="en-US" altLang="zh-CN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5")</a:t>
            </a:r>
            <a:endParaRPr lang="zh-CN" altLang="zh-CN" sz="1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28</a:t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668853" y="2592360"/>
            <a:ext cx="2954656" cy="8803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2↙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2"/>
                </a:solidFill>
              </a:rPr>
              <a:t>2 </a:t>
            </a:r>
            <a:r>
              <a:rPr lang="en-US" altLang="zh-CN">
                <a:solidFill>
                  <a:schemeClr val="accent2"/>
                </a:solidFill>
              </a:rPr>
              <a:t>is  </a:t>
            </a:r>
            <a:r>
              <a:rPr lang="en-US" altLang="zh-CN" dirty="0">
                <a:solidFill>
                  <a:schemeClr val="accent2"/>
                </a:solidFill>
              </a:rPr>
              <a:t>less than 5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6668854" y="2060426"/>
            <a:ext cx="2954655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zh-CN"/>
              <a:t>程序的一次运行结果如下：</a:t>
            </a:r>
          </a:p>
        </p:txBody>
      </p:sp>
      <p:sp>
        <p:nvSpPr>
          <p:cNvPr id="7" name="矩形 6"/>
          <p:cNvSpPr/>
          <p:nvPr/>
        </p:nvSpPr>
        <p:spPr>
          <a:xfrm>
            <a:off x="2650157" y="4365057"/>
            <a:ext cx="895149" cy="38501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肘形连接符 8"/>
          <p:cNvCxnSpPr/>
          <p:nvPr/>
        </p:nvCxnSpPr>
        <p:spPr>
          <a:xfrm>
            <a:off x="3574182" y="4528687"/>
            <a:ext cx="1515979" cy="1347537"/>
          </a:xfrm>
          <a:prstGeom prst="bentConnector3">
            <a:avLst>
              <a:gd name="adj1" fmla="val 141746"/>
            </a:avLst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线形标注 1 21"/>
          <p:cNvSpPr/>
          <p:nvPr/>
        </p:nvSpPr>
        <p:spPr>
          <a:xfrm>
            <a:off x="6992804" y="4365058"/>
            <a:ext cx="2669357" cy="1422391"/>
          </a:xfrm>
          <a:prstGeom prst="borderCallout1">
            <a:avLst>
              <a:gd name="adj1" fmla="val 30995"/>
              <a:gd name="adj2" fmla="val -3276"/>
              <a:gd name="adj3" fmla="val 17005"/>
              <a:gd name="adj4" fmla="val -47869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/>
                </a:solidFill>
              </a:rPr>
              <a:t>执行了break语句而导致循环</a:t>
            </a:r>
            <a:r>
              <a:rPr lang="zh-CN" altLang="en-US" sz="1600">
                <a:solidFill>
                  <a:srgbClr val="FF0000"/>
                </a:solidFill>
              </a:rPr>
              <a:t>提前结束</a:t>
            </a:r>
            <a:endParaRPr lang="en-US" altLang="zh-CN" sz="1600">
              <a:solidFill>
                <a:srgbClr val="FF000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rgbClr val="FF0000"/>
                </a:solidFill>
              </a:rPr>
              <a:t>不会</a:t>
            </a:r>
            <a:r>
              <a:rPr lang="zh-CN" altLang="en-US" sz="1600">
                <a:solidFill>
                  <a:schemeClr val="tx1"/>
                </a:solidFill>
              </a:rPr>
              <a:t>执行else中的语句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26765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22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3663</TotalTime>
  <Words>2601</Words>
  <Application>Microsoft Office PowerPoint</Application>
  <PresentationFormat>宽屏</PresentationFormat>
  <Paragraphs>555</Paragraphs>
  <Slides>28</Slides>
  <Notes>1</Notes>
  <HiddenSlides>3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47" baseType="lpstr">
      <vt:lpstr>等线</vt:lpstr>
      <vt:lpstr>等线 Light</vt:lpstr>
      <vt:lpstr>宋体</vt:lpstr>
      <vt:lpstr>Microsoft Yahei</vt:lpstr>
      <vt:lpstr>Microsoft Yahei</vt:lpstr>
      <vt:lpstr>Arial</vt:lpstr>
      <vt:lpstr>Bradley Hand ITC</vt:lpstr>
      <vt:lpstr>Calibri</vt:lpstr>
      <vt:lpstr>Calibri Light</vt:lpstr>
      <vt:lpstr>Consolas</vt:lpstr>
      <vt:lpstr>Garamond</vt:lpstr>
      <vt:lpstr>Verdana</vt:lpstr>
      <vt:lpstr>Wingdings</vt:lpstr>
      <vt:lpstr>Wingdings 2</vt:lpstr>
      <vt:lpstr>Edge</vt:lpstr>
      <vt:lpstr>1_Office 主题</vt:lpstr>
      <vt:lpstr>2_Office 主题</vt:lpstr>
      <vt:lpstr>公式</vt:lpstr>
      <vt:lpstr>Microsoft Equation 3.0</vt:lpstr>
      <vt:lpstr>第4章  程序控制结构</vt:lpstr>
      <vt:lpstr>4.1  while循环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常用赋值语句</vt:lpstr>
      <vt:lpstr>完整程序： 计算1+2+3+……+100的值</vt:lpstr>
      <vt:lpstr>PowerPoint 演示文稿</vt:lpstr>
      <vt:lpstr>分析程序的功能</vt:lpstr>
      <vt:lpstr>分析程序的功能</vt:lpstr>
      <vt:lpstr>输入一组考试成绩，求平均值。</vt:lpstr>
      <vt:lpstr>输入一组数，求平均值。</vt:lpstr>
      <vt:lpstr>问题提出</vt:lpstr>
      <vt:lpstr>累加求和的解决方法</vt:lpstr>
      <vt:lpstr>累加法</vt:lpstr>
      <vt:lpstr>例. 求π的近似值，精确到累加的最后一项之后的绝对值都小于10-6。</vt:lpstr>
      <vt:lpstr>例. 求π的近似值，精确到累加的最后一项之后的绝对值都小于10-6。</vt:lpstr>
      <vt:lpstr>累加法</vt:lpstr>
      <vt:lpstr>while（不知循环次数的编程）</vt:lpstr>
      <vt:lpstr>PowerPoint 演示文稿</vt:lpstr>
      <vt:lpstr>while（不知循环次数的编程）</vt:lpstr>
      <vt:lpstr>例4-1： 计算1+2+3+……+100的值</vt:lpstr>
      <vt:lpstr>4.1  while循环中使用else子句</vt:lpstr>
      <vt:lpstr>4.1  while循环中使用else子句</vt:lpstr>
      <vt:lpstr>4.1  while循环中使用else子句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第4章  程序控制结构</dc:title>
  <dc:creator>Dong</dc:creator>
  <cp:lastModifiedBy>cyj</cp:lastModifiedBy>
  <cp:revision>499</cp:revision>
  <dcterms:created xsi:type="dcterms:W3CDTF">2015-05-05T08:02:00Z</dcterms:created>
  <dcterms:modified xsi:type="dcterms:W3CDTF">2024-10-15T15:19:37Z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1033-10.2.0.5978</vt:lpwstr>
  </property>
</Properties>
</file>