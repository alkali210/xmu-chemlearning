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45"/>
  </p:notesMasterIdLst>
  <p:handoutMasterIdLst>
    <p:handoutMasterId r:id="rId46"/>
  </p:handoutMasterIdLst>
  <p:sldIdLst>
    <p:sldId id="1862" r:id="rId2"/>
    <p:sldId id="1833" r:id="rId3"/>
    <p:sldId id="1878" r:id="rId4"/>
    <p:sldId id="1865" r:id="rId5"/>
    <p:sldId id="1877" r:id="rId6"/>
    <p:sldId id="1864" r:id="rId7"/>
    <p:sldId id="1875" r:id="rId8"/>
    <p:sldId id="1876" r:id="rId9"/>
    <p:sldId id="1897" r:id="rId10"/>
    <p:sldId id="1903" r:id="rId11"/>
    <p:sldId id="1904" r:id="rId12"/>
    <p:sldId id="1905" r:id="rId13"/>
    <p:sldId id="1907" r:id="rId14"/>
    <p:sldId id="1906" r:id="rId15"/>
    <p:sldId id="1909" r:id="rId16"/>
    <p:sldId id="1900" r:id="rId17"/>
    <p:sldId id="1901" r:id="rId18"/>
    <p:sldId id="1911" r:id="rId19"/>
    <p:sldId id="1912" r:id="rId20"/>
    <p:sldId id="1913" r:id="rId21"/>
    <p:sldId id="1914" r:id="rId22"/>
    <p:sldId id="1898" r:id="rId23"/>
    <p:sldId id="1899" r:id="rId24"/>
    <p:sldId id="1915" r:id="rId25"/>
    <p:sldId id="1882" r:id="rId26"/>
    <p:sldId id="1884" r:id="rId27"/>
    <p:sldId id="1883" r:id="rId28"/>
    <p:sldId id="1885" r:id="rId29"/>
    <p:sldId id="1869" r:id="rId30"/>
    <p:sldId id="1886" r:id="rId31"/>
    <p:sldId id="1887" r:id="rId32"/>
    <p:sldId id="1870" r:id="rId33"/>
    <p:sldId id="1891" r:id="rId34"/>
    <p:sldId id="1890" r:id="rId35"/>
    <p:sldId id="1892" r:id="rId36"/>
    <p:sldId id="1889" r:id="rId37"/>
    <p:sldId id="1921" r:id="rId38"/>
    <p:sldId id="1896" r:id="rId39"/>
    <p:sldId id="1917" r:id="rId40"/>
    <p:sldId id="1918" r:id="rId41"/>
    <p:sldId id="1919" r:id="rId42"/>
    <p:sldId id="1920" r:id="rId43"/>
    <p:sldId id="1902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0000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/>
            <a:fld id="{F669C317-29F1-4588-AE1A-EA669E514E21}" type="slidenum">
              <a:rPr lang="en-US" altLang="zh-CN" smtClean="0">
                <a:latin typeface="Arial" charset="0"/>
              </a:rPr>
              <a:pPr eaLnBrk="1" hangingPunct="1"/>
              <a:t>19</a:t>
            </a:fld>
            <a:endParaRPr lang="en-US" altLang="zh-CN">
              <a:latin typeface="Arial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94090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5FFBD3-A4AC-4DB3-8B1B-7859F37B5E1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713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263871" y="3371851"/>
            <a:ext cx="8532812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182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9"/>
          <p:cNvSpPr>
            <a:spLocks noChangeArrowheads="1"/>
          </p:cNvSpPr>
          <p:nvPr userDrawn="1"/>
        </p:nvSpPr>
        <p:spPr bwMode="auto">
          <a:xfrm>
            <a:off x="224114" y="1460502"/>
            <a:ext cx="8532812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271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34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55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26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97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98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31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07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16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29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50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1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40.xml"/><Relationship Id="rId2" Type="http://schemas.openxmlformats.org/officeDocument/2006/relationships/slide" Target="slide4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slide" Target="slide4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3.xml"/><Relationship Id="rId4" Type="http://schemas.openxmlformats.org/officeDocument/2006/relationships/slide" Target="slide4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slide" Target="slide4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3.xml"/><Relationship Id="rId4" Type="http://schemas.openxmlformats.org/officeDocument/2006/relationships/slide" Target="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slide" Target="slide4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3.xml"/><Relationship Id="rId4" Type="http://schemas.openxmlformats.org/officeDocument/2006/relationships/slide" Target="slide4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 for</a:t>
            </a:r>
            <a:r>
              <a:rPr lang="zh-CN" altLang="zh-CN" dirty="0"/>
              <a:t>循环结构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0132" y="1756142"/>
            <a:ext cx="4880373" cy="1935014"/>
          </a:xfrm>
        </p:spPr>
        <p:txBody>
          <a:bodyPr>
            <a:normAutofit fontScale="92500"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语句的一般形式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或可迭代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3756609"/>
            <a:ext cx="9043332" cy="1630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/>
            <a:endParaRPr lang="en-US" altLang="zh-CN" dirty="0">
              <a:solidFill>
                <a:srgbClr val="1717B7"/>
              </a:solidFill>
            </a:endParaRPr>
          </a:p>
          <a:p>
            <a:pPr marL="638175" indent="-285750" eaLnBrk="0" fontAlgn="base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语句的首行定义了</a:t>
            </a:r>
            <a:r>
              <a:rPr lang="zh-CN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目标变量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和遍历的</a:t>
            </a:r>
            <a:r>
              <a:rPr lang="zh-CN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可迭代</a:t>
            </a:r>
            <a:r>
              <a:rPr lang="zh-CN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zh-CN" sz="20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8175" indent="-285750" eaLnBrk="0" fontAlgn="base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语句块中的语句要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向右缩进，且缩进量要一致</a:t>
            </a:r>
            <a:r>
              <a:rPr lang="zh-CN" altLang="zh-CN" sz="20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语句块重复执行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A9968F3-6A17-4495-AA75-C5EE1189635E}"/>
              </a:ext>
            </a:extLst>
          </p:cNvPr>
          <p:cNvCxnSpPr/>
          <p:nvPr/>
        </p:nvCxnSpPr>
        <p:spPr>
          <a:xfrm flipH="1">
            <a:off x="4412609" y="1996580"/>
            <a:ext cx="687897" cy="453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522F4FA-A813-474B-9F9E-5EB353CA2910}"/>
              </a:ext>
            </a:extLst>
          </p:cNvPr>
          <p:cNvSpPr txBox="1"/>
          <p:nvPr/>
        </p:nvSpPr>
        <p:spPr>
          <a:xfrm>
            <a:off x="5285065" y="1820411"/>
            <a:ext cx="3070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例如：</a:t>
            </a:r>
            <a:r>
              <a:rPr lang="en-US" altLang="zh-CN" dirty="0"/>
              <a:t>range</a:t>
            </a:r>
            <a:r>
              <a:rPr lang="zh-CN" altLang="en-US" dirty="0"/>
              <a:t>函数返回的对象，字符串，列表，元组等。</a:t>
            </a:r>
          </a:p>
        </p:txBody>
      </p:sp>
    </p:spTree>
    <p:extLst>
      <p:ext uri="{BB962C8B-B14F-4D97-AF65-F5344CB8AC3E}">
        <p14:creationId xmlns:p14="http://schemas.microsoft.com/office/powerpoint/2010/main" val="28796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列表，打印列表中所有元素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Consolas" panose="020B0609020204030204" charset="0"/>
              </a:rPr>
              <a:t>lis1=input(‘</a:t>
            </a:r>
            <a:r>
              <a:rPr lang="zh-CN" altLang="en-US" sz="2400" dirty="0">
                <a:latin typeface="Consolas" panose="020B0609020204030204" charset="0"/>
              </a:rPr>
              <a:t>请输入列表中的元素：</a:t>
            </a:r>
            <a:r>
              <a:rPr lang="en-US" altLang="zh-CN" sz="2400" dirty="0">
                <a:latin typeface="Consolas" panose="020B0609020204030204" charset="0"/>
              </a:rPr>
              <a:t>’).split()</a:t>
            </a:r>
            <a:endParaRPr lang="zh-CN" altLang="en-US" sz="2400" dirty="0">
              <a:latin typeface="Consolas" panose="020B060902020403020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Consolas" panose="020B0609020204030204" charset="0"/>
              </a:rPr>
              <a:t>for </a:t>
            </a:r>
            <a:r>
              <a:rPr lang="en-US" altLang="zh-CN" sz="2400" dirty="0" err="1">
                <a:latin typeface="Consolas" panose="020B0609020204030204" charset="0"/>
              </a:rPr>
              <a:t>i</a:t>
            </a:r>
            <a:r>
              <a:rPr lang="zh-CN" altLang="en-US" sz="2400" dirty="0">
                <a:latin typeface="Consolas" panose="020B0609020204030204" charset="0"/>
              </a:rPr>
              <a:t> in </a:t>
            </a:r>
            <a:r>
              <a:rPr lang="en-US" altLang="zh-CN" sz="2400" dirty="0">
                <a:latin typeface="Consolas" panose="020B0609020204030204" charset="0"/>
              </a:rPr>
              <a:t>lis1</a:t>
            </a:r>
            <a:r>
              <a:rPr lang="zh-CN" altLang="en-US" sz="2400" dirty="0">
                <a:latin typeface="Consolas" panose="020B0609020204030204" charset="0"/>
              </a:rPr>
              <a:t>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Consolas" panose="020B0609020204030204" charset="0"/>
              </a:rPr>
              <a:t>    </a:t>
            </a:r>
            <a:r>
              <a:rPr lang="en-US" altLang="zh-CN" sz="2400" dirty="0">
                <a:latin typeface="Consolas" panose="020B0609020204030204" charset="0"/>
              </a:rPr>
              <a:t>print(</a:t>
            </a:r>
            <a:r>
              <a:rPr lang="en-US" altLang="zh-CN" sz="2400" dirty="0" err="1">
                <a:latin typeface="Consolas" panose="020B0609020204030204" charset="0"/>
              </a:rPr>
              <a:t>i</a:t>
            </a:r>
            <a:r>
              <a:rPr lang="en-US" altLang="zh-CN" sz="2400" dirty="0">
                <a:latin typeface="Consolas" panose="020B0609020204030204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>
              <a:latin typeface="Consolas" panose="020B060902020403020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Consolas" panose="020B0609020204030204" charset="0"/>
              </a:rPr>
              <a:t>请输入列表中的元素：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1 2 3 4 5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731136" y="3653670"/>
            <a:ext cx="6682957" cy="15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5"/>
          <p:cNvSpPr>
            <a:spLocks noChangeArrowheads="1"/>
          </p:cNvSpPr>
          <p:nvPr/>
        </p:nvSpPr>
        <p:spPr bwMode="auto">
          <a:xfrm>
            <a:off x="2117753" y="5230935"/>
            <a:ext cx="5700785" cy="1458220"/>
          </a:xfrm>
          <a:prstGeom prst="rect">
            <a:avLst/>
          </a:prstGeom>
          <a:solidFill>
            <a:srgbClr val="FFFF00"/>
          </a:solidFill>
          <a:ln w="6350">
            <a:solidFill>
              <a:srgbClr val="B6DDE7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步骤一：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var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依次取序列中的每个值</a:t>
            </a:r>
            <a:endParaRPr lang="en-US" altLang="zh-CN" sz="2400" dirty="0"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步骤二：针对每个值执行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次循环体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181CA46-DA29-488D-856F-DCAE2B3665DB}"/>
              </a:ext>
            </a:extLst>
          </p:cNvPr>
          <p:cNvCxnSpPr/>
          <p:nvPr/>
        </p:nvCxnSpPr>
        <p:spPr>
          <a:xfrm flipH="1" flipV="1">
            <a:off x="6778305" y="2416029"/>
            <a:ext cx="352337" cy="729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E1AA22A-1680-4E36-AC47-287185A6D011}"/>
              </a:ext>
            </a:extLst>
          </p:cNvPr>
          <p:cNvSpPr txBox="1"/>
          <p:nvPr/>
        </p:nvSpPr>
        <p:spPr>
          <a:xfrm>
            <a:off x="6022360" y="3099269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该函数返回一个列表</a:t>
            </a:r>
          </a:p>
        </p:txBody>
      </p:sp>
    </p:spTree>
    <p:extLst>
      <p:ext uri="{BB962C8B-B14F-4D97-AF65-F5344CB8AC3E}">
        <p14:creationId xmlns:p14="http://schemas.microsoft.com/office/powerpoint/2010/main" val="277918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2</a:t>
            </a:r>
            <a:r>
              <a:rPr lang="zh-CN" altLang="zh-CN" b="1">
                <a:solidFill>
                  <a:srgbClr val="245794"/>
                </a:solidFill>
              </a:rPr>
              <a:t>．</a:t>
            </a:r>
            <a:r>
              <a:rPr lang="en-US" altLang="zh-CN" b="1">
                <a:solidFill>
                  <a:srgbClr val="245794"/>
                </a:solidFill>
              </a:rPr>
              <a:t>range()</a:t>
            </a:r>
            <a:r>
              <a:rPr lang="zh-CN" altLang="zh-CN" b="1">
                <a:solidFill>
                  <a:srgbClr val="245794"/>
                </a:solidFill>
              </a:rPr>
              <a:t>函数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720777"/>
            <a:ext cx="7886700" cy="249750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1600" dirty="0">
                <a:latin typeface="+mn-ea"/>
              </a:rPr>
              <a:t>range()</a:t>
            </a:r>
            <a:r>
              <a:rPr lang="zh-CN" altLang="zh-CN" sz="1600" dirty="0">
                <a:latin typeface="+mn-ea"/>
              </a:rPr>
              <a:t>函数的调用格式是：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zh-CN" altLang="en-US" sz="1600" dirty="0">
                <a:latin typeface="+mn-ea"/>
              </a:rPr>
              <a:t>　　</a:t>
            </a:r>
            <a:r>
              <a:rPr lang="en-US" altLang="zh-CN" sz="1600" dirty="0">
                <a:latin typeface="+mn-ea"/>
              </a:rPr>
              <a:t>range([start,]end[,step])</a:t>
            </a:r>
            <a:endParaRPr lang="zh-CN" altLang="zh-CN" sz="1600" dirty="0">
              <a:latin typeface="+mn-ea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1600" dirty="0" err="1">
                <a:latin typeface="+mn-ea"/>
              </a:rPr>
              <a:t>该函数返回range对象</a:t>
            </a:r>
            <a:r>
              <a:rPr lang="zh-CN" altLang="en-US" sz="1600" dirty="0">
                <a:latin typeface="+mn-ea"/>
              </a:rPr>
              <a:t>，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可迭代对象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1600" dirty="0" err="1">
                <a:latin typeface="+mn-ea"/>
              </a:rPr>
              <a:t>包含左闭右开区间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start,end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600" dirty="0" err="1">
                <a:latin typeface="+mn-ea"/>
              </a:rPr>
              <a:t>内以step为步长的整数</a:t>
            </a:r>
            <a:r>
              <a:rPr lang="en-US" altLang="zh-CN" sz="1600" dirty="0">
                <a:latin typeface="+mn-ea"/>
              </a:rPr>
              <a:t>。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1600" dirty="0">
                <a:latin typeface="+mn-ea"/>
              </a:rPr>
              <a:t>参数start默认为0，step默认为1。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67544" y="4218282"/>
            <a:ext cx="8203406" cy="2376264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charset="0"/>
              </a:rPr>
              <a:t>&gt;&gt;&gt; range(5)                      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charset="0"/>
              </a:rPr>
              <a:t>#start默认为0，step默认为1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charset="0"/>
              </a:rPr>
              <a:t>range(0, 5)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charset="0"/>
              </a:rPr>
              <a:t>&gt;&gt;&gt; list(_)                       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charset="0"/>
              </a:rPr>
              <a:t>#list()</a:t>
            </a:r>
            <a:r>
              <a:rPr lang="zh-CN" altLang="en-US" sz="1800" dirty="0">
                <a:solidFill>
                  <a:srgbClr val="FF0000"/>
                </a:solidFill>
                <a:latin typeface="Consolas" panose="020B0609020204030204" charset="0"/>
              </a:rPr>
              <a:t>产生一个序列</a:t>
            </a:r>
            <a:endParaRPr lang="en-US" sz="1800" dirty="0">
              <a:solidFill>
                <a:srgbClr val="FF0000"/>
              </a:solidFill>
              <a:latin typeface="Consolas" panose="020B060902020403020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charset="0"/>
              </a:rPr>
              <a:t>[0, 1, 2, 3, 4]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charset="0"/>
              </a:rPr>
              <a:t>&gt;&gt;&gt; list(range(1, 10, 2))         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charset="0"/>
              </a:rPr>
              <a:t>#指定起始值和步长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charset="0"/>
              </a:rPr>
              <a:t>[1, 3, 5, 7, 9]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charset="0"/>
              </a:rPr>
              <a:t>&gt;&gt;&gt; list(range(9, 0, -2))         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charset="0"/>
              </a:rPr>
              <a:t>#步长为负数时，start应比end大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charset="0"/>
              </a:rPr>
              <a:t>[9, 7, 5, 3, 1]</a:t>
            </a:r>
          </a:p>
        </p:txBody>
      </p:sp>
    </p:spTree>
    <p:extLst>
      <p:ext uri="{BB962C8B-B14F-4D97-AF65-F5344CB8AC3E}">
        <p14:creationId xmlns:p14="http://schemas.microsoft.com/office/powerpoint/2010/main" val="202879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3200" b="1">
                <a:solidFill>
                  <a:srgbClr val="C00000"/>
                </a:solidFill>
              </a:rPr>
              <a:t>range</a:t>
            </a:r>
            <a:r>
              <a:rPr lang="zh-CN" altLang="en-US" sz="3200" b="1">
                <a:solidFill>
                  <a:srgbClr val="C00000"/>
                </a:solidFill>
              </a:rPr>
              <a:t>对象在</a:t>
            </a:r>
            <a:r>
              <a:rPr lang="en-US" altLang="zh-CN" sz="3200" b="1">
                <a:solidFill>
                  <a:srgbClr val="C00000"/>
                </a:solidFill>
              </a:rPr>
              <a:t>for</a:t>
            </a:r>
            <a:r>
              <a:rPr lang="zh-CN" altLang="en-US" sz="3200" b="1">
                <a:solidFill>
                  <a:srgbClr val="C00000"/>
                </a:solidFill>
              </a:rPr>
              <a:t>循环中的应用</a:t>
            </a:r>
            <a:endParaRPr lang="en-US" altLang="zh-CN" sz="3200" b="1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9598" y="1802594"/>
            <a:ext cx="8641845" cy="1859819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50000"/>
              </a:lnSpc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 3.x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range()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函数返回的是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可迭代对象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专门为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语句设计了迭代器的处理方法。</a:t>
            </a:r>
          </a:p>
          <a:p>
            <a:pPr marL="514350" indent="-285750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对关键字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后的对象调用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iter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函数获得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迭代器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285750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然后调用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next()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函数获得迭代器的元素，直到抛出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StopIteration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416066" y="4081686"/>
            <a:ext cx="2311868" cy="26776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dirty="0"/>
              <a:t>for i in range(5):</a:t>
            </a:r>
          </a:p>
          <a:p>
            <a:r>
              <a:rPr lang="zh-CN" altLang="en-US" sz="2400" dirty="0"/>
              <a:t>	i=i+3</a:t>
            </a:r>
          </a:p>
          <a:p>
            <a:r>
              <a:rPr lang="zh-CN" altLang="en-US" sz="2400" dirty="0"/>
              <a:t>	print(i,end=' ')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zh-CN" sz="2400" dirty="0">
                <a:solidFill>
                  <a:srgbClr val="7030A0"/>
                </a:solidFill>
                <a:latin typeface="+mn-ea"/>
              </a:rPr>
              <a:t>程序输出结果如下：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00B0F0"/>
                </a:solidFill>
              </a:rPr>
              <a:t>3 4 5 6 7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9599" y="4413152"/>
            <a:ext cx="2311868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dirty="0"/>
              <a:t>for i in range(5):</a:t>
            </a:r>
          </a:p>
          <a:p>
            <a:r>
              <a:rPr lang="zh-CN" altLang="en-US" sz="2400" dirty="0"/>
              <a:t>	print(i,end=' ')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zh-CN" sz="2400" dirty="0">
                <a:solidFill>
                  <a:srgbClr val="7030A0"/>
                </a:solidFill>
                <a:latin typeface="+mn-ea"/>
              </a:rPr>
              <a:t>程序输出结果如下：</a:t>
            </a:r>
            <a:endParaRPr lang="en-US" altLang="zh-CN" sz="2400" dirty="0">
              <a:solidFill>
                <a:srgbClr val="7030A0"/>
              </a:solidFill>
              <a:latin typeface="+mn-ea"/>
            </a:endParaRPr>
          </a:p>
          <a:p>
            <a:pPr indent="0">
              <a:buNone/>
            </a:pPr>
            <a:r>
              <a:rPr lang="en-US" altLang="zh-CN" sz="2400" dirty="0">
                <a:solidFill>
                  <a:srgbClr val="00B0F0"/>
                </a:solidFill>
              </a:rPr>
              <a:t>0 1 2 3 4</a:t>
            </a:r>
            <a:endParaRPr lang="zh-CN" altLang="zh-CN" sz="2400" dirty="0">
              <a:solidFill>
                <a:srgbClr val="00B0F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13367" y="4413152"/>
            <a:ext cx="2558076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dirty="0"/>
              <a:t>for i in range(</a:t>
            </a:r>
            <a:r>
              <a:rPr lang="en-US" altLang="zh-CN" sz="2400" dirty="0"/>
              <a:t>0,</a:t>
            </a:r>
            <a:r>
              <a:rPr lang="zh-CN" altLang="en-US" sz="2400" dirty="0"/>
              <a:t>5</a:t>
            </a:r>
            <a:r>
              <a:rPr lang="en-US" altLang="zh-CN" sz="2400" dirty="0"/>
              <a:t>,3</a:t>
            </a:r>
            <a:r>
              <a:rPr lang="zh-CN" altLang="en-US" sz="2400" dirty="0"/>
              <a:t>):</a:t>
            </a:r>
          </a:p>
          <a:p>
            <a:r>
              <a:rPr lang="zh-CN" altLang="en-US" sz="2400" dirty="0"/>
              <a:t>	print(i,end='  ')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zh-CN" sz="2400" dirty="0">
                <a:solidFill>
                  <a:srgbClr val="7030A0"/>
                </a:solidFill>
                <a:latin typeface="+mn-ea"/>
              </a:rPr>
              <a:t>程序输出结果如下：</a:t>
            </a:r>
            <a:endParaRPr lang="en-US" altLang="zh-CN" sz="2400" dirty="0">
              <a:solidFill>
                <a:srgbClr val="7030A0"/>
              </a:solidFill>
              <a:latin typeface="+mn-ea"/>
            </a:endParaRPr>
          </a:p>
          <a:p>
            <a:pPr indent="0">
              <a:buNone/>
            </a:pPr>
            <a:r>
              <a:rPr lang="en-US" altLang="zh-CN" sz="2400" dirty="0">
                <a:solidFill>
                  <a:srgbClr val="00B0F0"/>
                </a:solidFill>
              </a:rPr>
              <a:t>0  3 </a:t>
            </a:r>
            <a:endParaRPr lang="zh-CN" altLang="zh-CN" sz="2400" dirty="0">
              <a:solidFill>
                <a:srgbClr val="00B0F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457950" y="136524"/>
            <a:ext cx="2413493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/>
              <a:t>&gt;&gt;&gt; x=iter(range(0,5))</a:t>
            </a:r>
          </a:p>
          <a:p>
            <a:r>
              <a:rPr lang="zh-CN" altLang="en-US" sz="2000" dirty="0"/>
              <a:t>&gt;&gt;&gt; next(x)</a:t>
            </a:r>
          </a:p>
          <a:p>
            <a:r>
              <a:rPr lang="zh-CN" altLang="en-US" sz="2000" dirty="0">
                <a:solidFill>
                  <a:schemeClr val="accent1"/>
                </a:solidFill>
              </a:rPr>
              <a:t>0</a:t>
            </a:r>
          </a:p>
          <a:p>
            <a:r>
              <a:rPr lang="zh-CN" altLang="en-US" sz="2000" dirty="0"/>
              <a:t>&gt;&gt;&gt; next(x)</a:t>
            </a:r>
          </a:p>
          <a:p>
            <a:r>
              <a:rPr lang="zh-CN" altLang="en-US" sz="2000" dirty="0">
                <a:solidFill>
                  <a:schemeClr val="accent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50497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479781"/>
              </p:ext>
            </p:extLst>
          </p:nvPr>
        </p:nvGraphicFramePr>
        <p:xfrm>
          <a:off x="100668" y="2172871"/>
          <a:ext cx="8137321" cy="21558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83353">
                  <a:extLst>
                    <a:ext uri="{9D8B030D-6E8A-4147-A177-3AD203B41FA5}">
                      <a16:colId xmlns:a16="http://schemas.microsoft.com/office/drawing/2014/main" val="357614852"/>
                    </a:ext>
                  </a:extLst>
                </a:gridCol>
                <a:gridCol w="4353968">
                  <a:extLst>
                    <a:ext uri="{9D8B030D-6E8A-4147-A177-3AD203B41FA5}">
                      <a16:colId xmlns:a16="http://schemas.microsoft.com/office/drawing/2014/main" val="3474894605"/>
                    </a:ext>
                  </a:extLst>
                </a:gridCol>
              </a:tblGrid>
              <a:tr h="2155848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for </a:t>
                      </a: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var</a:t>
                      </a: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in 序列或迭代对象:</a:t>
                      </a:r>
                    </a:p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循环体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altLang="zh-CN" sz="14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zh-CN" sz="14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zh-CN" sz="14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zh-CN" sz="14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14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31358733"/>
                  </a:ext>
                </a:extLst>
              </a:tr>
            </a:tbl>
          </a:graphicData>
        </a:graphic>
      </p:graphicFrame>
      <p:sp>
        <p:nvSpPr>
          <p:cNvPr id="33794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fld id="{604052F9-41B0-4711-8985-33545A58993A}" type="datetime1">
              <a:rPr lang="zh-CN" altLang="en-US">
                <a:solidFill>
                  <a:srgbClr val="898989"/>
                </a:solidFill>
              </a:rPr>
              <a:pPr eaLnBrk="1" hangingPunct="1">
                <a:buFont typeface="Arial" charset="0"/>
                <a:buNone/>
              </a:pPr>
              <a:t>2024/10/29</a:t>
            </a:fld>
            <a:endParaRPr lang="zh-CN" altLang="en-US" sz="1350" dirty="0"/>
          </a:p>
        </p:txBody>
      </p:sp>
      <p:sp>
        <p:nvSpPr>
          <p:cNvPr id="33795" name="矩形 9"/>
          <p:cNvSpPr>
            <a:spLocks noChangeArrowheads="1"/>
          </p:cNvSpPr>
          <p:nvPr/>
        </p:nvSpPr>
        <p:spPr bwMode="auto">
          <a:xfrm>
            <a:off x="197514" y="1523941"/>
            <a:ext cx="8694966" cy="80159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35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56333" name="TextBox 15"/>
          <p:cNvSpPr>
            <a:spLocks noChangeArrowheads="1"/>
          </p:cNvSpPr>
          <p:nvPr/>
        </p:nvSpPr>
        <p:spPr bwMode="auto">
          <a:xfrm>
            <a:off x="197514" y="4381373"/>
            <a:ext cx="4248651" cy="1230593"/>
          </a:xfrm>
          <a:prstGeom prst="rect">
            <a:avLst/>
          </a:prstGeom>
          <a:solidFill>
            <a:srgbClr val="FFFF00"/>
          </a:solidFill>
          <a:ln w="6350">
            <a:solidFill>
              <a:srgbClr val="B6DDE7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步骤一：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var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依次取序列中的每个值</a:t>
            </a:r>
            <a:endParaRPr lang="en-US" altLang="zh-CN" sz="2000" dirty="0"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步骤二：针对每个值执行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次循环体</a:t>
            </a:r>
          </a:p>
        </p:txBody>
      </p:sp>
      <p:cxnSp>
        <p:nvCxnSpPr>
          <p:cNvPr id="33" name="直接箭头连接符 14"/>
          <p:cNvCxnSpPr>
            <a:cxnSpLocks noChangeShapeType="1"/>
            <a:stCxn id="56333" idx="0"/>
          </p:cNvCxnSpPr>
          <p:nvPr/>
        </p:nvCxnSpPr>
        <p:spPr bwMode="auto">
          <a:xfrm flipH="1" flipV="1">
            <a:off x="1375794" y="3259848"/>
            <a:ext cx="946046" cy="1121525"/>
          </a:xfrm>
          <a:prstGeom prst="straightConnector1">
            <a:avLst/>
          </a:prstGeom>
          <a:noFill/>
          <a:ln w="25400">
            <a:solidFill>
              <a:srgbClr val="4BACC6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Box 12"/>
          <p:cNvSpPr>
            <a:spLocks noChangeArrowheads="1"/>
          </p:cNvSpPr>
          <p:nvPr/>
        </p:nvSpPr>
        <p:spPr bwMode="auto">
          <a:xfrm>
            <a:off x="2687541" y="5617613"/>
            <a:ext cx="6421968" cy="123059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285750" indent="-285750" eaLnBrk="1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序列所有元素都被访问过了之后，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才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执行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else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块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eaLnBrk="1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若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碰到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提前结束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循环，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则不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执行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else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块。</a:t>
            </a:r>
            <a:endParaRPr lang="zh-CN" altLang="en-US" sz="2000" dirty="0"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cxnSp>
        <p:nvCxnSpPr>
          <p:cNvPr id="36" name="直接箭头连接符 14"/>
          <p:cNvCxnSpPr>
            <a:cxnSpLocks noChangeShapeType="1"/>
          </p:cNvCxnSpPr>
          <p:nvPr/>
        </p:nvCxnSpPr>
        <p:spPr bwMode="auto">
          <a:xfrm flipH="1" flipV="1">
            <a:off x="5818834" y="4215852"/>
            <a:ext cx="323038" cy="1396114"/>
          </a:xfrm>
          <a:prstGeom prst="straightConnector1">
            <a:avLst/>
          </a:prstGeom>
          <a:noFill/>
          <a:ln w="25400">
            <a:solidFill>
              <a:srgbClr val="4BACC6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矩形 22"/>
          <p:cNvSpPr/>
          <p:nvPr/>
        </p:nvSpPr>
        <p:spPr>
          <a:xfrm>
            <a:off x="4205146" y="2138323"/>
            <a:ext cx="3873452" cy="2243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序列或迭代对象: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循环体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else子句代码块</a:t>
            </a:r>
          </a:p>
        </p:txBody>
      </p:sp>
      <p:sp>
        <p:nvSpPr>
          <p:cNvPr id="17" name="内容占位符 2"/>
          <p:cNvSpPr txBox="1">
            <a:spLocks/>
          </p:cNvSpPr>
          <p:nvPr/>
        </p:nvSpPr>
        <p:spPr>
          <a:xfrm>
            <a:off x="2186738" y="702341"/>
            <a:ext cx="3711787" cy="5362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语句的一般形式</a:t>
            </a:r>
            <a:endParaRPr lang="en-US" altLang="zh-CN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98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33" grpId="0" animBg="1"/>
      <p:bldP spid="33" grpId="0" animBg="1"/>
      <p:bldP spid="35" grpId="0" animBg="1"/>
      <p:bldP spid="36" grpId="0" animBg="1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>
                <a:solidFill>
                  <a:srgbClr val="C00000"/>
                </a:solidFill>
              </a:rPr>
              <a:t>累加求和问题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9352" y="1826506"/>
            <a:ext cx="4454463" cy="603873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4-1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9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1+2+3+</a:t>
            </a:r>
            <a:r>
              <a:rPr lang="zh-CN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+100</a:t>
            </a:r>
            <a:r>
              <a:rPr lang="zh-CN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的值。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sz="1800" b="1" dirty="0">
              <a:solidFill>
                <a:srgbClr val="C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63287" y="2531061"/>
            <a:ext cx="3452065" cy="24622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代码</a:t>
            </a:r>
            <a:r>
              <a:rPr lang="en-US" altLang="zh-CN" sz="2000" dirty="0"/>
              <a:t>1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s=0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for </a:t>
            </a:r>
            <a:r>
              <a:rPr lang="en-US" altLang="zh-CN" sz="2000" dirty="0"/>
              <a:t>k </a:t>
            </a:r>
            <a:r>
              <a:rPr lang="zh-CN" altLang="en-US" sz="2000" dirty="0"/>
              <a:t>in </a:t>
            </a:r>
            <a:r>
              <a:rPr lang="en-US" altLang="zh-CN" sz="2000" dirty="0"/>
              <a:t>range(1,101)</a:t>
            </a:r>
            <a:r>
              <a:rPr lang="zh-CN" altLang="en-US" sz="2000" dirty="0"/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    </a:t>
            </a:r>
            <a:r>
              <a:rPr lang="en-US" altLang="zh-CN" sz="2000" dirty="0"/>
              <a:t>s+=k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000" b="1" dirty="0">
                <a:solidFill>
                  <a:srgbClr val="0070C0"/>
                </a:solidFill>
              </a:rPr>
              <a:t>print("1+2+3+……+9+100=",s)</a:t>
            </a:r>
            <a:endParaRPr lang="zh-CN" altLang="zh-CN" sz="2000" b="1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23874" y="2553887"/>
            <a:ext cx="3943350" cy="293926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代码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s=0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for </a:t>
            </a:r>
            <a:r>
              <a:rPr lang="en-US" altLang="zh-CN" sz="2000" dirty="0"/>
              <a:t>k </a:t>
            </a:r>
            <a:r>
              <a:rPr lang="zh-CN" altLang="en-US" sz="2000" dirty="0"/>
              <a:t>in </a:t>
            </a:r>
            <a:r>
              <a:rPr lang="en-US" altLang="zh-CN" sz="2000" dirty="0"/>
              <a:t>range(1,101)</a:t>
            </a:r>
            <a:r>
              <a:rPr lang="zh-CN" altLang="en-US" sz="2000" dirty="0"/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    </a:t>
            </a:r>
            <a:r>
              <a:rPr lang="en-US" altLang="zh-CN" sz="2000" dirty="0"/>
              <a:t>s+=k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000" b="1">
                <a:solidFill>
                  <a:srgbClr val="0070C0"/>
                </a:solidFill>
              </a:rPr>
              <a:t>else</a:t>
            </a:r>
            <a:r>
              <a:rPr lang="en-US" altLang="zh-CN" sz="2000" b="1" dirty="0">
                <a:solidFill>
                  <a:srgbClr val="0070C0"/>
                </a:solidFill>
              </a:rPr>
              <a:t>: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zh-CN" sz="2000" b="1" dirty="0">
                <a:solidFill>
                  <a:srgbClr val="0070C0"/>
                </a:solidFill>
              </a:rPr>
              <a:t>    print("1+2+3+……+9+100=",s)</a:t>
            </a:r>
            <a:endParaRPr lang="zh-CN" altLang="zh-CN" sz="2000" b="1" dirty="0">
              <a:solidFill>
                <a:srgbClr val="0070C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9272" y="5681979"/>
            <a:ext cx="304158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Consolas" panose="020B0609020204030204" charset="0"/>
              </a:rPr>
              <a:t>方法二：</a:t>
            </a:r>
            <a:r>
              <a:rPr lang="zh-CN" altLang="en-US" sz="2000">
                <a:latin typeface="Consolas" panose="020B0609020204030204" charset="0"/>
              </a:rPr>
              <a:t>直接计算：</a:t>
            </a:r>
          </a:p>
          <a:p>
            <a:r>
              <a:rPr lang="zh-CN" altLang="en-US">
                <a:latin typeface="Consolas" panose="020B0609020204030204" charset="0"/>
              </a:rPr>
              <a:t>&gt;&gt;&gt; sum(range(1,101))</a:t>
            </a:r>
          </a:p>
          <a:p>
            <a:r>
              <a:rPr lang="zh-CN" altLang="en-US">
                <a:solidFill>
                  <a:srgbClr val="00B0F0"/>
                </a:solidFill>
                <a:latin typeface="Consolas" panose="020B0609020204030204" charset="0"/>
              </a:rPr>
              <a:t>5050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3508408" y="4716380"/>
            <a:ext cx="1073217" cy="4812"/>
          </a:xfrm>
          <a:prstGeom prst="straightConnector1">
            <a:avLst/>
          </a:prstGeom>
          <a:ln w="28575">
            <a:prstDash val="dashDot"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线形标注 2 11"/>
          <p:cNvSpPr/>
          <p:nvPr/>
        </p:nvSpPr>
        <p:spPr>
          <a:xfrm>
            <a:off x="4952197" y="5789596"/>
            <a:ext cx="2093495" cy="79801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565"/>
              <a:gd name="adj6" fmla="val -93564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序列后学习</a:t>
            </a:r>
          </a:p>
        </p:txBody>
      </p:sp>
    </p:spTree>
    <p:extLst>
      <p:ext uri="{BB962C8B-B14F-4D97-AF65-F5344CB8AC3E}">
        <p14:creationId xmlns:p14="http://schemas.microsoft.com/office/powerpoint/2010/main" val="428917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0600" y="712788"/>
            <a:ext cx="7315200" cy="23150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for i in range(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1,10,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5):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	print(i,end=' ')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循环执行次数是（   ）。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790299" y="3115659"/>
            <a:ext cx="321128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3980847"/>
            <a:ext cx="321128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4838097"/>
            <a:ext cx="321128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828800" y="5695347"/>
            <a:ext cx="321128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18789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04514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90239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75964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矩形 21"/>
          <p:cNvSpPr/>
          <p:nvPr/>
        </p:nvSpPr>
        <p:spPr>
          <a:xfrm>
            <a:off x="5240110" y="4170546"/>
            <a:ext cx="2128029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>
                <a:solidFill>
                  <a:srgbClr val="7030A0"/>
                </a:solidFill>
                <a:latin typeface="+mn-ea"/>
              </a:rPr>
              <a:t>程序输出结果如下：</a:t>
            </a:r>
            <a:endParaRPr lang="en-US" altLang="zh-CN">
              <a:solidFill>
                <a:srgbClr val="7030A0"/>
              </a:solidFill>
              <a:latin typeface="+mn-ea"/>
            </a:endParaRPr>
          </a:p>
          <a:p>
            <a:pPr indent="0">
              <a:buNone/>
            </a:pPr>
            <a:r>
              <a:rPr lang="en-US" altLang="zh-CN" sz="2000">
                <a:solidFill>
                  <a:srgbClr val="00B0F0"/>
                </a:solidFill>
              </a:rPr>
              <a:t>1  6 </a:t>
            </a:r>
            <a:endParaRPr lang="zh-CN" altLang="zh-CN" sz="2000" dirty="0">
              <a:solidFill>
                <a:srgbClr val="00B0F0"/>
              </a:solidFill>
            </a:endParaRP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063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0600" y="712788"/>
            <a:ext cx="7315200" cy="23150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for i in range(5):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	i=i+3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	print(i,end=' ')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循环执行次数是（   ）。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790299" y="3115659"/>
            <a:ext cx="321128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3980847"/>
            <a:ext cx="321128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4838097"/>
            <a:ext cx="321128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828800" y="5695347"/>
            <a:ext cx="321128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18789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04514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90239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75964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1" name="矩形 20"/>
          <p:cNvSpPr/>
          <p:nvPr/>
        </p:nvSpPr>
        <p:spPr>
          <a:xfrm>
            <a:off x="5240110" y="4170546"/>
            <a:ext cx="29811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>
                <a:solidFill>
                  <a:srgbClr val="7030A0"/>
                </a:solidFill>
                <a:latin typeface="+mn-ea"/>
              </a:rPr>
              <a:t>程序输出结果如下：</a:t>
            </a:r>
            <a:endParaRPr lang="en-US" altLang="zh-CN" sz="2400" dirty="0">
              <a:solidFill>
                <a:srgbClr val="7030A0"/>
              </a:solidFill>
              <a:latin typeface="+mn-ea"/>
            </a:endParaRPr>
          </a:p>
          <a:p>
            <a:r>
              <a:rPr lang="en-US" altLang="zh-CN" sz="2400" dirty="0">
                <a:solidFill>
                  <a:srgbClr val="00B0F0"/>
                </a:solidFill>
              </a:rPr>
              <a:t>3 4 5 6 7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4826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 </a:t>
            </a:r>
            <a:r>
              <a:rPr lang="zh-CN" altLang="zh-CN" dirty="0"/>
              <a:t>循环</a:t>
            </a:r>
            <a:r>
              <a:rPr lang="zh-CN" altLang="en-US" dirty="0"/>
              <a:t>控制语句：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452888" y="1771866"/>
            <a:ext cx="80010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rgbClr val="1717B7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fontAlgn="auto">
              <a:lnSpc>
                <a:spcPct val="150000"/>
              </a:lnSpc>
            </a:pPr>
            <a:endParaRPr lang="en-US" altLang="zh-CN" sz="1800" kern="0" dirty="0"/>
          </a:p>
          <a:p>
            <a:pPr fontAlgn="auto">
              <a:lnSpc>
                <a:spcPct val="150000"/>
              </a:lnSpc>
            </a:pPr>
            <a:r>
              <a:rPr lang="en-US" altLang="zh-CN" sz="1800" b="1" dirty="0">
                <a:solidFill>
                  <a:srgbClr val="C00000"/>
                </a:solidFill>
              </a:rPr>
              <a:t>break</a:t>
            </a:r>
            <a:r>
              <a:rPr lang="zh-CN" altLang="en-US" sz="1800" b="1" dirty="0">
                <a:solidFill>
                  <a:srgbClr val="C00000"/>
                </a:solidFill>
              </a:rPr>
              <a:t>语句与</a:t>
            </a:r>
            <a:r>
              <a:rPr lang="en-US" altLang="zh-CN" sz="1800" b="1" dirty="0">
                <a:solidFill>
                  <a:srgbClr val="C00000"/>
                </a:solidFill>
              </a:rPr>
              <a:t>continue</a:t>
            </a:r>
            <a:r>
              <a:rPr lang="zh-CN" altLang="en-US" sz="1800" b="1" dirty="0">
                <a:solidFill>
                  <a:srgbClr val="C00000"/>
                </a:solidFill>
              </a:rPr>
              <a:t>语句：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fontAlgn="auto">
              <a:lnSpc>
                <a:spcPct val="150000"/>
              </a:lnSpc>
            </a:pPr>
            <a:endParaRPr lang="en-US" altLang="zh-CN" sz="1800" kern="0" dirty="0"/>
          </a:p>
          <a:p>
            <a:pPr fontAlgn="auto">
              <a:lnSpc>
                <a:spcPct val="150000"/>
              </a:lnSpc>
            </a:pPr>
            <a:r>
              <a:rPr lang="zh-CN" altLang="en-US" sz="1800" kern="0" dirty="0"/>
              <a:t>一旦break语句被执行，将使得</a:t>
            </a:r>
            <a:r>
              <a:rPr lang="zh-CN" altLang="en-US" sz="1800" kern="0" dirty="0">
                <a:solidFill>
                  <a:srgbClr val="FF0000"/>
                </a:solidFill>
              </a:rPr>
              <a:t>break语句所属层次的循环提前结束</a:t>
            </a:r>
            <a:r>
              <a:rPr lang="zh-CN" altLang="en-US" sz="1800" kern="0" dirty="0"/>
              <a:t>；</a:t>
            </a:r>
            <a:endParaRPr lang="en-US" altLang="zh-CN" sz="1800" kern="0" dirty="0"/>
          </a:p>
          <a:p>
            <a:pPr fontAlgn="auto">
              <a:lnSpc>
                <a:spcPct val="150000"/>
              </a:lnSpc>
            </a:pPr>
            <a:endParaRPr lang="zh-CN" altLang="en-US" sz="1800" kern="0" dirty="0"/>
          </a:p>
          <a:p>
            <a:pPr fontAlgn="auto">
              <a:lnSpc>
                <a:spcPct val="150000"/>
              </a:lnSpc>
            </a:pPr>
            <a:r>
              <a:rPr lang="zh-CN" altLang="en-US" sz="1800" kern="0" dirty="0"/>
              <a:t>continue语句的作用是</a:t>
            </a:r>
            <a:r>
              <a:rPr lang="zh-CN" altLang="en-US" sz="1800" kern="0" dirty="0">
                <a:solidFill>
                  <a:srgbClr val="FF0000"/>
                </a:solidFill>
              </a:rPr>
              <a:t>提前结束本次循环</a:t>
            </a:r>
            <a:r>
              <a:rPr lang="zh-CN" altLang="en-US" sz="1800" kern="0" dirty="0"/>
              <a:t>，忽略continue之后的所有语句，</a:t>
            </a:r>
            <a:r>
              <a:rPr lang="zh-CN" altLang="en-US" sz="1800" kern="0" dirty="0">
                <a:solidFill>
                  <a:srgbClr val="FF0000"/>
                </a:solidFill>
              </a:rPr>
              <a:t>提前进入下一次循环</a:t>
            </a:r>
            <a:r>
              <a:rPr lang="zh-CN" altLang="en-US" sz="1800" kern="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4393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矩形 9"/>
          <p:cNvSpPr>
            <a:spLocks noChangeArrowheads="1"/>
          </p:cNvSpPr>
          <p:nvPr/>
        </p:nvSpPr>
        <p:spPr bwMode="auto">
          <a:xfrm>
            <a:off x="0" y="1025525"/>
            <a:ext cx="8532813" cy="114300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7043" name="流程图: 决策 7"/>
          <p:cNvSpPr>
            <a:spLocks noChangeArrowheads="1"/>
          </p:cNvSpPr>
          <p:nvPr/>
        </p:nvSpPr>
        <p:spPr bwMode="auto">
          <a:xfrm>
            <a:off x="1628775" y="2265363"/>
            <a:ext cx="1763713" cy="863600"/>
          </a:xfrm>
          <a:prstGeom prst="flowChartDecision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表达式</a:t>
            </a:r>
          </a:p>
        </p:txBody>
      </p:sp>
      <p:sp>
        <p:nvSpPr>
          <p:cNvPr id="87044" name="流程图: 过程 8"/>
          <p:cNvSpPr>
            <a:spLocks noChangeArrowheads="1"/>
          </p:cNvSpPr>
          <p:nvPr/>
        </p:nvSpPr>
        <p:spPr bwMode="auto">
          <a:xfrm>
            <a:off x="1870075" y="3802063"/>
            <a:ext cx="1296988" cy="1530350"/>
          </a:xfrm>
          <a:prstGeom prst="flowChartProcess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......</a:t>
            </a:r>
          </a:p>
          <a:p>
            <a:pPr algn="ctr"/>
            <a:endParaRPr lang="zh-CN" altLang="en-US" b="1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黑体" pitchFamily="49" charset="-122"/>
            </a:endParaRPr>
          </a:p>
          <a:p>
            <a:pPr algn="ctr"/>
            <a:r>
              <a:rPr lang="en-US" altLang="zh-CN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......</a:t>
            </a:r>
          </a:p>
          <a:p>
            <a:pPr algn="ctr"/>
            <a:endParaRPr lang="zh-CN" altLang="en-US" b="1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黑体" pitchFamily="49" charset="-122"/>
            </a:endParaRPr>
          </a:p>
        </p:txBody>
      </p:sp>
      <p:sp>
        <p:nvSpPr>
          <p:cNvPr id="87045" name="直接箭头连接符 9"/>
          <p:cNvSpPr>
            <a:spLocks noChangeShapeType="1"/>
          </p:cNvSpPr>
          <p:nvPr/>
        </p:nvSpPr>
        <p:spPr bwMode="auto">
          <a:xfrm>
            <a:off x="2497138" y="1543050"/>
            <a:ext cx="0" cy="722313"/>
          </a:xfrm>
          <a:prstGeom prst="straightConnector1">
            <a:avLst/>
          </a:prstGeom>
          <a:noFill/>
          <a:ln w="25400" cap="flat" cmpd="sng">
            <a:solidFill>
              <a:srgbClr val="F7964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87046" name="直接箭头连接符 10"/>
          <p:cNvCxnSpPr>
            <a:cxnSpLocks noChangeShapeType="1"/>
            <a:stCxn id="87043" idx="2"/>
            <a:endCxn id="87044" idx="0"/>
          </p:cNvCxnSpPr>
          <p:nvPr/>
        </p:nvCxnSpPr>
        <p:spPr bwMode="auto">
          <a:xfrm>
            <a:off x="2511425" y="3128963"/>
            <a:ext cx="6350" cy="673100"/>
          </a:xfrm>
          <a:prstGeom prst="straightConnector1">
            <a:avLst/>
          </a:prstGeom>
          <a:noFill/>
          <a:ln w="25400" cap="flat" cmpd="sng">
            <a:solidFill>
              <a:srgbClr val="F7964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47" name="AutoShape 7"/>
          <p:cNvCxnSpPr>
            <a:cxnSpLocks noChangeShapeType="1"/>
            <a:stCxn id="87044" idx="2"/>
            <a:endCxn id="87043" idx="1"/>
          </p:cNvCxnSpPr>
          <p:nvPr/>
        </p:nvCxnSpPr>
        <p:spPr bwMode="auto">
          <a:xfrm rot="16200000" flipV="1">
            <a:off x="755650" y="3568700"/>
            <a:ext cx="2636838" cy="890588"/>
          </a:xfrm>
          <a:prstGeom prst="bentConnector4">
            <a:avLst>
              <a:gd name="adj1" fmla="val -9032"/>
              <a:gd name="adj2" fmla="val 175319"/>
            </a:avLst>
          </a:prstGeom>
          <a:noFill/>
          <a:ln w="25400" cap="flat" cmpd="sng">
            <a:solidFill>
              <a:srgbClr val="F79646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48" name="肘形连接符 13"/>
          <p:cNvSpPr>
            <a:spLocks noChangeShapeType="1"/>
          </p:cNvSpPr>
          <p:nvPr/>
        </p:nvSpPr>
        <p:spPr bwMode="auto">
          <a:xfrm flipH="1">
            <a:off x="2771775" y="2697163"/>
            <a:ext cx="620713" cy="3805237"/>
          </a:xfrm>
          <a:prstGeom prst="bentConnector4">
            <a:avLst>
              <a:gd name="adj1" fmla="val -75662"/>
              <a:gd name="adj2" fmla="val 81056"/>
            </a:avLst>
          </a:prstGeom>
          <a:noFill/>
          <a:ln w="25400" cap="flat" cmpd="sng">
            <a:solidFill>
              <a:srgbClr val="F79646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49" name="文本框 14"/>
          <p:cNvSpPr>
            <a:spLocks noChangeArrowheads="1"/>
          </p:cNvSpPr>
          <p:nvPr/>
        </p:nvSpPr>
        <p:spPr bwMode="auto">
          <a:xfrm>
            <a:off x="2525713" y="3200400"/>
            <a:ext cx="528637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非</a:t>
            </a:r>
            <a:r>
              <a:rPr lang="en-US" altLang="zh-CN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0</a:t>
            </a:r>
          </a:p>
        </p:txBody>
      </p:sp>
      <p:sp>
        <p:nvSpPr>
          <p:cNvPr id="87050" name="文本框 15"/>
          <p:cNvSpPr>
            <a:spLocks noChangeArrowheads="1"/>
          </p:cNvSpPr>
          <p:nvPr/>
        </p:nvSpPr>
        <p:spPr bwMode="auto">
          <a:xfrm>
            <a:off x="3298825" y="2222500"/>
            <a:ext cx="29845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0</a:t>
            </a:r>
          </a:p>
        </p:txBody>
      </p:sp>
      <p:sp>
        <p:nvSpPr>
          <p:cNvPr id="87051" name="文本框 4"/>
          <p:cNvSpPr>
            <a:spLocks noChangeArrowheads="1"/>
          </p:cNvSpPr>
          <p:nvPr/>
        </p:nvSpPr>
        <p:spPr bwMode="auto">
          <a:xfrm>
            <a:off x="2124075" y="4197350"/>
            <a:ext cx="720725" cy="492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sym typeface="宋体" pitchFamily="2" charset="-122"/>
              </a:rPr>
              <a:t>break</a:t>
            </a:r>
          </a:p>
        </p:txBody>
      </p:sp>
      <p:sp>
        <p:nvSpPr>
          <p:cNvPr id="87052" name="肘形连接符 5"/>
          <p:cNvSpPr>
            <a:spLocks noChangeShapeType="1"/>
          </p:cNvSpPr>
          <p:nvPr/>
        </p:nvSpPr>
        <p:spPr bwMode="auto">
          <a:xfrm flipH="1">
            <a:off x="2800350" y="4443413"/>
            <a:ext cx="115888" cy="2139950"/>
          </a:xfrm>
          <a:prstGeom prst="bentConnector4">
            <a:avLst>
              <a:gd name="adj1" fmla="val -786412"/>
              <a:gd name="adj2" fmla="val 61588"/>
            </a:avLst>
          </a:prstGeom>
          <a:noFill/>
          <a:ln w="57150" cap="flat" cmpd="sng">
            <a:solidFill>
              <a:srgbClr val="FF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3" name="流程图: 决策 2"/>
          <p:cNvSpPr>
            <a:spLocks noChangeArrowheads="1"/>
          </p:cNvSpPr>
          <p:nvPr/>
        </p:nvSpPr>
        <p:spPr bwMode="auto">
          <a:xfrm>
            <a:off x="5918200" y="2263775"/>
            <a:ext cx="1763713" cy="863600"/>
          </a:xfrm>
          <a:prstGeom prst="flowChartDecision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表达式</a:t>
            </a:r>
          </a:p>
        </p:txBody>
      </p:sp>
      <p:sp>
        <p:nvSpPr>
          <p:cNvPr id="87054" name="直接箭头连接符 16"/>
          <p:cNvSpPr>
            <a:spLocks noChangeShapeType="1"/>
          </p:cNvSpPr>
          <p:nvPr/>
        </p:nvSpPr>
        <p:spPr bwMode="auto">
          <a:xfrm>
            <a:off x="6784975" y="1541463"/>
            <a:ext cx="1588" cy="722312"/>
          </a:xfrm>
          <a:prstGeom prst="straightConnector1">
            <a:avLst/>
          </a:prstGeom>
          <a:noFill/>
          <a:ln w="25400" cap="flat" cmpd="sng">
            <a:solidFill>
              <a:srgbClr val="F7964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87055" name="直接箭头连接符 17"/>
          <p:cNvCxnSpPr>
            <a:cxnSpLocks noChangeShapeType="1"/>
            <a:stCxn id="87053" idx="2"/>
            <a:endCxn id="87057" idx="0"/>
          </p:cNvCxnSpPr>
          <p:nvPr/>
        </p:nvCxnSpPr>
        <p:spPr bwMode="auto">
          <a:xfrm>
            <a:off x="6799263" y="3127375"/>
            <a:ext cx="7937" cy="669925"/>
          </a:xfrm>
          <a:prstGeom prst="straightConnector1">
            <a:avLst/>
          </a:prstGeom>
          <a:noFill/>
          <a:ln w="25400" cap="flat" cmpd="sng">
            <a:solidFill>
              <a:srgbClr val="F7964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56" name="肘形连接符 18"/>
          <p:cNvSpPr>
            <a:spLocks noChangeShapeType="1"/>
          </p:cNvSpPr>
          <p:nvPr/>
        </p:nvSpPr>
        <p:spPr bwMode="auto">
          <a:xfrm rot="5400000" flipH="1">
            <a:off x="5474494" y="3475831"/>
            <a:ext cx="2628900" cy="46038"/>
          </a:xfrm>
          <a:prstGeom prst="bentConnector5">
            <a:avLst>
              <a:gd name="adj1" fmla="val -27630"/>
              <a:gd name="adj2" fmla="val 3118181"/>
              <a:gd name="adj3" fmla="val 100028"/>
            </a:avLst>
          </a:prstGeom>
          <a:noFill/>
          <a:ln w="25400" cap="flat" cmpd="sng">
            <a:solidFill>
              <a:srgbClr val="F79646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7" name="流程图: 过程 6"/>
          <p:cNvSpPr>
            <a:spLocks noChangeArrowheads="1"/>
          </p:cNvSpPr>
          <p:nvPr/>
        </p:nvSpPr>
        <p:spPr bwMode="auto">
          <a:xfrm>
            <a:off x="6159500" y="3797300"/>
            <a:ext cx="1295400" cy="1393825"/>
          </a:xfrm>
          <a:prstGeom prst="flowChartProcess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miter lim="800000"/>
            <a:headEnd/>
            <a:tailEnd/>
          </a:ln>
        </p:spPr>
        <p:txBody>
          <a:bodyPr lIns="90170" tIns="46990" rIns="90170" bIns="46990" anchor="ctr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......</a:t>
            </a:r>
          </a:p>
          <a:p>
            <a:pPr algn="ctr"/>
            <a:endParaRPr lang="zh-CN" altLang="en-US" b="1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黑体" pitchFamily="49" charset="-122"/>
            </a:endParaRPr>
          </a:p>
          <a:p>
            <a:pPr algn="ctr"/>
            <a:endParaRPr lang="zh-CN" altLang="en-US" b="1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黑体" pitchFamily="49" charset="-122"/>
            </a:endParaRPr>
          </a:p>
          <a:p>
            <a:pPr algn="ctr"/>
            <a:r>
              <a:rPr lang="en-US" altLang="zh-CN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......</a:t>
            </a:r>
          </a:p>
        </p:txBody>
      </p:sp>
      <p:sp>
        <p:nvSpPr>
          <p:cNvPr id="87058" name="肘形连接符 20"/>
          <p:cNvSpPr>
            <a:spLocks noChangeShapeType="1"/>
          </p:cNvSpPr>
          <p:nvPr/>
        </p:nvSpPr>
        <p:spPr bwMode="auto">
          <a:xfrm flipH="1">
            <a:off x="7077075" y="2695575"/>
            <a:ext cx="647700" cy="3933825"/>
          </a:xfrm>
          <a:prstGeom prst="bentConnector4">
            <a:avLst>
              <a:gd name="adj1" fmla="val -36727"/>
              <a:gd name="adj2" fmla="val 74981"/>
            </a:avLst>
          </a:prstGeom>
          <a:noFill/>
          <a:ln w="25400" cap="flat" cmpd="sng">
            <a:solidFill>
              <a:srgbClr val="F79646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9" name="文本框 21"/>
          <p:cNvSpPr>
            <a:spLocks noChangeArrowheads="1"/>
          </p:cNvSpPr>
          <p:nvPr/>
        </p:nvSpPr>
        <p:spPr bwMode="auto">
          <a:xfrm>
            <a:off x="6815138" y="3197225"/>
            <a:ext cx="52863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非</a:t>
            </a:r>
            <a:r>
              <a:rPr lang="en-US" altLang="zh-CN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0</a:t>
            </a:r>
          </a:p>
        </p:txBody>
      </p:sp>
      <p:sp>
        <p:nvSpPr>
          <p:cNvPr id="87060" name="文本框 22"/>
          <p:cNvSpPr>
            <a:spLocks noChangeArrowheads="1"/>
          </p:cNvSpPr>
          <p:nvPr/>
        </p:nvSpPr>
        <p:spPr bwMode="auto">
          <a:xfrm>
            <a:off x="7588250" y="2219325"/>
            <a:ext cx="2984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0</a:t>
            </a:r>
          </a:p>
        </p:txBody>
      </p:sp>
      <p:sp>
        <p:nvSpPr>
          <p:cNvPr id="87061" name="文本框 23"/>
          <p:cNvSpPr>
            <a:spLocks noChangeArrowheads="1"/>
          </p:cNvSpPr>
          <p:nvPr/>
        </p:nvSpPr>
        <p:spPr bwMode="auto">
          <a:xfrm>
            <a:off x="6340475" y="4194175"/>
            <a:ext cx="1016000" cy="490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sym typeface="宋体" pitchFamily="2" charset="-122"/>
              </a:rPr>
              <a:t>continue</a:t>
            </a:r>
          </a:p>
        </p:txBody>
      </p:sp>
      <p:cxnSp>
        <p:nvCxnSpPr>
          <p:cNvPr id="87062" name="肘形连接符 25"/>
          <p:cNvCxnSpPr>
            <a:cxnSpLocks noChangeShapeType="1"/>
            <a:stCxn id="87061" idx="1"/>
          </p:cNvCxnSpPr>
          <p:nvPr/>
        </p:nvCxnSpPr>
        <p:spPr bwMode="auto">
          <a:xfrm rot="10800000" flipH="1">
            <a:off x="6332538" y="1749425"/>
            <a:ext cx="431800" cy="2687638"/>
          </a:xfrm>
          <a:prstGeom prst="bentConnector3">
            <a:avLst>
              <a:gd name="adj1" fmla="val -144690"/>
            </a:avLst>
          </a:prstGeom>
          <a:noFill/>
          <a:ln w="57150" cap="flat" cmpd="sng">
            <a:solidFill>
              <a:srgbClr val="FF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63" name="文本框 26"/>
          <p:cNvSpPr>
            <a:spLocks noChangeArrowheads="1"/>
          </p:cNvSpPr>
          <p:nvPr/>
        </p:nvSpPr>
        <p:spPr bwMode="auto">
          <a:xfrm>
            <a:off x="467715" y="260780"/>
            <a:ext cx="3882035" cy="830997"/>
          </a:xfrm>
          <a:prstGeom prst="rect">
            <a:avLst/>
          </a:prstGeom>
          <a:gradFill rotWithShape="1">
            <a:gsLst>
              <a:gs pos="0">
                <a:srgbClr val="FFD1BB"/>
              </a:gs>
              <a:gs pos="34999">
                <a:srgbClr val="FFDDCF"/>
              </a:gs>
              <a:gs pos="100000">
                <a:srgbClr val="FFF2E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break退出循环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转到循环之后的下一条语句</a:t>
            </a:r>
          </a:p>
        </p:txBody>
      </p:sp>
      <p:sp>
        <p:nvSpPr>
          <p:cNvPr id="87064" name="文本框 27"/>
          <p:cNvSpPr>
            <a:spLocks noChangeArrowheads="1"/>
          </p:cNvSpPr>
          <p:nvPr/>
        </p:nvSpPr>
        <p:spPr bwMode="auto">
          <a:xfrm>
            <a:off x="5436060" y="260350"/>
            <a:ext cx="3438065" cy="830997"/>
          </a:xfrm>
          <a:prstGeom prst="rect">
            <a:avLst/>
          </a:prstGeom>
          <a:gradFill rotWithShape="1">
            <a:gsLst>
              <a:gs pos="0">
                <a:srgbClr val="FFD1BB"/>
              </a:gs>
              <a:gs pos="34999">
                <a:srgbClr val="FFDDCF"/>
              </a:gs>
              <a:gs pos="100000">
                <a:srgbClr val="FFF2E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continue中断本次循环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开始下一次循环</a:t>
            </a:r>
          </a:p>
        </p:txBody>
      </p:sp>
    </p:spTree>
    <p:extLst>
      <p:ext uri="{BB962C8B-B14F-4D97-AF65-F5344CB8AC3E}">
        <p14:creationId xmlns:p14="http://schemas.microsoft.com/office/powerpoint/2010/main" val="113383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0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3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6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9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2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5" dur="500"/>
                                        <p:tgtEl>
                                          <p:spTgt spid="8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8" dur="500"/>
                                        <p:tgtEl>
                                          <p:spTgt spid="8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5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8" dur="500"/>
                                        <p:tgtEl>
                                          <p:spTgt spid="8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1" dur="500"/>
                                        <p:tgtEl>
                                          <p:spTgt spid="8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4" dur="5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7" dur="5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0" dur="500"/>
                                        <p:tgtEl>
                                          <p:spTgt spid="8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3" dur="500"/>
                                        <p:tgtEl>
                                          <p:spTgt spid="8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6" dur="500"/>
                                        <p:tgtEl>
                                          <p:spTgt spid="8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9" dur="500"/>
                                        <p:tgtEl>
                                          <p:spTgt spid="8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6" dur="500"/>
                                        <p:tgtEl>
                                          <p:spTgt spid="8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ldLvl="0" animBg="1" autoUpdateAnimBg="0"/>
      <p:bldP spid="87044" grpId="0" bldLvl="0" animBg="1" autoUpdateAnimBg="0"/>
      <p:bldP spid="87045" grpId="0" animBg="1"/>
      <p:bldP spid="87048" grpId="0" animBg="1"/>
      <p:bldP spid="87049" grpId="0" bldLvl="0" autoUpdateAnimBg="0"/>
      <p:bldP spid="87050" grpId="0" bldLvl="0" autoUpdateAnimBg="0"/>
      <p:bldP spid="87051" grpId="0" bldLvl="0" animBg="1" autoUpdateAnimBg="0"/>
      <p:bldP spid="87052" grpId="0" animBg="1"/>
      <p:bldP spid="87052" grpId="1" animBg="1"/>
      <p:bldP spid="87053" grpId="0" bldLvl="0" animBg="1" autoUpdateAnimBg="0"/>
      <p:bldP spid="87054" grpId="0" animBg="1"/>
      <p:bldP spid="87056" grpId="0" animBg="1"/>
      <p:bldP spid="87057" grpId="0" bldLvl="0" animBg="1" autoUpdateAnimBg="0"/>
      <p:bldP spid="87058" grpId="0" animBg="1"/>
      <p:bldP spid="87059" grpId="0" bldLvl="0" autoUpdateAnimBg="0"/>
      <p:bldP spid="87060" grpId="0" bldLvl="0" autoUpdateAnimBg="0"/>
      <p:bldP spid="87061" grpId="0" bldLvl="0" animBg="1" autoUpdateAnimBg="0"/>
      <p:bldP spid="87064" grpId="0" bldLvl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矩形 9"/>
          <p:cNvSpPr>
            <a:spLocks noChangeArrowheads="1"/>
          </p:cNvSpPr>
          <p:nvPr/>
        </p:nvSpPr>
        <p:spPr bwMode="auto">
          <a:xfrm>
            <a:off x="0" y="1025525"/>
            <a:ext cx="8532813" cy="114300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8068" name="TextBox 5"/>
          <p:cNvSpPr>
            <a:spLocks noChangeArrowheads="1"/>
          </p:cNvSpPr>
          <p:nvPr/>
        </p:nvSpPr>
        <p:spPr bwMode="auto">
          <a:xfrm>
            <a:off x="1403350" y="2755900"/>
            <a:ext cx="2439988" cy="11271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 w="9525" cap="flat" cmpd="sng">
            <a:solidFill>
              <a:srgbClr val="4BACC6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break</a:t>
            </a:r>
            <a:r>
              <a:rPr lang="zh-CN" altLang="en-US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语句</a:t>
            </a:r>
          </a:p>
          <a:p>
            <a:endParaRPr lang="zh-CN" altLang="en-US" sz="20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88069" name="TextBox 5"/>
          <p:cNvSpPr>
            <a:spLocks noChangeArrowheads="1"/>
          </p:cNvSpPr>
          <p:nvPr/>
        </p:nvSpPr>
        <p:spPr bwMode="auto">
          <a:xfrm>
            <a:off x="1435100" y="3979863"/>
            <a:ext cx="2438400" cy="11255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 w="9525" cap="flat" cmpd="sng">
            <a:solidFill>
              <a:srgbClr val="4BACC6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continue</a:t>
            </a:r>
            <a:r>
              <a:rPr lang="zh-CN" altLang="en-US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语句</a:t>
            </a:r>
          </a:p>
          <a:p>
            <a:endParaRPr lang="zh-CN" altLang="en-US" sz="20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88070" name="文本框 3"/>
          <p:cNvSpPr>
            <a:spLocks noChangeArrowheads="1"/>
          </p:cNvSpPr>
          <p:nvPr/>
        </p:nvSpPr>
        <p:spPr bwMode="auto">
          <a:xfrm>
            <a:off x="4262438" y="3150773"/>
            <a:ext cx="45362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Calibri" pitchFamily="34" charset="0"/>
                <a:ea typeface="微软雅黑" pitchFamily="34" charset="-122"/>
                <a:sym typeface="宋体" pitchFamily="2" charset="-122"/>
              </a:rPr>
              <a:t>一般作为</a:t>
            </a:r>
            <a:r>
              <a:rPr lang="zh-CN" altLang="en-US" sz="2400" dirty="0">
                <a:solidFill>
                  <a:srgbClr val="FF0000"/>
                </a:solidFill>
                <a:latin typeface="Calibri" pitchFamily="34" charset="0"/>
                <a:ea typeface="微软雅黑" pitchFamily="34" charset="-122"/>
                <a:sym typeface="宋体" pitchFamily="2" charset="-122"/>
              </a:rPr>
              <a:t>选择语句的分支</a:t>
            </a:r>
            <a:r>
              <a:rPr lang="zh-CN" altLang="en-US" sz="2400" dirty="0">
                <a:solidFill>
                  <a:srgbClr val="000000"/>
                </a:solidFill>
                <a:latin typeface="Calibri" pitchFamily="34" charset="0"/>
                <a:ea typeface="微软雅黑" pitchFamily="34" charset="-122"/>
                <a:sym typeface="宋体" pitchFamily="2" charset="-122"/>
              </a:rPr>
              <a:t>，</a:t>
            </a:r>
          </a:p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Calibri" pitchFamily="34" charset="0"/>
                <a:ea typeface="微软雅黑" pitchFamily="34" charset="-122"/>
                <a:sym typeface="宋体" pitchFamily="2" charset="-122"/>
              </a:rPr>
              <a:t>不单独使用（单独使用没有意义）</a:t>
            </a:r>
          </a:p>
        </p:txBody>
      </p:sp>
      <p:sp>
        <p:nvSpPr>
          <p:cNvPr id="88071" name="右大括号 6"/>
          <p:cNvSpPr>
            <a:spLocks/>
          </p:cNvSpPr>
          <p:nvPr/>
        </p:nvSpPr>
        <p:spPr bwMode="auto">
          <a:xfrm>
            <a:off x="3924300" y="2949575"/>
            <a:ext cx="287338" cy="2016125"/>
          </a:xfrm>
          <a:prstGeom prst="rightBrace">
            <a:avLst>
              <a:gd name="adj1" fmla="val 10687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zh-CN" altLang="zh-CN"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743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9"/>
          <p:cNvSpPr>
            <a:spLocks noChangeArrowheads="1"/>
          </p:cNvSpPr>
          <p:nvPr/>
        </p:nvSpPr>
        <p:spPr bwMode="auto">
          <a:xfrm>
            <a:off x="295275" y="1177925"/>
            <a:ext cx="8532813" cy="114300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9092" name="流程图: 决策 6"/>
          <p:cNvSpPr>
            <a:spLocks noChangeArrowheads="1"/>
          </p:cNvSpPr>
          <p:nvPr/>
        </p:nvSpPr>
        <p:spPr bwMode="auto">
          <a:xfrm>
            <a:off x="5918200" y="1114425"/>
            <a:ext cx="1979613" cy="719138"/>
          </a:xfrm>
          <a:prstGeom prst="flowChartDecision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表达式</a:t>
            </a:r>
            <a:r>
              <a:rPr lang="en-US" altLang="zh-CN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1</a:t>
            </a:r>
          </a:p>
        </p:txBody>
      </p:sp>
      <p:sp>
        <p:nvSpPr>
          <p:cNvPr id="89093" name="流程图: 过程 7"/>
          <p:cNvSpPr>
            <a:spLocks noChangeArrowheads="1"/>
          </p:cNvSpPr>
          <p:nvPr/>
        </p:nvSpPr>
        <p:spPr bwMode="auto">
          <a:xfrm>
            <a:off x="6261100" y="2308225"/>
            <a:ext cx="1295400" cy="431800"/>
          </a:xfrm>
          <a:prstGeom prst="flowChartProcess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......</a:t>
            </a:r>
          </a:p>
        </p:txBody>
      </p:sp>
      <p:sp>
        <p:nvSpPr>
          <p:cNvPr id="89094" name="直接箭头连接符 16"/>
          <p:cNvSpPr>
            <a:spLocks noChangeShapeType="1"/>
          </p:cNvSpPr>
          <p:nvPr/>
        </p:nvSpPr>
        <p:spPr bwMode="auto">
          <a:xfrm>
            <a:off x="6929438" y="392113"/>
            <a:ext cx="0" cy="722312"/>
          </a:xfrm>
          <a:prstGeom prst="straightConnector1">
            <a:avLst/>
          </a:prstGeom>
          <a:noFill/>
          <a:ln w="25400" cap="flat" cmpd="sng">
            <a:solidFill>
              <a:srgbClr val="F7964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5" name="直接箭头连接符 17"/>
          <p:cNvSpPr>
            <a:spLocks noChangeShapeType="1"/>
          </p:cNvSpPr>
          <p:nvPr/>
        </p:nvSpPr>
        <p:spPr bwMode="auto">
          <a:xfrm>
            <a:off x="6907213" y="1822450"/>
            <a:ext cx="1587" cy="473075"/>
          </a:xfrm>
          <a:prstGeom prst="straightConnector1">
            <a:avLst/>
          </a:prstGeom>
          <a:noFill/>
          <a:ln w="25400" cap="flat" cmpd="sng">
            <a:solidFill>
              <a:srgbClr val="F7964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89096" name="肘形连接符 18"/>
          <p:cNvCxnSpPr>
            <a:cxnSpLocks noChangeShapeType="1"/>
            <a:stCxn id="89108" idx="1"/>
            <a:endCxn id="89097" idx="2"/>
          </p:cNvCxnSpPr>
          <p:nvPr/>
        </p:nvCxnSpPr>
        <p:spPr bwMode="auto">
          <a:xfrm rot="10800000" flipH="1">
            <a:off x="6315075" y="646113"/>
            <a:ext cx="593725" cy="4821237"/>
          </a:xfrm>
          <a:prstGeom prst="bentConnector3">
            <a:avLst>
              <a:gd name="adj1" fmla="val -129227"/>
            </a:avLst>
          </a:prstGeom>
          <a:noFill/>
          <a:ln w="25400" cap="flat" cmpd="sng">
            <a:solidFill>
              <a:srgbClr val="F79646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097" name="椭圆 19"/>
          <p:cNvSpPr>
            <a:spLocks noChangeArrowheads="1"/>
          </p:cNvSpPr>
          <p:nvPr/>
        </p:nvSpPr>
        <p:spPr bwMode="auto">
          <a:xfrm>
            <a:off x="6908800" y="635000"/>
            <a:ext cx="17463" cy="23813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zh-CN">
              <a:solidFill>
                <a:srgbClr val="000000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9098" name="肘形连接符 20"/>
          <p:cNvSpPr>
            <a:spLocks noChangeShapeType="1"/>
          </p:cNvSpPr>
          <p:nvPr/>
        </p:nvSpPr>
        <p:spPr bwMode="auto">
          <a:xfrm flipH="1">
            <a:off x="7021513" y="1473200"/>
            <a:ext cx="900112" cy="4970463"/>
          </a:xfrm>
          <a:prstGeom prst="bentConnector4">
            <a:avLst>
              <a:gd name="adj1" fmla="val -74620"/>
              <a:gd name="adj2" fmla="val 88782"/>
            </a:avLst>
          </a:prstGeom>
          <a:noFill/>
          <a:ln w="25400" cap="flat" cmpd="sng">
            <a:solidFill>
              <a:srgbClr val="F79646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9" name="文本框 21"/>
          <p:cNvSpPr>
            <a:spLocks noChangeArrowheads="1"/>
          </p:cNvSpPr>
          <p:nvPr/>
        </p:nvSpPr>
        <p:spPr bwMode="auto">
          <a:xfrm>
            <a:off x="6948488" y="1801813"/>
            <a:ext cx="6527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True</a:t>
            </a:r>
          </a:p>
        </p:txBody>
      </p:sp>
      <p:sp>
        <p:nvSpPr>
          <p:cNvPr id="89100" name="文本框 22"/>
          <p:cNvSpPr>
            <a:spLocks noChangeArrowheads="1"/>
          </p:cNvSpPr>
          <p:nvPr/>
        </p:nvSpPr>
        <p:spPr bwMode="auto">
          <a:xfrm>
            <a:off x="7885113" y="933450"/>
            <a:ext cx="7697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False</a:t>
            </a:r>
          </a:p>
        </p:txBody>
      </p:sp>
      <p:sp>
        <p:nvSpPr>
          <p:cNvPr id="89101" name="文本框 23"/>
          <p:cNvSpPr>
            <a:spLocks noChangeArrowheads="1"/>
          </p:cNvSpPr>
          <p:nvPr/>
        </p:nvSpPr>
        <p:spPr bwMode="auto">
          <a:xfrm>
            <a:off x="6410325" y="4391025"/>
            <a:ext cx="1028700" cy="490538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sym typeface="宋体" pitchFamily="2" charset="-122"/>
              </a:rPr>
              <a:t>   break   </a:t>
            </a:r>
          </a:p>
        </p:txBody>
      </p:sp>
      <p:sp>
        <p:nvSpPr>
          <p:cNvPr id="89102" name="肘形连接符 25"/>
          <p:cNvSpPr>
            <a:spLocks noChangeShapeType="1"/>
          </p:cNvSpPr>
          <p:nvPr/>
        </p:nvSpPr>
        <p:spPr bwMode="auto">
          <a:xfrm flipH="1">
            <a:off x="7019925" y="4678363"/>
            <a:ext cx="438150" cy="2057400"/>
          </a:xfrm>
          <a:prstGeom prst="bentConnector4">
            <a:avLst>
              <a:gd name="adj1" fmla="val -257907"/>
              <a:gd name="adj2" fmla="val 57880"/>
            </a:avLst>
          </a:prstGeom>
          <a:noFill/>
          <a:ln w="57150" cap="flat" cmpd="sng">
            <a:solidFill>
              <a:srgbClr val="FF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03" name="文本框 8"/>
          <p:cNvSpPr>
            <a:spLocks noChangeArrowheads="1"/>
          </p:cNvSpPr>
          <p:nvPr/>
        </p:nvSpPr>
        <p:spPr bwMode="auto">
          <a:xfrm>
            <a:off x="825615" y="2028805"/>
            <a:ext cx="3164340" cy="3416320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 w="9525" cap="flat" cmpd="sng">
            <a:solidFill>
              <a:srgbClr val="4BACC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while   表达式1 </a:t>
            </a:r>
            <a:r>
              <a:rPr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:</a:t>
            </a:r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     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      ......</a:t>
            </a:r>
            <a:endParaRPr lang="zh-CN" altLang="en-US" sz="2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</a:t>
            </a:r>
            <a:r>
              <a:rPr lang="en-US" altLang="zh-CN" sz="2400" dirty="0" err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f  表达式2 </a:t>
            </a:r>
            <a:r>
              <a:rPr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:</a:t>
            </a:r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</a:t>
            </a:r>
          </a:p>
          <a:p>
            <a:pPr>
              <a:lnSpc>
                <a:spcPct val="2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break</a:t>
            </a:r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       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</a:t>
            </a:r>
            <a:r>
              <a:rPr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......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      </a:t>
            </a:r>
          </a:p>
        </p:txBody>
      </p:sp>
      <p:sp>
        <p:nvSpPr>
          <p:cNvPr id="89104" name="流程图: 决策 9"/>
          <p:cNvSpPr>
            <a:spLocks noChangeArrowheads="1"/>
          </p:cNvSpPr>
          <p:nvPr/>
        </p:nvSpPr>
        <p:spPr bwMode="auto">
          <a:xfrm>
            <a:off x="5924550" y="3146425"/>
            <a:ext cx="1979613" cy="719138"/>
          </a:xfrm>
          <a:prstGeom prst="flowChartDecision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表达式</a:t>
            </a:r>
            <a:r>
              <a:rPr lang="en-US" altLang="zh-CN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2</a:t>
            </a:r>
          </a:p>
        </p:txBody>
      </p:sp>
      <p:cxnSp>
        <p:nvCxnSpPr>
          <p:cNvPr id="89105" name="直接箭头连接符 10"/>
          <p:cNvCxnSpPr>
            <a:cxnSpLocks noChangeShapeType="1"/>
            <a:stCxn id="89093" idx="2"/>
            <a:endCxn id="89104" idx="0"/>
          </p:cNvCxnSpPr>
          <p:nvPr/>
        </p:nvCxnSpPr>
        <p:spPr bwMode="auto">
          <a:xfrm>
            <a:off x="6908800" y="2740025"/>
            <a:ext cx="6350" cy="406400"/>
          </a:xfrm>
          <a:prstGeom prst="straightConnector1">
            <a:avLst/>
          </a:prstGeom>
          <a:noFill/>
          <a:ln w="25400" cap="flat" cmpd="sng">
            <a:solidFill>
              <a:srgbClr val="F7964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106" name="文本框 11"/>
          <p:cNvSpPr>
            <a:spLocks noChangeArrowheads="1"/>
          </p:cNvSpPr>
          <p:nvPr/>
        </p:nvSpPr>
        <p:spPr bwMode="auto">
          <a:xfrm>
            <a:off x="6948488" y="3911600"/>
            <a:ext cx="6527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True</a:t>
            </a:r>
          </a:p>
        </p:txBody>
      </p:sp>
      <p:cxnSp>
        <p:nvCxnSpPr>
          <p:cNvPr id="89107" name="直接箭头连接符 12"/>
          <p:cNvCxnSpPr>
            <a:cxnSpLocks noChangeShapeType="1"/>
            <a:stCxn id="89104" idx="2"/>
            <a:endCxn id="89101" idx="0"/>
          </p:cNvCxnSpPr>
          <p:nvPr/>
        </p:nvCxnSpPr>
        <p:spPr bwMode="auto">
          <a:xfrm>
            <a:off x="6915150" y="3865563"/>
            <a:ext cx="9525" cy="525462"/>
          </a:xfrm>
          <a:prstGeom prst="straightConnector1">
            <a:avLst/>
          </a:prstGeom>
          <a:noFill/>
          <a:ln w="25400" cap="flat" cmpd="sng">
            <a:solidFill>
              <a:srgbClr val="F7964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108" name="流程图: 过程 13"/>
          <p:cNvSpPr>
            <a:spLocks noChangeArrowheads="1"/>
          </p:cNvSpPr>
          <p:nvPr/>
        </p:nvSpPr>
        <p:spPr bwMode="auto">
          <a:xfrm>
            <a:off x="6315075" y="5251450"/>
            <a:ext cx="1296988" cy="431800"/>
          </a:xfrm>
          <a:prstGeom prst="flowChartProcess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......</a:t>
            </a:r>
          </a:p>
        </p:txBody>
      </p:sp>
      <p:sp>
        <p:nvSpPr>
          <p:cNvPr id="89109" name="文本框 15"/>
          <p:cNvSpPr>
            <a:spLocks noChangeArrowheads="1"/>
          </p:cNvSpPr>
          <p:nvPr/>
        </p:nvSpPr>
        <p:spPr bwMode="auto">
          <a:xfrm>
            <a:off x="7812088" y="3044825"/>
            <a:ext cx="7697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False</a:t>
            </a:r>
          </a:p>
        </p:txBody>
      </p:sp>
      <p:cxnSp>
        <p:nvCxnSpPr>
          <p:cNvPr id="89110" name="肘形连接符 24"/>
          <p:cNvCxnSpPr>
            <a:cxnSpLocks noChangeShapeType="1"/>
            <a:stCxn id="89104" idx="3"/>
            <a:endCxn id="89108" idx="3"/>
          </p:cNvCxnSpPr>
          <p:nvPr/>
        </p:nvCxnSpPr>
        <p:spPr bwMode="auto">
          <a:xfrm flipH="1">
            <a:off x="7612063" y="3505200"/>
            <a:ext cx="292100" cy="1962150"/>
          </a:xfrm>
          <a:prstGeom prst="bentConnector3">
            <a:avLst>
              <a:gd name="adj1" fmla="val -81519"/>
            </a:avLst>
          </a:prstGeom>
          <a:noFill/>
          <a:ln w="28575" cap="flat" cmpd="sng">
            <a:solidFill>
              <a:srgbClr val="F79646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111" name="肘形连接符 1"/>
          <p:cNvSpPr>
            <a:spLocks noChangeShapeType="1"/>
          </p:cNvSpPr>
          <p:nvPr/>
        </p:nvSpPr>
        <p:spPr bwMode="auto">
          <a:xfrm rot="10800000" flipH="1">
            <a:off x="6299200" y="625475"/>
            <a:ext cx="593725" cy="4819650"/>
          </a:xfrm>
          <a:prstGeom prst="bentConnector3">
            <a:avLst>
              <a:gd name="adj1" fmla="val -129227"/>
            </a:avLst>
          </a:prstGeom>
          <a:noFill/>
          <a:ln w="57150" cap="flat" cmpd="sng">
            <a:solidFill>
              <a:srgbClr val="9BBB59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2" name="肘形连接符 3"/>
          <p:cNvSpPr>
            <a:spLocks noChangeShapeType="1"/>
          </p:cNvSpPr>
          <p:nvPr/>
        </p:nvSpPr>
        <p:spPr bwMode="auto">
          <a:xfrm flipH="1">
            <a:off x="7596188" y="3484563"/>
            <a:ext cx="292100" cy="1960562"/>
          </a:xfrm>
          <a:prstGeom prst="bentConnector3">
            <a:avLst>
              <a:gd name="adj1" fmla="val -81519"/>
            </a:avLst>
          </a:prstGeom>
          <a:noFill/>
          <a:ln w="57150" cap="flat" cmpd="sng">
            <a:solidFill>
              <a:srgbClr val="9BBB59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椭圆 19"/>
          <p:cNvSpPr>
            <a:spLocks noChangeArrowheads="1"/>
          </p:cNvSpPr>
          <p:nvPr/>
        </p:nvSpPr>
        <p:spPr bwMode="auto">
          <a:xfrm>
            <a:off x="7061200" y="787400"/>
            <a:ext cx="17463" cy="23813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zh-CN">
              <a:solidFill>
                <a:srgbClr val="000000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30" name="标题 4"/>
          <p:cNvSpPr txBox="1">
            <a:spLocks noChangeArrowheads="1"/>
          </p:cNvSpPr>
          <p:nvPr/>
        </p:nvSpPr>
        <p:spPr>
          <a:xfrm>
            <a:off x="446088" y="196851"/>
            <a:ext cx="8229600" cy="1143000"/>
          </a:xfrm>
          <a:prstGeom prst="rect">
            <a:avLst/>
          </a:prstGeom>
          <a:ln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700" b="1">
                <a:latin typeface="+mn-ea"/>
                <a:ea typeface="+mn-ea"/>
                <a:sym typeface="黑体" pitchFamily="49" charset="-122"/>
              </a:rPr>
              <a:t>break</a:t>
            </a:r>
            <a:r>
              <a:rPr lang="zh-CN" altLang="zh-CN" sz="2700" b="1">
                <a:latin typeface="+mn-ea"/>
                <a:ea typeface="+mn-ea"/>
                <a:sym typeface="黑体" pitchFamily="49" charset="-122"/>
              </a:rPr>
              <a:t>语句</a:t>
            </a:r>
            <a:endParaRPr lang="zh-CN" altLang="zh-CN" sz="2700" b="1" dirty="0">
              <a:latin typeface="+mn-ea"/>
              <a:ea typeface="+mn-ea"/>
              <a:sym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036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7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 bldLvl="0" animBg="1" autoUpdateAnimBg="0"/>
      <p:bldP spid="89093" grpId="0" bldLvl="0" animBg="1" autoUpdateAnimBg="0"/>
      <p:bldP spid="89094" grpId="0" animBg="1"/>
      <p:bldP spid="89095" grpId="0" animBg="1"/>
      <p:bldP spid="89097" grpId="0" bldLvl="0" animBg="1" autoUpdateAnimBg="0"/>
      <p:bldP spid="89098" grpId="0" animBg="1"/>
      <p:bldP spid="89099" grpId="0" bldLvl="0" autoUpdateAnimBg="0"/>
      <p:bldP spid="89100" grpId="0" bldLvl="0" autoUpdateAnimBg="0"/>
      <p:bldP spid="89101" grpId="0" bldLvl="0" animBg="1" autoUpdateAnimBg="0"/>
      <p:bldP spid="89102" grpId="0" animBg="1"/>
      <p:bldP spid="89103" grpId="0" bldLvl="0" animBg="1" autoUpdateAnimBg="0"/>
      <p:bldP spid="89104" grpId="0" bldLvl="0" animBg="1" autoUpdateAnimBg="0"/>
      <p:bldP spid="89106" grpId="0" bldLvl="0" autoUpdateAnimBg="0"/>
      <p:bldP spid="89108" grpId="0" bldLvl="0" animBg="1" autoUpdateAnimBg="0"/>
      <p:bldP spid="89109" grpId="0" bldLvl="0" autoUpdateAnimBg="0"/>
      <p:bldP spid="89111" grpId="0" animBg="1"/>
      <p:bldP spid="89112" grpId="0" animBg="1"/>
      <p:bldP spid="29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矩形 9"/>
          <p:cNvSpPr>
            <a:spLocks noChangeArrowheads="1"/>
          </p:cNvSpPr>
          <p:nvPr/>
        </p:nvSpPr>
        <p:spPr bwMode="auto">
          <a:xfrm>
            <a:off x="0" y="1025525"/>
            <a:ext cx="8532813" cy="114300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91139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7475"/>
            <a:ext cx="7783513" cy="850900"/>
          </a:xfrm>
          <a:ln/>
        </p:spPr>
        <p:txBody>
          <a:bodyPr/>
          <a:lstStyle/>
          <a:p>
            <a:pPr marL="0" indent="0" algn="l"/>
            <a:r>
              <a:rPr lang="en-US" altLang="zh-CN" sz="2400" b="1" dirty="0">
                <a:latin typeface="+mn-ea"/>
                <a:ea typeface="+mn-ea"/>
              </a:rPr>
              <a:t>break</a:t>
            </a:r>
            <a:r>
              <a:rPr lang="zh-CN" altLang="en-US" sz="2400" b="1" dirty="0">
                <a:latin typeface="+mn-ea"/>
                <a:ea typeface="+mn-ea"/>
              </a:rPr>
              <a:t>示例</a:t>
            </a:r>
          </a:p>
        </p:txBody>
      </p:sp>
      <p:sp>
        <p:nvSpPr>
          <p:cNvPr id="91140" name="文本框 4"/>
          <p:cNvSpPr>
            <a:spLocks noChangeArrowheads="1"/>
          </p:cNvSpPr>
          <p:nvPr/>
        </p:nvSpPr>
        <p:spPr bwMode="auto">
          <a:xfrm>
            <a:off x="609601" y="1222375"/>
            <a:ext cx="3014311" cy="4421852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 w="9525" cap="flat" cmpd="sng">
            <a:solidFill>
              <a:srgbClr val="4BACC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>
                <a:solidFill>
                  <a:srgbClr val="000000"/>
                </a:solidFill>
                <a:latin typeface="+mn-ea"/>
                <a:sym typeface="宋体" pitchFamily="2" charset="-122"/>
              </a:rPr>
              <a:t>x = 0</a:t>
            </a:r>
          </a:p>
          <a:p>
            <a:pPr>
              <a:lnSpc>
                <a:spcPct val="200000"/>
              </a:lnSpc>
            </a:pPr>
            <a:r>
              <a:rPr lang="en-US" altLang="zh-CN" sz="2400">
                <a:solidFill>
                  <a:srgbClr val="000000"/>
                </a:solidFill>
                <a:latin typeface="+mn-ea"/>
                <a:sym typeface="宋体" pitchFamily="2" charset="-122"/>
              </a:rPr>
              <a:t>while x &lt; 10:</a:t>
            </a:r>
          </a:p>
          <a:p>
            <a:pPr>
              <a:lnSpc>
                <a:spcPct val="200000"/>
              </a:lnSpc>
            </a:pPr>
            <a:r>
              <a:rPr lang="en-US" altLang="zh-CN" sz="2400">
                <a:solidFill>
                  <a:srgbClr val="000000"/>
                </a:solidFill>
                <a:latin typeface="+mn-ea"/>
                <a:sym typeface="宋体" pitchFamily="2" charset="-122"/>
              </a:rPr>
              <a:t>    x=x+1</a:t>
            </a:r>
          </a:p>
          <a:p>
            <a:pPr>
              <a:lnSpc>
                <a:spcPct val="200000"/>
              </a:lnSpc>
            </a:pPr>
            <a:r>
              <a:rPr lang="en-US" altLang="zh-CN" sz="2400">
                <a:solidFill>
                  <a:srgbClr val="000000"/>
                </a:solidFill>
                <a:latin typeface="+mn-ea"/>
                <a:sym typeface="宋体" pitchFamily="2" charset="-122"/>
              </a:rPr>
              <a:t>    if x == 3 :</a:t>
            </a:r>
          </a:p>
          <a:p>
            <a:pPr>
              <a:lnSpc>
                <a:spcPct val="200000"/>
              </a:lnSpc>
            </a:pPr>
            <a:r>
              <a:rPr lang="en-US" altLang="zh-CN" sz="2400">
                <a:solidFill>
                  <a:srgbClr val="000000"/>
                </a:solidFill>
                <a:latin typeface="+mn-ea"/>
                <a:sym typeface="宋体" pitchFamily="2" charset="-122"/>
              </a:rPr>
              <a:t>        </a:t>
            </a:r>
            <a:r>
              <a:rPr lang="en-US" altLang="zh-CN" sz="2400">
                <a:solidFill>
                  <a:srgbClr val="FF0000"/>
                </a:solidFill>
                <a:latin typeface="+mn-ea"/>
                <a:sym typeface="宋体" pitchFamily="2" charset="-122"/>
              </a:rPr>
              <a:t>break</a:t>
            </a:r>
          </a:p>
          <a:p>
            <a:pPr>
              <a:lnSpc>
                <a:spcPct val="200000"/>
              </a:lnSpc>
            </a:pPr>
            <a:r>
              <a:rPr lang="en-US" altLang="zh-CN" sz="2400">
                <a:solidFill>
                  <a:srgbClr val="000000"/>
                </a:solidFill>
                <a:latin typeface="+mn-ea"/>
                <a:sym typeface="宋体" pitchFamily="2" charset="-122"/>
              </a:rPr>
              <a:t>    print(x,end="\n")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  <a:sym typeface="宋体" pitchFamily="2" charset="-122"/>
            </a:endParaRPr>
          </a:p>
        </p:txBody>
      </p:sp>
      <p:sp>
        <p:nvSpPr>
          <p:cNvPr id="91141" name="文本框 2"/>
          <p:cNvSpPr>
            <a:spLocks noChangeArrowheads="1"/>
          </p:cNvSpPr>
          <p:nvPr/>
        </p:nvSpPr>
        <p:spPr bwMode="auto">
          <a:xfrm>
            <a:off x="5562600" y="1222375"/>
            <a:ext cx="3019425" cy="3231654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 w="9525" cap="flat" cmpd="sng">
            <a:solidFill>
              <a:srgbClr val="4BACC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运行结果：</a:t>
            </a:r>
          </a:p>
          <a:p>
            <a:endParaRPr lang="zh-CN" altLang="en-US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endParaRPr lang="zh-CN" altLang="en-US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endParaRPr lang="zh-CN" altLang="en-US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endParaRPr lang="zh-CN" altLang="en-US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endParaRPr lang="zh-CN" altLang="en-US" sz="20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输出1和 2之后  </a:t>
            </a:r>
            <a:endParaRPr lang="zh-CN" alt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结束了while循环</a:t>
            </a:r>
          </a:p>
          <a:p>
            <a:endParaRPr lang="zh-CN" altLang="en-US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20278" y="2886182"/>
            <a:ext cx="2603634" cy="275323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610" y="1886057"/>
            <a:ext cx="90487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18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0" grpId="0" bldLvl="0" animBg="1" autoUpdateAnimBg="0"/>
      <p:bldP spid="91141" grpId="0" bldLvl="0" animBg="1" autoUpdateAnimBg="0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矩形 9"/>
          <p:cNvSpPr>
            <a:spLocks noChangeArrowheads="1"/>
          </p:cNvSpPr>
          <p:nvPr/>
        </p:nvSpPr>
        <p:spPr bwMode="auto">
          <a:xfrm>
            <a:off x="142875" y="1025525"/>
            <a:ext cx="8532813" cy="114300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90115" name="标题 4"/>
          <p:cNvSpPr>
            <a:spLocks noGrp="1" noChangeArrowheads="1"/>
          </p:cNvSpPr>
          <p:nvPr>
            <p:ph type="title" idx="4294967295"/>
          </p:nvPr>
        </p:nvSpPr>
        <p:spPr>
          <a:xfrm>
            <a:off x="446088" y="196851"/>
            <a:ext cx="8229600" cy="1143000"/>
          </a:xfrm>
          <a:ln/>
        </p:spPr>
        <p:txBody>
          <a:bodyPr/>
          <a:lstStyle/>
          <a:p>
            <a:pPr marL="0" indent="0" algn="l"/>
            <a:r>
              <a:rPr lang="zh-CN" altLang="zh-CN" sz="2700" b="1" dirty="0">
                <a:latin typeface="+mn-ea"/>
                <a:ea typeface="+mn-ea"/>
                <a:sym typeface="黑体" pitchFamily="49" charset="-122"/>
              </a:rPr>
              <a:t>continue语句</a:t>
            </a:r>
          </a:p>
        </p:txBody>
      </p:sp>
      <p:sp>
        <p:nvSpPr>
          <p:cNvPr id="90117" name="流程图: 决策 6"/>
          <p:cNvSpPr>
            <a:spLocks noChangeArrowheads="1"/>
          </p:cNvSpPr>
          <p:nvPr/>
        </p:nvSpPr>
        <p:spPr bwMode="auto">
          <a:xfrm>
            <a:off x="5918200" y="1114425"/>
            <a:ext cx="1979613" cy="719138"/>
          </a:xfrm>
          <a:prstGeom prst="flowChartDecision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表达式</a:t>
            </a:r>
            <a:r>
              <a:rPr lang="en-US" altLang="zh-CN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1</a:t>
            </a:r>
          </a:p>
        </p:txBody>
      </p:sp>
      <p:sp>
        <p:nvSpPr>
          <p:cNvPr id="90118" name="流程图: 过程 7"/>
          <p:cNvSpPr>
            <a:spLocks noChangeArrowheads="1"/>
          </p:cNvSpPr>
          <p:nvPr/>
        </p:nvSpPr>
        <p:spPr bwMode="auto">
          <a:xfrm>
            <a:off x="6261100" y="2308225"/>
            <a:ext cx="1295400" cy="431800"/>
          </a:xfrm>
          <a:prstGeom prst="flowChartProcess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......</a:t>
            </a:r>
          </a:p>
        </p:txBody>
      </p:sp>
      <p:sp>
        <p:nvSpPr>
          <p:cNvPr id="90119" name="直接箭头连接符 16"/>
          <p:cNvSpPr>
            <a:spLocks noChangeShapeType="1"/>
          </p:cNvSpPr>
          <p:nvPr/>
        </p:nvSpPr>
        <p:spPr bwMode="auto">
          <a:xfrm>
            <a:off x="6929438" y="392113"/>
            <a:ext cx="0" cy="722312"/>
          </a:xfrm>
          <a:prstGeom prst="straightConnector1">
            <a:avLst/>
          </a:prstGeom>
          <a:noFill/>
          <a:ln w="25400" cap="flat" cmpd="sng">
            <a:solidFill>
              <a:srgbClr val="F7964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0" name="直接箭头连接符 17"/>
          <p:cNvSpPr>
            <a:spLocks noChangeShapeType="1"/>
          </p:cNvSpPr>
          <p:nvPr/>
        </p:nvSpPr>
        <p:spPr bwMode="auto">
          <a:xfrm>
            <a:off x="6907213" y="1822450"/>
            <a:ext cx="1587" cy="473075"/>
          </a:xfrm>
          <a:prstGeom prst="straightConnector1">
            <a:avLst/>
          </a:prstGeom>
          <a:noFill/>
          <a:ln w="25400" cap="flat" cmpd="sng">
            <a:solidFill>
              <a:srgbClr val="F7964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90121" name="肘形连接符 18"/>
          <p:cNvCxnSpPr>
            <a:cxnSpLocks noChangeShapeType="1"/>
            <a:stCxn id="90132" idx="1"/>
            <a:endCxn id="90122" idx="2"/>
          </p:cNvCxnSpPr>
          <p:nvPr/>
        </p:nvCxnSpPr>
        <p:spPr bwMode="auto">
          <a:xfrm rot="10800000" flipH="1">
            <a:off x="6315075" y="646113"/>
            <a:ext cx="593725" cy="4821237"/>
          </a:xfrm>
          <a:prstGeom prst="bentConnector3">
            <a:avLst>
              <a:gd name="adj1" fmla="val -129227"/>
            </a:avLst>
          </a:prstGeom>
          <a:noFill/>
          <a:ln w="25400" cap="flat" cmpd="sng">
            <a:solidFill>
              <a:srgbClr val="F79646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122" name="椭圆 19"/>
          <p:cNvSpPr>
            <a:spLocks noChangeArrowheads="1"/>
          </p:cNvSpPr>
          <p:nvPr/>
        </p:nvSpPr>
        <p:spPr bwMode="auto">
          <a:xfrm>
            <a:off x="6908800" y="635000"/>
            <a:ext cx="17463" cy="23813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zh-CN">
              <a:solidFill>
                <a:srgbClr val="000000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90123" name="肘形连接符 20"/>
          <p:cNvSpPr>
            <a:spLocks noChangeShapeType="1"/>
          </p:cNvSpPr>
          <p:nvPr/>
        </p:nvSpPr>
        <p:spPr bwMode="auto">
          <a:xfrm flipH="1">
            <a:off x="7021513" y="1473200"/>
            <a:ext cx="900112" cy="4970463"/>
          </a:xfrm>
          <a:prstGeom prst="bentConnector4">
            <a:avLst>
              <a:gd name="adj1" fmla="val -74620"/>
              <a:gd name="adj2" fmla="val 88782"/>
            </a:avLst>
          </a:prstGeom>
          <a:noFill/>
          <a:ln w="25400" cap="flat" cmpd="sng">
            <a:solidFill>
              <a:srgbClr val="F79646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4" name="文本框 21"/>
          <p:cNvSpPr>
            <a:spLocks noChangeArrowheads="1"/>
          </p:cNvSpPr>
          <p:nvPr/>
        </p:nvSpPr>
        <p:spPr bwMode="auto">
          <a:xfrm>
            <a:off x="6948488" y="1801813"/>
            <a:ext cx="6527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True</a:t>
            </a:r>
          </a:p>
        </p:txBody>
      </p:sp>
      <p:sp>
        <p:nvSpPr>
          <p:cNvPr id="90125" name="文本框 22"/>
          <p:cNvSpPr>
            <a:spLocks noChangeArrowheads="1"/>
          </p:cNvSpPr>
          <p:nvPr/>
        </p:nvSpPr>
        <p:spPr bwMode="auto">
          <a:xfrm>
            <a:off x="7885113" y="933450"/>
            <a:ext cx="7697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False</a:t>
            </a:r>
          </a:p>
        </p:txBody>
      </p:sp>
      <p:sp>
        <p:nvSpPr>
          <p:cNvPr id="90126" name="文本框 23"/>
          <p:cNvSpPr>
            <a:spLocks noChangeArrowheads="1"/>
          </p:cNvSpPr>
          <p:nvPr/>
        </p:nvSpPr>
        <p:spPr bwMode="auto">
          <a:xfrm>
            <a:off x="6332538" y="4391025"/>
            <a:ext cx="1274708" cy="369332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sym typeface="宋体" pitchFamily="2" charset="-122"/>
              </a:rPr>
              <a:t>  continue</a:t>
            </a:r>
          </a:p>
        </p:txBody>
      </p:sp>
      <p:sp>
        <p:nvSpPr>
          <p:cNvPr id="90128" name="流程图: 决策 9"/>
          <p:cNvSpPr>
            <a:spLocks noChangeArrowheads="1"/>
          </p:cNvSpPr>
          <p:nvPr/>
        </p:nvSpPr>
        <p:spPr bwMode="auto">
          <a:xfrm>
            <a:off x="5924550" y="3146425"/>
            <a:ext cx="1979613" cy="719138"/>
          </a:xfrm>
          <a:prstGeom prst="flowChartDecision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表达式</a:t>
            </a:r>
            <a:r>
              <a:rPr lang="en-US" altLang="zh-CN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2</a:t>
            </a:r>
          </a:p>
        </p:txBody>
      </p:sp>
      <p:cxnSp>
        <p:nvCxnSpPr>
          <p:cNvPr id="90129" name="直接箭头连接符 10"/>
          <p:cNvCxnSpPr>
            <a:cxnSpLocks noChangeShapeType="1"/>
            <a:stCxn id="90118" idx="2"/>
            <a:endCxn id="90128" idx="0"/>
          </p:cNvCxnSpPr>
          <p:nvPr/>
        </p:nvCxnSpPr>
        <p:spPr bwMode="auto">
          <a:xfrm>
            <a:off x="6908800" y="2740025"/>
            <a:ext cx="6350" cy="406400"/>
          </a:xfrm>
          <a:prstGeom prst="straightConnector1">
            <a:avLst/>
          </a:prstGeom>
          <a:noFill/>
          <a:ln w="25400" cap="flat" cmpd="sng">
            <a:solidFill>
              <a:srgbClr val="F7964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130" name="文本框 11"/>
          <p:cNvSpPr>
            <a:spLocks noChangeArrowheads="1"/>
          </p:cNvSpPr>
          <p:nvPr/>
        </p:nvSpPr>
        <p:spPr bwMode="auto">
          <a:xfrm>
            <a:off x="6948488" y="3911600"/>
            <a:ext cx="6527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True</a:t>
            </a:r>
          </a:p>
        </p:txBody>
      </p:sp>
      <p:cxnSp>
        <p:nvCxnSpPr>
          <p:cNvPr id="90131" name="直接箭头连接符 12"/>
          <p:cNvCxnSpPr>
            <a:cxnSpLocks noChangeShapeType="1"/>
            <a:stCxn id="90128" idx="2"/>
            <a:endCxn id="90126" idx="0"/>
          </p:cNvCxnSpPr>
          <p:nvPr/>
        </p:nvCxnSpPr>
        <p:spPr bwMode="auto">
          <a:xfrm>
            <a:off x="6914357" y="3865563"/>
            <a:ext cx="55535" cy="525462"/>
          </a:xfrm>
          <a:prstGeom prst="straightConnector1">
            <a:avLst/>
          </a:prstGeom>
          <a:noFill/>
          <a:ln w="25400" cap="flat" cmpd="sng">
            <a:solidFill>
              <a:srgbClr val="F7964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132" name="流程图: 过程 13"/>
          <p:cNvSpPr>
            <a:spLocks noChangeArrowheads="1"/>
          </p:cNvSpPr>
          <p:nvPr/>
        </p:nvSpPr>
        <p:spPr bwMode="auto">
          <a:xfrm>
            <a:off x="6315075" y="5251450"/>
            <a:ext cx="1296988" cy="431800"/>
          </a:xfrm>
          <a:prstGeom prst="flowChartProcess">
            <a:avLst/>
          </a:prstGeom>
          <a:solidFill>
            <a:srgbClr val="FFFFFF"/>
          </a:solidFill>
          <a:ln w="25400" cap="flat" cmpd="sng">
            <a:solidFill>
              <a:srgbClr val="F79646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......</a:t>
            </a:r>
          </a:p>
        </p:txBody>
      </p:sp>
      <p:sp>
        <p:nvSpPr>
          <p:cNvPr id="90133" name="文本框 15"/>
          <p:cNvSpPr>
            <a:spLocks noChangeArrowheads="1"/>
          </p:cNvSpPr>
          <p:nvPr/>
        </p:nvSpPr>
        <p:spPr bwMode="auto">
          <a:xfrm>
            <a:off x="7812088" y="3044825"/>
            <a:ext cx="7697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False</a:t>
            </a:r>
          </a:p>
        </p:txBody>
      </p:sp>
      <p:cxnSp>
        <p:nvCxnSpPr>
          <p:cNvPr id="90134" name="肘形连接符 24"/>
          <p:cNvCxnSpPr>
            <a:cxnSpLocks noChangeShapeType="1"/>
            <a:stCxn id="90128" idx="3"/>
            <a:endCxn id="90132" idx="3"/>
          </p:cNvCxnSpPr>
          <p:nvPr/>
        </p:nvCxnSpPr>
        <p:spPr bwMode="auto">
          <a:xfrm flipH="1">
            <a:off x="7612063" y="3505200"/>
            <a:ext cx="292100" cy="1962150"/>
          </a:xfrm>
          <a:prstGeom prst="bentConnector3">
            <a:avLst>
              <a:gd name="adj1" fmla="val -81519"/>
            </a:avLst>
          </a:prstGeom>
          <a:noFill/>
          <a:ln w="28575" cap="flat" cmpd="sng">
            <a:solidFill>
              <a:srgbClr val="F79646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135" name="肘形连接符 1"/>
          <p:cNvSpPr>
            <a:spLocks noChangeShapeType="1"/>
          </p:cNvSpPr>
          <p:nvPr/>
        </p:nvSpPr>
        <p:spPr bwMode="auto">
          <a:xfrm rot="10800000" flipH="1">
            <a:off x="6300788" y="646113"/>
            <a:ext cx="542925" cy="3989387"/>
          </a:xfrm>
          <a:prstGeom prst="bentConnector4">
            <a:avLst>
              <a:gd name="adj1" fmla="val -137028"/>
              <a:gd name="adj2" fmla="val 99977"/>
            </a:avLst>
          </a:prstGeom>
          <a:noFill/>
          <a:ln w="57150" cap="flat" cmpd="sng">
            <a:solidFill>
              <a:srgbClr val="FF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36" name="肘形连接符 3"/>
          <p:cNvSpPr>
            <a:spLocks noChangeShapeType="1"/>
          </p:cNvSpPr>
          <p:nvPr/>
        </p:nvSpPr>
        <p:spPr bwMode="auto">
          <a:xfrm rot="10800000" flipH="1">
            <a:off x="6299200" y="625475"/>
            <a:ext cx="593725" cy="4819650"/>
          </a:xfrm>
          <a:prstGeom prst="bentConnector3">
            <a:avLst>
              <a:gd name="adj1" fmla="val -129227"/>
            </a:avLst>
          </a:prstGeom>
          <a:noFill/>
          <a:ln w="57150" cap="flat" cmpd="sng">
            <a:solidFill>
              <a:srgbClr val="9BBB59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37" name="肘形连接符 5"/>
          <p:cNvSpPr>
            <a:spLocks noChangeShapeType="1"/>
          </p:cNvSpPr>
          <p:nvPr/>
        </p:nvSpPr>
        <p:spPr bwMode="auto">
          <a:xfrm flipH="1">
            <a:off x="7596188" y="3484563"/>
            <a:ext cx="292100" cy="1960562"/>
          </a:xfrm>
          <a:prstGeom prst="bentConnector3">
            <a:avLst>
              <a:gd name="adj1" fmla="val -81519"/>
            </a:avLst>
          </a:prstGeom>
          <a:noFill/>
          <a:ln w="57150" cap="flat" cmpd="sng">
            <a:solidFill>
              <a:srgbClr val="9BBB59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文本框 8"/>
          <p:cNvSpPr>
            <a:spLocks noChangeArrowheads="1"/>
          </p:cNvSpPr>
          <p:nvPr/>
        </p:nvSpPr>
        <p:spPr bwMode="auto">
          <a:xfrm>
            <a:off x="683534" y="1420813"/>
            <a:ext cx="3164340" cy="3416320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 w="9525" cap="flat" cmpd="sng">
            <a:solidFill>
              <a:srgbClr val="4BACC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while   表达式1 </a:t>
            </a:r>
            <a:r>
              <a:rPr lang="en-US" altLang="zh-CN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:</a:t>
            </a:r>
            <a:r>
              <a:rPr lang="zh-CN" altLang="en-US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     </a:t>
            </a:r>
            <a:endParaRPr lang="zh-CN" altLang="en-US" sz="2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r>
              <a:rPr lang="en-US" altLang="zh-CN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      ......</a:t>
            </a:r>
            <a:endParaRPr lang="zh-CN" altLang="en-US" sz="2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</a:t>
            </a:r>
            <a:r>
              <a:rPr lang="en-US" altLang="zh-CN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i</a:t>
            </a:r>
            <a:r>
              <a:rPr lang="zh-CN" altLang="en-US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f  表达式2 </a:t>
            </a:r>
            <a:r>
              <a:rPr lang="en-US" altLang="zh-CN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:</a:t>
            </a:r>
            <a:r>
              <a:rPr lang="zh-CN" altLang="en-US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</a:t>
            </a:r>
            <a:endParaRPr lang="zh-CN" altLang="en-US" sz="2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</a:t>
            </a:r>
            <a:r>
              <a:rPr lang="en-US" altLang="zh-CN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continue</a:t>
            </a:r>
            <a:r>
              <a:rPr lang="zh-CN" altLang="en-US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       </a:t>
            </a:r>
            <a:endParaRPr lang="zh-CN" altLang="en-US" sz="2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</a:t>
            </a:r>
            <a:r>
              <a:rPr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......</a:t>
            </a:r>
          </a:p>
          <a:p>
            <a:r>
              <a:rPr lang="zh-CN" altLang="en-US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             </a:t>
            </a:r>
            <a:endParaRPr lang="zh-CN" altLang="en-US" sz="2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046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7" grpId="0" bldLvl="0" animBg="1" autoUpdateAnimBg="0"/>
      <p:bldP spid="90118" grpId="0" bldLvl="0" animBg="1" autoUpdateAnimBg="0"/>
      <p:bldP spid="90119" grpId="0" animBg="1"/>
      <p:bldP spid="90120" grpId="0" animBg="1"/>
      <p:bldP spid="90122" grpId="0" bldLvl="0" animBg="1" autoUpdateAnimBg="0"/>
      <p:bldP spid="90123" grpId="0" animBg="1"/>
      <p:bldP spid="90124" grpId="0" bldLvl="0" autoUpdateAnimBg="0"/>
      <p:bldP spid="90125" grpId="0" bldLvl="0" autoUpdateAnimBg="0"/>
      <p:bldP spid="90126" grpId="0" bldLvl="0" animBg="1" autoUpdateAnimBg="0"/>
      <p:bldP spid="90128" grpId="0" bldLvl="0" animBg="1" autoUpdateAnimBg="0"/>
      <p:bldP spid="90130" grpId="0" bldLvl="0" autoUpdateAnimBg="0"/>
      <p:bldP spid="90132" grpId="0" bldLvl="0" animBg="1" autoUpdateAnimBg="0"/>
      <p:bldP spid="90133" grpId="0" bldLvl="0" autoUpdateAnimBg="0"/>
      <p:bldP spid="90135" grpId="0" animBg="1"/>
      <p:bldP spid="90136" grpId="0" animBg="1"/>
      <p:bldP spid="9013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矩形 9"/>
          <p:cNvSpPr>
            <a:spLocks noChangeArrowheads="1"/>
          </p:cNvSpPr>
          <p:nvPr/>
        </p:nvSpPr>
        <p:spPr bwMode="auto">
          <a:xfrm>
            <a:off x="0" y="1025525"/>
            <a:ext cx="8532813" cy="114300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91139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7475"/>
            <a:ext cx="7783513" cy="850900"/>
          </a:xfrm>
          <a:ln/>
        </p:spPr>
        <p:txBody>
          <a:bodyPr/>
          <a:lstStyle/>
          <a:p>
            <a:pPr marL="0" indent="0" algn="l"/>
            <a:r>
              <a:rPr lang="en-US" altLang="zh-CN" sz="2400" b="1">
                <a:latin typeface="+mn-ea"/>
                <a:ea typeface="+mn-ea"/>
              </a:rPr>
              <a:t>continue</a:t>
            </a:r>
            <a:r>
              <a:rPr lang="zh-CN" altLang="en-US" sz="2400" b="1">
                <a:latin typeface="+mn-ea"/>
                <a:ea typeface="+mn-ea"/>
              </a:rPr>
              <a:t>示例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91140" name="文本框 4"/>
          <p:cNvSpPr>
            <a:spLocks noChangeArrowheads="1"/>
          </p:cNvSpPr>
          <p:nvPr/>
        </p:nvSpPr>
        <p:spPr bwMode="auto">
          <a:xfrm>
            <a:off x="609601" y="1222375"/>
            <a:ext cx="3014311" cy="4524315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 w="9525" cap="flat" cmpd="sng">
            <a:solidFill>
              <a:srgbClr val="4BACC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>
                <a:solidFill>
                  <a:srgbClr val="000000"/>
                </a:solidFill>
                <a:latin typeface="+mn-ea"/>
                <a:sym typeface="宋体" pitchFamily="2" charset="-122"/>
              </a:rPr>
              <a:t>x = 0</a:t>
            </a:r>
          </a:p>
          <a:p>
            <a:pPr>
              <a:lnSpc>
                <a:spcPct val="200000"/>
              </a:lnSpc>
            </a:pPr>
            <a:r>
              <a:rPr lang="en-US" altLang="zh-CN" sz="2400">
                <a:solidFill>
                  <a:srgbClr val="000000"/>
                </a:solidFill>
                <a:latin typeface="+mn-ea"/>
                <a:sym typeface="宋体" pitchFamily="2" charset="-122"/>
              </a:rPr>
              <a:t>while x &lt; 10:</a:t>
            </a:r>
          </a:p>
          <a:p>
            <a:pPr>
              <a:lnSpc>
                <a:spcPct val="200000"/>
              </a:lnSpc>
            </a:pPr>
            <a:r>
              <a:rPr lang="en-US" altLang="zh-CN" sz="2400">
                <a:solidFill>
                  <a:srgbClr val="000000"/>
                </a:solidFill>
                <a:latin typeface="+mn-ea"/>
                <a:sym typeface="宋体" pitchFamily="2" charset="-122"/>
              </a:rPr>
              <a:t>    x=x+1</a:t>
            </a:r>
          </a:p>
          <a:p>
            <a:pPr>
              <a:lnSpc>
                <a:spcPct val="200000"/>
              </a:lnSpc>
            </a:pPr>
            <a:r>
              <a:rPr lang="en-US" altLang="zh-CN" sz="2400">
                <a:solidFill>
                  <a:srgbClr val="000000"/>
                </a:solidFill>
                <a:latin typeface="+mn-ea"/>
                <a:sym typeface="宋体" pitchFamily="2" charset="-122"/>
              </a:rPr>
              <a:t>    if x == 3 :</a:t>
            </a:r>
          </a:p>
          <a:p>
            <a:pPr>
              <a:lnSpc>
                <a:spcPct val="200000"/>
              </a:lnSpc>
            </a:pPr>
            <a:r>
              <a:rPr lang="en-US" altLang="zh-CN" sz="2400">
                <a:solidFill>
                  <a:srgbClr val="000000"/>
                </a:solidFill>
                <a:latin typeface="+mn-ea"/>
                <a:sym typeface="宋体" pitchFamily="2" charset="-122"/>
              </a:rPr>
              <a:t>        </a:t>
            </a:r>
            <a:r>
              <a:rPr lang="en-US" altLang="zh-CN" sz="2400">
                <a:solidFill>
                  <a:srgbClr val="FF0000"/>
                </a:solidFill>
                <a:latin typeface="+mn-ea"/>
                <a:sym typeface="宋体" pitchFamily="2" charset="-122"/>
              </a:rPr>
              <a:t>continue</a:t>
            </a:r>
          </a:p>
          <a:p>
            <a:pPr>
              <a:lnSpc>
                <a:spcPct val="200000"/>
              </a:lnSpc>
            </a:pPr>
            <a:r>
              <a:rPr lang="en-US" altLang="zh-CN" sz="2400">
                <a:solidFill>
                  <a:srgbClr val="000000"/>
                </a:solidFill>
                <a:latin typeface="+mn-ea"/>
                <a:sym typeface="宋体" pitchFamily="2" charset="-122"/>
              </a:rPr>
              <a:t>    print(x,end="\n")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  <a:sym typeface="宋体" pitchFamily="2" charset="-122"/>
            </a:endParaRPr>
          </a:p>
        </p:txBody>
      </p:sp>
      <p:sp>
        <p:nvSpPr>
          <p:cNvPr id="91141" name="文本框 2"/>
          <p:cNvSpPr>
            <a:spLocks noChangeArrowheads="1"/>
          </p:cNvSpPr>
          <p:nvPr/>
        </p:nvSpPr>
        <p:spPr bwMode="auto">
          <a:xfrm>
            <a:off x="5562600" y="1222375"/>
            <a:ext cx="3019425" cy="3785652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 w="9525" cap="flat" cmpd="sng">
            <a:solidFill>
              <a:srgbClr val="4BACC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运行结果：</a:t>
            </a:r>
          </a:p>
          <a:p>
            <a:endParaRPr lang="zh-CN" altLang="en-US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endParaRPr lang="zh-CN" altLang="en-US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endParaRPr lang="zh-CN" altLang="en-US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endParaRPr lang="zh-CN" altLang="en-US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endParaRPr lang="zh-CN" altLang="en-US" sz="20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endParaRPr lang="en-US" altLang="zh-CN" sz="20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endParaRPr lang="en-US" altLang="zh-CN" sz="20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endParaRPr lang="en-US" altLang="zh-CN" sz="20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endParaRPr lang="zh-CN" altLang="en-US" sz="20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跳过</a:t>
            </a:r>
            <a:r>
              <a:rPr lang="en-US" altLang="zh-CN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3</a:t>
            </a:r>
            <a:endParaRPr lang="zh-CN" altLang="en-US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20278" y="2886182"/>
            <a:ext cx="2603634" cy="275323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946" y="1622395"/>
            <a:ext cx="1406860" cy="263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01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0" grpId="0" bldLvl="0" animBg="1" autoUpdateAnimBg="0"/>
      <p:bldP spid="91141" grpId="0" bldLvl="0" animBg="1" autoUpdateAnimBg="0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kern="0"/>
              <a:t>例</a:t>
            </a:r>
            <a:r>
              <a:rPr lang="en-US" altLang="zh-CN" sz="3600" kern="0"/>
              <a:t>4-8 </a:t>
            </a:r>
            <a:r>
              <a:rPr lang="zh-CN" altLang="zh-CN" sz="3600" kern="0"/>
              <a:t>求</a:t>
            </a:r>
            <a:r>
              <a:rPr lang="en-US" altLang="zh-CN" sz="3600" kern="0"/>
              <a:t>1</a:t>
            </a:r>
            <a:r>
              <a:rPr lang="zh-CN" altLang="zh-CN" sz="3600" kern="0"/>
              <a:t>～</a:t>
            </a:r>
            <a:r>
              <a:rPr lang="en-US" altLang="zh-CN" sz="3600" kern="0"/>
              <a:t>100</a:t>
            </a:r>
            <a:r>
              <a:rPr lang="zh-CN" altLang="zh-CN" sz="3600" kern="0"/>
              <a:t>之间的全部奇数之和。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93274" y="1615001"/>
            <a:ext cx="7606978" cy="5016758"/>
          </a:xfrm>
          <a:prstGeom prst="rect">
            <a:avLst/>
          </a:prstGeom>
          <a:ln w="158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代码如下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42900">
              <a:lnSpc>
                <a:spcPct val="20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x=y=0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42900">
              <a:lnSpc>
                <a:spcPct val="20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True: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42900">
              <a:lnSpc>
                <a:spcPct val="20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x+=1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42900">
              <a:lnSpc>
                <a:spcPct val="20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if 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not(x%2)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 kern="0">
                <a:latin typeface="微软雅黑" panose="020B0503020204020204" pitchFamily="34" charset="-122"/>
                <a:ea typeface="微软雅黑" panose="020B0503020204020204" pitchFamily="34" charset="-122"/>
              </a:rPr>
              <a:t>continue                </a:t>
            </a:r>
            <a:r>
              <a:rPr lang="en-US" altLang="zh-CN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#x</a:t>
            </a:r>
            <a:r>
              <a:rPr lang="zh-CN" altLang="zh-CN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为偶数直接进行下一次循环</a:t>
            </a:r>
            <a:endParaRPr lang="zh-CN" altLang="zh-CN" sz="2000" kern="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42900">
              <a:lnSpc>
                <a:spcPct val="20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x&gt;100:break              	</a:t>
            </a:r>
            <a:r>
              <a:rPr lang="en-US" altLang="zh-CN" sz="2000" kern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1600" ker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x&gt;100</a:t>
            </a:r>
            <a:r>
              <a:rPr lang="zh-CN" altLang="zh-CN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时退出循环</a:t>
            </a:r>
          </a:p>
          <a:p>
            <a:pPr indent="342900">
              <a:lnSpc>
                <a:spcPct val="20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else:y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+=x                       </a:t>
            </a:r>
            <a:r>
              <a:rPr lang="en-US" altLang="zh-CN" sz="2000" kern="0">
                <a:latin typeface="微软雅黑" panose="020B0503020204020204" pitchFamily="34" charset="-122"/>
                <a:ea typeface="微软雅黑" panose="020B0503020204020204" pitchFamily="34" charset="-122"/>
              </a:rPr>
              <a:t>	       </a:t>
            </a:r>
            <a:r>
              <a:rPr lang="en-US" altLang="zh-CN" sz="1600" ker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zh-CN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实现累加</a:t>
            </a:r>
          </a:p>
          <a:p>
            <a:pPr indent="342900">
              <a:lnSpc>
                <a:spcPct val="20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print("y=",y)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线形标注 2 7"/>
          <p:cNvSpPr/>
          <p:nvPr/>
        </p:nvSpPr>
        <p:spPr>
          <a:xfrm>
            <a:off x="5476847" y="2439957"/>
            <a:ext cx="2523405" cy="851883"/>
          </a:xfrm>
          <a:prstGeom prst="borderCallout2">
            <a:avLst>
              <a:gd name="adj1" fmla="val 41639"/>
              <a:gd name="adj2" fmla="val 1206"/>
              <a:gd name="adj3" fmla="val 79456"/>
              <a:gd name="adj4" fmla="val -9729"/>
              <a:gd name="adj5" fmla="val 224098"/>
              <a:gd name="adj6" fmla="val -13642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等价于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x%2==0</a:t>
            </a:r>
            <a:endParaRPr lang="zh-CN" altLang="en-US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453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 </a:t>
            </a:r>
            <a:r>
              <a:rPr lang="zh-CN" altLang="zh-CN" dirty="0"/>
              <a:t>循环</a:t>
            </a:r>
            <a:r>
              <a:rPr lang="zh-CN" altLang="en-US" dirty="0"/>
              <a:t>控制语句：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426199" y="1678808"/>
            <a:ext cx="7756738" cy="713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rgbClr val="1717B7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fontAlgn="auto">
              <a:lnSpc>
                <a:spcPct val="150000"/>
              </a:lnSpc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pass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语句：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auto">
              <a:lnSpc>
                <a:spcPct val="150000"/>
              </a:lnSpc>
              <a:buNone/>
            </a:pPr>
            <a:endParaRPr lang="en-US" altLang="zh-CN" sz="1800" kern="0" dirty="0"/>
          </a:p>
        </p:txBody>
      </p:sp>
      <p:sp>
        <p:nvSpPr>
          <p:cNvPr id="5" name="矩形 4"/>
          <p:cNvSpPr/>
          <p:nvPr/>
        </p:nvSpPr>
        <p:spPr>
          <a:xfrm>
            <a:off x="543169" y="2294691"/>
            <a:ext cx="768789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kern="0" dirty="0">
                <a:latin typeface="+mn-ea"/>
              </a:rPr>
              <a:t>pass</a:t>
            </a:r>
            <a:r>
              <a:rPr lang="zh-CN" altLang="zh-CN" sz="2000" kern="0" dirty="0">
                <a:latin typeface="+mn-ea"/>
              </a:rPr>
              <a:t>语句是一个空语句，它不做任何操作，代表一个空操作。看下面的循环语句。</a:t>
            </a:r>
          </a:p>
          <a:p>
            <a:pPr indent="342900">
              <a:lnSpc>
                <a:spcPct val="200000"/>
              </a:lnSpc>
            </a:pPr>
            <a:r>
              <a:rPr lang="en-US" altLang="zh-CN" sz="2000" kern="0" dirty="0">
                <a:solidFill>
                  <a:srgbClr val="1717B7"/>
                </a:solidFill>
                <a:latin typeface="+mn-ea"/>
              </a:rPr>
              <a:t>for x in range(10):</a:t>
            </a:r>
            <a:endParaRPr lang="zh-CN" altLang="zh-CN" sz="2000" kern="0" dirty="0">
              <a:solidFill>
                <a:srgbClr val="1717B7"/>
              </a:solidFill>
              <a:latin typeface="+mn-ea"/>
            </a:endParaRPr>
          </a:p>
          <a:p>
            <a:pPr indent="342900">
              <a:lnSpc>
                <a:spcPct val="200000"/>
              </a:lnSpc>
            </a:pPr>
            <a:r>
              <a:rPr lang="en-US" altLang="zh-CN" sz="2000" kern="0" dirty="0">
                <a:solidFill>
                  <a:srgbClr val="1717B7"/>
                </a:solidFill>
                <a:latin typeface="+mn-ea"/>
              </a:rPr>
              <a:t>   pass</a:t>
            </a:r>
            <a:endParaRPr lang="zh-CN" altLang="zh-CN" sz="2000" kern="0" dirty="0">
              <a:solidFill>
                <a:srgbClr val="1717B7"/>
              </a:solidFill>
              <a:latin typeface="+mn-ea"/>
            </a:endParaRPr>
          </a:p>
          <a:p>
            <a:pPr indent="342900">
              <a:lnSpc>
                <a:spcPct val="200000"/>
              </a:lnSpc>
            </a:pPr>
            <a:r>
              <a:rPr lang="zh-CN" altLang="zh-CN" sz="1600" kern="0" dirty="0">
                <a:latin typeface="+mn-ea"/>
              </a:rPr>
              <a:t>该语句的确会循环</a:t>
            </a:r>
            <a:r>
              <a:rPr lang="en-US" altLang="zh-CN" sz="1600" kern="0" dirty="0">
                <a:latin typeface="+mn-ea"/>
              </a:rPr>
              <a:t>10</a:t>
            </a:r>
            <a:r>
              <a:rPr lang="zh-CN" altLang="zh-CN" sz="1600" kern="0" dirty="0">
                <a:latin typeface="+mn-ea"/>
              </a:rPr>
              <a:t>次，但是除了循环本身之外，它什么也没</a:t>
            </a:r>
            <a:r>
              <a:rPr lang="zh-CN" altLang="zh-CN" sz="1600" kern="0">
                <a:latin typeface="+mn-ea"/>
              </a:rPr>
              <a:t>做</a:t>
            </a:r>
            <a:r>
              <a:rPr lang="zh-CN" altLang="zh-CN" sz="1600" kern="0">
                <a:solidFill>
                  <a:srgbClr val="1717B7"/>
                </a:solidFill>
                <a:latin typeface="+mn-ea"/>
              </a:rPr>
              <a:t>。</a:t>
            </a:r>
            <a:endParaRPr lang="zh-CN" altLang="zh-CN" sz="1600" kern="0" dirty="0">
              <a:solidFill>
                <a:srgbClr val="1717B7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312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穷举法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285750" y="1992429"/>
            <a:ext cx="8229600" cy="3767525"/>
          </a:xfrm>
          <a:solidFill>
            <a:schemeClr val="bg1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穷举法就是分别列举出各种可能解，一一测试其是否满足条件。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穷举法的基本思路是：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首先预估问题的求解范围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然后在此范围内将所有可能的解进行逐一验证，看它们是否为问题的解，从而最终找出符合条件的一个或一组解。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8049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506353" y="2633278"/>
            <a:ext cx="6400800" cy="3173413"/>
          </a:xfrm>
        </p:spPr>
        <p:txBody>
          <a:bodyPr>
            <a:norm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800" kern="0"/>
              <a:t>例</a:t>
            </a:r>
            <a:r>
              <a:rPr lang="en-US" altLang="zh-CN" sz="2800" kern="0"/>
              <a:t>4-7 </a:t>
            </a:r>
            <a:r>
              <a:rPr lang="zh-CN" altLang="zh-CN" sz="2800" kern="0"/>
              <a:t>求两个整数</a:t>
            </a:r>
            <a:r>
              <a:rPr lang="en-US" altLang="zh-CN" sz="2800" kern="0"/>
              <a:t>a</a:t>
            </a:r>
            <a:r>
              <a:rPr lang="zh-CN" altLang="zh-CN" sz="2800" kern="0"/>
              <a:t>与</a:t>
            </a:r>
            <a:r>
              <a:rPr lang="en-US" altLang="zh-CN" sz="2800" kern="0"/>
              <a:t>b</a:t>
            </a:r>
            <a:r>
              <a:rPr lang="zh-CN" altLang="zh-CN" sz="2800" kern="0"/>
              <a:t>的</a:t>
            </a:r>
            <a:r>
              <a:rPr lang="zh-CN" altLang="zh-CN" sz="2800" kern="0">
                <a:solidFill>
                  <a:srgbClr val="FF0000"/>
                </a:solidFill>
              </a:rPr>
              <a:t>最大</a:t>
            </a:r>
            <a:r>
              <a:rPr lang="zh-CN" altLang="zh-CN" sz="2800" kern="0"/>
              <a:t>公约数。</a:t>
            </a:r>
            <a:endParaRPr lang="zh-CN" altLang="zh-CN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9"/>
          <p:cNvSpPr>
            <a:spLocks noChangeArrowheads="1"/>
          </p:cNvSpPr>
          <p:nvPr/>
        </p:nvSpPr>
        <p:spPr bwMode="auto">
          <a:xfrm>
            <a:off x="539552" y="817629"/>
            <a:ext cx="8532812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scene3d>
            <a:camera prst="obliqueTopLef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6824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0" y="1484784"/>
            <a:ext cx="113456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r=8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r=7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r=6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r=5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r=4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r=3</a:t>
            </a:r>
          </a:p>
          <a:p>
            <a:pPr>
              <a:lnSpc>
                <a:spcPct val="150000"/>
              </a:lnSpc>
            </a:pP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r=2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69886" y="502033"/>
            <a:ext cx="1152128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a=8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71852" y="476672"/>
            <a:ext cx="1077588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b=6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4624757" y="1844824"/>
            <a:ext cx="7200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4610805" y="2492896"/>
            <a:ext cx="7200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624757" y="3140968"/>
            <a:ext cx="7200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4624757" y="3789040"/>
            <a:ext cx="7200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4624757" y="4437112"/>
            <a:ext cx="7200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4624757" y="5085184"/>
            <a:ext cx="7200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云形标注 25"/>
          <p:cNvSpPr/>
          <p:nvPr/>
        </p:nvSpPr>
        <p:spPr>
          <a:xfrm>
            <a:off x="5706566" y="2009487"/>
            <a:ext cx="3958168" cy="2092266"/>
          </a:xfrm>
          <a:prstGeom prst="cloudCallout">
            <a:avLst>
              <a:gd name="adj1" fmla="val -58754"/>
              <a:gd name="adj2" fmla="val 9013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3500"/>
              </a:lnSpc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</a:t>
            </a:r>
            <a:r>
              <a:rPr lang="en-US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公约数时，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测下一个数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9" name="矩形 9"/>
          <p:cNvSpPr>
            <a:spLocks noChangeArrowheads="1"/>
          </p:cNvSpPr>
          <p:nvPr/>
        </p:nvSpPr>
        <p:spPr bwMode="auto">
          <a:xfrm>
            <a:off x="0" y="1298476"/>
            <a:ext cx="8532813" cy="114300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513706" y="5323855"/>
            <a:ext cx="5806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</a:p>
        </p:txBody>
      </p:sp>
      <p:sp>
        <p:nvSpPr>
          <p:cNvPr id="14" name="内容占位符 5"/>
          <p:cNvSpPr txBox="1">
            <a:spLocks/>
          </p:cNvSpPr>
          <p:nvPr/>
        </p:nvSpPr>
        <p:spPr>
          <a:xfrm>
            <a:off x="159135" y="1484785"/>
            <a:ext cx="3775302" cy="47138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首先预估问题的求解范围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1&lt;=r&lt;=a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1&lt;=r&lt;=b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 startAt="2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然后在此范围内将所有可能的解进行逐一验证，看它们是否为问题的解。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1574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 animBg="1"/>
      <p:bldP spid="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349202" y="1696774"/>
            <a:ext cx="156661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r=1118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r=1117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r=1116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r=……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r=6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r=…….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8" y="476672"/>
            <a:ext cx="2088232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a=1118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83968" y="476672"/>
            <a:ext cx="1110992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b=6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435162" y="2056814"/>
            <a:ext cx="1330030" cy="403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21210" y="2704886"/>
            <a:ext cx="1343982" cy="403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435162" y="3352958"/>
            <a:ext cx="1330030" cy="984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435162" y="4001030"/>
            <a:ext cx="133003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435162" y="4649102"/>
            <a:ext cx="133003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435162" y="5297174"/>
            <a:ext cx="133003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云形标注 25"/>
          <p:cNvSpPr/>
          <p:nvPr/>
        </p:nvSpPr>
        <p:spPr>
          <a:xfrm>
            <a:off x="4067944" y="4869160"/>
            <a:ext cx="4896544" cy="1580142"/>
          </a:xfrm>
          <a:prstGeom prst="cloudCallout">
            <a:avLst>
              <a:gd name="adj1" fmla="val -75195"/>
              <a:gd name="adj2" fmla="val -6977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3500"/>
              </a:lnSpc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的初值不同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检测的次数（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循环次数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）相差很大，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9" name="矩形 9"/>
          <p:cNvSpPr>
            <a:spLocks noChangeArrowheads="1"/>
          </p:cNvSpPr>
          <p:nvPr/>
        </p:nvSpPr>
        <p:spPr bwMode="auto">
          <a:xfrm>
            <a:off x="0" y="1298476"/>
            <a:ext cx="8532813" cy="114300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474888" y="5548015"/>
            <a:ext cx="5806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5546" y="1700808"/>
            <a:ext cx="113456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r=6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r=5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r=4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r=3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r=2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4531506" y="2060848"/>
            <a:ext cx="7200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517554" y="2708920"/>
            <a:ext cx="7200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531506" y="3356992"/>
            <a:ext cx="7200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4531506" y="4005064"/>
            <a:ext cx="7200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5292319" y="4264381"/>
            <a:ext cx="5806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</a:p>
        </p:txBody>
      </p:sp>
      <p:sp>
        <p:nvSpPr>
          <p:cNvPr id="11" name="矩形 10"/>
          <p:cNvSpPr/>
          <p:nvPr/>
        </p:nvSpPr>
        <p:spPr>
          <a:xfrm>
            <a:off x="1421210" y="1844824"/>
            <a:ext cx="1494606" cy="2419557"/>
          </a:xfrm>
          <a:prstGeom prst="rect">
            <a:avLst/>
          </a:prstGeom>
          <a:solidFill>
            <a:srgbClr val="FFCC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多余的检测</a:t>
            </a:r>
          </a:p>
        </p:txBody>
      </p:sp>
    </p:spTree>
    <p:extLst>
      <p:ext uri="{BB962C8B-B14F-4D97-AF65-F5344CB8AC3E}">
        <p14:creationId xmlns:p14="http://schemas.microsoft.com/office/powerpoint/2010/main" val="47400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 animBg="1"/>
      <p:bldP spid="30" grpId="0"/>
      <p:bldP spid="14" grpId="0"/>
      <p:bldP spid="28" grpId="0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kern="0"/>
              <a:t>例</a:t>
            </a:r>
            <a:r>
              <a:rPr lang="en-US" altLang="zh-CN" sz="3600" kern="0"/>
              <a:t>4-7 </a:t>
            </a:r>
            <a:r>
              <a:rPr lang="zh-CN" altLang="zh-CN" sz="3600" kern="0"/>
              <a:t>求两个整数</a:t>
            </a:r>
            <a:r>
              <a:rPr lang="en-US" altLang="zh-CN" sz="3600" kern="0"/>
              <a:t>a</a:t>
            </a:r>
            <a:r>
              <a:rPr lang="zh-CN" altLang="zh-CN" sz="3600" kern="0"/>
              <a:t>与</a:t>
            </a:r>
            <a:r>
              <a:rPr lang="en-US" altLang="zh-CN" sz="3600" kern="0"/>
              <a:t>b</a:t>
            </a:r>
            <a:r>
              <a:rPr lang="zh-CN" altLang="zh-CN" sz="3600" kern="0"/>
              <a:t>的最大公约数。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2560" y="2022236"/>
            <a:ext cx="7979833" cy="3449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zh-CN" sz="2000" kern="0" dirty="0">
                <a:solidFill>
                  <a:srgbClr val="1717B7"/>
                </a:solidFill>
              </a:rPr>
              <a:t>分析：</a:t>
            </a:r>
            <a:endParaRPr lang="en-US" altLang="zh-CN" sz="2000" kern="0" dirty="0">
              <a:solidFill>
                <a:srgbClr val="1717B7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2000" kern="0" dirty="0">
                <a:solidFill>
                  <a:srgbClr val="1717B7"/>
                </a:solidFill>
              </a:rPr>
              <a:t>     1</a:t>
            </a:r>
            <a:r>
              <a:rPr lang="zh-CN" altLang="en-US" sz="2000" kern="0" dirty="0">
                <a:solidFill>
                  <a:srgbClr val="1717B7"/>
                </a:solidFill>
              </a:rPr>
              <a:t>：</a:t>
            </a:r>
            <a:r>
              <a:rPr lang="zh-CN" altLang="zh-CN" sz="2000" kern="0" dirty="0">
                <a:solidFill>
                  <a:srgbClr val="1717B7"/>
                </a:solidFill>
              </a:rPr>
              <a:t>找出</a:t>
            </a:r>
            <a:r>
              <a:rPr lang="en-US" altLang="zh-CN" sz="2000" kern="0" dirty="0">
                <a:solidFill>
                  <a:srgbClr val="1717B7"/>
                </a:solidFill>
              </a:rPr>
              <a:t>a</a:t>
            </a:r>
            <a:r>
              <a:rPr lang="zh-CN" altLang="zh-CN" sz="2000" kern="0" dirty="0">
                <a:solidFill>
                  <a:srgbClr val="1717B7"/>
                </a:solidFill>
              </a:rPr>
              <a:t>与</a:t>
            </a:r>
            <a:r>
              <a:rPr lang="en-US" altLang="zh-CN" sz="2000" kern="0" dirty="0">
                <a:solidFill>
                  <a:srgbClr val="1717B7"/>
                </a:solidFill>
              </a:rPr>
              <a:t>b</a:t>
            </a:r>
            <a:r>
              <a:rPr lang="zh-CN" altLang="zh-CN" sz="2000" kern="0" dirty="0">
                <a:solidFill>
                  <a:srgbClr val="1717B7"/>
                </a:solidFill>
              </a:rPr>
              <a:t>中较小的一个，则最大公约数必在</a:t>
            </a:r>
            <a:r>
              <a:rPr lang="en-US" altLang="zh-CN" sz="2000" kern="0" dirty="0">
                <a:solidFill>
                  <a:srgbClr val="1717B7"/>
                </a:solidFill>
              </a:rPr>
              <a:t>1</a:t>
            </a:r>
            <a:r>
              <a:rPr lang="zh-CN" altLang="zh-CN" sz="2000" kern="0" dirty="0">
                <a:solidFill>
                  <a:srgbClr val="1717B7"/>
                </a:solidFill>
              </a:rPr>
              <a:t>与较小整数的范围内。</a:t>
            </a:r>
            <a:endParaRPr lang="en-US" altLang="zh-CN" sz="2000" kern="0" dirty="0">
              <a:solidFill>
                <a:srgbClr val="1717B7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2000" kern="0" dirty="0">
                <a:solidFill>
                  <a:srgbClr val="1717B7"/>
                </a:solidFill>
              </a:rPr>
              <a:t>    2</a:t>
            </a:r>
            <a:r>
              <a:rPr lang="zh-CN" altLang="en-US" sz="2000" kern="0" dirty="0">
                <a:solidFill>
                  <a:srgbClr val="1717B7"/>
                </a:solidFill>
              </a:rPr>
              <a:t>：</a:t>
            </a:r>
            <a:r>
              <a:rPr lang="zh-CN" altLang="zh-CN" sz="2000" kern="0" dirty="0">
                <a:solidFill>
                  <a:srgbClr val="1717B7"/>
                </a:solidFill>
              </a:rPr>
              <a:t>使用</a:t>
            </a:r>
            <a:r>
              <a:rPr lang="en-US" altLang="zh-CN" sz="2000" kern="0" dirty="0">
                <a:solidFill>
                  <a:srgbClr val="1717B7"/>
                </a:solidFill>
              </a:rPr>
              <a:t>for</a:t>
            </a:r>
            <a:r>
              <a:rPr lang="zh-CN" altLang="zh-CN" sz="2000" kern="0" dirty="0">
                <a:solidFill>
                  <a:srgbClr val="1717B7"/>
                </a:solidFill>
              </a:rPr>
              <a:t>语句，循环变量</a:t>
            </a:r>
            <a:r>
              <a:rPr lang="en-US" altLang="zh-CN" sz="2000" kern="0" dirty="0" err="1">
                <a:solidFill>
                  <a:srgbClr val="1717B7"/>
                </a:solidFill>
              </a:rPr>
              <a:t>i</a:t>
            </a:r>
            <a:r>
              <a:rPr lang="zh-CN" altLang="zh-CN" sz="2000" kern="0" dirty="0">
                <a:solidFill>
                  <a:srgbClr val="1717B7"/>
                </a:solidFill>
              </a:rPr>
              <a:t>从较小整数变化到</a:t>
            </a:r>
            <a:r>
              <a:rPr lang="en-US" altLang="zh-CN" sz="2000" kern="0" dirty="0">
                <a:solidFill>
                  <a:srgbClr val="1717B7"/>
                </a:solidFill>
              </a:rPr>
              <a:t>1</a:t>
            </a:r>
            <a:r>
              <a:rPr lang="zh-CN" altLang="zh-CN" sz="2000" kern="0" dirty="0">
                <a:solidFill>
                  <a:srgbClr val="1717B7"/>
                </a:solidFill>
              </a:rPr>
              <a:t>。一旦循环控制变量</a:t>
            </a:r>
            <a:r>
              <a:rPr lang="en-US" altLang="zh-CN" sz="2000" kern="0" dirty="0" err="1">
                <a:solidFill>
                  <a:srgbClr val="1717B7"/>
                </a:solidFill>
              </a:rPr>
              <a:t>i</a:t>
            </a:r>
            <a:r>
              <a:rPr lang="zh-CN" altLang="zh-CN" sz="2000" kern="0" dirty="0">
                <a:solidFill>
                  <a:srgbClr val="1717B7"/>
                </a:solidFill>
              </a:rPr>
              <a:t>同时整除</a:t>
            </a:r>
            <a:r>
              <a:rPr lang="en-US" altLang="zh-CN" sz="2000" kern="0" dirty="0">
                <a:solidFill>
                  <a:srgbClr val="1717B7"/>
                </a:solidFill>
              </a:rPr>
              <a:t>a</a:t>
            </a:r>
            <a:r>
              <a:rPr lang="zh-CN" altLang="zh-CN" sz="2000" kern="0" dirty="0">
                <a:solidFill>
                  <a:srgbClr val="1717B7"/>
                </a:solidFill>
              </a:rPr>
              <a:t>与</a:t>
            </a:r>
            <a:r>
              <a:rPr lang="en-US" altLang="zh-CN" sz="2000" kern="0" dirty="0">
                <a:solidFill>
                  <a:srgbClr val="1717B7"/>
                </a:solidFill>
              </a:rPr>
              <a:t>b</a:t>
            </a:r>
            <a:r>
              <a:rPr lang="zh-CN" altLang="zh-CN" sz="2000" kern="0" dirty="0">
                <a:solidFill>
                  <a:srgbClr val="1717B7"/>
                </a:solidFill>
              </a:rPr>
              <a:t>，则</a:t>
            </a:r>
            <a:r>
              <a:rPr lang="en-US" altLang="zh-CN" sz="2000" kern="0" dirty="0" err="1">
                <a:solidFill>
                  <a:srgbClr val="1717B7"/>
                </a:solidFill>
              </a:rPr>
              <a:t>i</a:t>
            </a:r>
            <a:r>
              <a:rPr lang="zh-CN" altLang="zh-CN" sz="2000" kern="0" dirty="0">
                <a:solidFill>
                  <a:srgbClr val="1717B7"/>
                </a:solidFill>
              </a:rPr>
              <a:t>就是最大公约数，然后使用</a:t>
            </a:r>
            <a:r>
              <a:rPr lang="en-US" altLang="zh-CN" sz="2000" kern="0" dirty="0">
                <a:solidFill>
                  <a:srgbClr val="1717B7"/>
                </a:solidFill>
              </a:rPr>
              <a:t>break</a:t>
            </a:r>
            <a:r>
              <a:rPr lang="zh-CN" altLang="zh-CN" sz="2000" kern="0" dirty="0">
                <a:solidFill>
                  <a:srgbClr val="1717B7"/>
                </a:solidFill>
              </a:rPr>
              <a:t>语句强制退出循环。</a:t>
            </a:r>
          </a:p>
          <a:p>
            <a:pPr>
              <a:lnSpc>
                <a:spcPct val="150000"/>
              </a:lnSpc>
            </a:pPr>
            <a:endParaRPr lang="en-US" altLang="zh-CN" sz="1350" kern="0" dirty="0"/>
          </a:p>
        </p:txBody>
      </p:sp>
    </p:spTree>
    <p:extLst>
      <p:ext uri="{BB962C8B-B14F-4D97-AF65-F5344CB8AC3E}">
        <p14:creationId xmlns:p14="http://schemas.microsoft.com/office/powerpoint/2010/main" val="1409166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3200" kern="0"/>
              <a:t>例</a:t>
            </a:r>
            <a:r>
              <a:rPr lang="en-US" altLang="zh-CN" sz="3200" kern="0"/>
              <a:t>4-7 </a:t>
            </a:r>
            <a:r>
              <a:rPr lang="zh-CN" altLang="zh-CN" sz="3200" kern="0"/>
              <a:t>求两个整数</a:t>
            </a:r>
            <a:r>
              <a:rPr lang="en-US" altLang="zh-CN" sz="3200" kern="0"/>
              <a:t>a</a:t>
            </a:r>
            <a:r>
              <a:rPr lang="zh-CN" altLang="zh-CN" sz="3200" kern="0"/>
              <a:t>与</a:t>
            </a:r>
            <a:r>
              <a:rPr lang="en-US" altLang="zh-CN" sz="3200" kern="0"/>
              <a:t>b</a:t>
            </a:r>
            <a:r>
              <a:rPr lang="zh-CN" altLang="zh-CN" sz="3200" kern="0"/>
              <a:t>的最大公约数。</a:t>
            </a:r>
            <a:endParaRPr lang="en-US" altLang="zh-CN" sz="3200" kern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12961" y="1565490"/>
            <a:ext cx="8384530" cy="4401205"/>
          </a:xfrm>
          <a:prstGeom prst="rect">
            <a:avLst/>
          </a:prstGeom>
          <a:ln w="158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(input("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请输入两个整数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:"))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a&gt;</a:t>
            </a: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b:a,b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b,a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kern="0">
                <a:latin typeface="微软雅黑" panose="020B0503020204020204" pitchFamily="34" charset="-122"/>
                <a:ea typeface="微软雅黑" panose="020B0503020204020204" pitchFamily="34" charset="-122"/>
              </a:rPr>
              <a:t>	                   </a:t>
            </a:r>
            <a:r>
              <a:rPr lang="en-US" altLang="zh-CN" sz="1600" ker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zh-CN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</a:t>
            </a:r>
            <a:r>
              <a:rPr lang="en-US" altLang="zh-CN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为较小的数</a:t>
            </a:r>
          </a:p>
          <a:p>
            <a:pPr>
              <a:lnSpc>
                <a:spcPct val="20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range(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,0,-1):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if </a:t>
            </a: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a%i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==0 and </a:t>
            </a: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b%i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==0:      </a:t>
            </a:r>
            <a:r>
              <a:rPr lang="en-US" altLang="zh-CN" sz="2000" kern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600" ker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zh-CN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第一次能同时整除</a:t>
            </a:r>
            <a:r>
              <a:rPr lang="en-US" altLang="zh-CN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kern="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为最大公约数</a:t>
            </a:r>
          </a:p>
          <a:p>
            <a:pPr>
              <a:lnSpc>
                <a:spcPct val="20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print("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最大公约数是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</a:t>
            </a: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break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667152" y="4041608"/>
            <a:ext cx="3043388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zh-CN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公约数时，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</a:p>
          <a:p>
            <a:pPr>
              <a:lnSpc>
                <a:spcPct val="200000"/>
              </a:lnSpc>
            </a:pPr>
            <a:r>
              <a:rPr lang="en-US" altLang="zh-CN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结束循环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9" name="线形标注 2 8"/>
          <p:cNvSpPr/>
          <p:nvPr/>
        </p:nvSpPr>
        <p:spPr>
          <a:xfrm>
            <a:off x="5624381" y="1852816"/>
            <a:ext cx="2523405" cy="851883"/>
          </a:xfrm>
          <a:prstGeom prst="borderCallout2">
            <a:avLst>
              <a:gd name="adj1" fmla="val 41639"/>
              <a:gd name="adj2" fmla="val 1206"/>
              <a:gd name="adj3" fmla="val 79456"/>
              <a:gd name="adj4" fmla="val -9729"/>
              <a:gd name="adj5" fmla="val 224098"/>
              <a:gd name="adj6" fmla="val -13642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</a:t>
            </a:r>
            <a:r>
              <a:rPr lang="en-US" altLang="zh-CN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较小数为</a:t>
            </a:r>
            <a:r>
              <a:rPr lang="zh-CN" altLang="zh-CN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公约数</a:t>
            </a:r>
            <a:r>
              <a:rPr lang="en-US" altLang="zh-CN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的初值</a:t>
            </a:r>
            <a:endParaRPr lang="zh-CN" altLang="en-US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216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7037E-7 L 0.53871 0.0034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27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3200" kern="0"/>
              <a:t>例</a:t>
            </a:r>
            <a:r>
              <a:rPr lang="en-US" altLang="zh-CN" sz="3200" kern="0"/>
              <a:t>4-7 </a:t>
            </a:r>
            <a:r>
              <a:rPr lang="zh-CN" altLang="zh-CN" sz="3200" kern="0"/>
              <a:t>求两个整数</a:t>
            </a:r>
            <a:r>
              <a:rPr lang="en-US" altLang="zh-CN" sz="3200" kern="0"/>
              <a:t>a</a:t>
            </a:r>
            <a:r>
              <a:rPr lang="zh-CN" altLang="zh-CN" sz="3200" kern="0"/>
              <a:t>与</a:t>
            </a:r>
            <a:r>
              <a:rPr lang="en-US" altLang="zh-CN" sz="3200" kern="0"/>
              <a:t>b</a:t>
            </a:r>
            <a:r>
              <a:rPr lang="zh-CN" altLang="zh-CN" sz="3200" kern="0"/>
              <a:t>的最大公约数。</a:t>
            </a:r>
            <a:endParaRPr lang="en-US" altLang="zh-CN" sz="3200" kern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891205" y="2037129"/>
            <a:ext cx="5693502" cy="3915944"/>
          </a:xfrm>
          <a:prstGeom prst="rect">
            <a:avLst/>
          </a:prstGeom>
          <a:ln w="158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（辗转相除法）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(input("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请输入两个整数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:"))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a&gt;</a:t>
            </a: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b:a,b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b,a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	#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保证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为较小的数</a:t>
            </a:r>
          </a:p>
          <a:p>
            <a:pPr>
              <a:lnSpc>
                <a:spcPct val="150000"/>
              </a:lnSpc>
            </a:pPr>
            <a:r>
              <a:rPr lang="pt-BR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r=a % b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pt-BR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r!=0: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pt-BR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a,b=b,r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r=</a:t>
            </a: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a%b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print("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最大公约数是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",b)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26A3EE-53BC-4F85-AEC6-336C298BE4C2}"/>
              </a:ext>
            </a:extLst>
          </p:cNvPr>
          <p:cNvSpPr txBox="1"/>
          <p:nvPr/>
        </p:nvSpPr>
        <p:spPr>
          <a:xfrm>
            <a:off x="5100506" y="201336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不要求辗转相除法，有兴趣自学</a:t>
            </a:r>
          </a:p>
        </p:txBody>
      </p:sp>
    </p:spTree>
    <p:extLst>
      <p:ext uri="{BB962C8B-B14F-4D97-AF65-F5344CB8AC3E}">
        <p14:creationId xmlns:p14="http://schemas.microsoft.com/office/powerpoint/2010/main" val="296905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编程方法：乘法因子题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zh-CN" altLang="en-US"/>
              <a:t>判断素数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91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文本占位符 257026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78394" y="1859314"/>
            <a:ext cx="6056094" cy="2293987"/>
          </a:xfr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 cap="flat">
            <a:solidFill>
              <a:srgbClr val="4BACC6"/>
            </a:solidFill>
            <a:miter lim="800000"/>
            <a:headEnd/>
            <a:tailEnd/>
          </a:ln>
        </p:spPr>
        <p:txBody>
          <a:bodyPr lIns="68588" tIns="34294" rIns="68588" bIns="34294"/>
          <a:lstStyle/>
          <a:p>
            <a:pPr marL="0" indent="0" algn="l">
              <a:lnSpc>
                <a:spcPts val="3000"/>
              </a:lnSpc>
              <a:spcBef>
                <a:spcPct val="0"/>
              </a:spcBef>
              <a:buNone/>
            </a:pPr>
            <a:r>
              <a:rPr lang="en-US" altLang="zh-CN" sz="2600">
                <a:latin typeface="+mn-ea"/>
              </a:rPr>
              <a:t>m=int(input("Input a postive integer:"))</a:t>
            </a:r>
            <a:endParaRPr lang="en-US" altLang="zh-CN" sz="2600" dirty="0">
              <a:latin typeface="+mn-ea"/>
            </a:endParaRPr>
          </a:p>
          <a:p>
            <a:pPr marL="0" indent="0" algn="l">
              <a:lnSpc>
                <a:spcPts val="3000"/>
              </a:lnSpc>
              <a:spcBef>
                <a:spcPct val="0"/>
              </a:spcBef>
              <a:buNone/>
            </a:pPr>
            <a:endParaRPr lang="en-US" altLang="zh-CN" sz="2600" dirty="0">
              <a:latin typeface="+mn-ea"/>
            </a:endParaRPr>
          </a:p>
          <a:p>
            <a:pPr marL="0" indent="0" algn="l">
              <a:lnSpc>
                <a:spcPts val="3000"/>
              </a:lnSpc>
              <a:spcBef>
                <a:spcPct val="0"/>
              </a:spcBef>
              <a:buNone/>
            </a:pPr>
            <a:r>
              <a:rPr lang="en-US" altLang="zh-CN" sz="2600" b="1">
                <a:solidFill>
                  <a:schemeClr val="accent2"/>
                </a:solidFill>
                <a:latin typeface="+mn-ea"/>
              </a:rPr>
              <a:t>for i in range(2,m):</a:t>
            </a:r>
            <a:endParaRPr lang="en-US" altLang="zh-CN" sz="2600" b="1" dirty="0">
              <a:solidFill>
                <a:schemeClr val="accent2"/>
              </a:solidFill>
              <a:latin typeface="+mn-ea"/>
            </a:endParaRPr>
          </a:p>
          <a:p>
            <a:pPr marL="0" indent="0" algn="l">
              <a:lnSpc>
                <a:spcPts val="3000"/>
              </a:lnSpc>
              <a:spcBef>
                <a:spcPct val="0"/>
              </a:spcBef>
              <a:buNone/>
            </a:pPr>
            <a:r>
              <a:rPr lang="en-US" altLang="zh-CN" sz="2600" b="1">
                <a:solidFill>
                  <a:srgbClr val="7030A0"/>
                </a:solidFill>
                <a:latin typeface="+mn-ea"/>
              </a:rPr>
              <a:t>    if m </a:t>
            </a:r>
            <a:r>
              <a:rPr lang="en-US" altLang="zh-CN" sz="2600" b="1" dirty="0">
                <a:solidFill>
                  <a:srgbClr val="7030A0"/>
                </a:solidFill>
                <a:latin typeface="+mn-ea"/>
              </a:rPr>
              <a:t>% i </a:t>
            </a:r>
            <a:r>
              <a:rPr lang="en-US" altLang="zh-CN" sz="2600" b="1">
                <a:solidFill>
                  <a:srgbClr val="7030A0"/>
                </a:solidFill>
                <a:latin typeface="+mn-ea"/>
              </a:rPr>
              <a:t>== 0:</a:t>
            </a:r>
          </a:p>
          <a:p>
            <a:pPr marL="0" indent="0">
              <a:lnSpc>
                <a:spcPts val="3000"/>
              </a:lnSpc>
              <a:spcBef>
                <a:spcPct val="0"/>
              </a:spcBef>
              <a:buNone/>
            </a:pPr>
            <a:r>
              <a:rPr lang="en-US" altLang="zh-CN" sz="2600">
                <a:latin typeface="+mn-ea"/>
              </a:rPr>
              <a:t>        print("{0} </a:t>
            </a:r>
            <a:r>
              <a:rPr lang="en-US" altLang="zh-CN" sz="2600" dirty="0">
                <a:latin typeface="+mn-ea"/>
              </a:rPr>
              <a:t>is </a:t>
            </a:r>
            <a:r>
              <a:rPr lang="zh-CN" altLang="en-US" sz="2600" dirty="0">
                <a:latin typeface="+mn-ea"/>
              </a:rPr>
              <a:t>因子</a:t>
            </a:r>
            <a:r>
              <a:rPr lang="en-US" altLang="zh-CN" sz="2600" dirty="0">
                <a:latin typeface="+mn-ea"/>
              </a:rPr>
              <a:t>\</a:t>
            </a:r>
            <a:r>
              <a:rPr lang="en-US" altLang="zh-CN" sz="2600">
                <a:latin typeface="+mn-ea"/>
              </a:rPr>
              <a:t>n".format(i))</a:t>
            </a:r>
          </a:p>
        </p:txBody>
      </p:sp>
      <p:sp>
        <p:nvSpPr>
          <p:cNvPr id="4" name="文本框 2"/>
          <p:cNvSpPr>
            <a:spLocks noChangeArrowheads="1"/>
          </p:cNvSpPr>
          <p:nvPr/>
        </p:nvSpPr>
        <p:spPr bwMode="auto">
          <a:xfrm>
            <a:off x="275578" y="677905"/>
            <a:ext cx="8352579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  <a:sym typeface="宋体" pitchFamily="2" charset="-122"/>
              </a:rPr>
              <a:t>例题：输入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ea typeface="+mn-ea"/>
                <a:sym typeface="宋体" pitchFamily="2" charset="-122"/>
              </a:rPr>
              <a:t>m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  <a:sym typeface="宋体" pitchFamily="2" charset="-122"/>
              </a:rPr>
              <a:t>，输出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ea typeface="+mn-ea"/>
                <a:sym typeface="宋体" pitchFamily="2" charset="-122"/>
              </a:rPr>
              <a:t>m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  <a:sym typeface="宋体" pitchFamily="2" charset="-122"/>
              </a:rPr>
              <a:t>的</a:t>
            </a:r>
            <a:r>
              <a:rPr lang="zh-CN" altLang="en-US" sz="2800" dirty="0">
                <a:latin typeface="+mn-ea"/>
                <a:ea typeface="+mn-ea"/>
              </a:rPr>
              <a:t>除了</a:t>
            </a:r>
            <a:r>
              <a:rPr lang="en-US" altLang="zh-CN" sz="2800" dirty="0">
                <a:latin typeface="+mn-ea"/>
                <a:ea typeface="+mn-ea"/>
              </a:rPr>
              <a:t>1</a:t>
            </a:r>
            <a:r>
              <a:rPr lang="zh-CN" altLang="en-US" sz="2800" dirty="0">
                <a:latin typeface="+mn-ea"/>
                <a:ea typeface="+mn-ea"/>
              </a:rPr>
              <a:t>和它本身的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  <a:sym typeface="宋体" pitchFamily="2" charset="-122"/>
              </a:rPr>
              <a:t>所有因子</a:t>
            </a:r>
          </a:p>
        </p:txBody>
      </p:sp>
      <p:sp>
        <p:nvSpPr>
          <p:cNvPr id="2" name="线形标注 2 1"/>
          <p:cNvSpPr/>
          <p:nvPr/>
        </p:nvSpPr>
        <p:spPr bwMode="auto">
          <a:xfrm>
            <a:off x="5287941" y="4750452"/>
            <a:ext cx="3456240" cy="196317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3827"/>
              <a:gd name="adj6" fmla="val -49766"/>
            </a:avLst>
          </a:prstGeom>
          <a:gradFill flip="none"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B0F0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indent="-4572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如何让程序自己判断有没有因子呢？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有，非素数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没有，素数</a:t>
            </a:r>
          </a:p>
        </p:txBody>
      </p:sp>
    </p:spTree>
    <p:extLst>
      <p:ext uri="{BB962C8B-B14F-4D97-AF65-F5344CB8AC3E}">
        <p14:creationId xmlns:p14="http://schemas.microsoft.com/office/powerpoint/2010/main" val="367130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bldLvl="0" animBg="1" autoUpdateAnimBg="0"/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矩形 9"/>
          <p:cNvSpPr>
            <a:spLocks noChangeArrowheads="1"/>
          </p:cNvSpPr>
          <p:nvPr/>
        </p:nvSpPr>
        <p:spPr bwMode="auto">
          <a:xfrm>
            <a:off x="0" y="1025525"/>
            <a:ext cx="8532813" cy="114300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7475"/>
            <a:ext cx="7783513" cy="850900"/>
          </a:xfrm>
          <a:ln/>
        </p:spPr>
        <p:txBody>
          <a:bodyPr anchor="b"/>
          <a:lstStyle/>
          <a:p>
            <a:pPr marL="0" indent="0" algn="l"/>
            <a:r>
              <a:rPr lang="zh-CN" altLang="zh-CN" sz="2800" b="1" dirty="0">
                <a:latin typeface="+mn-ea"/>
                <a:ea typeface="+mn-ea"/>
              </a:rPr>
              <a:t>问题提出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304925"/>
            <a:ext cx="8147050" cy="873125"/>
          </a:xfrm>
          <a:ln/>
        </p:spPr>
        <p:txBody>
          <a:bodyPr/>
          <a:lstStyle/>
          <a:p>
            <a:pPr marL="257175" indent="-257175" algn="l"/>
            <a:r>
              <a:rPr lang="zh-CN" altLang="en-US" sz="2800" dirty="0">
                <a:latin typeface="+mn-ea"/>
              </a:rPr>
              <a:t>素数：除了</a:t>
            </a:r>
            <a:r>
              <a:rPr lang="en-US" altLang="zh-CN" sz="2800" dirty="0">
                <a:latin typeface="+mn-ea"/>
              </a:rPr>
              <a:t>1</a:t>
            </a:r>
            <a:r>
              <a:rPr lang="zh-CN" altLang="en-US" sz="2800" dirty="0">
                <a:latin typeface="+mn-ea"/>
              </a:rPr>
              <a:t>和它本身，不能被其他整数整除</a:t>
            </a:r>
            <a:endParaRPr lang="en-US" altLang="zh-CN" dirty="0">
              <a:latin typeface="+mn-ea"/>
            </a:endParaRPr>
          </a:p>
          <a:p>
            <a:pPr marL="257175" indent="-257175" algn="l"/>
            <a:endParaRPr lang="zh-CN" altLang="en-US" dirty="0">
              <a:ea typeface="黑体" pitchFamily="49" charset="-122"/>
              <a:sym typeface="黑体" pitchFamily="49" charset="-122"/>
            </a:endParaRPr>
          </a:p>
        </p:txBody>
      </p:sp>
      <p:sp>
        <p:nvSpPr>
          <p:cNvPr id="32773" name="TextBox 5"/>
          <p:cNvSpPr>
            <a:spLocks noChangeArrowheads="1"/>
          </p:cNvSpPr>
          <p:nvPr/>
        </p:nvSpPr>
        <p:spPr bwMode="auto">
          <a:xfrm>
            <a:off x="1403350" y="2278063"/>
            <a:ext cx="157607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13</a:t>
            </a:r>
            <a:r>
              <a:rPr lang="zh-CN" altLang="en-US" sz="2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是素数</a:t>
            </a:r>
          </a:p>
        </p:txBody>
      </p:sp>
      <p:sp>
        <p:nvSpPr>
          <p:cNvPr id="32774" name="TextBox 6"/>
          <p:cNvSpPr>
            <a:spLocks noChangeArrowheads="1"/>
          </p:cNvSpPr>
          <p:nvPr/>
        </p:nvSpPr>
        <p:spPr bwMode="auto">
          <a:xfrm>
            <a:off x="1605480" y="5577046"/>
            <a:ext cx="389535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347</a:t>
            </a:r>
            <a:r>
              <a:rPr lang="zh-CN" altLang="en-US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2137</a:t>
            </a:r>
            <a:r>
              <a:rPr lang="zh-CN" altLang="en-US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、更</a:t>
            </a:r>
            <a:r>
              <a:rPr lang="zh-CN" altLang="en-US" sz="2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大的数呢？</a:t>
            </a:r>
          </a:p>
        </p:txBody>
      </p:sp>
      <p:sp>
        <p:nvSpPr>
          <p:cNvPr id="32775" name="文本框 2"/>
          <p:cNvSpPr>
            <a:spLocks noChangeArrowheads="1"/>
          </p:cNvSpPr>
          <p:nvPr/>
        </p:nvSpPr>
        <p:spPr bwMode="auto">
          <a:xfrm>
            <a:off x="1472962" y="3238500"/>
            <a:ext cx="1658938" cy="492443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13</a:t>
            </a:r>
            <a:r>
              <a:rPr lang="zh-CN" altLang="en-US" sz="2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的因子</a:t>
            </a:r>
          </a:p>
        </p:txBody>
      </p:sp>
      <p:sp>
        <p:nvSpPr>
          <p:cNvPr id="32776" name="文本框 3"/>
          <p:cNvSpPr>
            <a:spLocks noChangeArrowheads="1"/>
          </p:cNvSpPr>
          <p:nvPr/>
        </p:nvSpPr>
        <p:spPr bwMode="auto">
          <a:xfrm>
            <a:off x="1654559" y="4295775"/>
            <a:ext cx="380233" cy="492443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1</a:t>
            </a:r>
          </a:p>
        </p:txBody>
      </p:sp>
      <p:sp>
        <p:nvSpPr>
          <p:cNvPr id="32777" name="文本框 4"/>
          <p:cNvSpPr>
            <a:spLocks noChangeArrowheads="1"/>
          </p:cNvSpPr>
          <p:nvPr/>
        </p:nvSpPr>
        <p:spPr bwMode="auto">
          <a:xfrm>
            <a:off x="2705100" y="4295775"/>
            <a:ext cx="575799" cy="492443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13</a:t>
            </a:r>
          </a:p>
        </p:txBody>
      </p:sp>
      <p:cxnSp>
        <p:nvCxnSpPr>
          <p:cNvPr id="32778" name="AutoShape 10"/>
          <p:cNvCxnSpPr>
            <a:cxnSpLocks noChangeShapeType="1"/>
            <a:stCxn id="32775" idx="2"/>
            <a:endCxn id="32776" idx="0"/>
          </p:cNvCxnSpPr>
          <p:nvPr/>
        </p:nvCxnSpPr>
        <p:spPr bwMode="auto">
          <a:xfrm rot="5400000">
            <a:off x="1791138" y="3784482"/>
            <a:ext cx="564832" cy="457755"/>
          </a:xfrm>
          <a:prstGeom prst="curvedConnector3">
            <a:avLst>
              <a:gd name="adj1" fmla="val 50000"/>
            </a:avLst>
          </a:prstGeom>
          <a:noFill/>
          <a:ln w="25400" cap="flat" cmpd="sng">
            <a:solidFill>
              <a:srgbClr val="4BACC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9" name="AutoShape 11"/>
          <p:cNvCxnSpPr>
            <a:cxnSpLocks noChangeShapeType="1"/>
            <a:stCxn id="32775" idx="2"/>
            <a:endCxn id="32777" idx="0"/>
          </p:cNvCxnSpPr>
          <p:nvPr/>
        </p:nvCxnSpPr>
        <p:spPr bwMode="auto">
          <a:xfrm rot="16200000" flipH="1">
            <a:off x="2365299" y="3668074"/>
            <a:ext cx="564832" cy="690569"/>
          </a:xfrm>
          <a:prstGeom prst="curvedConnector3">
            <a:avLst>
              <a:gd name="adj1" fmla="val 50000"/>
            </a:avLst>
          </a:prstGeom>
          <a:noFill/>
          <a:ln w="25400" cap="flat" cmpd="sng">
            <a:solidFill>
              <a:srgbClr val="4BACC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0" name="文本框 10"/>
          <p:cNvSpPr>
            <a:spLocks noChangeArrowheads="1"/>
          </p:cNvSpPr>
          <p:nvPr/>
        </p:nvSpPr>
        <p:spPr bwMode="auto">
          <a:xfrm>
            <a:off x="4220753" y="4283075"/>
            <a:ext cx="380232" cy="492443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1</a:t>
            </a:r>
          </a:p>
        </p:txBody>
      </p:sp>
      <p:sp>
        <p:nvSpPr>
          <p:cNvPr id="32781" name="文本框 11"/>
          <p:cNvSpPr>
            <a:spLocks noChangeArrowheads="1"/>
          </p:cNvSpPr>
          <p:nvPr/>
        </p:nvSpPr>
        <p:spPr bwMode="auto">
          <a:xfrm>
            <a:off x="5373688" y="4283075"/>
            <a:ext cx="380232" cy="492443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3</a:t>
            </a:r>
          </a:p>
        </p:txBody>
      </p:sp>
      <p:cxnSp>
        <p:nvCxnSpPr>
          <p:cNvPr id="32782" name="AutoShape 14"/>
          <p:cNvCxnSpPr>
            <a:cxnSpLocks noChangeShapeType="1"/>
            <a:stCxn id="32792" idx="2"/>
            <a:endCxn id="32780" idx="0"/>
          </p:cNvCxnSpPr>
          <p:nvPr/>
        </p:nvCxnSpPr>
        <p:spPr bwMode="auto">
          <a:xfrm rot="5400000">
            <a:off x="4857513" y="3271600"/>
            <a:ext cx="564832" cy="1458119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4BACC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3" name="AutoShape 15"/>
          <p:cNvCxnSpPr>
            <a:cxnSpLocks noChangeShapeType="1"/>
            <a:stCxn id="32792" idx="2"/>
            <a:endCxn id="32781" idx="0"/>
          </p:cNvCxnSpPr>
          <p:nvPr/>
        </p:nvCxnSpPr>
        <p:spPr bwMode="auto">
          <a:xfrm rot="5400000">
            <a:off x="5433980" y="3848067"/>
            <a:ext cx="564832" cy="305184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4BACC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4" name="文本框 14"/>
          <p:cNvSpPr>
            <a:spLocks noChangeArrowheads="1"/>
          </p:cNvSpPr>
          <p:nvPr/>
        </p:nvSpPr>
        <p:spPr bwMode="auto">
          <a:xfrm>
            <a:off x="4807334" y="4289425"/>
            <a:ext cx="380233" cy="492443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2</a:t>
            </a:r>
          </a:p>
        </p:txBody>
      </p:sp>
      <p:sp>
        <p:nvSpPr>
          <p:cNvPr id="32785" name="文本框 15"/>
          <p:cNvSpPr>
            <a:spLocks noChangeArrowheads="1"/>
          </p:cNvSpPr>
          <p:nvPr/>
        </p:nvSpPr>
        <p:spPr bwMode="auto">
          <a:xfrm>
            <a:off x="5908675" y="4289425"/>
            <a:ext cx="380232" cy="492443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4</a:t>
            </a:r>
          </a:p>
        </p:txBody>
      </p:sp>
      <p:sp>
        <p:nvSpPr>
          <p:cNvPr id="32786" name="文本框 16"/>
          <p:cNvSpPr>
            <a:spLocks noChangeArrowheads="1"/>
          </p:cNvSpPr>
          <p:nvPr/>
        </p:nvSpPr>
        <p:spPr bwMode="auto">
          <a:xfrm>
            <a:off x="7007225" y="4278313"/>
            <a:ext cx="575799" cy="492443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12</a:t>
            </a:r>
          </a:p>
        </p:txBody>
      </p:sp>
      <p:sp>
        <p:nvSpPr>
          <p:cNvPr id="32787" name="文本框 17"/>
          <p:cNvSpPr>
            <a:spLocks noChangeArrowheads="1"/>
          </p:cNvSpPr>
          <p:nvPr/>
        </p:nvSpPr>
        <p:spPr bwMode="auto">
          <a:xfrm>
            <a:off x="6513103" y="4284663"/>
            <a:ext cx="380232" cy="492443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6</a:t>
            </a:r>
          </a:p>
        </p:txBody>
      </p:sp>
      <p:cxnSp>
        <p:nvCxnSpPr>
          <p:cNvPr id="32788" name="AutoShape 20"/>
          <p:cNvCxnSpPr>
            <a:cxnSpLocks noChangeShapeType="1"/>
            <a:stCxn id="32792" idx="2"/>
            <a:endCxn id="32784" idx="0"/>
          </p:cNvCxnSpPr>
          <p:nvPr/>
        </p:nvCxnSpPr>
        <p:spPr bwMode="auto">
          <a:xfrm rot="5400000">
            <a:off x="5147629" y="3568066"/>
            <a:ext cx="571182" cy="871537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4BACC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9" name="AutoShape 21"/>
          <p:cNvCxnSpPr>
            <a:cxnSpLocks noChangeShapeType="1"/>
            <a:stCxn id="32792" idx="2"/>
            <a:endCxn id="32785" idx="0"/>
          </p:cNvCxnSpPr>
          <p:nvPr/>
        </p:nvCxnSpPr>
        <p:spPr bwMode="auto">
          <a:xfrm rot="16200000" flipH="1">
            <a:off x="5698298" y="3888932"/>
            <a:ext cx="571182" cy="229803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4BACC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0" name="AutoShape 22"/>
          <p:cNvCxnSpPr>
            <a:cxnSpLocks noChangeShapeType="1"/>
            <a:stCxn id="32792" idx="2"/>
            <a:endCxn id="32787" idx="0"/>
          </p:cNvCxnSpPr>
          <p:nvPr/>
        </p:nvCxnSpPr>
        <p:spPr bwMode="auto">
          <a:xfrm rot="16200000" flipH="1">
            <a:off x="6002893" y="3584337"/>
            <a:ext cx="566420" cy="834231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4BACC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1" name="AutoShape 23"/>
          <p:cNvCxnSpPr>
            <a:cxnSpLocks noChangeShapeType="1"/>
            <a:stCxn id="32792" idx="2"/>
            <a:endCxn id="32786" idx="0"/>
          </p:cNvCxnSpPr>
          <p:nvPr/>
        </p:nvCxnSpPr>
        <p:spPr bwMode="auto">
          <a:xfrm rot="16200000" flipH="1">
            <a:off x="6302021" y="3285209"/>
            <a:ext cx="560070" cy="1426137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4BACC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92" name="文本框 9"/>
          <p:cNvSpPr>
            <a:spLocks noChangeArrowheads="1"/>
          </p:cNvSpPr>
          <p:nvPr/>
        </p:nvSpPr>
        <p:spPr bwMode="auto">
          <a:xfrm>
            <a:off x="5076825" y="3225800"/>
            <a:ext cx="1584325" cy="492443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1</a:t>
            </a:r>
            <a:r>
              <a:rPr lang="en-US" altLang="zh-CN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2</a:t>
            </a:r>
            <a:r>
              <a:rPr lang="zh-CN" altLang="en-US" sz="2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的因子</a:t>
            </a:r>
          </a:p>
        </p:txBody>
      </p:sp>
      <p:sp>
        <p:nvSpPr>
          <p:cNvPr id="32793" name="文本框 23"/>
          <p:cNvSpPr>
            <a:spLocks noChangeArrowheads="1"/>
          </p:cNvSpPr>
          <p:nvPr/>
        </p:nvSpPr>
        <p:spPr bwMode="auto">
          <a:xfrm>
            <a:off x="5004030" y="2278063"/>
            <a:ext cx="190949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12</a:t>
            </a:r>
            <a:r>
              <a:rPr lang="zh-CN" altLang="en-US" sz="2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不是素数</a:t>
            </a:r>
          </a:p>
        </p:txBody>
      </p:sp>
    </p:spTree>
    <p:extLst>
      <p:ext uri="{BB962C8B-B14F-4D97-AF65-F5344CB8AC3E}">
        <p14:creationId xmlns:p14="http://schemas.microsoft.com/office/powerpoint/2010/main" val="212569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10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uiExpand="1" build="p" bldLvl="2" autoUpdateAnimBg="0"/>
      <p:bldP spid="32773" grpId="0" bldLvl="0" autoUpdateAnimBg="0"/>
      <p:bldP spid="32774" grpId="0" bldLvl="0" autoUpdateAnimBg="0"/>
      <p:bldP spid="32775" grpId="0" bldLvl="0" animBg="1" autoUpdateAnimBg="0"/>
      <p:bldP spid="32776" grpId="0" bldLvl="0" animBg="1" autoUpdateAnimBg="0"/>
      <p:bldP spid="32777" grpId="0" bldLvl="0" animBg="1" autoUpdateAnimBg="0"/>
      <p:bldP spid="32780" grpId="0" bldLvl="0" animBg="1" autoUpdateAnimBg="0"/>
      <p:bldP spid="32781" grpId="0" bldLvl="0" animBg="1" autoUpdateAnimBg="0"/>
      <p:bldP spid="32784" grpId="0" bldLvl="0" animBg="1" autoUpdateAnimBg="0"/>
      <p:bldP spid="32785" grpId="0" bldLvl="0" animBg="1" autoUpdateAnimBg="0"/>
      <p:bldP spid="32786" grpId="0" bldLvl="0" animBg="1" autoUpdateAnimBg="0"/>
      <p:bldP spid="32787" grpId="0" bldLvl="0" animBg="1" autoUpdateAnimBg="0"/>
      <p:bldP spid="32792" grpId="0" bldLvl="0" animBg="1" autoUpdateAnimBg="0"/>
      <p:bldP spid="32793" grpId="0" bldLvl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914400" y="617219"/>
            <a:ext cx="6574055" cy="2019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altLang="zh-CN" sz="2000">
                <a:latin typeface="+mn-ea"/>
              </a:rPr>
              <a:t>m=int(input("Input a postive integer:"))</a:t>
            </a:r>
          </a:p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altLang="zh-CN" sz="2000" b="1">
                <a:solidFill>
                  <a:schemeClr val="accent2"/>
                </a:solidFill>
                <a:latin typeface="+mn-ea"/>
              </a:rPr>
              <a:t>for i in range(2,m):</a:t>
            </a:r>
          </a:p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7030A0"/>
                </a:solidFill>
                <a:latin typeface="+mn-ea"/>
              </a:rPr>
              <a:t>    if m % i == 0: </a:t>
            </a:r>
          </a:p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7030A0"/>
                </a:solidFill>
                <a:latin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latin typeface="+mn-ea"/>
              </a:rPr>
              <a:t>     </a:t>
            </a:r>
            <a:r>
              <a:rPr lang="en-US" altLang="zh-CN" sz="2000">
                <a:latin typeface="+mn-ea"/>
              </a:rPr>
              <a:t>print("{0} </a:t>
            </a:r>
            <a:r>
              <a:rPr lang="zh-CN" altLang="en-US" sz="2000">
                <a:latin typeface="+mn-ea"/>
              </a:rPr>
              <a:t>不是素数</a:t>
            </a:r>
            <a:r>
              <a:rPr lang="en-US" altLang="zh-CN" sz="2000">
                <a:latin typeface="+mn-ea"/>
              </a:rPr>
              <a:t>\n".format(m))</a:t>
            </a:r>
          </a:p>
          <a:p>
            <a:pPr marL="257175" indent="-257175">
              <a:lnSpc>
                <a:spcPts val="3000"/>
              </a:lnSpc>
            </a:pPr>
            <a:r>
              <a:rPr lang="zh-CN" altLang="en-US" sz="2000" b="1">
                <a:solidFill>
                  <a:srgbClr val="FF0000"/>
                </a:solidFill>
                <a:latin typeface="+mn-ea"/>
              </a:rPr>
              <a:t>该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程序的输出结果为（    ）。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当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</a:t>
            </a:r>
            <a:r>
              <a:rPr lang="zh-CN" altLang="en-US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7</a:t>
            </a:r>
            <a:r>
              <a:rPr lang="zh-CN" altLang="en-US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时，输出     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7</a:t>
            </a:r>
            <a:r>
              <a:rPr lang="zh-CN" altLang="en-US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是素数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当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</a:t>
            </a:r>
            <a:r>
              <a:rPr lang="zh-CN" altLang="en-US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</a:t>
            </a:r>
            <a:r>
              <a:rPr lang="zh-CN" altLang="en-US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时，输出     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</a:t>
            </a:r>
            <a:r>
              <a:rPr lang="zh-CN" altLang="en-US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是素数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当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</a:t>
            </a:r>
            <a:r>
              <a:rPr lang="zh-CN" altLang="en-US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7</a:t>
            </a:r>
            <a:r>
              <a:rPr lang="zh-CN" altLang="en-US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时，无输出 </a:t>
            </a:r>
            <a:endParaRPr lang="zh-CN" altLang="en-US" b="1" dirty="0">
              <a:solidFill>
                <a:srgbClr val="0070C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当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</a:t>
            </a:r>
            <a:r>
              <a:rPr lang="zh-CN" altLang="en-US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</a:t>
            </a:r>
            <a:r>
              <a:rPr lang="zh-CN" altLang="en-US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时，重复输出</a:t>
            </a:r>
            <a:r>
              <a:rPr lang="en-US" altLang="zh-CN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行：     </a:t>
            </a:r>
            <a:r>
              <a:rPr lang="en-US" altLang="zh-CN" b="1" dirty="0">
                <a:solidFill>
                  <a:srgbClr val="0070C0"/>
                </a:solidFill>
                <a:latin typeface="Microsoft Yahei"/>
                <a:ea typeface="Microsoft Yahei"/>
                <a:sym typeface="Microsoft Yahei"/>
              </a:rPr>
              <a:t>8</a:t>
            </a:r>
            <a:r>
              <a:rPr lang="zh-CN" altLang="en-US" b="1" dirty="0">
                <a:solidFill>
                  <a:srgbClr val="0070C0"/>
                </a:solidFill>
                <a:latin typeface="Microsoft Yahei"/>
                <a:ea typeface="Microsoft Yahei"/>
                <a:sym typeface="Microsoft Yahei"/>
              </a:rPr>
              <a:t>不是素数</a:t>
            </a: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多选题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4043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素数问题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1504" y="1788155"/>
            <a:ext cx="7931693" cy="789351"/>
          </a:xfrm>
        </p:spPr>
        <p:txBody>
          <a:bodyPr>
            <a:normAutofit fontScale="25000" lnSpcReduction="20000"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800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8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4-6</a:t>
            </a:r>
            <a:r>
              <a:rPr lang="zh-CN" altLang="en-US" sz="8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8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输入一个整数</a:t>
            </a:r>
            <a:r>
              <a:rPr lang="en-US" altLang="zh-CN" sz="8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zh-CN" sz="8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，判断是否为素数</a:t>
            </a:r>
            <a:r>
              <a:rPr lang="zh-CN" altLang="zh-CN" sz="7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>
              <a:spcAft>
                <a:spcPts val="450"/>
              </a:spcAft>
              <a:buNone/>
            </a:pPr>
            <a:endParaRPr lang="zh-CN" altLang="zh-CN" sz="1800" dirty="0"/>
          </a:p>
          <a:p>
            <a:pPr indent="0">
              <a:buNone/>
            </a:pPr>
            <a:endParaRPr lang="en-US" altLang="zh-CN" sz="1800" dirty="0"/>
          </a:p>
          <a:p>
            <a:pPr indent="0">
              <a:buNone/>
            </a:pPr>
            <a:r>
              <a:rPr lang="en-US" altLang="zh-CN" sz="1800" dirty="0"/>
              <a:t>     </a:t>
            </a:r>
            <a:endParaRPr lang="zh-CN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58208" y="2524533"/>
            <a:ext cx="888579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1717B7"/>
                </a:solidFill>
              </a:rPr>
              <a:t>分析：</a:t>
            </a:r>
            <a:endParaRPr lang="en-US" altLang="zh-CN" dirty="0">
              <a:solidFill>
                <a:srgbClr val="1717B7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</a:rPr>
              <a:t>     1</a:t>
            </a:r>
            <a:r>
              <a:rPr lang="zh-CN" altLang="en-US" dirty="0">
                <a:solidFill>
                  <a:srgbClr val="1717B7"/>
                </a:solidFill>
              </a:rPr>
              <a:t>：</a:t>
            </a:r>
            <a:r>
              <a:rPr lang="zh-CN" altLang="zh-CN" dirty="0">
                <a:solidFill>
                  <a:srgbClr val="C00000"/>
                </a:solidFill>
              </a:rPr>
              <a:t>一个最简单的办法用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zh-CN" dirty="0">
                <a:solidFill>
                  <a:srgbClr val="C00000"/>
                </a:solidFill>
              </a:rPr>
              <a:t>、</a:t>
            </a:r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zh-CN" dirty="0">
                <a:solidFill>
                  <a:srgbClr val="C00000"/>
                </a:solidFill>
              </a:rPr>
              <a:t>、</a:t>
            </a:r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zh-CN" dirty="0">
                <a:solidFill>
                  <a:srgbClr val="C00000"/>
                </a:solidFill>
              </a:rPr>
              <a:t>、</a:t>
            </a:r>
            <a:r>
              <a:rPr lang="en-US" altLang="zh-CN" dirty="0">
                <a:solidFill>
                  <a:srgbClr val="C00000"/>
                </a:solidFill>
              </a:rPr>
              <a:t>5</a:t>
            </a:r>
            <a:r>
              <a:rPr lang="zh-CN" altLang="zh-CN" dirty="0">
                <a:solidFill>
                  <a:srgbClr val="C00000"/>
                </a:solidFill>
              </a:rPr>
              <a:t>、……、</a:t>
            </a:r>
            <a:r>
              <a:rPr lang="en-US" altLang="zh-CN" dirty="0">
                <a:solidFill>
                  <a:srgbClr val="C00000"/>
                </a:solidFill>
              </a:rPr>
              <a:t>M-1</a:t>
            </a:r>
            <a:r>
              <a:rPr lang="zh-CN" altLang="zh-CN" dirty="0">
                <a:solidFill>
                  <a:srgbClr val="C00000"/>
                </a:solidFill>
              </a:rPr>
              <a:t>这些数逐个去除</a:t>
            </a:r>
            <a:r>
              <a:rPr lang="en-US" altLang="zh-CN" dirty="0">
                <a:solidFill>
                  <a:srgbClr val="C00000"/>
                </a:solidFill>
              </a:rPr>
              <a:t>M</a:t>
            </a:r>
            <a:r>
              <a:rPr lang="zh-CN" altLang="zh-CN" dirty="0">
                <a:solidFill>
                  <a:srgbClr val="C00000"/>
                </a:solidFill>
              </a:rPr>
              <a:t>，看能否整除，如果全都不能整除，则</a:t>
            </a:r>
            <a:r>
              <a:rPr lang="en-US" altLang="zh-CN" dirty="0">
                <a:solidFill>
                  <a:srgbClr val="C00000"/>
                </a:solidFill>
              </a:rPr>
              <a:t>M</a:t>
            </a:r>
            <a:r>
              <a:rPr lang="zh-CN" altLang="zh-CN" dirty="0">
                <a:solidFill>
                  <a:srgbClr val="C00000"/>
                </a:solidFill>
              </a:rPr>
              <a:t>是素数，否则，只要其中一个数能整除，则</a:t>
            </a:r>
            <a:r>
              <a:rPr lang="en-US" altLang="zh-CN" dirty="0">
                <a:solidFill>
                  <a:srgbClr val="C00000"/>
                </a:solidFill>
              </a:rPr>
              <a:t>M</a:t>
            </a:r>
            <a:r>
              <a:rPr lang="zh-CN" altLang="zh-CN" dirty="0">
                <a:solidFill>
                  <a:srgbClr val="C00000"/>
                </a:solidFill>
              </a:rPr>
              <a:t>不是素数</a:t>
            </a:r>
            <a:r>
              <a:rPr lang="zh-CN" altLang="zh-CN" dirty="0">
                <a:solidFill>
                  <a:srgbClr val="1717B7"/>
                </a:solidFill>
              </a:rPr>
              <a:t>。</a:t>
            </a:r>
            <a:endParaRPr lang="en-US" altLang="zh-CN" dirty="0">
              <a:solidFill>
                <a:srgbClr val="1717B7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</a:rPr>
              <a:t>   2</a:t>
            </a:r>
            <a:r>
              <a:rPr lang="zh-CN" altLang="en-US" dirty="0">
                <a:solidFill>
                  <a:srgbClr val="1717B7"/>
                </a:solidFill>
              </a:rPr>
              <a:t>：</a:t>
            </a:r>
            <a:r>
              <a:rPr lang="zh-CN" altLang="zh-CN" dirty="0">
                <a:solidFill>
                  <a:srgbClr val="1717B7"/>
                </a:solidFill>
              </a:rPr>
              <a:t>可以设一个变量来作为是否</a:t>
            </a:r>
            <a:r>
              <a:rPr lang="zh-CN" altLang="zh-CN" dirty="0">
                <a:solidFill>
                  <a:srgbClr val="C00000"/>
                </a:solidFill>
              </a:rPr>
              <a:t>素数的标志</a:t>
            </a:r>
            <a:r>
              <a:rPr lang="zh-CN" altLang="zh-CN" dirty="0">
                <a:solidFill>
                  <a:srgbClr val="1717B7"/>
                </a:solidFill>
              </a:rPr>
              <a:t>，用</a:t>
            </a:r>
            <a:r>
              <a:rPr lang="en-US" altLang="zh-CN" dirty="0">
                <a:solidFill>
                  <a:srgbClr val="1717B7"/>
                </a:solidFill>
              </a:rPr>
              <a:t>for</a:t>
            </a:r>
            <a:r>
              <a:rPr lang="zh-CN" altLang="zh-CN" dirty="0">
                <a:solidFill>
                  <a:srgbClr val="1717B7"/>
                </a:solidFill>
              </a:rPr>
              <a:t>语句实现程序。</a:t>
            </a: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rgbClr val="1717B7"/>
              </a:solidFill>
            </a:endParaRPr>
          </a:p>
          <a:p>
            <a:pPr>
              <a:lnSpc>
                <a:spcPct val="150000"/>
              </a:lnSpc>
            </a:pPr>
            <a:endParaRPr lang="zh-CN" altLang="zh-CN" dirty="0">
              <a:solidFill>
                <a:srgbClr val="1717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30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矩形 9"/>
          <p:cNvSpPr>
            <a:spLocks noChangeArrowheads="1"/>
          </p:cNvSpPr>
          <p:nvPr/>
        </p:nvSpPr>
        <p:spPr bwMode="auto">
          <a:xfrm>
            <a:off x="0" y="1025525"/>
            <a:ext cx="8532813" cy="114300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33795" name="标题 22220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7475"/>
            <a:ext cx="7783513" cy="850900"/>
          </a:xfrm>
          <a:ln/>
        </p:spPr>
        <p:txBody>
          <a:bodyPr anchor="b"/>
          <a:lstStyle/>
          <a:p>
            <a:pPr marL="0" indent="0" algn="l"/>
            <a:r>
              <a:rPr lang="zh-CN" altLang="zh-CN" sz="2400" b="1"/>
              <a:t>算法描述：</a:t>
            </a:r>
          </a:p>
        </p:txBody>
      </p:sp>
      <p:sp>
        <p:nvSpPr>
          <p:cNvPr id="33796" name="文本占位符 222211"/>
          <p:cNvSpPr>
            <a:spLocks noGrp="1" noChangeArrowheads="1"/>
          </p:cNvSpPr>
          <p:nvPr>
            <p:ph idx="4294967295"/>
          </p:nvPr>
        </p:nvSpPr>
        <p:spPr>
          <a:xfrm>
            <a:off x="861460" y="1304925"/>
            <a:ext cx="7368139" cy="4822825"/>
          </a:xfrm>
          <a:ln/>
        </p:spPr>
        <p:txBody>
          <a:bodyPr/>
          <a:lstStyle/>
          <a:p>
            <a:pPr marL="257175" indent="-257175" algn="l">
              <a:lnSpc>
                <a:spcPct val="250000"/>
              </a:lnSpc>
              <a:spcBef>
                <a:spcPct val="0"/>
              </a:spcBef>
            </a:pPr>
            <a:r>
              <a:rPr lang="zh-CN" altLang="en-US" sz="2000" dirty="0">
                <a:latin typeface="微软雅黑" pitchFamily="34" charset="-122"/>
                <a:ea typeface="微软雅黑" panose="020B0503020204020204" pitchFamily="34" charset="-122"/>
              </a:rPr>
              <a:t>输入整数</a:t>
            </a:r>
            <a:r>
              <a:rPr lang="en-US" altLang="zh-CN" sz="2000" dirty="0">
                <a:latin typeface="微软雅黑" pitchFamily="34" charset="-122"/>
                <a:ea typeface="微软雅黑" panose="020B0503020204020204" pitchFamily="34" charset="-122"/>
              </a:rPr>
              <a:t>m</a:t>
            </a:r>
            <a:endParaRPr lang="en-US" altLang="zh-CN" sz="2400" dirty="0">
              <a:latin typeface="微软雅黑" pitchFamily="34" charset="-122"/>
              <a:ea typeface="微软雅黑" panose="020B0503020204020204" pitchFamily="34" charset="-122"/>
            </a:endParaRPr>
          </a:p>
          <a:p>
            <a:pPr marL="257175" indent="-257175" algn="l">
              <a:lnSpc>
                <a:spcPct val="250000"/>
              </a:lnSpc>
              <a:spcBef>
                <a:spcPct val="0"/>
              </a:spcBef>
            </a:pPr>
            <a:r>
              <a:rPr lang="zh-CN" altLang="en-US" sz="2000" dirty="0">
                <a:latin typeface="微软雅黑" pitchFamily="34" charset="-122"/>
                <a:ea typeface="微软雅黑" panose="020B0503020204020204" pitchFamily="34" charset="-122"/>
              </a:rPr>
              <a:t>构造循环：检查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anose="020B0503020204020204" pitchFamily="34" charset="-122"/>
              </a:rPr>
              <a:t>2~m-1</a:t>
            </a:r>
            <a:r>
              <a:rPr lang="zh-CN" altLang="en-US" sz="2000" dirty="0">
                <a:latin typeface="微软雅黑" pitchFamily="34" charset="-122"/>
                <a:ea typeface="微软雅黑" panose="020B0503020204020204" pitchFamily="34" charset="-122"/>
              </a:rPr>
              <a:t>之间的整数</a:t>
            </a:r>
            <a:r>
              <a:rPr lang="en-US" altLang="zh-CN" sz="2000" dirty="0">
                <a:latin typeface="微软雅黑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>
                <a:latin typeface="微软雅黑" pitchFamily="34" charset="-122"/>
                <a:ea typeface="微软雅黑" panose="020B0503020204020204" pitchFamily="34" charset="-122"/>
              </a:rPr>
              <a:t>是否能整除</a:t>
            </a:r>
            <a:r>
              <a:rPr lang="en-US" altLang="zh-CN" sz="2000" dirty="0">
                <a:latin typeface="微软雅黑" pitchFamily="34" charset="-122"/>
                <a:ea typeface="微软雅黑" panose="020B0503020204020204" pitchFamily="34" charset="-122"/>
              </a:rPr>
              <a:t>m</a:t>
            </a:r>
          </a:p>
          <a:p>
            <a:pPr marL="257175" indent="-257175">
              <a:lnSpc>
                <a:spcPct val="250000"/>
              </a:lnSpc>
              <a:spcBef>
                <a:spcPct val="0"/>
              </a:spcBef>
            </a:pPr>
            <a:r>
              <a:rPr lang="zh-CN" altLang="en-US" sz="2000" dirty="0">
                <a:latin typeface="微软雅黑" pitchFamily="34" charset="-122"/>
                <a:ea typeface="微软雅黑" panose="020B0503020204020204" pitchFamily="34" charset="-122"/>
              </a:rPr>
              <a:t>设置标志</a:t>
            </a:r>
            <a:r>
              <a:rPr lang="en-US" altLang="zh-CN" sz="2000" dirty="0">
                <a:latin typeface="微软雅黑" pitchFamily="34" charset="-122"/>
                <a:ea typeface="微软雅黑" panose="020B0503020204020204" pitchFamily="34" charset="-122"/>
              </a:rPr>
              <a:t>flag</a:t>
            </a:r>
            <a:r>
              <a:rPr lang="zh-CN" altLang="en-US" sz="2000" dirty="0">
                <a:latin typeface="微软雅黑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>
                <a:latin typeface="微软雅黑" pitchFamily="34" charset="-122"/>
                <a:ea typeface="微软雅黑" panose="020B0503020204020204" pitchFamily="34" charset="-122"/>
              </a:rPr>
              <a:t>初值为</a:t>
            </a:r>
            <a:r>
              <a:rPr lang="en-US" altLang="zh-CN" sz="2000" b="1">
                <a:solidFill>
                  <a:srgbClr val="00B0F0"/>
                </a:solidFill>
                <a:latin typeface="微软雅黑" pitchFamily="34" charset="-122"/>
                <a:ea typeface="微软雅黑" panose="020B0503020204020204" pitchFamily="34" charset="-122"/>
              </a:rPr>
              <a:t>True</a:t>
            </a:r>
            <a:endParaRPr lang="en-US" altLang="zh-CN" sz="2000" b="1" dirty="0">
              <a:solidFill>
                <a:srgbClr val="00B0F0"/>
              </a:solidFill>
              <a:latin typeface="微软雅黑" pitchFamily="34" charset="-122"/>
              <a:ea typeface="微软雅黑" panose="020B0503020204020204" pitchFamily="34" charset="-122"/>
            </a:endParaRPr>
          </a:p>
          <a:p>
            <a:pPr marL="557213" lvl="1" indent="-212725" algn="l">
              <a:lnSpc>
                <a:spcPct val="250000"/>
              </a:lnSpc>
              <a:spcBef>
                <a:spcPct val="0"/>
              </a:spcBef>
              <a:buSzPct val="100000"/>
            </a:pPr>
            <a:r>
              <a:rPr lang="zh-CN" altLang="en-US" sz="2000" dirty="0">
                <a:latin typeface="微软雅黑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>
                <a:latin typeface="微软雅黑" pitchFamily="34" charset="-122"/>
                <a:ea typeface="微软雅黑" panose="020B0503020204020204" pitchFamily="34" charset="-122"/>
              </a:rPr>
              <a:t>flag</a:t>
            </a:r>
            <a:r>
              <a:rPr lang="zh-CN" altLang="en-US" sz="2000">
                <a:latin typeface="微软雅黑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b="1">
                <a:solidFill>
                  <a:srgbClr val="00B0F0"/>
                </a:solidFill>
                <a:latin typeface="微软雅黑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000">
                <a:latin typeface="微软雅黑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latin typeface="微软雅黑" pitchFamily="34" charset="-122"/>
                <a:ea typeface="微软雅黑" panose="020B0503020204020204" pitchFamily="34" charset="-122"/>
              </a:rPr>
              <a:t>表示是素数</a:t>
            </a:r>
          </a:p>
          <a:p>
            <a:pPr marL="557213" lvl="1" indent="-212725" algn="l">
              <a:lnSpc>
                <a:spcPct val="250000"/>
              </a:lnSpc>
              <a:spcBef>
                <a:spcPct val="0"/>
              </a:spcBef>
              <a:buSzPct val="100000"/>
            </a:pPr>
            <a:r>
              <a:rPr lang="zh-CN" altLang="en-US" sz="2000" dirty="0">
                <a:latin typeface="微软雅黑" pitchFamily="34" charset="-122"/>
                <a:ea typeface="微软雅黑" panose="020B0503020204020204" pitchFamily="34" charset="-122"/>
                <a:sym typeface="宋体" pitchFamily="2" charset="-122"/>
              </a:rPr>
              <a:t>若</a:t>
            </a:r>
            <a:r>
              <a:rPr lang="en-US" altLang="zh-CN" sz="2000">
                <a:latin typeface="微软雅黑" pitchFamily="34" charset="-122"/>
                <a:ea typeface="微软雅黑" panose="020B0503020204020204" pitchFamily="34" charset="-122"/>
                <a:sym typeface="宋体" pitchFamily="2" charset="-122"/>
              </a:rPr>
              <a:t>flag</a:t>
            </a:r>
            <a:r>
              <a:rPr lang="zh-CN" altLang="en-US" sz="2000">
                <a:latin typeface="微软雅黑" pitchFamily="34" charset="-122"/>
                <a:ea typeface="微软雅黑" panose="020B0503020204020204" pitchFamily="34" charset="-122"/>
                <a:sym typeface="宋体" pitchFamily="2" charset="-122"/>
              </a:rPr>
              <a:t>为</a:t>
            </a:r>
            <a:r>
              <a:rPr lang="en-US" altLang="zh-CN" sz="2000">
                <a:solidFill>
                  <a:srgbClr val="00B0F0"/>
                </a:solidFill>
                <a:latin typeface="微软雅黑" pitchFamily="34" charset="-122"/>
                <a:ea typeface="微软雅黑" panose="020B0503020204020204" pitchFamily="34" charset="-122"/>
                <a:sym typeface="宋体" pitchFamily="2" charset="-122"/>
              </a:rPr>
              <a:t>False</a:t>
            </a:r>
            <a:r>
              <a:rPr lang="zh-CN" altLang="en-US" sz="2000">
                <a:latin typeface="微软雅黑" pitchFamily="34" charset="-122"/>
                <a:ea typeface="微软雅黑" panose="020B0503020204020204" pitchFamily="34" charset="-122"/>
                <a:sym typeface="宋体" pitchFamily="2" charset="-122"/>
              </a:rPr>
              <a:t>，</a:t>
            </a:r>
            <a:r>
              <a:rPr lang="zh-CN" altLang="en-US" sz="2000" dirty="0">
                <a:latin typeface="微软雅黑" pitchFamily="34" charset="-122"/>
                <a:ea typeface="微软雅黑" panose="020B0503020204020204" pitchFamily="34" charset="-122"/>
                <a:sym typeface="宋体" pitchFamily="2" charset="-122"/>
              </a:rPr>
              <a:t>表示不是素数</a:t>
            </a:r>
            <a:endParaRPr lang="zh-CN" altLang="en-US" dirty="0">
              <a:latin typeface="微软雅黑" pitchFamily="34" charset="-122"/>
              <a:ea typeface="微软雅黑" panose="020B0503020204020204" pitchFamily="34" charset="-122"/>
              <a:sym typeface="宋体" pitchFamily="2" charset="-122"/>
            </a:endParaRPr>
          </a:p>
          <a:p>
            <a:pPr marL="557213" lvl="1" indent="-212725" algn="l">
              <a:lnSpc>
                <a:spcPct val="150000"/>
              </a:lnSpc>
              <a:spcBef>
                <a:spcPct val="0"/>
              </a:spcBef>
              <a:buSzPct val="100000"/>
            </a:pPr>
            <a:endParaRPr lang="en-US" altLang="zh-CN" sz="2800" dirty="0">
              <a:latin typeface="微软雅黑" pitchFamily="34" charset="-122"/>
              <a:sym typeface="宋体" pitchFamily="2" charset="-122"/>
            </a:endParaRPr>
          </a:p>
          <a:p>
            <a:pPr marL="257175" indent="-257175" algn="l"/>
            <a:endParaRPr lang="zh-CN" altLang="en-US" sz="2000" dirty="0">
              <a:latin typeface="微软雅黑" pitchFamily="34" charset="-122"/>
            </a:endParaRPr>
          </a:p>
        </p:txBody>
      </p:sp>
      <p:sp>
        <p:nvSpPr>
          <p:cNvPr id="33797" name="文本框 2"/>
          <p:cNvSpPr>
            <a:spLocks noChangeArrowheads="1"/>
          </p:cNvSpPr>
          <p:nvPr/>
        </p:nvSpPr>
        <p:spPr bwMode="auto">
          <a:xfrm>
            <a:off x="1979613" y="355600"/>
            <a:ext cx="6213560" cy="461665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素数：除了</a:t>
            </a:r>
            <a:r>
              <a:rPr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和它本身，不能被其他整数整除</a:t>
            </a:r>
          </a:p>
        </p:txBody>
      </p:sp>
    </p:spTree>
    <p:extLst>
      <p:ext uri="{BB962C8B-B14F-4D97-AF65-F5344CB8AC3E}">
        <p14:creationId xmlns:p14="http://schemas.microsoft.com/office/powerpoint/2010/main" val="203025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build="p" bldLvl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41" name="矩形 34840"/>
          <p:cNvSpPr/>
          <p:nvPr/>
        </p:nvSpPr>
        <p:spPr bwMode="auto">
          <a:xfrm>
            <a:off x="5076035" y="2846246"/>
            <a:ext cx="3672255" cy="2310874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4818" name="矩形 9"/>
          <p:cNvSpPr>
            <a:spLocks noChangeArrowheads="1"/>
          </p:cNvSpPr>
          <p:nvPr/>
        </p:nvSpPr>
        <p:spPr bwMode="auto">
          <a:xfrm>
            <a:off x="0" y="1025525"/>
            <a:ext cx="8532813" cy="114300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7475"/>
            <a:ext cx="7783513" cy="850900"/>
          </a:xfrm>
          <a:ln/>
        </p:spPr>
        <p:txBody>
          <a:bodyPr lIns="91428" tIns="45714" rIns="91428" bIns="45714" anchor="b"/>
          <a:lstStyle/>
          <a:p>
            <a:pPr marL="0" indent="0" algn="l"/>
            <a:r>
              <a:rPr lang="en-US" altLang="zh-CN" sz="2700" b="1" dirty="0">
                <a:latin typeface="+mn-ea"/>
                <a:ea typeface="+mn-ea"/>
                <a:sym typeface="宋体" pitchFamily="2" charset="-122"/>
              </a:rPr>
              <a:t>m</a:t>
            </a:r>
            <a:r>
              <a:rPr lang="zh-CN" altLang="en-US" sz="2700" b="1" dirty="0">
                <a:latin typeface="+mn-ea"/>
                <a:ea typeface="+mn-ea"/>
                <a:sym typeface="宋体" pitchFamily="2" charset="-122"/>
              </a:rPr>
              <a:t>是否素数：检查</a:t>
            </a:r>
            <a:r>
              <a:rPr lang="en-US" altLang="zh-CN" sz="2700" b="1" dirty="0">
                <a:solidFill>
                  <a:srgbClr val="FF0000"/>
                </a:solidFill>
                <a:latin typeface="+mn-ea"/>
                <a:ea typeface="+mn-ea"/>
                <a:sym typeface="宋体" pitchFamily="2" charset="-122"/>
              </a:rPr>
              <a:t>2~m-1</a:t>
            </a:r>
            <a:r>
              <a:rPr lang="zh-CN" altLang="en-US" sz="2700" b="1" dirty="0">
                <a:latin typeface="+mn-ea"/>
                <a:ea typeface="+mn-ea"/>
                <a:sym typeface="宋体" pitchFamily="2" charset="-122"/>
              </a:rPr>
              <a:t>之间的整数</a:t>
            </a:r>
            <a:r>
              <a:rPr lang="en-US" altLang="zh-CN" sz="2700" b="1" dirty="0">
                <a:latin typeface="+mn-ea"/>
                <a:ea typeface="+mn-ea"/>
                <a:sym typeface="宋体" pitchFamily="2" charset="-122"/>
              </a:rPr>
              <a:t>i</a:t>
            </a:r>
            <a:endParaRPr lang="zh-CN" altLang="en-US" sz="2700" b="1" dirty="0">
              <a:latin typeface="+mn-ea"/>
              <a:ea typeface="+mn-ea"/>
            </a:endParaRPr>
          </a:p>
        </p:txBody>
      </p:sp>
      <p:sp>
        <p:nvSpPr>
          <p:cNvPr id="3482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304925"/>
            <a:ext cx="4968875" cy="4822825"/>
          </a:xfrm>
          <a:ln/>
        </p:spPr>
        <p:txBody>
          <a:bodyPr lIns="91428" tIns="45714" rIns="91428" bIns="45714"/>
          <a:lstStyle/>
          <a:p>
            <a:pPr marL="257175" indent="-257175" algn="l">
              <a:lnSpc>
                <a:spcPct val="150000"/>
              </a:lnSpc>
            </a:pPr>
            <a:r>
              <a:rPr lang="en-US" altLang="zh-CN" sz="2000" dirty="0">
                <a:latin typeface="微软雅黑" pitchFamily="34" charset="-122"/>
                <a:sym typeface="宋体" pitchFamily="2" charset="-122"/>
              </a:rPr>
              <a:t>  </a:t>
            </a:r>
            <a:r>
              <a:rPr lang="en-US" altLang="zh-CN" sz="2000" b="1" dirty="0">
                <a:solidFill>
                  <a:schemeClr val="tx2"/>
                </a:solidFill>
                <a:latin typeface="微软雅黑" pitchFamily="34" charset="-122"/>
                <a:sym typeface="宋体" pitchFamily="2" charset="-122"/>
              </a:rPr>
              <a:t>  </a:t>
            </a:r>
          </a:p>
          <a:p>
            <a:pPr marL="800100" lvl="1" indent="-455613" algn="l">
              <a:lnSpc>
                <a:spcPct val="150000"/>
              </a:lnSpc>
              <a:buSzPct val="100000"/>
              <a:buFont typeface="Calibri" pitchFamily="34" charset="0"/>
              <a:buAutoNum type="circleNumDbPlain"/>
            </a:pPr>
            <a:r>
              <a:rPr lang="zh-CN" altLang="en-US" sz="2000" dirty="0">
                <a:latin typeface="+mn-ea"/>
                <a:sym typeface="宋体" pitchFamily="2" charset="-122"/>
              </a:rPr>
              <a:t>变量</a:t>
            </a:r>
            <a:r>
              <a:rPr lang="en-US" altLang="zh-CN" sz="2000" dirty="0">
                <a:latin typeface="+mn-ea"/>
                <a:sym typeface="宋体" pitchFamily="2" charset="-122"/>
              </a:rPr>
              <a:t>i</a:t>
            </a:r>
            <a:r>
              <a:rPr lang="zh-CN" altLang="en-US" sz="2000" dirty="0">
                <a:latin typeface="+mn-ea"/>
                <a:sym typeface="宋体" pitchFamily="2" charset="-122"/>
              </a:rPr>
              <a:t>值初始化为</a:t>
            </a:r>
            <a:r>
              <a:rPr lang="en-US" altLang="zh-CN" sz="2000" dirty="0">
                <a:latin typeface="+mn-ea"/>
                <a:sym typeface="宋体" pitchFamily="2" charset="-122"/>
              </a:rPr>
              <a:t>2</a:t>
            </a:r>
          </a:p>
          <a:p>
            <a:pPr marL="800100" lvl="1" indent="-455613" algn="l">
              <a:lnSpc>
                <a:spcPct val="150000"/>
              </a:lnSpc>
              <a:buSzPct val="100000"/>
              <a:buFont typeface="Calibri" pitchFamily="34" charset="0"/>
              <a:buAutoNum type="circleNumDbPlain"/>
            </a:pPr>
            <a:r>
              <a:rPr lang="zh-CN" altLang="en-US" sz="2000" dirty="0">
                <a:latin typeface="+mn-ea"/>
                <a:sym typeface="Wingdings" pitchFamily="2" charset="2"/>
              </a:rPr>
              <a:t>检测</a:t>
            </a:r>
            <a:r>
              <a:rPr lang="en-US" altLang="zh-CN" sz="2000" dirty="0">
                <a:latin typeface="+mn-ea"/>
                <a:sym typeface="Wingdings" pitchFamily="2" charset="2"/>
              </a:rPr>
              <a:t>2~m-1</a:t>
            </a:r>
            <a:r>
              <a:rPr lang="zh-CN" altLang="en-US" sz="2000" dirty="0">
                <a:latin typeface="+mn-ea"/>
                <a:sym typeface="Wingdings" pitchFamily="2" charset="2"/>
              </a:rPr>
              <a:t>之间的每个</a:t>
            </a:r>
            <a:r>
              <a:rPr lang="en-US" altLang="zh-CN" sz="2000" dirty="0">
                <a:latin typeface="+mn-ea"/>
                <a:sym typeface="Wingdings" pitchFamily="2" charset="2"/>
              </a:rPr>
              <a:t>i</a:t>
            </a:r>
            <a:r>
              <a:rPr lang="zh-CN" altLang="en-US" sz="2000" dirty="0">
                <a:latin typeface="+mn-ea"/>
                <a:sym typeface="宋体" pitchFamily="2" charset="-122"/>
              </a:rPr>
              <a:t> 是否 </a:t>
            </a:r>
            <a:r>
              <a:rPr lang="en-US" altLang="zh-CN" sz="2000" dirty="0">
                <a:latin typeface="+mn-ea"/>
                <a:sym typeface="宋体" pitchFamily="2" charset="-122"/>
              </a:rPr>
              <a:t>m</a:t>
            </a:r>
            <a:r>
              <a:rPr lang="zh-CN" altLang="en-US" sz="2000" dirty="0">
                <a:latin typeface="+mn-ea"/>
                <a:sym typeface="宋体" pitchFamily="2" charset="-122"/>
              </a:rPr>
              <a:t>的因子</a:t>
            </a:r>
          </a:p>
          <a:p>
            <a:pPr marL="800100" lvl="1" indent="-455613" algn="l">
              <a:lnSpc>
                <a:spcPct val="150000"/>
              </a:lnSpc>
              <a:buSzPct val="100000"/>
              <a:buFont typeface="Calibri" pitchFamily="34" charset="0"/>
              <a:buAutoNum type="circleNumDbPlain"/>
            </a:pPr>
            <a:r>
              <a:rPr lang="zh-CN" altLang="en-US" sz="2000" dirty="0">
                <a:latin typeface="+mn-ea"/>
                <a:sym typeface="宋体" pitchFamily="2" charset="-122"/>
              </a:rPr>
              <a:t>如果</a:t>
            </a:r>
            <a:r>
              <a:rPr lang="en-US" altLang="zh-CN" sz="2000" dirty="0">
                <a:latin typeface="+mn-ea"/>
                <a:sym typeface="宋体" pitchFamily="2" charset="-122"/>
              </a:rPr>
              <a:t>i</a:t>
            </a:r>
            <a:r>
              <a:rPr lang="zh-CN" altLang="en-US" sz="2000" dirty="0">
                <a:latin typeface="+mn-ea"/>
                <a:sym typeface="宋体" pitchFamily="2" charset="-122"/>
              </a:rPr>
              <a:t>是</a:t>
            </a:r>
            <a:r>
              <a:rPr lang="en-US" altLang="zh-CN" sz="2000" dirty="0">
                <a:latin typeface="+mn-ea"/>
                <a:sym typeface="宋体" pitchFamily="2" charset="-122"/>
              </a:rPr>
              <a:t>m</a:t>
            </a:r>
            <a:r>
              <a:rPr lang="zh-CN" altLang="en-US" sz="2000" dirty="0">
                <a:latin typeface="+mn-ea"/>
                <a:sym typeface="宋体" pitchFamily="2" charset="-122"/>
              </a:rPr>
              <a:t>的因子，</a:t>
            </a:r>
            <a:r>
              <a:rPr lang="en-US" altLang="zh-CN" sz="2000" dirty="0">
                <a:latin typeface="+mn-ea"/>
                <a:sym typeface="宋体" pitchFamily="2" charset="-122"/>
              </a:rPr>
              <a:t>m</a:t>
            </a:r>
            <a:r>
              <a:rPr lang="zh-CN" altLang="en-US" sz="2000" dirty="0">
                <a:latin typeface="+mn-ea"/>
                <a:sym typeface="宋体" pitchFamily="2" charset="-122"/>
              </a:rPr>
              <a:t>不是素数，判定结论记在标记变量</a:t>
            </a:r>
            <a:r>
              <a:rPr lang="en-US" altLang="zh-CN" sz="2000" dirty="0">
                <a:latin typeface="+mn-ea"/>
                <a:sym typeface="宋体" pitchFamily="2" charset="-122"/>
              </a:rPr>
              <a:t>flag</a:t>
            </a:r>
            <a:r>
              <a:rPr lang="zh-CN" altLang="en-US" sz="2000" dirty="0">
                <a:latin typeface="+mn-ea"/>
                <a:sym typeface="宋体" pitchFamily="2" charset="-122"/>
              </a:rPr>
              <a:t>中；如果</a:t>
            </a:r>
            <a:r>
              <a:rPr lang="en-US" altLang="zh-CN" sz="2000" dirty="0">
                <a:latin typeface="+mn-ea"/>
                <a:sym typeface="宋体" pitchFamily="2" charset="-122"/>
              </a:rPr>
              <a:t>i</a:t>
            </a:r>
            <a:r>
              <a:rPr lang="zh-CN" altLang="en-US" sz="2000" dirty="0">
                <a:latin typeface="+mn-ea"/>
                <a:sym typeface="宋体" pitchFamily="2" charset="-122"/>
              </a:rPr>
              <a:t>不是</a:t>
            </a:r>
            <a:r>
              <a:rPr lang="en-US" altLang="zh-CN" sz="2000" dirty="0">
                <a:latin typeface="+mn-ea"/>
                <a:sym typeface="宋体" pitchFamily="2" charset="-122"/>
              </a:rPr>
              <a:t>m</a:t>
            </a:r>
            <a:r>
              <a:rPr lang="zh-CN" altLang="en-US" sz="2000" dirty="0">
                <a:latin typeface="+mn-ea"/>
                <a:sym typeface="宋体" pitchFamily="2" charset="-122"/>
              </a:rPr>
              <a:t>的因子，</a:t>
            </a:r>
            <a:r>
              <a:rPr lang="en-US" altLang="zh-CN" sz="2000" dirty="0">
                <a:latin typeface="+mn-ea"/>
                <a:sym typeface="宋体" pitchFamily="2" charset="-122"/>
              </a:rPr>
              <a:t>flag</a:t>
            </a:r>
            <a:r>
              <a:rPr lang="zh-CN" altLang="en-US" sz="2000" dirty="0">
                <a:latin typeface="+mn-ea"/>
                <a:sym typeface="宋体" pitchFamily="2" charset="-122"/>
              </a:rPr>
              <a:t>不变</a:t>
            </a:r>
            <a:endParaRPr lang="en-US" altLang="zh-CN" sz="2000" dirty="0">
              <a:latin typeface="+mn-ea"/>
              <a:sym typeface="宋体" pitchFamily="2" charset="-122"/>
            </a:endParaRPr>
          </a:p>
          <a:p>
            <a:pPr marL="800100" lvl="1" indent="-455613" algn="l">
              <a:lnSpc>
                <a:spcPct val="150000"/>
              </a:lnSpc>
              <a:buSzPct val="100000"/>
              <a:buFont typeface="Calibri" pitchFamily="34" charset="0"/>
              <a:buAutoNum type="circleNumDbPlain"/>
            </a:pPr>
            <a:r>
              <a:rPr lang="en-US" altLang="zh-CN" sz="2000" dirty="0">
                <a:solidFill>
                  <a:srgbClr val="002060"/>
                </a:solidFill>
                <a:latin typeface="+mn-ea"/>
                <a:sym typeface="宋体" pitchFamily="2" charset="-122"/>
              </a:rPr>
              <a:t>i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sym typeface="宋体" pitchFamily="2" charset="-122"/>
              </a:rPr>
              <a:t>加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sym typeface="宋体" pitchFamily="2" charset="-122"/>
              </a:rPr>
              <a:t>1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sym typeface="宋体" pitchFamily="2" charset="-122"/>
              </a:rPr>
              <a:t>，转向</a:t>
            </a:r>
            <a:r>
              <a:rPr lang="zh-CN" altLang="en-US" sz="2000" dirty="0">
                <a:latin typeface="+mn-ea"/>
                <a:sym typeface="Wingdings" pitchFamily="2" charset="2"/>
              </a:rPr>
              <a:t>直至</a:t>
            </a:r>
            <a:r>
              <a:rPr lang="en-US" altLang="zh-CN" sz="2000" dirty="0">
                <a:latin typeface="+mn-ea"/>
                <a:sym typeface="Wingdings" pitchFamily="2" charset="2"/>
              </a:rPr>
              <a:t>i&lt;=m-1</a:t>
            </a:r>
            <a:r>
              <a:rPr lang="zh-CN" altLang="en-US" sz="2000" dirty="0">
                <a:latin typeface="+mn-ea"/>
                <a:sym typeface="Wingdings" pitchFamily="2" charset="2"/>
              </a:rPr>
              <a:t>不成立</a:t>
            </a:r>
            <a:endParaRPr lang="zh-CN" altLang="en-US" sz="1800" dirty="0">
              <a:latin typeface="微软雅黑" pitchFamily="34" charset="-122"/>
            </a:endParaRPr>
          </a:p>
        </p:txBody>
      </p:sp>
      <p:sp>
        <p:nvSpPr>
          <p:cNvPr id="34821" name="灯片编号占位符 1"/>
          <p:cNvSpPr>
            <a:spLocks noGrp="1" noChangeArrowheads="1"/>
          </p:cNvSpPr>
          <p:nvPr/>
        </p:nvSpPr>
        <p:spPr bwMode="auto">
          <a:xfrm>
            <a:off x="6553200" y="6359525"/>
            <a:ext cx="21336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57D9C147-CC76-47BE-BB74-2B5998132DFB}" type="slidenum">
              <a:rPr lang="en-US" altLang="zh-CN" sz="1200">
                <a:sym typeface="宋体" pitchFamily="2" charset="-122"/>
              </a:rPr>
              <a:pPr algn="r"/>
              <a:t>31</a:t>
            </a:fld>
            <a:endParaRPr lang="en-US" altLang="zh-CN" sz="1200">
              <a:sym typeface="宋体" pitchFamily="2" charset="-122"/>
            </a:endParaRPr>
          </a:p>
        </p:txBody>
      </p:sp>
      <p:sp>
        <p:nvSpPr>
          <p:cNvPr id="34822" name="Text Box 22"/>
          <p:cNvSpPr>
            <a:spLocks noChangeArrowheads="1"/>
          </p:cNvSpPr>
          <p:nvPr/>
        </p:nvSpPr>
        <p:spPr bwMode="auto">
          <a:xfrm>
            <a:off x="6134100" y="3008313"/>
            <a:ext cx="7620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zh-CN" sz="1600" b="1">
              <a:solidFill>
                <a:srgbClr val="000000"/>
              </a:solidFill>
            </a:endParaRPr>
          </a:p>
        </p:txBody>
      </p:sp>
      <p:sp>
        <p:nvSpPr>
          <p:cNvPr id="34824" name="Text Box 30"/>
          <p:cNvSpPr>
            <a:spLocks noChangeArrowheads="1"/>
          </p:cNvSpPr>
          <p:nvPr/>
        </p:nvSpPr>
        <p:spPr bwMode="auto">
          <a:xfrm>
            <a:off x="5676787" y="3048000"/>
            <a:ext cx="1943213" cy="672525"/>
          </a:xfrm>
          <a:prstGeom prst="flowChartDecision">
            <a:avLst/>
          </a:prstGeom>
          <a:solidFill>
            <a:srgbClr val="FFFFFF"/>
          </a:solidFill>
          <a:ln w="25400" cap="flat" cmpd="sng">
            <a:solidFill>
              <a:srgbClr val="4BACC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4825" name="AutoShape 31"/>
          <p:cNvSpPr>
            <a:spLocks/>
          </p:cNvSpPr>
          <p:nvPr/>
        </p:nvSpPr>
        <p:spPr bwMode="auto">
          <a:xfrm>
            <a:off x="5579213" y="1996961"/>
            <a:ext cx="2125773" cy="609600"/>
          </a:xfrm>
          <a:prstGeom prst="flowChartDecision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 w="9525" cap="flat" cmpd="sng">
            <a:solidFill>
              <a:srgbClr val="4BACC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 sz="1600">
              <a:solidFill>
                <a:srgbClr val="000000"/>
              </a:solidFill>
            </a:endParaRPr>
          </a:p>
        </p:txBody>
      </p:sp>
      <p:sp>
        <p:nvSpPr>
          <p:cNvPr id="34826" name="Text Box 32"/>
          <p:cNvSpPr>
            <a:spLocks noChangeArrowheads="1"/>
          </p:cNvSpPr>
          <p:nvPr/>
        </p:nvSpPr>
        <p:spPr bwMode="auto">
          <a:xfrm>
            <a:off x="5834062" y="2057486"/>
            <a:ext cx="16351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i &lt;=m-1</a:t>
            </a:r>
          </a:p>
        </p:txBody>
      </p:sp>
      <p:sp>
        <p:nvSpPr>
          <p:cNvPr id="34827" name="Text Box 40"/>
          <p:cNvSpPr>
            <a:spLocks noChangeArrowheads="1"/>
          </p:cNvSpPr>
          <p:nvPr/>
        </p:nvSpPr>
        <p:spPr bwMode="auto">
          <a:xfrm>
            <a:off x="7826243" y="1857375"/>
            <a:ext cx="9220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0(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假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34828" name="Text Box 32"/>
          <p:cNvSpPr>
            <a:spLocks noChangeArrowheads="1"/>
          </p:cNvSpPr>
          <p:nvPr/>
        </p:nvSpPr>
        <p:spPr bwMode="auto">
          <a:xfrm>
            <a:off x="6162675" y="1098550"/>
            <a:ext cx="914400" cy="461665"/>
          </a:xfrm>
          <a:prstGeom prst="rect">
            <a:avLst/>
          </a:prstGeom>
          <a:noFill/>
          <a:ln w="22225" cmpd="sng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i = 2 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34829" name="直接箭头连接符 44"/>
          <p:cNvCxnSpPr>
            <a:cxnSpLocks noChangeShapeType="1"/>
            <a:stCxn id="34825" idx="2"/>
            <a:endCxn id="34824" idx="0"/>
          </p:cNvCxnSpPr>
          <p:nvPr/>
        </p:nvCxnSpPr>
        <p:spPr bwMode="auto">
          <a:xfrm>
            <a:off x="6642100" y="2606561"/>
            <a:ext cx="6294" cy="441439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0" name="Text Box 32"/>
          <p:cNvSpPr>
            <a:spLocks noChangeArrowheads="1"/>
          </p:cNvSpPr>
          <p:nvPr/>
        </p:nvSpPr>
        <p:spPr bwMode="auto">
          <a:xfrm>
            <a:off x="5771378" y="4356100"/>
            <a:ext cx="1694649" cy="400110"/>
          </a:xfrm>
          <a:prstGeom prst="rect">
            <a:avLst/>
          </a:prstGeom>
          <a:noFill/>
          <a:ln w="22225" cmpd="sng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flag </a:t>
            </a:r>
            <a:r>
              <a:rPr lang="en-US" altLang="zh-CN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False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832" name="肘形连接符 47"/>
          <p:cNvSpPr>
            <a:spLocks noChangeShapeType="1"/>
          </p:cNvSpPr>
          <p:nvPr/>
        </p:nvSpPr>
        <p:spPr bwMode="auto">
          <a:xfrm rot="5400000" flipH="1">
            <a:off x="4439331" y="3539218"/>
            <a:ext cx="3451339" cy="976424"/>
          </a:xfrm>
          <a:prstGeom prst="bentConnector4">
            <a:avLst>
              <a:gd name="adj1" fmla="val -13940"/>
              <a:gd name="adj2" fmla="val 177874"/>
            </a:avLst>
          </a:prstGeom>
          <a:noFill/>
          <a:ln w="15875" cap="flat" cmpd="sng">
            <a:solidFill>
              <a:schemeClr val="accent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3" name="直接箭头连接符 48"/>
          <p:cNvSpPr>
            <a:spLocks noChangeShapeType="1"/>
          </p:cNvSpPr>
          <p:nvPr/>
        </p:nvSpPr>
        <p:spPr bwMode="auto">
          <a:xfrm>
            <a:off x="6619875" y="1549400"/>
            <a:ext cx="6350" cy="4572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4" name="Text Box 30"/>
          <p:cNvSpPr>
            <a:spLocks noChangeArrowheads="1"/>
          </p:cNvSpPr>
          <p:nvPr/>
        </p:nvSpPr>
        <p:spPr bwMode="auto">
          <a:xfrm>
            <a:off x="5706318" y="5302250"/>
            <a:ext cx="1781257" cy="430887"/>
          </a:xfrm>
          <a:prstGeom prst="rect">
            <a:avLst/>
          </a:prstGeom>
          <a:noFill/>
          <a:ln w="22225" cmpd="sng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1600" b="1">
                <a:solidFill>
                  <a:srgbClr val="000000"/>
                </a:solidFill>
              </a:rPr>
              <a:t>       </a:t>
            </a:r>
            <a:r>
              <a:rPr lang="en-US" altLang="zh-CN" sz="2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i=i+1      </a:t>
            </a:r>
            <a:endParaRPr lang="en-US" altLang="zh-CN" sz="2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835" name="AutoShape 19"/>
          <p:cNvCxnSpPr>
            <a:cxnSpLocks noChangeShapeType="1"/>
            <a:stCxn id="34824" idx="3"/>
          </p:cNvCxnSpPr>
          <p:nvPr/>
        </p:nvCxnSpPr>
        <p:spPr bwMode="auto">
          <a:xfrm flipH="1">
            <a:off x="6653213" y="3384263"/>
            <a:ext cx="966787" cy="1686212"/>
          </a:xfrm>
          <a:prstGeom prst="bentConnector4">
            <a:avLst>
              <a:gd name="adj1" fmla="val -88873"/>
              <a:gd name="adj2" fmla="val 97370"/>
            </a:avLst>
          </a:prstGeom>
          <a:noFill/>
          <a:ln w="15875" cap="flat" cmpd="sng">
            <a:solidFill>
              <a:schemeClr val="accent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6" name="直接箭头连接符 51"/>
          <p:cNvSpPr>
            <a:spLocks noChangeShapeType="1"/>
          </p:cNvSpPr>
          <p:nvPr/>
        </p:nvSpPr>
        <p:spPr bwMode="auto">
          <a:xfrm>
            <a:off x="6651625" y="4806950"/>
            <a:ext cx="1588" cy="52705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7" name="直接箭头连接符 52"/>
          <p:cNvSpPr>
            <a:spLocks noChangeShapeType="1"/>
          </p:cNvSpPr>
          <p:nvPr/>
        </p:nvSpPr>
        <p:spPr bwMode="auto">
          <a:xfrm>
            <a:off x="6600825" y="688975"/>
            <a:ext cx="6350" cy="382588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8" name="文本框 9"/>
          <p:cNvSpPr>
            <a:spLocks noChangeArrowheads="1"/>
          </p:cNvSpPr>
          <p:nvPr/>
        </p:nvSpPr>
        <p:spPr bwMode="auto">
          <a:xfrm>
            <a:off x="828675" y="1222375"/>
            <a:ext cx="3815330" cy="492443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  <a:sym typeface="黑体" pitchFamily="49" charset="-122"/>
              </a:rPr>
              <a:t>变量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  <a:sym typeface="黑体" pitchFamily="49" charset="-122"/>
              </a:rPr>
              <a:t>i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  <a:sym typeface="黑体" pitchFamily="49" charset="-122"/>
              </a:rPr>
              <a:t>是控制循环的变量。</a:t>
            </a:r>
          </a:p>
        </p:txBody>
      </p:sp>
      <p:sp>
        <p:nvSpPr>
          <p:cNvPr id="34839" name="肘形连接符 2"/>
          <p:cNvSpPr>
            <a:spLocks noChangeShapeType="1"/>
          </p:cNvSpPr>
          <p:nvPr/>
        </p:nvSpPr>
        <p:spPr bwMode="auto">
          <a:xfrm flipH="1">
            <a:off x="6591300" y="2301760"/>
            <a:ext cx="1028700" cy="4141903"/>
          </a:xfrm>
          <a:prstGeom prst="bentConnector3">
            <a:avLst>
              <a:gd name="adj1" fmla="val -136557"/>
            </a:avLst>
          </a:prstGeom>
          <a:noFill/>
          <a:ln w="15875" cap="flat" cmpd="sng">
            <a:solidFill>
              <a:schemeClr val="accent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6" name="直接箭头连接符 5"/>
          <p:cNvCxnSpPr>
            <a:stCxn id="34824" idx="2"/>
            <a:endCxn id="34830" idx="0"/>
          </p:cNvCxnSpPr>
          <p:nvPr/>
        </p:nvCxnSpPr>
        <p:spPr bwMode="auto">
          <a:xfrm flipH="1">
            <a:off x="6618703" y="3720525"/>
            <a:ext cx="29691" cy="6355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1" name="直接箭头连接符 34830"/>
          <p:cNvCxnSpPr/>
          <p:nvPr/>
        </p:nvCxnSpPr>
        <p:spPr bwMode="auto">
          <a:xfrm>
            <a:off x="6633121" y="6443663"/>
            <a:ext cx="0" cy="4143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Text Box 25"/>
          <p:cNvSpPr>
            <a:spLocks noChangeArrowheads="1"/>
          </p:cNvSpPr>
          <p:nvPr/>
        </p:nvSpPr>
        <p:spPr bwMode="auto">
          <a:xfrm>
            <a:off x="6798416" y="3796597"/>
            <a:ext cx="114486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7030A0"/>
                </a:solidFill>
                <a:latin typeface="+mn-ea"/>
                <a:ea typeface="+mn-ea"/>
              </a:rPr>
              <a:t>非</a:t>
            </a:r>
            <a:r>
              <a:rPr lang="en-US" altLang="zh-CN" sz="2200" b="1" dirty="0">
                <a:solidFill>
                  <a:srgbClr val="7030A0"/>
                </a:solidFill>
                <a:latin typeface="+mn-ea"/>
                <a:ea typeface="+mn-ea"/>
              </a:rPr>
              <a:t>0(</a:t>
            </a:r>
            <a:r>
              <a:rPr lang="zh-CN" altLang="en-US" sz="2200" b="1" dirty="0">
                <a:solidFill>
                  <a:srgbClr val="7030A0"/>
                </a:solidFill>
                <a:latin typeface="+mn-ea"/>
                <a:ea typeface="+mn-ea"/>
              </a:rPr>
              <a:t>真</a:t>
            </a:r>
            <a:r>
              <a:rPr lang="en-US" altLang="zh-CN" sz="2200" b="1" dirty="0">
                <a:solidFill>
                  <a:srgbClr val="7030A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58" name="Text Box 40"/>
          <p:cNvSpPr>
            <a:spLocks noChangeArrowheads="1"/>
          </p:cNvSpPr>
          <p:nvPr/>
        </p:nvSpPr>
        <p:spPr bwMode="auto">
          <a:xfrm>
            <a:off x="8114263" y="2996970"/>
            <a:ext cx="9220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7030A0"/>
                </a:solidFill>
                <a:latin typeface="+mn-ea"/>
                <a:ea typeface="+mn-ea"/>
              </a:rPr>
              <a:t>0(</a:t>
            </a:r>
            <a:r>
              <a:rPr lang="zh-CN" altLang="en-US" sz="2400" b="1" dirty="0">
                <a:solidFill>
                  <a:srgbClr val="7030A0"/>
                </a:solidFill>
                <a:latin typeface="+mn-ea"/>
                <a:ea typeface="+mn-ea"/>
              </a:rPr>
              <a:t>假</a:t>
            </a:r>
            <a:r>
              <a:rPr lang="en-US" altLang="zh-CN" sz="2400" b="1" dirty="0">
                <a:solidFill>
                  <a:srgbClr val="7030A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0472" y="3169333"/>
            <a:ext cx="1728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000000"/>
                </a:solidFill>
                <a:latin typeface="+mn-ea"/>
              </a:rPr>
              <a:t>m % i==0</a:t>
            </a:r>
          </a:p>
        </p:txBody>
      </p:sp>
      <p:sp>
        <p:nvSpPr>
          <p:cNvPr id="74" name="矩形 73"/>
          <p:cNvSpPr/>
          <p:nvPr/>
        </p:nvSpPr>
        <p:spPr bwMode="auto">
          <a:xfrm>
            <a:off x="5054898" y="2869239"/>
            <a:ext cx="3816265" cy="2310874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4823" name="Text Box 25"/>
          <p:cNvSpPr>
            <a:spLocks noChangeArrowheads="1"/>
          </p:cNvSpPr>
          <p:nvPr/>
        </p:nvSpPr>
        <p:spPr bwMode="auto">
          <a:xfrm>
            <a:off x="6798416" y="2563454"/>
            <a:ext cx="12298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非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0(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真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551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26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1" grpId="0" animBg="1"/>
      <p:bldP spid="34820" grpId="0" uiExpand="1" build="p" bldLvl="2" autoUpdateAnimBg="0"/>
      <p:bldP spid="34838" grpId="0" bldLvl="0" animBg="1" autoUpdateAnimBg="0"/>
      <p:bldP spid="7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73496" y="1682635"/>
            <a:ext cx="5038032" cy="49859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int(input("</a:t>
            </a:r>
            <a:r>
              <a:rPr lang="zh-TW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请输入一个数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:"))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flag = True                                    </a:t>
            </a:r>
            <a:r>
              <a:rPr lang="en-US" altLang="zh-CN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zh-TW" altLang="zh-CN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素数标志</a:t>
            </a:r>
            <a:endParaRPr lang="zh-CN" altLang="zh-CN" sz="1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range(2, m):</a:t>
            </a:r>
            <a:endParaRPr lang="zh-CN" altLang="zh-C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if m %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 0: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flag = False            </a:t>
            </a:r>
            <a:r>
              <a:rPr lang="en-US" altLang="zh-CN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zh-TW" altLang="zh-CN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修改素数标志</a:t>
            </a:r>
            <a:endParaRPr lang="en-US" altLang="zh-TW" sz="1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zh-CN" sz="1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flag == True and m &gt; 1: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print(m, "</a:t>
            </a:r>
            <a:r>
              <a:rPr lang="zh-TW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是素数。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print(m, "</a:t>
            </a:r>
            <a:r>
              <a:rPr lang="zh-TW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不是素数。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600" dirty="0">
                <a:latin typeface="+mj-ea"/>
              </a:rPr>
              <a:t>例</a:t>
            </a:r>
            <a:r>
              <a:rPr lang="en-US" altLang="zh-CN" sz="3600" dirty="0">
                <a:latin typeface="+mj-ea"/>
              </a:rPr>
              <a:t>4-6</a:t>
            </a:r>
            <a:r>
              <a:rPr lang="zh-CN" altLang="en-US" sz="3600" dirty="0">
                <a:latin typeface="+mj-ea"/>
              </a:rPr>
              <a:t>：</a:t>
            </a:r>
            <a:r>
              <a:rPr lang="zh-CN" altLang="zh-CN" sz="3600" dirty="0">
                <a:latin typeface="+mj-ea"/>
              </a:rPr>
              <a:t>输入一个整数</a:t>
            </a:r>
            <a:r>
              <a:rPr lang="en-US" altLang="zh-CN" sz="3600" dirty="0">
                <a:latin typeface="+mj-ea"/>
              </a:rPr>
              <a:t>m</a:t>
            </a:r>
            <a:r>
              <a:rPr lang="zh-CN" altLang="zh-CN" sz="3600" dirty="0">
                <a:latin typeface="+mj-ea"/>
              </a:rPr>
              <a:t>，判断是否为素数。</a:t>
            </a:r>
            <a:br>
              <a:rPr lang="zh-CN" altLang="zh-CN" sz="3600" dirty="0">
                <a:latin typeface="+mj-ea"/>
              </a:rPr>
            </a:br>
            <a:endParaRPr lang="zh-CN" altLang="en-US" dirty="0">
              <a:latin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2116" y="1027907"/>
            <a:ext cx="264681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1717B7"/>
                </a:solidFill>
              </a:rPr>
              <a:t>代码</a:t>
            </a:r>
            <a:r>
              <a:rPr lang="en-US" altLang="zh-CN">
                <a:solidFill>
                  <a:srgbClr val="1717B7"/>
                </a:solidFill>
              </a:rPr>
              <a:t>1</a:t>
            </a:r>
            <a:r>
              <a:rPr lang="zh-CN" altLang="en-US">
                <a:solidFill>
                  <a:srgbClr val="1717B7"/>
                </a:solidFill>
              </a:rPr>
              <a:t>（</a:t>
            </a:r>
            <a:r>
              <a:rPr lang="en-US" altLang="zh-CN">
                <a:solidFill>
                  <a:srgbClr val="1717B7"/>
                </a:solidFill>
              </a:rPr>
              <a:t>for</a:t>
            </a:r>
            <a:r>
              <a:rPr lang="zh-CN" altLang="en-US">
                <a:solidFill>
                  <a:srgbClr val="1717B7"/>
                </a:solidFill>
              </a:rPr>
              <a:t>语句实现）：</a:t>
            </a:r>
            <a:endParaRPr lang="en-US" altLang="zh-CN" dirty="0">
              <a:solidFill>
                <a:srgbClr val="1717B7"/>
              </a:solidFill>
            </a:endParaRPr>
          </a:p>
        </p:txBody>
      </p:sp>
      <p:sp>
        <p:nvSpPr>
          <p:cNvPr id="6" name="线形标注 1 5"/>
          <p:cNvSpPr/>
          <p:nvPr/>
        </p:nvSpPr>
        <p:spPr>
          <a:xfrm>
            <a:off x="5235842" y="4682691"/>
            <a:ext cx="1597794" cy="587142"/>
          </a:xfrm>
          <a:prstGeom prst="borderCallout1">
            <a:avLst>
              <a:gd name="adj1" fmla="val 18750"/>
              <a:gd name="adj2" fmla="val -8333"/>
              <a:gd name="adj3" fmla="val 67876"/>
              <a:gd name="adj4" fmla="val -14443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不是素数</a:t>
            </a:r>
            <a:endParaRPr lang="zh-CN" altLang="en-US" sz="20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629DE6-A11C-4804-96BD-DA491FA9CF4D}"/>
              </a:ext>
            </a:extLst>
          </p:cNvPr>
          <p:cNvSpPr/>
          <p:nvPr/>
        </p:nvSpPr>
        <p:spPr>
          <a:xfrm>
            <a:off x="5757320" y="2257345"/>
            <a:ext cx="3260845" cy="17119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>
                <a:solidFill>
                  <a:srgbClr val="1717B7"/>
                </a:solidFill>
              </a:rPr>
              <a:t>当</a:t>
            </a:r>
            <a:r>
              <a:rPr lang="en-US" altLang="zh-CN">
                <a:solidFill>
                  <a:srgbClr val="1717B7"/>
                </a:solidFill>
              </a:rPr>
              <a:t>M</a:t>
            </a:r>
            <a:r>
              <a:rPr lang="zh-CN" altLang="zh-CN">
                <a:solidFill>
                  <a:srgbClr val="1717B7"/>
                </a:solidFill>
              </a:rPr>
              <a:t>较大时，用这种方法，除的次数太多，可以有许多改进办法，以减少除的次数，提高运行效率。</a:t>
            </a:r>
            <a:endParaRPr lang="en-US" altLang="zh-CN" dirty="0">
              <a:solidFill>
                <a:srgbClr val="1717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07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73496" y="1682635"/>
            <a:ext cx="5038032" cy="49859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math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int(input("</a:t>
            </a:r>
            <a:r>
              <a:rPr lang="zh-TW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请输入一个数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:"))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 = int(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math.sqrt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(m))</a:t>
            </a:r>
            <a:endParaRPr lang="zh-CN" altLang="zh-C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flag = True                                    </a:t>
            </a:r>
            <a:r>
              <a:rPr lang="en-US" altLang="zh-CN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zh-TW" altLang="zh-CN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素数标志</a:t>
            </a:r>
            <a:endParaRPr lang="zh-CN" altLang="zh-CN" sz="1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altLang="zh-CN" dirty="0" err="1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range(2,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 + 1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m % </a:t>
            </a:r>
            <a:r>
              <a:rPr lang="en-US" altLang="zh-CN" dirty="0" err="1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 0: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flag = False            </a:t>
            </a:r>
            <a:r>
              <a:rPr lang="en-US" altLang="zh-CN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zh-TW" altLang="zh-CN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修改素数标志</a:t>
            </a:r>
            <a:endParaRPr lang="en-US" altLang="zh-TW" sz="1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zh-CN" sz="1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flag == True and m &gt; 1: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print(m, "</a:t>
            </a:r>
            <a:r>
              <a:rPr lang="zh-TW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是素数。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print(m, "</a:t>
            </a:r>
            <a:r>
              <a:rPr lang="zh-TW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不是素数。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76295" y="461394"/>
            <a:ext cx="8759605" cy="636267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</a:rPr>
              <a:t>例</a:t>
            </a:r>
            <a:r>
              <a:rPr lang="en-US" altLang="zh-CN" sz="3600" dirty="0">
                <a:latin typeface="+mj-ea"/>
              </a:rPr>
              <a:t>4-6</a:t>
            </a:r>
            <a:r>
              <a:rPr lang="zh-CN" altLang="en-US" sz="3600" dirty="0">
                <a:latin typeface="+mj-ea"/>
              </a:rPr>
              <a:t>：</a:t>
            </a:r>
            <a:r>
              <a:rPr lang="zh-CN" altLang="zh-CN" sz="3600" dirty="0">
                <a:latin typeface="+mj-ea"/>
              </a:rPr>
              <a:t>输入一个整数</a:t>
            </a:r>
            <a:r>
              <a:rPr lang="en-US" altLang="zh-CN" sz="3600" dirty="0">
                <a:latin typeface="+mj-ea"/>
              </a:rPr>
              <a:t>m</a:t>
            </a:r>
            <a:r>
              <a:rPr lang="zh-CN" altLang="zh-CN" sz="3600" dirty="0">
                <a:latin typeface="+mj-ea"/>
              </a:rPr>
              <a:t>，判断是否为素数。</a:t>
            </a:r>
            <a:endParaRPr lang="zh-CN" altLang="en-US" dirty="0">
              <a:latin typeface="+mj-ea"/>
            </a:endParaRPr>
          </a:p>
        </p:txBody>
      </p:sp>
      <p:sp>
        <p:nvSpPr>
          <p:cNvPr id="6" name="线形标注 1 5"/>
          <p:cNvSpPr/>
          <p:nvPr/>
        </p:nvSpPr>
        <p:spPr>
          <a:xfrm>
            <a:off x="5541930" y="3120704"/>
            <a:ext cx="3493970" cy="3600771"/>
          </a:xfrm>
          <a:prstGeom prst="borderCallout1">
            <a:avLst>
              <a:gd name="adj1" fmla="val 19203"/>
              <a:gd name="adj2" fmla="val -1446"/>
              <a:gd name="adj3" fmla="val 15777"/>
              <a:gd name="adj4" fmla="val -8717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如果</a:t>
            </a:r>
            <a:r>
              <a:rPr lang="en-US" altLang="zh-CN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是m的因子，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那么，</a:t>
            </a:r>
            <a:r>
              <a:rPr lang="en-US" altLang="zh-CN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m / a = b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m  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=a 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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  b</a:t>
            </a:r>
          </a:p>
          <a:p>
            <a:endParaRPr lang="zh-CN" altLang="en-US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两个因子成对出现，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一个大于或等于它的平方根，一个小于或等于它的平方根。</a:t>
            </a:r>
          </a:p>
          <a:p>
            <a:endParaRPr lang="zh-CN" altLang="en-US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可以缩小范围：</a:t>
            </a:r>
            <a:endParaRPr lang="en-US" altLang="zh-CN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sym typeface="Calibri" pitchFamily="34" charset="0"/>
            </a:endParaRPr>
          </a:p>
          <a:p>
            <a:endParaRPr lang="zh-CN" altLang="en-US" sz="20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116" y="1027907"/>
            <a:ext cx="780983" cy="45890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对象 3">
            <a:hlinkClick r:id="" action="ppaction://ole?verb=1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864" y="6004051"/>
            <a:ext cx="971174" cy="47828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1A35810-CF36-4374-A47F-5082816353D0}"/>
              </a:ext>
            </a:extLst>
          </p:cNvPr>
          <p:cNvSpPr txBox="1"/>
          <p:nvPr/>
        </p:nvSpPr>
        <p:spPr>
          <a:xfrm>
            <a:off x="1882280" y="1036303"/>
            <a:ext cx="7261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</a:rPr>
              <a:t>考虑</a:t>
            </a:r>
            <a:r>
              <a:rPr lang="zh-CN" altLang="en-US" sz="1800" dirty="0"/>
              <a:t>：</a:t>
            </a:r>
            <a:r>
              <a:rPr lang="zh-CN" altLang="en-US" sz="1800" dirty="0">
                <a:solidFill>
                  <a:srgbClr val="002060"/>
                </a:solidFill>
              </a:rPr>
              <a:t>如果</a:t>
            </a:r>
            <a:r>
              <a:rPr lang="en-US" altLang="zh-CN" sz="1800" dirty="0">
                <a:solidFill>
                  <a:srgbClr val="002060"/>
                </a:solidFill>
              </a:rPr>
              <a:t>m</a:t>
            </a:r>
            <a:r>
              <a:rPr lang="zh-CN" altLang="en-US" sz="1800" dirty="0">
                <a:solidFill>
                  <a:srgbClr val="002060"/>
                </a:solidFill>
              </a:rPr>
              <a:t>是合数</a:t>
            </a:r>
            <a:r>
              <a:rPr lang="en-US" altLang="zh-CN" sz="1800" dirty="0">
                <a:solidFill>
                  <a:srgbClr val="002060"/>
                </a:solidFill>
              </a:rPr>
              <a:t>, m = a*b, 2&lt;= a&lt;=b</a:t>
            </a:r>
            <a:r>
              <a:rPr lang="zh-CN" altLang="en-US" sz="1800" dirty="0">
                <a:solidFill>
                  <a:srgbClr val="002060"/>
                </a:solidFill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</a:rPr>
              <a:t>=&gt;</a:t>
            </a:r>
            <a:r>
              <a:rPr lang="en-US" altLang="zh-CN" sz="1800" dirty="0">
                <a:solidFill>
                  <a:srgbClr val="002060"/>
                </a:solidFill>
              </a:rPr>
              <a:t> </a:t>
            </a:r>
            <a:r>
              <a:rPr lang="zh-CN" altLang="en-US" sz="1800" dirty="0">
                <a:solidFill>
                  <a:srgbClr val="002060"/>
                </a:solidFill>
              </a:rPr>
              <a:t>存在</a:t>
            </a:r>
            <a:r>
              <a:rPr lang="en-US" altLang="zh-CN" sz="1800" dirty="0">
                <a:solidFill>
                  <a:srgbClr val="002060"/>
                </a:solidFill>
              </a:rPr>
              <a:t>2&lt;= a&lt;=sqrt(m)</a:t>
            </a:r>
            <a:r>
              <a:rPr lang="zh-CN" altLang="en-US" sz="1800" dirty="0">
                <a:solidFill>
                  <a:srgbClr val="002060"/>
                </a:solidFill>
              </a:rPr>
              <a:t> 整除</a:t>
            </a:r>
            <a:r>
              <a:rPr lang="en-US" altLang="zh-CN" sz="1800" dirty="0">
                <a:solidFill>
                  <a:srgbClr val="002060"/>
                </a:solidFill>
              </a:rPr>
              <a:t>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</a:rPr>
              <a:t>逆否命题</a:t>
            </a:r>
            <a:r>
              <a:rPr lang="zh-CN" altLang="en-US" sz="1800" dirty="0">
                <a:solidFill>
                  <a:srgbClr val="002060"/>
                </a:solidFill>
              </a:rPr>
              <a:t>：找不到</a:t>
            </a:r>
            <a:r>
              <a:rPr lang="en-US" altLang="zh-CN" sz="1800" dirty="0">
                <a:solidFill>
                  <a:srgbClr val="002060"/>
                </a:solidFill>
              </a:rPr>
              <a:t>2~sqrt(m)</a:t>
            </a:r>
            <a:r>
              <a:rPr lang="zh-CN" altLang="en-US" sz="1800" dirty="0">
                <a:solidFill>
                  <a:srgbClr val="002060"/>
                </a:solidFill>
              </a:rPr>
              <a:t>的因子</a:t>
            </a:r>
            <a:r>
              <a:rPr lang="en-US" altLang="zh-CN" sz="1800" dirty="0">
                <a:solidFill>
                  <a:srgbClr val="002060"/>
                </a:solidFill>
              </a:rPr>
              <a:t>a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</a:rPr>
              <a:t>=&gt;</a:t>
            </a:r>
            <a:r>
              <a:rPr lang="en-US" altLang="zh-CN" sz="1800" dirty="0">
                <a:solidFill>
                  <a:srgbClr val="002060"/>
                </a:solidFill>
              </a:rPr>
              <a:t>  m</a:t>
            </a:r>
            <a:r>
              <a:rPr lang="zh-CN" altLang="en-US" sz="1800" dirty="0">
                <a:solidFill>
                  <a:srgbClr val="002060"/>
                </a:solidFill>
              </a:rPr>
              <a:t>不是合数，即</a:t>
            </a:r>
            <a:r>
              <a:rPr lang="en-US" altLang="zh-CN" sz="1800" dirty="0">
                <a:solidFill>
                  <a:srgbClr val="002060"/>
                </a:solidFill>
              </a:rPr>
              <a:t>m</a:t>
            </a:r>
            <a:r>
              <a:rPr lang="zh-CN" altLang="en-US" sz="1800" dirty="0">
                <a:solidFill>
                  <a:srgbClr val="002060"/>
                </a:solidFill>
              </a:rPr>
              <a:t>是素数。</a:t>
            </a:r>
            <a:endParaRPr lang="en-US" altLang="zh-CN" sz="1800" dirty="0">
              <a:solidFill>
                <a:srgbClr val="002060"/>
              </a:solidFill>
            </a:endParaRPr>
          </a:p>
        </p:txBody>
      </p:sp>
      <p:sp>
        <p:nvSpPr>
          <p:cNvPr id="11" name="文本框 1">
            <a:extLst>
              <a:ext uri="{FF2B5EF4-FFF2-40B4-BE49-F238E27FC236}">
                <a16:creationId xmlns:a16="http://schemas.microsoft.com/office/drawing/2014/main" id="{526688A5-68B7-42D2-81EB-2BB461CCE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1930" y="1755239"/>
            <a:ext cx="36020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/>
              <a:t>a</a:t>
            </a:r>
            <a:r>
              <a:rPr lang="en-US" altLang="zh-CN" sz="2000" baseline="30000" dirty="0"/>
              <a:t>2 </a:t>
            </a:r>
            <a:r>
              <a:rPr lang="en-US" altLang="zh-CN" sz="2000" dirty="0"/>
              <a:t>= a*a &lt;= a*b=m &lt;= b*b = b</a:t>
            </a:r>
            <a:r>
              <a:rPr lang="en-US" altLang="zh-CN" sz="2000" baseline="30000" dirty="0"/>
              <a:t>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/>
              <a:t>所以</a:t>
            </a:r>
            <a:r>
              <a:rPr lang="en-US" altLang="zh-CN" sz="2000" dirty="0"/>
              <a:t>a&lt;=sqrt(m)&lt;=b</a:t>
            </a:r>
            <a:endParaRPr lang="zh-CN" altLang="en-US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206758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73496" y="1682635"/>
            <a:ext cx="5038032" cy="50783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math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int(input("</a:t>
            </a:r>
            <a:r>
              <a:rPr lang="zh-TW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请输入一个数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:"))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 = int(</a:t>
            </a:r>
            <a:r>
              <a:rPr lang="en-US" altLang="zh-CN" dirty="0" err="1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math.sqrt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(m))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flag = True                                    </a:t>
            </a:r>
            <a:r>
              <a:rPr lang="en-US" altLang="zh-CN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zh-TW" altLang="zh-CN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素数标志</a:t>
            </a:r>
            <a:endParaRPr lang="zh-CN" altLang="zh-CN" sz="1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altLang="zh-CN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range(2, j + 1):</a:t>
            </a:r>
            <a:endParaRPr lang="zh-CN" altLang="zh-C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if m % </a:t>
            </a:r>
            <a:r>
              <a:rPr lang="en-US" altLang="zh-CN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 0: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flag = False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altLang="zh-CN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zh-TW" altLang="zh-CN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修改素数标志</a:t>
            </a:r>
            <a:endParaRPr lang="en-US" altLang="zh-TW" sz="1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break</a:t>
            </a:r>
            <a:endParaRPr lang="zh-CN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flag == True and m &gt; 1: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print(m, "</a:t>
            </a:r>
            <a:r>
              <a:rPr lang="zh-TW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是素数。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print(m, "</a:t>
            </a:r>
            <a:r>
              <a:rPr lang="zh-TW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不是素数。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600">
                <a:latin typeface="+mj-ea"/>
              </a:rPr>
              <a:t>例</a:t>
            </a:r>
            <a:r>
              <a:rPr lang="en-US" altLang="zh-CN" sz="3600">
                <a:latin typeface="+mj-ea"/>
              </a:rPr>
              <a:t>4-6</a:t>
            </a:r>
            <a:r>
              <a:rPr lang="zh-CN" altLang="en-US" sz="3600">
                <a:latin typeface="+mj-ea"/>
              </a:rPr>
              <a:t>：</a:t>
            </a:r>
            <a:r>
              <a:rPr lang="zh-CN" altLang="zh-CN" sz="3600">
                <a:latin typeface="+mj-ea"/>
              </a:rPr>
              <a:t>输入一个整数</a:t>
            </a:r>
            <a:r>
              <a:rPr lang="en-US" altLang="zh-CN" sz="3600">
                <a:latin typeface="+mj-ea"/>
              </a:rPr>
              <a:t>m</a:t>
            </a:r>
            <a:r>
              <a:rPr lang="zh-CN" altLang="zh-CN" sz="3600">
                <a:latin typeface="+mj-ea"/>
              </a:rPr>
              <a:t>，判断是否为素数。</a:t>
            </a:r>
            <a:br>
              <a:rPr lang="zh-CN" altLang="zh-CN" sz="3600">
                <a:latin typeface="+mj-ea"/>
              </a:rPr>
            </a:br>
            <a:endParaRPr lang="zh-CN" altLang="en-US">
              <a:latin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2116" y="1027907"/>
            <a:ext cx="780983" cy="45890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线形标注 1 1"/>
          <p:cNvSpPr/>
          <p:nvPr/>
        </p:nvSpPr>
        <p:spPr>
          <a:xfrm>
            <a:off x="5611528" y="2483142"/>
            <a:ext cx="2463852" cy="1208014"/>
          </a:xfrm>
          <a:prstGeom prst="borderCallout1">
            <a:avLst>
              <a:gd name="adj1" fmla="val 18750"/>
              <a:gd name="adj2" fmla="val -8333"/>
              <a:gd name="adj3" fmla="val 118603"/>
              <a:gd name="adj4" fmla="val -14599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如果i是m的因子，</a:t>
            </a:r>
          </a:p>
          <a:p>
            <a:r>
              <a:rPr lang="zh-CN" altLang="en-US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可以得出结论：m不是素数，无须再判断下一个</a:t>
            </a:r>
            <a:r>
              <a:rPr lang="en-US" altLang="zh-CN" dirty="0" err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i</a:t>
            </a:r>
            <a:r>
              <a:rPr lang="zh-CN" altLang="en-US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。</a:t>
            </a:r>
          </a:p>
        </p:txBody>
      </p:sp>
      <p:sp>
        <p:nvSpPr>
          <p:cNvPr id="3" name="线形标注 1 2"/>
          <p:cNvSpPr/>
          <p:nvPr/>
        </p:nvSpPr>
        <p:spPr>
          <a:xfrm>
            <a:off x="5611528" y="4689446"/>
            <a:ext cx="2463852" cy="1317071"/>
          </a:xfrm>
          <a:prstGeom prst="borderCallout1">
            <a:avLst>
              <a:gd name="adj1" fmla="val 18750"/>
              <a:gd name="adj2" fmla="val -8333"/>
              <a:gd name="adj3" fmla="val 15866"/>
              <a:gd name="adj4" fmla="val -138312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强制结束循环，</a:t>
            </a:r>
            <a:endParaRPr lang="en-US" altLang="zh-CN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m</a:t>
            </a:r>
            <a:r>
              <a:rPr lang="zh-CN" altLang="en-US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已经是合数，就算后面</a:t>
            </a:r>
            <a:r>
              <a:rPr lang="en-US" altLang="zh-CN" dirty="0" err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…j</a:t>
            </a:r>
            <a:r>
              <a:rPr lang="zh-CN" altLang="en-US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再有因子，</a:t>
            </a:r>
            <a:r>
              <a:rPr lang="en-US" altLang="zh-CN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m</a:t>
            </a:r>
            <a:r>
              <a:rPr lang="zh-CN" altLang="en-US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也是合数。</a:t>
            </a:r>
          </a:p>
        </p:txBody>
      </p:sp>
    </p:spTree>
    <p:extLst>
      <p:ext uri="{BB962C8B-B14F-4D97-AF65-F5344CB8AC3E}">
        <p14:creationId xmlns:p14="http://schemas.microsoft.com/office/powerpoint/2010/main" val="360705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73496" y="1682635"/>
            <a:ext cx="5038032" cy="49859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math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m=</a:t>
            </a:r>
            <a:r>
              <a:rPr lang="en-US" altLang="zh-CN" dirty="0" err="1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(input("</a:t>
            </a:r>
            <a:r>
              <a:rPr lang="zh-TW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请输入一个数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:"))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j=</a:t>
            </a:r>
            <a:r>
              <a:rPr lang="en-US" altLang="zh-CN" dirty="0" err="1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dirty="0" err="1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math.sqrt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(m))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zh-CN" sz="1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altLang="zh-CN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range(2,j+1):</a:t>
            </a:r>
            <a:endParaRPr lang="zh-CN" altLang="zh-C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if </a:t>
            </a:r>
            <a:r>
              <a:rPr lang="en-US" altLang="zh-CN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m%i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==0: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break</a:t>
            </a:r>
          </a:p>
          <a:p>
            <a:pPr>
              <a:lnSpc>
                <a:spcPct val="150000"/>
              </a:lnSpc>
            </a:pPr>
            <a:endParaRPr lang="zh-CN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==j+1 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m&gt;1: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print(m,"</a:t>
            </a:r>
            <a:r>
              <a:rPr lang="zh-TW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是素数。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print(m,"</a:t>
            </a:r>
            <a:r>
              <a:rPr lang="zh-TW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不是素数。</a:t>
            </a:r>
            <a:r>
              <a:rPr lang="en-US" altLang="zh-CN" dirty="0">
                <a:solidFill>
                  <a:srgbClr val="1717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endParaRPr lang="zh-CN" altLang="zh-CN" dirty="0">
              <a:solidFill>
                <a:srgbClr val="1717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600">
                <a:latin typeface="+mj-ea"/>
              </a:rPr>
              <a:t>例</a:t>
            </a:r>
            <a:r>
              <a:rPr lang="en-US" altLang="zh-CN" sz="3600">
                <a:latin typeface="+mj-ea"/>
              </a:rPr>
              <a:t>4-6</a:t>
            </a:r>
            <a:r>
              <a:rPr lang="zh-CN" altLang="en-US" sz="3600">
                <a:latin typeface="+mj-ea"/>
              </a:rPr>
              <a:t>：</a:t>
            </a:r>
            <a:r>
              <a:rPr lang="zh-CN" altLang="zh-CN" sz="3600">
                <a:latin typeface="+mj-ea"/>
              </a:rPr>
              <a:t>输入一个整数</a:t>
            </a:r>
            <a:r>
              <a:rPr lang="en-US" altLang="zh-CN" sz="3600">
                <a:latin typeface="+mj-ea"/>
              </a:rPr>
              <a:t>m</a:t>
            </a:r>
            <a:r>
              <a:rPr lang="zh-CN" altLang="zh-CN" sz="3600">
                <a:latin typeface="+mj-ea"/>
              </a:rPr>
              <a:t>，判断是否为素数。</a:t>
            </a:r>
            <a:br>
              <a:rPr lang="zh-CN" altLang="zh-CN" sz="3600">
                <a:latin typeface="+mj-ea"/>
              </a:rPr>
            </a:br>
            <a:endParaRPr lang="zh-CN" altLang="en-US">
              <a:latin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2116" y="1027907"/>
            <a:ext cx="780983" cy="45890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2" name="线形标注 1 1"/>
          <p:cNvSpPr/>
          <p:nvPr/>
        </p:nvSpPr>
        <p:spPr>
          <a:xfrm>
            <a:off x="5675897" y="1879133"/>
            <a:ext cx="3208316" cy="2496813"/>
          </a:xfrm>
          <a:prstGeom prst="borderCallout1">
            <a:avLst>
              <a:gd name="adj1" fmla="val 18750"/>
              <a:gd name="adj2" fmla="val -8333"/>
              <a:gd name="adj3" fmla="val 95891"/>
              <a:gd name="adj4" fmla="val -118432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如果</a:t>
            </a:r>
            <a:r>
              <a:rPr lang="en-US" altLang="zh-CN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m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能被</a:t>
            </a:r>
            <a:r>
              <a:rPr lang="en-US" altLang="zh-CN" sz="1600" dirty="0" err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i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整除，</a:t>
            </a:r>
            <a:r>
              <a:rPr lang="en-US" altLang="zh-CN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m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不是素数，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    break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提早结束循环，此时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    </a:t>
            </a:r>
            <a:r>
              <a:rPr lang="en-US" altLang="zh-CN" sz="1600" b="1" dirty="0" err="1">
                <a:solidFill>
                  <a:srgbClr val="E40D08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i</a:t>
            </a:r>
            <a:r>
              <a:rPr lang="en-US" altLang="zh-CN" sz="1600" b="1" dirty="0">
                <a:solidFill>
                  <a:srgbClr val="E40D08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&lt;=j;</a:t>
            </a:r>
          </a:p>
          <a:p>
            <a:pPr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反之，如果</a:t>
            </a:r>
            <a:r>
              <a:rPr lang="en-US" altLang="zh-CN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2~sqrt(m)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之间的每个</a:t>
            </a:r>
            <a:r>
              <a:rPr lang="en-US" altLang="zh-CN" sz="1600" dirty="0" err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i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都不能整除</a:t>
            </a:r>
            <a:r>
              <a:rPr lang="en-US" altLang="zh-CN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m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m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是素数，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     循环结束时，</a:t>
            </a:r>
            <a:r>
              <a:rPr lang="en-US" altLang="zh-CN" sz="1600" b="1" dirty="0" err="1">
                <a:solidFill>
                  <a:srgbClr val="E40D08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i</a:t>
            </a:r>
            <a:r>
              <a:rPr lang="en-US" altLang="zh-CN" sz="1600" b="1" dirty="0">
                <a:solidFill>
                  <a:srgbClr val="E40D08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==j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。</a:t>
            </a:r>
          </a:p>
        </p:txBody>
      </p:sp>
      <p:sp>
        <p:nvSpPr>
          <p:cNvPr id="3" name="线形标注 1 2"/>
          <p:cNvSpPr/>
          <p:nvPr/>
        </p:nvSpPr>
        <p:spPr>
          <a:xfrm>
            <a:off x="5675898" y="5545123"/>
            <a:ext cx="3208316" cy="746620"/>
          </a:xfrm>
          <a:prstGeom prst="borderCallout1">
            <a:avLst>
              <a:gd name="adj1" fmla="val 57400"/>
              <a:gd name="adj2" fmla="val -1373"/>
              <a:gd name="adj3" fmla="val -34341"/>
              <a:gd name="adj4" fmla="val -14247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程序错误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，</a:t>
            </a:r>
            <a:r>
              <a:rPr lang="en-US" altLang="zh-CN" sz="1600" dirty="0" err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i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不可能等于</a:t>
            </a:r>
            <a:r>
              <a:rPr lang="en-US" altLang="zh-CN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j + 1</a:t>
            </a:r>
            <a:endParaRPr lang="zh-CN" altLang="en-US" sz="16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6998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387442" y="1690689"/>
            <a:ext cx="4672668" cy="50463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import math</a:t>
            </a:r>
            <a:endParaRPr lang="zh-CN" altLang="zh-CN" sz="16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= int(input("</a:t>
            </a:r>
            <a:r>
              <a:rPr lang="zh-TW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请输入一个数</a:t>
            </a: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:"))</a:t>
            </a:r>
            <a:endParaRPr lang="zh-CN" altLang="zh-CN" sz="16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j = 2, int(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math.sqrt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(m))</a:t>
            </a:r>
            <a:endParaRPr lang="zh-CN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flag=True                        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TW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素数标志</a:t>
            </a:r>
            <a:endParaRPr lang="zh-CN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&lt;= j:</a:t>
            </a:r>
            <a:endParaRPr lang="zh-CN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if m % 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== 0:</a:t>
            </a:r>
            <a:endParaRPr lang="zh-CN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flag = False </a:t>
            </a: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TW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不是素数时修改标志</a:t>
            </a:r>
            <a:endParaRPr lang="zh-CN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break    </a:t>
            </a:r>
          </a:p>
          <a:p>
            <a:pPr>
              <a:lnSpc>
                <a:spcPts val="3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+= 1                          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TW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注意缩进对齐</a:t>
            </a:r>
            <a:endParaRPr lang="zh-CN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flag and m&gt;1: 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#</a:t>
            </a:r>
            <a:r>
              <a:rPr lang="en-US" altLang="zh-TW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如果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为素数，</a:t>
            </a:r>
            <a:r>
              <a:rPr lang="en-US" altLang="zh-CN" sz="16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的值为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j + 1</a:t>
            </a:r>
            <a:endParaRPr lang="zh-CN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3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print(m,"</a:t>
            </a:r>
            <a:r>
              <a:rPr lang="zh-TW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是素数。</a:t>
            </a: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sz="16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  <a:endParaRPr lang="zh-CN" altLang="zh-CN" sz="16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print(m,"</a:t>
            </a:r>
            <a:r>
              <a:rPr lang="zh-TW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不是素数。</a:t>
            </a: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sz="16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532397" y="96253"/>
            <a:ext cx="7886700" cy="804008"/>
          </a:xfrm>
        </p:spPr>
        <p:txBody>
          <a:bodyPr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en-US" altLang="zh-CN" sz="3600">
                <a:latin typeface="+mj-ea"/>
              </a:rPr>
              <a:t>for</a:t>
            </a:r>
            <a:r>
              <a:rPr lang="zh-CN" altLang="en-US" sz="3600">
                <a:latin typeface="+mj-ea"/>
              </a:rPr>
              <a:t>实现与</a:t>
            </a:r>
            <a:r>
              <a:rPr lang="en-US" altLang="zh-CN" sz="3600">
                <a:latin typeface="+mj-ea"/>
              </a:rPr>
              <a:t>while</a:t>
            </a:r>
            <a:r>
              <a:rPr lang="zh-CN" altLang="en-US" sz="3600">
                <a:latin typeface="+mj-ea"/>
              </a:rPr>
              <a:t>实现</a:t>
            </a:r>
            <a:r>
              <a:rPr lang="zh-CN" altLang="en-US" sz="3600" b="1">
                <a:solidFill>
                  <a:srgbClr val="FF0000"/>
                </a:solidFill>
                <a:latin typeface="+mj-ea"/>
              </a:rPr>
              <a:t>比较</a:t>
            </a:r>
          </a:p>
        </p:txBody>
      </p:sp>
      <p:sp>
        <p:nvSpPr>
          <p:cNvPr id="8" name="矩形 7"/>
          <p:cNvSpPr/>
          <p:nvPr/>
        </p:nvSpPr>
        <p:spPr>
          <a:xfrm>
            <a:off x="4878554" y="1114086"/>
            <a:ext cx="3288080" cy="49962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en-US" altLang="zh-CN" sz="200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00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语句实现）：</a:t>
            </a:r>
            <a:endParaRPr lang="en-US" altLang="zh-CN" sz="20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890" y="1759637"/>
            <a:ext cx="4085438" cy="448084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import math</a:t>
            </a:r>
            <a:endParaRPr lang="zh-CN" altLang="zh-CN" sz="16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 = int(input("</a:t>
            </a:r>
            <a:r>
              <a:rPr lang="zh-TW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请输入一个数</a:t>
            </a: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:"))</a:t>
            </a:r>
            <a:endParaRPr lang="zh-CN" altLang="zh-CN" sz="16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j = int(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math.sqrt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(m))</a:t>
            </a:r>
            <a:endParaRPr lang="zh-CN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flag = True 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for </a:t>
            </a:r>
            <a:r>
              <a:rPr lang="en-US" altLang="zh-CN" sz="1600" dirty="0" err="1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in range(2,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j + 1</a:t>
            </a: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):</a:t>
            </a:r>
            <a:endParaRPr lang="zh-CN" altLang="zh-CN" sz="16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if m % </a:t>
            </a:r>
            <a:r>
              <a:rPr lang="en-US" altLang="zh-CN" sz="1600" dirty="0" err="1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== 0: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</a:t>
            </a: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flag = False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break</a:t>
            </a:r>
            <a:endParaRPr lang="zh-CN" altLang="zh-CN" sz="16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if flag and m&gt;1: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#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为素数，</a:t>
            </a:r>
            <a:r>
              <a:rPr lang="en-US" altLang="zh-CN" sz="16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的值为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j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print(m,"</a:t>
            </a:r>
            <a:r>
              <a:rPr lang="zh-TW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是素数。</a:t>
            </a: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")</a:t>
            </a:r>
            <a:endParaRPr lang="zh-CN" altLang="zh-CN" sz="16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else:</a:t>
            </a:r>
            <a:endParaRPr lang="zh-CN" altLang="zh-CN" sz="16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print(m,"</a:t>
            </a:r>
            <a:r>
              <a:rPr lang="zh-TW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不是素数。</a:t>
            </a:r>
            <a:r>
              <a:rPr lang="en-US" altLang="zh-CN" sz="1600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")</a:t>
            </a:r>
            <a:endParaRPr lang="zh-CN" altLang="zh-CN" sz="1600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2385" y="1136691"/>
            <a:ext cx="2993127" cy="49962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语句实现）：</a:t>
            </a:r>
            <a:endParaRPr lang="en-US" altLang="zh-CN" sz="20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2555C1-2F64-4037-A147-27E1F7716E46}"/>
              </a:ext>
            </a:extLst>
          </p:cNvPr>
          <p:cNvSpPr txBox="1"/>
          <p:nvPr/>
        </p:nvSpPr>
        <p:spPr>
          <a:xfrm>
            <a:off x="3235512" y="6132352"/>
            <a:ext cx="646331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区别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580DAB7-56D9-412B-9109-A2E278B50CC9}"/>
              </a:ext>
            </a:extLst>
          </p:cNvPr>
          <p:cNvCxnSpPr>
            <a:cxnSpLocks/>
          </p:cNvCxnSpPr>
          <p:nvPr/>
        </p:nvCxnSpPr>
        <p:spPr>
          <a:xfrm flipV="1">
            <a:off x="3632433" y="5117284"/>
            <a:ext cx="134224" cy="981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3D2D983-6D0E-405A-A867-84FC2A2B7B25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3881843" y="5513010"/>
            <a:ext cx="4473592" cy="80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979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01389D-DAF0-420D-A7C2-1734D2709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8CEF92-2D5D-4009-8EC4-0D204B04FB43}"/>
              </a:ext>
            </a:extLst>
          </p:cNvPr>
          <p:cNvSpPr txBox="1"/>
          <p:nvPr/>
        </p:nvSpPr>
        <p:spPr>
          <a:xfrm>
            <a:off x="293615" y="1719743"/>
            <a:ext cx="632529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程序如下：</a:t>
            </a:r>
          </a:p>
          <a:p>
            <a:r>
              <a:rPr lang="en-US" altLang="zh-CN" sz="2000" dirty="0"/>
              <a:t>import math</a:t>
            </a:r>
          </a:p>
          <a:p>
            <a:r>
              <a:rPr lang="en-US" altLang="zh-CN" sz="2000" dirty="0"/>
              <a:t>n=0</a:t>
            </a:r>
          </a:p>
          <a:p>
            <a:r>
              <a:rPr lang="en-US" altLang="zh-CN" sz="2000" dirty="0"/>
              <a:t>for m in range(101, 1000, 2):</a:t>
            </a:r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j = 2, int(</a:t>
            </a:r>
            <a:r>
              <a:rPr lang="en-US" altLang="zh-CN" sz="2000" dirty="0" err="1"/>
              <a:t>math.sqrt</a:t>
            </a:r>
            <a:r>
              <a:rPr lang="en-US" altLang="zh-CN" sz="2000" dirty="0"/>
              <a:t>(m))</a:t>
            </a:r>
          </a:p>
          <a:p>
            <a:r>
              <a:rPr lang="en-US" altLang="zh-CN" sz="2000" dirty="0"/>
              <a:t>    while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&lt;= j:</a:t>
            </a:r>
          </a:p>
          <a:p>
            <a:r>
              <a:rPr lang="en-US" altLang="zh-CN" sz="2000" dirty="0"/>
              <a:t>        if m %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== 0:</a:t>
            </a:r>
          </a:p>
          <a:p>
            <a:r>
              <a:rPr lang="en-US" altLang="zh-CN" sz="2000" dirty="0"/>
              <a:t>            break</a:t>
            </a:r>
          </a:p>
          <a:p>
            <a:r>
              <a:rPr lang="en-US" altLang="zh-CN" sz="2000" dirty="0"/>
              <a:t>        else:</a:t>
            </a:r>
          </a:p>
          <a:p>
            <a:r>
              <a:rPr lang="en-US" altLang="zh-CN" sz="2000" dirty="0"/>
              <a:t>           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+ 1</a:t>
            </a:r>
          </a:p>
          <a:p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rgbClr val="FF0000"/>
                </a:solidFill>
              </a:rPr>
              <a:t>else:</a:t>
            </a:r>
          </a:p>
          <a:p>
            <a:r>
              <a:rPr lang="en-US" altLang="zh-CN" sz="2000" dirty="0"/>
              <a:t>        print(m, end=" ")</a:t>
            </a:r>
          </a:p>
          <a:p>
            <a:r>
              <a:rPr lang="en-US" altLang="zh-CN" sz="2000" dirty="0"/>
              <a:t>        n += 1                           	     #n</a:t>
            </a:r>
            <a:r>
              <a:rPr lang="zh-CN" altLang="en-US" sz="2000" dirty="0"/>
              <a:t>统计素数个数</a:t>
            </a:r>
          </a:p>
          <a:p>
            <a:r>
              <a:rPr lang="zh-CN" altLang="en-US" sz="2000" dirty="0"/>
              <a:t>        </a:t>
            </a:r>
            <a:r>
              <a:rPr lang="en-US" altLang="zh-CN" sz="2000" dirty="0"/>
              <a:t>if n % 10 == 0: print()     #</a:t>
            </a:r>
            <a:r>
              <a:rPr lang="zh-CN" altLang="en-US" sz="2000" dirty="0"/>
              <a:t>一行输出</a:t>
            </a:r>
            <a:r>
              <a:rPr lang="en-US" altLang="zh-CN" sz="2000" dirty="0"/>
              <a:t>10</a:t>
            </a:r>
            <a:r>
              <a:rPr lang="zh-CN" altLang="en-US" sz="2000" dirty="0"/>
              <a:t>个素数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8871F1-62BE-414C-AFE0-006FA3C9B9C7}"/>
              </a:ext>
            </a:extLst>
          </p:cNvPr>
          <p:cNvSpPr txBox="1"/>
          <p:nvPr/>
        </p:nvSpPr>
        <p:spPr>
          <a:xfrm>
            <a:off x="461394" y="855677"/>
            <a:ext cx="4269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4-10  </a:t>
            </a:r>
            <a:r>
              <a:rPr lang="zh-CN" altLang="en-US" dirty="0"/>
              <a:t>输出</a:t>
            </a:r>
            <a:r>
              <a:rPr lang="en-US" altLang="zh-CN" dirty="0"/>
              <a:t>[100,1000]</a:t>
            </a:r>
            <a:r>
              <a:rPr lang="zh-CN" altLang="en-US" dirty="0"/>
              <a:t>以内的全部素数。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7EA9499-34F0-4586-A645-386E24489AB2}"/>
              </a:ext>
            </a:extLst>
          </p:cNvPr>
          <p:cNvCxnSpPr/>
          <p:nvPr/>
        </p:nvCxnSpPr>
        <p:spPr>
          <a:xfrm flipH="1">
            <a:off x="1744910" y="3429000"/>
            <a:ext cx="2768367" cy="606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D9F3066-F84E-4F72-B0F6-A696809A4F42}"/>
              </a:ext>
            </a:extLst>
          </p:cNvPr>
          <p:cNvCxnSpPr/>
          <p:nvPr/>
        </p:nvCxnSpPr>
        <p:spPr>
          <a:xfrm flipH="1">
            <a:off x="1015068" y="3489820"/>
            <a:ext cx="3556932" cy="1417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ABD1FED-6C22-433F-843E-0292C7E99705}"/>
              </a:ext>
            </a:extLst>
          </p:cNvPr>
          <p:cNvSpPr txBox="1"/>
          <p:nvPr/>
        </p:nvSpPr>
        <p:spPr>
          <a:xfrm>
            <a:off x="4655890" y="3212983"/>
            <a:ext cx="4261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如果是因为</a:t>
            </a:r>
            <a:r>
              <a:rPr lang="en-US" altLang="zh-CN" dirty="0">
                <a:solidFill>
                  <a:srgbClr val="FF0000"/>
                </a:solidFill>
              </a:rPr>
              <a:t>break</a:t>
            </a:r>
            <a:r>
              <a:rPr lang="zh-CN" altLang="en-US" dirty="0">
                <a:solidFill>
                  <a:srgbClr val="FF0000"/>
                </a:solidFill>
              </a:rPr>
              <a:t>而退出循环，那么不执行</a:t>
            </a:r>
            <a:r>
              <a:rPr lang="en-US" altLang="zh-CN" dirty="0">
                <a:solidFill>
                  <a:srgbClr val="FF0000"/>
                </a:solidFill>
              </a:rPr>
              <a:t>while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  <a:r>
              <a:rPr lang="en-US" altLang="zh-CN" dirty="0">
                <a:solidFill>
                  <a:srgbClr val="FF0000"/>
                </a:solidFill>
              </a:rPr>
              <a:t>else</a:t>
            </a:r>
            <a:r>
              <a:rPr lang="zh-CN" altLang="en-US" dirty="0">
                <a:solidFill>
                  <a:srgbClr val="FF0000"/>
                </a:solidFill>
              </a:rPr>
              <a:t>子句。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如果是因为</a:t>
            </a:r>
            <a:r>
              <a:rPr lang="en-US" altLang="zh-CN" dirty="0">
                <a:solidFill>
                  <a:srgbClr val="FF0000"/>
                </a:solidFill>
              </a:rPr>
              <a:t>while</a:t>
            </a:r>
            <a:r>
              <a:rPr lang="zh-CN" altLang="en-US" dirty="0">
                <a:solidFill>
                  <a:srgbClr val="FF0000"/>
                </a:solidFill>
              </a:rPr>
              <a:t>的条件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 &lt;=j </a:t>
            </a:r>
            <a:r>
              <a:rPr lang="zh-CN" altLang="en-US" dirty="0">
                <a:solidFill>
                  <a:srgbClr val="FF0000"/>
                </a:solidFill>
              </a:rPr>
              <a:t>为假而退出循环，那么会执行</a:t>
            </a:r>
            <a:r>
              <a:rPr lang="en-US" altLang="zh-CN" dirty="0">
                <a:solidFill>
                  <a:srgbClr val="FF0000"/>
                </a:solidFill>
              </a:rPr>
              <a:t>while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  <a:r>
              <a:rPr lang="en-US" altLang="zh-CN" dirty="0">
                <a:solidFill>
                  <a:srgbClr val="FF0000"/>
                </a:solidFill>
              </a:rPr>
              <a:t>else</a:t>
            </a:r>
            <a:r>
              <a:rPr lang="zh-CN" altLang="en-US" dirty="0">
                <a:solidFill>
                  <a:srgbClr val="FF0000"/>
                </a:solidFill>
              </a:rPr>
              <a:t>子句。</a:t>
            </a:r>
          </a:p>
        </p:txBody>
      </p:sp>
    </p:spTree>
    <p:extLst>
      <p:ext uri="{BB962C8B-B14F-4D97-AF65-F5344CB8AC3E}">
        <p14:creationId xmlns:p14="http://schemas.microsoft.com/office/powerpoint/2010/main" val="244752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33488" y="1754193"/>
            <a:ext cx="6110288" cy="515533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en-US" altLang="zh-CN" sz="2100" dirty="0">
                <a:latin typeface="+mn-ea"/>
              </a:rPr>
              <a:t>m</a:t>
            </a:r>
            <a:r>
              <a:rPr lang="zh-CN" altLang="en-US" sz="2100" dirty="0">
                <a:latin typeface="+mn-ea"/>
              </a:rPr>
              <a:t>为素数：除了</a:t>
            </a:r>
            <a:r>
              <a:rPr lang="en-US" altLang="zh-CN" sz="2100" dirty="0">
                <a:latin typeface="+mn-ea"/>
              </a:rPr>
              <a:t>1</a:t>
            </a:r>
            <a:r>
              <a:rPr lang="zh-CN" altLang="en-US" sz="2100" dirty="0">
                <a:latin typeface="+mn-ea"/>
              </a:rPr>
              <a:t>和</a:t>
            </a:r>
            <a:r>
              <a:rPr lang="en-US" altLang="zh-CN" sz="2100" dirty="0">
                <a:latin typeface="+mn-ea"/>
              </a:rPr>
              <a:t>m</a:t>
            </a:r>
            <a:r>
              <a:rPr lang="zh-CN" altLang="en-US" sz="2100" dirty="0">
                <a:latin typeface="+mn-ea"/>
              </a:rPr>
              <a:t>，不能被其他整数整除</a:t>
            </a:r>
            <a:endParaRPr lang="en-US" altLang="zh-CN" sz="1500" dirty="0">
              <a:latin typeface="+mn-ea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147549" y="959485"/>
            <a:ext cx="7886700" cy="511357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800" dirty="0">
                <a:solidFill>
                  <a:srgbClr val="FF0000"/>
                </a:solidFill>
              </a:rPr>
              <a:t>判断素数方法总结</a:t>
            </a:r>
            <a:endParaRPr lang="zh-CN" altLang="en-US" sz="3300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334" y="1470843"/>
            <a:ext cx="7790387" cy="13628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42597" y="3604731"/>
            <a:ext cx="3649331" cy="47011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等价定义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2" action="ppaction://hlinksldjump"/>
              </a:rPr>
              <a:t>[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2,m)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内， 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m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的因子有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0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个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92881" indent="-192881" algn="l"/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黑体" pitchFamily="49" charset="-122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642596" y="2309725"/>
            <a:ext cx="2527526" cy="3324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en-US" altLang="zh-CN" sz="1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是否为素数：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42597" y="2972320"/>
            <a:ext cx="3771958" cy="47011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等价定义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3" action="ppaction://hlinksldjump"/>
              </a:rPr>
              <a:t>不能被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3" action="ppaction://hlinksldjump"/>
              </a:rPr>
              <a:t>[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2,m)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内的任何数整除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黑体" pitchFamily="49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642597" y="4237142"/>
            <a:ext cx="3917293" cy="47011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等价定义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4" action="ppaction://hlinksldjump"/>
              </a:rPr>
              <a:t>[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2,m)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内， 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m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的非因子有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m-2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个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92881" indent="-192881" algn="l"/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854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33488" y="1754193"/>
            <a:ext cx="6110288" cy="515533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en-US" altLang="zh-CN" sz="2100" dirty="0">
                <a:latin typeface="+mn-ea"/>
              </a:rPr>
              <a:t>m</a:t>
            </a:r>
            <a:r>
              <a:rPr lang="zh-CN" altLang="en-US" sz="2100" dirty="0">
                <a:latin typeface="+mn-ea"/>
              </a:rPr>
              <a:t>为素数：除了</a:t>
            </a:r>
            <a:r>
              <a:rPr lang="en-US" altLang="zh-CN" sz="2100" dirty="0">
                <a:latin typeface="+mn-ea"/>
              </a:rPr>
              <a:t>1</a:t>
            </a:r>
            <a:r>
              <a:rPr lang="zh-CN" altLang="en-US" sz="2100" dirty="0">
                <a:latin typeface="+mn-ea"/>
              </a:rPr>
              <a:t>和</a:t>
            </a:r>
            <a:r>
              <a:rPr lang="en-US" altLang="zh-CN" sz="2100" dirty="0">
                <a:latin typeface="+mn-ea"/>
              </a:rPr>
              <a:t>m</a:t>
            </a:r>
            <a:r>
              <a:rPr lang="zh-CN" altLang="en-US" sz="2100" dirty="0">
                <a:latin typeface="+mn-ea"/>
              </a:rPr>
              <a:t>，不能被其他整数整除</a:t>
            </a:r>
            <a:endParaRPr lang="en-US" altLang="zh-CN" sz="1500" dirty="0">
              <a:latin typeface="+mn-ea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147549" y="1026317"/>
            <a:ext cx="7886700" cy="44452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判断素数方法总结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334" y="1470843"/>
            <a:ext cx="7790387" cy="13628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42597" y="3604731"/>
            <a:ext cx="3649331" cy="47011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等价定义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2" action="ppaction://hlinksldjump"/>
              </a:rPr>
              <a:t> [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2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,m)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内， 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m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的因子有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0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个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92881" indent="-192881" algn="l"/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黑体" pitchFamily="49" charset="-122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642596" y="2309725"/>
            <a:ext cx="2527526" cy="3324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en-US" altLang="zh-CN" sz="1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是否为素数：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42597" y="2972320"/>
            <a:ext cx="3771958" cy="47011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等价定义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4" action="ppaction://hlinksldjump"/>
              </a:rPr>
              <a:t>不能被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2" action="ppaction://hlinksldjump"/>
              </a:rPr>
              <a:t>[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2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,m)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内的任何数整除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黑体" pitchFamily="49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642597" y="4237142"/>
            <a:ext cx="3917293" cy="47011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等价定义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2" action="ppaction://hlinksldjump"/>
              </a:rPr>
              <a:t> [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2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,m)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内， 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m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的非因子有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m-2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个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92881" indent="-192881" algn="l"/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黑体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79077" y="3393797"/>
            <a:ext cx="2550934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2881" indent="-192881">
              <a:lnSpc>
                <a:spcPts val="2625"/>
              </a:lnSpc>
              <a:spcBef>
                <a:spcPct val="0"/>
              </a:spcBef>
            </a:pPr>
            <a:r>
              <a:rPr lang="en-US" altLang="zh-CN" sz="1350" b="1">
                <a:solidFill>
                  <a:schemeClr val="accent2"/>
                </a:solidFill>
                <a:latin typeface="+mn-ea"/>
              </a:rPr>
              <a:t>for  i  in range(2,m):</a:t>
            </a:r>
            <a:endParaRPr lang="en-US" altLang="zh-CN" sz="1350" b="1" dirty="0">
              <a:solidFill>
                <a:schemeClr val="accent2"/>
              </a:solidFill>
              <a:latin typeface="+mn-ea"/>
            </a:endParaRPr>
          </a:p>
          <a:p>
            <a:pPr marL="192881" indent="-192881">
              <a:lnSpc>
                <a:spcPts val="2625"/>
              </a:lnSpc>
              <a:spcBef>
                <a:spcPct val="0"/>
              </a:spcBef>
            </a:pPr>
            <a:r>
              <a:rPr lang="en-US" altLang="zh-CN" sz="1350" b="1" dirty="0">
                <a:solidFill>
                  <a:srgbClr val="7030A0"/>
                </a:solidFill>
                <a:latin typeface="+mn-ea"/>
              </a:rPr>
              <a:t>		</a:t>
            </a:r>
            <a:r>
              <a:rPr lang="en-US" altLang="zh-CN" sz="1350" b="1">
                <a:solidFill>
                  <a:srgbClr val="7030A0"/>
                </a:solidFill>
                <a:latin typeface="+mn-ea"/>
              </a:rPr>
              <a:t>if  m </a:t>
            </a:r>
            <a:r>
              <a:rPr lang="en-US" altLang="zh-CN" sz="1350" b="1" dirty="0">
                <a:solidFill>
                  <a:srgbClr val="7030A0"/>
                </a:solidFill>
                <a:latin typeface="+mn-ea"/>
              </a:rPr>
              <a:t>% </a:t>
            </a:r>
            <a:r>
              <a:rPr lang="en-US" altLang="zh-CN" sz="1350" b="1" dirty="0" err="1">
                <a:solidFill>
                  <a:srgbClr val="7030A0"/>
                </a:solidFill>
                <a:latin typeface="+mn-ea"/>
              </a:rPr>
              <a:t>i</a:t>
            </a:r>
            <a:r>
              <a:rPr lang="en-US" altLang="zh-CN" sz="1350" b="1" dirty="0">
                <a:solidFill>
                  <a:srgbClr val="7030A0"/>
                </a:solidFill>
                <a:latin typeface="+mn-ea"/>
              </a:rPr>
              <a:t> </a:t>
            </a:r>
            <a:r>
              <a:rPr lang="en-US" altLang="zh-CN" sz="1350" b="1">
                <a:solidFill>
                  <a:srgbClr val="7030A0"/>
                </a:solidFill>
                <a:latin typeface="+mn-ea"/>
              </a:rPr>
              <a:t>== 0:</a:t>
            </a:r>
            <a:endParaRPr lang="en-US" altLang="zh-CN" sz="1350" b="1" dirty="0">
              <a:solidFill>
                <a:srgbClr val="7030A0"/>
              </a:solidFill>
              <a:latin typeface="+mn-ea"/>
            </a:endParaRPr>
          </a:p>
          <a:p>
            <a:pPr marL="192881" indent="-192881">
              <a:lnSpc>
                <a:spcPts val="2625"/>
              </a:lnSpc>
              <a:spcBef>
                <a:spcPct val="0"/>
              </a:spcBef>
            </a:pPr>
            <a:r>
              <a:rPr lang="en-US" altLang="zh-CN" sz="1350" b="1" dirty="0">
                <a:solidFill>
                  <a:srgbClr val="7030A0"/>
                </a:solidFill>
                <a:latin typeface="+mn-ea"/>
              </a:rPr>
              <a:t>		</a:t>
            </a:r>
            <a:r>
              <a:rPr lang="en-US" altLang="zh-CN" sz="1350" b="1">
                <a:solidFill>
                  <a:srgbClr val="7030A0"/>
                </a:solidFill>
                <a:latin typeface="+mn-ea"/>
              </a:rPr>
              <a:t>      flag=0</a:t>
            </a:r>
            <a:endParaRPr lang="en-US" altLang="zh-CN" sz="135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54838" y="4968902"/>
            <a:ext cx="4177875" cy="425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2881" indent="-192881">
              <a:lnSpc>
                <a:spcPts val="2625"/>
              </a:lnSpc>
              <a:spcBef>
                <a:spcPct val="0"/>
              </a:spcBef>
            </a:pPr>
            <a:r>
              <a:rPr lang="en-US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flag == 1 </a:t>
            </a:r>
            <a:r>
              <a:rPr lang="en-US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m&gt;1 </a:t>
            </a:r>
            <a:r>
              <a:rPr lang="en-US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print("{} </a:t>
            </a:r>
            <a:r>
              <a:rPr lang="en-US" altLang="zh-CN" sz="13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 a prime \n", </a:t>
            </a:r>
            <a:r>
              <a:rPr lang="en-US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m)</a:t>
            </a:r>
            <a:endParaRPr lang="en-US" altLang="zh-CN" sz="135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79078" y="3094489"/>
            <a:ext cx="763351" cy="425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2881" indent="-192881">
              <a:lnSpc>
                <a:spcPts val="2625"/>
              </a:lnSpc>
              <a:spcBef>
                <a:spcPct val="0"/>
              </a:spcBef>
            </a:pPr>
            <a:r>
              <a:rPr lang="en-US" altLang="zh-CN" sz="1350" dirty="0">
                <a:latin typeface="+mn-ea"/>
              </a:rPr>
              <a:t>flag </a:t>
            </a:r>
            <a:r>
              <a:rPr lang="en-US" altLang="zh-CN" sz="1350">
                <a:latin typeface="+mn-ea"/>
              </a:rPr>
              <a:t>= 1</a:t>
            </a:r>
            <a:endParaRPr lang="en-US" altLang="zh-CN" sz="1350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705224" y="2329264"/>
            <a:ext cx="3224013" cy="7848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 indent="-341710">
              <a:lnSpc>
                <a:spcPct val="150000"/>
              </a:lnSpc>
              <a:buSzPct val="100000"/>
              <a:buFont typeface="Calibri" pitchFamily="34" charset="0"/>
              <a:buAutoNum type="circleNumDbPlain"/>
            </a:pPr>
            <a:r>
              <a:rPr lang="zh-CN" altLang="en-US" sz="1500" dirty="0">
                <a:latin typeface="+mn-ea"/>
                <a:sym typeface="Wingdings" pitchFamily="2" charset="2"/>
              </a:rPr>
              <a:t>检测</a:t>
            </a:r>
            <a:r>
              <a:rPr lang="en-US" altLang="zh-CN" sz="1500" dirty="0">
                <a:latin typeface="+mn-ea"/>
                <a:sym typeface="Wingdings" pitchFamily="2" charset="2"/>
              </a:rPr>
              <a:t>2~m-1</a:t>
            </a:r>
            <a:r>
              <a:rPr lang="zh-CN" altLang="en-US" sz="1500" dirty="0">
                <a:latin typeface="+mn-ea"/>
                <a:sym typeface="Wingdings" pitchFamily="2" charset="2"/>
              </a:rPr>
              <a:t>之间的每个</a:t>
            </a:r>
            <a:r>
              <a:rPr lang="en-US" altLang="zh-CN" sz="1500" dirty="0" err="1">
                <a:latin typeface="+mn-ea"/>
                <a:sym typeface="Wingdings" pitchFamily="2" charset="2"/>
              </a:rPr>
              <a:t>i</a:t>
            </a:r>
            <a:r>
              <a:rPr lang="zh-CN" altLang="en-US" sz="1500" dirty="0">
                <a:latin typeface="+mn-ea"/>
                <a:sym typeface="宋体" pitchFamily="2" charset="-122"/>
              </a:rPr>
              <a:t> 是否整除</a:t>
            </a:r>
            <a:r>
              <a:rPr lang="en-US" altLang="zh-CN" sz="1500" dirty="0">
                <a:latin typeface="+mn-ea"/>
                <a:sym typeface="宋体" pitchFamily="2" charset="-122"/>
              </a:rPr>
              <a:t>m</a:t>
            </a:r>
            <a:r>
              <a:rPr lang="zh-CN" altLang="en-US" sz="1500" dirty="0">
                <a:latin typeface="+mn-ea"/>
                <a:sym typeface="宋体" pitchFamily="2" charset="-122"/>
              </a:rPr>
              <a:t>，是，修改标记为</a:t>
            </a:r>
            <a:r>
              <a:rPr lang="en-US" altLang="zh-CN" sz="1500" dirty="0">
                <a:latin typeface="+mn-ea"/>
                <a:sym typeface="宋体" pitchFamily="2" charset="-122"/>
              </a:rPr>
              <a:t>0</a:t>
            </a:r>
            <a:endParaRPr lang="zh-CN" altLang="en-US" sz="1500" dirty="0">
              <a:latin typeface="+mn-ea"/>
              <a:sym typeface="宋体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708516" y="4391899"/>
            <a:ext cx="2492990" cy="4385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marL="0" lvl="1">
              <a:lnSpc>
                <a:spcPct val="150000"/>
              </a:lnSpc>
              <a:buSzPct val="100000"/>
            </a:pPr>
            <a:r>
              <a:rPr lang="zh-CN" altLang="en-US" sz="1500" dirty="0">
                <a:latin typeface="+mn-ea"/>
                <a:sym typeface="Wingdings" pitchFamily="2" charset="2"/>
              </a:rPr>
              <a:t>②如果</a:t>
            </a:r>
            <a:r>
              <a:rPr lang="zh-CN" altLang="en-US" sz="1500" dirty="0">
                <a:latin typeface="+mn-ea"/>
                <a:sym typeface="宋体" pitchFamily="2" charset="-122"/>
              </a:rPr>
              <a:t>标记未改变，为素数</a:t>
            </a:r>
          </a:p>
        </p:txBody>
      </p:sp>
      <p:sp>
        <p:nvSpPr>
          <p:cNvPr id="18" name="右箭头 17"/>
          <p:cNvSpPr/>
          <p:nvPr/>
        </p:nvSpPr>
        <p:spPr>
          <a:xfrm rot="19787236">
            <a:off x="3857391" y="2691510"/>
            <a:ext cx="869073" cy="24071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2530438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  <p:bldP spid="3" grpId="0"/>
      <p:bldP spid="4" grpId="0" animBg="1"/>
      <p:bldP spid="13" grpId="0" animBg="1"/>
      <p:bldP spid="1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33488" y="1754193"/>
            <a:ext cx="6110288" cy="515533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en-US" altLang="zh-CN" sz="2100" dirty="0">
                <a:latin typeface="+mn-ea"/>
              </a:rPr>
              <a:t>m</a:t>
            </a:r>
            <a:r>
              <a:rPr lang="zh-CN" altLang="en-US" sz="2100" dirty="0">
                <a:latin typeface="+mn-ea"/>
              </a:rPr>
              <a:t>为素数：除了</a:t>
            </a:r>
            <a:r>
              <a:rPr lang="en-US" altLang="zh-CN" sz="2100" dirty="0">
                <a:latin typeface="+mn-ea"/>
              </a:rPr>
              <a:t>1</a:t>
            </a:r>
            <a:r>
              <a:rPr lang="zh-CN" altLang="en-US" sz="2100" dirty="0">
                <a:latin typeface="+mn-ea"/>
              </a:rPr>
              <a:t>和</a:t>
            </a:r>
            <a:r>
              <a:rPr lang="en-US" altLang="zh-CN" sz="2100" dirty="0">
                <a:latin typeface="+mn-ea"/>
              </a:rPr>
              <a:t>m</a:t>
            </a:r>
            <a:r>
              <a:rPr lang="zh-CN" altLang="en-US" sz="2100" dirty="0">
                <a:latin typeface="+mn-ea"/>
              </a:rPr>
              <a:t>，不能被其他整数整除</a:t>
            </a:r>
            <a:endParaRPr lang="en-US" altLang="zh-CN" sz="1500" dirty="0">
              <a:latin typeface="+mn-ea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147549" y="1026317"/>
            <a:ext cx="7886700" cy="44452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判断素数方法总结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334" y="1470843"/>
            <a:ext cx="7790387" cy="13628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42597" y="3604731"/>
            <a:ext cx="3649331" cy="47011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等价定义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2" action="ppaction://hlinksldjump"/>
              </a:rPr>
              <a:t> [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2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,m)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内， 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m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的因子有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0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个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92881" indent="-192881" algn="l"/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黑体" pitchFamily="49" charset="-122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642596" y="2309725"/>
            <a:ext cx="2527526" cy="3324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en-US" altLang="zh-CN" sz="1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是否为素数：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42597" y="2972320"/>
            <a:ext cx="3771958" cy="47011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等价定义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4" action="ppaction://hlinksldjump"/>
              </a:rPr>
              <a:t>不能被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2" action="ppaction://hlinksldjump"/>
              </a:rPr>
              <a:t>[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2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,m)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内的任何数整除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黑体" pitchFamily="49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642597" y="4237142"/>
            <a:ext cx="3917293" cy="47011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等价定义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2" action="ppaction://hlinksldjump"/>
              </a:rPr>
              <a:t> [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2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,m)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内， 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m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的非因子有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m-2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个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92881" indent="-192881" algn="l"/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黑体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35684" y="2302012"/>
            <a:ext cx="2953370" cy="7848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 indent="-341710">
              <a:lnSpc>
                <a:spcPct val="150000"/>
              </a:lnSpc>
              <a:buSzPct val="100000"/>
              <a:buFont typeface="Calibri" pitchFamily="34" charset="0"/>
              <a:buAutoNum type="circleNumDbPlain"/>
            </a:pPr>
            <a:r>
              <a:rPr lang="zh-CN" altLang="en-US" sz="1500" dirty="0">
                <a:latin typeface="+mn-ea"/>
                <a:sym typeface="Wingdings" pitchFamily="2" charset="2"/>
              </a:rPr>
              <a:t>检测</a:t>
            </a:r>
            <a:r>
              <a:rPr lang="en-US" altLang="zh-CN" sz="1500" dirty="0">
                <a:latin typeface="+mn-ea"/>
                <a:sym typeface="Wingdings" pitchFamily="2" charset="2"/>
              </a:rPr>
              <a:t>2~m-1</a:t>
            </a:r>
            <a:r>
              <a:rPr lang="zh-CN" altLang="en-US" sz="1500" dirty="0">
                <a:latin typeface="+mn-ea"/>
                <a:sym typeface="Wingdings" pitchFamily="2" charset="2"/>
              </a:rPr>
              <a:t>之间的每个</a:t>
            </a:r>
            <a:r>
              <a:rPr lang="en-US" altLang="zh-CN" sz="1500" dirty="0" err="1">
                <a:latin typeface="+mn-ea"/>
                <a:sym typeface="Wingdings" pitchFamily="2" charset="2"/>
              </a:rPr>
              <a:t>i</a:t>
            </a:r>
            <a:r>
              <a:rPr lang="zh-CN" altLang="en-US" sz="1500" dirty="0">
                <a:latin typeface="+mn-ea"/>
                <a:sym typeface="宋体" pitchFamily="2" charset="-122"/>
              </a:rPr>
              <a:t> 是否 </a:t>
            </a:r>
            <a:r>
              <a:rPr lang="en-US" altLang="zh-CN" sz="1500" dirty="0">
                <a:latin typeface="+mn-ea"/>
                <a:sym typeface="宋体" pitchFamily="2" charset="-122"/>
              </a:rPr>
              <a:t>m</a:t>
            </a:r>
            <a:r>
              <a:rPr lang="zh-CN" altLang="en-US" sz="1500" dirty="0">
                <a:latin typeface="+mn-ea"/>
                <a:sym typeface="宋体" pitchFamily="2" charset="-122"/>
              </a:rPr>
              <a:t>的因子，</a:t>
            </a:r>
            <a:r>
              <a:rPr lang="zh-CN" altLang="en-US" sz="1500" b="1" dirty="0">
                <a:solidFill>
                  <a:srgbClr val="FF0000"/>
                </a:solidFill>
                <a:latin typeface="+mn-ea"/>
                <a:sym typeface="宋体" pitchFamily="2" charset="-122"/>
              </a:rPr>
              <a:t>是</a:t>
            </a:r>
            <a:r>
              <a:rPr lang="zh-CN" altLang="en-US" sz="1500" dirty="0">
                <a:latin typeface="+mn-ea"/>
                <a:sym typeface="宋体" pitchFamily="2" charset="-122"/>
              </a:rPr>
              <a:t>，个数加</a:t>
            </a:r>
            <a:r>
              <a:rPr lang="en-US" altLang="zh-CN" sz="1500" dirty="0">
                <a:latin typeface="+mn-ea"/>
                <a:sym typeface="宋体" pitchFamily="2" charset="-122"/>
              </a:rPr>
              <a:t>1</a:t>
            </a:r>
            <a:endParaRPr lang="zh-CN" altLang="en-US" sz="1500" dirty="0">
              <a:latin typeface="+mn-ea"/>
              <a:sym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50394" y="3079720"/>
            <a:ext cx="3047495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2881" indent="-192881">
              <a:lnSpc>
                <a:spcPts val="2250"/>
              </a:lnSpc>
            </a:pPr>
            <a:r>
              <a:rPr lang="en-US" altLang="zh-CN" b="1">
                <a:latin typeface="+mn-ea"/>
              </a:rPr>
              <a:t>num=0</a:t>
            </a:r>
            <a:endParaRPr lang="en-US" altLang="zh-CN" b="1" dirty="0">
              <a:latin typeface="+mn-ea"/>
            </a:endParaRPr>
          </a:p>
          <a:p>
            <a:pPr marL="192881" indent="-192881">
              <a:lnSpc>
                <a:spcPts val="2250"/>
              </a:lnSpc>
            </a:pPr>
            <a:r>
              <a:rPr lang="en-US" altLang="zh-CN" b="1">
                <a:latin typeface="+mn-ea"/>
              </a:rPr>
              <a:t>for  i in range(2,m):</a:t>
            </a:r>
            <a:endParaRPr lang="en-US" altLang="zh-CN" b="1" dirty="0">
              <a:latin typeface="+mn-ea"/>
            </a:endParaRPr>
          </a:p>
          <a:p>
            <a:pPr marL="192881" indent="-192881">
              <a:lnSpc>
                <a:spcPts val="2250"/>
              </a:lnSpc>
            </a:pPr>
            <a:r>
              <a:rPr lang="en-US" altLang="zh-CN" b="1" dirty="0">
                <a:latin typeface="+mn-ea"/>
              </a:rPr>
              <a:t>	</a:t>
            </a:r>
            <a:r>
              <a:rPr lang="en-US" altLang="zh-CN" b="1">
                <a:latin typeface="+mn-ea"/>
              </a:rPr>
              <a:t>if   </a:t>
            </a:r>
            <a:r>
              <a:rPr lang="en-US" altLang="zh-CN" b="1" dirty="0">
                <a:latin typeface="+mn-ea"/>
              </a:rPr>
              <a:t>m % </a:t>
            </a:r>
            <a:r>
              <a:rPr lang="en-US" altLang="zh-CN" b="1" dirty="0" err="1">
                <a:latin typeface="+mn-ea"/>
              </a:rPr>
              <a:t>i</a:t>
            </a:r>
            <a:r>
              <a:rPr lang="en-US" altLang="zh-CN" b="1" dirty="0">
                <a:latin typeface="+mn-ea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+mn-ea"/>
              </a:rPr>
              <a:t>==</a:t>
            </a:r>
            <a:r>
              <a:rPr lang="en-US" altLang="zh-CN" b="1">
                <a:latin typeface="+mn-ea"/>
              </a:rPr>
              <a:t> 0: </a:t>
            </a:r>
            <a:endParaRPr lang="en-US" altLang="zh-CN" b="1" dirty="0">
              <a:latin typeface="+mn-ea"/>
            </a:endParaRPr>
          </a:p>
          <a:p>
            <a:pPr marL="192881" indent="-192881">
              <a:lnSpc>
                <a:spcPts val="2250"/>
              </a:lnSpc>
            </a:pPr>
            <a:r>
              <a:rPr lang="en-US" altLang="zh-CN" b="1" dirty="0">
                <a:solidFill>
                  <a:srgbClr val="7030A0"/>
                </a:solidFill>
                <a:latin typeface="+mn-ea"/>
              </a:rPr>
              <a:t>	</a:t>
            </a:r>
            <a:r>
              <a:rPr lang="en-US" altLang="zh-CN" b="1">
                <a:solidFill>
                  <a:srgbClr val="7030A0"/>
                </a:solidFill>
                <a:latin typeface="+mn-ea"/>
              </a:rPr>
              <a:t>     </a:t>
            </a:r>
            <a:r>
              <a:rPr lang="en-US" altLang="zh-CN" b="1">
                <a:latin typeface="+mn-ea"/>
              </a:rPr>
              <a:t>num=num+1</a:t>
            </a:r>
            <a:endParaRPr lang="en-US" altLang="zh-CN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62188" y="5180362"/>
            <a:ext cx="4838184" cy="3872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2881" indent="-192881">
              <a:lnSpc>
                <a:spcPts val="2250"/>
              </a:lnSpc>
            </a:pPr>
            <a:r>
              <a:rPr lang="en-US" altLang="zh-CN" b="1">
                <a:solidFill>
                  <a:srgbClr val="000000"/>
                </a:solidFill>
                <a:latin typeface="+mn-ea"/>
                <a:sym typeface="Microsoft Yahei"/>
              </a:rPr>
              <a:t>if </a:t>
            </a:r>
            <a:r>
              <a:rPr lang="en-US" altLang="zh-CN" b="1">
                <a:latin typeface="+mn-ea"/>
              </a:rPr>
              <a:t>num</a:t>
            </a:r>
            <a:r>
              <a:rPr lang="en-US" altLang="zh-CN" b="1">
                <a:solidFill>
                  <a:srgbClr val="000000"/>
                </a:solidFill>
                <a:latin typeface="+mn-ea"/>
                <a:sym typeface="Microsoft Yahei"/>
              </a:rPr>
              <a:t>==0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and m&gt;1 </a:t>
            </a:r>
            <a:r>
              <a:rPr lang="en-US" altLang="zh-CN" b="1">
                <a:solidFill>
                  <a:srgbClr val="000000"/>
                </a:solidFill>
                <a:latin typeface="+mn-ea"/>
                <a:sym typeface="Microsoft Yahei"/>
              </a:rPr>
              <a:t>: </a:t>
            </a:r>
            <a:r>
              <a:rPr lang="en-US" altLang="zh-CN" b="1">
                <a:latin typeface="+mn-ea"/>
              </a:rPr>
              <a:t>print(“{}</a:t>
            </a:r>
            <a:r>
              <a:rPr lang="zh-CN" altLang="en-US" b="1">
                <a:latin typeface="+mn-ea"/>
              </a:rPr>
              <a:t>是</a:t>
            </a:r>
            <a:r>
              <a:rPr lang="zh-CN" altLang="en-US" b="1" dirty="0">
                <a:latin typeface="+mn-ea"/>
              </a:rPr>
              <a:t>素数</a:t>
            </a:r>
            <a:r>
              <a:rPr lang="en-US" altLang="zh-CN" b="1" dirty="0">
                <a:latin typeface="+mn-ea"/>
              </a:rPr>
              <a:t>\n", </a:t>
            </a:r>
            <a:r>
              <a:rPr lang="en-US" altLang="zh-CN" b="1">
                <a:latin typeface="+mn-ea"/>
              </a:rPr>
              <a:t>m)</a:t>
            </a:r>
            <a:endParaRPr lang="zh-CN" altLang="en-US" b="1" dirty="0">
              <a:solidFill>
                <a:srgbClr val="000000"/>
              </a:solidFill>
              <a:latin typeface="+mn-ea"/>
              <a:sym typeface="Microsoft Yahei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835684" y="4404128"/>
            <a:ext cx="2209259" cy="4385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marL="0" lvl="1">
              <a:lnSpc>
                <a:spcPct val="150000"/>
              </a:lnSpc>
              <a:buSzPct val="100000"/>
            </a:pPr>
            <a:r>
              <a:rPr lang="zh-CN" altLang="en-US" sz="1500" dirty="0">
                <a:latin typeface="+mn-ea"/>
                <a:sym typeface="Wingdings" pitchFamily="2" charset="2"/>
              </a:rPr>
              <a:t>②因子个数为</a:t>
            </a:r>
            <a:r>
              <a:rPr lang="en-US" altLang="zh-CN" sz="1500" dirty="0">
                <a:latin typeface="+mn-ea"/>
                <a:sym typeface="Wingdings" pitchFamily="2" charset="2"/>
              </a:rPr>
              <a:t>0</a:t>
            </a:r>
            <a:r>
              <a:rPr lang="zh-CN" altLang="en-US" sz="1500" dirty="0">
                <a:latin typeface="+mn-ea"/>
                <a:sym typeface="宋体" pitchFamily="2" charset="-122"/>
              </a:rPr>
              <a:t>，为素数</a:t>
            </a:r>
          </a:p>
        </p:txBody>
      </p:sp>
      <p:sp>
        <p:nvSpPr>
          <p:cNvPr id="16" name="右箭头 15"/>
          <p:cNvSpPr/>
          <p:nvPr/>
        </p:nvSpPr>
        <p:spPr>
          <a:xfrm>
            <a:off x="3966611" y="3632121"/>
            <a:ext cx="869073" cy="24071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22748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/>
      <p:bldP spid="3" grpId="0"/>
      <p:bldP spid="14" grpId="0" animBg="1"/>
      <p:bldP spid="1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33488" y="1754193"/>
            <a:ext cx="6110288" cy="515533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en-US" altLang="zh-CN" sz="2100" dirty="0">
                <a:latin typeface="+mn-ea"/>
              </a:rPr>
              <a:t>m</a:t>
            </a:r>
            <a:r>
              <a:rPr lang="zh-CN" altLang="en-US" sz="2100" dirty="0">
                <a:latin typeface="+mn-ea"/>
              </a:rPr>
              <a:t>为素数：除了</a:t>
            </a:r>
            <a:r>
              <a:rPr lang="en-US" altLang="zh-CN" sz="2100" dirty="0">
                <a:latin typeface="+mn-ea"/>
              </a:rPr>
              <a:t>1</a:t>
            </a:r>
            <a:r>
              <a:rPr lang="zh-CN" altLang="en-US" sz="2100" dirty="0">
                <a:latin typeface="+mn-ea"/>
              </a:rPr>
              <a:t>和</a:t>
            </a:r>
            <a:r>
              <a:rPr lang="en-US" altLang="zh-CN" sz="2100" dirty="0">
                <a:latin typeface="+mn-ea"/>
              </a:rPr>
              <a:t>m</a:t>
            </a:r>
            <a:r>
              <a:rPr lang="zh-CN" altLang="en-US" sz="2100" dirty="0">
                <a:latin typeface="+mn-ea"/>
              </a:rPr>
              <a:t>，不能被其他整数整除</a:t>
            </a:r>
            <a:endParaRPr lang="en-US" altLang="zh-CN" sz="1500" dirty="0">
              <a:latin typeface="+mn-ea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147549" y="1026317"/>
            <a:ext cx="7886700" cy="44452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判断素数方法总结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334" y="1470843"/>
            <a:ext cx="7790387" cy="13628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42597" y="3604731"/>
            <a:ext cx="3649331" cy="47011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等价定义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2" action="ppaction://hlinksldjump"/>
              </a:rPr>
              <a:t> [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2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,m)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内， 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m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的因子有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0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个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92881" indent="-192881" algn="l"/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黑体" pitchFamily="49" charset="-122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642596" y="2309725"/>
            <a:ext cx="2527526" cy="3324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en-US" altLang="zh-CN" sz="1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是否为素数：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42597" y="2972320"/>
            <a:ext cx="3771958" cy="47011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等价定义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4" action="ppaction://hlinksldjump"/>
              </a:rPr>
              <a:t>不能被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2" action="ppaction://hlinksldjump"/>
              </a:rPr>
              <a:t>[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2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,m)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内的任何数整除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黑体" pitchFamily="49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642597" y="4237142"/>
            <a:ext cx="3917293" cy="470114"/>
          </a:xfrm>
          <a:prstGeom prst="rect">
            <a:avLst/>
          </a:prstGeom>
          <a:ln/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2881" indent="-192881" algn="l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等价定义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2" action="ppaction://hlinksldjump"/>
              </a:rPr>
              <a:t> [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2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,m)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内， 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m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的非因子有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m-2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个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92881" indent="-192881" algn="l"/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黑体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35684" y="2302012"/>
            <a:ext cx="2953370" cy="7848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 indent="-341710">
              <a:lnSpc>
                <a:spcPct val="150000"/>
              </a:lnSpc>
              <a:buSzPct val="100000"/>
              <a:buFont typeface="Calibri" pitchFamily="34" charset="0"/>
              <a:buAutoNum type="circleNumDbPlain"/>
            </a:pPr>
            <a:r>
              <a:rPr lang="zh-CN" altLang="en-US" sz="1500" dirty="0">
                <a:latin typeface="+mn-ea"/>
                <a:sym typeface="Wingdings" pitchFamily="2" charset="2"/>
              </a:rPr>
              <a:t>检测</a:t>
            </a:r>
            <a:r>
              <a:rPr lang="en-US" altLang="zh-CN" sz="1500" dirty="0">
                <a:latin typeface="+mn-ea"/>
                <a:sym typeface="Wingdings" pitchFamily="2" charset="2"/>
              </a:rPr>
              <a:t>2~m-1</a:t>
            </a:r>
            <a:r>
              <a:rPr lang="zh-CN" altLang="en-US" sz="1500" dirty="0">
                <a:latin typeface="+mn-ea"/>
                <a:sym typeface="Wingdings" pitchFamily="2" charset="2"/>
              </a:rPr>
              <a:t>之间的每个</a:t>
            </a:r>
            <a:r>
              <a:rPr lang="en-US" altLang="zh-CN" sz="1500" dirty="0" err="1">
                <a:latin typeface="+mn-ea"/>
                <a:sym typeface="Wingdings" pitchFamily="2" charset="2"/>
              </a:rPr>
              <a:t>i</a:t>
            </a:r>
            <a:r>
              <a:rPr lang="zh-CN" altLang="en-US" sz="1500" dirty="0">
                <a:latin typeface="+mn-ea"/>
                <a:sym typeface="宋体" pitchFamily="2" charset="-122"/>
              </a:rPr>
              <a:t> 是否 </a:t>
            </a:r>
            <a:r>
              <a:rPr lang="en-US" altLang="zh-CN" sz="1500" dirty="0">
                <a:latin typeface="+mn-ea"/>
                <a:sym typeface="宋体" pitchFamily="2" charset="-122"/>
              </a:rPr>
              <a:t>m</a:t>
            </a:r>
            <a:r>
              <a:rPr lang="zh-CN" altLang="en-US" sz="1500" dirty="0">
                <a:latin typeface="+mn-ea"/>
                <a:sym typeface="宋体" pitchFamily="2" charset="-122"/>
              </a:rPr>
              <a:t>的因子，</a:t>
            </a:r>
            <a:r>
              <a:rPr lang="zh-CN" altLang="en-US" sz="1500" b="1" dirty="0">
                <a:solidFill>
                  <a:srgbClr val="FF0000"/>
                </a:solidFill>
                <a:latin typeface="+mn-ea"/>
                <a:sym typeface="宋体" pitchFamily="2" charset="-122"/>
              </a:rPr>
              <a:t>不是</a:t>
            </a:r>
            <a:r>
              <a:rPr lang="zh-CN" altLang="en-US" sz="1500" dirty="0">
                <a:latin typeface="+mn-ea"/>
                <a:sym typeface="宋体" pitchFamily="2" charset="-122"/>
              </a:rPr>
              <a:t>，个数加</a:t>
            </a:r>
            <a:r>
              <a:rPr lang="en-US" altLang="zh-CN" sz="1500" dirty="0">
                <a:latin typeface="+mn-ea"/>
                <a:sym typeface="宋体" pitchFamily="2" charset="-122"/>
              </a:rPr>
              <a:t>1</a:t>
            </a:r>
            <a:endParaRPr lang="zh-CN" altLang="en-US" sz="1500" dirty="0">
              <a:latin typeface="+mn-ea"/>
              <a:sym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50394" y="3079720"/>
            <a:ext cx="3047495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2881" indent="-192881">
              <a:lnSpc>
                <a:spcPts val="2250"/>
              </a:lnSpc>
            </a:pPr>
            <a:r>
              <a:rPr lang="en-US" altLang="zh-CN" b="1">
                <a:latin typeface="+mn-ea"/>
              </a:rPr>
              <a:t>num=0</a:t>
            </a:r>
            <a:endParaRPr lang="en-US" altLang="zh-CN" b="1" dirty="0">
              <a:latin typeface="+mn-ea"/>
            </a:endParaRPr>
          </a:p>
          <a:p>
            <a:pPr marL="192881" indent="-192881">
              <a:lnSpc>
                <a:spcPts val="2250"/>
              </a:lnSpc>
            </a:pPr>
            <a:r>
              <a:rPr lang="en-US" altLang="zh-CN" b="1">
                <a:latin typeface="+mn-ea"/>
              </a:rPr>
              <a:t>for i in range(2,m):</a:t>
            </a:r>
            <a:endParaRPr lang="en-US" altLang="zh-CN" b="1" dirty="0">
              <a:latin typeface="+mn-ea"/>
            </a:endParaRPr>
          </a:p>
          <a:p>
            <a:pPr marL="192881" indent="-192881">
              <a:lnSpc>
                <a:spcPts val="2250"/>
              </a:lnSpc>
            </a:pPr>
            <a:r>
              <a:rPr lang="en-US" altLang="zh-CN" b="1" dirty="0">
                <a:latin typeface="+mn-ea"/>
              </a:rPr>
              <a:t>	</a:t>
            </a:r>
            <a:r>
              <a:rPr lang="en-US" altLang="zh-CN" b="1">
                <a:latin typeface="+mn-ea"/>
              </a:rPr>
              <a:t>if  m </a:t>
            </a:r>
            <a:r>
              <a:rPr lang="en-US" altLang="zh-CN" b="1" dirty="0">
                <a:latin typeface="+mn-ea"/>
              </a:rPr>
              <a:t>% </a:t>
            </a:r>
            <a:r>
              <a:rPr lang="en-US" altLang="zh-CN" b="1" dirty="0" err="1">
                <a:latin typeface="+mn-ea"/>
              </a:rPr>
              <a:t>i</a:t>
            </a:r>
            <a:r>
              <a:rPr lang="en-US" altLang="zh-CN" b="1" dirty="0">
                <a:latin typeface="+mn-ea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+mn-ea"/>
              </a:rPr>
              <a:t>!</a:t>
            </a:r>
            <a:r>
              <a:rPr lang="en-US" altLang="zh-CN" b="1">
                <a:latin typeface="+mn-ea"/>
              </a:rPr>
              <a:t>= 0: </a:t>
            </a:r>
            <a:endParaRPr lang="en-US" altLang="zh-CN" b="1" dirty="0">
              <a:latin typeface="+mn-ea"/>
            </a:endParaRPr>
          </a:p>
          <a:p>
            <a:pPr marL="192881" indent="-192881">
              <a:lnSpc>
                <a:spcPts val="2250"/>
              </a:lnSpc>
            </a:pPr>
            <a:r>
              <a:rPr lang="en-US" altLang="zh-CN" b="1" dirty="0">
                <a:solidFill>
                  <a:srgbClr val="7030A0"/>
                </a:solidFill>
                <a:latin typeface="+mn-ea"/>
              </a:rPr>
              <a:t>	</a:t>
            </a:r>
            <a:r>
              <a:rPr lang="en-US" altLang="zh-CN" b="1">
                <a:solidFill>
                  <a:srgbClr val="7030A0"/>
                </a:solidFill>
                <a:latin typeface="+mn-ea"/>
              </a:rPr>
              <a:t>     </a:t>
            </a:r>
            <a:r>
              <a:rPr lang="en-US" altLang="zh-CN" b="1">
                <a:latin typeface="+mn-ea"/>
              </a:rPr>
              <a:t>num=num+1</a:t>
            </a:r>
            <a:endParaRPr lang="en-US" altLang="zh-CN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9021" y="5106616"/>
            <a:ext cx="4533613" cy="3670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2881" indent="-192881">
              <a:lnSpc>
                <a:spcPts val="2250"/>
              </a:lnSpc>
            </a:pPr>
            <a:r>
              <a:rPr lang="en-US" altLang="zh-CN" sz="1600" b="1">
                <a:solidFill>
                  <a:srgbClr val="000000"/>
                </a:solidFill>
                <a:latin typeface="+mn-ea"/>
                <a:sym typeface="Microsoft Yahei"/>
              </a:rPr>
              <a:t>if num==</a:t>
            </a:r>
            <a:r>
              <a:rPr lang="en-US" altLang="zh-CN" sz="1600" b="1">
                <a:solidFill>
                  <a:srgbClr val="FF0000"/>
                </a:solidFill>
                <a:latin typeface="+mn-ea"/>
                <a:sym typeface="Microsoft Yahei"/>
              </a:rPr>
              <a:t>m-2</a:t>
            </a:r>
            <a:r>
              <a:rPr lang="en-US" altLang="zh-CN" sz="1600" b="1">
                <a:solidFill>
                  <a:srgbClr val="000000"/>
                </a:solidFill>
                <a:latin typeface="+mn-ea"/>
                <a:sym typeface="Microsoft Yahei"/>
              </a:rPr>
              <a:t> 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m&gt;1:</a:t>
            </a:r>
            <a:r>
              <a:rPr lang="en-US" altLang="zh-CN" sz="1600" b="1">
                <a:solidFill>
                  <a:srgbClr val="000000"/>
                </a:solidFill>
                <a:latin typeface="+mn-ea"/>
                <a:sym typeface="Microsoft Yahei"/>
              </a:rPr>
              <a:t> </a:t>
            </a:r>
            <a:r>
              <a:rPr lang="en-US" altLang="zh-CN" sz="1600" b="1">
                <a:latin typeface="+mn-ea"/>
              </a:rPr>
              <a:t>print(“{}</a:t>
            </a:r>
            <a:r>
              <a:rPr lang="zh-CN" altLang="en-US" sz="1600" b="1">
                <a:latin typeface="+mn-ea"/>
              </a:rPr>
              <a:t>是</a:t>
            </a:r>
            <a:r>
              <a:rPr lang="zh-CN" altLang="en-US" sz="1600" b="1" dirty="0">
                <a:latin typeface="+mn-ea"/>
              </a:rPr>
              <a:t>素数</a:t>
            </a:r>
            <a:r>
              <a:rPr lang="en-US" altLang="zh-CN" sz="1600" b="1" dirty="0">
                <a:latin typeface="+mn-ea"/>
              </a:rPr>
              <a:t>\n", </a:t>
            </a:r>
            <a:r>
              <a:rPr lang="en-US" altLang="zh-CN" sz="1600" b="1">
                <a:latin typeface="+mn-ea"/>
              </a:rPr>
              <a:t>m)</a:t>
            </a:r>
            <a:endParaRPr lang="zh-CN" altLang="en-US" sz="1600" b="1" dirty="0">
              <a:solidFill>
                <a:srgbClr val="000000"/>
              </a:solidFill>
              <a:latin typeface="+mn-ea"/>
              <a:sym typeface="Microsoft Yahei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835683" y="4404128"/>
            <a:ext cx="2674130" cy="4385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marL="0" lvl="1">
              <a:lnSpc>
                <a:spcPct val="150000"/>
              </a:lnSpc>
              <a:buSzPct val="100000"/>
            </a:pPr>
            <a:r>
              <a:rPr lang="zh-CN" altLang="en-US" sz="1500">
                <a:latin typeface="+mn-ea"/>
                <a:sym typeface="Wingdings" pitchFamily="2" charset="2"/>
              </a:rPr>
              <a:t>②</a:t>
            </a:r>
            <a:r>
              <a:rPr lang="zh-CN" altLang="en-US" sz="1500">
                <a:solidFill>
                  <a:srgbClr val="FF0000"/>
                </a:solidFill>
                <a:latin typeface="+mn-ea"/>
                <a:sym typeface="Wingdings" pitchFamily="2" charset="2"/>
              </a:rPr>
              <a:t>非</a:t>
            </a:r>
            <a:r>
              <a:rPr lang="zh-CN" altLang="en-US" sz="1500">
                <a:latin typeface="+mn-ea"/>
                <a:sym typeface="Wingdings" pitchFamily="2" charset="2"/>
              </a:rPr>
              <a:t>因子个数为</a:t>
            </a:r>
            <a:r>
              <a:rPr lang="en-US" altLang="zh-CN" sz="1500" b="1">
                <a:solidFill>
                  <a:srgbClr val="FF0000"/>
                </a:solidFill>
                <a:latin typeface="+mn-ea"/>
                <a:sym typeface="Wingdings" pitchFamily="2" charset="2"/>
              </a:rPr>
              <a:t>m-2</a:t>
            </a:r>
            <a:r>
              <a:rPr lang="zh-CN" altLang="en-US" sz="1500">
                <a:latin typeface="+mn-ea"/>
                <a:sym typeface="宋体" pitchFamily="2" charset="-122"/>
              </a:rPr>
              <a:t>，</a:t>
            </a:r>
            <a:r>
              <a:rPr lang="zh-CN" altLang="en-US" sz="1500" dirty="0">
                <a:latin typeface="+mn-ea"/>
                <a:sym typeface="宋体" pitchFamily="2" charset="-122"/>
              </a:rPr>
              <a:t>为素数</a:t>
            </a:r>
          </a:p>
        </p:txBody>
      </p:sp>
      <p:sp>
        <p:nvSpPr>
          <p:cNvPr id="16" name="右箭头 15"/>
          <p:cNvSpPr/>
          <p:nvPr/>
        </p:nvSpPr>
        <p:spPr>
          <a:xfrm rot="19280509">
            <a:off x="3995289" y="3751359"/>
            <a:ext cx="869073" cy="24071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21701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/>
      <p:bldP spid="3" grpId="0"/>
      <p:bldP spid="14" grpId="0" animBg="1"/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0375" y="649457"/>
            <a:ext cx="5915025" cy="994172"/>
          </a:xfrm>
        </p:spPr>
        <p:txBody>
          <a:bodyPr>
            <a:normAutofit/>
          </a:bodyPr>
          <a:lstStyle/>
          <a:p>
            <a:r>
              <a:rPr lang="zh-CN" altLang="en-US" sz="3000" b="1" dirty="0">
                <a:solidFill>
                  <a:srgbClr val="C00000"/>
                </a:solidFill>
              </a:rPr>
              <a:t>通过整除运算求整数的位数</a:t>
            </a:r>
            <a:endParaRPr lang="zh-CN" altLang="en-US" sz="3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1165" y="1841980"/>
            <a:ext cx="4021890" cy="33006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例</a:t>
            </a: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4-3</a:t>
            </a:r>
            <a:r>
              <a:rPr lang="zh-CN" altLang="en-US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输入一个整数，输出其</a:t>
            </a:r>
            <a:r>
              <a:rPr lang="zh-CN" altLang="en-US" sz="15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位数</a:t>
            </a:r>
            <a:r>
              <a:rPr lang="zh-CN" altLang="en-US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15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762018" y="2119323"/>
            <a:ext cx="1412447" cy="2130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n=int(input</a:t>
            </a: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())</a:t>
            </a:r>
            <a:endParaRPr lang="zh-CN" altLang="zh-CN" sz="15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k=0</a:t>
            </a:r>
            <a:endParaRPr lang="zh-CN" altLang="zh-CN" sz="15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while n!=0</a:t>
            </a: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endParaRPr lang="zh-CN" altLang="zh-CN" sz="15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k+=1</a:t>
            </a:r>
            <a:endParaRPr lang="zh-CN" altLang="zh-CN" sz="15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n//=10</a:t>
            </a:r>
            <a:endParaRPr lang="zh-CN" altLang="zh-CN" sz="15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print('k=',k)</a:t>
            </a:r>
            <a:endParaRPr lang="zh-CN" altLang="zh-CN" sz="15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3107" y="2423209"/>
            <a:ext cx="41954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57175"/>
            <a:r>
              <a:rPr lang="zh-CN" altLang="zh-CN" sz="1350" dirty="0">
                <a:solidFill>
                  <a:srgbClr val="1717B7"/>
                </a:solidFill>
              </a:rPr>
              <a:t>分析：</a:t>
            </a:r>
            <a:endParaRPr lang="en-US" altLang="zh-CN" sz="1350" dirty="0">
              <a:solidFill>
                <a:srgbClr val="1717B7"/>
              </a:solidFill>
            </a:endParaRPr>
          </a:p>
          <a:p>
            <a:pPr marL="214313" indent="-2143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zh-CN" sz="1350" dirty="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输入的整数存入变量</a:t>
            </a:r>
            <a:r>
              <a:rPr lang="en-US" altLang="zh-CN" sz="1350" dirty="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</a:t>
            </a:r>
            <a:r>
              <a:rPr lang="zh-CN" altLang="zh-CN" sz="1350" dirty="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中，用变量</a:t>
            </a:r>
            <a:r>
              <a:rPr lang="en-US" altLang="zh-CN" sz="1350" dirty="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zh-CN" altLang="zh-CN" sz="1350" dirty="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来统计</a:t>
            </a:r>
            <a:r>
              <a:rPr lang="en-US" altLang="zh-CN" sz="1350" dirty="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</a:t>
            </a:r>
            <a:r>
              <a:rPr lang="zh-CN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的位数</a:t>
            </a:r>
            <a:endParaRPr lang="en-US" altLang="zh-CN" sz="1350">
              <a:solidFill>
                <a:srgbClr val="1717B7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14313" indent="-2143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基本思路</a:t>
            </a:r>
            <a:r>
              <a:rPr lang="zh-CN" altLang="en-US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350">
              <a:solidFill>
                <a:srgbClr val="1717B7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57213" lvl="1" indent="-214313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每</a:t>
            </a:r>
            <a:r>
              <a:rPr lang="zh-CN" altLang="zh-CN" sz="1350" dirty="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循环一次就去掉</a:t>
            </a:r>
            <a:r>
              <a:rPr lang="en-US" altLang="zh-CN" sz="1350" dirty="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</a:t>
            </a:r>
            <a:r>
              <a:rPr lang="zh-CN" altLang="zh-CN" sz="1350" dirty="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zh-CN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最低位数字，</a:t>
            </a:r>
            <a:r>
              <a:rPr lang="zh-CN" altLang="zh-CN" sz="135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直到</a:t>
            </a:r>
            <a:r>
              <a:rPr lang="en-US" altLang="zh-CN" sz="135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</a:t>
            </a:r>
            <a:r>
              <a:rPr lang="zh-CN" altLang="zh-CN" sz="135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</a:t>
            </a:r>
            <a:r>
              <a:rPr lang="en-US" altLang="zh-CN" sz="135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</a:t>
            </a:r>
            <a:r>
              <a:rPr lang="zh-CN" altLang="zh-CN" sz="1350" dirty="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1350" dirty="0">
              <a:solidFill>
                <a:srgbClr val="1717B7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indent="257175"/>
            <a:endParaRPr lang="zh-CN" altLang="zh-CN" sz="1350" dirty="0">
              <a:solidFill>
                <a:srgbClr val="1717B7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84720" y="3120164"/>
            <a:ext cx="2106988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CN" sz="405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n= 12345</a:t>
            </a:r>
            <a:endParaRPr lang="zh-CN" altLang="en-US" sz="405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12505" y="3802448"/>
            <a:ext cx="491160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CN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K=1</a:t>
            </a:r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8278170" y="3184910"/>
            <a:ext cx="249053" cy="56065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908063" y="2861553"/>
            <a:ext cx="491160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CN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K=2</a:t>
            </a:r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8029117" y="3183091"/>
            <a:ext cx="249053" cy="56065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667451" y="3794735"/>
            <a:ext cx="491160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CN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K=3</a:t>
            </a:r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7766290" y="3178511"/>
            <a:ext cx="249053" cy="56065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363656" y="2879479"/>
            <a:ext cx="491160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CN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K=4</a:t>
            </a:r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H="1">
            <a:off x="7465956" y="3176915"/>
            <a:ext cx="249053" cy="56065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106220" y="3802448"/>
            <a:ext cx="491160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CN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K=5</a:t>
            </a:r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7193222" y="3176915"/>
            <a:ext cx="249053" cy="56065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808321" y="1779634"/>
            <a:ext cx="1215718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21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方法一：</a:t>
            </a:r>
          </a:p>
        </p:txBody>
      </p:sp>
      <p:sp>
        <p:nvSpPr>
          <p:cNvPr id="20" name="矩形 19"/>
          <p:cNvSpPr/>
          <p:nvPr/>
        </p:nvSpPr>
        <p:spPr>
          <a:xfrm>
            <a:off x="4767584" y="4237210"/>
            <a:ext cx="1215718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21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方法二：</a:t>
            </a:r>
          </a:p>
        </p:txBody>
      </p:sp>
      <p:sp>
        <p:nvSpPr>
          <p:cNvPr id="21" name="矩形 20"/>
          <p:cNvSpPr/>
          <p:nvPr/>
        </p:nvSpPr>
        <p:spPr>
          <a:xfrm>
            <a:off x="4762018" y="4689991"/>
            <a:ext cx="1412447" cy="745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k=len(input</a:t>
            </a: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())</a:t>
            </a:r>
            <a:endParaRPr lang="zh-CN" altLang="zh-CN" sz="15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print</a:t>
            </a: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('k=',k)</a:t>
            </a:r>
            <a:endParaRPr lang="zh-CN" altLang="zh-CN" sz="15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AE69BF-0BC9-4AE9-9ADE-E8B98D11CC46}"/>
              </a:ext>
            </a:extLst>
          </p:cNvPr>
          <p:cNvSpPr txBox="1"/>
          <p:nvPr/>
        </p:nvSpPr>
        <p:spPr>
          <a:xfrm>
            <a:off x="351165" y="4488110"/>
            <a:ext cx="374974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运算符</a:t>
            </a:r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>
                <a:solidFill>
                  <a:srgbClr val="FF0000"/>
                </a:solidFill>
              </a:rPr>
              <a:t>的三种用法：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m % 2 == 0:     #</a:t>
            </a:r>
            <a:r>
              <a:rPr lang="zh-CN" altLang="en-US" dirty="0"/>
              <a:t>判断</a:t>
            </a:r>
            <a:r>
              <a:rPr lang="en-US" altLang="zh-CN" dirty="0"/>
              <a:t>m</a:t>
            </a:r>
            <a:r>
              <a:rPr lang="zh-CN" altLang="en-US" dirty="0"/>
              <a:t>是偶数</a:t>
            </a:r>
            <a:endParaRPr lang="en-US" altLang="zh-CN" dirty="0"/>
          </a:p>
          <a:p>
            <a:r>
              <a:rPr lang="en-US" altLang="zh-CN" dirty="0"/>
              <a:t>           if</a:t>
            </a:r>
            <a:r>
              <a:rPr lang="zh-CN" altLang="en-US" dirty="0"/>
              <a:t> </a:t>
            </a:r>
            <a:r>
              <a:rPr lang="en-US" altLang="zh-CN" dirty="0"/>
              <a:t>m % 2 == 1:     #</a:t>
            </a:r>
            <a:r>
              <a:rPr lang="zh-CN" altLang="en-US" dirty="0"/>
              <a:t>判断</a:t>
            </a:r>
            <a:r>
              <a:rPr lang="en-US" altLang="zh-CN" dirty="0"/>
              <a:t>m</a:t>
            </a:r>
            <a:r>
              <a:rPr lang="zh-CN" altLang="en-US" dirty="0"/>
              <a:t>是奇数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if m % </a:t>
            </a:r>
            <a:r>
              <a:rPr lang="en-US" altLang="zh-CN" dirty="0" err="1"/>
              <a:t>i</a:t>
            </a:r>
            <a:r>
              <a:rPr lang="en-US" altLang="zh-CN" dirty="0"/>
              <a:t> == 0:      #m</a:t>
            </a:r>
            <a:r>
              <a:rPr lang="zh-CN" altLang="en-US"/>
              <a:t>能被</a:t>
            </a:r>
            <a:r>
              <a:rPr lang="en-US" altLang="zh-CN" dirty="0" err="1"/>
              <a:t>i</a:t>
            </a:r>
            <a:r>
              <a:rPr lang="zh-CN" altLang="en-US" dirty="0"/>
              <a:t>整除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 err="1"/>
              <a:t>ge</a:t>
            </a:r>
            <a:r>
              <a:rPr lang="en-US" altLang="zh-CN" dirty="0"/>
              <a:t> = m % 10       #</a:t>
            </a:r>
            <a:r>
              <a:rPr lang="zh-CN" altLang="en-US" dirty="0"/>
              <a:t>取</a:t>
            </a:r>
            <a:r>
              <a:rPr lang="en-US" altLang="zh-CN" dirty="0"/>
              <a:t>m</a:t>
            </a:r>
            <a:r>
              <a:rPr lang="zh-CN" altLang="en-US" dirty="0"/>
              <a:t>的个位数</a:t>
            </a:r>
          </a:p>
        </p:txBody>
      </p:sp>
    </p:spTree>
    <p:extLst>
      <p:ext uri="{BB962C8B-B14F-4D97-AF65-F5344CB8AC3E}">
        <p14:creationId xmlns:p14="http://schemas.microsoft.com/office/powerpoint/2010/main" val="19043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2" grpId="0"/>
      <p:bldP spid="14" grpId="0"/>
      <p:bldP spid="16" grpId="0"/>
      <p:bldP spid="18" grpId="0"/>
      <p:bldP spid="8" grpId="0"/>
      <p:bldP spid="20" grpId="0"/>
      <p:bldP spid="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40353" y="639743"/>
            <a:ext cx="5915025" cy="994172"/>
          </a:xfrm>
        </p:spPr>
        <p:txBody>
          <a:bodyPr>
            <a:normAutofit/>
          </a:bodyPr>
          <a:lstStyle/>
          <a:p>
            <a:r>
              <a:rPr lang="zh-CN" altLang="en-US" sz="3000" b="1" dirty="0"/>
              <a:t>输出整数的</a:t>
            </a:r>
            <a:r>
              <a:rPr lang="zh-CN" altLang="en-US" sz="3000" b="1" dirty="0">
                <a:solidFill>
                  <a:srgbClr val="FF0000"/>
                </a:solidFill>
              </a:rPr>
              <a:t>各位数</a:t>
            </a:r>
            <a:endParaRPr lang="zh-CN" altLang="en-US" sz="300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8535" y="2180411"/>
            <a:ext cx="4021890" cy="33006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例</a:t>
            </a: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4-3</a:t>
            </a:r>
            <a:r>
              <a:rPr lang="zh-CN" altLang="en-US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输入一个</a:t>
            </a:r>
            <a:r>
              <a:rPr lang="zh-CN" altLang="en-US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整数，</a:t>
            </a:r>
            <a:r>
              <a:rPr lang="zh-CN" altLang="en-US" sz="150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逆序</a:t>
            </a:r>
            <a:r>
              <a:rPr lang="zh-CN" altLang="en-US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输出其</a:t>
            </a:r>
            <a:r>
              <a:rPr lang="zh-CN" altLang="en-US" sz="15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各位</a:t>
            </a:r>
            <a:r>
              <a:rPr lang="zh-CN" altLang="en-US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</a:t>
            </a:r>
            <a:r>
              <a:rPr lang="zh-CN" altLang="en-US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15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870937" y="2371056"/>
            <a:ext cx="1412447" cy="17842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n=int(input</a:t>
            </a: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())</a:t>
            </a:r>
            <a:endParaRPr lang="zh-CN" altLang="zh-CN" sz="15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while n!=0</a:t>
            </a: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endParaRPr lang="zh-CN" altLang="zh-CN" sz="15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k=n%10</a:t>
            </a:r>
          </a:p>
          <a:p>
            <a:pPr>
              <a:lnSpc>
                <a:spcPct val="150000"/>
              </a:lnSpc>
            </a:pPr>
            <a:r>
              <a:rPr lang="en-US" altLang="zh-CN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print(k)</a:t>
            </a:r>
            <a:endParaRPr lang="zh-CN" altLang="zh-CN" sz="15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</a:t>
            </a:r>
            <a:r>
              <a:rPr lang="en-US" altLang="zh-CN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</a:t>
            </a:r>
            <a:r>
              <a:rPr lang="en-US" altLang="zh-CN" sz="15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//=10</a:t>
            </a:r>
            <a:endParaRPr lang="zh-CN" altLang="zh-CN" sz="15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6388" y="2702393"/>
            <a:ext cx="418109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57175"/>
            <a:r>
              <a:rPr lang="zh-CN" altLang="zh-CN" sz="1350" dirty="0">
                <a:solidFill>
                  <a:srgbClr val="1717B7"/>
                </a:solidFill>
              </a:rPr>
              <a:t>分析：</a:t>
            </a:r>
            <a:endParaRPr lang="en-US" altLang="zh-CN" sz="1350" dirty="0">
              <a:solidFill>
                <a:srgbClr val="1717B7"/>
              </a:solidFill>
            </a:endParaRPr>
          </a:p>
          <a:p>
            <a:pPr marL="214313" indent="-2143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zh-CN" sz="1350" dirty="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输入的整数存入变量</a:t>
            </a:r>
            <a:r>
              <a:rPr lang="en-US" altLang="zh-CN" sz="1350" dirty="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</a:t>
            </a:r>
            <a:r>
              <a:rPr lang="zh-CN" altLang="zh-CN" sz="1350" dirty="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中，用</a:t>
            </a:r>
            <a:r>
              <a:rPr lang="zh-CN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变量</a:t>
            </a:r>
            <a:r>
              <a:rPr lang="en-US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zh-CN" altLang="en-US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保存</a:t>
            </a:r>
            <a:r>
              <a:rPr lang="en-US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</a:t>
            </a:r>
            <a:r>
              <a:rPr lang="zh-CN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zh-CN" altLang="en-US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各</a:t>
            </a:r>
            <a:r>
              <a:rPr lang="zh-CN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位数</a:t>
            </a:r>
            <a:endParaRPr lang="en-US" altLang="zh-CN" sz="1350">
              <a:solidFill>
                <a:srgbClr val="1717B7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14313" indent="-2143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基本思路是</a:t>
            </a:r>
            <a:r>
              <a:rPr lang="zh-CN" altLang="en-US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350">
              <a:solidFill>
                <a:srgbClr val="1717B7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57213" lvl="1" indent="-214313">
              <a:lnSpc>
                <a:spcPct val="200000"/>
              </a:lnSpc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zh-CN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每</a:t>
            </a:r>
            <a:r>
              <a:rPr lang="zh-CN" altLang="en-US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</a:t>
            </a:r>
            <a:r>
              <a:rPr lang="zh-CN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循环</a:t>
            </a:r>
            <a:r>
              <a:rPr lang="zh-CN" altLang="en-US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取出最低位，并输出</a:t>
            </a:r>
            <a:endParaRPr lang="en-US" altLang="zh-CN" sz="1350">
              <a:solidFill>
                <a:srgbClr val="1717B7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57213" lvl="1" indent="-214313">
              <a:lnSpc>
                <a:spcPct val="200000"/>
              </a:lnSpc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zh-CN" altLang="en-US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去</a:t>
            </a:r>
            <a:r>
              <a:rPr lang="zh-CN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掉</a:t>
            </a:r>
            <a:r>
              <a:rPr lang="en-US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</a:t>
            </a:r>
            <a:r>
              <a:rPr lang="zh-CN" altLang="zh-CN" sz="135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的最低位数字</a:t>
            </a:r>
            <a:endParaRPr lang="en-US" altLang="zh-CN" sz="1350">
              <a:solidFill>
                <a:srgbClr val="1717B7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57213" lvl="1" indent="-214313">
              <a:lnSpc>
                <a:spcPct val="200000"/>
              </a:lnSpc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zh-CN" altLang="zh-CN" sz="135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直到</a:t>
            </a:r>
            <a:r>
              <a:rPr lang="en-US" altLang="zh-CN" sz="135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</a:t>
            </a:r>
            <a:r>
              <a:rPr lang="zh-CN" altLang="zh-CN" sz="135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</a:t>
            </a:r>
            <a:r>
              <a:rPr lang="en-US" altLang="zh-CN" sz="135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</a:t>
            </a:r>
            <a:r>
              <a:rPr lang="zh-CN" altLang="zh-CN" sz="1350" dirty="0">
                <a:solidFill>
                  <a:srgbClr val="1717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1350" dirty="0">
              <a:solidFill>
                <a:srgbClr val="1717B7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indent="257175"/>
            <a:endParaRPr lang="zh-CN" altLang="zh-CN" sz="1350" dirty="0">
              <a:solidFill>
                <a:srgbClr val="1717B7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41640" y="3539141"/>
            <a:ext cx="1989968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CN" sz="405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n=12345</a:t>
            </a:r>
            <a:endParaRPr lang="zh-CN" altLang="en-US" sz="405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58647" y="4224419"/>
            <a:ext cx="491160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CN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K=5</a:t>
            </a:r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8124312" y="3606881"/>
            <a:ext cx="249053" cy="56065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754205" y="3283523"/>
            <a:ext cx="491160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CN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K=4</a:t>
            </a:r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7875259" y="3605062"/>
            <a:ext cx="249053" cy="56065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513593" y="4216706"/>
            <a:ext cx="491160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CN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K=3</a:t>
            </a:r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7612432" y="3600482"/>
            <a:ext cx="249053" cy="56065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209798" y="3301450"/>
            <a:ext cx="491160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CN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K=2</a:t>
            </a:r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H="1">
            <a:off x="7312098" y="3598886"/>
            <a:ext cx="249053" cy="56065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6952362" y="4224419"/>
            <a:ext cx="491160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CN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K=1</a:t>
            </a:r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7039364" y="3598886"/>
            <a:ext cx="249053" cy="56065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913157" y="1992988"/>
            <a:ext cx="1215718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21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方法一：</a:t>
            </a:r>
          </a:p>
        </p:txBody>
      </p:sp>
      <p:sp>
        <p:nvSpPr>
          <p:cNvPr id="22" name="矩形 21"/>
          <p:cNvSpPr/>
          <p:nvPr/>
        </p:nvSpPr>
        <p:spPr>
          <a:xfrm>
            <a:off x="4770657" y="4701823"/>
            <a:ext cx="310084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21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方法二：字符串章节学习</a:t>
            </a:r>
          </a:p>
        </p:txBody>
      </p:sp>
    </p:spTree>
    <p:extLst>
      <p:ext uri="{BB962C8B-B14F-4D97-AF65-F5344CB8AC3E}">
        <p14:creationId xmlns:p14="http://schemas.microsoft.com/office/powerpoint/2010/main" val="401928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2" grpId="0"/>
      <p:bldP spid="14" grpId="0"/>
      <p:bldP spid="16" grpId="0"/>
      <p:bldP spid="18" grpId="0"/>
      <p:bldP spid="8" grpId="0"/>
      <p:bldP spid="2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2430</TotalTime>
  <Words>4026</Words>
  <Application>Microsoft Office PowerPoint</Application>
  <PresentationFormat>全屏显示(4:3)</PresentationFormat>
  <Paragraphs>621</Paragraphs>
  <Slides>43</Slides>
  <Notes>2</Notes>
  <HiddenSlides>2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6" baseType="lpstr">
      <vt:lpstr>等线</vt:lpstr>
      <vt:lpstr>等线 Light</vt:lpstr>
      <vt:lpstr>黑体</vt:lpstr>
      <vt:lpstr>宋体</vt:lpstr>
      <vt:lpstr>微软雅黑</vt:lpstr>
      <vt:lpstr>微软雅黑</vt:lpstr>
      <vt:lpstr>微软雅黑 Light</vt:lpstr>
      <vt:lpstr>Arial</vt:lpstr>
      <vt:lpstr>Calibri</vt:lpstr>
      <vt:lpstr>Calibri Light</vt:lpstr>
      <vt:lpstr>Consolas</vt:lpstr>
      <vt:lpstr>Wingdings</vt:lpstr>
      <vt:lpstr>1_Office 主题</vt:lpstr>
      <vt:lpstr>4.2  for循环结构</vt:lpstr>
      <vt:lpstr>案例：遍历列表，打印列表中所有元素</vt:lpstr>
      <vt:lpstr>2．range()函数</vt:lpstr>
      <vt:lpstr>range对象在for循环中的应用</vt:lpstr>
      <vt:lpstr>PowerPoint 演示文稿</vt:lpstr>
      <vt:lpstr>累加求和问题</vt:lpstr>
      <vt:lpstr>PowerPoint 演示文稿</vt:lpstr>
      <vt:lpstr>PowerPoint 演示文稿</vt:lpstr>
      <vt:lpstr>4.3  循环控制语句：</vt:lpstr>
      <vt:lpstr>PowerPoint 演示文稿</vt:lpstr>
      <vt:lpstr>PowerPoint 演示文稿</vt:lpstr>
      <vt:lpstr>PowerPoint 演示文稿</vt:lpstr>
      <vt:lpstr>break示例</vt:lpstr>
      <vt:lpstr>continue语句</vt:lpstr>
      <vt:lpstr>continue示例</vt:lpstr>
      <vt:lpstr>例4-8 求1～100之间的全部奇数之和。</vt:lpstr>
      <vt:lpstr>4.3  循环控制语句：</vt:lpstr>
      <vt:lpstr> 穷举法 </vt:lpstr>
      <vt:lpstr>PowerPoint 演示文稿</vt:lpstr>
      <vt:lpstr>PowerPoint 演示文稿</vt:lpstr>
      <vt:lpstr>PowerPoint 演示文稿</vt:lpstr>
      <vt:lpstr>例4-7 求两个整数a与b的最大公约数。</vt:lpstr>
      <vt:lpstr>例4-7 求两个整数a与b的最大公约数。</vt:lpstr>
      <vt:lpstr>例4-7 求两个整数a与b的最大公约数。</vt:lpstr>
      <vt:lpstr>编程方法：乘法因子题</vt:lpstr>
      <vt:lpstr>PowerPoint 演示文稿</vt:lpstr>
      <vt:lpstr>问题提出</vt:lpstr>
      <vt:lpstr>PowerPoint 演示文稿</vt:lpstr>
      <vt:lpstr>素数问题</vt:lpstr>
      <vt:lpstr>算法描述：</vt:lpstr>
      <vt:lpstr>m是否素数：检查2~m-1之间的整数i</vt:lpstr>
      <vt:lpstr>例4-6：输入一个整数m，判断是否为素数。 </vt:lpstr>
      <vt:lpstr>例4-6：输入一个整数m，判断是否为素数。</vt:lpstr>
      <vt:lpstr>例4-6：输入一个整数m，判断是否为素数。 </vt:lpstr>
      <vt:lpstr>例4-6：输入一个整数m，判断是否为素数。 </vt:lpstr>
      <vt:lpstr>for实现与while实现比较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通过整除运算求整数的位数</vt:lpstr>
      <vt:lpstr>输出整数的各位数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 程序控制结构</dc:title>
  <dc:creator>Dong</dc:creator>
  <cp:lastModifiedBy>cyj</cp:lastModifiedBy>
  <cp:revision>470</cp:revision>
  <dcterms:created xsi:type="dcterms:W3CDTF">2015-05-05T08:02:00Z</dcterms:created>
  <dcterms:modified xsi:type="dcterms:W3CDTF">2024-10-29T16:14:08Z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