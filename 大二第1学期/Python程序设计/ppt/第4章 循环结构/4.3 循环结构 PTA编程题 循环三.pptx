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65" r:id="rId6"/>
    <p:sldId id="266" r:id="rId7"/>
    <p:sldId id="268" r:id="rId8"/>
    <p:sldId id="267" r:id="rId9"/>
    <p:sldId id="259" r:id="rId10"/>
    <p:sldId id="270" r:id="rId11"/>
    <p:sldId id="260" r:id="rId12"/>
    <p:sldId id="261" r:id="rId13"/>
    <p:sldId id="262" r:id="rId14"/>
    <p:sldId id="263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1" d="100"/>
          <a:sy n="61" d="100"/>
        </p:scale>
        <p:origin x="90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D793-5549-4B4D-89DE-3E279AAF4649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07EE-0713-4615-92D5-004756ACA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474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D793-5549-4B4D-89DE-3E279AAF4649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07EE-0713-4615-92D5-004756ACA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99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D793-5549-4B4D-89DE-3E279AAF4649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07EE-0713-4615-92D5-004756ACA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915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D793-5549-4B4D-89DE-3E279AAF4649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07EE-0713-4615-92D5-004756ACA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040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D793-5549-4B4D-89DE-3E279AAF4649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07EE-0713-4615-92D5-004756ACA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517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D793-5549-4B4D-89DE-3E279AAF4649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07EE-0713-4615-92D5-004756ACA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19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D793-5549-4B4D-89DE-3E279AAF4649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07EE-0713-4615-92D5-004756ACA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585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D793-5549-4B4D-89DE-3E279AAF4649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07EE-0713-4615-92D5-004756ACA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5708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D793-5549-4B4D-89DE-3E279AAF4649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07EE-0713-4615-92D5-004756ACA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168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D793-5549-4B4D-89DE-3E279AAF4649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07EE-0713-4615-92D5-004756ACA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801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D793-5549-4B4D-89DE-3E279AAF4649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07EE-0713-4615-92D5-004756ACA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851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FD793-5549-4B4D-89DE-3E279AAF4649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E07EE-0713-4615-92D5-004756ACA9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88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PTA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循环三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539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4654" y="715819"/>
            <a:ext cx="38747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7-1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九九乘法表 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(10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74654" y="1361000"/>
            <a:ext cx="4470773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，输出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行九九乘法表</a:t>
            </a:r>
          </a:p>
          <a:p>
            <a:endPara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输入行数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</a:p>
          <a:p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行乘法表，其中公式中的数以默认数值格式输出，每个公式后加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个空格（即，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end=' '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endParaRPr lang="zh-CN" altLang="en-US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输出样例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 * 1 = 1   </a:t>
            </a: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 * 1 = 2   2 * 2 = 4   </a:t>
            </a: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 * 1 = 3   3 * 2 = 6   3 * 3 = 9 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545960" y="826145"/>
            <a:ext cx="25218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= 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(input())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45960" y="1361000"/>
            <a:ext cx="4394152" cy="3416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 range(1, n+1): 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#n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endParaRPr lang="en-US" altLang="zh-CN" sz="24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行输出 </a:t>
            </a:r>
            <a:r>
              <a:rPr lang="en-US" altLang="zh-CN" sz="24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公式</a:t>
            </a:r>
            <a:endParaRPr lang="en-US" altLang="zh-CN" sz="24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sz="24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sz="24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#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换行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463048" y="2143261"/>
            <a:ext cx="447186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j in range(1, i+1): </a:t>
            </a:r>
            <a:endParaRPr lang="en-US" altLang="zh-CN" sz="2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('{} * {} = {}'.format(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j, 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*j), end = '   '   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463048" y="4388845"/>
            <a:ext cx="1179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10372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654" y="1480271"/>
            <a:ext cx="8853093" cy="203420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174654" y="715819"/>
            <a:ext cx="38747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7-1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九九乘法表 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(10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2777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41236" y="517036"/>
            <a:ext cx="30460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7-2 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规则菱形图案</a:t>
            </a:r>
          </a:p>
        </p:txBody>
      </p:sp>
      <p:sp>
        <p:nvSpPr>
          <p:cNvPr id="2" name="矩形 1"/>
          <p:cNvSpPr/>
          <p:nvPr/>
        </p:nvSpPr>
        <p:spPr>
          <a:xfrm>
            <a:off x="588580" y="1429094"/>
            <a:ext cx="562303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输入一个正整数</a:t>
            </a:r>
            <a:r>
              <a:rPr lang="en-US" altLang="zh-CN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，输出菱形图案。</a:t>
            </a:r>
          </a:p>
          <a:p>
            <a:endParaRPr lang="en-US" altLang="zh-CN" sz="2400" dirty="0" smtClean="0">
              <a:solidFill>
                <a:srgbClr val="2125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r>
              <a:rPr lang="en-US" altLang="zh-CN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不超过</a:t>
            </a:r>
            <a:r>
              <a:rPr lang="en-US" altLang="zh-CN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的正整数</a:t>
            </a:r>
            <a:r>
              <a:rPr lang="en-US" altLang="zh-CN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endParaRPr lang="en-US" altLang="zh-CN" sz="2400" dirty="0" smtClean="0">
              <a:solidFill>
                <a:srgbClr val="2125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r>
              <a:rPr lang="en-US" altLang="zh-CN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2n-1</a:t>
            </a:r>
            <a:r>
              <a:rPr lang="zh-CN" altLang="en-US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行星号*，形成一个菱形，规则见样例。</a:t>
            </a:r>
            <a:endParaRPr lang="zh-CN" altLang="en-US" sz="2400" b="0" i="0" dirty="0">
              <a:solidFill>
                <a:srgbClr val="21252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545960" y="826145"/>
            <a:ext cx="25218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= 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(input())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98360" y="3820421"/>
            <a:ext cx="4373313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 range(1, 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n): 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endParaRPr lang="en-US" altLang="zh-CN" sz="24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#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每行输出 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个空格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行输出 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个*号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698360" y="1513400"/>
            <a:ext cx="439415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 range(1, n+1): 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#n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endParaRPr lang="en-US" altLang="zh-CN" sz="24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#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每行输出 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个空格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行输出 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个*号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586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规则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菱形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A0DE2E1-EB35-4441-87FE-3E117E975C2C}" type="datetime1">
              <a:rPr lang="zh-CN" altLang="en-US" smtClean="0"/>
              <a:t>2020/10/28</a:t>
            </a:fld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D730B2-896E-4EF5-B6D1-A6FD092D53BF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4007768" y="1416422"/>
            <a:ext cx="7154218" cy="3539430"/>
          </a:xfrm>
          <a:prstGeom prst="rect">
            <a:avLst/>
          </a:prstGeom>
          <a:ln>
            <a:solidFill>
              <a:srgbClr val="CCEC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= </a:t>
            </a:r>
            <a:r>
              <a:rPr lang="en-US" altLang="zh-CN" sz="2800" b="1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())  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行数</a:t>
            </a:r>
          </a:p>
          <a:p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  </a:t>
            </a:r>
            <a:r>
              <a:rPr lang="en-US" altLang="zh-CN" sz="2800" b="1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range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(1, n+1): </a:t>
            </a:r>
          </a:p>
          <a:p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</a:t>
            </a:r>
            <a:r>
              <a:rPr lang="en-US" altLang="zh-CN" sz="28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 '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*(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)+</a:t>
            </a:r>
            <a:r>
              <a:rPr lang="en-US" altLang="zh-CN" sz="28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'*'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(2*i-1)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  </a:t>
            </a:r>
            <a:r>
              <a:rPr lang="en-US" altLang="zh-CN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range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(1, 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n): 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8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 '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800" b="1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sz="28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'*'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*(n-</a:t>
            </a:r>
            <a:r>
              <a:rPr lang="en-US" altLang="zh-CN" sz="2800" b="1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)-1)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1268760"/>
            <a:ext cx="2314575" cy="4067175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>
            <a:off x="263352" y="3573016"/>
            <a:ext cx="3191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2924151" y="2535992"/>
            <a:ext cx="1083617" cy="43204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2855640" y="3915890"/>
            <a:ext cx="1083617" cy="432048"/>
          </a:xfrm>
          <a:prstGeom prst="straightConnector1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线形标注 1 6"/>
          <p:cNvSpPr/>
          <p:nvPr/>
        </p:nvSpPr>
        <p:spPr>
          <a:xfrm>
            <a:off x="9581321" y="624704"/>
            <a:ext cx="1963973" cy="909898"/>
          </a:xfrm>
          <a:prstGeom prst="borderCallout1">
            <a:avLst>
              <a:gd name="adj1" fmla="val 18750"/>
              <a:gd name="adj2" fmla="val -8333"/>
              <a:gd name="adj3" fmla="val 237299"/>
              <a:gd name="adj4" fmla="val -180355"/>
            </a:avLst>
          </a:prstGeom>
          <a:noFill/>
          <a:ln w="22225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字符串重复运算符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线形标注 1 13"/>
          <p:cNvSpPr/>
          <p:nvPr/>
        </p:nvSpPr>
        <p:spPr>
          <a:xfrm>
            <a:off x="9581321" y="1721954"/>
            <a:ext cx="1963973" cy="909898"/>
          </a:xfrm>
          <a:prstGeom prst="borderCallout1">
            <a:avLst>
              <a:gd name="adj1" fmla="val 18750"/>
              <a:gd name="adj2" fmla="val -8333"/>
              <a:gd name="adj3" fmla="val 120055"/>
              <a:gd name="adj4" fmla="val -132884"/>
            </a:avLst>
          </a:prstGeom>
          <a:noFill/>
          <a:ln w="22225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字符串连接运算符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8076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19237" y="823863"/>
            <a:ext cx="27943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7-3 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空心三角形 </a:t>
            </a:r>
          </a:p>
        </p:txBody>
      </p:sp>
      <p:sp>
        <p:nvSpPr>
          <p:cNvPr id="5" name="矩形 4"/>
          <p:cNvSpPr/>
          <p:nvPr/>
        </p:nvSpPr>
        <p:spPr>
          <a:xfrm>
            <a:off x="1019237" y="2097316"/>
            <a:ext cx="4954843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输入格式</a:t>
            </a:r>
            <a:r>
              <a:rPr lang="en-US" altLang="zh-CN" sz="32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32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输入一个大写字符</a:t>
            </a:r>
          </a:p>
          <a:p>
            <a:endParaRPr lang="en-US" altLang="zh-CN" sz="3200" dirty="0" smtClean="0">
              <a:solidFill>
                <a:srgbClr val="2125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dirty="0" smtClean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32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r>
              <a:rPr lang="en-US" altLang="zh-CN" sz="32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32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输出如下图的空心正三角形，第一行的</a:t>
            </a:r>
            <a:r>
              <a:rPr lang="en-US" altLang="zh-CN" sz="32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32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输出在第</a:t>
            </a:r>
            <a:r>
              <a:rPr lang="en-US" altLang="zh-CN" sz="32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zh-CN" altLang="en-US" sz="32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  <a:endParaRPr lang="zh-CN" altLang="en-US" sz="3200" b="0" i="0" dirty="0">
              <a:solidFill>
                <a:srgbClr val="21252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439823" y="977751"/>
            <a:ext cx="18229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= input()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439823" y="2297371"/>
            <a:ext cx="4394152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 range(1, n+1): 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#n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endParaRPr lang="en-US" altLang="zh-CN" sz="24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#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每行输出 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个空格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行输出 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个字符</a:t>
            </a:r>
            <a:endParaRPr lang="en-US" altLang="zh-CN" sz="24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439823" y="1683727"/>
            <a:ext cx="42437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= 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ord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(c) - 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ord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('A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')  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行数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59041" y="2660291"/>
            <a:ext cx="10294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(40-i)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712215" y="4388342"/>
            <a:ext cx="31230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chr</a:t>
            </a:r>
            <a:r>
              <a:rPr lang="en-US" altLang="zh-CN" sz="24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b="1" dirty="0" err="1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ord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('A') + </a:t>
            </a:r>
            <a:r>
              <a:rPr lang="en-US" altLang="zh-CN" sz="24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- 1)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2799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08842" y="1149891"/>
            <a:ext cx="9075682" cy="526297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= input()</a:t>
            </a: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=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ord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(c) -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ord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('A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</a:p>
          <a:p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 range(1, n + 1 + 1):</a:t>
            </a: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ch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chr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ord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('A') +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- 1)</a:t>
            </a: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print(' '* (40-i), end = '')</a:t>
            </a:r>
          </a:p>
          <a:p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== 1 or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== n+1:</a:t>
            </a: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print(</a:t>
            </a:r>
            <a:r>
              <a:rPr lang="en-US" altLang="zh-CN" sz="28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* (2*i-1)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else:</a:t>
            </a: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print(</a:t>
            </a: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ch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en-US" altLang="zh-CN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 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'* (2*i-1-2</a:t>
            </a:r>
            <a:r>
              <a:rPr lang="en-US" altLang="zh-CN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ch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1395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b="1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ord</a:t>
            </a:r>
            <a:r>
              <a:rPr lang="en-US" altLang="zh-CN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(), </a:t>
            </a:r>
            <a:r>
              <a:rPr lang="en-US" altLang="zh-CN" sz="2400" b="1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chr</a:t>
            </a:r>
            <a:r>
              <a:rPr lang="en-US" altLang="zh-CN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 </a:t>
            </a:r>
          </a:p>
          <a:p>
            <a:pPr lvl="1"/>
            <a:r>
              <a:rPr lang="en-US" altLang="zh-CN" sz="24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ord</a:t>
            </a: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ch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返回一个字符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ASCII/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nicode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</a:p>
          <a:p>
            <a:pPr lvl="1"/>
            <a:r>
              <a:rPr lang="en-US" altLang="zh-CN" sz="24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chr</a:t>
            </a: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num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则用来返回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Unicode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编码对应的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字符，注意</a:t>
            </a:r>
            <a:r>
              <a:rPr lang="en-US" altLang="zh-CN" sz="2400" b="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num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只能为正整数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字符串转换的内置函数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38200" y="3254427"/>
            <a:ext cx="10314530" cy="2759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sz="2000" dirty="0">
                <a:latin typeface="Consolas" panose="020B0609020204030204" pitchFamily="49" charset="0"/>
              </a:rPr>
              <a:t>&gt;&gt;&gt; </a:t>
            </a:r>
            <a:r>
              <a:rPr lang="en-US" altLang="zh-CN" sz="2000" dirty="0" err="1">
                <a:latin typeface="Consolas" panose="020B0609020204030204" pitchFamily="49" charset="0"/>
              </a:rPr>
              <a:t>ord</a:t>
            </a:r>
            <a:r>
              <a:rPr lang="en-US" altLang="zh-CN" sz="2000" dirty="0">
                <a:latin typeface="Consolas" panose="020B0609020204030204" pitchFamily="49" charset="0"/>
              </a:rPr>
              <a:t>('a'), </a:t>
            </a:r>
            <a:r>
              <a:rPr lang="en-US" altLang="zh-CN" sz="2000" dirty="0" err="1">
                <a:latin typeface="Consolas" panose="020B0609020204030204" pitchFamily="49" charset="0"/>
              </a:rPr>
              <a:t>ord</a:t>
            </a:r>
            <a:r>
              <a:rPr lang="en-US" altLang="zh-CN" sz="2000" dirty="0">
                <a:latin typeface="Consolas" panose="020B0609020204030204" pitchFamily="49" charset="0"/>
              </a:rPr>
              <a:t>('A')</a:t>
            </a:r>
          </a:p>
          <a:p>
            <a:pPr>
              <a:lnSpc>
                <a:spcPts val="26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(97, 65)</a:t>
            </a:r>
          </a:p>
          <a:p>
            <a:pPr>
              <a:lnSpc>
                <a:spcPts val="2600"/>
              </a:lnSpc>
            </a:pPr>
            <a:r>
              <a:rPr lang="en-US" altLang="zh-CN" sz="2000" dirty="0">
                <a:latin typeface="Consolas" panose="020B0609020204030204" pitchFamily="49" charset="0"/>
              </a:rPr>
              <a:t>&gt;&gt;&gt; </a:t>
            </a:r>
            <a:r>
              <a:rPr lang="en-US" altLang="zh-CN" sz="2000" dirty="0" err="1">
                <a:latin typeface="Consolas" panose="020B0609020204030204" pitchFamily="49" charset="0"/>
              </a:rPr>
              <a:t>chr</a:t>
            </a:r>
            <a:r>
              <a:rPr lang="en-US" altLang="zh-CN" sz="2000" dirty="0">
                <a:latin typeface="Consolas" panose="020B0609020204030204" pitchFamily="49" charset="0"/>
              </a:rPr>
              <a:t>(97),</a:t>
            </a:r>
            <a:r>
              <a:rPr lang="en-US" altLang="zh-CN" sz="2000" dirty="0" err="1">
                <a:latin typeface="Consolas" panose="020B0609020204030204" pitchFamily="49" charset="0"/>
              </a:rPr>
              <a:t>chr</a:t>
            </a:r>
            <a:r>
              <a:rPr lang="en-US" altLang="zh-CN" sz="2000" dirty="0">
                <a:latin typeface="Consolas" panose="020B0609020204030204" pitchFamily="49" charset="0"/>
              </a:rPr>
              <a:t>(65)</a:t>
            </a:r>
          </a:p>
          <a:p>
            <a:pPr>
              <a:lnSpc>
                <a:spcPts val="26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('a', 'A')</a:t>
            </a:r>
          </a:p>
          <a:p>
            <a:pPr>
              <a:lnSpc>
                <a:spcPts val="2600"/>
              </a:lnSpc>
            </a:pPr>
            <a:r>
              <a:rPr lang="en-US" altLang="zh-CN" sz="2000" dirty="0">
                <a:latin typeface="Consolas" panose="020B0609020204030204" pitchFamily="49" charset="0"/>
              </a:rPr>
              <a:t>&gt;&gt;&gt; </a:t>
            </a:r>
            <a:r>
              <a:rPr lang="en-US" altLang="zh-CN" sz="2000" dirty="0" err="1">
                <a:latin typeface="Consolas" panose="020B0609020204030204" pitchFamily="49" charset="0"/>
              </a:rPr>
              <a:t>chr</a:t>
            </a:r>
            <a:r>
              <a:rPr lang="en-US" altLang="zh-CN" sz="2000" dirty="0">
                <a:latin typeface="Consolas" panose="020B0609020204030204" pitchFamily="49" charset="0"/>
              </a:rPr>
              <a:t>(98),</a:t>
            </a:r>
            <a:r>
              <a:rPr lang="en-US" altLang="zh-CN" sz="2000" dirty="0" err="1">
                <a:latin typeface="Consolas" panose="020B0609020204030204" pitchFamily="49" charset="0"/>
              </a:rPr>
              <a:t>chr</a:t>
            </a:r>
            <a:r>
              <a:rPr lang="en-US" altLang="zh-CN" sz="2000" dirty="0">
                <a:latin typeface="Consolas" panose="020B0609020204030204" pitchFamily="49" charset="0"/>
              </a:rPr>
              <a:t>(66)</a:t>
            </a:r>
          </a:p>
          <a:p>
            <a:pPr>
              <a:lnSpc>
                <a:spcPts val="26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('b', 'B')</a:t>
            </a:r>
          </a:p>
          <a:p>
            <a:pPr>
              <a:lnSpc>
                <a:spcPts val="2600"/>
              </a:lnSpc>
            </a:pPr>
            <a:r>
              <a:rPr lang="en-US" altLang="zh-CN" sz="2000" dirty="0">
                <a:latin typeface="Consolas" panose="020B0609020204030204" pitchFamily="49" charset="0"/>
              </a:rPr>
              <a:t>&gt;&gt;&gt; </a:t>
            </a:r>
            <a:r>
              <a:rPr lang="en-US" altLang="zh-CN" sz="2000" dirty="0" err="1">
                <a:latin typeface="Consolas" panose="020B0609020204030204" pitchFamily="49" charset="0"/>
              </a:rPr>
              <a:t>ord</a:t>
            </a:r>
            <a:r>
              <a:rPr lang="en-US" altLang="zh-CN" sz="2000" dirty="0">
                <a:latin typeface="Consolas" panose="020B0609020204030204" pitchFamily="49" charset="0"/>
              </a:rPr>
              <a:t>('</a:t>
            </a:r>
            <a:r>
              <a:rPr lang="zh-CN" altLang="en-US" sz="2000" dirty="0">
                <a:latin typeface="Consolas" panose="020B0609020204030204" pitchFamily="49" charset="0"/>
              </a:rPr>
              <a:t>国</a:t>
            </a:r>
            <a:r>
              <a:rPr lang="en-US" altLang="zh-CN" sz="2000" dirty="0">
                <a:latin typeface="Consolas" panose="020B0609020204030204" pitchFamily="49" charset="0"/>
              </a:rPr>
              <a:t>'),</a:t>
            </a:r>
            <a:r>
              <a:rPr lang="en-US" altLang="zh-CN" sz="2000" dirty="0" err="1">
                <a:latin typeface="Consolas" panose="020B0609020204030204" pitchFamily="49" charset="0"/>
              </a:rPr>
              <a:t>chr</a:t>
            </a:r>
            <a:r>
              <a:rPr lang="en-US" altLang="zh-CN" sz="2000" dirty="0">
                <a:latin typeface="Consolas" panose="020B0609020204030204" pitchFamily="49" charset="0"/>
              </a:rPr>
              <a:t>(22269)</a:t>
            </a:r>
          </a:p>
          <a:p>
            <a:pPr>
              <a:lnSpc>
                <a:spcPts val="26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(22269, '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国</a:t>
            </a:r>
            <a:r>
              <a:rPr lang="en-US" altLang="zh-CN" sz="2000" b="1" dirty="0" smtClean="0">
                <a:solidFill>
                  <a:srgbClr val="C00000"/>
                </a:solidFill>
                <a:latin typeface="Consolas" panose="020B0609020204030204" pitchFamily="49" charset="0"/>
              </a:rPr>
              <a:t>')</a:t>
            </a:r>
            <a:endParaRPr lang="en-US" altLang="zh-CN" sz="2000" b="1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176122" y="3254427"/>
            <a:ext cx="5677384" cy="44267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求字母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unicode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，大小写编码不同</a:t>
            </a:r>
            <a:endParaRPr lang="zh-CN" altLang="en-US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5176122" y="3870621"/>
            <a:ext cx="5677384" cy="44267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求编码为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97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65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的字符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5176122" y="4504394"/>
            <a:ext cx="5677384" cy="44267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英文字母是根据字母表的顺序递增编码的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5176122" y="5138167"/>
            <a:ext cx="5677384" cy="44267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ord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chr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同样可用于中文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5176122" y="5771940"/>
            <a:ext cx="5677384" cy="44267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ord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的参数只能有一个字符</a:t>
            </a:r>
          </a:p>
        </p:txBody>
      </p:sp>
    </p:spTree>
    <p:extLst>
      <p:ext uri="{BB962C8B-B14F-4D97-AF65-F5344CB8AC3E}">
        <p14:creationId xmlns:p14="http://schemas.microsoft.com/office/powerpoint/2010/main" val="883064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25937" y="540891"/>
            <a:ext cx="48413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7-4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输出指定范围的所有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素数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052" y="1341078"/>
            <a:ext cx="5973095" cy="526645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40765" y="2250219"/>
            <a:ext cx="1957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已输出的素数个数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88533" y="2875991"/>
            <a:ext cx="2858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循环，指定范围 </a:t>
            </a:r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[n, m+1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88533" y="3224796"/>
            <a:ext cx="27192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标记</a:t>
            </a:r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flag 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假定当前</a:t>
            </a:r>
            <a:r>
              <a:rPr lang="en-US" altLang="zh-CN" sz="1600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是素数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06424" y="3523047"/>
            <a:ext cx="35381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</a:t>
            </a:r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[2, 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根号</a:t>
            </a:r>
            <a:r>
              <a:rPr lang="en-US" altLang="zh-CN" sz="1600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之间是否存在</a:t>
            </a:r>
            <a:r>
              <a:rPr lang="en-US" altLang="zh-CN" sz="1600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的因子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006424" y="3890673"/>
            <a:ext cx="2483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j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1600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的因子</a:t>
            </a:r>
            <a:endParaRPr lang="en-US" altLang="zh-CN" sz="16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en-US" altLang="zh-CN" sz="1600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不是素数，改变标记，</a:t>
            </a:r>
            <a:endParaRPr lang="en-US" altLang="zh-CN" sz="16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提早结束当前循环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006424" y="4768279"/>
            <a:ext cx="41456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flag 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为真，表示内循环结束未找到</a:t>
            </a:r>
            <a:r>
              <a:rPr lang="en-US" altLang="zh-CN" sz="1600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的因子</a:t>
            </a:r>
            <a:endParaRPr lang="en-US" altLang="zh-CN" sz="16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输出素数 </a:t>
            </a:r>
            <a:r>
              <a:rPr lang="en-US" altLang="zh-CN" sz="1600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，后跟空格</a:t>
            </a:r>
            <a:endParaRPr lang="en-US" altLang="zh-CN" sz="16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计数加</a:t>
            </a:r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006424" y="5618480"/>
            <a:ext cx="1933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计数每</a:t>
            </a:r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个，换行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768454" y="532944"/>
            <a:ext cx="26789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方法一：用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flag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3657600" y="5017273"/>
            <a:ext cx="571999" cy="0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225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13574" y="451664"/>
            <a:ext cx="31502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：不用</a:t>
            </a:r>
            <a:r>
              <a:rPr lang="en-US" altLang="zh-CN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flag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13574" y="1162625"/>
            <a:ext cx="6586106" cy="5632311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import math</a:t>
            </a: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n,m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map(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input().split())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count = 0</a:t>
            </a: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 range(n, m+1):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j in range(2,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math.sqrt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))+1):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4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% j == 0:</a:t>
            </a: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4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print(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end = ' ')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count += 1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4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count % 5 == 0: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print()</a:t>
            </a:r>
          </a:p>
        </p:txBody>
      </p:sp>
      <p:sp>
        <p:nvSpPr>
          <p:cNvPr id="4" name="矩形 3"/>
          <p:cNvSpPr/>
          <p:nvPr/>
        </p:nvSpPr>
        <p:spPr>
          <a:xfrm>
            <a:off x="8087360" y="1225689"/>
            <a:ext cx="33324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1 100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1 2 3 5 7 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11 13 17 19 23 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29 31 37 41 43 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47 53 59 61 67 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71 73 79 83 89 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97 </a:t>
            </a: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090949" y="4321294"/>
            <a:ext cx="2146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212529"/>
                </a:solidFill>
                <a:latin typeface="-apple-system"/>
              </a:rPr>
              <a:t>注意，</a:t>
            </a:r>
            <a:r>
              <a:rPr lang="en-US" altLang="zh-CN" dirty="0">
                <a:solidFill>
                  <a:srgbClr val="212529"/>
                </a:solidFill>
                <a:latin typeface="-apple-system"/>
              </a:rPr>
              <a:t>1</a:t>
            </a:r>
            <a:r>
              <a:rPr lang="zh-CN" altLang="en-US" dirty="0">
                <a:solidFill>
                  <a:srgbClr val="212529"/>
                </a:solidFill>
                <a:latin typeface="-apple-system"/>
              </a:rPr>
              <a:t>不是素数。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013574" y="2716014"/>
            <a:ext cx="16706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n==1:n=2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838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392513" y="646791"/>
            <a:ext cx="19688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7-5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换硬币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512" y="1440508"/>
            <a:ext cx="9208305" cy="441812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539420" y="2557716"/>
            <a:ext cx="2573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从大到小的顺序进行遍历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14247" y="4425627"/>
            <a:ext cx="13436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 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表示续行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6372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98383" y="755576"/>
            <a:ext cx="38715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7-6 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输出满足公式的数 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383" y="1884500"/>
            <a:ext cx="4865635" cy="236149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800516" y="3392604"/>
            <a:ext cx="3911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满足条件</a:t>
            </a:r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AB-BA=9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，注意相等 </a:t>
            </a:r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==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95758" y="2256893"/>
            <a:ext cx="16930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遍历范围</a:t>
            </a:r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[0, n]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95758" y="2646211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A : </a:t>
            </a:r>
            <a:r>
              <a:rPr lang="en-US" altLang="zh-CN" sz="1600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的十位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395758" y="3035529"/>
            <a:ext cx="13901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B : </a:t>
            </a:r>
            <a:r>
              <a:rPr lang="en-US" altLang="zh-CN" sz="1600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5222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37502" y="556793"/>
            <a:ext cx="26869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7-7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因</a:t>
            </a:r>
            <a:r>
              <a:rPr lang="zh-CN" altLang="en-US" sz="2800" b="1" strike="dblStrike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式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分解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37502" y="1182916"/>
            <a:ext cx="90208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输入 整数，分解为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素数的乘积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，因子从左往右递增。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例如，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100 = 2 * 2 * 5 * 5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160088" y="2204864"/>
            <a:ext cx="588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endParaRPr lang="zh-CN" altLang="en-US" dirty="0"/>
          </a:p>
        </p:txBody>
      </p:sp>
      <p:cxnSp>
        <p:nvCxnSpPr>
          <p:cNvPr id="19" name="直接连接符 18"/>
          <p:cNvCxnSpPr>
            <a:stCxn id="18" idx="2"/>
            <a:endCxn id="21" idx="0"/>
          </p:cNvCxnSpPr>
          <p:nvPr/>
        </p:nvCxnSpPr>
        <p:spPr>
          <a:xfrm flipH="1">
            <a:off x="2916013" y="2574196"/>
            <a:ext cx="538387" cy="278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18" idx="2"/>
            <a:endCxn id="22" idx="0"/>
          </p:cNvCxnSpPr>
          <p:nvPr/>
        </p:nvCxnSpPr>
        <p:spPr>
          <a:xfrm>
            <a:off x="3454400" y="2574196"/>
            <a:ext cx="620695" cy="278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2752346" y="2852936"/>
            <a:ext cx="3273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848110" y="2852936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endParaRPr lang="zh-CN" altLang="en-US" dirty="0"/>
          </a:p>
        </p:txBody>
      </p:sp>
      <p:cxnSp>
        <p:nvCxnSpPr>
          <p:cNvPr id="23" name="直接连接符 22"/>
          <p:cNvCxnSpPr>
            <a:stCxn id="22" idx="2"/>
            <a:endCxn id="25" idx="0"/>
          </p:cNvCxnSpPr>
          <p:nvPr/>
        </p:nvCxnSpPr>
        <p:spPr>
          <a:xfrm flipH="1">
            <a:off x="3585787" y="3222268"/>
            <a:ext cx="489308" cy="242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stCxn id="22" idx="2"/>
            <a:endCxn id="26" idx="0"/>
          </p:cNvCxnSpPr>
          <p:nvPr/>
        </p:nvCxnSpPr>
        <p:spPr>
          <a:xfrm>
            <a:off x="4075095" y="3222268"/>
            <a:ext cx="673782" cy="242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3426128" y="3464544"/>
            <a:ext cx="319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4521892" y="3464544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endParaRPr lang="zh-CN" altLang="en-US" dirty="0"/>
          </a:p>
        </p:txBody>
      </p:sp>
      <p:cxnSp>
        <p:nvCxnSpPr>
          <p:cNvPr id="27" name="直接连接符 26"/>
          <p:cNvCxnSpPr>
            <a:endCxn id="29" idx="0"/>
          </p:cNvCxnSpPr>
          <p:nvPr/>
        </p:nvCxnSpPr>
        <p:spPr>
          <a:xfrm flipH="1">
            <a:off x="4259569" y="3764779"/>
            <a:ext cx="489308" cy="242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>
            <a:endCxn id="30" idx="0"/>
          </p:cNvCxnSpPr>
          <p:nvPr/>
        </p:nvCxnSpPr>
        <p:spPr>
          <a:xfrm>
            <a:off x="4748877" y="3764779"/>
            <a:ext cx="606456" cy="242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4099910" y="4007055"/>
            <a:ext cx="319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5195674" y="4007055"/>
            <a:ext cx="319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dirty="0"/>
          </a:p>
        </p:txBody>
      </p:sp>
      <p:cxnSp>
        <p:nvCxnSpPr>
          <p:cNvPr id="31" name="直接连接符 30"/>
          <p:cNvCxnSpPr>
            <a:endCxn id="33" idx="0"/>
          </p:cNvCxnSpPr>
          <p:nvPr/>
        </p:nvCxnSpPr>
        <p:spPr>
          <a:xfrm flipH="1">
            <a:off x="4866025" y="4307290"/>
            <a:ext cx="489308" cy="242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endCxn id="34" idx="0"/>
          </p:cNvCxnSpPr>
          <p:nvPr/>
        </p:nvCxnSpPr>
        <p:spPr>
          <a:xfrm>
            <a:off x="5355333" y="4307290"/>
            <a:ext cx="610464" cy="242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4706366" y="4549566"/>
            <a:ext cx="319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5802130" y="4549566"/>
            <a:ext cx="3273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512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57" y="1364186"/>
            <a:ext cx="4847730" cy="427328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282" y="1364186"/>
            <a:ext cx="4964759" cy="427328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611469" y="323638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0926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8656" y="127221"/>
            <a:ext cx="5383992" cy="65556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= input()</a:t>
            </a:r>
          </a:p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=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(s)</a:t>
            </a:r>
          </a:p>
          <a:p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result = s  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输出结果，是一个字符串</a:t>
            </a:r>
          </a:p>
          <a:p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2  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第一个素数因子从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</a:t>
            </a:r>
          </a:p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first = True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标记，第一个因子 </a:t>
            </a:r>
          </a:p>
          <a:p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n &gt; 1:</a:t>
            </a:r>
          </a:p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n %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== 0:</a:t>
            </a:r>
          </a:p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first:</a:t>
            </a:r>
          </a:p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result = result + '=' +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first = False</a:t>
            </a:r>
          </a:p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result = result + '*' +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= n //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</a:p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+= 1</a:t>
            </a:r>
          </a:p>
          <a:p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print(result)</a:t>
            </a:r>
          </a:p>
        </p:txBody>
      </p:sp>
      <p:sp>
        <p:nvSpPr>
          <p:cNvPr id="3" name="内容占位符 1"/>
          <p:cNvSpPr txBox="1">
            <a:spLocks/>
          </p:cNvSpPr>
          <p:nvPr/>
        </p:nvSpPr>
        <p:spPr>
          <a:xfrm>
            <a:off x="6395498" y="127221"/>
            <a:ext cx="4839695" cy="31781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、每找到一个因子，直接输出，第一个因子单独处理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、利用列表，把所有因子以字符串存入列表，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'*'.join(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3922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77504" y="611493"/>
            <a:ext cx="19688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7-8 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梅森数</a:t>
            </a:r>
          </a:p>
        </p:txBody>
      </p:sp>
      <p:sp>
        <p:nvSpPr>
          <p:cNvPr id="3" name="矩形 2"/>
          <p:cNvSpPr/>
          <p:nvPr/>
        </p:nvSpPr>
        <p:spPr>
          <a:xfrm>
            <a:off x="977504" y="1447065"/>
            <a:ext cx="8749511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形如</a:t>
            </a:r>
            <a:r>
              <a:rPr lang="en-US" altLang="zh-CN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</a:t>
            </a:r>
            <a:r>
              <a:rPr lang="en-US" altLang="zh-CN" sz="2400" baseline="300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​​−1</a:t>
            </a:r>
            <a:r>
              <a:rPr lang="zh-CN" altLang="en-US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的素数称为梅森数（</a:t>
            </a:r>
            <a:r>
              <a:rPr lang="en-US" altLang="zh-CN" sz="2400" dirty="0" err="1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Mersenne</a:t>
            </a:r>
            <a:r>
              <a:rPr lang="en-US" altLang="zh-CN" sz="2400" dirty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Number</a:t>
            </a:r>
            <a:r>
              <a:rPr lang="zh-CN" altLang="en-US" sz="2400" dirty="0" smtClean="0">
                <a:solidFill>
                  <a:srgbClr val="2125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 smtClean="0">
              <a:solidFill>
                <a:srgbClr val="2125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从小到大的顺序输出所有不超过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​n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​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−1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的梅森数，每行一个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完全没有，则输出“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None”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矩形 4"/>
          <p:cNvSpPr/>
          <p:nvPr/>
        </p:nvSpPr>
        <p:spPr>
          <a:xfrm>
            <a:off x="977504" y="4086686"/>
            <a:ext cx="14476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</a:p>
          <a:p>
            <a:r>
              <a:rPr lang="en-US" altLang="zh-CN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</a:p>
          <a:p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1908" y="4363685"/>
            <a:ext cx="92441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baseline="30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endParaRPr lang="en-US" altLang="zh-CN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baseline="30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endParaRPr lang="en-US" altLang="zh-CN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baseline="30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endParaRPr lang="en-US" altLang="zh-CN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6501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05589" y="699071"/>
            <a:ext cx="6096000" cy="563231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(input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())    #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 range(2,n+1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):      </a:t>
            </a: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en-US" altLang="zh-CN" sz="2000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: 2 ~ n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x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2 **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 1               </a:t>
            </a: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2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 err="1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次方 </a:t>
            </a: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- 1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# 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 </a:t>
            </a: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是否素数</a:t>
            </a:r>
            <a:endParaRPr lang="en-US" altLang="zh-CN" sz="20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# 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是素数，则输出</a:t>
            </a: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			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</a:p>
          <a:p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18915" y="3167170"/>
            <a:ext cx="528496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j in range(2, 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sqrt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(x) + 1)):</a:t>
            </a:r>
          </a:p>
          <a:p>
            <a:pPr lvl="0"/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if x % j == 0:</a:t>
            </a:r>
          </a:p>
          <a:p>
            <a:pPr lvl="0"/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break</a:t>
            </a:r>
          </a:p>
          <a:p>
            <a:pPr lvl="0"/>
            <a:r>
              <a:rPr lang="en-US" altLang="zh-CN" sz="20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配对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/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print(x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10929" y="1455523"/>
            <a:ext cx="14574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count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0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616765" y="5365048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count == 0:</a:t>
            </a:r>
          </a:p>
          <a:p>
            <a:pPr lvl="0"/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print("None")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50509" y="4849418"/>
            <a:ext cx="16482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count += 1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594413" y="677187"/>
            <a:ext cx="29558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 math import 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sqrt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1002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201" y="666668"/>
            <a:ext cx="5903678" cy="511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007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1117</Words>
  <Application>Microsoft Office PowerPoint</Application>
  <PresentationFormat>宽屏</PresentationFormat>
  <Paragraphs>223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-apple-system</vt:lpstr>
      <vt:lpstr>等线</vt:lpstr>
      <vt:lpstr>等线 Light</vt:lpstr>
      <vt:lpstr>微软雅黑</vt:lpstr>
      <vt:lpstr>Arial</vt:lpstr>
      <vt:lpstr>Consolas</vt:lpstr>
      <vt:lpstr>Office 主题​​</vt:lpstr>
      <vt:lpstr>PTA循环三</vt:lpstr>
      <vt:lpstr>PowerPoint 演示文稿</vt:lpstr>
      <vt:lpstr>PowerPoint 演示文稿</vt:lpstr>
      <vt:lpstr>PowerPoint 演示文稿</vt:lpstr>
      <vt:lpstr>规则图案-菱形</vt:lpstr>
      <vt:lpstr>PowerPoint 演示文稿</vt:lpstr>
      <vt:lpstr>PowerPoint 演示文稿</vt:lpstr>
      <vt:lpstr>字符串转换的内置函数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LiHQ</dc:creator>
  <cp:lastModifiedBy>LiHQ</cp:lastModifiedBy>
  <cp:revision>37</cp:revision>
  <dcterms:created xsi:type="dcterms:W3CDTF">2020-10-23T06:44:25Z</dcterms:created>
  <dcterms:modified xsi:type="dcterms:W3CDTF">2020-10-28T14:46:03Z</dcterms:modified>
</cp:coreProperties>
</file>