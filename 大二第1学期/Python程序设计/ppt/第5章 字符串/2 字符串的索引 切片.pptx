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848" r:id="rId2"/>
    <p:sldId id="1833" r:id="rId3"/>
    <p:sldId id="1837" r:id="rId4"/>
    <p:sldId id="1836" r:id="rId5"/>
    <p:sldId id="1835" r:id="rId6"/>
    <p:sldId id="1834" r:id="rId7"/>
    <p:sldId id="1838" r:id="rId8"/>
    <p:sldId id="1878" r:id="rId9"/>
    <p:sldId id="1879" r:id="rId10"/>
    <p:sldId id="1839" r:id="rId11"/>
    <p:sldId id="1841" r:id="rId12"/>
    <p:sldId id="1877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41" name="AutoShape 2405"/>
          <p:cNvSpPr>
            <a:spLocks noChangeArrowheads="1"/>
          </p:cNvSpPr>
          <p:nvPr/>
        </p:nvSpPr>
        <p:spPr bwMode="gray">
          <a:xfrm>
            <a:off x="0" y="1752600"/>
            <a:ext cx="9144000" cy="2514600"/>
          </a:xfrm>
          <a:prstGeom prst="flowChartDocument">
            <a:avLst/>
          </a:prstGeom>
          <a:ln>
            <a:noFill/>
          </a:ln>
          <a:effectLst>
            <a:glow rad="63500">
              <a:schemeClr val="accent2">
                <a:alpha val="45000"/>
                <a:satMod val="12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40" name="AutoShape 2404"/>
          <p:cNvSpPr>
            <a:spLocks noChangeArrowheads="1"/>
          </p:cNvSpPr>
          <p:nvPr/>
        </p:nvSpPr>
        <p:spPr bwMode="gray">
          <a:xfrm>
            <a:off x="0" y="304800"/>
            <a:ext cx="9144000" cy="2209800"/>
          </a:xfrm>
          <a:prstGeom prst="flowChartDocumen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31" name="AutoShape 2395"/>
          <p:cNvSpPr>
            <a:spLocks noChangeArrowheads="1"/>
          </p:cNvSpPr>
          <p:nvPr/>
        </p:nvSpPr>
        <p:spPr bwMode="gray">
          <a:xfrm>
            <a:off x="0" y="0"/>
            <a:ext cx="9144000" cy="2057400"/>
          </a:xfrm>
          <a:prstGeom prst="flowChartDocument">
            <a:avLst/>
          </a:prstGeom>
          <a:gradFill rotWithShape="0">
            <a:gsLst>
              <a:gs pos="0">
                <a:schemeClr val="accent2"/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30" name="Oval 2394"/>
          <p:cNvSpPr>
            <a:spLocks noChangeArrowheads="1"/>
          </p:cNvSpPr>
          <p:nvPr/>
        </p:nvSpPr>
        <p:spPr bwMode="gray">
          <a:xfrm>
            <a:off x="722313" y="1752600"/>
            <a:ext cx="552450" cy="508000"/>
          </a:xfrm>
          <a:prstGeom prst="ellipse">
            <a:avLst/>
          </a:prstGeom>
          <a:gradFill rotWithShape="0">
            <a:gsLst>
              <a:gs pos="0">
                <a:srgbClr val="86B9FF"/>
              </a:gs>
              <a:gs pos="12000">
                <a:schemeClr val="hlink">
                  <a:alpha val="53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34" name="Oval 2398"/>
          <p:cNvSpPr>
            <a:spLocks noChangeArrowheads="1"/>
          </p:cNvSpPr>
          <p:nvPr/>
        </p:nvSpPr>
        <p:spPr bwMode="gray">
          <a:xfrm>
            <a:off x="2971800" y="1773239"/>
            <a:ext cx="230188" cy="207963"/>
          </a:xfrm>
          <a:prstGeom prst="ellipse">
            <a:avLst/>
          </a:prstGeom>
          <a:gradFill rotWithShape="0">
            <a:gsLst>
              <a:gs pos="27000">
                <a:schemeClr val="hlink">
                  <a:alpha val="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67935" name="Oval 2399"/>
          <p:cNvSpPr>
            <a:spLocks noChangeArrowheads="1"/>
          </p:cNvSpPr>
          <p:nvPr/>
        </p:nvSpPr>
        <p:spPr bwMode="gray">
          <a:xfrm>
            <a:off x="2247904" y="2271713"/>
            <a:ext cx="538163" cy="495300"/>
          </a:xfrm>
          <a:prstGeom prst="ellipse">
            <a:avLst/>
          </a:prstGeom>
          <a:gradFill rotWithShape="0">
            <a:gsLst>
              <a:gs pos="13000">
                <a:schemeClr val="hlink">
                  <a:alpha val="58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27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15" name="Rectangle 536"/>
          <p:cNvSpPr txBox="1">
            <a:spLocks noChangeArrowheads="1"/>
          </p:cNvSpPr>
          <p:nvPr/>
        </p:nvSpPr>
        <p:spPr bwMode="black">
          <a:xfrm>
            <a:off x="2247902" y="4405858"/>
            <a:ext cx="5295379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1435" tIns="25718" rIns="51435" bIns="25718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endParaRPr lang="en-US" altLang="ko-KR" sz="2700" dirty="0"/>
          </a:p>
        </p:txBody>
      </p:sp>
      <p:sp>
        <p:nvSpPr>
          <p:cNvPr id="16" name="Rectangle 536"/>
          <p:cNvSpPr txBox="1">
            <a:spLocks noChangeArrowheads="1"/>
          </p:cNvSpPr>
          <p:nvPr/>
        </p:nvSpPr>
        <p:spPr bwMode="black">
          <a:xfrm>
            <a:off x="2067138" y="4234408"/>
            <a:ext cx="5009728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1435" tIns="25718" rIns="51435" bIns="25718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endParaRPr lang="en-US" altLang="ko-KR" sz="2700" dirty="0"/>
          </a:p>
        </p:txBody>
      </p:sp>
    </p:spTree>
    <p:extLst>
      <p:ext uri="{BB962C8B-B14F-4D97-AF65-F5344CB8AC3E}">
        <p14:creationId xmlns:p14="http://schemas.microsoft.com/office/powerpoint/2010/main" val="101928109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495300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25789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8"/>
            <a:ext cx="7772400" cy="1362075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125"/>
            </a:lvl1pPr>
            <a:lvl2pPr marL="257168" indent="0">
              <a:buNone/>
              <a:defRPr sz="1013"/>
            </a:lvl2pPr>
            <a:lvl3pPr marL="514337" indent="0">
              <a:buNone/>
              <a:defRPr sz="900"/>
            </a:lvl3pPr>
            <a:lvl4pPr marL="771506" indent="0">
              <a:buNone/>
              <a:defRPr sz="788"/>
            </a:lvl4pPr>
            <a:lvl5pPr marL="1028675" indent="0">
              <a:buNone/>
              <a:defRPr sz="788"/>
            </a:lvl5pPr>
            <a:lvl6pPr marL="1285843" indent="0">
              <a:buNone/>
              <a:defRPr sz="788"/>
            </a:lvl6pPr>
            <a:lvl7pPr marL="1543012" indent="0">
              <a:buNone/>
              <a:defRPr sz="788"/>
            </a:lvl7pPr>
            <a:lvl8pPr marL="1800180" indent="0">
              <a:buNone/>
              <a:defRPr sz="788"/>
            </a:lvl8pPr>
            <a:lvl9pPr marL="2057348" indent="0">
              <a:buNone/>
              <a:defRPr sz="788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3509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52900" cy="49530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4152900" cy="49530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308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114498"/>
            <a:ext cx="8229600" cy="63832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68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2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8" indent="0">
              <a:buNone/>
              <a:defRPr sz="9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68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2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8" indent="0">
              <a:buNone/>
              <a:defRPr sz="9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54859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9" y="115329"/>
            <a:ext cx="744473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11353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8288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8"/>
            <a:ext cx="5111750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68" indent="0">
              <a:buNone/>
              <a:defRPr sz="675"/>
            </a:lvl2pPr>
            <a:lvl3pPr marL="514337" indent="0">
              <a:buNone/>
              <a:defRPr sz="563"/>
            </a:lvl3pPr>
            <a:lvl4pPr marL="771506" indent="0">
              <a:buNone/>
              <a:defRPr sz="506"/>
            </a:lvl4pPr>
            <a:lvl5pPr marL="1028675" indent="0">
              <a:buNone/>
              <a:defRPr sz="506"/>
            </a:lvl5pPr>
            <a:lvl6pPr marL="1285843" indent="0">
              <a:buNone/>
              <a:defRPr sz="506"/>
            </a:lvl6pPr>
            <a:lvl7pPr marL="1543012" indent="0">
              <a:buNone/>
              <a:defRPr sz="506"/>
            </a:lvl7pPr>
            <a:lvl8pPr marL="1800180" indent="0">
              <a:buNone/>
              <a:defRPr sz="506"/>
            </a:lvl8pPr>
            <a:lvl9pPr marL="2057348" indent="0">
              <a:buNone/>
              <a:defRPr sz="506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34531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1800"/>
            </a:lvl1pPr>
            <a:lvl2pPr marL="257168" indent="0">
              <a:buNone/>
              <a:defRPr sz="1575"/>
            </a:lvl2pPr>
            <a:lvl3pPr marL="514337" indent="0">
              <a:buNone/>
              <a:defRPr sz="1350"/>
            </a:lvl3pPr>
            <a:lvl4pPr marL="771506" indent="0">
              <a:buNone/>
              <a:defRPr sz="1125"/>
            </a:lvl4pPr>
            <a:lvl5pPr marL="1028675" indent="0">
              <a:buNone/>
              <a:defRPr sz="1125"/>
            </a:lvl5pPr>
            <a:lvl6pPr marL="1285843" indent="0">
              <a:buNone/>
              <a:defRPr sz="1125"/>
            </a:lvl6pPr>
            <a:lvl7pPr marL="1543012" indent="0">
              <a:buNone/>
              <a:defRPr sz="1125"/>
            </a:lvl7pPr>
            <a:lvl8pPr marL="1800180" indent="0">
              <a:buNone/>
              <a:defRPr sz="1125"/>
            </a:lvl8pPr>
            <a:lvl9pPr marL="2057348" indent="0">
              <a:buNone/>
              <a:defRPr sz="112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788"/>
            </a:lvl1pPr>
            <a:lvl2pPr marL="257168" indent="0">
              <a:buNone/>
              <a:defRPr sz="675"/>
            </a:lvl2pPr>
            <a:lvl3pPr marL="514337" indent="0">
              <a:buNone/>
              <a:defRPr sz="563"/>
            </a:lvl3pPr>
            <a:lvl4pPr marL="771506" indent="0">
              <a:buNone/>
              <a:defRPr sz="506"/>
            </a:lvl4pPr>
            <a:lvl5pPr marL="1028675" indent="0">
              <a:buNone/>
              <a:defRPr sz="506"/>
            </a:lvl5pPr>
            <a:lvl6pPr marL="1285843" indent="0">
              <a:buNone/>
              <a:defRPr sz="506"/>
            </a:lvl6pPr>
            <a:lvl7pPr marL="1543012" indent="0">
              <a:buNone/>
              <a:defRPr sz="506"/>
            </a:lvl7pPr>
            <a:lvl8pPr marL="1800180" indent="0">
              <a:buNone/>
              <a:defRPr sz="506"/>
            </a:lvl8pPr>
            <a:lvl9pPr marL="2057348" indent="0">
              <a:buNone/>
              <a:defRPr sz="506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4572000" y="6477000"/>
            <a:ext cx="5334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093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55297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943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9436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84785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 dirty="0"/>
              <a:t>单击图标添加图表</a:t>
            </a:r>
          </a:p>
        </p:txBody>
      </p:sp>
    </p:spTree>
    <p:extLst>
      <p:ext uri="{BB962C8B-B14F-4D97-AF65-F5344CB8AC3E}">
        <p14:creationId xmlns:p14="http://schemas.microsoft.com/office/powerpoint/2010/main" val="184103639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298383933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27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451770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68" indent="0" algn="ctr">
              <a:buNone/>
              <a:defRPr sz="1125"/>
            </a:lvl2pPr>
            <a:lvl3pPr marL="514337" indent="0" algn="ctr">
              <a:buNone/>
              <a:defRPr sz="1013"/>
            </a:lvl3pPr>
            <a:lvl4pPr marL="771506" indent="0" algn="ctr">
              <a:buNone/>
              <a:defRPr sz="900"/>
            </a:lvl4pPr>
            <a:lvl5pPr marL="1028675" indent="0" algn="ctr">
              <a:buNone/>
              <a:defRPr sz="900"/>
            </a:lvl5pPr>
            <a:lvl6pPr marL="1285843" indent="0" algn="ctr">
              <a:buNone/>
              <a:defRPr sz="900"/>
            </a:lvl6pPr>
            <a:lvl7pPr marL="1543012" indent="0" algn="ctr">
              <a:buNone/>
              <a:defRPr sz="900"/>
            </a:lvl7pPr>
            <a:lvl8pPr marL="1800180" indent="0" algn="ctr">
              <a:buNone/>
              <a:defRPr sz="900"/>
            </a:lvl8pPr>
            <a:lvl9pPr marL="2057348" indent="0" algn="ctr">
              <a:buNone/>
              <a:defRPr sz="900"/>
            </a:lvl9pPr>
          </a:lstStyle>
          <a:p>
            <a:r>
              <a:rPr lang="zh-CN" altLang="en-US"/>
              <a:t>单击以编辑母版副标题样式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03444905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4" name="Rectangle 246"/>
          <p:cNvSpPr>
            <a:spLocks noChangeArrowheads="1"/>
          </p:cNvSpPr>
          <p:nvPr/>
        </p:nvSpPr>
        <p:spPr bwMode="gray">
          <a:xfrm>
            <a:off x="0" y="0"/>
            <a:ext cx="9144000" cy="838200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21176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12538" name="Rectangle 250"/>
          <p:cNvSpPr>
            <a:spLocks noChangeArrowheads="1"/>
          </p:cNvSpPr>
          <p:nvPr/>
        </p:nvSpPr>
        <p:spPr bwMode="white">
          <a:xfrm>
            <a:off x="0" y="990600"/>
            <a:ext cx="9144000" cy="3657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3"/>
          </a:p>
        </p:txBody>
      </p:sp>
      <p:sp>
        <p:nvSpPr>
          <p:cNvPr id="12310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458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 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12309" name="Rectangle 21"/>
          <p:cNvSpPr>
            <a:spLocks noGrp="1" noChangeArrowheads="1"/>
          </p:cNvSpPr>
          <p:nvPr>
            <p:ph type="title"/>
          </p:nvPr>
        </p:nvSpPr>
        <p:spPr bwMode="gray">
          <a:xfrm>
            <a:off x="683569" y="127686"/>
            <a:ext cx="744473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ko-KR" dirty="0"/>
          </a:p>
        </p:txBody>
      </p:sp>
      <p:pic>
        <p:nvPicPr>
          <p:cNvPr id="12548" name="Picture 260" descr="http://astroleaks.lamost.org/wp-content/uploads/2012/03/Logo_Python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"/>
            <a:ext cx="632464" cy="63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6346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5pPr>
      <a:lvl6pPr marL="257168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6pPr>
      <a:lvl7pPr marL="514337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7pPr>
      <a:lvl8pPr marL="771506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8pPr>
      <a:lvl9pPr marL="1028675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1"/>
          </a:solidFill>
          <a:latin typeface="Verdana" pitchFamily="34" charset="0"/>
        </a:defRPr>
      </a:lvl9pPr>
    </p:titleStyle>
    <p:bodyStyle>
      <a:lvl1pPr marL="192876" indent="-192876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000" b="1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417899" indent="-160731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2pPr>
      <a:lvl3pPr marL="642922" indent="-128585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3pPr>
      <a:lvl4pPr marL="900091" indent="-128585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4pPr>
      <a:lvl5pPr marL="1157259" indent="-128585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5pPr>
      <a:lvl6pPr marL="1414428" indent="-12858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125">
          <a:solidFill>
            <a:schemeClr val="tx1"/>
          </a:solidFill>
          <a:latin typeface="+mn-lt"/>
        </a:defRPr>
      </a:lvl6pPr>
      <a:lvl7pPr marL="1671596" indent="-12858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125">
          <a:solidFill>
            <a:schemeClr val="tx1"/>
          </a:solidFill>
          <a:latin typeface="+mn-lt"/>
        </a:defRPr>
      </a:lvl7pPr>
      <a:lvl8pPr marL="1928765" indent="-12858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125">
          <a:solidFill>
            <a:schemeClr val="tx1"/>
          </a:solidFill>
          <a:latin typeface="+mn-lt"/>
        </a:defRPr>
      </a:lvl8pPr>
      <a:lvl9pPr marL="2185934" indent="-12858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125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68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2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8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3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3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0480" y="1699260"/>
            <a:ext cx="9068753" cy="1790700"/>
          </a:xfrm>
        </p:spPr>
        <p:txBody>
          <a:bodyPr/>
          <a:lstStyle/>
          <a:p>
            <a:pPr fontAlgn="auto">
              <a:lnSpc>
                <a:spcPct val="120000"/>
              </a:lnSpc>
            </a:pPr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章  字符串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559017"/>
            <a:ext cx="6858000" cy="1723549"/>
          </a:xfrm>
        </p:spPr>
        <p:txBody>
          <a:bodyPr>
            <a:normAutofit/>
          </a:bodyPr>
          <a:lstStyle/>
          <a:p>
            <a:r>
              <a:rPr lang="zh-CN" altLang="en-US" sz="2100"/>
              <a:t>索引 与 切片</a:t>
            </a:r>
            <a:endParaRPr lang="zh-CN" altLang="en-US" sz="2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7112" y="1083733"/>
            <a:ext cx="9076887" cy="2882908"/>
          </a:xfrm>
        </p:spPr>
        <p:txBody>
          <a:bodyPr/>
          <a:lstStyle/>
          <a:p>
            <a:pPr algn="just">
              <a:lnSpc>
                <a:spcPts val="3000"/>
              </a:lnSpc>
            </a:pPr>
            <a:r>
              <a:rPr lang="zh-CN" altLang="en-US" dirty="0"/>
              <a:t>为了方便使用字符串中的每个字符，我们需要对其在字符串中的位置进行编号</a:t>
            </a:r>
            <a:endParaRPr lang="en-US" altLang="zh-CN" dirty="0"/>
          </a:p>
          <a:p>
            <a:pPr lvl="1" algn="just">
              <a:lnSpc>
                <a:spcPts val="3000"/>
              </a:lnSpc>
            </a:pPr>
            <a:r>
              <a:rPr lang="en-US" altLang="zh-CN" dirty="0"/>
              <a:t>Python</a:t>
            </a:r>
            <a:r>
              <a:rPr lang="zh-CN" altLang="en-US" dirty="0"/>
              <a:t>对字符串中的字符</a:t>
            </a:r>
            <a:r>
              <a:rPr lang="zh-CN" altLang="en-US" b="1" dirty="0">
                <a:solidFill>
                  <a:srgbClr val="FF0000"/>
                </a:solidFill>
              </a:rPr>
              <a:t>从左到右</a:t>
            </a:r>
            <a:r>
              <a:rPr lang="zh-CN" altLang="en-US" dirty="0"/>
              <a:t>进行编号，最左边字符编号为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  <a:r>
              <a:rPr lang="zh-CN" altLang="en-US" dirty="0"/>
              <a:t>，最右边字符的编号为字符串的</a:t>
            </a:r>
            <a:r>
              <a:rPr lang="zh-CN" altLang="en-US" b="1" dirty="0">
                <a:solidFill>
                  <a:srgbClr val="FF0000"/>
                </a:solidFill>
              </a:rPr>
              <a:t>长度减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 algn="just">
              <a:lnSpc>
                <a:spcPts val="3000"/>
              </a:lnSpc>
            </a:pPr>
            <a:r>
              <a:rPr lang="en-US" altLang="zh-CN" dirty="0"/>
              <a:t>Python</a:t>
            </a:r>
            <a:r>
              <a:rPr lang="zh-CN" altLang="en-US" dirty="0"/>
              <a:t>还支持在字符串中使用</a:t>
            </a:r>
            <a:r>
              <a:rPr lang="zh-CN" altLang="en-US" b="1" dirty="0">
                <a:solidFill>
                  <a:srgbClr val="FF0000"/>
                </a:solidFill>
              </a:rPr>
              <a:t>负数从右向左</a:t>
            </a:r>
            <a:r>
              <a:rPr lang="zh-CN" altLang="en-US" dirty="0"/>
              <a:t>进行编号，最右边的字符（即倒数第</a:t>
            </a:r>
            <a:r>
              <a:rPr lang="en-US" altLang="zh-CN" dirty="0"/>
              <a:t>1</a:t>
            </a:r>
            <a:r>
              <a:rPr lang="zh-CN" altLang="en-US" dirty="0"/>
              <a:t>个字符）的编号为</a:t>
            </a:r>
            <a:r>
              <a:rPr lang="en-US" altLang="zh-CN" b="1" dirty="0">
                <a:solidFill>
                  <a:srgbClr val="FF0000"/>
                </a:solidFill>
              </a:rPr>
              <a:t>-1</a:t>
            </a:r>
            <a:r>
              <a:rPr lang="zh-CN" altLang="en-US" dirty="0"/>
              <a:t>，最左边的字符的编号为</a:t>
            </a:r>
            <a:r>
              <a:rPr lang="zh-CN" altLang="en-US" b="1" dirty="0">
                <a:solidFill>
                  <a:srgbClr val="FF0000"/>
                </a:solidFill>
              </a:rPr>
              <a:t>负的字符串长度</a:t>
            </a:r>
            <a:r>
              <a:rPr lang="zh-CN" altLang="en-US" dirty="0"/>
              <a:t>。</a:t>
            </a:r>
            <a:endParaRPr lang="en-US" altLang="zh-CN" dirty="0"/>
          </a:p>
          <a:p>
            <a:pPr algn="just">
              <a:lnSpc>
                <a:spcPts val="3000"/>
              </a:lnSpc>
            </a:pPr>
            <a:r>
              <a:rPr lang="zh-CN" altLang="en-US" dirty="0"/>
              <a:t>字符串变量名后接用</a:t>
            </a:r>
            <a:r>
              <a:rPr lang="zh-CN" altLang="en-US" b="1" dirty="0">
                <a:solidFill>
                  <a:srgbClr val="FF0000"/>
                </a:solidFill>
              </a:rPr>
              <a:t>中括号</a:t>
            </a:r>
            <a:r>
              <a:rPr lang="zh-CN" altLang="en-US" dirty="0"/>
              <a:t>括起来的编号即可实现字符串的索引。</a:t>
            </a:r>
            <a:endParaRPr lang="en-US" altLang="zh-CN" dirty="0"/>
          </a:p>
          <a:p>
            <a:pPr algn="just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字符串的索引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177865"/>
              </p:ext>
            </p:extLst>
          </p:nvPr>
        </p:nvGraphicFramePr>
        <p:xfrm>
          <a:off x="533002" y="4507709"/>
          <a:ext cx="6096000" cy="1112520"/>
        </p:xfrm>
        <a:graphic>
          <a:graphicData uri="http://schemas.openxmlformats.org/drawingml/2006/table">
            <a:tbl>
              <a:tblPr bandRow="1">
                <a:tableStyleId>{3C2FFA5D-87B4-456A-9821-1D502468CF0F}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86052986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3792494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79361724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6619735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836021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s[0]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s[1]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s[2]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51433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s[3]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s[4]</a:t>
                      </a:r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2008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H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e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l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l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o</a:t>
                      </a:r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2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s[-5]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s[-4]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s[-3]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s[-2]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s[-1]</a:t>
                      </a:r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0988780"/>
                  </a:ext>
                </a:extLst>
              </a:tr>
            </a:tbl>
          </a:graphicData>
        </a:graphic>
      </p:graphicFrame>
      <p:sp>
        <p:nvSpPr>
          <p:cNvPr id="5" name="圆角矩形 4"/>
          <p:cNvSpPr/>
          <p:nvPr/>
        </p:nvSpPr>
        <p:spPr>
          <a:xfrm>
            <a:off x="381643" y="3966641"/>
            <a:ext cx="8762357" cy="414068"/>
          </a:xfrm>
          <a:prstGeom prst="roundRect">
            <a:avLst/>
          </a:prstGeom>
          <a:ln>
            <a:noFill/>
          </a:ln>
        </p:spPr>
        <p:txBody>
          <a:bodyPr rtlCol="0" anchor="ctr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以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s="Hello"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为例，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s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中各个字符的索引如下所示：</a:t>
            </a:r>
          </a:p>
        </p:txBody>
      </p:sp>
    </p:spTree>
    <p:extLst>
      <p:ext uri="{BB962C8B-B14F-4D97-AF65-F5344CB8AC3E}">
        <p14:creationId xmlns:p14="http://schemas.microsoft.com/office/powerpoint/2010/main" val="2950789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字符串的索引</a:t>
            </a:r>
          </a:p>
        </p:txBody>
      </p:sp>
      <p:sp>
        <p:nvSpPr>
          <p:cNvPr id="4" name="矩形 3"/>
          <p:cNvSpPr/>
          <p:nvPr/>
        </p:nvSpPr>
        <p:spPr>
          <a:xfrm>
            <a:off x="446738" y="986126"/>
            <a:ext cx="7239398" cy="175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zh-CN" altLang="en-US" dirty="0">
                <a:latin typeface="Consolas" panose="020B0609020204030204" charset="0"/>
                <a:sym typeface="+mn-ea"/>
              </a:rPr>
              <a:t>&gt;&gt;&gt; </a:t>
            </a:r>
            <a:r>
              <a:rPr lang="en-US" altLang="zh-CN" dirty="0">
                <a:latin typeface="Consolas" panose="020B0609020204030204" charset="0"/>
                <a:sym typeface="+mn-ea"/>
              </a:rPr>
              <a:t>s = "Hello"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zh-CN" altLang="en-US" dirty="0">
                <a:latin typeface="Consolas" panose="020B0609020204030204" charset="0"/>
                <a:sym typeface="+mn-ea"/>
              </a:rPr>
              <a:t>&gt;&gt;&gt; </a:t>
            </a:r>
            <a:r>
              <a:rPr lang="en-US" altLang="zh-CN" dirty="0">
                <a:latin typeface="Consolas" panose="020B0609020204030204" charset="0"/>
                <a:sym typeface="+mn-ea"/>
              </a:rPr>
              <a:t>print(s[0],s[4])</a:t>
            </a:r>
            <a:r>
              <a:rPr lang="zh-CN" altLang="en-US" dirty="0">
                <a:latin typeface="Consolas" panose="020B0609020204030204" charset="0"/>
                <a:sym typeface="+mn-ea"/>
              </a:rPr>
              <a:t> </a:t>
            </a:r>
            <a:endParaRPr lang="en-US" altLang="zh-CN" dirty="0">
              <a:latin typeface="Consolas" panose="020B0609020204030204" charset="0"/>
              <a:sym typeface="+mn-ea"/>
            </a:endParaRP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H o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zh-CN" altLang="en-US" dirty="0">
                <a:latin typeface="Consolas" panose="020B0609020204030204" charset="0"/>
                <a:sym typeface="+mn-ea"/>
              </a:rPr>
              <a:t>&gt;&gt;&gt; </a:t>
            </a:r>
            <a:r>
              <a:rPr lang="en-US" altLang="zh-CN" dirty="0">
                <a:latin typeface="Consolas" panose="020B0609020204030204" charset="0"/>
                <a:sym typeface="+mn-ea"/>
              </a:rPr>
              <a:t>print(s[-1],s[-5])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o H</a:t>
            </a:r>
            <a:endParaRPr lang="zh-CN" altLang="en-US" b="1" dirty="0">
              <a:solidFill>
                <a:srgbClr val="C00000"/>
              </a:solidFill>
              <a:latin typeface="Consolas" panose="020B060902020403020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46738" y="2745582"/>
            <a:ext cx="5564037" cy="175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en-US" altLang="zh-CN" dirty="0">
                <a:latin typeface="Consolas" panose="020B0609020204030204" charset="0"/>
                <a:sym typeface="+mn-ea"/>
              </a:rPr>
              <a:t>&gt;&gt;&gt; s[-6]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en-US" altLang="zh-CN" dirty="0" err="1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Traceback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 (most recent call last):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en-US" altLang="zh-CN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  File "&lt;pyshell#12&gt;", line 1, in &lt;module&gt;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en-US" altLang="zh-CN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    s[-6]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en-US" altLang="zh-CN" dirty="0" err="1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IndexError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: string index out of range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2991204" y="2790110"/>
            <a:ext cx="4600041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正负编号均不能越界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6738" y="4703779"/>
            <a:ext cx="7681567" cy="175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en-US" altLang="zh-CN" dirty="0">
                <a:latin typeface="Consolas" panose="020B0609020204030204" charset="0"/>
                <a:sym typeface="+mn-ea"/>
              </a:rPr>
              <a:t>&gt;&gt;&gt; s[2]='a'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en-US" altLang="zh-CN" dirty="0" err="1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Traceback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 (most recent call last):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en-US" altLang="zh-CN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  File "&lt;pyshell#14&gt;", line 1, in &lt;module&gt;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en-US" altLang="zh-CN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    s[2]='a'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en-US" altLang="zh-CN" dirty="0" err="1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TypeError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: '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str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' object does not support item assignment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2991203" y="4707557"/>
            <a:ext cx="4600041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字符串是常量，不能对其某个元素赋值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4238061-4959-4D2B-9DAF-DAD96210B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907" y="965808"/>
            <a:ext cx="5391036" cy="107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687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已知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s="world"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，下面哪个说法是错误的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s[0]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'w'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s[-1]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'd'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s[5]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'd'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s[-5]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'w'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A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B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C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D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0535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417263"/>
          </a:xfrm>
        </p:spPr>
        <p:txBody>
          <a:bodyPr/>
          <a:lstStyle/>
          <a:p>
            <a:r>
              <a:rPr lang="zh-CN" altLang="en-US" dirty="0"/>
              <a:t>例题：</a:t>
            </a:r>
            <a:r>
              <a:rPr lang="zh-CN" altLang="zh-CN" dirty="0"/>
              <a:t>将一个字符串中的字符按逆序打印出来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字符串的索引</a:t>
            </a:r>
          </a:p>
        </p:txBody>
      </p:sp>
      <p:sp>
        <p:nvSpPr>
          <p:cNvPr id="4" name="矩形 3"/>
          <p:cNvSpPr/>
          <p:nvPr/>
        </p:nvSpPr>
        <p:spPr>
          <a:xfrm>
            <a:off x="370935" y="1611558"/>
            <a:ext cx="877306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zh-CN" b="1" dirty="0">
                <a:solidFill>
                  <a:srgbClr val="245794"/>
                </a:solidFill>
              </a:rPr>
              <a:t>分析：</a:t>
            </a:r>
            <a:endParaRPr lang="en-US" altLang="zh-CN" b="1" dirty="0">
              <a:solidFill>
                <a:srgbClr val="245794"/>
              </a:solidFill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zh-CN" altLang="zh-CN" b="1" dirty="0">
                <a:solidFill>
                  <a:srgbClr val="245794"/>
                </a:solidFill>
              </a:rPr>
              <a:t>先输出字符串的最后一个字符，且不换行，</a:t>
            </a:r>
            <a:endParaRPr lang="en-US" altLang="zh-CN" b="1" dirty="0">
              <a:solidFill>
                <a:srgbClr val="245794"/>
              </a:solidFill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zh-CN" altLang="zh-CN" b="1" dirty="0">
                <a:solidFill>
                  <a:srgbClr val="245794"/>
                </a:solidFill>
              </a:rPr>
              <a:t>然后输出倒数第</a:t>
            </a:r>
            <a:r>
              <a:rPr lang="en-US" altLang="zh-CN" b="1" dirty="0">
                <a:solidFill>
                  <a:srgbClr val="245794"/>
                </a:solidFill>
              </a:rPr>
              <a:t>2</a:t>
            </a:r>
            <a:r>
              <a:rPr lang="zh-CN" altLang="zh-CN" b="1" dirty="0">
                <a:solidFill>
                  <a:srgbClr val="245794"/>
                </a:solidFill>
              </a:rPr>
              <a:t>个字符，同样不换行，一直到第</a:t>
            </a:r>
            <a:r>
              <a:rPr lang="en-US" altLang="zh-CN" b="1" dirty="0">
                <a:solidFill>
                  <a:srgbClr val="245794"/>
                </a:solidFill>
              </a:rPr>
              <a:t>1</a:t>
            </a:r>
            <a:r>
              <a:rPr lang="zh-CN" altLang="zh-CN" b="1" dirty="0">
                <a:solidFill>
                  <a:srgbClr val="245794"/>
                </a:solidFill>
              </a:rPr>
              <a:t>个字符。</a:t>
            </a:r>
            <a:endParaRPr lang="en-US" altLang="zh-CN" b="1" dirty="0">
              <a:solidFill>
                <a:srgbClr val="245794"/>
              </a:solidFill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zh-CN" altLang="zh-CN" b="1" dirty="0">
                <a:solidFill>
                  <a:srgbClr val="245794"/>
                </a:solidFill>
              </a:rPr>
              <a:t>利用</a:t>
            </a:r>
            <a:r>
              <a:rPr lang="en-US" altLang="zh-CN" b="1" dirty="0">
                <a:solidFill>
                  <a:srgbClr val="245794"/>
                </a:solidFill>
              </a:rPr>
              <a:t>for</a:t>
            </a:r>
            <a:r>
              <a:rPr lang="zh-CN" altLang="zh-CN" b="1" dirty="0">
                <a:solidFill>
                  <a:srgbClr val="245794"/>
                </a:solidFill>
              </a:rPr>
              <a:t>循环控制字符索引编号</a:t>
            </a:r>
            <a:r>
              <a:rPr lang="zh-CN" altLang="en-US" b="1" dirty="0">
                <a:solidFill>
                  <a:srgbClr val="245794"/>
                </a:solidFill>
              </a:rPr>
              <a:t>，编号可以从字</a:t>
            </a:r>
            <a:r>
              <a:rPr lang="zh-CN" altLang="zh-CN" b="1" dirty="0">
                <a:solidFill>
                  <a:srgbClr val="245794"/>
                </a:solidFill>
              </a:rPr>
              <a:t>符串的长度</a:t>
            </a:r>
            <a:r>
              <a:rPr lang="en-US" altLang="zh-CN" b="1" dirty="0">
                <a:solidFill>
                  <a:srgbClr val="245794"/>
                </a:solidFill>
              </a:rPr>
              <a:t>-1</a:t>
            </a:r>
            <a:r>
              <a:rPr lang="zh-CN" altLang="en-US" b="1" dirty="0">
                <a:solidFill>
                  <a:srgbClr val="245794"/>
                </a:solidFill>
              </a:rPr>
              <a:t>到</a:t>
            </a:r>
            <a:r>
              <a:rPr lang="en-US" altLang="zh-CN" b="1" dirty="0">
                <a:solidFill>
                  <a:srgbClr val="245794"/>
                </a:solidFill>
              </a:rPr>
              <a:t>0</a:t>
            </a:r>
            <a:r>
              <a:rPr lang="zh-CN" altLang="en-US" b="1" dirty="0">
                <a:solidFill>
                  <a:srgbClr val="245794"/>
                </a:solidFill>
              </a:rPr>
              <a:t>，也可以从</a:t>
            </a:r>
            <a:r>
              <a:rPr lang="en-US" altLang="zh-CN" b="1" dirty="0">
                <a:solidFill>
                  <a:srgbClr val="245794"/>
                </a:solidFill>
              </a:rPr>
              <a:t>-1</a:t>
            </a:r>
            <a:r>
              <a:rPr lang="zh-CN" altLang="en-US" b="1" dirty="0">
                <a:solidFill>
                  <a:srgbClr val="245794"/>
                </a:solidFill>
              </a:rPr>
              <a:t>到负的字符串长度</a:t>
            </a:r>
            <a:endParaRPr lang="en-US" altLang="zh-CN" b="1" dirty="0">
              <a:solidFill>
                <a:srgbClr val="245794"/>
              </a:solidFill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zh-CN" altLang="zh-CN" b="1" dirty="0">
                <a:solidFill>
                  <a:srgbClr val="245794"/>
                </a:solidFill>
              </a:rPr>
              <a:t>字符串的长度可以利用</a:t>
            </a:r>
            <a:r>
              <a:rPr lang="en-US" altLang="zh-CN" b="1" dirty="0" err="1">
                <a:solidFill>
                  <a:srgbClr val="245794"/>
                </a:solidFill>
              </a:rPr>
              <a:t>len</a:t>
            </a:r>
            <a:r>
              <a:rPr lang="en-US" altLang="zh-CN" b="1" dirty="0">
                <a:solidFill>
                  <a:srgbClr val="245794"/>
                </a:solidFill>
              </a:rPr>
              <a:t>()</a:t>
            </a:r>
            <a:r>
              <a:rPr lang="zh-CN" altLang="zh-CN" b="1" dirty="0">
                <a:solidFill>
                  <a:srgbClr val="245794"/>
                </a:solidFill>
              </a:rPr>
              <a:t>函数。</a:t>
            </a:r>
            <a:endParaRPr lang="en-US" altLang="zh-CN" b="1" dirty="0">
              <a:solidFill>
                <a:srgbClr val="245794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0524" y="3884466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s1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"Please enter a string:"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range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(s1)-1,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(s1[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],end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''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949570" y="3784223"/>
            <a:ext cx="1733909" cy="1167339"/>
            <a:chOff x="1949570" y="3784223"/>
            <a:chExt cx="1733909" cy="1167339"/>
          </a:xfrm>
        </p:grpSpPr>
        <p:cxnSp>
          <p:nvCxnSpPr>
            <p:cNvPr id="10" name="直接连接符 9"/>
            <p:cNvCxnSpPr/>
            <p:nvPr/>
          </p:nvCxnSpPr>
          <p:spPr bwMode="auto">
            <a:xfrm>
              <a:off x="1949570" y="3804249"/>
              <a:ext cx="1733909" cy="1104181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直接连接符 11"/>
            <p:cNvCxnSpPr/>
            <p:nvPr/>
          </p:nvCxnSpPr>
          <p:spPr bwMode="auto">
            <a:xfrm flipH="1">
              <a:off x="1966823" y="3784223"/>
              <a:ext cx="1699403" cy="1167339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4" name="圆角矩形 13"/>
          <p:cNvSpPr/>
          <p:nvPr/>
        </p:nvSpPr>
        <p:spPr>
          <a:xfrm>
            <a:off x="5305245" y="3957482"/>
            <a:ext cx="3614468" cy="71508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en-US" altLang="zh-CN" dirty="0" err="1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i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的取值范围为从</a:t>
            </a:r>
            <a:r>
              <a:rPr lang="en-US" altLang="zh-CN" dirty="0" err="1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len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(s1)-1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到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，导致左数第一个字符没有打印</a:t>
            </a:r>
            <a:endParaRPr lang="zh-CN" altLang="en-US" b="1" dirty="0">
              <a:solidFill>
                <a:srgbClr val="FF0000"/>
              </a:solidFill>
              <a:latin typeface="Consolas" panose="020B060902020403020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30524" y="5162367"/>
            <a:ext cx="46970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Please enter a string:hello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olle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35F781-88ED-477D-90F0-BDF5CC63BD07}"/>
              </a:ext>
            </a:extLst>
          </p:cNvPr>
          <p:cNvSpPr/>
          <p:nvPr/>
        </p:nvSpPr>
        <p:spPr>
          <a:xfrm>
            <a:off x="4191000" y="560097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s1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"Please enter a string:"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range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(s1)-1,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-1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(s1[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],end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''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60047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animBg="1"/>
      <p:bldP spid="15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字符串的索引</a:t>
            </a:r>
          </a:p>
        </p:txBody>
      </p:sp>
      <p:sp>
        <p:nvSpPr>
          <p:cNvPr id="4" name="矩形 3"/>
          <p:cNvSpPr/>
          <p:nvPr/>
        </p:nvSpPr>
        <p:spPr>
          <a:xfrm>
            <a:off x="590908" y="1217733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s1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"Please enter a string:"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range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(s1),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(s1[i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],end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''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矩形 5"/>
          <p:cNvSpPr/>
          <p:nvPr/>
        </p:nvSpPr>
        <p:spPr>
          <a:xfrm>
            <a:off x="590908" y="2406618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s1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"Please enter a string:"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range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(s1)):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(s1[</a:t>
            </a:r>
            <a:r>
              <a:rPr lang="en-US" altLang="zh-CN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(s1)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i],end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''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矩形 6"/>
          <p:cNvSpPr/>
          <p:nvPr/>
        </p:nvSpPr>
        <p:spPr>
          <a:xfrm>
            <a:off x="590908" y="3595503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s1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"Please enter a string:"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range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(s1)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(s1[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],end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''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矩形 7"/>
          <p:cNvSpPr/>
          <p:nvPr/>
        </p:nvSpPr>
        <p:spPr>
          <a:xfrm>
            <a:off x="683569" y="4784388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s1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"Please enter a string:"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reversed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(s1):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i,end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''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5255569" y="2768092"/>
            <a:ext cx="3614468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通过</a:t>
            </a:r>
            <a:r>
              <a:rPr lang="en-US" altLang="zh-CN" dirty="0" err="1">
                <a:solidFill>
                  <a:srgbClr val="00B0F0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(s1)-1-i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计算索引编号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5255569" y="3924032"/>
            <a:ext cx="3614468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en-US" altLang="zh-CN" dirty="0" err="1">
                <a:solidFill>
                  <a:srgbClr val="00B0F0"/>
                </a:solidFill>
                <a:latin typeface="Consolas" panose="020B0609020204030204" pitchFamily="49" charset="0"/>
              </a:rPr>
              <a:t>i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从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到</a:t>
            </a:r>
            <a:r>
              <a:rPr lang="en-US" altLang="zh-CN" dirty="0" err="1">
                <a:solidFill>
                  <a:srgbClr val="00B0F0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(s1)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，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-</a:t>
            </a:r>
            <a:r>
              <a:rPr lang="en-US" altLang="zh-CN" dirty="0" err="1">
                <a:solidFill>
                  <a:srgbClr val="00B0F0"/>
                </a:solidFill>
                <a:latin typeface="Consolas" panose="020B0609020204030204" pitchFamily="49" charset="0"/>
              </a:rPr>
              <a:t>i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为索引编号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5255569" y="4908695"/>
            <a:ext cx="3614468" cy="1021556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利用内置函数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reversed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得到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s1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的倒序迭代</a:t>
            </a:r>
            <a:r>
              <a:rPr lang="zh-CN" altLang="en-US" dirty="0">
                <a:solidFill>
                  <a:srgbClr val="204A87"/>
                </a:solidFill>
                <a:latin typeface="Consolas" panose="020B0609020204030204" pitchFamily="49" charset="0"/>
              </a:rPr>
              <a:t>，</a:t>
            </a:r>
            <a:r>
              <a:rPr lang="zh-CN" alt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注意：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这里的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不是索引编号，而是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s1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中的字符</a:t>
            </a:r>
            <a:endParaRPr lang="zh-CN" altLang="en-US" dirty="0">
              <a:solidFill>
                <a:srgbClr val="FF0000"/>
              </a:solidFill>
              <a:latin typeface="Consolas" panose="020B0609020204030204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5255569" y="1491858"/>
            <a:ext cx="3614468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en-US" altLang="zh-CN" dirty="0" err="1">
                <a:solidFill>
                  <a:srgbClr val="00B0F0"/>
                </a:solidFill>
                <a:latin typeface="Consolas" panose="020B0609020204030204" pitchFamily="49" charset="0"/>
              </a:rPr>
              <a:t>i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从</a:t>
            </a:r>
            <a:r>
              <a:rPr lang="en-US" altLang="zh-CN" dirty="0" err="1">
                <a:solidFill>
                  <a:srgbClr val="00B0F0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(s1)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到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，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i-1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为索引编号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85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1987271"/>
          </a:xfrm>
        </p:spPr>
        <p:txBody>
          <a:bodyPr/>
          <a:lstStyle/>
          <a:p>
            <a:pPr>
              <a:lnSpc>
                <a:spcPts val="2600"/>
              </a:lnSpc>
            </a:pPr>
            <a:r>
              <a:rPr lang="zh-CN" altLang="en-US" dirty="0"/>
              <a:t>字符串的分片</a:t>
            </a:r>
            <a:r>
              <a:rPr lang="en-US" altLang="zh-CN" dirty="0"/>
              <a:t>(</a:t>
            </a:r>
            <a:r>
              <a:rPr lang="zh-CN" altLang="en-US" dirty="0"/>
              <a:t>也称切片、</a:t>
            </a:r>
            <a:r>
              <a:rPr lang="en-US" altLang="zh-CN" dirty="0" err="1"/>
              <a:t>slilce</a:t>
            </a:r>
            <a:r>
              <a:rPr lang="en-US" altLang="zh-CN" dirty="0"/>
              <a:t>)</a:t>
            </a:r>
            <a:r>
              <a:rPr lang="zh-CN" altLang="en-US" dirty="0"/>
              <a:t>就是从给定的字符串中抽取出部分字符组成新的字符串</a:t>
            </a:r>
            <a:endParaRPr lang="en-US" altLang="zh-CN" dirty="0"/>
          </a:p>
          <a:p>
            <a:pPr lvl="1">
              <a:lnSpc>
                <a:spcPts val="2600"/>
              </a:lnSpc>
            </a:pPr>
            <a:r>
              <a:rPr lang="zh-CN" altLang="en-US" dirty="0"/>
              <a:t>这时可以使用以下形式的字符串索引编号</a:t>
            </a:r>
            <a:r>
              <a:rPr lang="en-US" altLang="zh-CN" dirty="0"/>
              <a:t>:  </a:t>
            </a:r>
            <a:br>
              <a:rPr lang="en-US" altLang="zh-CN" dirty="0"/>
            </a:br>
            <a:r>
              <a:rPr lang="en-US" altLang="zh-CN" b="1" dirty="0">
                <a:solidFill>
                  <a:srgbClr val="FF0000"/>
                </a:solidFill>
              </a:rPr>
              <a:t> i:j:k</a:t>
            </a:r>
          </a:p>
          <a:p>
            <a:pPr lvl="1">
              <a:lnSpc>
                <a:spcPts val="2600"/>
              </a:lnSpc>
            </a:pPr>
            <a:r>
              <a:rPr lang="en-US" altLang="zh-CN" dirty="0" err="1"/>
              <a:t>i</a:t>
            </a:r>
            <a:r>
              <a:rPr lang="zh-CN" altLang="en-US" dirty="0"/>
              <a:t>，</a:t>
            </a:r>
            <a:r>
              <a:rPr lang="en-US" altLang="zh-CN" dirty="0"/>
              <a:t>j</a:t>
            </a:r>
            <a:r>
              <a:rPr lang="zh-CN" altLang="en-US" dirty="0"/>
              <a:t>，</a:t>
            </a:r>
            <a:r>
              <a:rPr lang="en-US" altLang="zh-CN" dirty="0"/>
              <a:t>k</a:t>
            </a:r>
            <a:r>
              <a:rPr lang="zh-CN" altLang="en-US" dirty="0"/>
              <a:t>均为整数，其中</a:t>
            </a:r>
            <a:r>
              <a:rPr lang="en-US" altLang="zh-CN" dirty="0" err="1"/>
              <a:t>i</a:t>
            </a:r>
            <a:r>
              <a:rPr lang="zh-CN" altLang="en-US" dirty="0"/>
              <a:t>是索引起始位置，</a:t>
            </a:r>
            <a:r>
              <a:rPr lang="en-US" altLang="zh-CN" dirty="0"/>
              <a:t>j</a:t>
            </a:r>
            <a:r>
              <a:rPr lang="zh-CN" altLang="en-US" dirty="0"/>
              <a:t>是索引结束位置但不包括</a:t>
            </a:r>
            <a:r>
              <a:rPr lang="en-US" altLang="zh-CN" dirty="0"/>
              <a:t>j</a:t>
            </a:r>
            <a:r>
              <a:rPr lang="zh-CN" altLang="en-US" dirty="0"/>
              <a:t>位置上的字符，索引编号每次增加的步长为</a:t>
            </a:r>
            <a:r>
              <a:rPr lang="en-US" altLang="zh-CN" dirty="0"/>
              <a:t>k</a:t>
            </a:r>
            <a:r>
              <a:rPr lang="zh-CN" altLang="en-US" dirty="0"/>
              <a:t>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字符串的分片</a:t>
            </a:r>
          </a:p>
        </p:txBody>
      </p:sp>
      <p:sp>
        <p:nvSpPr>
          <p:cNvPr id="4" name="矩形 3"/>
          <p:cNvSpPr/>
          <p:nvPr/>
        </p:nvSpPr>
        <p:spPr>
          <a:xfrm>
            <a:off x="613120" y="3248051"/>
            <a:ext cx="8149880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zh-CN" altLang="en-US" dirty="0">
                <a:latin typeface="Consolas" panose="020B0609020204030204" charset="0"/>
                <a:sym typeface="+mn-ea"/>
              </a:rPr>
              <a:t>&gt;&gt;&gt; </a:t>
            </a:r>
            <a:r>
              <a:rPr lang="en-US" altLang="zh-CN" dirty="0">
                <a:latin typeface="Consolas" panose="020B0609020204030204" charset="0"/>
                <a:sym typeface="+mn-ea"/>
              </a:rPr>
              <a:t>s = "Hello World!"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zh-CN" altLang="en-US" dirty="0">
                <a:latin typeface="Consolas" panose="020B0609020204030204" charset="0"/>
                <a:sym typeface="+mn-ea"/>
              </a:rPr>
              <a:t>&gt;&gt;&gt; </a:t>
            </a:r>
            <a:r>
              <a:rPr lang="en-US" altLang="zh-CN" dirty="0">
                <a:latin typeface="Consolas" panose="020B0609020204030204" charset="0"/>
                <a:sym typeface="+mn-ea"/>
              </a:rPr>
              <a:t>s[0:5:2]</a:t>
            </a:r>
            <a:r>
              <a:rPr lang="zh-CN" altLang="en-US" dirty="0">
                <a:latin typeface="Consolas" panose="020B0609020204030204" charset="0"/>
                <a:sym typeface="+mn-ea"/>
              </a:rPr>
              <a:t> </a:t>
            </a:r>
            <a:endParaRPr lang="en-US" altLang="zh-CN" dirty="0">
              <a:latin typeface="Consolas" panose="020B0609020204030204" charset="0"/>
              <a:sym typeface="+mn-ea"/>
            </a:endParaRP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'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Hlo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'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zh-CN" altLang="en-US" dirty="0">
                <a:latin typeface="Consolas" panose="020B0609020204030204" charset="0"/>
                <a:sym typeface="+mn-ea"/>
              </a:rPr>
              <a:t>&gt;&gt;&gt; </a:t>
            </a:r>
            <a:r>
              <a:rPr lang="en-US" altLang="zh-CN" dirty="0">
                <a:latin typeface="Consolas" panose="020B0609020204030204" charset="0"/>
                <a:sym typeface="+mn-ea"/>
              </a:rPr>
              <a:t>s[5:1:-1]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' 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oll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'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zh-CN" altLang="en-US" dirty="0">
                <a:latin typeface="Consolas" panose="020B0609020204030204" charset="0"/>
                <a:sym typeface="+mn-ea"/>
              </a:rPr>
              <a:t>&gt;&gt;&gt; </a:t>
            </a:r>
            <a:r>
              <a:rPr lang="en-US" altLang="zh-CN" dirty="0">
                <a:latin typeface="Consolas" panose="020B0609020204030204" charset="0"/>
                <a:sym typeface="+mn-ea"/>
              </a:rPr>
              <a:t>s[</a:t>
            </a:r>
            <a:r>
              <a:rPr lang="en-US" altLang="zh-CN" dirty="0" err="1">
                <a:latin typeface="Consolas" panose="020B0609020204030204" charset="0"/>
                <a:sym typeface="+mn-ea"/>
              </a:rPr>
              <a:t>len</a:t>
            </a:r>
            <a:r>
              <a:rPr lang="en-US" altLang="zh-CN" dirty="0">
                <a:latin typeface="Consolas" panose="020B0609020204030204" charset="0"/>
                <a:sym typeface="+mn-ea"/>
              </a:rPr>
              <a:t>(s)-1::-1]</a:t>
            </a:r>
            <a:r>
              <a:rPr lang="zh-CN" altLang="en-US" dirty="0">
                <a:latin typeface="Consolas" panose="020B0609020204030204" charset="0"/>
                <a:sym typeface="+mn-ea"/>
              </a:rPr>
              <a:t> </a:t>
            </a:r>
            <a:endParaRPr lang="en-US" altLang="zh-CN" dirty="0">
              <a:latin typeface="Consolas" panose="020B0609020204030204" charset="0"/>
              <a:sym typeface="+mn-ea"/>
            </a:endParaRP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'!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dlroW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 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olleH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'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zh-CN" altLang="en-US" dirty="0">
                <a:latin typeface="Consolas" panose="020B0609020204030204" charset="0"/>
                <a:sym typeface="+mn-ea"/>
              </a:rPr>
              <a:t>&gt;&gt;&gt; </a:t>
            </a:r>
            <a:r>
              <a:rPr lang="en-US" altLang="zh-CN" dirty="0">
                <a:latin typeface="Consolas" panose="020B0609020204030204" charset="0"/>
                <a:sym typeface="+mn-ea"/>
              </a:rPr>
              <a:t>s[</a:t>
            </a:r>
            <a:r>
              <a:rPr lang="en-US" altLang="zh-CN" dirty="0" err="1">
                <a:latin typeface="Consolas" panose="020B0609020204030204" charset="0"/>
                <a:sym typeface="+mn-ea"/>
              </a:rPr>
              <a:t>len</a:t>
            </a:r>
            <a:r>
              <a:rPr lang="en-US" altLang="zh-CN" dirty="0">
                <a:latin typeface="Consolas" panose="020B0609020204030204" charset="0"/>
                <a:sym typeface="+mn-ea"/>
              </a:rPr>
              <a:t>(s)-1: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0</a:t>
            </a:r>
            <a:r>
              <a:rPr lang="en-US" altLang="zh-CN" dirty="0">
                <a:latin typeface="Consolas" panose="020B0609020204030204" charset="0"/>
                <a:sym typeface="+mn-ea"/>
              </a:rPr>
              <a:t>:-1]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</a:rPr>
              <a:t>'!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charset="0"/>
              </a:rPr>
              <a:t>dlroW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</a:rPr>
              <a:t> 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charset="0"/>
              </a:rPr>
              <a:t>olle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</a:rPr>
              <a:t>'</a:t>
            </a:r>
            <a:endParaRPr lang="zh-CN" altLang="en-US" b="1" dirty="0">
              <a:solidFill>
                <a:srgbClr val="C00000"/>
              </a:solidFill>
              <a:latin typeface="Consolas" panose="020B0609020204030204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426768" y="3668594"/>
            <a:ext cx="5336232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得到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s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的第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0,2,4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个字符字符组成的新字符串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426768" y="4197982"/>
            <a:ext cx="5336232" cy="71508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得到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s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的第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5,4,3,2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个字符组成的新字符串，注意：新字符串的第一个字符为空格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426767" y="5005189"/>
            <a:ext cx="5336233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得到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s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的逆序的拷贝，等价于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s[-1::-1]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或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s[::-1]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426768" y="5679225"/>
            <a:ext cx="5336232" cy="71508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比起上面的写法少了左数第一个字符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H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， 等价于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s[-1:0:-1]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9581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7B63F0F-6BA6-476B-9A9A-B2ECAA76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9" y="127686"/>
            <a:ext cx="3071100" cy="609600"/>
          </a:xfrm>
        </p:spPr>
        <p:txBody>
          <a:bodyPr/>
          <a:lstStyle/>
          <a:p>
            <a:r>
              <a:rPr lang="zh-CN" altLang="en-US" dirty="0"/>
              <a:t>字符串</a:t>
            </a:r>
            <a:r>
              <a:rPr lang="en-US" altLang="zh-CN" dirty="0"/>
              <a:t>s=‘hello’</a:t>
            </a:r>
            <a:r>
              <a:rPr lang="zh-CN" altLang="en-US" dirty="0"/>
              <a:t>的分片的计算过程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815349-AE4B-4093-8B44-BE967C267621}"/>
              </a:ext>
            </a:extLst>
          </p:cNvPr>
          <p:cNvSpPr txBox="1"/>
          <p:nvPr/>
        </p:nvSpPr>
        <p:spPr>
          <a:xfrm>
            <a:off x="511729" y="1048624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s[-5:4:2]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021AE1-3A0F-49E8-BF92-27034AA0E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885" y="-2267"/>
            <a:ext cx="4500827" cy="90118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E17D434-E3AD-4E68-873C-BC425BF2B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10" y="1933994"/>
            <a:ext cx="2854923" cy="295275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B541D38-A4F6-468A-9A98-65F4CB74C3C2}"/>
              </a:ext>
            </a:extLst>
          </p:cNvPr>
          <p:cNvCxnSpPr/>
          <p:nvPr/>
        </p:nvCxnSpPr>
        <p:spPr bwMode="auto">
          <a:xfrm flipH="1" flipV="1">
            <a:off x="524179" y="2229269"/>
            <a:ext cx="90615" cy="2474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FECC3C62-D418-443E-9954-BF7FD4396A32}"/>
              </a:ext>
            </a:extLst>
          </p:cNvPr>
          <p:cNvSpPr txBox="1"/>
          <p:nvPr/>
        </p:nvSpPr>
        <p:spPr>
          <a:xfrm>
            <a:off x="369702" y="2400964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begin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4C43234-5E40-4E5F-B6D6-20086BBEB002}"/>
              </a:ext>
            </a:extLst>
          </p:cNvPr>
          <p:cNvCxnSpPr/>
          <p:nvPr/>
        </p:nvCxnSpPr>
        <p:spPr bwMode="auto">
          <a:xfrm flipV="1">
            <a:off x="2661708" y="2229269"/>
            <a:ext cx="93943" cy="2474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B6AE817-3CA1-4E16-B08D-03955810EE76}"/>
              </a:ext>
            </a:extLst>
          </p:cNvPr>
          <p:cNvSpPr txBox="1"/>
          <p:nvPr/>
        </p:nvSpPr>
        <p:spPr>
          <a:xfrm>
            <a:off x="2219338" y="2400964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end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BE3749B-60CA-43A6-92B4-05C230B4FAA7}"/>
              </a:ext>
            </a:extLst>
          </p:cNvPr>
          <p:cNvSpPr txBox="1"/>
          <p:nvPr/>
        </p:nvSpPr>
        <p:spPr>
          <a:xfrm>
            <a:off x="129077" y="2788756"/>
            <a:ext cx="3889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因为</a:t>
            </a:r>
            <a:r>
              <a:rPr lang="en-US" altLang="zh-CN" dirty="0"/>
              <a:t>step=2&gt;0</a:t>
            </a:r>
            <a:r>
              <a:rPr lang="zh-CN" altLang="en-US" dirty="0"/>
              <a:t>，所以分片从左到右重复判断</a:t>
            </a:r>
            <a:r>
              <a:rPr lang="en-US" altLang="zh-CN" dirty="0"/>
              <a:t>begin&lt;end</a:t>
            </a:r>
            <a:r>
              <a:rPr lang="zh-CN" altLang="en-US" dirty="0"/>
              <a:t>，直至为假。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7E5F461-3594-4B32-BBE1-BB93CD3D8A3E}"/>
              </a:ext>
            </a:extLst>
          </p:cNvPr>
          <p:cNvSpPr txBox="1"/>
          <p:nvPr/>
        </p:nvSpPr>
        <p:spPr>
          <a:xfrm>
            <a:off x="184558" y="1501629"/>
            <a:ext cx="3666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初始状态：</a:t>
            </a:r>
            <a:r>
              <a:rPr lang="en-US" altLang="zh-CN" dirty="0">
                <a:solidFill>
                  <a:srgbClr val="0070C0"/>
                </a:solidFill>
              </a:rPr>
              <a:t>-5</a:t>
            </a:r>
            <a:r>
              <a:rPr lang="zh-CN" altLang="en-US" dirty="0">
                <a:solidFill>
                  <a:srgbClr val="0070C0"/>
                </a:solidFill>
              </a:rPr>
              <a:t>为字符</a:t>
            </a:r>
            <a:r>
              <a:rPr lang="en-US" altLang="zh-CN" dirty="0">
                <a:solidFill>
                  <a:srgbClr val="0070C0"/>
                </a:solidFill>
              </a:rPr>
              <a:t>H</a:t>
            </a:r>
            <a:r>
              <a:rPr lang="zh-CN" altLang="en-US" dirty="0">
                <a:solidFill>
                  <a:srgbClr val="0070C0"/>
                </a:solidFill>
              </a:rPr>
              <a:t>，</a:t>
            </a:r>
            <a:r>
              <a:rPr lang="en-US" altLang="zh-CN" dirty="0">
                <a:solidFill>
                  <a:srgbClr val="0070C0"/>
                </a:solidFill>
              </a:rPr>
              <a:t>4</a:t>
            </a:r>
            <a:r>
              <a:rPr lang="zh-CN" altLang="en-US" dirty="0">
                <a:solidFill>
                  <a:srgbClr val="0070C0"/>
                </a:solidFill>
              </a:rPr>
              <a:t>为字符</a:t>
            </a:r>
            <a:r>
              <a:rPr lang="en-US" altLang="zh-CN" dirty="0">
                <a:solidFill>
                  <a:srgbClr val="0070C0"/>
                </a:solidFill>
              </a:rPr>
              <a:t>o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6EFD888-9D38-4C7E-A800-639434C0A55D}"/>
              </a:ext>
            </a:extLst>
          </p:cNvPr>
          <p:cNvSpPr txBox="1"/>
          <p:nvPr/>
        </p:nvSpPr>
        <p:spPr>
          <a:xfrm>
            <a:off x="184558" y="3625242"/>
            <a:ext cx="2558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输出</a:t>
            </a:r>
            <a:r>
              <a:rPr lang="en-US" altLang="zh-CN" dirty="0">
                <a:solidFill>
                  <a:srgbClr val="0070C0"/>
                </a:solidFill>
              </a:rPr>
              <a:t>H</a:t>
            </a:r>
            <a:r>
              <a:rPr lang="zh-CN" altLang="en-US" dirty="0">
                <a:solidFill>
                  <a:srgbClr val="0070C0"/>
                </a:solidFill>
              </a:rPr>
              <a:t>，</a:t>
            </a:r>
            <a:r>
              <a:rPr lang="en-US" altLang="zh-CN" dirty="0">
                <a:solidFill>
                  <a:srgbClr val="0070C0"/>
                </a:solidFill>
              </a:rPr>
              <a:t>begin+=step</a:t>
            </a:r>
            <a:endParaRPr lang="zh-CN" altLang="en-US" dirty="0">
              <a:solidFill>
                <a:srgbClr val="0070C0"/>
              </a:solidFill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C5D240EC-8F5C-473F-8CAA-0038DD1C7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58" y="4057607"/>
            <a:ext cx="2854923" cy="295275"/>
          </a:xfrm>
          <a:prstGeom prst="rect">
            <a:avLst/>
          </a:prstGeom>
        </p:spPr>
      </p:pic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57776067-5E08-4707-B8E9-EFF8824143FC}"/>
              </a:ext>
            </a:extLst>
          </p:cNvPr>
          <p:cNvCxnSpPr>
            <a:endCxn id="29" idx="2"/>
          </p:cNvCxnSpPr>
          <p:nvPr/>
        </p:nvCxnSpPr>
        <p:spPr bwMode="auto">
          <a:xfrm flipV="1">
            <a:off x="579843" y="4352882"/>
            <a:ext cx="1032177" cy="2474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77533DAB-EC44-4DBB-9F3E-635535B14428}"/>
              </a:ext>
            </a:extLst>
          </p:cNvPr>
          <p:cNvSpPr txBox="1"/>
          <p:nvPr/>
        </p:nvSpPr>
        <p:spPr>
          <a:xfrm>
            <a:off x="334750" y="4524577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begin</a:t>
            </a:r>
            <a:endParaRPr lang="zh-CN" altLang="en-US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9D7A13DF-CF5E-40D4-B35C-7BD9F4EF9075}"/>
              </a:ext>
            </a:extLst>
          </p:cNvPr>
          <p:cNvCxnSpPr/>
          <p:nvPr/>
        </p:nvCxnSpPr>
        <p:spPr bwMode="auto">
          <a:xfrm flipV="1">
            <a:off x="2626756" y="4352882"/>
            <a:ext cx="93943" cy="2474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1B92CDFF-4131-453C-954C-CD4E6B0695BC}"/>
              </a:ext>
            </a:extLst>
          </p:cNvPr>
          <p:cNvSpPr txBox="1"/>
          <p:nvPr/>
        </p:nvSpPr>
        <p:spPr>
          <a:xfrm>
            <a:off x="2184386" y="4524577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end</a:t>
            </a:r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73EA2F3-01D7-4EC1-BDBD-5B666DFAEB82}"/>
              </a:ext>
            </a:extLst>
          </p:cNvPr>
          <p:cNvSpPr txBox="1"/>
          <p:nvPr/>
        </p:nvSpPr>
        <p:spPr>
          <a:xfrm>
            <a:off x="219510" y="4950728"/>
            <a:ext cx="2449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输出</a:t>
            </a:r>
            <a:r>
              <a:rPr lang="en-US" altLang="zh-CN" dirty="0">
                <a:solidFill>
                  <a:srgbClr val="0070C0"/>
                </a:solidFill>
              </a:rPr>
              <a:t>l</a:t>
            </a:r>
            <a:r>
              <a:rPr lang="zh-CN" altLang="en-US" dirty="0">
                <a:solidFill>
                  <a:srgbClr val="0070C0"/>
                </a:solidFill>
              </a:rPr>
              <a:t>，</a:t>
            </a:r>
            <a:r>
              <a:rPr lang="en-US" altLang="zh-CN" dirty="0">
                <a:solidFill>
                  <a:srgbClr val="0070C0"/>
                </a:solidFill>
              </a:rPr>
              <a:t>begin+=step</a:t>
            </a:r>
            <a:endParaRPr lang="zh-CN" altLang="en-US" dirty="0">
              <a:solidFill>
                <a:srgbClr val="0070C0"/>
              </a:solidFill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9634E3E7-5CB1-4395-913F-7FC387350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10" y="5383093"/>
            <a:ext cx="2854923" cy="295275"/>
          </a:xfrm>
          <a:prstGeom prst="rect">
            <a:avLst/>
          </a:prstGeom>
        </p:spPr>
      </p:pic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71417483-619D-4B1A-97B2-AAA88CA2A650}"/>
              </a:ext>
            </a:extLst>
          </p:cNvPr>
          <p:cNvCxnSpPr/>
          <p:nvPr/>
        </p:nvCxnSpPr>
        <p:spPr bwMode="auto">
          <a:xfrm flipV="1">
            <a:off x="614795" y="5678368"/>
            <a:ext cx="2054425" cy="2474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2709C727-2ADF-42AB-91A8-937480981367}"/>
              </a:ext>
            </a:extLst>
          </p:cNvPr>
          <p:cNvSpPr txBox="1"/>
          <p:nvPr/>
        </p:nvSpPr>
        <p:spPr>
          <a:xfrm>
            <a:off x="369702" y="5850063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begin</a:t>
            </a:r>
            <a:endParaRPr lang="zh-CN" altLang="en-US" dirty="0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9A7F9FA0-B25B-417A-A6F8-E03E4CEE9423}"/>
              </a:ext>
            </a:extLst>
          </p:cNvPr>
          <p:cNvCxnSpPr/>
          <p:nvPr/>
        </p:nvCxnSpPr>
        <p:spPr bwMode="auto">
          <a:xfrm flipV="1">
            <a:off x="2661708" y="5678368"/>
            <a:ext cx="93943" cy="2474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C228C86F-5091-4142-971E-F2214C925410}"/>
              </a:ext>
            </a:extLst>
          </p:cNvPr>
          <p:cNvSpPr txBox="1"/>
          <p:nvPr/>
        </p:nvSpPr>
        <p:spPr>
          <a:xfrm>
            <a:off x="2219338" y="5850063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end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4124376-0579-43D7-B35A-CC8AD8F361FB}"/>
              </a:ext>
            </a:extLst>
          </p:cNvPr>
          <p:cNvSpPr txBox="1"/>
          <p:nvPr/>
        </p:nvSpPr>
        <p:spPr>
          <a:xfrm>
            <a:off x="184558" y="6329537"/>
            <a:ext cx="3054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begin&lt;end</a:t>
            </a:r>
            <a:r>
              <a:rPr lang="zh-CN" altLang="en-US" dirty="0">
                <a:solidFill>
                  <a:srgbClr val="0070C0"/>
                </a:solidFill>
              </a:rPr>
              <a:t>为假，停止计算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8181038-C8D4-4D37-A28F-00C40170C451}"/>
              </a:ext>
            </a:extLst>
          </p:cNvPr>
          <p:cNvSpPr txBox="1"/>
          <p:nvPr/>
        </p:nvSpPr>
        <p:spPr>
          <a:xfrm>
            <a:off x="5065239" y="1048624"/>
            <a:ext cx="1468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s[4:-5:-2]</a:t>
            </a: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3AEB061E-72BA-4CC8-8AE6-AA8E5EC13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020" y="1933994"/>
            <a:ext cx="2854923" cy="295275"/>
          </a:xfrm>
          <a:prstGeom prst="rect">
            <a:avLst/>
          </a:prstGeom>
        </p:spPr>
      </p:pic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1A459FA4-FCA9-4D3F-AEA3-75822D6D0345}"/>
              </a:ext>
            </a:extLst>
          </p:cNvPr>
          <p:cNvCxnSpPr/>
          <p:nvPr/>
        </p:nvCxnSpPr>
        <p:spPr bwMode="auto">
          <a:xfrm flipH="1" flipV="1">
            <a:off x="5077689" y="2229269"/>
            <a:ext cx="90615" cy="2474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F6101FC7-5A98-4320-8891-6FD2E0FA763E}"/>
              </a:ext>
            </a:extLst>
          </p:cNvPr>
          <p:cNvSpPr txBox="1"/>
          <p:nvPr/>
        </p:nvSpPr>
        <p:spPr>
          <a:xfrm>
            <a:off x="4923212" y="2400964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end</a:t>
            </a:r>
            <a:endParaRPr lang="zh-CN" altLang="en-US" dirty="0"/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AFC44500-09A0-4743-8616-2FE35529F027}"/>
              </a:ext>
            </a:extLst>
          </p:cNvPr>
          <p:cNvCxnSpPr/>
          <p:nvPr/>
        </p:nvCxnSpPr>
        <p:spPr bwMode="auto">
          <a:xfrm flipV="1">
            <a:off x="7215218" y="2229269"/>
            <a:ext cx="93943" cy="2474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EEA08980-4237-4091-BE8E-375212C97469}"/>
              </a:ext>
            </a:extLst>
          </p:cNvPr>
          <p:cNvSpPr txBox="1"/>
          <p:nvPr/>
        </p:nvSpPr>
        <p:spPr>
          <a:xfrm>
            <a:off x="6772848" y="2400964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begin</a:t>
            </a:r>
            <a:endParaRPr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18EF6D1-4082-47B7-90AA-458AC3478D12}"/>
              </a:ext>
            </a:extLst>
          </p:cNvPr>
          <p:cNvSpPr txBox="1"/>
          <p:nvPr/>
        </p:nvSpPr>
        <p:spPr>
          <a:xfrm>
            <a:off x="4682587" y="2788756"/>
            <a:ext cx="4021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因为</a:t>
            </a:r>
            <a:r>
              <a:rPr lang="en-US" altLang="zh-CN" dirty="0"/>
              <a:t>step=-2&lt;0</a:t>
            </a:r>
            <a:r>
              <a:rPr lang="zh-CN" altLang="en-US" dirty="0"/>
              <a:t>，所以分片从右到左重复判断</a:t>
            </a:r>
            <a:r>
              <a:rPr lang="en-US" altLang="zh-CN" dirty="0"/>
              <a:t>begin&gt;end</a:t>
            </a:r>
            <a:r>
              <a:rPr lang="zh-CN" altLang="en-US" dirty="0"/>
              <a:t>，直至为假。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500DA7B-B118-44BB-B346-6D0B45DDE086}"/>
              </a:ext>
            </a:extLst>
          </p:cNvPr>
          <p:cNvSpPr txBox="1"/>
          <p:nvPr/>
        </p:nvSpPr>
        <p:spPr>
          <a:xfrm>
            <a:off x="4738068" y="1501629"/>
            <a:ext cx="3666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初始状态：</a:t>
            </a:r>
            <a:r>
              <a:rPr lang="en-US" altLang="zh-CN" dirty="0">
                <a:solidFill>
                  <a:srgbClr val="0070C0"/>
                </a:solidFill>
              </a:rPr>
              <a:t>4</a:t>
            </a:r>
            <a:r>
              <a:rPr lang="zh-CN" altLang="en-US" dirty="0">
                <a:solidFill>
                  <a:srgbClr val="0070C0"/>
                </a:solidFill>
              </a:rPr>
              <a:t>为字符</a:t>
            </a:r>
            <a:r>
              <a:rPr lang="en-US" altLang="zh-CN" dirty="0">
                <a:solidFill>
                  <a:srgbClr val="0070C0"/>
                </a:solidFill>
              </a:rPr>
              <a:t>o</a:t>
            </a:r>
            <a:r>
              <a:rPr lang="zh-CN" altLang="en-US" dirty="0">
                <a:solidFill>
                  <a:srgbClr val="0070C0"/>
                </a:solidFill>
              </a:rPr>
              <a:t>，</a:t>
            </a:r>
            <a:r>
              <a:rPr lang="en-US" altLang="zh-CN" dirty="0">
                <a:solidFill>
                  <a:srgbClr val="0070C0"/>
                </a:solidFill>
              </a:rPr>
              <a:t>-5</a:t>
            </a:r>
            <a:r>
              <a:rPr lang="zh-CN" altLang="en-US" dirty="0">
                <a:solidFill>
                  <a:srgbClr val="0070C0"/>
                </a:solidFill>
              </a:rPr>
              <a:t>为字符</a:t>
            </a:r>
            <a:r>
              <a:rPr lang="en-US" altLang="zh-CN" dirty="0">
                <a:solidFill>
                  <a:srgbClr val="0070C0"/>
                </a:solidFill>
              </a:rPr>
              <a:t>H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4B8BF09-053D-40BC-BA45-8EC49CF895CA}"/>
              </a:ext>
            </a:extLst>
          </p:cNvPr>
          <p:cNvSpPr txBox="1"/>
          <p:nvPr/>
        </p:nvSpPr>
        <p:spPr>
          <a:xfrm>
            <a:off x="4738068" y="3625242"/>
            <a:ext cx="2558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输出</a:t>
            </a:r>
            <a:r>
              <a:rPr lang="en-US" altLang="zh-CN" dirty="0">
                <a:solidFill>
                  <a:srgbClr val="0070C0"/>
                </a:solidFill>
              </a:rPr>
              <a:t>o</a:t>
            </a:r>
            <a:r>
              <a:rPr lang="zh-CN" altLang="en-US" dirty="0">
                <a:solidFill>
                  <a:srgbClr val="0070C0"/>
                </a:solidFill>
              </a:rPr>
              <a:t>，</a:t>
            </a:r>
            <a:r>
              <a:rPr lang="en-US" altLang="zh-CN" dirty="0">
                <a:solidFill>
                  <a:srgbClr val="0070C0"/>
                </a:solidFill>
              </a:rPr>
              <a:t>begin+=step</a:t>
            </a:r>
            <a:endParaRPr lang="zh-CN" altLang="en-US" dirty="0">
              <a:solidFill>
                <a:srgbClr val="0070C0"/>
              </a:solidFill>
            </a:endParaRP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1ABCC604-13FD-4D04-A952-EF8007ABA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068" y="4057607"/>
            <a:ext cx="2854923" cy="295275"/>
          </a:xfrm>
          <a:prstGeom prst="rect">
            <a:avLst/>
          </a:prstGeom>
        </p:spPr>
      </p:pic>
      <p:sp>
        <p:nvSpPr>
          <p:cNvPr id="57" name="文本框 56">
            <a:extLst>
              <a:ext uri="{FF2B5EF4-FFF2-40B4-BE49-F238E27FC236}">
                <a16:creationId xmlns:a16="http://schemas.microsoft.com/office/drawing/2014/main" id="{E8E1681E-B131-44AB-A278-8692F79467EB}"/>
              </a:ext>
            </a:extLst>
          </p:cNvPr>
          <p:cNvSpPr txBox="1"/>
          <p:nvPr/>
        </p:nvSpPr>
        <p:spPr>
          <a:xfrm>
            <a:off x="4773020" y="4950728"/>
            <a:ext cx="2449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输出</a:t>
            </a:r>
            <a:r>
              <a:rPr lang="en-US" altLang="zh-CN" dirty="0">
                <a:solidFill>
                  <a:srgbClr val="0070C0"/>
                </a:solidFill>
              </a:rPr>
              <a:t>l</a:t>
            </a:r>
            <a:r>
              <a:rPr lang="zh-CN" altLang="en-US" dirty="0">
                <a:solidFill>
                  <a:srgbClr val="0070C0"/>
                </a:solidFill>
              </a:rPr>
              <a:t>，</a:t>
            </a:r>
            <a:r>
              <a:rPr lang="en-US" altLang="zh-CN" dirty="0">
                <a:solidFill>
                  <a:srgbClr val="0070C0"/>
                </a:solidFill>
              </a:rPr>
              <a:t>begin+=step</a:t>
            </a:r>
            <a:endParaRPr lang="zh-CN" altLang="en-US" dirty="0">
              <a:solidFill>
                <a:srgbClr val="0070C0"/>
              </a:solidFill>
            </a:endParaRP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25BCAF74-9C37-4689-B247-B6199EA72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020" y="5383093"/>
            <a:ext cx="2854923" cy="295275"/>
          </a:xfrm>
          <a:prstGeom prst="rect">
            <a:avLst/>
          </a:prstGeom>
        </p:spPr>
      </p:pic>
      <p:sp>
        <p:nvSpPr>
          <p:cNvPr id="63" name="文本框 62">
            <a:extLst>
              <a:ext uri="{FF2B5EF4-FFF2-40B4-BE49-F238E27FC236}">
                <a16:creationId xmlns:a16="http://schemas.microsoft.com/office/drawing/2014/main" id="{4CB59680-3D4D-4FEB-B303-DB302F746EBA}"/>
              </a:ext>
            </a:extLst>
          </p:cNvPr>
          <p:cNvSpPr txBox="1"/>
          <p:nvPr/>
        </p:nvSpPr>
        <p:spPr>
          <a:xfrm>
            <a:off x="4738068" y="6329537"/>
            <a:ext cx="3054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begin&gt;end</a:t>
            </a:r>
            <a:r>
              <a:rPr lang="zh-CN" altLang="en-US" dirty="0">
                <a:solidFill>
                  <a:srgbClr val="0070C0"/>
                </a:solidFill>
              </a:rPr>
              <a:t>为假，停止计算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265B4154-709A-4AD1-98A9-133DF2469D3C}"/>
              </a:ext>
            </a:extLst>
          </p:cNvPr>
          <p:cNvCxnSpPr/>
          <p:nvPr/>
        </p:nvCxnSpPr>
        <p:spPr bwMode="auto">
          <a:xfrm flipH="1" flipV="1">
            <a:off x="5053208" y="4369693"/>
            <a:ext cx="90615" cy="2474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67DC4610-9DFC-4506-9F11-76AA2FBF433D}"/>
              </a:ext>
            </a:extLst>
          </p:cNvPr>
          <p:cNvSpPr txBox="1"/>
          <p:nvPr/>
        </p:nvSpPr>
        <p:spPr>
          <a:xfrm>
            <a:off x="4898731" y="4541388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end</a:t>
            </a:r>
            <a:endParaRPr lang="zh-CN" altLang="en-US" dirty="0"/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C54525F-24E2-4893-864B-74146DF8E895}"/>
              </a:ext>
            </a:extLst>
          </p:cNvPr>
          <p:cNvCxnSpPr>
            <a:endCxn id="52" idx="2"/>
          </p:cNvCxnSpPr>
          <p:nvPr/>
        </p:nvCxnSpPr>
        <p:spPr bwMode="auto">
          <a:xfrm flipH="1" flipV="1">
            <a:off x="6165530" y="4352882"/>
            <a:ext cx="1025207" cy="2642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0B8A26F9-14AF-4FA1-8994-C3C985C5FB07}"/>
              </a:ext>
            </a:extLst>
          </p:cNvPr>
          <p:cNvSpPr txBox="1"/>
          <p:nvPr/>
        </p:nvSpPr>
        <p:spPr>
          <a:xfrm>
            <a:off x="6748367" y="4541388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begin</a:t>
            </a:r>
            <a:endParaRPr lang="zh-CN" altLang="en-US" dirty="0"/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7417E079-AD1C-492B-9329-3354E3430CF7}"/>
              </a:ext>
            </a:extLst>
          </p:cNvPr>
          <p:cNvCxnSpPr/>
          <p:nvPr/>
        </p:nvCxnSpPr>
        <p:spPr bwMode="auto">
          <a:xfrm flipH="1" flipV="1">
            <a:off x="5072542" y="5692498"/>
            <a:ext cx="90615" cy="2474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003D5850-C11E-4CBC-AA4C-D9B331EC89BC}"/>
              </a:ext>
            </a:extLst>
          </p:cNvPr>
          <p:cNvSpPr txBox="1"/>
          <p:nvPr/>
        </p:nvSpPr>
        <p:spPr>
          <a:xfrm>
            <a:off x="4918065" y="5864193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end</a:t>
            </a:r>
            <a:endParaRPr lang="zh-CN" altLang="en-US" dirty="0"/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E1ECE83A-56D4-4EAC-9C4D-4CF03D4D899B}"/>
              </a:ext>
            </a:extLst>
          </p:cNvPr>
          <p:cNvCxnSpPr/>
          <p:nvPr/>
        </p:nvCxnSpPr>
        <p:spPr bwMode="auto">
          <a:xfrm flipH="1" flipV="1">
            <a:off x="5121346" y="5692498"/>
            <a:ext cx="2088726" cy="24745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503BD146-584F-400D-A492-1F2059E1EBDA}"/>
              </a:ext>
            </a:extLst>
          </p:cNvPr>
          <p:cNvSpPr txBox="1"/>
          <p:nvPr/>
        </p:nvSpPr>
        <p:spPr>
          <a:xfrm>
            <a:off x="6767701" y="5864193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begin</a:t>
            </a:r>
            <a:endParaRPr lang="zh-CN" altLang="en-US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52F5B67-C70A-4E5B-ADA6-00E978B89079}"/>
              </a:ext>
            </a:extLst>
          </p:cNvPr>
          <p:cNvSpPr txBox="1"/>
          <p:nvPr/>
        </p:nvSpPr>
        <p:spPr>
          <a:xfrm>
            <a:off x="2088859" y="894889"/>
            <a:ext cx="2483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</a:rPr>
              <a:t>begin</a:t>
            </a:r>
            <a:r>
              <a:rPr lang="zh-CN" altLang="en-US" dirty="0">
                <a:solidFill>
                  <a:srgbClr val="7030A0"/>
                </a:solidFill>
              </a:rPr>
              <a:t>和</a:t>
            </a:r>
            <a:r>
              <a:rPr lang="en-US" altLang="zh-CN" dirty="0">
                <a:solidFill>
                  <a:srgbClr val="7030A0"/>
                </a:solidFill>
              </a:rPr>
              <a:t>end</a:t>
            </a:r>
            <a:r>
              <a:rPr lang="zh-CN" altLang="en-US" dirty="0">
                <a:solidFill>
                  <a:srgbClr val="7030A0"/>
                </a:solidFill>
              </a:rPr>
              <a:t>保存的是内存地址，不是下标。</a:t>
            </a:r>
          </a:p>
        </p:txBody>
      </p:sp>
    </p:spTree>
    <p:extLst>
      <p:ext uri="{BB962C8B-B14F-4D97-AF65-F5344CB8AC3E}">
        <p14:creationId xmlns:p14="http://schemas.microsoft.com/office/powerpoint/2010/main" val="2508330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7B63F0F-6BA6-476B-9A9A-B2ECAA76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9" y="127686"/>
            <a:ext cx="3071100" cy="609600"/>
          </a:xfrm>
        </p:spPr>
        <p:txBody>
          <a:bodyPr/>
          <a:lstStyle/>
          <a:p>
            <a:r>
              <a:rPr lang="zh-CN" altLang="en-US" dirty="0"/>
              <a:t>字符串</a:t>
            </a:r>
            <a:r>
              <a:rPr lang="en-US" altLang="zh-CN" dirty="0"/>
              <a:t>s=‘hello’</a:t>
            </a:r>
            <a:r>
              <a:rPr lang="zh-CN" altLang="en-US" dirty="0"/>
              <a:t>的分片的计算过程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815349-AE4B-4093-8B44-BE967C267621}"/>
              </a:ext>
            </a:extLst>
          </p:cNvPr>
          <p:cNvSpPr txBox="1"/>
          <p:nvPr/>
        </p:nvSpPr>
        <p:spPr>
          <a:xfrm>
            <a:off x="511729" y="1048624"/>
            <a:ext cx="920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s[::2]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021AE1-3A0F-49E8-BF92-27034AA0E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885" y="-2267"/>
            <a:ext cx="4500827" cy="90118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E17D434-E3AD-4E68-873C-BC425BF2B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10" y="1933994"/>
            <a:ext cx="2854923" cy="295275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B541D38-A4F6-468A-9A98-65F4CB74C3C2}"/>
              </a:ext>
            </a:extLst>
          </p:cNvPr>
          <p:cNvCxnSpPr/>
          <p:nvPr/>
        </p:nvCxnSpPr>
        <p:spPr bwMode="auto">
          <a:xfrm flipH="1" flipV="1">
            <a:off x="524179" y="2229269"/>
            <a:ext cx="90615" cy="2474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FECC3C62-D418-443E-9954-BF7FD4396A32}"/>
              </a:ext>
            </a:extLst>
          </p:cNvPr>
          <p:cNvSpPr txBox="1"/>
          <p:nvPr/>
        </p:nvSpPr>
        <p:spPr>
          <a:xfrm>
            <a:off x="369702" y="2400964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begin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4C43234-5E40-4E5F-B6D6-20086BBEB002}"/>
              </a:ext>
            </a:extLst>
          </p:cNvPr>
          <p:cNvCxnSpPr/>
          <p:nvPr/>
        </p:nvCxnSpPr>
        <p:spPr bwMode="auto">
          <a:xfrm flipV="1">
            <a:off x="2661708" y="2229269"/>
            <a:ext cx="576891" cy="2474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B6AE817-3CA1-4E16-B08D-03955810EE76}"/>
              </a:ext>
            </a:extLst>
          </p:cNvPr>
          <p:cNvSpPr txBox="1"/>
          <p:nvPr/>
        </p:nvSpPr>
        <p:spPr>
          <a:xfrm>
            <a:off x="2219338" y="2400964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end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BE3749B-60CA-43A6-92B4-05C230B4FAA7}"/>
              </a:ext>
            </a:extLst>
          </p:cNvPr>
          <p:cNvSpPr txBox="1"/>
          <p:nvPr/>
        </p:nvSpPr>
        <p:spPr>
          <a:xfrm>
            <a:off x="129077" y="2788756"/>
            <a:ext cx="36963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step=2&gt;0</a:t>
            </a:r>
            <a:r>
              <a:rPr lang="zh-CN" altLang="en-US" dirty="0"/>
              <a:t>的前提下，因为开始位置没有指定，默认开始位置是字符串的第一个字符的位置；因为结束位置没有指定，默认结束位置是字符串最后一个字符的下一个位置。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7E5F461-3594-4B32-BBE1-BB93CD3D8A3E}"/>
              </a:ext>
            </a:extLst>
          </p:cNvPr>
          <p:cNvSpPr txBox="1"/>
          <p:nvPr/>
        </p:nvSpPr>
        <p:spPr>
          <a:xfrm>
            <a:off x="184558" y="150162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初始状态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73EA2F3-01D7-4EC1-BDBD-5B666DFAEB82}"/>
              </a:ext>
            </a:extLst>
          </p:cNvPr>
          <p:cNvSpPr txBox="1"/>
          <p:nvPr/>
        </p:nvSpPr>
        <p:spPr>
          <a:xfrm>
            <a:off x="186932" y="4369693"/>
            <a:ext cx="3504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依次输出</a:t>
            </a:r>
            <a:r>
              <a:rPr lang="en-US" altLang="zh-CN" dirty="0" err="1">
                <a:solidFill>
                  <a:srgbClr val="0070C0"/>
                </a:solidFill>
              </a:rPr>
              <a:t>H,l,o</a:t>
            </a:r>
            <a:r>
              <a:rPr lang="zh-CN" altLang="en-US" dirty="0">
                <a:solidFill>
                  <a:srgbClr val="0070C0"/>
                </a:solidFill>
              </a:rPr>
              <a:t>后，</a:t>
            </a:r>
            <a:r>
              <a:rPr lang="en-US" altLang="zh-CN" dirty="0">
                <a:solidFill>
                  <a:srgbClr val="0070C0"/>
                </a:solidFill>
              </a:rPr>
              <a:t>begin</a:t>
            </a:r>
            <a:r>
              <a:rPr lang="zh-CN" altLang="en-US" dirty="0">
                <a:solidFill>
                  <a:srgbClr val="0070C0"/>
                </a:solidFill>
              </a:rPr>
              <a:t>移动到字符</a:t>
            </a:r>
            <a:r>
              <a:rPr lang="en-US" altLang="zh-CN" dirty="0">
                <a:solidFill>
                  <a:srgbClr val="0070C0"/>
                </a:solidFill>
              </a:rPr>
              <a:t>o</a:t>
            </a:r>
            <a:r>
              <a:rPr lang="zh-CN" altLang="en-US" dirty="0">
                <a:solidFill>
                  <a:srgbClr val="0070C0"/>
                </a:solidFill>
              </a:rPr>
              <a:t>的下一个的下一个的位置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9634E3E7-5CB1-4395-913F-7FC387350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80" y="5115176"/>
            <a:ext cx="2854923" cy="295275"/>
          </a:xfrm>
          <a:prstGeom prst="rect">
            <a:avLst/>
          </a:prstGeom>
        </p:spPr>
      </p:pic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71417483-619D-4B1A-97B2-AAA88CA2A650}"/>
              </a:ext>
            </a:extLst>
          </p:cNvPr>
          <p:cNvCxnSpPr/>
          <p:nvPr/>
        </p:nvCxnSpPr>
        <p:spPr bwMode="auto">
          <a:xfrm flipV="1">
            <a:off x="547265" y="5430049"/>
            <a:ext cx="2898354" cy="2278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2709C727-2ADF-42AB-91A8-937480981367}"/>
              </a:ext>
            </a:extLst>
          </p:cNvPr>
          <p:cNvSpPr txBox="1"/>
          <p:nvPr/>
        </p:nvSpPr>
        <p:spPr>
          <a:xfrm>
            <a:off x="302172" y="5582146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begin</a:t>
            </a:r>
            <a:endParaRPr lang="zh-CN" altLang="en-US" dirty="0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9A7F9FA0-B25B-417A-A6F8-E03E4CEE9423}"/>
              </a:ext>
            </a:extLst>
          </p:cNvPr>
          <p:cNvCxnSpPr/>
          <p:nvPr/>
        </p:nvCxnSpPr>
        <p:spPr bwMode="auto">
          <a:xfrm flipV="1">
            <a:off x="2594178" y="5442375"/>
            <a:ext cx="553988" cy="21552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C228C86F-5091-4142-971E-F2214C925410}"/>
              </a:ext>
            </a:extLst>
          </p:cNvPr>
          <p:cNvSpPr txBox="1"/>
          <p:nvPr/>
        </p:nvSpPr>
        <p:spPr>
          <a:xfrm>
            <a:off x="2151808" y="5582146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end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4124376-0579-43D7-B35A-CC8AD8F361FB}"/>
              </a:ext>
            </a:extLst>
          </p:cNvPr>
          <p:cNvSpPr txBox="1"/>
          <p:nvPr/>
        </p:nvSpPr>
        <p:spPr>
          <a:xfrm>
            <a:off x="129077" y="6002591"/>
            <a:ext cx="3054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begin&lt;end</a:t>
            </a:r>
            <a:r>
              <a:rPr lang="zh-CN" altLang="en-US" dirty="0">
                <a:solidFill>
                  <a:srgbClr val="0070C0"/>
                </a:solidFill>
              </a:rPr>
              <a:t>为假，停止计算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8181038-C8D4-4D37-A28F-00C40170C451}"/>
              </a:ext>
            </a:extLst>
          </p:cNvPr>
          <p:cNvSpPr txBox="1"/>
          <p:nvPr/>
        </p:nvSpPr>
        <p:spPr>
          <a:xfrm>
            <a:off x="5065239" y="1048624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s[::-2]</a:t>
            </a: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B7B206BD-AD7D-4A50-BC65-5FB24D2DB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498" y="1933994"/>
            <a:ext cx="2854923" cy="295275"/>
          </a:xfrm>
          <a:prstGeom prst="rect">
            <a:avLst/>
          </a:prstGeom>
        </p:spPr>
      </p:pic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25EEBF9-2F3F-49D1-AF36-A8A5F0AD0D45}"/>
              </a:ext>
            </a:extLst>
          </p:cNvPr>
          <p:cNvCxnSpPr/>
          <p:nvPr/>
        </p:nvCxnSpPr>
        <p:spPr bwMode="auto">
          <a:xfrm flipH="1" flipV="1">
            <a:off x="4628198" y="2225435"/>
            <a:ext cx="511585" cy="2512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028F2E6C-BD76-4A5F-AEA2-492E860351F1}"/>
              </a:ext>
            </a:extLst>
          </p:cNvPr>
          <p:cNvSpPr txBox="1"/>
          <p:nvPr/>
        </p:nvSpPr>
        <p:spPr>
          <a:xfrm>
            <a:off x="4894690" y="2400964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end</a:t>
            </a:r>
            <a:endParaRPr lang="zh-CN" altLang="en-US" dirty="0"/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DBB6964B-11A6-4A88-BEB0-70410EB6616B}"/>
              </a:ext>
            </a:extLst>
          </p:cNvPr>
          <p:cNvCxnSpPr/>
          <p:nvPr/>
        </p:nvCxnSpPr>
        <p:spPr bwMode="auto">
          <a:xfrm flipV="1">
            <a:off x="7186696" y="2240485"/>
            <a:ext cx="102768" cy="2362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6BDE5807-362F-4453-9F82-56527EF67EAD}"/>
              </a:ext>
            </a:extLst>
          </p:cNvPr>
          <p:cNvSpPr txBox="1"/>
          <p:nvPr/>
        </p:nvSpPr>
        <p:spPr>
          <a:xfrm>
            <a:off x="6744326" y="2400964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begin</a:t>
            </a:r>
            <a:endParaRPr lang="zh-CN" altLang="en-US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85E57B9-4A39-430B-BA70-247AE219F725}"/>
              </a:ext>
            </a:extLst>
          </p:cNvPr>
          <p:cNvSpPr txBox="1"/>
          <p:nvPr/>
        </p:nvSpPr>
        <p:spPr>
          <a:xfrm>
            <a:off x="4654065" y="2788756"/>
            <a:ext cx="37852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step=-2&lt;0</a:t>
            </a:r>
            <a:r>
              <a:rPr lang="zh-CN" altLang="en-US" dirty="0"/>
              <a:t>的前提下，因为开始位置没有指定，默认开始位置是字符串的最后一个字符的位置；因为结束位置没有指定，默认结束位置是字符串第一个字符的前一个位置。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55C7E7FC-AA56-44BB-A0BD-CA1B329EF881}"/>
              </a:ext>
            </a:extLst>
          </p:cNvPr>
          <p:cNvSpPr txBox="1"/>
          <p:nvPr/>
        </p:nvSpPr>
        <p:spPr>
          <a:xfrm>
            <a:off x="4709546" y="150162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初始状态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2E517AD-541B-4A6A-92C2-06864FCED28B}"/>
              </a:ext>
            </a:extLst>
          </p:cNvPr>
          <p:cNvSpPr txBox="1"/>
          <p:nvPr/>
        </p:nvSpPr>
        <p:spPr>
          <a:xfrm>
            <a:off x="4711920" y="4369693"/>
            <a:ext cx="3504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依次输出</a:t>
            </a:r>
            <a:r>
              <a:rPr lang="en-US" altLang="zh-CN" dirty="0" err="1">
                <a:solidFill>
                  <a:srgbClr val="0070C0"/>
                </a:solidFill>
              </a:rPr>
              <a:t>o,l,H</a:t>
            </a:r>
            <a:r>
              <a:rPr lang="zh-CN" altLang="en-US" dirty="0">
                <a:solidFill>
                  <a:srgbClr val="0070C0"/>
                </a:solidFill>
              </a:rPr>
              <a:t>后，</a:t>
            </a:r>
            <a:r>
              <a:rPr lang="en-US" altLang="zh-CN" dirty="0">
                <a:solidFill>
                  <a:srgbClr val="0070C0"/>
                </a:solidFill>
              </a:rPr>
              <a:t>begin</a:t>
            </a:r>
            <a:r>
              <a:rPr lang="zh-CN" altLang="en-US" dirty="0">
                <a:solidFill>
                  <a:srgbClr val="0070C0"/>
                </a:solidFill>
              </a:rPr>
              <a:t>移动到字符</a:t>
            </a:r>
            <a:r>
              <a:rPr lang="en-US" altLang="zh-CN" dirty="0">
                <a:solidFill>
                  <a:srgbClr val="0070C0"/>
                </a:solidFill>
              </a:rPr>
              <a:t>H</a:t>
            </a:r>
            <a:r>
              <a:rPr lang="zh-CN" altLang="en-US" dirty="0">
                <a:solidFill>
                  <a:srgbClr val="0070C0"/>
                </a:solidFill>
              </a:rPr>
              <a:t>的前一个的前一个的位置</a:t>
            </a: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AE56A636-9146-4263-A74D-A82C766CB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968" y="5115176"/>
            <a:ext cx="2854923" cy="295275"/>
          </a:xfrm>
          <a:prstGeom prst="rect">
            <a:avLst/>
          </a:prstGeom>
        </p:spPr>
      </p:pic>
      <p:sp>
        <p:nvSpPr>
          <p:cNvPr id="77" name="文本框 76">
            <a:extLst>
              <a:ext uri="{FF2B5EF4-FFF2-40B4-BE49-F238E27FC236}">
                <a16:creationId xmlns:a16="http://schemas.microsoft.com/office/drawing/2014/main" id="{CD103FCB-6EED-4350-8866-010C3616B402}"/>
              </a:ext>
            </a:extLst>
          </p:cNvPr>
          <p:cNvSpPr txBox="1"/>
          <p:nvPr/>
        </p:nvSpPr>
        <p:spPr>
          <a:xfrm>
            <a:off x="4654065" y="6002591"/>
            <a:ext cx="3054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begin&gt;end</a:t>
            </a:r>
            <a:r>
              <a:rPr lang="zh-CN" altLang="en-US" dirty="0">
                <a:solidFill>
                  <a:srgbClr val="0070C0"/>
                </a:solidFill>
              </a:rPr>
              <a:t>为假，停止计算</a:t>
            </a: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4C47943D-6887-4AC5-8334-A26AAE413FB4}"/>
              </a:ext>
            </a:extLst>
          </p:cNvPr>
          <p:cNvCxnSpPr/>
          <p:nvPr/>
        </p:nvCxnSpPr>
        <p:spPr bwMode="auto">
          <a:xfrm flipH="1" flipV="1">
            <a:off x="4522273" y="5482372"/>
            <a:ext cx="511585" cy="2512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924B784D-FF71-4497-A7DB-4CDB7EFADC73}"/>
              </a:ext>
            </a:extLst>
          </p:cNvPr>
          <p:cNvSpPr txBox="1"/>
          <p:nvPr/>
        </p:nvSpPr>
        <p:spPr>
          <a:xfrm>
            <a:off x="4788765" y="5657901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end</a:t>
            </a:r>
            <a:endParaRPr lang="zh-CN" altLang="en-US" dirty="0"/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E5A623AF-AA48-4E78-9ABB-BA2EA932A151}"/>
              </a:ext>
            </a:extLst>
          </p:cNvPr>
          <p:cNvCxnSpPr/>
          <p:nvPr/>
        </p:nvCxnSpPr>
        <p:spPr bwMode="auto">
          <a:xfrm flipH="1" flipV="1">
            <a:off x="4273133" y="5430049"/>
            <a:ext cx="2807638" cy="3036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B4168B7B-733B-4F83-97C7-734E4564CB89}"/>
              </a:ext>
            </a:extLst>
          </p:cNvPr>
          <p:cNvSpPr txBox="1"/>
          <p:nvPr/>
        </p:nvSpPr>
        <p:spPr>
          <a:xfrm>
            <a:off x="6638401" y="5657901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begin</a:t>
            </a:r>
            <a:endParaRPr lang="zh-CN" altLang="en-US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3A761C8E-912A-4053-A3B1-33D18CB615B6}"/>
              </a:ext>
            </a:extLst>
          </p:cNvPr>
          <p:cNvSpPr txBox="1"/>
          <p:nvPr/>
        </p:nvSpPr>
        <p:spPr>
          <a:xfrm>
            <a:off x="2100496" y="988308"/>
            <a:ext cx="2483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</a:rPr>
              <a:t>begin</a:t>
            </a:r>
            <a:r>
              <a:rPr lang="zh-CN" altLang="en-US" dirty="0">
                <a:solidFill>
                  <a:srgbClr val="7030A0"/>
                </a:solidFill>
              </a:rPr>
              <a:t>和</a:t>
            </a:r>
            <a:r>
              <a:rPr lang="en-US" altLang="zh-CN" dirty="0">
                <a:solidFill>
                  <a:srgbClr val="7030A0"/>
                </a:solidFill>
              </a:rPr>
              <a:t>end</a:t>
            </a:r>
            <a:r>
              <a:rPr lang="zh-CN" altLang="en-US" dirty="0">
                <a:solidFill>
                  <a:srgbClr val="7030A0"/>
                </a:solidFill>
              </a:rPr>
              <a:t>保存的是内存地址，不是下标。</a:t>
            </a:r>
          </a:p>
        </p:txBody>
      </p:sp>
    </p:spTree>
    <p:extLst>
      <p:ext uri="{BB962C8B-B14F-4D97-AF65-F5344CB8AC3E}">
        <p14:creationId xmlns:p14="http://schemas.microsoft.com/office/powerpoint/2010/main" val="1886418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字符串的分片</a:t>
            </a:r>
          </a:p>
        </p:txBody>
      </p:sp>
      <p:sp>
        <p:nvSpPr>
          <p:cNvPr id="4" name="矩形 3"/>
          <p:cNvSpPr/>
          <p:nvPr/>
        </p:nvSpPr>
        <p:spPr>
          <a:xfrm>
            <a:off x="571426" y="1026544"/>
            <a:ext cx="8149880" cy="5093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zh-CN" altLang="en-US" dirty="0">
                <a:latin typeface="Consolas" panose="020B0609020204030204" charset="0"/>
                <a:sym typeface="+mn-ea"/>
              </a:rPr>
              <a:t>&gt;&gt;&gt; </a:t>
            </a:r>
            <a:r>
              <a:rPr lang="en-US" altLang="zh-CN" dirty="0">
                <a:latin typeface="Consolas" panose="020B0609020204030204" charset="0"/>
                <a:sym typeface="+mn-ea"/>
              </a:rPr>
              <a:t>s[::]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'Hello World!'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zh-CN" altLang="en-US" dirty="0">
                <a:latin typeface="Consolas" panose="020B0609020204030204" charset="0"/>
                <a:sym typeface="+mn-ea"/>
              </a:rPr>
              <a:t>&gt;&gt;&gt; </a:t>
            </a:r>
            <a:r>
              <a:rPr lang="en-US" altLang="zh-CN" dirty="0">
                <a:latin typeface="Consolas" panose="020B0609020204030204" charset="0"/>
                <a:sym typeface="+mn-ea"/>
              </a:rPr>
              <a:t>s[::-1]</a:t>
            </a:r>
            <a:r>
              <a:rPr lang="zh-CN" altLang="en-US" dirty="0">
                <a:latin typeface="Consolas" panose="020B0609020204030204" charset="0"/>
                <a:sym typeface="+mn-ea"/>
              </a:rPr>
              <a:t> </a:t>
            </a:r>
            <a:endParaRPr lang="en-US" altLang="zh-CN" dirty="0">
              <a:latin typeface="Consolas" panose="020B0609020204030204" charset="0"/>
              <a:sym typeface="+mn-ea"/>
            </a:endParaRP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'!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dlroW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 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olleH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'</a:t>
            </a:r>
            <a:endParaRPr lang="en-US" altLang="zh-CN" dirty="0">
              <a:latin typeface="Consolas" panose="020B0609020204030204" charset="0"/>
              <a:sym typeface="+mn-ea"/>
            </a:endParaRP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zh-CN" altLang="en-US" dirty="0">
                <a:latin typeface="Consolas" panose="020B0609020204030204" charset="0"/>
                <a:sym typeface="+mn-ea"/>
              </a:rPr>
              <a:t>&gt;&gt;&gt; </a:t>
            </a:r>
            <a:r>
              <a:rPr lang="en-US" altLang="zh-CN" dirty="0">
                <a:latin typeface="Consolas" panose="020B0609020204030204" charset="0"/>
                <a:sym typeface="+mn-ea"/>
              </a:rPr>
              <a:t>s[0:20]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  <a:buNone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'Hello World!'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zh-CN" altLang="en-US" dirty="0">
                <a:latin typeface="Consolas" panose="020B0609020204030204" charset="0"/>
                <a:sym typeface="+mn-ea"/>
              </a:rPr>
              <a:t>&gt;&gt;&gt; </a:t>
            </a:r>
            <a:r>
              <a:rPr lang="en-US" altLang="zh-CN" dirty="0">
                <a:latin typeface="Consolas" panose="020B0609020204030204" charset="0"/>
                <a:sym typeface="+mn-ea"/>
              </a:rPr>
              <a:t>s[6:4]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</a:rPr>
              <a:t>''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zh-CN" altLang="en-US" dirty="0">
                <a:latin typeface="Consolas" panose="020B0609020204030204" charset="0"/>
                <a:sym typeface="+mn-ea"/>
              </a:rPr>
              <a:t>&gt;&gt;&gt; </a:t>
            </a:r>
            <a:r>
              <a:rPr lang="en-US" altLang="zh-CN" dirty="0">
                <a:latin typeface="Consolas" panose="020B0609020204030204" charset="0"/>
                <a:sym typeface="+mn-ea"/>
              </a:rPr>
              <a:t>s[-1:5]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charset="0"/>
              </a:rPr>
              <a:t>''</a:t>
            </a:r>
            <a:endParaRPr lang="zh-CN" altLang="en-US" b="1" dirty="0">
              <a:solidFill>
                <a:srgbClr val="C00000"/>
              </a:solidFill>
              <a:latin typeface="Consolas" panose="020B0609020204030204" charset="0"/>
            </a:endParaRP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zh-CN" altLang="en-US" dirty="0">
                <a:latin typeface="Consolas" panose="020B0609020204030204" charset="0"/>
                <a:sym typeface="+mn-ea"/>
              </a:rPr>
              <a:t>&gt;&gt;&gt; </a:t>
            </a:r>
            <a:r>
              <a:rPr lang="en-US" altLang="zh-CN" dirty="0">
                <a:latin typeface="Consolas" panose="020B0609020204030204" charset="0"/>
                <a:sym typeface="+mn-ea"/>
              </a:rPr>
              <a:t>s[0:3]='</a:t>
            </a:r>
            <a:r>
              <a:rPr lang="en-US" altLang="zh-CN" dirty="0" err="1">
                <a:latin typeface="Consolas" panose="020B0609020204030204" charset="0"/>
                <a:sym typeface="+mn-ea"/>
              </a:rPr>
              <a:t>abc</a:t>
            </a:r>
            <a:r>
              <a:rPr lang="en-US" altLang="zh-CN" dirty="0">
                <a:latin typeface="Consolas" panose="020B0609020204030204" charset="0"/>
                <a:sym typeface="+mn-ea"/>
              </a:rPr>
              <a:t>'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en-US" altLang="zh-CN" b="1" dirty="0" err="1">
                <a:solidFill>
                  <a:srgbClr val="FF0000"/>
                </a:solidFill>
                <a:latin typeface="Consolas" panose="020B0609020204030204" charset="0"/>
              </a:rPr>
              <a:t>Traceback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charset="0"/>
              </a:rPr>
              <a:t> (most recent call last):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en-US" altLang="zh-CN" b="1" dirty="0">
                <a:solidFill>
                  <a:srgbClr val="FF0000"/>
                </a:solidFill>
                <a:latin typeface="Consolas" panose="020B0609020204030204" charset="0"/>
              </a:rPr>
              <a:t>  File "&lt;pyshell#29&gt;", line 1, in &lt;module&gt;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en-US" altLang="zh-CN" b="1" dirty="0">
                <a:solidFill>
                  <a:srgbClr val="FF0000"/>
                </a:solidFill>
                <a:latin typeface="Consolas" panose="020B0609020204030204" charset="0"/>
              </a:rPr>
              <a:t>    s[0:3]='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charset="0"/>
              </a:rPr>
              <a:t>abc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charset="0"/>
              </a:rPr>
              <a:t>'</a:t>
            </a:r>
          </a:p>
          <a:p>
            <a:pPr defTabSz="685800">
              <a:lnSpc>
                <a:spcPts val="2600"/>
              </a:lnSpc>
              <a:spcBef>
                <a:spcPct val="0"/>
              </a:spcBef>
              <a:buSzPct val="70000"/>
            </a:pPr>
            <a:r>
              <a:rPr lang="en-US" altLang="zh-CN" b="1" dirty="0" err="1">
                <a:solidFill>
                  <a:srgbClr val="FF0000"/>
                </a:solidFill>
                <a:latin typeface="Consolas" panose="020B0609020204030204" charset="0"/>
              </a:rPr>
              <a:t>TypeError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charset="0"/>
              </a:rPr>
              <a:t>: '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charset="0"/>
              </a:rPr>
              <a:t>str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charset="0"/>
              </a:rPr>
              <a:t>' object does not support item assignment</a:t>
            </a:r>
            <a:endParaRPr lang="zh-CN" altLang="en-US" b="1" dirty="0">
              <a:solidFill>
                <a:srgbClr val="FF0000"/>
              </a:solidFill>
              <a:latin typeface="Consolas" panose="020B0609020204030204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245611" y="2406409"/>
            <a:ext cx="5354925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204A87"/>
                </a:solidFill>
                <a:latin typeface="Consolas" panose="020B0609020204030204" pitchFamily="49" charset="0"/>
              </a:rPr>
              <a:t>分片允许</a:t>
            </a:r>
            <a:r>
              <a:rPr lang="zh-CN" altLang="en-US">
                <a:solidFill>
                  <a:srgbClr val="204A87"/>
                </a:solidFill>
                <a:latin typeface="Consolas" panose="020B0609020204030204" pitchFamily="49" charset="0"/>
              </a:rPr>
              <a:t>越界，字符串实际</a:t>
            </a:r>
            <a:r>
              <a:rPr lang="zh-CN" altLang="en-US" dirty="0">
                <a:solidFill>
                  <a:srgbClr val="204A87"/>
                </a:solidFill>
                <a:latin typeface="Consolas" panose="020B0609020204030204" pitchFamily="49" charset="0"/>
              </a:rPr>
              <a:t>长度并没有</a:t>
            </a:r>
            <a:r>
              <a:rPr lang="en-US" altLang="zh-CN" dirty="0">
                <a:solidFill>
                  <a:srgbClr val="204A87"/>
                </a:solidFill>
                <a:latin typeface="Consolas" panose="020B0609020204030204" pitchFamily="49" charset="0"/>
              </a:rPr>
              <a:t>20</a:t>
            </a:r>
            <a:endParaRPr lang="zh-CN" altLang="en-US" dirty="0">
              <a:solidFill>
                <a:srgbClr val="FF0000"/>
              </a:solidFill>
              <a:latin typeface="Consolas" panose="020B0609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245612" y="1043616"/>
            <a:ext cx="5354924" cy="71508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en-US" altLang="zh-CN" dirty="0" err="1">
                <a:solidFill>
                  <a:srgbClr val="204A87"/>
                </a:solidFill>
                <a:latin typeface="Consolas" panose="020B0609020204030204" pitchFamily="49" charset="0"/>
              </a:rPr>
              <a:t>i,j,k</a:t>
            </a:r>
            <a:r>
              <a:rPr lang="zh-CN" altLang="en-US" dirty="0">
                <a:solidFill>
                  <a:srgbClr val="204A87"/>
                </a:solidFill>
                <a:latin typeface="Consolas" panose="020B0609020204030204" pitchFamily="49" charset="0"/>
              </a:rPr>
              <a:t>都允许省略，</a:t>
            </a:r>
            <a:r>
              <a:rPr lang="en-US" altLang="zh-CN" dirty="0" err="1">
                <a:solidFill>
                  <a:srgbClr val="204A87"/>
                </a:solidFill>
                <a:latin typeface="Consolas" panose="020B0609020204030204" pitchFamily="49" charset="0"/>
              </a:rPr>
              <a:t>i</a:t>
            </a:r>
            <a:r>
              <a:rPr lang="zh-CN" altLang="en-US" dirty="0">
                <a:solidFill>
                  <a:srgbClr val="204A87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dirty="0">
                <a:solidFill>
                  <a:srgbClr val="204A87"/>
                </a:solidFill>
                <a:latin typeface="Consolas" panose="020B0609020204030204" pitchFamily="49" charset="0"/>
              </a:rPr>
              <a:t>j</a:t>
            </a:r>
            <a:r>
              <a:rPr lang="zh-CN" altLang="en-US" dirty="0">
                <a:solidFill>
                  <a:srgbClr val="204A87"/>
                </a:solidFill>
                <a:latin typeface="Consolas" panose="020B0609020204030204" pitchFamily="49" charset="0"/>
              </a:rPr>
              <a:t>省略时视情况代表第一个字之前或者最后一个字符之后，</a:t>
            </a:r>
            <a:r>
              <a:rPr lang="en-US" altLang="zh-CN" dirty="0">
                <a:solidFill>
                  <a:srgbClr val="204A87"/>
                </a:solidFill>
                <a:latin typeface="Consolas" panose="020B0609020204030204" pitchFamily="49" charset="0"/>
              </a:rPr>
              <a:t>k</a:t>
            </a:r>
            <a:r>
              <a:rPr lang="zh-CN" altLang="en-US" dirty="0">
                <a:solidFill>
                  <a:srgbClr val="204A87"/>
                </a:solidFill>
                <a:latin typeface="Consolas" panose="020B0609020204030204" pitchFamily="49" charset="0"/>
              </a:rPr>
              <a:t>省略时则默认为</a:t>
            </a:r>
            <a:r>
              <a:rPr lang="en-US" altLang="zh-CN" dirty="0">
                <a:solidFill>
                  <a:srgbClr val="204A87"/>
                </a:solidFill>
                <a:latin typeface="Consolas" panose="020B0609020204030204" pitchFamily="49" charset="0"/>
              </a:rPr>
              <a:t>1</a:t>
            </a:r>
            <a:endParaRPr lang="zh-CN" altLang="en-US" dirty="0">
              <a:solidFill>
                <a:srgbClr val="FF0000"/>
              </a:solidFill>
              <a:latin typeface="Consolas" panose="020B0609020204030204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245610" y="3054113"/>
            <a:ext cx="5354926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204A87"/>
                </a:solidFill>
                <a:latin typeface="Consolas" panose="020B0609020204030204" pitchFamily="49" charset="0"/>
              </a:rPr>
              <a:t>步长</a:t>
            </a:r>
            <a:r>
              <a:rPr lang="en-US" altLang="zh-CN" dirty="0">
                <a:solidFill>
                  <a:srgbClr val="204A87"/>
                </a:solidFill>
                <a:latin typeface="Consolas" panose="020B0609020204030204" pitchFamily="49" charset="0"/>
              </a:rPr>
              <a:t>k&gt;0</a:t>
            </a:r>
            <a:r>
              <a:rPr lang="zh-CN" altLang="en-US" dirty="0">
                <a:solidFill>
                  <a:srgbClr val="204A87"/>
                </a:solidFill>
                <a:latin typeface="Consolas" panose="020B0609020204030204" pitchFamily="49" charset="0"/>
              </a:rPr>
              <a:t>时，无法从右到左抽取字符</a:t>
            </a:r>
            <a:endParaRPr lang="zh-CN" altLang="en-US" dirty="0">
              <a:solidFill>
                <a:srgbClr val="FF0000"/>
              </a:solidFill>
              <a:latin typeface="Consolas" panose="020B0609020204030204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245609" y="3566199"/>
            <a:ext cx="5354927" cy="71508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204A87"/>
                </a:solidFill>
                <a:latin typeface="Consolas" panose="020B0609020204030204" pitchFamily="49" charset="0"/>
              </a:rPr>
              <a:t>步长</a:t>
            </a:r>
            <a:r>
              <a:rPr lang="en-US" altLang="zh-CN" dirty="0">
                <a:solidFill>
                  <a:srgbClr val="204A87"/>
                </a:solidFill>
                <a:latin typeface="Consolas" panose="020B0609020204030204" pitchFamily="49" charset="0"/>
              </a:rPr>
              <a:t>k&gt;0</a:t>
            </a:r>
            <a:r>
              <a:rPr lang="zh-CN" altLang="en-US" dirty="0">
                <a:solidFill>
                  <a:srgbClr val="204A87"/>
                </a:solidFill>
                <a:latin typeface="Consolas" panose="020B0609020204030204" pitchFamily="49" charset="0"/>
              </a:rPr>
              <a:t>时，无法从右到左抽取字符，</a:t>
            </a:r>
            <a:r>
              <a:rPr lang="en-US" altLang="zh-CN" dirty="0">
                <a:solidFill>
                  <a:srgbClr val="204A87"/>
                </a:solidFill>
                <a:latin typeface="Consolas" panose="020B0609020204030204" pitchFamily="49" charset="0"/>
              </a:rPr>
              <a:t>-1</a:t>
            </a:r>
            <a:r>
              <a:rPr lang="zh-CN" altLang="en-US" dirty="0">
                <a:solidFill>
                  <a:srgbClr val="204A87"/>
                </a:solidFill>
                <a:latin typeface="Consolas" panose="020B0609020204030204" pitchFamily="49" charset="0"/>
              </a:rPr>
              <a:t>代表最后一个字符的编号</a:t>
            </a:r>
            <a:endParaRPr lang="zh-CN" altLang="en-US" dirty="0">
              <a:solidFill>
                <a:srgbClr val="FF0000"/>
              </a:solidFill>
              <a:latin typeface="Consolas" panose="020B0609020204030204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245609" y="4366234"/>
            <a:ext cx="5354927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204A87"/>
                </a:solidFill>
                <a:latin typeface="Consolas" panose="020B0609020204030204" pitchFamily="49" charset="0"/>
                <a:sym typeface="+mn-ea"/>
              </a:rPr>
              <a:t>字符串是常量，不能对其分片赋值</a:t>
            </a:r>
            <a:endParaRPr lang="zh-CN" altLang="en-US" dirty="0">
              <a:solidFill>
                <a:srgbClr val="204A87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043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已知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s="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abcdefg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"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，下面哪个说法是错误的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s[::2]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'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aceg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'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s[:-1:2]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''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s[:1:]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'a'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s[-1:0:-1]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'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gfedcb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'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A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B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C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D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01170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1967116"/>
          </a:xfrm>
        </p:spPr>
        <p:txBody>
          <a:bodyPr/>
          <a:lstStyle/>
          <a:p>
            <a:r>
              <a:rPr lang="zh-CN" altLang="en-US" dirty="0"/>
              <a:t>例题：输入一个字符串，每次去掉最后面的字符并输出。</a:t>
            </a:r>
          </a:p>
          <a:p>
            <a:r>
              <a:rPr lang="zh-CN" altLang="en-US" dirty="0"/>
              <a:t>分析：</a:t>
            </a:r>
            <a:endParaRPr lang="en-US" altLang="zh-CN" dirty="0"/>
          </a:p>
          <a:p>
            <a:pPr lvl="1"/>
            <a:r>
              <a:rPr lang="zh-CN" altLang="en-US" dirty="0"/>
              <a:t>读取输入到字符串</a:t>
            </a:r>
            <a:r>
              <a:rPr lang="en-US" altLang="zh-CN" dirty="0"/>
              <a:t>s</a:t>
            </a:r>
            <a:r>
              <a:rPr lang="zh-CN" altLang="en-US" dirty="0"/>
              <a:t>中</a:t>
            </a:r>
            <a:endParaRPr lang="en-US" altLang="zh-CN" dirty="0"/>
          </a:p>
          <a:p>
            <a:pPr lvl="1"/>
            <a:r>
              <a:rPr lang="zh-CN" altLang="en-US" dirty="0"/>
              <a:t>第一次利用分片功能，找出前</a:t>
            </a:r>
            <a:r>
              <a:rPr lang="en-US" altLang="zh-CN" dirty="0" err="1"/>
              <a:t>len</a:t>
            </a:r>
            <a:r>
              <a:rPr lang="en-US" altLang="zh-CN" dirty="0"/>
              <a:t>(s)-1</a:t>
            </a:r>
            <a:r>
              <a:rPr lang="zh-CN" altLang="en-US" dirty="0"/>
              <a:t>个字符并输出：</a:t>
            </a:r>
            <a:r>
              <a:rPr lang="en-US" altLang="zh-CN" dirty="0"/>
              <a:t>s[:-1]</a:t>
            </a:r>
          </a:p>
          <a:p>
            <a:pPr lvl="1"/>
            <a:r>
              <a:rPr lang="zh-CN" altLang="en-US" dirty="0"/>
              <a:t>第二次利用分片功能，找出前</a:t>
            </a:r>
            <a:r>
              <a:rPr lang="en-US" altLang="zh-CN" dirty="0" err="1"/>
              <a:t>len</a:t>
            </a:r>
            <a:r>
              <a:rPr lang="en-US" altLang="zh-CN" dirty="0"/>
              <a:t>(s)-2</a:t>
            </a:r>
            <a:r>
              <a:rPr lang="zh-CN" altLang="en-US" dirty="0"/>
              <a:t>个字符并输出：</a:t>
            </a:r>
            <a:r>
              <a:rPr lang="en-US" altLang="zh-CN" dirty="0"/>
              <a:t>s[:-2]</a:t>
            </a:r>
          </a:p>
          <a:p>
            <a:pPr lvl="1"/>
            <a:r>
              <a:rPr lang="zh-CN" altLang="en-US" dirty="0"/>
              <a:t>重复执行直到</a:t>
            </a:r>
            <a:r>
              <a:rPr lang="en-US" altLang="zh-CN" dirty="0"/>
              <a:t>s</a:t>
            </a:r>
            <a:r>
              <a:rPr lang="zh-CN" altLang="en-US" dirty="0"/>
              <a:t>中只剩一个字符</a:t>
            </a:r>
            <a:r>
              <a:rPr lang="en-US" altLang="zh-CN" dirty="0"/>
              <a:t>: s[:-</a:t>
            </a:r>
            <a:r>
              <a:rPr lang="en-US" altLang="zh-CN" dirty="0" err="1"/>
              <a:t>len</a:t>
            </a:r>
            <a:r>
              <a:rPr lang="en-US" altLang="zh-CN" dirty="0"/>
              <a:t>(s)]</a:t>
            </a:r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字符串的应用</a:t>
            </a:r>
          </a:p>
        </p:txBody>
      </p:sp>
      <p:sp>
        <p:nvSpPr>
          <p:cNvPr id="5" name="矩形 4"/>
          <p:cNvSpPr/>
          <p:nvPr/>
        </p:nvSpPr>
        <p:spPr>
          <a:xfrm>
            <a:off x="666571" y="3543529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range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(s),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(s[: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7" name="矩形 6"/>
          <p:cNvSpPr/>
          <p:nvPr/>
        </p:nvSpPr>
        <p:spPr>
          <a:xfrm>
            <a:off x="666571" y="4741999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(s)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s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s[: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    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(s)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7212651" y="2277782"/>
            <a:ext cx="769121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en-US" altLang="zh-CN" dirty="0" err="1">
                <a:solidFill>
                  <a:srgbClr val="00B0F0"/>
                </a:solidFill>
                <a:latin typeface="Consolas" panose="020B0609020204030204" charset="0"/>
              </a:rPr>
              <a:t>i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</a:rPr>
              <a:t>=-1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212650" y="2686405"/>
            <a:ext cx="769121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en-US" altLang="zh-CN" dirty="0" err="1">
                <a:solidFill>
                  <a:srgbClr val="00B0F0"/>
                </a:solidFill>
                <a:latin typeface="Consolas" panose="020B0609020204030204" charset="0"/>
              </a:rPr>
              <a:t>i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</a:rPr>
              <a:t>=-2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212649" y="3096478"/>
            <a:ext cx="1657886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en-US" altLang="zh-CN" dirty="0" err="1">
                <a:solidFill>
                  <a:srgbClr val="00B0F0"/>
                </a:solidFill>
                <a:latin typeface="Consolas" panose="020B0609020204030204" charset="0"/>
              </a:rPr>
              <a:t>i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</a:rPr>
              <a:t>=-</a:t>
            </a:r>
            <a:r>
              <a:rPr lang="en-US" altLang="zh-CN" dirty="0" err="1">
                <a:solidFill>
                  <a:srgbClr val="00B0F0"/>
                </a:solidFill>
                <a:latin typeface="Consolas" panose="020B0609020204030204" charset="0"/>
              </a:rPr>
              <a:t>len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</a:rPr>
              <a:t>(s)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901935" y="6139565"/>
            <a:ext cx="3631965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defTabSz="685800">
              <a:spcBef>
                <a:spcPct val="0"/>
              </a:spcBef>
              <a:buSzPct val="70000"/>
              <a:buNone/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每次用前</a:t>
            </a:r>
            <a:r>
              <a:rPr lang="en-US" altLang="zh-CN" dirty="0" err="1">
                <a:solidFill>
                  <a:srgbClr val="00B0F0"/>
                </a:solidFill>
                <a:latin typeface="Consolas" panose="020B0609020204030204" charset="0"/>
              </a:rPr>
              <a:t>len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</a:rPr>
              <a:t>(s)-1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个字符更新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</a:rPr>
              <a:t>s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528EDA-7C42-43AF-97F0-72729AA1738D}"/>
              </a:ext>
            </a:extLst>
          </p:cNvPr>
          <p:cNvSpPr txBox="1"/>
          <p:nvPr/>
        </p:nvSpPr>
        <p:spPr>
          <a:xfrm>
            <a:off x="5738070" y="4005194"/>
            <a:ext cx="215475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</a:t>
            </a:r>
            <a:r>
              <a:rPr lang="en-US" altLang="zh-CN" dirty="0"/>
              <a:t>s = ‘</a:t>
            </a:r>
            <a:r>
              <a:rPr lang="en-US" altLang="zh-CN" dirty="0" err="1"/>
              <a:t>abcdefg</a:t>
            </a:r>
            <a:r>
              <a:rPr lang="en-US" altLang="zh-CN" dirty="0"/>
              <a:t>’</a:t>
            </a:r>
          </a:p>
          <a:p>
            <a:r>
              <a:rPr lang="zh-CN" altLang="en-US" dirty="0"/>
              <a:t>输出结果为：</a:t>
            </a:r>
            <a:endParaRPr lang="en-US" altLang="zh-CN" dirty="0"/>
          </a:p>
          <a:p>
            <a:r>
              <a:rPr lang="en-US" altLang="zh-CN" dirty="0" err="1"/>
              <a:t>abcdef</a:t>
            </a:r>
            <a:endParaRPr lang="en-US" altLang="zh-CN" dirty="0"/>
          </a:p>
          <a:p>
            <a:r>
              <a:rPr lang="en-US" altLang="zh-CN" dirty="0" err="1"/>
              <a:t>abcde</a:t>
            </a:r>
            <a:endParaRPr lang="en-US" altLang="zh-CN" dirty="0"/>
          </a:p>
          <a:p>
            <a:r>
              <a:rPr lang="en-US" altLang="zh-CN" dirty="0" err="1"/>
              <a:t>abcd</a:t>
            </a:r>
            <a:endParaRPr lang="en-US" altLang="zh-CN" dirty="0"/>
          </a:p>
          <a:p>
            <a:r>
              <a:rPr lang="en-US" altLang="zh-CN" dirty="0" err="1"/>
              <a:t>abc</a:t>
            </a:r>
            <a:endParaRPr lang="en-US" altLang="zh-CN" dirty="0"/>
          </a:p>
          <a:p>
            <a:r>
              <a:rPr lang="en-US" altLang="zh-CN" dirty="0"/>
              <a:t>ab</a:t>
            </a:r>
          </a:p>
          <a:p>
            <a:r>
              <a:rPr lang="en-US" altLang="zh-CN" dirty="0"/>
              <a:t>a</a:t>
            </a:r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F5EB2EE-50F4-40FB-BFE3-A57C066BBE87}"/>
              </a:ext>
            </a:extLst>
          </p:cNvPr>
          <p:cNvSpPr txBox="1"/>
          <p:nvPr/>
        </p:nvSpPr>
        <p:spPr>
          <a:xfrm>
            <a:off x="683569" y="450023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或者</a:t>
            </a:r>
          </a:p>
        </p:txBody>
      </p:sp>
    </p:spTree>
    <p:extLst>
      <p:ext uri="{BB962C8B-B14F-4D97-AF65-F5344CB8AC3E}">
        <p14:creationId xmlns:p14="http://schemas.microsoft.com/office/powerpoint/2010/main" val="2513351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 animBg="1"/>
      <p:bldP spid="9" grpId="0" animBg="1"/>
      <p:bldP spid="10" grpId="0" animBg="1"/>
      <p:bldP spid="1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主题1">
  <a:themeElements>
    <a:clrScheme name="自定义 3">
      <a:dk1>
        <a:srgbClr val="000000"/>
      </a:dk1>
      <a:lt1>
        <a:srgbClr val="FFFFFF"/>
      </a:lt1>
      <a:dk2>
        <a:srgbClr val="003468"/>
      </a:dk2>
      <a:lt2>
        <a:srgbClr val="969696"/>
      </a:lt2>
      <a:accent1>
        <a:srgbClr val="99CC00"/>
      </a:accent1>
      <a:accent2>
        <a:srgbClr val="6699FF"/>
      </a:accent2>
      <a:accent3>
        <a:srgbClr val="FFFFFF"/>
      </a:accent3>
      <a:accent4>
        <a:srgbClr val="000000"/>
      </a:accent4>
      <a:accent5>
        <a:srgbClr val="CAE2AA"/>
      </a:accent5>
      <a:accent6>
        <a:srgbClr val="5C8AE7"/>
      </a:accent6>
      <a:hlink>
        <a:srgbClr val="00B0F0"/>
      </a:hlink>
      <a:folHlink>
        <a:srgbClr val="00B0F0"/>
      </a:folHlink>
    </a:clrScheme>
    <a:fontScheme name="024betty_wav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>
        <a:spAutoFit/>
      </a:bodyPr>
      <a:lstStyle>
        <a:defPPr>
          <a:spcAft>
            <a:spcPts val="0"/>
          </a:spcAft>
          <a:defRPr kern="0">
            <a:solidFill>
              <a:srgbClr val="800000"/>
            </a:solidFill>
            <a:latin typeface="Courier New"/>
            <a:ea typeface="宋体"/>
            <a:cs typeface="Times New Roman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024betty_wave 1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FF99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2D597A"/>
        </a:accent6>
        <a:hlink>
          <a:srgbClr val="66CAE2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33CCCC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2D2D8A"/>
        </a:accent6>
        <a:hlink>
          <a:srgbClr val="9999FF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3">
        <a:dk1>
          <a:srgbClr val="000000"/>
        </a:dk1>
        <a:lt1>
          <a:srgbClr val="FFFFFF"/>
        </a:lt1>
        <a:dk2>
          <a:srgbClr val="003468"/>
        </a:dk2>
        <a:lt2>
          <a:srgbClr val="969696"/>
        </a:lt2>
        <a:accent1>
          <a:srgbClr val="99CC00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5C8AE7"/>
        </a:accent6>
        <a:hlink>
          <a:srgbClr val="99CCFF"/>
        </a:hlink>
        <a:folHlink>
          <a:srgbClr val="CC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4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CCCC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2D597A"/>
        </a:accent6>
        <a:hlink>
          <a:srgbClr val="66CAE2"/>
        </a:hlink>
        <a:folHlink>
          <a:srgbClr val="CCFF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F3C6201D-EA81-4E33-86C4-0475CC4FBC2F}" vid="{03E07CE5-EE3A-4FD9-BFAD-6815F15428D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2168</TotalTime>
  <Words>1706</Words>
  <Application>Microsoft Office PowerPoint</Application>
  <PresentationFormat>全屏显示(4:3)</PresentationFormat>
  <Paragraphs>209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Microsoft Yahei</vt:lpstr>
      <vt:lpstr>Microsoft Yahei</vt:lpstr>
      <vt:lpstr>Calibri</vt:lpstr>
      <vt:lpstr>Consolas</vt:lpstr>
      <vt:lpstr>Courier New</vt:lpstr>
      <vt:lpstr>Verdana</vt:lpstr>
      <vt:lpstr>Wingdings</vt:lpstr>
      <vt:lpstr>主题1</vt:lpstr>
      <vt:lpstr>第5章  字符串</vt:lpstr>
      <vt:lpstr>字符串的索引</vt:lpstr>
      <vt:lpstr>字符串的索引</vt:lpstr>
      <vt:lpstr>PowerPoint 演示文稿</vt:lpstr>
      <vt:lpstr>字符串的索引</vt:lpstr>
      <vt:lpstr>字符串的索引</vt:lpstr>
      <vt:lpstr>字符串的分片</vt:lpstr>
      <vt:lpstr>字符串s=‘hello’的分片的计算过程</vt:lpstr>
      <vt:lpstr>字符串s=‘hello’的分片的计算过程</vt:lpstr>
      <vt:lpstr>字符串的分片</vt:lpstr>
      <vt:lpstr>PowerPoint 演示文稿</vt:lpstr>
      <vt:lpstr>字符串的应用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第7章  字符串</dc:title>
  <dc:creator>Dong</dc:creator>
  <cp:lastModifiedBy>cyj</cp:lastModifiedBy>
  <cp:revision>581</cp:revision>
  <dcterms:created xsi:type="dcterms:W3CDTF">2015-05-05T08:02:00Z</dcterms:created>
  <dcterms:modified xsi:type="dcterms:W3CDTF">2024-11-02T12:00:10Z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1033-10.2.0.5978</vt:lpwstr>
  </property>
</Properties>
</file>