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</p:sldMasterIdLst>
  <p:notesMasterIdLst>
    <p:notesMasterId r:id="rId18"/>
  </p:notesMasterIdLst>
  <p:handoutMasterIdLst>
    <p:handoutMasterId r:id="rId19"/>
  </p:handoutMasterIdLst>
  <p:sldIdLst>
    <p:sldId id="1883" r:id="rId3"/>
    <p:sldId id="1879" r:id="rId4"/>
    <p:sldId id="1880" r:id="rId5"/>
    <p:sldId id="1881" r:id="rId6"/>
    <p:sldId id="1882" r:id="rId7"/>
    <p:sldId id="1853" r:id="rId8"/>
    <p:sldId id="1870" r:id="rId9"/>
    <p:sldId id="1854" r:id="rId10"/>
    <p:sldId id="1871" r:id="rId11"/>
    <p:sldId id="1878" r:id="rId12"/>
    <p:sldId id="1856" r:id="rId13"/>
    <p:sldId id="1875" r:id="rId14"/>
    <p:sldId id="1857" r:id="rId15"/>
    <p:sldId id="1858" r:id="rId16"/>
    <p:sldId id="1876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4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27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2700" dirty="0"/>
          </a:p>
        </p:txBody>
      </p:sp>
    </p:spTree>
    <p:extLst>
      <p:ext uri="{BB962C8B-B14F-4D97-AF65-F5344CB8AC3E}">
        <p14:creationId xmlns:p14="http://schemas.microsoft.com/office/powerpoint/2010/main" val="10192810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5789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68" indent="0">
              <a:buNone/>
              <a:defRPr sz="1013"/>
            </a:lvl2pPr>
            <a:lvl3pPr marL="514337" indent="0">
              <a:buNone/>
              <a:defRPr sz="900"/>
            </a:lvl3pPr>
            <a:lvl4pPr marL="771506" indent="0">
              <a:buNone/>
              <a:defRPr sz="788"/>
            </a:lvl4pPr>
            <a:lvl5pPr marL="1028675" indent="0">
              <a:buNone/>
              <a:defRPr sz="788"/>
            </a:lvl5pPr>
            <a:lvl6pPr marL="1285843" indent="0">
              <a:buNone/>
              <a:defRPr sz="788"/>
            </a:lvl6pPr>
            <a:lvl7pPr marL="1543012" indent="0">
              <a:buNone/>
              <a:defRPr sz="788"/>
            </a:lvl7pPr>
            <a:lvl8pPr marL="1800180" indent="0">
              <a:buNone/>
              <a:defRPr sz="788"/>
            </a:lvl8pPr>
            <a:lvl9pPr marL="2057348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3509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5485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1135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28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3453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68" indent="0">
              <a:buNone/>
              <a:defRPr sz="1575"/>
            </a:lvl2pPr>
            <a:lvl3pPr marL="514337" indent="0">
              <a:buNone/>
              <a:defRPr sz="1350"/>
            </a:lvl3pPr>
            <a:lvl4pPr marL="771506" indent="0">
              <a:buNone/>
              <a:defRPr sz="1125"/>
            </a:lvl4pPr>
            <a:lvl5pPr marL="1028675" indent="0">
              <a:buNone/>
              <a:defRPr sz="1125"/>
            </a:lvl5pPr>
            <a:lvl6pPr marL="1285843" indent="0">
              <a:buNone/>
              <a:defRPr sz="1125"/>
            </a:lvl6pPr>
            <a:lvl7pPr marL="1543012" indent="0">
              <a:buNone/>
              <a:defRPr sz="1125"/>
            </a:lvl7pPr>
            <a:lvl8pPr marL="1800180" indent="0">
              <a:buNone/>
              <a:defRPr sz="1125"/>
            </a:lvl8pPr>
            <a:lvl9pPr marL="2057348" indent="0">
              <a:buNone/>
              <a:defRPr sz="112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09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529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84785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 dirty="0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18410363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29838393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45177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619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035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344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471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2928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49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5163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241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402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35645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330036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2504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415686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51315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1581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7553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34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5pPr>
      <a:lvl6pPr marL="257168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6pPr>
      <a:lvl7pPr marL="514337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7pPr>
      <a:lvl8pPr marL="771506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8pPr>
      <a:lvl9pPr marL="1028675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9pPr>
    </p:titleStyle>
    <p:bodyStyle>
      <a:lvl1pPr marL="192876" indent="-19287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417899" indent="-160731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642922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900091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157259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414428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6pPr>
      <a:lvl7pPr marL="1671596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7pPr>
      <a:lvl8pPr marL="1928765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8pPr>
      <a:lvl9pPr marL="2185934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71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7714" y="2211054"/>
            <a:ext cx="7772400" cy="717812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zh-CN" altLang="en-US"/>
              <a:t>处理字符串的常用方法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26189" y="4803919"/>
            <a:ext cx="749756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等线" panose="02010600030101010101" pitchFamily="2" charset="-122"/>
                <a:cs typeface="Times New Roman" panose="02020603050405020304" pitchFamily="18" charset="0"/>
              </a:rPr>
              <a:t>要求掌握：</a:t>
            </a:r>
            <a:r>
              <a:rPr lang="en-US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等线" panose="02010600030101010101" pitchFamily="2" charset="-122"/>
                <a:cs typeface="Times New Roman" panose="02020603050405020304" pitchFamily="18" charset="0"/>
              </a:rPr>
              <a:t>split</a:t>
            </a:r>
            <a:r>
              <a:rPr lang="zh-CN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等线" panose="02010600030101010101" pitchFamily="2" charset="-122"/>
                <a:cs typeface="Times New Roman" panose="02020603050405020304" pitchFamily="18" charset="0"/>
              </a:rPr>
              <a:t>join</a:t>
            </a:r>
            <a:r>
              <a:rPr lang="zh-CN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等线" panose="02010600030101010101" pitchFamily="2" charset="-122"/>
                <a:cs typeface="Times New Roman" panose="02020603050405020304" pitchFamily="18" charset="0"/>
              </a:rPr>
              <a:t>strip</a:t>
            </a:r>
            <a:r>
              <a:rPr lang="zh-CN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等线" panose="02010600030101010101" pitchFamily="2" charset="-122"/>
                <a:cs typeface="Times New Roman" panose="02020603050405020304" pitchFamily="18" charset="0"/>
              </a:rPr>
              <a:t>find</a:t>
            </a:r>
            <a:r>
              <a:rPr lang="zh-CN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等线" panose="02010600030101010101" pitchFamily="2" charset="-122"/>
                <a:cs typeface="Times New Roman" panose="02020603050405020304" pitchFamily="18" charset="0"/>
              </a:rPr>
              <a:t>replace</a:t>
            </a:r>
            <a:endParaRPr lang="zh-CN" altLang="en-US" sz="280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08721" y="3750271"/>
            <a:ext cx="211468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/>
              <a:t>格式：</a:t>
            </a:r>
            <a:r>
              <a:rPr lang="zh-CN" altLang="en-US">
                <a:solidFill>
                  <a:srgbClr val="FF0000"/>
                </a:solidFill>
              </a:rPr>
              <a:t>对象</a:t>
            </a:r>
            <a:r>
              <a:rPr lang="en-US" altLang="zh-CN">
                <a:solidFill>
                  <a:srgbClr val="FF0000"/>
                </a:solidFill>
              </a:rPr>
              <a:t>.</a:t>
            </a:r>
            <a:r>
              <a:rPr lang="zh-CN" altLang="en-US">
                <a:solidFill>
                  <a:srgbClr val="FF0000"/>
                </a:solidFill>
              </a:rPr>
              <a:t>方法名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62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650841"/>
          </a:xfrm>
        </p:spPr>
        <p:txBody>
          <a:bodyPr/>
          <a:lstStyle/>
          <a:p>
            <a:r>
              <a:rPr lang="zh-CN" altLang="en-US" dirty="0"/>
              <a:t>字符串连接函数 </a:t>
            </a:r>
            <a:r>
              <a:rPr lang="en-US" altLang="zh-CN" dirty="0"/>
              <a:t>join</a:t>
            </a:r>
          </a:p>
          <a:p>
            <a:pPr lvl="1"/>
            <a:r>
              <a:rPr lang="zh-CN" altLang="en-US" dirty="0"/>
              <a:t>将序列中的元素以指定的字符连接生成一个新的字符串</a:t>
            </a:r>
            <a:endParaRPr lang="en-US" altLang="zh-CN" dirty="0"/>
          </a:p>
          <a:p>
            <a:pPr marL="257168" lvl="1" indent="0">
              <a:buNone/>
            </a:pPr>
            <a:r>
              <a:rPr lang="en-US" altLang="zh-CN" b="1" dirty="0"/>
              <a:t>         </a:t>
            </a:r>
            <a:r>
              <a:rPr lang="zh-CN" altLang="en-US" b="1" dirty="0"/>
              <a:t>字符串</a:t>
            </a:r>
            <a:r>
              <a:rPr lang="en-US" altLang="zh-CN" b="1" dirty="0"/>
              <a:t>.join(sequence)</a:t>
            </a:r>
          </a:p>
          <a:p>
            <a:pPr lvl="1"/>
            <a:r>
              <a:rPr lang="en-US" altLang="zh-CN" dirty="0"/>
              <a:t>sequence </a:t>
            </a:r>
            <a:r>
              <a:rPr lang="zh-CN" altLang="en-US" dirty="0"/>
              <a:t>是要连接的元素序列，每个元素必须是字符串类型。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字符串连接操作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1731" y="4390580"/>
            <a:ext cx="7306574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buSzPct val="70000"/>
              <a:buNone/>
            </a:pPr>
            <a:r>
              <a:rPr lang="zh-CN" altLang="en-US">
                <a:latin typeface="Consolas" panose="020B0609020204030204" pitchFamily="49" charset="0"/>
              </a:rPr>
              <a:t>&gt;&gt;&gt; </a:t>
            </a:r>
            <a:r>
              <a:rPr lang="zh-CN" altLang="en-US" dirty="0">
                <a:latin typeface="Consolas" panose="020B0609020204030204" pitchFamily="49" charset="0"/>
              </a:rPr>
              <a:t>','.join(li)</a:t>
            </a:r>
          </a:p>
          <a:p>
            <a:pPr defTabSz="685800">
              <a:lnSpc>
                <a:spcPts val="2600"/>
              </a:lnSpc>
              <a:buSzPct val="70000"/>
              <a:buNone/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'apple,peach,banana,</a:t>
            </a:r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pear'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401531" y="4729617"/>
            <a:ext cx="439515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逗号被作为分隔符填充到新的字符串中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7" name="线形标注 1 6"/>
          <p:cNvSpPr/>
          <p:nvPr/>
        </p:nvSpPr>
        <p:spPr>
          <a:xfrm>
            <a:off x="2463093" y="3780527"/>
            <a:ext cx="853679" cy="342900"/>
          </a:xfrm>
          <a:prstGeom prst="borderCallout1">
            <a:avLst>
              <a:gd name="adj1" fmla="val 36893"/>
              <a:gd name="adj2" fmla="val -947"/>
              <a:gd name="adj3" fmla="val 206518"/>
              <a:gd name="adj4" fmla="val -96822"/>
            </a:avLst>
          </a:prstGeom>
          <a:ln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1350" noProof="1">
                <a:solidFill>
                  <a:srgbClr val="FF0000"/>
                </a:solidFill>
              </a:rPr>
              <a:t>连接符</a:t>
            </a:r>
          </a:p>
        </p:txBody>
      </p:sp>
      <p:sp>
        <p:nvSpPr>
          <p:cNvPr id="5" name="矩形 4"/>
          <p:cNvSpPr/>
          <p:nvPr/>
        </p:nvSpPr>
        <p:spPr>
          <a:xfrm>
            <a:off x="821731" y="3000471"/>
            <a:ext cx="6498282" cy="4083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buSzPct val="70000"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&gt;&gt;&gt; li = ["apple", "peach", "banana", "pear"]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EE8F10-EB64-4BFF-8827-3253F26C1849}"/>
              </a:ext>
            </a:extLst>
          </p:cNvPr>
          <p:cNvSpPr txBox="1"/>
          <p:nvPr/>
        </p:nvSpPr>
        <p:spPr>
          <a:xfrm>
            <a:off x="877380" y="554766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列表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元组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  <a:r>
              <a:rPr lang="zh-CN" altLang="en-US" dirty="0"/>
              <a:t>都是序列。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713A10-F44A-4789-8254-6647910C4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68" y="6025077"/>
            <a:ext cx="3015646" cy="51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合并：join()</a:t>
            </a:r>
          </a:p>
        </p:txBody>
      </p:sp>
      <p:sp>
        <p:nvSpPr>
          <p:cNvPr id="44034" name="文本占位符 36866"/>
          <p:cNvSpPr>
            <a:spLocks noGrp="1"/>
          </p:cNvSpPr>
          <p:nvPr>
            <p:ph idx="1"/>
          </p:nvPr>
        </p:nvSpPr>
        <p:spPr>
          <a:xfrm>
            <a:off x="611342" y="1499616"/>
            <a:ext cx="5378397" cy="4807131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字符串连接join()</a:t>
            </a:r>
          </a:p>
          <a:p>
            <a:pPr>
              <a:lnSpc>
                <a:spcPct val="150000"/>
              </a:lnSpc>
              <a:buSzPct val="7000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li = ["apple", "peach", "banana", "pear"]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SzPct val="70000"/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SzPct val="70000"/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SzPct val="7000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'.'.join(li)</a:t>
            </a:r>
          </a:p>
          <a:p>
            <a:pPr>
              <a:lnSpc>
                <a:spcPct val="150000"/>
              </a:lnSpc>
              <a:buSzPct val="70000"/>
              <a:buNone/>
            </a:pP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'apple.peach.banana.pear'</a:t>
            </a:r>
          </a:p>
          <a:p>
            <a:pPr>
              <a:lnSpc>
                <a:spcPct val="150000"/>
              </a:lnSpc>
              <a:buSzPct val="7000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'::'.join(li)</a:t>
            </a:r>
          </a:p>
          <a:p>
            <a:pPr>
              <a:lnSpc>
                <a:spcPct val="150000"/>
              </a:lnSpc>
              <a:buSzPct val="70000"/>
              <a:buNone/>
            </a:pP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'apple::peach::banana::pear’</a:t>
            </a:r>
            <a:endParaRPr lang="en-US" altLang="zh-CN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SzPct val="7000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''.join(li)  </a:t>
            </a:r>
          </a:p>
          <a:p>
            <a:pPr>
              <a:lnSpc>
                <a:spcPct val="150000"/>
              </a:lnSpc>
              <a:buSzPct val="70000"/>
              <a:buNone/>
            </a:pP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apple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peach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banana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pear‘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4814525" y="2993638"/>
            <a:ext cx="853679" cy="342900"/>
          </a:xfrm>
          <a:prstGeom prst="borderCallout1">
            <a:avLst>
              <a:gd name="adj1" fmla="val 36893"/>
              <a:gd name="adj2" fmla="val -947"/>
              <a:gd name="adj3" fmla="val 152695"/>
              <a:gd name="adj4" fmla="val -388680"/>
            </a:avLst>
          </a:prstGeom>
          <a:ln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1350" noProof="1">
                <a:solidFill>
                  <a:srgbClr val="FF0000"/>
                </a:solidFill>
              </a:rPr>
              <a:t>连接符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91693F4-3DDC-424E-A898-88FC21F086D3}"/>
              </a:ext>
            </a:extLst>
          </p:cNvPr>
          <p:cNvCxnSpPr/>
          <p:nvPr/>
        </p:nvCxnSpPr>
        <p:spPr bwMode="auto">
          <a:xfrm flipH="1">
            <a:off x="1526796" y="3347207"/>
            <a:ext cx="3305263" cy="10821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E55224D-AC76-4C84-98F5-36CBB092D7EB}"/>
              </a:ext>
            </a:extLst>
          </p:cNvPr>
          <p:cNvCxnSpPr>
            <a:stCxn id="5" idx="1"/>
          </p:cNvCxnSpPr>
          <p:nvPr/>
        </p:nvCxnSpPr>
        <p:spPr bwMode="auto">
          <a:xfrm flipH="1">
            <a:off x="1392572" y="3336538"/>
            <a:ext cx="3848793" cy="20218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C26F8A4-8E57-41FD-BD01-EF6A191CD169}"/>
              </a:ext>
            </a:extLst>
          </p:cNvPr>
          <p:cNvSpPr txBox="1"/>
          <p:nvPr/>
        </p:nvSpPr>
        <p:spPr>
          <a:xfrm>
            <a:off x="2906997" y="5242376"/>
            <a:ext cx="149894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70000"/>
              <a:buNone/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 ''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空串</a:t>
            </a:r>
          </a:p>
        </p:txBody>
      </p:sp>
    </p:spTree>
    <p:extLst>
      <p:ext uri="{BB962C8B-B14F-4D97-AF65-F5344CB8AC3E}">
        <p14:creationId xmlns:p14="http://schemas.microsoft.com/office/powerpoint/2010/main" val="2936777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合并： join()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3525" y="1977992"/>
            <a:ext cx="8104823" cy="3128210"/>
          </a:xfrm>
        </p:spPr>
        <p:txBody>
          <a:bodyPr>
            <a:normAutofit/>
          </a:bodyPr>
          <a:lstStyle/>
          <a:p>
            <a:pPr marL="0" indent="0">
              <a:lnSpc>
                <a:spcPct val="300000"/>
              </a:lnSpc>
              <a:spcBef>
                <a:spcPts val="0"/>
              </a:spcBef>
              <a:buNone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x = 'aaa      bb      c d e   fff    '</a:t>
            </a:r>
          </a:p>
          <a:p>
            <a:pPr marL="0" indent="0">
              <a:lnSpc>
                <a:spcPct val="300000"/>
              </a:lnSpc>
              <a:spcBef>
                <a:spcPts val="0"/>
              </a:spcBef>
              <a:buNone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' '.join(x.split())             #使用空格作为连接符</a:t>
            </a:r>
          </a:p>
          <a:p>
            <a:pPr marL="0" indent="0">
              <a:lnSpc>
                <a:spcPct val="300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'aaa bb c d e fff'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86606" y="961049"/>
            <a:ext cx="85057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使用split()和join()方法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删除字符串中多余的空白字符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，连续多个空白字符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只保留一个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618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8336" y="70586"/>
            <a:ext cx="9193732" cy="569494"/>
          </a:xfrm>
        </p:spPr>
        <p:txBody>
          <a:bodyPr>
            <a:normAutofit fontScale="90000"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例，判断两个字符串删除空格后是否等价？</a:t>
            </a:r>
          </a:p>
        </p:txBody>
      </p:sp>
      <p:sp>
        <p:nvSpPr>
          <p:cNvPr id="4" name="矩形 3"/>
          <p:cNvSpPr/>
          <p:nvPr/>
        </p:nvSpPr>
        <p:spPr>
          <a:xfrm>
            <a:off x="522971" y="690780"/>
            <a:ext cx="4658627" cy="60939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s1=input()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s2=input()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+mn-ea"/>
              </a:rPr>
              <a:t>if s1 == s2: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    flag=</a:t>
            </a:r>
            <a:r>
              <a:rPr lang="zh-CN" altLang="en-US" sz="2000">
                <a:latin typeface="+mn-ea"/>
              </a:rPr>
              <a:t> True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+mn-ea"/>
              </a:rPr>
              <a:t>elif ''.join(s1.split()) == ''.join(s2.split()):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    flag=</a:t>
            </a:r>
            <a:r>
              <a:rPr lang="zh-CN" altLang="en-US" sz="2000">
                <a:latin typeface="+mn-ea"/>
              </a:rPr>
              <a:t>True</a:t>
            </a: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+mn-ea"/>
              </a:rPr>
              <a:t>else: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    flag=</a:t>
            </a:r>
            <a:r>
              <a:rPr lang="zh-CN" altLang="en-US" sz="2000">
                <a:latin typeface="+mn-ea"/>
              </a:rPr>
              <a:t> False</a:t>
            </a:r>
            <a:endParaRPr lang="en-US" altLang="zh-CN" sz="200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latin typeface="+mn-ea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if flag==True: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    print</a:t>
            </a:r>
            <a:r>
              <a:rPr lang="zh-CN" altLang="en-US" sz="2000">
                <a:latin typeface="+mn-ea"/>
              </a:rPr>
              <a:t>(</a:t>
            </a:r>
            <a:r>
              <a:rPr lang="en-US" altLang="zh-CN" sz="2000">
                <a:latin typeface="+mn-ea"/>
              </a:rPr>
              <a:t>"</a:t>
            </a:r>
            <a:r>
              <a:rPr lang="zh-CN" altLang="en-US" sz="2000">
                <a:latin typeface="+mn-ea"/>
              </a:rPr>
              <a:t>等价</a:t>
            </a:r>
            <a:r>
              <a:rPr lang="en-US" altLang="zh-CN" sz="2000">
                <a:latin typeface="+mn-ea"/>
              </a:rPr>
              <a:t>"</a:t>
            </a:r>
            <a:r>
              <a:rPr lang="zh-CN" altLang="en-US" sz="2000">
                <a:latin typeface="+mn-ea"/>
              </a:rPr>
              <a:t>)</a:t>
            </a:r>
            <a:endParaRPr lang="en-US" altLang="zh-CN" sz="200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else: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    print</a:t>
            </a:r>
            <a:r>
              <a:rPr lang="zh-CN" altLang="en-US" sz="2000">
                <a:latin typeface="+mn-ea"/>
              </a:rPr>
              <a:t>(</a:t>
            </a:r>
            <a:r>
              <a:rPr lang="en-US" altLang="zh-CN" sz="2000">
                <a:latin typeface="+mn-ea"/>
              </a:rPr>
              <a:t>"</a:t>
            </a:r>
            <a:r>
              <a:rPr lang="zh-CN" altLang="en-US" sz="2000">
                <a:latin typeface="+mn-ea"/>
              </a:rPr>
              <a:t>不等价</a:t>
            </a:r>
            <a:r>
              <a:rPr lang="en-US" altLang="zh-CN" sz="2000">
                <a:latin typeface="+mn-ea"/>
              </a:rPr>
              <a:t>"</a:t>
            </a:r>
            <a:r>
              <a:rPr lang="zh-CN" altLang="en-US" sz="2000">
                <a:latin typeface="+mn-ea"/>
              </a:rPr>
              <a:t>)</a:t>
            </a:r>
            <a:endParaRPr lang="en-US" altLang="zh-CN" sz="200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99220" y="2052129"/>
            <a:ext cx="2695074" cy="2806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B0F0"/>
                </a:solidFill>
              </a:rPr>
              <a:t>输入</a:t>
            </a:r>
            <a:endParaRPr lang="en-US" altLang="zh-CN" sz="240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/>
              <a:t>pip list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zh-CN" altLang="en-US" sz="2400"/>
              <a:t>pip    list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B0F0"/>
                </a:solidFill>
              </a:rPr>
              <a:t>输出</a:t>
            </a:r>
            <a:endParaRPr lang="en-US" altLang="zh-CN" sz="240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/>
              <a:t>等价</a:t>
            </a:r>
          </a:p>
        </p:txBody>
      </p:sp>
    </p:spTree>
    <p:extLst>
      <p:ext uri="{BB962C8B-B14F-4D97-AF65-F5344CB8AC3E}">
        <p14:creationId xmlns:p14="http://schemas.microsoft.com/office/powerpoint/2010/main" val="120276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856262"/>
            <a:ext cx="8458200" cy="245321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find()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index()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count()</a:t>
            </a:r>
            <a:endParaRPr lang="en-US" altLang="zh-CN" noProof="1"/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altLang="zh-CN">
                <a:latin typeface="宋体" panose="02010600030101010101" pitchFamily="2" charset="-122"/>
                <a:sym typeface="+mn-ea"/>
              </a:rPr>
              <a:t>find(subst,[start,[end]])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方法分别用来查找一个字符串在另一个字符串指定范围（默认是整个字符串）中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首次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出现的位置，如果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不存在则返回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-1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；</a:t>
            </a:r>
            <a:endParaRPr lang="en-US" altLang="zh-CN" dirty="0">
              <a:latin typeface="宋体" panose="02010600030101010101" pitchFamily="2" charset="-122"/>
              <a:sym typeface="+mn-ea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latin typeface="宋体" panose="02010600030101010101" pitchFamily="2" charset="-122"/>
                <a:sym typeface="+mn-ea"/>
              </a:rPr>
              <a:t>index(subst,[start,[end]])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方法用来返回一个字符串在另一个字符串指定范围中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首次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出现的位置，如果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不存在则抛出异常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；</a:t>
            </a:r>
            <a:endParaRPr lang="en-US" altLang="zh-CN" dirty="0">
              <a:latin typeface="宋体" panose="02010600030101010101" pitchFamily="2" charset="-122"/>
              <a:sym typeface="+mn-ea"/>
            </a:endParaRP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altLang="zh-CN">
                <a:latin typeface="宋体" panose="02010600030101010101" pitchFamily="2" charset="-122"/>
                <a:sym typeface="+mn-ea"/>
              </a:rPr>
              <a:t>count(subst,[start,[end]])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方法用来返回一个字符串在当前字符串中出现的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次数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字符串查找</a:t>
            </a:r>
          </a:p>
        </p:txBody>
      </p:sp>
      <p:sp>
        <p:nvSpPr>
          <p:cNvPr id="4" name="矩形 3"/>
          <p:cNvSpPr/>
          <p:nvPr/>
        </p:nvSpPr>
        <p:spPr>
          <a:xfrm>
            <a:off x="615203" y="3358498"/>
            <a:ext cx="6584535" cy="3293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s="</a:t>
            </a:r>
            <a:r>
              <a:rPr lang="en-US" altLang="zh-CN" dirty="0" err="1">
                <a:latin typeface="Consolas" panose="020B0609020204030204" charset="0"/>
              </a:rPr>
              <a:t>apple,peach,banana,peach,pear</a:t>
            </a:r>
            <a:r>
              <a:rPr lang="en-US" altLang="zh-CN" dirty="0">
                <a:latin typeface="Consolas" panose="020B0609020204030204" charset="0"/>
              </a:rPr>
              <a:t>"</a:t>
            </a:r>
          </a:p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s.find</a:t>
            </a:r>
            <a:r>
              <a:rPr lang="en-US" altLang="zh-CN" dirty="0">
                <a:latin typeface="Consolas" panose="020B0609020204030204" charset="0"/>
              </a:rPr>
              <a:t>("peach")</a:t>
            </a:r>
          </a:p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6</a:t>
            </a:r>
          </a:p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s.find</a:t>
            </a:r>
            <a:r>
              <a:rPr lang="en-US" altLang="zh-CN" dirty="0">
                <a:latin typeface="Consolas" panose="020B0609020204030204" charset="0"/>
              </a:rPr>
              <a:t>("peach",7)</a:t>
            </a:r>
          </a:p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19</a:t>
            </a:r>
          </a:p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s.find</a:t>
            </a:r>
            <a:r>
              <a:rPr lang="en-US" altLang="zh-CN" dirty="0">
                <a:latin typeface="Consolas" panose="020B0609020204030204" charset="0"/>
              </a:rPr>
              <a:t>("peach",7,20)</a:t>
            </a:r>
          </a:p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-1</a:t>
            </a:r>
          </a:p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s.rfind</a:t>
            </a:r>
            <a:r>
              <a:rPr lang="en-US" altLang="zh-CN" dirty="0">
                <a:latin typeface="Consolas" panose="020B0609020204030204" charset="0"/>
              </a:rPr>
              <a:t>('p')</a:t>
            </a:r>
          </a:p>
          <a:p>
            <a:pPr marL="1429" indent="-258604" defTabSz="685800">
              <a:lnSpc>
                <a:spcPts val="28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25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021374" y="3756024"/>
            <a:ext cx="475871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返回第一个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peach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的起始字符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p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的索引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4017457" y="4467204"/>
            <a:ext cx="475871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从索引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开始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查找，返回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peach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的索引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017457" y="5103298"/>
            <a:ext cx="4758718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在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索引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到索引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之间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查找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peach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，返回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-1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表示没找到，第三个参数指定结束查找的位置，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4017457" y="5916377"/>
            <a:ext cx="475871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rfind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表示从右到左查找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914E65F-E95D-448C-8711-6F85D419001F}"/>
              </a:ext>
            </a:extLst>
          </p:cNvPr>
          <p:cNvCxnSpPr/>
          <p:nvPr/>
        </p:nvCxnSpPr>
        <p:spPr bwMode="auto">
          <a:xfrm flipH="1">
            <a:off x="2441196" y="3358498"/>
            <a:ext cx="226503" cy="148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2EDBA71-F9F3-40B8-8CFF-D5E78E851E1F}"/>
              </a:ext>
            </a:extLst>
          </p:cNvPr>
          <p:cNvSpPr txBox="1"/>
          <p:nvPr/>
        </p:nvSpPr>
        <p:spPr>
          <a:xfrm>
            <a:off x="2554447" y="312481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位置</a:t>
            </a:r>
            <a:r>
              <a:rPr lang="en-US" altLang="zh-CN" dirty="0"/>
              <a:t>6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6BA0367-7CCF-4CE3-BB4B-2938F5594EC8}"/>
              </a:ext>
            </a:extLst>
          </p:cNvPr>
          <p:cNvCxnSpPr/>
          <p:nvPr/>
        </p:nvCxnSpPr>
        <p:spPr bwMode="auto">
          <a:xfrm flipH="1">
            <a:off x="4026660" y="3383361"/>
            <a:ext cx="226503" cy="148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0DF44-4150-4DE1-B955-9A4DA78FECE5}"/>
              </a:ext>
            </a:extLst>
          </p:cNvPr>
          <p:cNvSpPr txBox="1"/>
          <p:nvPr/>
        </p:nvSpPr>
        <p:spPr>
          <a:xfrm>
            <a:off x="4139911" y="314967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位置</a:t>
            </a:r>
            <a:r>
              <a:rPr lang="en-US" altLang="zh-CN" dirty="0"/>
              <a:t>19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CD92452-635D-497E-A1E6-C22BC2F7933A}"/>
              </a:ext>
            </a:extLst>
          </p:cNvPr>
          <p:cNvCxnSpPr/>
          <p:nvPr/>
        </p:nvCxnSpPr>
        <p:spPr bwMode="auto">
          <a:xfrm flipH="1">
            <a:off x="4818317" y="3426129"/>
            <a:ext cx="226503" cy="148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A932870-9580-49B4-9178-DD282C81595B}"/>
              </a:ext>
            </a:extLst>
          </p:cNvPr>
          <p:cNvSpPr txBox="1"/>
          <p:nvPr/>
        </p:nvSpPr>
        <p:spPr>
          <a:xfrm>
            <a:off x="4931568" y="319244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位置</a:t>
            </a:r>
            <a:r>
              <a:rPr lang="en-US" altLang="zh-CN" dirty="0"/>
              <a:t>25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DDCDA9F-2EE5-4E65-8452-7AE6ED97F57E}"/>
              </a:ext>
            </a:extLst>
          </p:cNvPr>
          <p:cNvCxnSpPr/>
          <p:nvPr/>
        </p:nvCxnSpPr>
        <p:spPr bwMode="auto">
          <a:xfrm flipH="1">
            <a:off x="1652469" y="3360533"/>
            <a:ext cx="226503" cy="148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B707651-EF49-472E-92E4-13B154D541CF}"/>
              </a:ext>
            </a:extLst>
          </p:cNvPr>
          <p:cNvSpPr txBox="1"/>
          <p:nvPr/>
        </p:nvSpPr>
        <p:spPr>
          <a:xfrm>
            <a:off x="1765720" y="3126846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位置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45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字符串查找</a:t>
            </a:r>
          </a:p>
        </p:txBody>
      </p:sp>
      <p:sp>
        <p:nvSpPr>
          <p:cNvPr id="4" name="矩形 3"/>
          <p:cNvSpPr/>
          <p:nvPr/>
        </p:nvSpPr>
        <p:spPr>
          <a:xfrm>
            <a:off x="611023" y="1076372"/>
            <a:ext cx="790058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9" indent="-258604" defTabSz="685800">
              <a:lnSpc>
                <a:spcPct val="150000"/>
              </a:lnSpc>
              <a:spcBef>
                <a:spcPct val="0"/>
              </a:spcBef>
              <a:buSzPct val="70000"/>
            </a:pPr>
            <a:r>
              <a:rPr lang="en-US" altLang="zh-CN" dirty="0">
                <a:latin typeface="Consolas" panose="020B0609020204030204" charset="0"/>
              </a:rPr>
              <a:t>&gt;&gt;&gt; s="</a:t>
            </a:r>
            <a:r>
              <a:rPr lang="en-US" altLang="zh-CN" dirty="0" err="1">
                <a:latin typeface="Consolas" panose="020B0609020204030204" charset="0"/>
              </a:rPr>
              <a:t>apple,peach,banana,peach,pear</a:t>
            </a:r>
            <a:r>
              <a:rPr lang="en-US" altLang="zh-CN" dirty="0">
                <a:latin typeface="Consolas" panose="020B0609020204030204" charset="0"/>
              </a:rPr>
              <a:t>"</a:t>
            </a:r>
          </a:p>
          <a:p>
            <a:pPr marL="1429" indent="-258604" defTabSz="685800">
              <a:lnSpc>
                <a:spcPct val="1500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s.index</a:t>
            </a:r>
            <a:r>
              <a:rPr lang="en-US" altLang="zh-CN" dirty="0">
                <a:latin typeface="Consolas" panose="020B0609020204030204" charset="0"/>
              </a:rPr>
              <a:t>('p')</a:t>
            </a:r>
          </a:p>
          <a:p>
            <a:pPr marL="1429" indent="-258604" defTabSz="685800">
              <a:lnSpc>
                <a:spcPct val="1500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1</a:t>
            </a:r>
          </a:p>
          <a:p>
            <a:pPr marL="1429">
              <a:lnSpc>
                <a:spcPct val="150000"/>
              </a:lnSpc>
            </a:pPr>
            <a:r>
              <a:rPr lang="en-US" altLang="zh-CN" dirty="0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&gt;&gt;&gt; </a:t>
            </a:r>
            <a:r>
              <a:rPr lang="en-US" altLang="zh-CN" dirty="0" err="1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s.index</a:t>
            </a:r>
            <a:r>
              <a:rPr lang="en-US" altLang="zh-CN" dirty="0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('pear')</a:t>
            </a:r>
            <a:endParaRPr lang="en-US" altLang="zh-CN" dirty="0">
              <a:latin typeface="Consolas" panose="020B0609020204030204" charset="0"/>
              <a:ea typeface="宋体" panose="02010600030101010101" pitchFamily="2" charset="-122"/>
            </a:endParaRPr>
          </a:p>
          <a:p>
            <a:pPr marL="1429" indent="-258604" defTabSz="685800">
              <a:lnSpc>
                <a:spcPct val="1500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宋体" panose="02010600030101010101" pitchFamily="2" charset="-122"/>
              </a:rPr>
              <a:t>25</a:t>
            </a:r>
          </a:p>
          <a:p>
            <a:pPr marL="1429">
              <a:lnSpc>
                <a:spcPct val="150000"/>
              </a:lnSpc>
            </a:pPr>
            <a:r>
              <a:rPr lang="en-US" altLang="zh-CN" dirty="0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&gt;&gt;&gt; </a:t>
            </a:r>
            <a:r>
              <a:rPr lang="en-US" altLang="zh-CN" dirty="0" err="1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s.index</a:t>
            </a:r>
            <a:r>
              <a:rPr lang="en-US" altLang="zh-CN" dirty="0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('</a:t>
            </a:r>
            <a:r>
              <a:rPr lang="en-US" altLang="zh-CN" dirty="0" err="1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ppp</a:t>
            </a:r>
            <a:r>
              <a:rPr lang="en-US" altLang="zh-CN" dirty="0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')</a:t>
            </a:r>
            <a:endParaRPr lang="en-US" altLang="zh-CN" dirty="0">
              <a:latin typeface="Consolas" panose="020B0609020204030204" charset="0"/>
              <a:ea typeface="宋体" panose="02010600030101010101" pitchFamily="2" charset="-122"/>
            </a:endParaRPr>
          </a:p>
          <a:p>
            <a:pPr marL="1429"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Traceback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 (most recent call last):</a:t>
            </a:r>
          </a:p>
          <a:p>
            <a:pPr marL="1429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  File "&lt;pyshell#11&gt;", line 1, in &lt;module&gt;</a:t>
            </a:r>
          </a:p>
          <a:p>
            <a:pPr marL="1429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s.index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('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ppp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')</a:t>
            </a:r>
          </a:p>
          <a:p>
            <a:pPr marL="1429"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ValueError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: substring not found</a:t>
            </a:r>
          </a:p>
          <a:p>
            <a:pPr marL="1429">
              <a:lnSpc>
                <a:spcPct val="150000"/>
              </a:lnSpc>
            </a:pPr>
            <a:r>
              <a:rPr lang="en-US" altLang="zh-CN" dirty="0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&gt;&gt;&gt; </a:t>
            </a:r>
            <a:r>
              <a:rPr lang="en-US" altLang="zh-CN" dirty="0" err="1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s.count</a:t>
            </a:r>
            <a:r>
              <a:rPr lang="en-US" altLang="zh-CN" dirty="0">
                <a:latin typeface="Consolas" panose="020B0609020204030204" charset="0"/>
                <a:ea typeface="宋体" panose="02010600030101010101" pitchFamily="2" charset="-122"/>
                <a:sym typeface="宋体" panose="02010600030101010101" pitchFamily="2" charset="-122"/>
              </a:rPr>
              <a:t>('p')</a:t>
            </a:r>
            <a:endParaRPr lang="en-US" altLang="zh-CN" dirty="0">
              <a:latin typeface="Consolas" panose="020B0609020204030204" charset="0"/>
              <a:ea typeface="宋体" panose="02010600030101010101" pitchFamily="2" charset="-122"/>
            </a:endParaRPr>
          </a:p>
          <a:p>
            <a:pPr marL="1429" indent="-258604" defTabSz="685800">
              <a:lnSpc>
                <a:spcPct val="1500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宋体" panose="02010600030101010101" pitchFamily="2" charset="-122"/>
              </a:rPr>
              <a:t>5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542811" y="1657486"/>
            <a:ext cx="475871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p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的索引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542811" y="2405195"/>
            <a:ext cx="475871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pear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的索引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542811" y="3223617"/>
            <a:ext cx="475871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找不到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'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ppp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'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产生错误，注意和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find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的区别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3542810" y="5301294"/>
            <a:ext cx="475871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返回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s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中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'p'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的数量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9BB489F-1B45-4ACB-B884-89A36CCBC589}"/>
              </a:ext>
            </a:extLst>
          </p:cNvPr>
          <p:cNvCxnSpPr/>
          <p:nvPr/>
        </p:nvCxnSpPr>
        <p:spPr bwMode="auto">
          <a:xfrm flipH="1">
            <a:off x="2449585" y="1112042"/>
            <a:ext cx="226503" cy="148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54E25AB-5602-41A4-A8B4-52E6C60F4416}"/>
              </a:ext>
            </a:extLst>
          </p:cNvPr>
          <p:cNvSpPr txBox="1"/>
          <p:nvPr/>
        </p:nvSpPr>
        <p:spPr>
          <a:xfrm>
            <a:off x="2562836" y="878355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位置</a:t>
            </a:r>
            <a:r>
              <a:rPr lang="en-US" altLang="zh-CN" dirty="0"/>
              <a:t>6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4938567-4737-4530-8492-B05EFF5E47D8}"/>
              </a:ext>
            </a:extLst>
          </p:cNvPr>
          <p:cNvCxnSpPr/>
          <p:nvPr/>
        </p:nvCxnSpPr>
        <p:spPr bwMode="auto">
          <a:xfrm flipH="1">
            <a:off x="4035049" y="1136905"/>
            <a:ext cx="226503" cy="148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8C47679-6176-4F61-B0C0-8CDA4C735495}"/>
              </a:ext>
            </a:extLst>
          </p:cNvPr>
          <p:cNvSpPr txBox="1"/>
          <p:nvPr/>
        </p:nvSpPr>
        <p:spPr>
          <a:xfrm>
            <a:off x="4148300" y="903218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位置</a:t>
            </a:r>
            <a:r>
              <a:rPr lang="en-US" altLang="zh-CN" dirty="0"/>
              <a:t>19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8AA03C4-DCF3-4ECD-A7E8-9303AA248F92}"/>
              </a:ext>
            </a:extLst>
          </p:cNvPr>
          <p:cNvCxnSpPr/>
          <p:nvPr/>
        </p:nvCxnSpPr>
        <p:spPr bwMode="auto">
          <a:xfrm flipH="1">
            <a:off x="4826706" y="1179673"/>
            <a:ext cx="226503" cy="148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0F9E768-0F83-4A93-B422-AC2B1794AD91}"/>
              </a:ext>
            </a:extLst>
          </p:cNvPr>
          <p:cNvSpPr txBox="1"/>
          <p:nvPr/>
        </p:nvSpPr>
        <p:spPr>
          <a:xfrm>
            <a:off x="4939957" y="945986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位置</a:t>
            </a:r>
            <a:r>
              <a:rPr lang="en-US" altLang="zh-CN" dirty="0"/>
              <a:t>25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53AA1B5-B873-4C3F-8053-2002C4AFB9F0}"/>
              </a:ext>
            </a:extLst>
          </p:cNvPr>
          <p:cNvCxnSpPr/>
          <p:nvPr/>
        </p:nvCxnSpPr>
        <p:spPr bwMode="auto">
          <a:xfrm flipH="1">
            <a:off x="1660858" y="1114077"/>
            <a:ext cx="226503" cy="148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7C65725-0292-43B7-8EA0-9B3388413447}"/>
              </a:ext>
            </a:extLst>
          </p:cNvPr>
          <p:cNvSpPr txBox="1"/>
          <p:nvPr/>
        </p:nvSpPr>
        <p:spPr>
          <a:xfrm>
            <a:off x="1774109" y="880390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位置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340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461213C-F29F-4F66-89A5-E5104498EC99}"/>
              </a:ext>
            </a:extLst>
          </p:cNvPr>
          <p:cNvSpPr/>
          <p:nvPr/>
        </p:nvSpPr>
        <p:spPr>
          <a:xfrm>
            <a:off x="683569" y="5326935"/>
            <a:ext cx="5524284" cy="14010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836" y="1113211"/>
            <a:ext cx="9018164" cy="1546733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split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([</a:t>
            </a:r>
            <a:r>
              <a:rPr lang="en-US" altLang="zh-CN" dirty="0" err="1">
                <a:latin typeface="宋体" panose="02010600030101010101" pitchFamily="2" charset="-122"/>
                <a:sym typeface="+mn-ea"/>
              </a:rPr>
              <a:t>sep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,[</a:t>
            </a:r>
            <a:r>
              <a:rPr lang="en-US" altLang="zh-CN" dirty="0" err="1">
                <a:latin typeface="宋体" panose="02010600030101010101" pitchFamily="2" charset="-122"/>
                <a:sym typeface="+mn-ea"/>
              </a:rPr>
              <a:t>maxsplit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]])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可以用于字符串分割</a:t>
            </a:r>
            <a:endParaRPr lang="en-US" altLang="zh-CN" dirty="0">
              <a:latin typeface="宋体" panose="02010600030101010101" pitchFamily="2" charset="-122"/>
              <a:sym typeface="+mn-ea"/>
            </a:endParaRPr>
          </a:p>
          <a:p>
            <a:pPr marL="565302" lvl="1" indent="-265271">
              <a:buFont typeface="Wingdings" panose="05000000000000000000" charset="0"/>
              <a:buChar char=""/>
            </a:pPr>
            <a:r>
              <a:rPr lang="en-US" altLang="zh-CN" dirty="0">
                <a:latin typeface="宋体" panose="02010600030101010101" pitchFamily="2" charset="-122"/>
                <a:sym typeface="+mn-ea"/>
              </a:rPr>
              <a:t>split()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方法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以指定字符串</a:t>
            </a:r>
            <a:r>
              <a:rPr lang="en-US" altLang="zh-CN" dirty="0" err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sep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为分隔符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，把当前字符串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从左往右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分隔成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多个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字符串，并返回包含分隔结果的列表；如果没有指定分隔符，则默认一空白字符</a:t>
            </a:r>
            <a:r>
              <a:rPr lang="zh-CN" altLang="en-US" kern="1200" noProof="1">
                <a:latin typeface="宋体" panose="02010600030101010101" pitchFamily="2" charset="-122"/>
              </a:rPr>
              <a:t>（空格、换行符、制表符等）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分隔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字符串分割</a:t>
            </a:r>
          </a:p>
        </p:txBody>
      </p:sp>
      <p:sp>
        <p:nvSpPr>
          <p:cNvPr id="4" name="矩形 3"/>
          <p:cNvSpPr/>
          <p:nvPr/>
        </p:nvSpPr>
        <p:spPr>
          <a:xfrm>
            <a:off x="683569" y="2535221"/>
            <a:ext cx="7301587" cy="2617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9" indent="-258604" defTabSz="685800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&gt;&gt;&gt; s = 'hello world \n\n My name is Dong   '</a:t>
            </a:r>
          </a:p>
          <a:p>
            <a:pPr marL="1429" indent="-258604" defTabSz="685800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Consolas" panose="020B0609020204030204" charset="0"/>
              </a:rPr>
              <a:t>&gt;&gt;&gt; s.split()</a:t>
            </a:r>
          </a:p>
          <a:p>
            <a:pPr marL="1429" indent="-258604" defTabSz="685800">
              <a:lnSpc>
                <a:spcPct val="150000"/>
              </a:lnSpc>
              <a:buSzPct val="70000"/>
              <a:buNone/>
            </a:pPr>
            <a:r>
              <a:rPr lang="en-US" altLang="zh-CN" b="1" noProof="1">
                <a:solidFill>
                  <a:srgbClr val="C00000"/>
                </a:solidFill>
                <a:latin typeface="Consolas" panose="020B0609020204030204" charset="0"/>
              </a:rPr>
              <a:t>['hello', 'world', 'My', 'name', 'is', 'Dong']</a:t>
            </a:r>
          </a:p>
          <a:p>
            <a:pPr marL="1429" indent="-258604" defTabSz="685800">
              <a:lnSpc>
                <a:spcPct val="150000"/>
              </a:lnSpc>
              <a:spcBef>
                <a:spcPts val="225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s = "</a:t>
            </a:r>
            <a:r>
              <a:rPr lang="en-US" altLang="zh-CN" dirty="0" err="1">
                <a:latin typeface="Consolas" panose="020B0609020204030204" charset="0"/>
              </a:rPr>
              <a:t>apple,peach,banana,pear</a:t>
            </a:r>
            <a:r>
              <a:rPr lang="en-US" altLang="zh-CN" dirty="0">
                <a:latin typeface="Consolas" panose="020B0609020204030204" charset="0"/>
              </a:rPr>
              <a:t>"</a:t>
            </a:r>
          </a:p>
          <a:p>
            <a:pPr marL="1429" indent="-258604" defTabSz="685800">
              <a:lnSpc>
                <a:spcPct val="150000"/>
              </a:lnSpc>
              <a:spcBef>
                <a:spcPts val="225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</a:rPr>
              <a:t>&gt;&gt;&gt; </a:t>
            </a:r>
            <a:r>
              <a:rPr lang="en-US" altLang="zh-CN" dirty="0" err="1">
                <a:latin typeface="Consolas" panose="020B0609020204030204" charset="0"/>
              </a:rPr>
              <a:t>s.split</a:t>
            </a:r>
            <a:r>
              <a:rPr lang="en-US" altLang="zh-CN" dirty="0">
                <a:latin typeface="Consolas" panose="020B0609020204030204" charset="0"/>
              </a:rPr>
              <a:t>(",")</a:t>
            </a:r>
          </a:p>
          <a:p>
            <a:pPr marL="1429" indent="-258604" defTabSz="685800">
              <a:lnSpc>
                <a:spcPct val="150000"/>
              </a:lnSpc>
              <a:spcBef>
                <a:spcPts val="225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["apple", "peach", "banana", "pear"]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262788" y="3020129"/>
            <a:ext cx="444750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以空白字符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空格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换行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,tab)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作为分隔符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4262787" y="4348402"/>
            <a:ext cx="444750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以逗号作为分隔符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556CE0-74D4-45EA-BB2C-882EE6AD972C}"/>
              </a:ext>
            </a:extLst>
          </p:cNvPr>
          <p:cNvSpPr txBox="1"/>
          <p:nvPr/>
        </p:nvSpPr>
        <p:spPr>
          <a:xfrm>
            <a:off x="813732" y="5632788"/>
            <a:ext cx="1637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 ='</a:t>
            </a:r>
            <a:r>
              <a:rPr lang="en-US" altLang="zh-CN" dirty="0" err="1"/>
              <a:t>abc</a:t>
            </a:r>
            <a:r>
              <a:rPr lang="en-US" altLang="zh-CN" dirty="0"/>
              <a:t>  def'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BD8FA13-A73F-49EB-8542-E561F40EFDBD}"/>
              </a:ext>
            </a:extLst>
          </p:cNvPr>
          <p:cNvCxnSpPr/>
          <p:nvPr/>
        </p:nvCxnSpPr>
        <p:spPr bwMode="auto">
          <a:xfrm flipH="1">
            <a:off x="1870745" y="5511567"/>
            <a:ext cx="469783" cy="2265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9C1D22C-6971-4784-AEA7-F76EFE351D25}"/>
              </a:ext>
            </a:extLst>
          </p:cNvPr>
          <p:cNvSpPr txBox="1"/>
          <p:nvPr/>
        </p:nvSpPr>
        <p:spPr>
          <a:xfrm>
            <a:off x="2340528" y="5326935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abc</a:t>
            </a:r>
            <a:r>
              <a:rPr lang="zh-CN" altLang="en-US" dirty="0"/>
              <a:t>和</a:t>
            </a:r>
            <a:r>
              <a:rPr lang="en-US" altLang="zh-CN" dirty="0"/>
              <a:t>def</a:t>
            </a:r>
            <a:r>
              <a:rPr lang="zh-CN" altLang="en-US" dirty="0"/>
              <a:t>之间有两个空格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431C65-AD2D-4667-A83C-061C9085E4E1}"/>
              </a:ext>
            </a:extLst>
          </p:cNvPr>
          <p:cNvSpPr txBox="1"/>
          <p:nvPr/>
        </p:nvSpPr>
        <p:spPr>
          <a:xfrm>
            <a:off x="802832" y="6002120"/>
            <a:ext cx="1648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</a:t>
            </a:r>
            <a:r>
              <a:rPr lang="en-US" altLang="zh-CN" dirty="0" err="1"/>
              <a:t>s.split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['</a:t>
            </a:r>
            <a:r>
              <a:rPr lang="en-US" altLang="zh-CN" dirty="0" err="1"/>
              <a:t>abc</a:t>
            </a:r>
            <a:r>
              <a:rPr lang="en-US" altLang="zh-CN" dirty="0"/>
              <a:t>', 'def']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65CB7A-9B90-45F0-9516-0D41F0047603}"/>
              </a:ext>
            </a:extLst>
          </p:cNvPr>
          <p:cNvSpPr txBox="1"/>
          <p:nvPr/>
        </p:nvSpPr>
        <p:spPr>
          <a:xfrm>
            <a:off x="2980078" y="5954514"/>
            <a:ext cx="1854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</a:t>
            </a:r>
            <a:r>
              <a:rPr lang="en-US" altLang="zh-CN" dirty="0" err="1"/>
              <a:t>s.split</a:t>
            </a:r>
            <a:r>
              <a:rPr lang="en-US" altLang="zh-CN" dirty="0"/>
              <a:t>(' ')</a:t>
            </a:r>
          </a:p>
          <a:p>
            <a:r>
              <a:rPr lang="en-US" altLang="zh-CN" dirty="0"/>
              <a:t>['</a:t>
            </a:r>
            <a:r>
              <a:rPr lang="en-US" altLang="zh-CN" dirty="0" err="1"/>
              <a:t>abc</a:t>
            </a:r>
            <a:r>
              <a:rPr lang="en-US" altLang="zh-CN" dirty="0"/>
              <a:t>', '', 'def']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5808DBB-868E-46E3-A274-B2578B174EFC}"/>
              </a:ext>
            </a:extLst>
          </p:cNvPr>
          <p:cNvCxnSpPr/>
          <p:nvPr/>
        </p:nvCxnSpPr>
        <p:spPr bwMode="auto">
          <a:xfrm flipH="1">
            <a:off x="4572000" y="5863905"/>
            <a:ext cx="585325" cy="1382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E4B0EC5-4A1C-4124-BED3-FDA4EA070A09}"/>
              </a:ext>
            </a:extLst>
          </p:cNvPr>
          <p:cNvSpPr txBox="1"/>
          <p:nvPr/>
        </p:nvSpPr>
        <p:spPr>
          <a:xfrm>
            <a:off x="4937324" y="5609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一个空格</a:t>
            </a:r>
          </a:p>
        </p:txBody>
      </p:sp>
    </p:spTree>
    <p:extLst>
      <p:ext uri="{BB962C8B-B14F-4D97-AF65-F5344CB8AC3E}">
        <p14:creationId xmlns:p14="http://schemas.microsoft.com/office/powerpoint/2010/main" val="71565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文本占位符 35842"/>
          <p:cNvSpPr>
            <a:spLocks noGrp="1"/>
          </p:cNvSpPr>
          <p:nvPr>
            <p:ph idx="1"/>
          </p:nvPr>
        </p:nvSpPr>
        <p:spPr>
          <a:xfrm>
            <a:off x="628650" y="1392856"/>
            <a:ext cx="7886700" cy="5070646"/>
          </a:xfrm>
        </p:spPr>
        <p:txBody>
          <a:bodyPr anchor="t">
            <a:normAutofit/>
          </a:bodyPr>
          <a:lstStyle/>
          <a:p>
            <a:pPr fontAlgn="base">
              <a:lnSpc>
                <a:spcPct val="150000"/>
              </a:lnSpc>
              <a:buSzPct val="70000"/>
              <a:buFont typeface="Wingdings" panose="05000000000000000000" charset="0"/>
              <a:buChar char=""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split()</a:t>
            </a: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允许指定最大分割次数。</a:t>
            </a:r>
          </a:p>
          <a:p>
            <a:pPr marL="1429" indent="-258604" fontAlgn="base">
              <a:lnSpc>
                <a:spcPct val="150000"/>
              </a:lnSpc>
              <a:buSzPct val="70000"/>
              <a:buNone/>
            </a:pPr>
            <a:endParaRPr lang="en-US" altLang="zh-CN" sz="13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29" indent="-258604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s = '\n\nhello\t\t world \n\n\n My name is Dong   '</a:t>
            </a:r>
          </a:p>
          <a:p>
            <a:pPr marL="1429" indent="-258604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s.split(None, 1)</a:t>
            </a:r>
          </a:p>
          <a:p>
            <a:pPr marL="1429" indent="-258604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['hello', 'world \n\n\n My name is Dong   ']</a:t>
            </a:r>
          </a:p>
          <a:p>
            <a:pPr marL="1429" indent="-258604" fontAlgn="base">
              <a:lnSpc>
                <a:spcPct val="150000"/>
              </a:lnSpc>
              <a:buSzPct val="70000"/>
              <a:buNone/>
            </a:pPr>
            <a:endParaRPr lang="en-US" altLang="zh-CN" noProof="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29" indent="-258604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s.split(maxsplit=3)</a:t>
            </a:r>
          </a:p>
          <a:p>
            <a:pPr marL="1429" indent="-258604" fontAlgn="base">
              <a:lnSpc>
                <a:spcPct val="150000"/>
              </a:lnSpc>
              <a:buSzPct val="70000"/>
              <a:buNone/>
            </a:pPr>
            <a:r>
              <a:rPr lang="en-US" altLang="zh-CN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['hello', 'world', 'My', 'name is Dong   ']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025090" y="67293"/>
            <a:ext cx="7472951" cy="72197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拆分： </a:t>
            </a:r>
            <a:r>
              <a:rPr lang="en-US" altLang="zh-CN" sz="2800" dirty="0">
                <a:sym typeface="+mn-ea"/>
              </a:rPr>
              <a:t>split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([</a:t>
            </a:r>
            <a:r>
              <a:rPr lang="en-US" altLang="zh-CN" sz="2800" dirty="0" err="1">
                <a:latin typeface="宋体" panose="02010600030101010101" pitchFamily="2" charset="-122"/>
                <a:sym typeface="+mn-ea"/>
              </a:rPr>
              <a:t>sep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,[</a:t>
            </a:r>
            <a:r>
              <a:rPr lang="en-US" altLang="zh-CN" sz="2800" dirty="0" err="1">
                <a:latin typeface="宋体" panose="02010600030101010101" pitchFamily="2" charset="-122"/>
                <a:sym typeface="+mn-ea"/>
              </a:rPr>
              <a:t>maxsplit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]])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7742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090" y="80455"/>
            <a:ext cx="6347713" cy="1320800"/>
          </a:xfrm>
        </p:spPr>
        <p:txBody>
          <a:bodyPr/>
          <a:lstStyle/>
          <a:p>
            <a:r>
              <a:rPr lang="zh-CN" altLang="en-US" dirty="0"/>
              <a:t>字符串的应用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719" y="916635"/>
            <a:ext cx="8458200" cy="3317351"/>
          </a:xfrm>
        </p:spPr>
        <p:txBody>
          <a:bodyPr/>
          <a:lstStyle/>
          <a:p>
            <a:r>
              <a:rPr lang="zh-CN" altLang="en-US" sz="2000" dirty="0"/>
              <a:t>例题：在同一行里输入几个数字，用逗号分隔，求这些数字之和。</a:t>
            </a:r>
            <a:endParaRPr lang="en-US" altLang="zh-CN" sz="2000" dirty="0"/>
          </a:p>
          <a:p>
            <a:r>
              <a:rPr lang="zh-CN" altLang="en-US" sz="2000" dirty="0"/>
              <a:t>分析：</a:t>
            </a:r>
            <a:endParaRPr lang="en-US" altLang="zh-CN" sz="2000" dirty="0"/>
          </a:p>
          <a:p>
            <a:pPr lvl="1"/>
            <a:r>
              <a:rPr lang="en-US" altLang="zh-CN" sz="1800" dirty="0"/>
              <a:t>input()</a:t>
            </a:r>
            <a:r>
              <a:rPr lang="zh-CN" altLang="en-US" sz="1800" dirty="0"/>
              <a:t>一次读取一整行，并将该行作为一个字符串输入，所以需要调用</a:t>
            </a:r>
            <a:r>
              <a:rPr lang="en-US" altLang="zh-CN" sz="1800" dirty="0"/>
              <a:t>split</a:t>
            </a:r>
            <a:r>
              <a:rPr lang="zh-CN" altLang="en-US" sz="1800" dirty="0"/>
              <a:t>将该行切成成列表，再逐个处理</a:t>
            </a:r>
            <a:br>
              <a:rPr lang="en-US" altLang="zh-CN" sz="1800" dirty="0"/>
            </a:br>
            <a:r>
              <a:rPr lang="en-US" altLang="zh-CN" sz="1800" dirty="0" err="1"/>
              <a:t>xs</a:t>
            </a:r>
            <a:r>
              <a:rPr lang="en-US" altLang="zh-CN" sz="1800" dirty="0"/>
              <a:t>=input().split(',')</a:t>
            </a:r>
          </a:p>
          <a:p>
            <a:pPr lvl="1"/>
            <a:r>
              <a:rPr lang="zh-CN" altLang="en-US" sz="1800" dirty="0"/>
              <a:t>遍历新列表，将列表中的每个元素转成数值</a:t>
            </a:r>
            <a:br>
              <a:rPr lang="en-US" altLang="zh-CN" sz="1800" dirty="0"/>
            </a:br>
            <a:r>
              <a:rPr lang="en-US" altLang="zh-CN" sz="1800" dirty="0"/>
              <a:t>for x in </a:t>
            </a:r>
            <a:r>
              <a:rPr lang="en-US" altLang="zh-CN" sz="1800" dirty="0" err="1"/>
              <a:t>xs</a:t>
            </a:r>
            <a:r>
              <a:rPr lang="en-US" altLang="zh-CN" sz="1800" dirty="0"/>
              <a:t>:</a:t>
            </a:r>
            <a:br>
              <a:rPr lang="en-US" altLang="zh-CN" sz="1800" dirty="0"/>
            </a:br>
            <a:r>
              <a:rPr lang="en-US" altLang="zh-CN" sz="1800" dirty="0"/>
              <a:t>      float(x)</a:t>
            </a:r>
          </a:p>
          <a:p>
            <a:pPr lvl="1"/>
            <a:r>
              <a:rPr lang="zh-CN" altLang="en-US" sz="1800" dirty="0"/>
              <a:t>将数值累加到</a:t>
            </a:r>
            <a:r>
              <a:rPr lang="en-US" altLang="zh-CN" sz="1800" dirty="0" err="1"/>
              <a:t>sum_x</a:t>
            </a:r>
            <a:r>
              <a:rPr lang="zh-CN" altLang="en-US" sz="1800" dirty="0"/>
              <a:t>上，注意</a:t>
            </a:r>
            <a:r>
              <a:rPr lang="en-US" altLang="zh-CN" sz="1800" dirty="0" err="1"/>
              <a:t>sum_x</a:t>
            </a:r>
            <a:r>
              <a:rPr lang="zh-CN" altLang="en-US" sz="1800" dirty="0"/>
              <a:t>需要先清零</a:t>
            </a:r>
            <a:endParaRPr lang="en-US" altLang="zh-CN" sz="1800" dirty="0"/>
          </a:p>
          <a:p>
            <a:pPr lvl="1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3568" y="4560098"/>
            <a:ext cx="852879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input numbers </a:t>
            </a:r>
            <a:r>
              <a:rPr lang="en-US" altLang="zh-CN" b="1" dirty="0" err="1">
                <a:solidFill>
                  <a:srgbClr val="4E9A06"/>
                </a:solidFill>
                <a:latin typeface="Consolas" panose="020B0609020204030204" pitchFamily="49" charset="0"/>
              </a:rPr>
              <a:t>seperated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 by comma: 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split(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','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sum_x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1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sum_x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sum_x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C680C9-C139-4232-9EB4-E2B737CCC571}"/>
              </a:ext>
            </a:extLst>
          </p:cNvPr>
          <p:cNvSpPr txBox="1"/>
          <p:nvPr/>
        </p:nvSpPr>
        <p:spPr>
          <a:xfrm>
            <a:off x="4301819" y="547303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12.3, 4.56, 789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07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512154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查找替换replace()，类似于</a:t>
            </a:r>
            <a:r>
              <a:rPr lang="en-US" altLang="zh-CN" dirty="0">
                <a:latin typeface="宋体" panose="02010600030101010101" pitchFamily="2" charset="-122"/>
              </a:rPr>
              <a:t>Word</a:t>
            </a:r>
            <a:r>
              <a:rPr lang="zh-CN" altLang="en-US" dirty="0">
                <a:latin typeface="宋体" panose="02010600030101010101" pitchFamily="2" charset="-122"/>
              </a:rPr>
              <a:t>中的</a:t>
            </a:r>
            <a:r>
              <a:rPr lang="en-US" altLang="zh-CN" dirty="0">
                <a:latin typeface="宋体" panose="02010600030101010101" pitchFamily="2" charset="-122"/>
              </a:rPr>
              <a:t>“</a:t>
            </a:r>
            <a:r>
              <a:rPr lang="zh-CN" altLang="en-US" dirty="0">
                <a:latin typeface="宋体" panose="02010600030101010101" pitchFamily="2" charset="-122"/>
              </a:rPr>
              <a:t>全部替换</a:t>
            </a:r>
            <a:r>
              <a:rPr lang="en-US" altLang="zh-CN" dirty="0">
                <a:latin typeface="宋体" panose="02010600030101010101" pitchFamily="2" charset="-122"/>
              </a:rPr>
              <a:t>”</a:t>
            </a:r>
            <a:r>
              <a:rPr lang="zh-CN" altLang="en-US" dirty="0">
                <a:latin typeface="宋体" panose="02010600030101010101" pitchFamily="2" charset="-122"/>
              </a:rPr>
              <a:t>功能。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字符串替换</a:t>
            </a:r>
          </a:p>
        </p:txBody>
      </p:sp>
      <p:sp>
        <p:nvSpPr>
          <p:cNvPr id="4" name="矩形 3"/>
          <p:cNvSpPr/>
          <p:nvPr/>
        </p:nvSpPr>
        <p:spPr>
          <a:xfrm>
            <a:off x="505364" y="1661409"/>
            <a:ext cx="80570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SzPct val="70000"/>
              <a:buNone/>
            </a:pPr>
            <a:r>
              <a:rPr lang="zh-CN" altLang="en-US" dirty="0">
                <a:latin typeface="Consolas" panose="020B0609020204030204" pitchFamily="49" charset="0"/>
              </a:rPr>
              <a:t>&gt;&gt;&gt; s = "中国，中国"</a:t>
            </a:r>
          </a:p>
          <a:p>
            <a:pPr defTabSz="685800">
              <a:lnSpc>
                <a:spcPct val="150000"/>
              </a:lnSpc>
              <a:buSzPct val="70000"/>
              <a:buNone/>
            </a:pPr>
            <a:r>
              <a:rPr lang="zh-CN" altLang="en-US" dirty="0">
                <a:latin typeface="Consolas" panose="020B0609020204030204" pitchFamily="49" charset="0"/>
              </a:rPr>
              <a:t>&gt;&gt;&gt; </a:t>
            </a:r>
            <a:r>
              <a:rPr lang="en-US" altLang="zh-CN" dirty="0">
                <a:latin typeface="Consolas" panose="020B0609020204030204" pitchFamily="49" charset="0"/>
              </a:rPr>
              <a:t>print(</a:t>
            </a:r>
            <a:r>
              <a:rPr lang="zh-CN" altLang="en-US" dirty="0">
                <a:latin typeface="Consolas" panose="020B0609020204030204" pitchFamily="49" charset="0"/>
              </a:rPr>
              <a:t>s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</a:p>
          <a:p>
            <a:pPr defTabSz="685800">
              <a:lnSpc>
                <a:spcPct val="150000"/>
              </a:lnSpc>
              <a:buSzPct val="70000"/>
              <a:buNone/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中国，中国</a:t>
            </a:r>
          </a:p>
          <a:p>
            <a:pPr defTabSz="685800">
              <a:lnSpc>
                <a:spcPct val="150000"/>
              </a:lnSpc>
              <a:buSzPct val="70000"/>
              <a:buNone/>
            </a:pPr>
            <a:r>
              <a:rPr lang="zh-CN" altLang="en-US" dirty="0">
                <a:latin typeface="Consolas" panose="020B0609020204030204" pitchFamily="49" charset="0"/>
              </a:rPr>
              <a:t>&gt;&gt;&gt; s2 = s.replace("中国", "中华人民共和国")  </a:t>
            </a:r>
            <a:endParaRPr lang="en-US" altLang="zh-CN" dirty="0">
              <a:latin typeface="Consolas" panose="020B0609020204030204" pitchFamily="49" charset="0"/>
            </a:endParaRPr>
          </a:p>
          <a:p>
            <a:pPr defTabSz="685800">
              <a:lnSpc>
                <a:spcPct val="150000"/>
              </a:lnSpc>
              <a:buSzPct val="70000"/>
              <a:buNone/>
            </a:pPr>
            <a:r>
              <a:rPr lang="zh-CN" altLang="en-US" dirty="0">
                <a:latin typeface="Consolas" panose="020B0609020204030204" pitchFamily="49" charset="0"/>
              </a:rPr>
              <a:t>&gt;&gt;&gt; </a:t>
            </a:r>
            <a:r>
              <a:rPr lang="en-US" altLang="zh-CN" dirty="0">
                <a:latin typeface="Consolas" panose="020B0609020204030204" pitchFamily="49" charset="0"/>
              </a:rPr>
              <a:t>print(</a:t>
            </a:r>
            <a:r>
              <a:rPr lang="zh-CN" altLang="en-US" dirty="0">
                <a:latin typeface="Consolas" panose="020B0609020204030204" pitchFamily="49" charset="0"/>
              </a:rPr>
              <a:t>s2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</a:p>
          <a:p>
            <a:pPr defTabSz="685800">
              <a:lnSpc>
                <a:spcPct val="150000"/>
              </a:lnSpc>
              <a:buSzPct val="70000"/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中华人民共和国，中华人民共和国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defTabSz="685800">
              <a:lnSpc>
                <a:spcPct val="150000"/>
              </a:lnSpc>
              <a:buSzPct val="70000"/>
              <a:buNone/>
            </a:pPr>
            <a:r>
              <a:rPr lang="en-US" altLang="zh-CN" dirty="0">
                <a:latin typeface="Consolas" panose="020B0609020204030204" pitchFamily="49" charset="0"/>
              </a:rPr>
              <a:t>&gt;&gt;&gt; ' a b </a:t>
            </a:r>
            <a:r>
              <a:rPr lang="en-US" altLang="zh-CN" dirty="0" err="1">
                <a:latin typeface="Consolas" panose="020B0609020204030204" pitchFamily="49" charset="0"/>
              </a:rPr>
              <a:t>c'.replace</a:t>
            </a:r>
            <a:r>
              <a:rPr lang="en-US" altLang="zh-CN" dirty="0">
                <a:latin typeface="Consolas" panose="020B0609020204030204" pitchFamily="49" charset="0"/>
              </a:rPr>
              <a:t>(' ','') </a:t>
            </a:r>
          </a:p>
          <a:p>
            <a:pPr defTabSz="685800">
              <a:lnSpc>
                <a:spcPct val="150000"/>
              </a:lnSpc>
              <a:buSzPct val="70000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abc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'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551818" y="4260483"/>
            <a:ext cx="315224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删除所有空格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6127940" y="2960946"/>
            <a:ext cx="2635060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所有的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中国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都被替换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38E22B0-33DE-468F-95BF-7A2495E8D7D4}"/>
              </a:ext>
            </a:extLst>
          </p:cNvPr>
          <p:cNvCxnSpPr/>
          <p:nvPr/>
        </p:nvCxnSpPr>
        <p:spPr bwMode="auto">
          <a:xfrm flipV="1">
            <a:off x="2936147" y="4555222"/>
            <a:ext cx="394282" cy="6413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4D7EDDB-36C6-4B15-9EDB-5A4B99A99A0D}"/>
              </a:ext>
            </a:extLst>
          </p:cNvPr>
          <p:cNvSpPr txBox="1"/>
          <p:nvPr/>
        </p:nvSpPr>
        <p:spPr>
          <a:xfrm>
            <a:off x="2592198" y="519659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一个空格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66A6840-8802-451D-865A-4A0D2B802D93}"/>
              </a:ext>
            </a:extLst>
          </p:cNvPr>
          <p:cNvCxnSpPr/>
          <p:nvPr/>
        </p:nvCxnSpPr>
        <p:spPr bwMode="auto">
          <a:xfrm flipH="1" flipV="1">
            <a:off x="3926048" y="4496499"/>
            <a:ext cx="755009" cy="7885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397AF06-B68E-4956-8305-6CD3923CF3F1}"/>
              </a:ext>
            </a:extLst>
          </p:cNvPr>
          <p:cNvSpPr txBox="1"/>
          <p:nvPr/>
        </p:nvSpPr>
        <p:spPr>
          <a:xfrm>
            <a:off x="4412609" y="53102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空串</a:t>
            </a:r>
          </a:p>
        </p:txBody>
      </p:sp>
    </p:spTree>
    <p:extLst>
      <p:ext uri="{BB962C8B-B14F-4D97-AF65-F5344CB8AC3E}">
        <p14:creationId xmlns:p14="http://schemas.microsoft.com/office/powerpoint/2010/main" val="226285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0726" y="173287"/>
            <a:ext cx="6347713" cy="611148"/>
          </a:xfrm>
        </p:spPr>
        <p:txBody>
          <a:bodyPr>
            <a:normAutofit/>
          </a:bodyPr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例：替换字符串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14183" y="2376485"/>
            <a:ext cx="5803185" cy="4016428"/>
          </a:xfrm>
        </p:spPr>
        <p:txBody>
          <a:bodyPr>
            <a:normAutofit lnSpcReduction="10000"/>
          </a:bodyPr>
          <a:lstStyle/>
          <a:p>
            <a:pPr marL="0" indent="0" fontAlgn="base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words = ('测试', '非法', '暴力', '话')</a:t>
            </a:r>
          </a:p>
          <a:p>
            <a:pPr marL="0" indent="0" fontAlgn="base">
              <a:lnSpc>
                <a:spcPct val="170000"/>
              </a:lnSpc>
              <a:buNone/>
            </a:pP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text = '这句</a:t>
            </a:r>
            <a:r>
              <a:rPr lang="en-US" sz="1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话</a:t>
            </a: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里含有</a:t>
            </a:r>
            <a:r>
              <a:rPr lang="en-US" sz="1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非法</a:t>
            </a: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内容'</a:t>
            </a:r>
          </a:p>
          <a:p>
            <a:pPr marL="0" indent="0" fontAlgn="base">
              <a:lnSpc>
                <a:spcPct val="170000"/>
              </a:lnSpc>
              <a:buNone/>
            </a:pP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for word in words:</a:t>
            </a:r>
          </a:p>
          <a:p>
            <a:pPr marL="0" indent="0" fontAlgn="base">
              <a:lnSpc>
                <a:spcPct val="170000"/>
              </a:lnSpc>
              <a:buNone/>
            </a:pP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  if word in text:</a:t>
            </a:r>
          </a:p>
          <a:p>
            <a:pPr marL="0" indent="0" fontAlgn="base">
              <a:lnSpc>
                <a:spcPct val="170000"/>
              </a:lnSpc>
              <a:buNone/>
            </a:pP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</a:t>
            </a: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text = text.</a:t>
            </a:r>
            <a:r>
              <a:rPr lang="en-US" sz="1800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replace</a:t>
            </a: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(word, '***')		</a:t>
            </a:r>
          </a:p>
          <a:p>
            <a:pPr marL="0" indent="0" fontAlgn="base">
              <a:lnSpc>
                <a:spcPct val="170000"/>
              </a:lnSpc>
              <a:buNone/>
            </a:pPr>
            <a:r>
              <a:rPr lang="en-US" sz="1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print(text)</a:t>
            </a:r>
          </a:p>
          <a:p>
            <a:pPr marL="0" indent="0" fontAlgn="base">
              <a:lnSpc>
                <a:spcPct val="170000"/>
              </a:lnSpc>
              <a:buNone/>
            </a:pPr>
            <a:r>
              <a:rPr lang="en-US" sz="1800" noProof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'这句***里含有***内容</a:t>
            </a:r>
            <a:r>
              <a:rPr lang="en-US" sz="1500" noProof="1">
                <a:solidFill>
                  <a:srgbClr val="00B0F0"/>
                </a:solidFill>
                <a:latin typeface="Consolas" panose="020B0609020204030204" charset="0"/>
              </a:rPr>
              <a:t>'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98382" y="1039821"/>
            <a:ext cx="6992755" cy="10341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70000"/>
              </a:lnSpc>
              <a:spcBef>
                <a:spcPts val="0"/>
              </a:spcBef>
            </a:pPr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问题解决：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测试用户输入中是否有敏感词，如果有的话就把敏感词替换为3个星号***。</a:t>
            </a:r>
          </a:p>
        </p:txBody>
      </p:sp>
    </p:spTree>
    <p:extLst>
      <p:ext uri="{BB962C8B-B14F-4D97-AF65-F5344CB8AC3E}">
        <p14:creationId xmlns:p14="http://schemas.microsoft.com/office/powerpoint/2010/main" val="3390238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02969" y="984056"/>
            <a:ext cx="7661434" cy="883921"/>
          </a:xfrm>
        </p:spPr>
        <p:txBody>
          <a:bodyPr>
            <a:noAutofit/>
          </a:bodyPr>
          <a:lstStyle/>
          <a:p>
            <a:pPr marL="363378" indent="-342900">
              <a:spcBef>
                <a:spcPts val="0"/>
              </a:spcBef>
            </a:pPr>
            <a:r>
              <a:rPr lang="en-US" altLang="zh-CN" sz="2000" noProof="1"/>
              <a:t>strip</a:t>
            </a:r>
            <a:r>
              <a:rPr lang="en-US" altLang="zh-CN" noProof="1"/>
              <a:t>()</a:t>
            </a:r>
            <a:r>
              <a:rPr lang="zh-CN" altLang="en-US" sz="2000" noProof="1"/>
              <a:t> ，根据指定的参数字符串，清除字符串两侧的多余字符，</a:t>
            </a:r>
            <a:r>
              <a:rPr lang="zh-CN" altLang="en-US" sz="2000" noProof="1">
                <a:solidFill>
                  <a:srgbClr val="FF0000"/>
                </a:solidFill>
              </a:rPr>
              <a:t>如果没有指定参数，则清除空白字符</a:t>
            </a:r>
            <a:endParaRPr lang="zh-CN" altLang="en-US" sz="2000" noProof="1"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清除两侧多余的字符</a:t>
            </a:r>
          </a:p>
        </p:txBody>
      </p:sp>
      <p:sp>
        <p:nvSpPr>
          <p:cNvPr id="3" name="矩形 2"/>
          <p:cNvSpPr/>
          <p:nvPr/>
        </p:nvSpPr>
        <p:spPr>
          <a:xfrm>
            <a:off x="613520" y="2169413"/>
            <a:ext cx="8167133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noProof="1">
                <a:latin typeface="Consolas" panose="020B0609020204030204" pitchFamily="49" charset="0"/>
              </a:rPr>
              <a:t>&gt;&gt;&gt; </a:t>
            </a:r>
            <a:r>
              <a:rPr lang="en-US" altLang="zh-CN" noProof="1">
                <a:latin typeface="Consolas" panose="020B0609020204030204" pitchFamily="49" charset="0"/>
              </a:rPr>
              <a:t>s='  aab  a  '</a:t>
            </a:r>
          </a:p>
          <a:p>
            <a:pPr>
              <a:lnSpc>
                <a:spcPct val="150000"/>
              </a:lnSpc>
            </a:pPr>
            <a:r>
              <a:rPr lang="en-US" altLang="zh-CN" noProof="1">
                <a:latin typeface="Consolas" panose="020B0609020204030204" pitchFamily="49" charset="0"/>
              </a:rPr>
              <a:t>&gt;&gt;&gt; s.strip()</a:t>
            </a:r>
            <a:endParaRPr lang="zh-CN" altLang="en-US" noProof="1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noProof="1">
                <a:solidFill>
                  <a:srgbClr val="C00000"/>
                </a:solidFill>
                <a:latin typeface="Consolas" panose="020B0609020204030204" pitchFamily="49" charset="0"/>
              </a:rPr>
              <a:t>'aab  a'</a:t>
            </a:r>
          </a:p>
          <a:p>
            <a:pPr>
              <a:lnSpc>
                <a:spcPct val="150000"/>
              </a:lnSpc>
            </a:pPr>
            <a:r>
              <a:rPr lang="zh-CN" altLang="en-US" noProof="1">
                <a:latin typeface="Consolas" panose="020B0609020204030204" pitchFamily="49" charset="0"/>
              </a:rPr>
              <a:t>&gt;&gt;&gt; 'aabbccddeeeffg'.strip('af')</a:t>
            </a:r>
          </a:p>
          <a:p>
            <a:pPr>
              <a:lnSpc>
                <a:spcPct val="150000"/>
              </a:lnSpc>
            </a:pPr>
            <a:r>
              <a:rPr lang="zh-CN" altLang="en-US" b="1" noProof="1">
                <a:solidFill>
                  <a:srgbClr val="C00000"/>
                </a:solidFill>
                <a:latin typeface="Consolas" panose="020B0609020204030204" pitchFamily="49" charset="0"/>
              </a:rPr>
              <a:t>'bbccddeeeffg'</a:t>
            </a:r>
          </a:p>
          <a:p>
            <a:pPr>
              <a:lnSpc>
                <a:spcPct val="150000"/>
              </a:lnSpc>
            </a:pPr>
            <a:r>
              <a:rPr lang="zh-CN" altLang="en-US" noProof="1">
                <a:latin typeface="Consolas" panose="020B0609020204030204" pitchFamily="49" charset="0"/>
              </a:rPr>
              <a:t>&gt;&gt;&gt; 'aabbccddeeeffg'.strip('gaf')</a:t>
            </a:r>
          </a:p>
          <a:p>
            <a:pPr>
              <a:lnSpc>
                <a:spcPct val="150000"/>
              </a:lnSpc>
            </a:pPr>
            <a:r>
              <a:rPr lang="zh-CN" altLang="en-US" b="1" noProof="1">
                <a:solidFill>
                  <a:srgbClr val="C00000"/>
                </a:solidFill>
                <a:latin typeface="Consolas" panose="020B0609020204030204" pitchFamily="49" charset="0"/>
              </a:rPr>
              <a:t>'bbccddeee'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088206" y="3465511"/>
            <a:ext cx="315224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不在两侧的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a,f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没有被清理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086528" y="2701859"/>
            <a:ext cx="515392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无参数时，两侧的空格被清除，中间的不受影响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088206" y="4291211"/>
            <a:ext cx="315224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两侧的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g,a,f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被清理</a:t>
            </a:r>
          </a:p>
        </p:txBody>
      </p:sp>
    </p:spTree>
    <p:extLst>
      <p:ext uri="{BB962C8B-B14F-4D97-AF65-F5344CB8AC3E}">
        <p14:creationId xmlns:p14="http://schemas.microsoft.com/office/powerpoint/2010/main" val="49970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91478" y="1047703"/>
            <a:ext cx="8108633" cy="20233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lower()、upper() 可以转换大小写</a:t>
            </a:r>
            <a:endParaRPr lang="en-US" altLang="zh-CN" noProof="1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noProof="1"/>
              <a:t>isalnum()、isalpha()、isdigit() 、isnumeric()、isupper()、islower()，用来测试字符串是否为</a:t>
            </a:r>
            <a:r>
              <a:rPr lang="en-US" altLang="zh-CN" sz="2000" noProof="1"/>
              <a:t>:</a:t>
            </a:r>
            <a:r>
              <a:rPr lang="zh-CN" altLang="en-US" sz="2000" noProof="1">
                <a:solidFill>
                  <a:srgbClr val="FF0000"/>
                </a:solidFill>
              </a:rPr>
              <a:t>数字或字母</a:t>
            </a:r>
            <a:r>
              <a:rPr lang="zh-CN" altLang="en-US" sz="2000" noProof="1"/>
              <a:t>、</a:t>
            </a:r>
            <a:r>
              <a:rPr lang="zh-CN" altLang="en-US" sz="2000" noProof="1">
                <a:solidFill>
                  <a:srgbClr val="FF0000"/>
                </a:solidFill>
              </a:rPr>
              <a:t>字母</a:t>
            </a:r>
            <a:r>
              <a:rPr lang="zh-CN" altLang="en-US" sz="2000" noProof="1"/>
              <a:t>、</a:t>
            </a:r>
            <a:r>
              <a:rPr lang="zh-CN" altLang="en-US" noProof="1">
                <a:solidFill>
                  <a:srgbClr val="FF0000"/>
                </a:solidFill>
              </a:rPr>
              <a:t>是否为数字字符</a:t>
            </a:r>
            <a:r>
              <a:rPr lang="zh-CN" altLang="en-US" sz="2000" noProof="1"/>
              <a:t>、</a:t>
            </a:r>
            <a:r>
              <a:rPr lang="zh-CN" altLang="en-US" noProof="1">
                <a:solidFill>
                  <a:srgbClr val="FF0000"/>
                </a:solidFill>
              </a:rPr>
              <a:t>是否为数字</a:t>
            </a:r>
            <a:r>
              <a:rPr lang="zh-CN" altLang="en-US" sz="2000" noProof="1"/>
              <a:t>、</a:t>
            </a:r>
            <a:r>
              <a:rPr lang="zh-CN" altLang="en-US" noProof="1">
                <a:solidFill>
                  <a:srgbClr val="FF0000"/>
                </a:solidFill>
              </a:rPr>
              <a:t>大写字母</a:t>
            </a:r>
            <a:r>
              <a:rPr lang="zh-CN" altLang="en-US" sz="2000" noProof="1"/>
              <a:t>以及</a:t>
            </a:r>
            <a:r>
              <a:rPr lang="zh-CN" altLang="en-US" noProof="1">
                <a:solidFill>
                  <a:srgbClr val="FF0000"/>
                </a:solidFill>
              </a:rPr>
              <a:t>小写字母</a:t>
            </a:r>
            <a:r>
              <a:rPr lang="zh-CN" altLang="en-US" sz="2000" noProof="1"/>
              <a:t>等。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字符串的大小写转换和判断</a:t>
            </a:r>
          </a:p>
        </p:txBody>
      </p:sp>
      <p:sp>
        <p:nvSpPr>
          <p:cNvPr id="3" name="矩形 2"/>
          <p:cNvSpPr/>
          <p:nvPr/>
        </p:nvSpPr>
        <p:spPr>
          <a:xfrm>
            <a:off x="683569" y="3096883"/>
            <a:ext cx="7916542" cy="3402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noProof="1">
                <a:latin typeface="Consolas" panose="020B0609020204030204" pitchFamily="49" charset="0"/>
              </a:rPr>
              <a:t>&gt;&gt;&gt; 'abcd'.</a:t>
            </a:r>
            <a:r>
              <a:rPr lang="en-US" altLang="zh-CN" noProof="1">
                <a:latin typeface="Consolas" panose="020B0609020204030204" pitchFamily="49" charset="0"/>
              </a:rPr>
              <a:t>upper</a:t>
            </a:r>
            <a:r>
              <a:rPr lang="zh-CN" altLang="en-US" noProof="1"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600"/>
              </a:lnSpc>
            </a:pPr>
            <a:r>
              <a:rPr lang="en-US" altLang="zh-CN" b="1" noProof="1">
                <a:solidFill>
                  <a:srgbClr val="C00000"/>
                </a:solidFill>
                <a:latin typeface="Consolas" panose="020B0609020204030204" pitchFamily="49" charset="0"/>
              </a:rPr>
              <a:t>'ABCD'</a:t>
            </a:r>
          </a:p>
          <a:p>
            <a:pPr>
              <a:lnSpc>
                <a:spcPts val="2600"/>
              </a:lnSpc>
            </a:pPr>
            <a:r>
              <a:rPr lang="zh-CN" altLang="en-US" noProof="1">
                <a:latin typeface="Consolas" panose="020B0609020204030204" pitchFamily="49" charset="0"/>
              </a:rPr>
              <a:t>&gt;&gt;&gt; '1234abcd'.isalnum()</a:t>
            </a:r>
          </a:p>
          <a:p>
            <a:pPr>
              <a:lnSpc>
                <a:spcPts val="2600"/>
              </a:lnSpc>
            </a:pPr>
            <a:r>
              <a:rPr lang="zh-CN" altLang="en-US" b="1" noProof="1">
                <a:solidFill>
                  <a:srgbClr val="C00000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ts val="2600"/>
              </a:lnSpc>
            </a:pPr>
            <a:r>
              <a:rPr lang="zh-CN" altLang="en-US" noProof="1">
                <a:latin typeface="Consolas" panose="020B0609020204030204" pitchFamily="49" charset="0"/>
              </a:rPr>
              <a:t>&gt;&gt;&gt; '1234abcd'.isalpha()</a:t>
            </a:r>
          </a:p>
          <a:p>
            <a:pPr>
              <a:lnSpc>
                <a:spcPts val="2600"/>
              </a:lnSpc>
            </a:pPr>
            <a:r>
              <a:rPr lang="zh-CN" altLang="en-US" b="1" noProof="1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</a:p>
          <a:p>
            <a:pPr>
              <a:lnSpc>
                <a:spcPts val="2600"/>
              </a:lnSpc>
            </a:pPr>
            <a:r>
              <a:rPr lang="zh-CN" altLang="en-US" noProof="1">
                <a:latin typeface="Consolas" panose="020B0609020204030204" pitchFamily="49" charset="0"/>
              </a:rPr>
              <a:t>&gt;&gt;&gt; '1234abcd'.isdigit() </a:t>
            </a:r>
            <a:endParaRPr lang="en-US" altLang="zh-CN" noProof="1"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zh-CN" altLang="en-US" b="1" noProof="1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</a:p>
          <a:p>
            <a:pPr>
              <a:lnSpc>
                <a:spcPts val="2600"/>
              </a:lnSpc>
            </a:pPr>
            <a:r>
              <a:rPr lang="zh-CN" altLang="en-US" noProof="1">
                <a:latin typeface="Consolas" panose="020B0609020204030204" pitchFamily="49" charset="0"/>
              </a:rPr>
              <a:t>&gt;&gt;&gt; '1234.0'.isdigit()</a:t>
            </a:r>
          </a:p>
          <a:p>
            <a:pPr>
              <a:lnSpc>
                <a:spcPts val="2600"/>
              </a:lnSpc>
            </a:pPr>
            <a:r>
              <a:rPr lang="zh-CN" altLang="en-US" b="1" noProof="1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  <a:endParaRPr lang="en-US" altLang="zh-CN" b="1" noProof="1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204801-3676-448A-A872-25E6DDA03C03}"/>
              </a:ext>
            </a:extLst>
          </p:cNvPr>
          <p:cNvSpPr txBox="1"/>
          <p:nvPr/>
        </p:nvSpPr>
        <p:spPr>
          <a:xfrm>
            <a:off x="4212990" y="385455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isalnum() 可以判断字符串的字符是否全都是「字母」和「数字」</a:t>
            </a:r>
          </a:p>
        </p:txBody>
      </p:sp>
    </p:spTree>
    <p:extLst>
      <p:ext uri="{BB962C8B-B14F-4D97-AF65-F5344CB8AC3E}">
        <p14:creationId xmlns:p14="http://schemas.microsoft.com/office/powerpoint/2010/main" val="27186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案例：删除指定字符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98" y="1422573"/>
            <a:ext cx="6347714" cy="17708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输入一个字符串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，再输入要删除字符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，大小写不区分，将字符串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中出现的所有字符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66137" y="3263184"/>
            <a:ext cx="4572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lnSpc>
                <a:spcPct val="170000"/>
              </a:lnSpc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str=input()</a:t>
            </a:r>
          </a:p>
          <a:p>
            <a:pPr fontAlgn="base">
              <a:lnSpc>
                <a:spcPct val="170000"/>
              </a:lnSpc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c=input()</a:t>
            </a:r>
          </a:p>
          <a:p>
            <a:pPr fontAlgn="base">
              <a:lnSpc>
                <a:spcPct val="170000"/>
              </a:lnSpc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s=str.replace(c.lower(), '')	</a:t>
            </a:r>
          </a:p>
          <a:p>
            <a:pPr fontAlgn="base">
              <a:lnSpc>
                <a:spcPct val="170000"/>
              </a:lnSpc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s=s.replace(c.upper(), '') 	</a:t>
            </a:r>
          </a:p>
          <a:p>
            <a:pPr fontAlgn="base">
              <a:lnSpc>
                <a:spcPct val="170000"/>
              </a:lnSpc>
            </a:pP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print(s)</a:t>
            </a:r>
          </a:p>
        </p:txBody>
      </p:sp>
    </p:spTree>
    <p:extLst>
      <p:ext uri="{BB962C8B-B14F-4D97-AF65-F5344CB8AC3E}">
        <p14:creationId xmlns:p14="http://schemas.microsoft.com/office/powerpoint/2010/main" val="3416159128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3C6201D-EA81-4E33-86C4-0475CC4FBC2F}" vid="{03E07CE5-EE3A-4FD9-BFAD-6815F15428DD}"/>
    </a:ext>
  </a:extLst>
</a:theme>
</file>

<file path=ppt/theme/theme2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2259</TotalTime>
  <Words>1519</Words>
  <Application>Microsoft Office PowerPoint</Application>
  <PresentationFormat>全屏显示(4:3)</PresentationFormat>
  <Paragraphs>193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等线</vt:lpstr>
      <vt:lpstr>华文新魏</vt:lpstr>
      <vt:lpstr>宋体</vt:lpstr>
      <vt:lpstr>微软雅黑</vt:lpstr>
      <vt:lpstr>Arial</vt:lpstr>
      <vt:lpstr>Calibri</vt:lpstr>
      <vt:lpstr>Consolas</vt:lpstr>
      <vt:lpstr>Courier New</vt:lpstr>
      <vt:lpstr>Trebuchet MS</vt:lpstr>
      <vt:lpstr>Verdana</vt:lpstr>
      <vt:lpstr>Wingdings</vt:lpstr>
      <vt:lpstr>Wingdings 3</vt:lpstr>
      <vt:lpstr>主题1</vt:lpstr>
      <vt:lpstr>平面</vt:lpstr>
      <vt:lpstr>处理字符串的常用方法</vt:lpstr>
      <vt:lpstr>字符串连接操作</vt:lpstr>
      <vt:lpstr>合并：join()</vt:lpstr>
      <vt:lpstr>合并： join()</vt:lpstr>
      <vt:lpstr>例，判断两个字符串删除空格后是否等价？</vt:lpstr>
      <vt:lpstr>字符串查找</vt:lpstr>
      <vt:lpstr>字符串查找</vt:lpstr>
      <vt:lpstr>字符串分割</vt:lpstr>
      <vt:lpstr>拆分： split([sep,[maxsplit]]) </vt:lpstr>
      <vt:lpstr>字符串的应用</vt:lpstr>
      <vt:lpstr>字符串替换</vt:lpstr>
      <vt:lpstr>例：替换字符串</vt:lpstr>
      <vt:lpstr>清除两侧多余的字符</vt:lpstr>
      <vt:lpstr>字符串的大小写转换和判断</vt:lpstr>
      <vt:lpstr>案例：删除指定字符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 字符串</dc:title>
  <dc:creator>Dong</dc:creator>
  <cp:lastModifiedBy>cyj</cp:lastModifiedBy>
  <cp:revision>577</cp:revision>
  <dcterms:created xsi:type="dcterms:W3CDTF">2015-05-05T08:02:00Z</dcterms:created>
  <dcterms:modified xsi:type="dcterms:W3CDTF">2024-11-05T04:14:33Z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