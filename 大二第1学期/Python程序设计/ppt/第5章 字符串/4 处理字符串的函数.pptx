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6" r:id="rId2"/>
  </p:sldMasterIdLst>
  <p:notesMasterIdLst>
    <p:notesMasterId r:id="rId19"/>
  </p:notesMasterIdLst>
  <p:handoutMasterIdLst>
    <p:handoutMasterId r:id="rId20"/>
  </p:handoutMasterIdLst>
  <p:sldIdLst>
    <p:sldId id="1884" r:id="rId3"/>
    <p:sldId id="1861" r:id="rId4"/>
    <p:sldId id="1863" r:id="rId5"/>
    <p:sldId id="1865" r:id="rId6"/>
    <p:sldId id="1869" r:id="rId7"/>
    <p:sldId id="1852" r:id="rId8"/>
    <p:sldId id="1895" r:id="rId9"/>
    <p:sldId id="1887" r:id="rId10"/>
    <p:sldId id="1886" r:id="rId11"/>
    <p:sldId id="1889" r:id="rId12"/>
    <p:sldId id="1888" r:id="rId13"/>
    <p:sldId id="1891" r:id="rId14"/>
    <p:sldId id="1890" r:id="rId15"/>
    <p:sldId id="1892" r:id="rId16"/>
    <p:sldId id="1893" r:id="rId17"/>
    <p:sldId id="1894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4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27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2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27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8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2700" dirty="0"/>
          </a:p>
        </p:txBody>
      </p:sp>
    </p:spTree>
    <p:extLst>
      <p:ext uri="{BB962C8B-B14F-4D97-AF65-F5344CB8AC3E}">
        <p14:creationId xmlns:p14="http://schemas.microsoft.com/office/powerpoint/2010/main" val="10192810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953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25789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125"/>
            </a:lvl1pPr>
            <a:lvl2pPr marL="257168" indent="0">
              <a:buNone/>
              <a:defRPr sz="1013"/>
            </a:lvl2pPr>
            <a:lvl3pPr marL="514337" indent="0">
              <a:buNone/>
              <a:defRPr sz="900"/>
            </a:lvl3pPr>
            <a:lvl4pPr marL="771506" indent="0">
              <a:buNone/>
              <a:defRPr sz="788"/>
            </a:lvl4pPr>
            <a:lvl5pPr marL="1028675" indent="0">
              <a:buNone/>
              <a:defRPr sz="788"/>
            </a:lvl5pPr>
            <a:lvl6pPr marL="1285843" indent="0">
              <a:buNone/>
              <a:defRPr sz="788"/>
            </a:lvl6pPr>
            <a:lvl7pPr marL="1543012" indent="0">
              <a:buNone/>
              <a:defRPr sz="788"/>
            </a:lvl7pPr>
            <a:lvl8pPr marL="1800180" indent="0">
              <a:buNone/>
              <a:defRPr sz="788"/>
            </a:lvl8pPr>
            <a:lvl9pPr marL="2057348" indent="0">
              <a:buNone/>
              <a:defRPr sz="788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3509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308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5485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11353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28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68" indent="0">
              <a:buNone/>
              <a:defRPr sz="675"/>
            </a:lvl2pPr>
            <a:lvl3pPr marL="514337" indent="0">
              <a:buNone/>
              <a:defRPr sz="563"/>
            </a:lvl3pPr>
            <a:lvl4pPr marL="771506" indent="0">
              <a:buNone/>
              <a:defRPr sz="506"/>
            </a:lvl4pPr>
            <a:lvl5pPr marL="1028675" indent="0">
              <a:buNone/>
              <a:defRPr sz="506"/>
            </a:lvl5pPr>
            <a:lvl6pPr marL="1285843" indent="0">
              <a:buNone/>
              <a:defRPr sz="506"/>
            </a:lvl6pPr>
            <a:lvl7pPr marL="1543012" indent="0">
              <a:buNone/>
              <a:defRPr sz="506"/>
            </a:lvl7pPr>
            <a:lvl8pPr marL="1800180" indent="0">
              <a:buNone/>
              <a:defRPr sz="506"/>
            </a:lvl8pPr>
            <a:lvl9pPr marL="2057348" indent="0">
              <a:buNone/>
              <a:defRPr sz="506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3453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68" indent="0">
              <a:buNone/>
              <a:defRPr sz="1575"/>
            </a:lvl2pPr>
            <a:lvl3pPr marL="514337" indent="0">
              <a:buNone/>
              <a:defRPr sz="1350"/>
            </a:lvl3pPr>
            <a:lvl4pPr marL="771506" indent="0">
              <a:buNone/>
              <a:defRPr sz="1125"/>
            </a:lvl4pPr>
            <a:lvl5pPr marL="1028675" indent="0">
              <a:buNone/>
              <a:defRPr sz="1125"/>
            </a:lvl5pPr>
            <a:lvl6pPr marL="1285843" indent="0">
              <a:buNone/>
              <a:defRPr sz="1125"/>
            </a:lvl6pPr>
            <a:lvl7pPr marL="1543012" indent="0">
              <a:buNone/>
              <a:defRPr sz="1125"/>
            </a:lvl7pPr>
            <a:lvl8pPr marL="1800180" indent="0">
              <a:buNone/>
              <a:defRPr sz="1125"/>
            </a:lvl8pPr>
            <a:lvl9pPr marL="2057348" indent="0">
              <a:buNone/>
              <a:defRPr sz="112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68" indent="0">
              <a:buNone/>
              <a:defRPr sz="675"/>
            </a:lvl2pPr>
            <a:lvl3pPr marL="514337" indent="0">
              <a:buNone/>
              <a:defRPr sz="563"/>
            </a:lvl3pPr>
            <a:lvl4pPr marL="771506" indent="0">
              <a:buNone/>
              <a:defRPr sz="506"/>
            </a:lvl4pPr>
            <a:lvl5pPr marL="1028675" indent="0">
              <a:buNone/>
              <a:defRPr sz="506"/>
            </a:lvl5pPr>
            <a:lvl6pPr marL="1285843" indent="0">
              <a:buNone/>
              <a:defRPr sz="506"/>
            </a:lvl6pPr>
            <a:lvl7pPr marL="1543012" indent="0">
              <a:buNone/>
              <a:defRPr sz="506"/>
            </a:lvl7pPr>
            <a:lvl8pPr marL="1800180" indent="0">
              <a:buNone/>
              <a:defRPr sz="506"/>
            </a:lvl8pPr>
            <a:lvl9pPr marL="2057348" indent="0">
              <a:buNone/>
              <a:defRPr sz="506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4572000" y="6477000"/>
            <a:ext cx="5334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093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5529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84785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 dirty="0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184103639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29838393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27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45177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36196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035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344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4712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2928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349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5163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241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4022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35645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330036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42504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415686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751315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1581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97553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2538" name="Rectangle 250"/>
          <p:cNvSpPr>
            <a:spLocks noChangeArrowheads="1"/>
          </p:cNvSpPr>
          <p:nvPr/>
        </p:nvSpPr>
        <p:spPr bwMode="white">
          <a:xfrm>
            <a:off x="0" y="990600"/>
            <a:ext cx="9144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ko-KR" dirty="0"/>
          </a:p>
        </p:txBody>
      </p:sp>
      <p:pic>
        <p:nvPicPr>
          <p:cNvPr id="12548" name="Picture 260" descr="http://astroleaks.lamost.org/wp-content/uploads/2012/03/Logo_Python.pn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34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5pPr>
      <a:lvl6pPr marL="257168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6pPr>
      <a:lvl7pPr marL="514337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7pPr>
      <a:lvl8pPr marL="771506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8pPr>
      <a:lvl9pPr marL="1028675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9pPr>
    </p:titleStyle>
    <p:bodyStyle>
      <a:lvl1pPr marL="192876" indent="-19287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417899" indent="-160731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642922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900091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157259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414428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6pPr>
      <a:lvl7pPr marL="1671596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7pPr>
      <a:lvl8pPr marL="1928765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8pPr>
      <a:lvl9pPr marL="2185934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711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08941" y="2698424"/>
            <a:ext cx="7772400" cy="1362075"/>
          </a:xfrm>
        </p:spPr>
        <p:txBody>
          <a:bodyPr/>
          <a:lstStyle/>
          <a:p>
            <a:pPr algn="ctr"/>
            <a:r>
              <a:rPr lang="zh-CN" altLang="en-US"/>
              <a:t>与字符串相关的类型转换函数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3263608" y="4406422"/>
            <a:ext cx="2641491" cy="8002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等线" panose="02010600030101010101" pitchFamily="2" charset="-122"/>
                <a:cs typeface="Times New Roman" panose="02020603050405020304" pitchFamily="18" charset="0"/>
              </a:rPr>
              <a:t>要求掌握：</a:t>
            </a:r>
            <a:endParaRPr lang="en-US" altLang="zh-CN" sz="280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/>
              <a:t>int</a:t>
            </a:r>
            <a:r>
              <a:rPr lang="zh-CN" altLang="zh-CN"/>
              <a:t>，</a:t>
            </a:r>
            <a:r>
              <a:rPr lang="en-US" altLang="zh-CN"/>
              <a:t>str</a:t>
            </a:r>
            <a:r>
              <a:rPr lang="zh-CN" altLang="zh-CN"/>
              <a:t>，</a:t>
            </a:r>
            <a:r>
              <a:rPr lang="en-US" altLang="zh-CN"/>
              <a:t>float</a:t>
            </a:r>
            <a:r>
              <a:rPr lang="zh-CN" altLang="zh-CN"/>
              <a:t>，</a:t>
            </a:r>
            <a:r>
              <a:rPr lang="en-US" altLang="zh-CN"/>
              <a:t>eval</a:t>
            </a:r>
            <a:endParaRPr lang="zh-CN" altLang="en-US" sz="280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80051" y="3567812"/>
            <a:ext cx="223971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/>
              <a:t>格式：</a:t>
            </a:r>
            <a:r>
              <a:rPr lang="zh-CN" altLang="en-US">
                <a:solidFill>
                  <a:srgbClr val="FF0000"/>
                </a:solidFill>
              </a:rPr>
              <a:t>函数名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zh-CN" altLang="en-US">
                <a:solidFill>
                  <a:srgbClr val="FF0000"/>
                </a:solidFill>
              </a:rPr>
              <a:t>对象</a:t>
            </a:r>
            <a:r>
              <a:rPr lang="en-US" altLang="zh-CN">
                <a:solidFill>
                  <a:srgbClr val="FF0000"/>
                </a:solidFill>
              </a:rPr>
              <a:t>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80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7354349" cy="1582555"/>
          </a:xfrm>
        </p:spPr>
        <p:txBody>
          <a:bodyPr/>
          <a:lstStyle/>
          <a:p>
            <a:r>
              <a:rPr lang="en-US" altLang="zh-CN" dirty="0" err="1"/>
              <a:t>int</a:t>
            </a:r>
            <a:r>
              <a:rPr lang="en-US" altLang="zh-CN" dirty="0"/>
              <a:t>(), float(), </a:t>
            </a:r>
            <a:r>
              <a:rPr lang="en-US" altLang="zh-CN" dirty="0" err="1"/>
              <a:t>eval</a:t>
            </a:r>
            <a:r>
              <a:rPr lang="en-US" altLang="zh-CN" dirty="0"/>
              <a:t>()</a:t>
            </a:r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() </a:t>
            </a:r>
            <a:r>
              <a:rPr lang="zh-CN" altLang="en-US" dirty="0"/>
              <a:t>函数用于将一个字符串或实数转换为整型</a:t>
            </a:r>
            <a:endParaRPr lang="en-US" altLang="zh-CN" dirty="0"/>
          </a:p>
          <a:p>
            <a:pPr lvl="1"/>
            <a:r>
              <a:rPr lang="en-US" altLang="zh-CN" dirty="0"/>
              <a:t>float() </a:t>
            </a:r>
            <a:r>
              <a:rPr lang="zh-CN" altLang="en-US" dirty="0"/>
              <a:t>函数用于将整数和字符串转换成浮点数。</a:t>
            </a:r>
            <a:endParaRPr lang="en-US" altLang="zh-CN" dirty="0"/>
          </a:p>
          <a:p>
            <a:pPr lvl="1"/>
            <a:r>
              <a:rPr lang="en-US" altLang="zh-CN" dirty="0" err="1"/>
              <a:t>eval</a:t>
            </a:r>
            <a:r>
              <a:rPr lang="en-US" altLang="zh-CN" dirty="0"/>
              <a:t>()</a:t>
            </a:r>
            <a:r>
              <a:rPr lang="zh-CN" altLang="en-US" dirty="0"/>
              <a:t>函数将参数</a:t>
            </a:r>
            <a:r>
              <a:rPr lang="en-US" altLang="zh-CN" dirty="0"/>
              <a:t>(</a:t>
            </a:r>
            <a:r>
              <a:rPr lang="zh-CN" altLang="en-US" dirty="0"/>
              <a:t>字符串</a:t>
            </a:r>
            <a:r>
              <a:rPr lang="en-US" altLang="zh-CN" dirty="0"/>
              <a:t>)</a:t>
            </a:r>
            <a:r>
              <a:rPr lang="zh-CN" altLang="en-US" dirty="0"/>
              <a:t>当成有效的表达式来求值并返回计算结果。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字符串转成数值</a:t>
            </a:r>
          </a:p>
        </p:txBody>
      </p:sp>
      <p:sp>
        <p:nvSpPr>
          <p:cNvPr id="4" name="矩形 3"/>
          <p:cNvSpPr/>
          <p:nvPr/>
        </p:nvSpPr>
        <p:spPr>
          <a:xfrm>
            <a:off x="494184" y="2678569"/>
            <a:ext cx="8079431" cy="4237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print(int(33.1), int('33'))</a:t>
            </a:r>
          </a:p>
          <a:p>
            <a:pPr>
              <a:lnSpc>
                <a:spcPts val="2800"/>
              </a:lnSpc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33 33</a:t>
            </a:r>
          </a:p>
          <a:p>
            <a:pPr>
              <a:lnSpc>
                <a:spcPts val="28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print(int('0x1a', 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16</a:t>
            </a:r>
            <a:r>
              <a:rPr lang="zh-CN" altLang="en-US" dirty="0">
                <a:latin typeface="Consolas" panose="020B0609020204030204" pitchFamily="49" charset="0"/>
              </a:rPr>
              <a:t>), int('15', 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zh-CN" altLang="en-US" dirty="0"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2800"/>
              </a:lnSpc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26 13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print(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('0x1a'))</a:t>
            </a:r>
          </a:p>
          <a:p>
            <a:pPr>
              <a:lnSpc>
                <a:spcPts val="28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Traceback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(most recent call last):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File "&lt;pyshell#4&gt;", line 1, in &lt;module&gt;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  print(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('0x1a'))</a:t>
            </a:r>
          </a:p>
          <a:p>
            <a:pPr>
              <a:lnSpc>
                <a:spcPts val="28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ValueError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: invalid literal for 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() with base 10: '0x1a'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&gt;&gt;&gt; print(float(3),float('3.5'))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3.0 3.5</a:t>
            </a:r>
          </a:p>
          <a:p>
            <a:pPr>
              <a:lnSpc>
                <a:spcPts val="2800"/>
              </a:lnSpc>
            </a:pPr>
            <a:endParaRPr lang="zh-CN" alt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570010" y="2718411"/>
            <a:ext cx="319298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把实数和字符串转换为整数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570010" y="3388959"/>
            <a:ext cx="3192989" cy="71508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()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可以用第二个参数指明数字字符串的进制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70010" y="4221346"/>
            <a:ext cx="3192989" cy="71508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未指明进制的时候默认十进制，导致转换失败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570010" y="6002860"/>
            <a:ext cx="319298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把整数和字符串转换为实数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6A9E8C-3F22-495B-BB5F-3F8B2C28A9D6}"/>
              </a:ext>
            </a:extLst>
          </p:cNvPr>
          <p:cNvSpPr txBox="1"/>
          <p:nvPr/>
        </p:nvSpPr>
        <p:spPr>
          <a:xfrm>
            <a:off x="5872292" y="1467320"/>
            <a:ext cx="2773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int(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33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.2'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)会报错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33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字符串转成数值</a:t>
            </a:r>
          </a:p>
        </p:txBody>
      </p:sp>
      <p:sp>
        <p:nvSpPr>
          <p:cNvPr id="5" name="矩形 4"/>
          <p:cNvSpPr/>
          <p:nvPr/>
        </p:nvSpPr>
        <p:spPr>
          <a:xfrm>
            <a:off x="388833" y="918112"/>
            <a:ext cx="8578997" cy="584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x=2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s='x*2'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s, </a:t>
            </a:r>
            <a:r>
              <a:rPr lang="en-US" altLang="zh-CN" dirty="0" err="1">
                <a:latin typeface="Consolas" panose="020B0609020204030204" pitchFamily="49" charset="0"/>
              </a:rPr>
              <a:t>eval</a:t>
            </a:r>
            <a:r>
              <a:rPr lang="en-US" altLang="zh-CN" dirty="0">
                <a:latin typeface="Consolas" panose="020B0609020204030204" pitchFamily="49" charset="0"/>
              </a:rPr>
              <a:t>(s)</a:t>
            </a:r>
          </a:p>
          <a:p>
            <a:pPr>
              <a:lnSpc>
                <a:spcPts val="25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('x*2', 4)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s='1.5'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x=</a:t>
            </a:r>
            <a:r>
              <a:rPr lang="en-US" altLang="zh-CN" dirty="0" err="1">
                <a:latin typeface="Consolas" panose="020B0609020204030204" pitchFamily="49" charset="0"/>
              </a:rPr>
              <a:t>eval</a:t>
            </a:r>
            <a:r>
              <a:rPr lang="en-US" altLang="zh-CN" dirty="0">
                <a:latin typeface="Consolas" panose="020B0609020204030204" pitchFamily="49" charset="0"/>
              </a:rPr>
              <a:t>(s)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s,type</a:t>
            </a:r>
            <a:r>
              <a:rPr lang="en-US" altLang="zh-CN" dirty="0">
                <a:latin typeface="Consolas" panose="020B0609020204030204" pitchFamily="49" charset="0"/>
              </a:rPr>
              <a:t>(s),</a:t>
            </a:r>
            <a:r>
              <a:rPr lang="en-US" altLang="zh-CN" dirty="0" err="1">
                <a:latin typeface="Consolas" panose="020B0609020204030204" pitchFamily="49" charset="0"/>
              </a:rPr>
              <a:t>x,type</a:t>
            </a:r>
            <a:r>
              <a:rPr lang="en-US" altLang="zh-CN" dirty="0">
                <a:latin typeface="Consolas" panose="020B0609020204030204" pitchFamily="49" charset="0"/>
              </a:rPr>
              <a:t>(x)</a:t>
            </a:r>
          </a:p>
          <a:p>
            <a:pPr>
              <a:lnSpc>
                <a:spcPts val="25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('1.5', &lt;class '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'&gt;, 1.5, &lt;class 'float'&gt;)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s='1'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x=</a:t>
            </a:r>
            <a:r>
              <a:rPr lang="en-US" altLang="zh-CN" dirty="0" err="1">
                <a:latin typeface="Consolas" panose="020B0609020204030204" pitchFamily="49" charset="0"/>
              </a:rPr>
              <a:t>eval</a:t>
            </a:r>
            <a:r>
              <a:rPr lang="en-US" altLang="zh-CN" dirty="0">
                <a:latin typeface="Consolas" panose="020B0609020204030204" pitchFamily="49" charset="0"/>
              </a:rPr>
              <a:t>(s)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s,type</a:t>
            </a:r>
            <a:r>
              <a:rPr lang="en-US" altLang="zh-CN" dirty="0">
                <a:latin typeface="Consolas" panose="020B0609020204030204" pitchFamily="49" charset="0"/>
              </a:rPr>
              <a:t>(s),</a:t>
            </a:r>
            <a:r>
              <a:rPr lang="en-US" altLang="zh-CN" dirty="0" err="1">
                <a:latin typeface="Consolas" panose="020B0609020204030204" pitchFamily="49" charset="0"/>
              </a:rPr>
              <a:t>x,type</a:t>
            </a:r>
            <a:r>
              <a:rPr lang="en-US" altLang="zh-CN" dirty="0">
                <a:latin typeface="Consolas" panose="020B0609020204030204" pitchFamily="49" charset="0"/>
              </a:rPr>
              <a:t>(x)</a:t>
            </a:r>
          </a:p>
          <a:p>
            <a:pPr>
              <a:lnSpc>
                <a:spcPts val="25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('1', &lt;class '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'&gt;, 1, &lt;class '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'&gt;)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eval</a:t>
            </a:r>
            <a:r>
              <a:rPr lang="en-US" altLang="zh-CN" dirty="0">
                <a:latin typeface="Consolas" panose="020B0609020204030204" pitchFamily="49" charset="0"/>
              </a:rPr>
              <a:t>('01')</a:t>
            </a:r>
          </a:p>
          <a:p>
            <a:pPr>
              <a:lnSpc>
                <a:spcPts val="25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Traceback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(most recent call last):</a:t>
            </a:r>
          </a:p>
          <a:p>
            <a:pPr>
              <a:lnSpc>
                <a:spcPts val="25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eval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('01')  </a:t>
            </a:r>
          </a:p>
          <a:p>
            <a:pPr>
              <a:lnSpc>
                <a:spcPts val="2500"/>
              </a:lnSpc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  01</a:t>
            </a:r>
          </a:p>
          <a:p>
            <a:pPr>
              <a:lnSpc>
                <a:spcPts val="2500"/>
              </a:lnSpc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   ^</a:t>
            </a:r>
          </a:p>
          <a:p>
            <a:pPr>
              <a:lnSpc>
                <a:spcPts val="25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SyntaxError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: invalid token</a:t>
            </a:r>
            <a:endParaRPr lang="zh-CN" alt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649886" y="1564034"/>
            <a:ext cx="516082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将字符串</a:t>
            </a:r>
            <a:r>
              <a:rPr lang="en-US" altLang="zh-CN" dirty="0">
                <a:solidFill>
                  <a:srgbClr val="00B0F0"/>
                </a:solidFill>
              </a:rPr>
              <a:t>'x*2'</a:t>
            </a:r>
            <a:r>
              <a:rPr lang="zh-CN" altLang="en-US" dirty="0">
                <a:solidFill>
                  <a:srgbClr val="00B0F0"/>
                </a:solidFill>
              </a:rPr>
              <a:t>转换为</a:t>
            </a:r>
            <a:r>
              <a:rPr lang="en-US" altLang="zh-CN" dirty="0">
                <a:solidFill>
                  <a:srgbClr val="00B0F0"/>
                </a:solidFill>
              </a:rPr>
              <a:t>python</a:t>
            </a:r>
            <a:r>
              <a:rPr lang="zh-CN" altLang="en-US" dirty="0">
                <a:solidFill>
                  <a:srgbClr val="00B0F0"/>
                </a:solidFill>
              </a:rPr>
              <a:t>表达式求解得到</a:t>
            </a:r>
            <a:r>
              <a:rPr lang="en-US" altLang="zh-CN" dirty="0">
                <a:solidFill>
                  <a:srgbClr val="00B0F0"/>
                </a:solidFill>
              </a:rPr>
              <a:t>4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649886" y="2788898"/>
            <a:ext cx="516082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将字符串</a:t>
            </a:r>
            <a:r>
              <a:rPr lang="en-US" altLang="zh-CN" dirty="0">
                <a:solidFill>
                  <a:srgbClr val="00B0F0"/>
                </a:solidFill>
              </a:rPr>
              <a:t>'1.5'</a:t>
            </a:r>
            <a:r>
              <a:rPr lang="zh-CN" altLang="en-US" dirty="0">
                <a:solidFill>
                  <a:srgbClr val="00B0F0"/>
                </a:solidFill>
              </a:rPr>
              <a:t>转换为</a:t>
            </a:r>
            <a:r>
              <a:rPr lang="en-US" altLang="zh-CN" dirty="0">
                <a:solidFill>
                  <a:srgbClr val="00B0F0"/>
                </a:solidFill>
              </a:rPr>
              <a:t>python</a:t>
            </a:r>
            <a:r>
              <a:rPr lang="zh-CN" altLang="en-US" dirty="0">
                <a:solidFill>
                  <a:srgbClr val="00B0F0"/>
                </a:solidFill>
              </a:rPr>
              <a:t>表达式求解得到</a:t>
            </a:r>
            <a:r>
              <a:rPr lang="en-US" altLang="zh-CN" dirty="0">
                <a:solidFill>
                  <a:srgbClr val="00B0F0"/>
                </a:solidFill>
              </a:rPr>
              <a:t>1.5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649886" y="4024444"/>
            <a:ext cx="516082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将字符串</a:t>
            </a:r>
            <a:r>
              <a:rPr lang="en-US" altLang="zh-CN" dirty="0">
                <a:solidFill>
                  <a:srgbClr val="00B0F0"/>
                </a:solidFill>
              </a:rPr>
              <a:t>'1'</a:t>
            </a:r>
            <a:r>
              <a:rPr lang="zh-CN" altLang="en-US" dirty="0">
                <a:solidFill>
                  <a:srgbClr val="00B0F0"/>
                </a:solidFill>
              </a:rPr>
              <a:t>转换为</a:t>
            </a:r>
            <a:r>
              <a:rPr lang="en-US" altLang="zh-CN" dirty="0">
                <a:solidFill>
                  <a:srgbClr val="00B0F0"/>
                </a:solidFill>
              </a:rPr>
              <a:t>python</a:t>
            </a:r>
            <a:r>
              <a:rPr lang="zh-CN" altLang="en-US" dirty="0">
                <a:solidFill>
                  <a:srgbClr val="00B0F0"/>
                </a:solidFill>
              </a:rPr>
              <a:t>表达式求解得到</a:t>
            </a:r>
            <a:r>
              <a:rPr lang="en-US" altLang="zh-CN" dirty="0">
                <a:solidFill>
                  <a:srgbClr val="00B0F0"/>
                </a:solidFill>
              </a:rPr>
              <a:t>1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649886" y="5429110"/>
            <a:ext cx="5160828" cy="10215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将字符串</a:t>
            </a:r>
            <a:r>
              <a:rPr lang="en-US" altLang="zh-CN" dirty="0">
                <a:solidFill>
                  <a:srgbClr val="00B0F0"/>
                </a:solidFill>
              </a:rPr>
              <a:t>‘01’</a:t>
            </a:r>
            <a:r>
              <a:rPr lang="zh-CN" altLang="en-US" dirty="0">
                <a:solidFill>
                  <a:srgbClr val="00B0F0"/>
                </a:solidFill>
              </a:rPr>
              <a:t>转换为</a:t>
            </a:r>
            <a:r>
              <a:rPr lang="en-US" altLang="zh-CN" dirty="0">
                <a:solidFill>
                  <a:srgbClr val="00B0F0"/>
                </a:solidFill>
              </a:rPr>
              <a:t>python</a:t>
            </a:r>
            <a:r>
              <a:rPr lang="zh-CN" altLang="en-US" dirty="0">
                <a:solidFill>
                  <a:srgbClr val="00B0F0"/>
                </a:solidFill>
              </a:rPr>
              <a:t>表达式求解出错，因为</a:t>
            </a:r>
            <a:r>
              <a:rPr lang="en-US" altLang="zh-CN" dirty="0">
                <a:solidFill>
                  <a:srgbClr val="00B0F0"/>
                </a:solidFill>
              </a:rPr>
              <a:t>01</a:t>
            </a:r>
            <a:r>
              <a:rPr lang="zh-CN" altLang="en-US" dirty="0">
                <a:solidFill>
                  <a:srgbClr val="00B0F0"/>
                </a:solidFill>
              </a:rPr>
              <a:t>不是</a:t>
            </a:r>
            <a:r>
              <a:rPr lang="en-US" altLang="zh-CN" dirty="0">
                <a:solidFill>
                  <a:srgbClr val="00B0F0"/>
                </a:solidFill>
              </a:rPr>
              <a:t>python</a:t>
            </a:r>
            <a:r>
              <a:rPr lang="zh-CN" altLang="en-US" dirty="0">
                <a:solidFill>
                  <a:srgbClr val="00B0F0"/>
                </a:solidFill>
              </a:rPr>
              <a:t>表达式，</a:t>
            </a:r>
            <a:r>
              <a:rPr lang="en-US" altLang="zh-CN" dirty="0">
                <a:solidFill>
                  <a:srgbClr val="00B0F0"/>
                </a:solidFill>
              </a:rPr>
              <a:t>python</a:t>
            </a:r>
            <a:r>
              <a:rPr lang="zh-CN" altLang="en-US" dirty="0">
                <a:solidFill>
                  <a:srgbClr val="00B0F0"/>
                </a:solidFill>
              </a:rPr>
              <a:t>不允许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打头且后面跟数字</a:t>
            </a:r>
            <a:r>
              <a:rPr lang="zh-CN" altLang="en-US" dirty="0">
                <a:solidFill>
                  <a:srgbClr val="00B0F0"/>
                </a:solidFill>
              </a:rPr>
              <a:t>。如果是</a:t>
            </a:r>
            <a:r>
              <a:rPr lang="zh-CN" altLang="en-US" dirty="0">
                <a:solidFill>
                  <a:srgbClr val="FF0000"/>
                </a:solidFill>
              </a:rPr>
              <a:t>八进制数</a:t>
            </a:r>
            <a:r>
              <a:rPr lang="zh-CN" altLang="en-US" dirty="0">
                <a:solidFill>
                  <a:srgbClr val="00B0F0"/>
                </a:solidFill>
              </a:rPr>
              <a:t>，要写成</a:t>
            </a:r>
            <a:r>
              <a:rPr lang="en-US" altLang="zh-CN" dirty="0">
                <a:solidFill>
                  <a:srgbClr val="FF0000"/>
                </a:solidFill>
              </a:rPr>
              <a:t>0o</a:t>
            </a:r>
            <a:r>
              <a:rPr lang="zh-CN" altLang="en-US" dirty="0">
                <a:solidFill>
                  <a:srgbClr val="FF0000"/>
                </a:solidFill>
              </a:rPr>
              <a:t>打头</a:t>
            </a:r>
            <a:r>
              <a:rPr lang="zh-CN" altLang="en-US" dirty="0">
                <a:solidFill>
                  <a:srgbClr val="00B0F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3350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304800" y="1076771"/>
            <a:ext cx="8458200" cy="486338"/>
          </a:xfrm>
        </p:spPr>
        <p:txBody>
          <a:bodyPr/>
          <a:lstStyle/>
          <a:p>
            <a:pPr marL="192876" lvl="1" indent="-192876">
              <a:buClr>
                <a:schemeClr val="hlink"/>
              </a:buClr>
              <a:buSzTx/>
              <a:buFont typeface="Wingdings" pitchFamily="2" charset="2"/>
              <a:buChar char="v"/>
            </a:pPr>
            <a:r>
              <a:rPr lang="en-US" altLang="zh-CN" dirty="0" err="1"/>
              <a:t>str</a:t>
            </a:r>
            <a:r>
              <a:rPr lang="en-US" altLang="zh-CN" dirty="0"/>
              <a:t>(</a:t>
            </a:r>
            <a:r>
              <a:rPr lang="en-US" altLang="zh-CN" dirty="0" err="1"/>
              <a:t>obj</a:t>
            </a:r>
            <a:r>
              <a:rPr lang="en-US" altLang="zh-CN" dirty="0"/>
              <a:t>)</a:t>
            </a:r>
            <a:r>
              <a:rPr lang="zh-CN" altLang="en-US" dirty="0"/>
              <a:t>则直接将其任意类型参数转换为字符串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字符串和其他类型的转换</a:t>
            </a:r>
          </a:p>
        </p:txBody>
      </p:sp>
      <p:sp>
        <p:nvSpPr>
          <p:cNvPr id="4" name="矩形 3"/>
          <p:cNvSpPr/>
          <p:nvPr/>
        </p:nvSpPr>
        <p:spPr>
          <a:xfrm>
            <a:off x="354650" y="1563108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str</a:t>
            </a:r>
            <a:r>
              <a:rPr lang="en-US" altLang="zh-CN" dirty="0">
                <a:latin typeface="Consolas" panose="020B0609020204030204" pitchFamily="49" charset="0"/>
              </a:rPr>
              <a:t>(65)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'65'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str</a:t>
            </a:r>
            <a:r>
              <a:rPr lang="en-US" altLang="zh-CN" dirty="0">
                <a:latin typeface="Consolas" panose="020B0609020204030204" pitchFamily="49" charset="0"/>
              </a:rPr>
              <a:t>(788.99)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'788.99'</a:t>
            </a:r>
          </a:p>
          <a:p>
            <a:pPr>
              <a:lnSpc>
                <a:spcPct val="150000"/>
              </a:lnSpc>
            </a:pPr>
            <a:r>
              <a:rPr lang="pl-PL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&gt;&gt;&gt; str([1,2,3])</a:t>
            </a:r>
          </a:p>
          <a:p>
            <a:pPr>
              <a:lnSpc>
                <a:spcPct val="150000"/>
              </a:lnSpc>
            </a:pPr>
            <a:r>
              <a:rPr lang="pl-PL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'[1, 2, 3]'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str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((1,))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'(1,)'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str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({1:2,'a':3})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"{1: 2, 'a': 3}"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533807" y="1687957"/>
            <a:ext cx="5336728" cy="10215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B0F0"/>
                </a:solidFill>
              </a:rPr>
              <a:t>str</a:t>
            </a:r>
            <a:r>
              <a:rPr lang="zh-CN" altLang="en-US" dirty="0">
                <a:solidFill>
                  <a:srgbClr val="00B0F0"/>
                </a:solidFill>
              </a:rPr>
              <a:t>可以将数值转成字符串，注意其与</a:t>
            </a:r>
            <a:r>
              <a:rPr lang="en-US" altLang="zh-CN" dirty="0" err="1">
                <a:solidFill>
                  <a:srgbClr val="00B0F0"/>
                </a:solidFill>
              </a:rPr>
              <a:t>chr</a:t>
            </a:r>
            <a:r>
              <a:rPr lang="zh-CN" altLang="en-US" dirty="0">
                <a:solidFill>
                  <a:srgbClr val="00B0F0"/>
                </a:solidFill>
              </a:rPr>
              <a:t>的区别</a:t>
            </a:r>
            <a:endParaRPr lang="en-US" altLang="zh-CN" dirty="0">
              <a:solidFill>
                <a:srgbClr val="00B0F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&gt;&gt;&gt;</a:t>
            </a:r>
            <a:r>
              <a:rPr lang="en-US" altLang="zh-CN" dirty="0" err="1">
                <a:solidFill>
                  <a:srgbClr val="FF0000"/>
                </a:solidFill>
              </a:rPr>
              <a:t>chr</a:t>
            </a:r>
            <a:r>
              <a:rPr lang="en-US" altLang="zh-CN" dirty="0">
                <a:solidFill>
                  <a:srgbClr val="FF0000"/>
                </a:solidFill>
              </a:rPr>
              <a:t>(65)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‘A’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533807" y="3300505"/>
            <a:ext cx="533672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B0F0"/>
                </a:solidFill>
              </a:rPr>
              <a:t>str</a:t>
            </a:r>
            <a:r>
              <a:rPr lang="zh-CN" altLang="en-US" dirty="0">
                <a:solidFill>
                  <a:srgbClr val="00B0F0"/>
                </a:solidFill>
              </a:rPr>
              <a:t>可以将其他类型如列表数组字典转成字符串</a:t>
            </a:r>
          </a:p>
        </p:txBody>
      </p:sp>
    </p:spTree>
    <p:extLst>
      <p:ext uri="{BB962C8B-B14F-4D97-AF65-F5344CB8AC3E}">
        <p14:creationId xmlns:p14="http://schemas.microsoft.com/office/powerpoint/2010/main" val="392785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02841" y="215772"/>
            <a:ext cx="6347713" cy="58793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字符串的应用</a:t>
            </a: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799" y="1083733"/>
            <a:ext cx="8486437" cy="2977688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例题：如果一个自然数的各位数字反向排列所得新自然数与其本身相等，则称其为一回文数。例如，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12321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的反向排列仍为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12321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12321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为回文数；请编写程序找出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以内所有的回文数并输出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，取每个数到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的反向排列，看看他是否等于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的反向排列最简单的求法是利用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转为字符串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，然后利用分片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s[::-1]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的反向排列</a:t>
            </a:r>
          </a:p>
        </p:txBody>
      </p:sp>
      <p:sp>
        <p:nvSpPr>
          <p:cNvPr id="4" name="矩形 3"/>
          <p:cNvSpPr/>
          <p:nvPr/>
        </p:nvSpPr>
        <p:spPr>
          <a:xfrm>
            <a:off x="623748" y="4341443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in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range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(1,</a:t>
            </a:r>
            <a:r>
              <a:rPr lang="en-US" altLang="zh-CN" b="1" kern="0" dirty="0">
                <a:solidFill>
                  <a:srgbClr val="0000C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100000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):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s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</a:t>
            </a:r>
            <a:r>
              <a:rPr lang="en-US" altLang="zh-CN" kern="0" dirty="0" err="1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str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s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==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s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[::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-</a:t>
            </a:r>
            <a:r>
              <a:rPr lang="en-US" altLang="zh-CN" b="1" kern="0" dirty="0">
                <a:solidFill>
                  <a:srgbClr val="0000C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1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]: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print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85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210893"/>
          </a:xfrm>
        </p:spPr>
        <p:txBody>
          <a:bodyPr>
            <a:normAutofit/>
          </a:bodyPr>
          <a:lstStyle/>
          <a:p>
            <a:pPr fontAlgn="auto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2000" dirty="0"/>
              <a:t>为了避免对字符串中的转义字符进行转义，可以使用原始字符串，在字符串前面加上字母r或R表示原始字符串，其中的</a:t>
            </a:r>
            <a:r>
              <a:rPr lang="zh-CN" altLang="en-US" sz="2000" dirty="0">
                <a:solidFill>
                  <a:srgbClr val="FF0000"/>
                </a:solidFill>
              </a:rPr>
              <a:t>所有字符都表示原始的含义而不会进行任何转义</a:t>
            </a:r>
            <a:r>
              <a:rPr lang="zh-CN" altLang="en-US" sz="2000" dirty="0"/>
              <a:t>。</a:t>
            </a:r>
          </a:p>
          <a:p>
            <a:pPr marL="0" indent="0" fontAlgn="auto">
              <a:spcBef>
                <a:spcPts val="0"/>
              </a:spcBef>
              <a:buNone/>
            </a:pPr>
            <a:endParaRPr lang="zh-CN" altLang="en-US" sz="2000" dirty="0">
              <a:latin typeface="Consolas" panose="020B06090202040302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原始字符串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26211" y="2359673"/>
            <a:ext cx="8341743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path = 'C:\Windows\notepad.exe'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print(path)                      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C:\Windows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otepad.exe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path = r'C:\Windows\notepad.exe' 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print(path)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C:\Windows\notepad.exe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4336925" y="2866799"/>
            <a:ext cx="4531029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字符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\n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被转义为换行符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336924" y="4498995"/>
            <a:ext cx="4531029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原始字符串，任何字符都不转义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78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08941" y="2698424"/>
            <a:ext cx="7772400" cy="1362075"/>
          </a:xfrm>
        </p:spPr>
        <p:txBody>
          <a:bodyPr/>
          <a:lstStyle/>
          <a:p>
            <a:pPr algn="ctr"/>
            <a:r>
              <a:rPr lang="zh-CN" altLang="en-US"/>
              <a:t>处理字符串的内置函数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1632126" y="4183121"/>
            <a:ext cx="6634607" cy="8002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等线" panose="02010600030101010101" pitchFamily="2" charset="-122"/>
                <a:cs typeface="Times New Roman" panose="02020603050405020304" pitchFamily="18" charset="0"/>
              </a:rPr>
              <a:t>要求掌握：</a:t>
            </a:r>
            <a:endParaRPr lang="en-US" altLang="zh-CN" sz="280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/>
              <a:t>sum</a:t>
            </a:r>
            <a:r>
              <a:rPr lang="zh-CN" altLang="zh-CN"/>
              <a:t>，</a:t>
            </a:r>
            <a:r>
              <a:rPr lang="en-US" altLang="zh-CN"/>
              <a:t>max</a:t>
            </a:r>
            <a:r>
              <a:rPr lang="zh-CN" altLang="zh-CN"/>
              <a:t>，</a:t>
            </a:r>
            <a:r>
              <a:rPr lang="en-US" altLang="zh-CN"/>
              <a:t>min</a:t>
            </a:r>
            <a:r>
              <a:rPr lang="zh-CN" altLang="zh-CN"/>
              <a:t>，</a:t>
            </a:r>
            <a:r>
              <a:rPr lang="en-US" altLang="zh-CN"/>
              <a:t>sorted</a:t>
            </a:r>
            <a:r>
              <a:rPr lang="zh-CN" altLang="zh-CN"/>
              <a:t>，</a:t>
            </a:r>
            <a:r>
              <a:rPr lang="en-US" altLang="zh-CN"/>
              <a:t>reversed</a:t>
            </a:r>
            <a:r>
              <a:rPr lang="zh-CN" altLang="zh-CN"/>
              <a:t>，</a:t>
            </a:r>
            <a:r>
              <a:rPr lang="en-US" altLang="zh-CN"/>
              <a:t>round</a:t>
            </a:r>
            <a:r>
              <a:rPr lang="zh-CN" altLang="en-US"/>
              <a:t>，</a:t>
            </a:r>
            <a:r>
              <a:rPr lang="en-US" altLang="zh-CN"/>
              <a:t>ord</a:t>
            </a:r>
            <a:r>
              <a:rPr lang="zh-CN" altLang="zh-CN"/>
              <a:t>，</a:t>
            </a:r>
            <a:r>
              <a:rPr lang="en-US" altLang="zh-CN"/>
              <a:t>chr</a:t>
            </a:r>
            <a:endParaRPr lang="zh-CN" altLang="en-US" sz="280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80051" y="3567812"/>
            <a:ext cx="223971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/>
              <a:t>格式：</a:t>
            </a:r>
            <a:r>
              <a:rPr lang="zh-CN" altLang="en-US">
                <a:solidFill>
                  <a:srgbClr val="FF0000"/>
                </a:solidFill>
              </a:rPr>
              <a:t>函数名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zh-CN" altLang="en-US">
                <a:solidFill>
                  <a:srgbClr val="FF0000"/>
                </a:solidFill>
              </a:rPr>
              <a:t>对象</a:t>
            </a:r>
            <a:r>
              <a:rPr lang="en-US" altLang="zh-CN">
                <a:solidFill>
                  <a:srgbClr val="FF0000"/>
                </a:solidFill>
              </a:rPr>
              <a:t>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94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 最值与求和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848327"/>
            <a:ext cx="7647976" cy="2028729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spcBef>
                <a:spcPts val="450"/>
              </a:spcBef>
              <a:buFont typeface="Wingdings" panose="05000000000000000000" charset="0"/>
              <a:buChar char=""/>
            </a:pP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max()、min()、sum()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这三个</a:t>
            </a:r>
            <a:r>
              <a:rPr lang="en-US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函数分别用于计算列表、元组或其他包含有限个元素的可迭代对象中所有元素</a:t>
            </a:r>
            <a:r>
              <a:rPr lang="en-US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最大值、最小值以及所有元素之和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86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   排序与逆序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48326"/>
            <a:ext cx="8303895" cy="487314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charset="0"/>
              <a:buChar char=""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sorted()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对列表、元组、字典、集合或其他可迭代对象进行排序并返回</a:t>
            </a:r>
            <a:r>
              <a:rPr lang="en-US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新列表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charset="0"/>
              <a:buChar char=""/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= </a:t>
            </a:r>
            <a:r>
              <a:rPr lang="en-US" altLang="zh-CN" sz="1800" dirty="0">
                <a:solidFill>
                  <a:srgbClr val="00B0F0"/>
                </a:solidFill>
              </a:rPr>
              <a:t>[2, 4, 0, 6, 10, 7, 8, 3, 9, 1, 5]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[2, 4, 0, 6, 10, 7, 8, 3, 9, 1, 5]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sorted(x)                              #</a:t>
            </a:r>
            <a:r>
              <a:rPr lang="en-US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以默认规则排序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 1, 2, 3, 4, 5, 6, 7, 8, 9, 10]       </a:t>
            </a:r>
            <a:r>
              <a:rPr 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这是新创建的列表，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还保持原样</a:t>
            </a:r>
            <a:endParaRPr 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sorted(x, key=</a:t>
            </a:r>
            <a:r>
              <a:rPr lang="en-US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                    #</a:t>
            </a:r>
            <a:r>
              <a:rPr lang="en-US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按转换成字符串以后的大小升序排列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 1, 10, 2, 3, 4, 5, 6, 7, 8, 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A71546-79DD-49EE-AEF9-3B711DF5462A}"/>
              </a:ext>
            </a:extLst>
          </p:cNvPr>
          <p:cNvSpPr txBox="1"/>
          <p:nvPr/>
        </p:nvSpPr>
        <p:spPr>
          <a:xfrm>
            <a:off x="683569" y="5645601"/>
            <a:ext cx="4643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sorted('hello')</a:t>
            </a:r>
          </a:p>
          <a:p>
            <a:r>
              <a:rPr lang="it-IT" altLang="zh-CN" dirty="0"/>
              <a:t>['e', 'h', 'l', 'l', 'o']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049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2   排序与逆序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reversed()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对可迭代对象进行翻转（首尾交换）并返回可迭代的reversed对象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= </a:t>
            </a:r>
            <a:r>
              <a:rPr lang="en-US" altLang="zh-CN" sz="1800" dirty="0">
                <a:solidFill>
                  <a:srgbClr val="00B0F0"/>
                </a:solidFill>
              </a:rPr>
              <a:t>[2, 4, 0, 6, 10, 7, 8, 3, 9, 1, 5]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reversed(x)                         #</a:t>
            </a:r>
            <a:r>
              <a:rPr lang="en-US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逆序，返回reversed对象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sz="18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list_reverseiterator</a:t>
            </a:r>
            <a:r>
              <a:rPr 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object at 0x0000000003089E48&gt;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list(reversed(x))                   #</a:t>
            </a:r>
            <a:r>
              <a:rPr lang="en-US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reversed对象是可迭代的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[5, 1, 9, 3, 8, 7, 10, 6, 0, 4,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781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8122" y="156754"/>
            <a:ext cx="8167228" cy="153393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排序案例：输入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个自然数（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0-9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），以空格分隔，输出它们可组成的最小数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784161" y="4182727"/>
            <a:ext cx="4188799" cy="23294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x=input().split()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y=sorted(x)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z=''.join(y)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print(z)</a:t>
            </a:r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573574" y="1561261"/>
            <a:ext cx="1081431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方法一：</a:t>
            </a:r>
          </a:p>
        </p:txBody>
      </p:sp>
      <p:sp>
        <p:nvSpPr>
          <p:cNvPr id="7" name="矩形 6"/>
          <p:cNvSpPr/>
          <p:nvPr/>
        </p:nvSpPr>
        <p:spPr>
          <a:xfrm>
            <a:off x="573574" y="4182727"/>
            <a:ext cx="1210588" cy="400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方法二：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655005" y="1551225"/>
            <a:ext cx="4317956" cy="21357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s-ES" altLang="zh-CN" sz="1800" dirty="0"/>
              <a:t>x=input().split()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altLang="zh-CN" sz="1800" dirty="0"/>
              <a:t>y=sorted(x)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altLang="zh-CN" sz="1800" dirty="0"/>
              <a:t>z=int(y[0])*100+int(y[1])*10+int(y[2])*1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altLang="zh-CN" sz="1800" dirty="0"/>
              <a:t>print(z)</a:t>
            </a:r>
            <a:endParaRPr lang="zh-CN" altLang="en-US" sz="1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5B2390-BB70-4552-8694-7CCE58D9632D}"/>
              </a:ext>
            </a:extLst>
          </p:cNvPr>
          <p:cNvSpPr txBox="1"/>
          <p:nvPr/>
        </p:nvSpPr>
        <p:spPr>
          <a:xfrm>
            <a:off x="5972961" y="1551225"/>
            <a:ext cx="16369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5 3 9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x=[‘5’,’3’,’9’]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y=[‘3’,’5’,’9’]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z=359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474A682-2F43-46E1-9B92-915B2F5EE5CF}"/>
              </a:ext>
            </a:extLst>
          </p:cNvPr>
          <p:cNvSpPr txBox="1"/>
          <p:nvPr/>
        </p:nvSpPr>
        <p:spPr>
          <a:xfrm>
            <a:off x="6002888" y="4295824"/>
            <a:ext cx="16369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5 3 9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x=[‘5’,’3’,’9’]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y=[‘3’,’5’,’9’]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z=‘359’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16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678" y="184604"/>
            <a:ext cx="7886700" cy="153393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排序案例：输入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个自然数（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0-9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），以空格分隔，输出它们可组成的最小数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37921" y="2359945"/>
            <a:ext cx="3927675" cy="2887454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dirty="0"/>
              <a:t>x=input().split()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dirty="0"/>
              <a:t>y=sorted(map(</a:t>
            </a:r>
            <a:r>
              <a:rPr lang="en-US" altLang="zh-CN" dirty="0" err="1"/>
              <a:t>int,x</a:t>
            </a:r>
            <a:r>
              <a:rPr lang="en-US" altLang="zh-CN" dirty="0"/>
              <a:t>))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dirty="0"/>
              <a:t>z=y[0]*100+y[1]*10+y[2]*1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dirty="0"/>
              <a:t>print(z)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20814" y="2359945"/>
            <a:ext cx="1281021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方法三：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6DCCEF-3ACF-4D23-8BE8-82A0734AB288}"/>
              </a:ext>
            </a:extLst>
          </p:cNvPr>
          <p:cNvSpPr txBox="1"/>
          <p:nvPr/>
        </p:nvSpPr>
        <p:spPr>
          <a:xfrm>
            <a:off x="2239861" y="568773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不要求掌握</a:t>
            </a:r>
          </a:p>
        </p:txBody>
      </p:sp>
    </p:spTree>
    <p:extLst>
      <p:ext uri="{BB962C8B-B14F-4D97-AF65-F5344CB8AC3E}">
        <p14:creationId xmlns:p14="http://schemas.microsoft.com/office/powerpoint/2010/main" val="345870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0187" y="309928"/>
            <a:ext cx="7886700" cy="153393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排序案例：输入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个自然数（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0-9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），以空格分隔，输出它们可组成的最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17815" y="2442192"/>
            <a:ext cx="3927675" cy="2887454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/>
              <a:t>x=input</a:t>
            </a:r>
            <a:r>
              <a:rPr lang="en-US" altLang="zh-CN" dirty="0"/>
              <a:t>().</a:t>
            </a:r>
            <a:r>
              <a:rPr lang="en-US" altLang="zh-CN"/>
              <a:t>split()</a:t>
            </a:r>
            <a:endParaRPr lang="en-US" altLang="zh-CN" dirty="0"/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dirty="0"/>
              <a:t>y=sorted(map(</a:t>
            </a:r>
            <a:r>
              <a:rPr lang="en-US" altLang="zh-CN" dirty="0" err="1"/>
              <a:t>int,x</a:t>
            </a:r>
            <a:r>
              <a:rPr lang="en-US" altLang="zh-CN" dirty="0"/>
              <a:t>))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y=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reversed(y)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dirty="0"/>
              <a:t>z=y[0]*100+y[1]*10+y[2]*1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dirty="0"/>
              <a:t>print(z)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39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38984" y="916890"/>
            <a:ext cx="8458200" cy="1314729"/>
          </a:xfrm>
        </p:spPr>
        <p:txBody>
          <a:bodyPr/>
          <a:lstStyle/>
          <a:p>
            <a:r>
              <a:rPr lang="en-US" altLang="zh-CN" dirty="0" err="1"/>
              <a:t>ord</a:t>
            </a:r>
            <a:r>
              <a:rPr lang="en-US" altLang="zh-CN" dirty="0"/>
              <a:t>(), </a:t>
            </a:r>
            <a:r>
              <a:rPr lang="en-US" altLang="zh-CN" dirty="0" err="1"/>
              <a:t>chr</a:t>
            </a:r>
            <a:r>
              <a:rPr lang="en-US" altLang="zh-CN" dirty="0"/>
              <a:t>() </a:t>
            </a:r>
          </a:p>
          <a:p>
            <a:pPr lvl="1"/>
            <a:r>
              <a:rPr lang="en-US" altLang="zh-CN" b="0" dirty="0" err="1"/>
              <a:t>ord</a:t>
            </a:r>
            <a:r>
              <a:rPr lang="en-US" altLang="zh-CN" b="0" dirty="0"/>
              <a:t>(</a:t>
            </a:r>
            <a:r>
              <a:rPr lang="en-US" altLang="zh-CN" b="0" dirty="0" err="1"/>
              <a:t>ch</a:t>
            </a:r>
            <a:r>
              <a:rPr lang="en-US" altLang="zh-CN" b="0" dirty="0"/>
              <a:t>) </a:t>
            </a:r>
            <a:r>
              <a:rPr lang="zh-CN" altLang="en-US" b="0" dirty="0"/>
              <a:t>返回一个字符的</a:t>
            </a:r>
            <a:r>
              <a:rPr lang="en-US" altLang="zh-CN" b="0" dirty="0" err="1"/>
              <a:t>unicode</a:t>
            </a:r>
            <a:r>
              <a:rPr lang="zh-CN" altLang="en-US" b="0" dirty="0"/>
              <a:t>编码</a:t>
            </a:r>
          </a:p>
          <a:p>
            <a:pPr lvl="1"/>
            <a:r>
              <a:rPr lang="en-US" altLang="zh-CN" b="0" dirty="0" err="1"/>
              <a:t>chr</a:t>
            </a:r>
            <a:r>
              <a:rPr lang="en-US" altLang="zh-CN" b="0" dirty="0"/>
              <a:t>(</a:t>
            </a:r>
            <a:r>
              <a:rPr lang="en-US" altLang="zh-CN" b="0" dirty="0" err="1"/>
              <a:t>num</a:t>
            </a:r>
            <a:r>
              <a:rPr lang="en-US" altLang="zh-CN" b="0" dirty="0"/>
              <a:t>) </a:t>
            </a:r>
            <a:r>
              <a:rPr lang="zh-CN" altLang="en-US" b="0" dirty="0"/>
              <a:t>则用来返回</a:t>
            </a:r>
            <a:r>
              <a:rPr lang="en-US" altLang="zh-CN" b="0" dirty="0"/>
              <a:t>Unicode</a:t>
            </a:r>
            <a:r>
              <a:rPr lang="zh-CN" altLang="en-US" b="0" dirty="0"/>
              <a:t>编码对应的字符，注意</a:t>
            </a:r>
            <a:r>
              <a:rPr lang="en-US" altLang="zh-CN" b="0" dirty="0" err="1"/>
              <a:t>num</a:t>
            </a:r>
            <a:r>
              <a:rPr lang="zh-CN" altLang="en-US" b="0" dirty="0"/>
              <a:t>只能为正整数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字符串和其他类型的转换</a:t>
            </a:r>
          </a:p>
        </p:txBody>
      </p:sp>
      <p:sp>
        <p:nvSpPr>
          <p:cNvPr id="6" name="矩形 5"/>
          <p:cNvSpPr/>
          <p:nvPr/>
        </p:nvSpPr>
        <p:spPr>
          <a:xfrm>
            <a:off x="482839" y="2106482"/>
            <a:ext cx="8814986" cy="4402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ord</a:t>
            </a:r>
            <a:r>
              <a:rPr lang="en-US" altLang="zh-CN" dirty="0">
                <a:latin typeface="Consolas" panose="020B0609020204030204" pitchFamily="49" charset="0"/>
              </a:rPr>
              <a:t>('a'), </a:t>
            </a:r>
            <a:r>
              <a:rPr lang="en-US" altLang="zh-CN" dirty="0" err="1">
                <a:latin typeface="Consolas" panose="020B0609020204030204" pitchFamily="49" charset="0"/>
              </a:rPr>
              <a:t>ord</a:t>
            </a:r>
            <a:r>
              <a:rPr lang="en-US" altLang="zh-CN" dirty="0">
                <a:latin typeface="Consolas" panose="020B0609020204030204" pitchFamily="49" charset="0"/>
              </a:rPr>
              <a:t>('A')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(97, 65)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chr</a:t>
            </a:r>
            <a:r>
              <a:rPr lang="en-US" altLang="zh-CN" dirty="0">
                <a:latin typeface="Consolas" panose="020B0609020204030204" pitchFamily="49" charset="0"/>
              </a:rPr>
              <a:t>(97),</a:t>
            </a:r>
            <a:r>
              <a:rPr lang="en-US" altLang="zh-CN" dirty="0" err="1">
                <a:latin typeface="Consolas" panose="020B0609020204030204" pitchFamily="49" charset="0"/>
              </a:rPr>
              <a:t>chr</a:t>
            </a:r>
            <a:r>
              <a:rPr lang="en-US" altLang="zh-CN" dirty="0">
                <a:latin typeface="Consolas" panose="020B0609020204030204" pitchFamily="49" charset="0"/>
              </a:rPr>
              <a:t>(65)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('a', 'A')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chr</a:t>
            </a:r>
            <a:r>
              <a:rPr lang="en-US" altLang="zh-CN" dirty="0">
                <a:latin typeface="Consolas" panose="020B0609020204030204" pitchFamily="49" charset="0"/>
              </a:rPr>
              <a:t>(98),</a:t>
            </a:r>
            <a:r>
              <a:rPr lang="en-US" altLang="zh-CN" dirty="0" err="1">
                <a:latin typeface="Consolas" panose="020B0609020204030204" pitchFamily="49" charset="0"/>
              </a:rPr>
              <a:t>chr</a:t>
            </a:r>
            <a:r>
              <a:rPr lang="en-US" altLang="zh-CN" dirty="0">
                <a:latin typeface="Consolas" panose="020B0609020204030204" pitchFamily="49" charset="0"/>
              </a:rPr>
              <a:t>(66)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('b', 'B')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ord</a:t>
            </a:r>
            <a:r>
              <a:rPr lang="en-US" altLang="zh-CN" dirty="0">
                <a:latin typeface="Consolas" panose="020B0609020204030204" pitchFamily="49" charset="0"/>
              </a:rPr>
              <a:t>('</a:t>
            </a:r>
            <a:r>
              <a:rPr lang="zh-CN" altLang="en-US" dirty="0">
                <a:latin typeface="Consolas" panose="020B0609020204030204" pitchFamily="49" charset="0"/>
              </a:rPr>
              <a:t>国</a:t>
            </a:r>
            <a:r>
              <a:rPr lang="en-US" altLang="zh-CN" dirty="0">
                <a:latin typeface="Consolas" panose="020B0609020204030204" pitchFamily="49" charset="0"/>
              </a:rPr>
              <a:t>'),</a:t>
            </a:r>
            <a:r>
              <a:rPr lang="en-US" altLang="zh-CN" dirty="0" err="1">
                <a:latin typeface="Consolas" panose="020B0609020204030204" pitchFamily="49" charset="0"/>
              </a:rPr>
              <a:t>chr</a:t>
            </a:r>
            <a:r>
              <a:rPr lang="en-US" altLang="zh-CN" dirty="0">
                <a:latin typeface="Consolas" panose="020B0609020204030204" pitchFamily="49" charset="0"/>
              </a:rPr>
              <a:t>(22269)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(22269, '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国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ord</a:t>
            </a:r>
            <a:r>
              <a:rPr lang="en-US" altLang="zh-CN" dirty="0">
                <a:latin typeface="Consolas" panose="020B0609020204030204" pitchFamily="49" charset="0"/>
              </a:rPr>
              <a:t>('ab')</a:t>
            </a:r>
          </a:p>
          <a:p>
            <a:pPr>
              <a:lnSpc>
                <a:spcPts val="26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Traceback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(most recent call last):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File "&lt;pyshell#33&gt;", line 1, in &lt;module&gt;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ord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('ab')</a:t>
            </a:r>
          </a:p>
          <a:p>
            <a:pPr>
              <a:lnSpc>
                <a:spcPts val="26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TypeError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ord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() expected a character, but string of length 2 found</a:t>
            </a:r>
            <a:endParaRPr lang="zh-CN" alt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636356" y="2210198"/>
            <a:ext cx="533672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求字母</a:t>
            </a:r>
            <a:r>
              <a:rPr lang="en-US" altLang="zh-CN" dirty="0">
                <a:solidFill>
                  <a:srgbClr val="00B0F0"/>
                </a:solidFill>
              </a:rPr>
              <a:t>a</a:t>
            </a:r>
            <a:r>
              <a:rPr lang="zh-CN" altLang="en-US" dirty="0">
                <a:solidFill>
                  <a:srgbClr val="00B0F0"/>
                </a:solidFill>
              </a:rPr>
              <a:t>和</a:t>
            </a:r>
            <a:r>
              <a:rPr lang="en-US" altLang="zh-CN" dirty="0">
                <a:solidFill>
                  <a:srgbClr val="00B0F0"/>
                </a:solidFill>
              </a:rPr>
              <a:t>A</a:t>
            </a:r>
            <a:r>
              <a:rPr lang="zh-CN" altLang="en-US" dirty="0">
                <a:solidFill>
                  <a:srgbClr val="00B0F0"/>
                </a:solidFill>
              </a:rPr>
              <a:t>的</a:t>
            </a:r>
            <a:r>
              <a:rPr lang="en-US" altLang="zh-CN" dirty="0" err="1">
                <a:solidFill>
                  <a:srgbClr val="00B0F0"/>
                </a:solidFill>
              </a:rPr>
              <a:t>unicode</a:t>
            </a:r>
            <a:r>
              <a:rPr lang="zh-CN" altLang="en-US" dirty="0">
                <a:solidFill>
                  <a:srgbClr val="00B0F0"/>
                </a:solidFill>
              </a:rPr>
              <a:t>编码，注意大小写分开编码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3636356" y="2826392"/>
            <a:ext cx="533672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求编码为</a:t>
            </a:r>
            <a:r>
              <a:rPr lang="en-US" altLang="zh-CN" dirty="0">
                <a:solidFill>
                  <a:srgbClr val="00B0F0"/>
                </a:solidFill>
              </a:rPr>
              <a:t>97</a:t>
            </a:r>
            <a:r>
              <a:rPr lang="zh-CN" altLang="en-US" dirty="0">
                <a:solidFill>
                  <a:srgbClr val="00B0F0"/>
                </a:solidFill>
              </a:rPr>
              <a:t>和</a:t>
            </a:r>
            <a:r>
              <a:rPr lang="en-US" altLang="zh-CN" dirty="0">
                <a:solidFill>
                  <a:srgbClr val="00B0F0"/>
                </a:solidFill>
              </a:rPr>
              <a:t>65</a:t>
            </a:r>
            <a:r>
              <a:rPr lang="zh-CN" altLang="en-US" dirty="0">
                <a:solidFill>
                  <a:srgbClr val="00B0F0"/>
                </a:solidFill>
              </a:rPr>
              <a:t>的字符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3636356" y="3460165"/>
            <a:ext cx="533672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英文字母是根据字母表的顺序递增编码的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3636356" y="4093938"/>
            <a:ext cx="533672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B0F0"/>
                </a:solidFill>
              </a:rPr>
              <a:t>ord</a:t>
            </a:r>
            <a:r>
              <a:rPr lang="zh-CN" altLang="en-US" dirty="0">
                <a:solidFill>
                  <a:srgbClr val="00B0F0"/>
                </a:solidFill>
              </a:rPr>
              <a:t>和</a:t>
            </a:r>
            <a:r>
              <a:rPr lang="en-US" altLang="zh-CN" dirty="0" err="1">
                <a:solidFill>
                  <a:srgbClr val="00B0F0"/>
                </a:solidFill>
              </a:rPr>
              <a:t>chr</a:t>
            </a:r>
            <a:r>
              <a:rPr lang="zh-CN" altLang="en-US" dirty="0">
                <a:solidFill>
                  <a:srgbClr val="00B0F0"/>
                </a:solidFill>
              </a:rPr>
              <a:t>同样可用于中文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3636356" y="4727711"/>
            <a:ext cx="533672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B0F0"/>
                </a:solidFill>
              </a:rPr>
              <a:t>ord</a:t>
            </a:r>
            <a:r>
              <a:rPr lang="zh-CN" altLang="en-US" dirty="0">
                <a:solidFill>
                  <a:srgbClr val="00B0F0"/>
                </a:solidFill>
              </a:rPr>
              <a:t>的参数只能有一个字符</a:t>
            </a:r>
          </a:p>
        </p:txBody>
      </p:sp>
    </p:spTree>
    <p:extLst>
      <p:ext uri="{BB962C8B-B14F-4D97-AF65-F5344CB8AC3E}">
        <p14:creationId xmlns:p14="http://schemas.microsoft.com/office/powerpoint/2010/main" val="368605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81749" y="252195"/>
            <a:ext cx="6347713" cy="831538"/>
          </a:xfrm>
        </p:spPr>
        <p:txBody>
          <a:bodyPr/>
          <a:lstStyle/>
          <a:p>
            <a:r>
              <a:rPr lang="zh-CN" altLang="en-US" dirty="0"/>
              <a:t>字符串的应用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738532" cy="382382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例题：编写一个程序加密电文，加密规则为将一个英文字母转换它之后的第五个字母，其他的字符不变，例如，将字母“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A”→“F”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B”→“G”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C”→“H”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"He is in Beijing."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应转换为“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Mj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Gjnonsl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依次取电文中的字符到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x:  for x in message</a:t>
            </a: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不是字母就跳过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是字母的话，用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取它的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unicode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，得到新的字符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如果新字符超过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，则将其减去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，保证其回到开头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FC102F-E15A-4F9B-9C39-9F1C3CFFF18B}"/>
              </a:ext>
            </a:extLst>
          </p:cNvPr>
          <p:cNvSpPr txBox="1"/>
          <p:nvPr/>
        </p:nvSpPr>
        <p:spPr>
          <a:xfrm>
            <a:off x="564971" y="5335399"/>
            <a:ext cx="645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 B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D</a:t>
            </a:r>
            <a:r>
              <a:rPr lang="zh-CN" altLang="en-US" dirty="0"/>
              <a:t> </a:t>
            </a:r>
            <a:r>
              <a:rPr lang="en-US" altLang="zh-CN" dirty="0"/>
              <a:t>E</a:t>
            </a:r>
            <a:r>
              <a:rPr lang="zh-CN" altLang="en-US" dirty="0"/>
              <a:t> </a:t>
            </a:r>
            <a:r>
              <a:rPr lang="en-US" altLang="zh-CN" dirty="0"/>
              <a:t>F …… U V W X Y Z           a b c d e f  …… u v w x y z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BD27FC1-0F31-4CD3-B4FF-680893B35F2F}"/>
              </a:ext>
            </a:extLst>
          </p:cNvPr>
          <p:cNvCxnSpPr/>
          <p:nvPr/>
        </p:nvCxnSpPr>
        <p:spPr>
          <a:xfrm>
            <a:off x="713064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E3183FD-7F33-452E-A299-8F0678000D4C}"/>
              </a:ext>
            </a:extLst>
          </p:cNvPr>
          <p:cNvCxnSpPr/>
          <p:nvPr/>
        </p:nvCxnSpPr>
        <p:spPr>
          <a:xfrm>
            <a:off x="899020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0A26C85-3CEE-4BEC-9194-EF3EB479C959}"/>
              </a:ext>
            </a:extLst>
          </p:cNvPr>
          <p:cNvCxnSpPr/>
          <p:nvPr/>
        </p:nvCxnSpPr>
        <p:spPr>
          <a:xfrm>
            <a:off x="1108745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792A73C-03A7-4B2E-9786-AE7611B85194}"/>
              </a:ext>
            </a:extLst>
          </p:cNvPr>
          <p:cNvCxnSpPr/>
          <p:nvPr/>
        </p:nvCxnSpPr>
        <p:spPr>
          <a:xfrm>
            <a:off x="1294701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570E077-0243-427F-A565-58A344378473}"/>
              </a:ext>
            </a:extLst>
          </p:cNvPr>
          <p:cNvCxnSpPr/>
          <p:nvPr/>
        </p:nvCxnSpPr>
        <p:spPr>
          <a:xfrm>
            <a:off x="2308369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E3014CC-BECB-43F4-8026-76D82699D577}"/>
              </a:ext>
            </a:extLst>
          </p:cNvPr>
          <p:cNvCxnSpPr/>
          <p:nvPr/>
        </p:nvCxnSpPr>
        <p:spPr>
          <a:xfrm>
            <a:off x="2494325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F91FD24-30CB-4540-9AEF-52D818B1284E}"/>
              </a:ext>
            </a:extLst>
          </p:cNvPr>
          <p:cNvCxnSpPr/>
          <p:nvPr/>
        </p:nvCxnSpPr>
        <p:spPr>
          <a:xfrm>
            <a:off x="2720829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F665088-8D45-409B-9640-9FA0B2A41513}"/>
              </a:ext>
            </a:extLst>
          </p:cNvPr>
          <p:cNvCxnSpPr/>
          <p:nvPr/>
        </p:nvCxnSpPr>
        <p:spPr>
          <a:xfrm>
            <a:off x="2906785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E7539FE-9B22-4C5E-BFDC-FB96E8B07262}"/>
              </a:ext>
            </a:extLst>
          </p:cNvPr>
          <p:cNvCxnSpPr/>
          <p:nvPr/>
        </p:nvCxnSpPr>
        <p:spPr>
          <a:xfrm>
            <a:off x="3150066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41FC889-1432-4AED-BE3E-88AD80D87E36}"/>
              </a:ext>
            </a:extLst>
          </p:cNvPr>
          <p:cNvCxnSpPr/>
          <p:nvPr/>
        </p:nvCxnSpPr>
        <p:spPr>
          <a:xfrm>
            <a:off x="3336022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BF08600-758F-49AC-AC82-8B3864C5DB8F}"/>
              </a:ext>
            </a:extLst>
          </p:cNvPr>
          <p:cNvCxnSpPr/>
          <p:nvPr/>
        </p:nvCxnSpPr>
        <p:spPr>
          <a:xfrm>
            <a:off x="1497435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7918A61-1EE7-4544-96C8-FB3DFB09DAD9}"/>
              </a:ext>
            </a:extLst>
          </p:cNvPr>
          <p:cNvCxnSpPr/>
          <p:nvPr/>
        </p:nvCxnSpPr>
        <p:spPr>
          <a:xfrm>
            <a:off x="1683391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3843402-2732-475B-A973-BECE8801CE4E}"/>
              </a:ext>
            </a:extLst>
          </p:cNvPr>
          <p:cNvSpPr txBox="1"/>
          <p:nvPr/>
        </p:nvSpPr>
        <p:spPr>
          <a:xfrm>
            <a:off x="564971" y="6041102"/>
            <a:ext cx="3068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 G H I J K        Z A B C D E  </a:t>
            </a:r>
            <a:endParaRPr lang="zh-CN" altLang="en-US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1468347-3A08-4473-A981-BADED2530623}"/>
              </a:ext>
            </a:extLst>
          </p:cNvPr>
          <p:cNvCxnSpPr/>
          <p:nvPr/>
        </p:nvCxnSpPr>
        <p:spPr>
          <a:xfrm>
            <a:off x="4237838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C62F1C4-5D83-4F0B-80B2-EECDEFEB9020}"/>
              </a:ext>
            </a:extLst>
          </p:cNvPr>
          <p:cNvCxnSpPr/>
          <p:nvPr/>
        </p:nvCxnSpPr>
        <p:spPr>
          <a:xfrm>
            <a:off x="4423794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0452680-4984-4D6C-83CE-428C45FAB1F6}"/>
              </a:ext>
            </a:extLst>
          </p:cNvPr>
          <p:cNvCxnSpPr/>
          <p:nvPr/>
        </p:nvCxnSpPr>
        <p:spPr>
          <a:xfrm>
            <a:off x="4633519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9A007BF-8CEB-4066-8958-4142F803EEF4}"/>
              </a:ext>
            </a:extLst>
          </p:cNvPr>
          <p:cNvCxnSpPr/>
          <p:nvPr/>
        </p:nvCxnSpPr>
        <p:spPr>
          <a:xfrm>
            <a:off x="4819475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29C5EE4-A84E-4D62-9A9B-BB63DA0FC39B}"/>
              </a:ext>
            </a:extLst>
          </p:cNvPr>
          <p:cNvCxnSpPr/>
          <p:nvPr/>
        </p:nvCxnSpPr>
        <p:spPr>
          <a:xfrm>
            <a:off x="5833143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9E04AB6-94BA-4E85-BB3C-774327930E4F}"/>
              </a:ext>
            </a:extLst>
          </p:cNvPr>
          <p:cNvCxnSpPr/>
          <p:nvPr/>
        </p:nvCxnSpPr>
        <p:spPr>
          <a:xfrm>
            <a:off x="6019099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554B1F1-083E-4387-A5AC-C02C724772F8}"/>
              </a:ext>
            </a:extLst>
          </p:cNvPr>
          <p:cNvCxnSpPr/>
          <p:nvPr/>
        </p:nvCxnSpPr>
        <p:spPr>
          <a:xfrm>
            <a:off x="6245603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7FF39DC-0554-458A-8F61-C22A442980D2}"/>
              </a:ext>
            </a:extLst>
          </p:cNvPr>
          <p:cNvCxnSpPr/>
          <p:nvPr/>
        </p:nvCxnSpPr>
        <p:spPr>
          <a:xfrm>
            <a:off x="6431559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817FE68-9DDC-4680-9300-B1ED11717114}"/>
              </a:ext>
            </a:extLst>
          </p:cNvPr>
          <p:cNvCxnSpPr/>
          <p:nvPr/>
        </p:nvCxnSpPr>
        <p:spPr>
          <a:xfrm>
            <a:off x="6674840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0427285-8AE3-45C5-87AB-7D9B2375EC45}"/>
              </a:ext>
            </a:extLst>
          </p:cNvPr>
          <p:cNvCxnSpPr/>
          <p:nvPr/>
        </p:nvCxnSpPr>
        <p:spPr>
          <a:xfrm>
            <a:off x="6860796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A377F75-D237-4C35-8612-9D663E4C6BB7}"/>
              </a:ext>
            </a:extLst>
          </p:cNvPr>
          <p:cNvCxnSpPr/>
          <p:nvPr/>
        </p:nvCxnSpPr>
        <p:spPr>
          <a:xfrm>
            <a:off x="5022209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2F1188C-9E75-4FF2-9078-1DC70A12910D}"/>
              </a:ext>
            </a:extLst>
          </p:cNvPr>
          <p:cNvCxnSpPr/>
          <p:nvPr/>
        </p:nvCxnSpPr>
        <p:spPr>
          <a:xfrm>
            <a:off x="5208165" y="5704514"/>
            <a:ext cx="0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513E44DB-BE13-485D-9D5F-CDA439F549F0}"/>
              </a:ext>
            </a:extLst>
          </p:cNvPr>
          <p:cNvSpPr txBox="1"/>
          <p:nvPr/>
        </p:nvSpPr>
        <p:spPr>
          <a:xfrm>
            <a:off x="4089745" y="6041102"/>
            <a:ext cx="3092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 g  h </a:t>
            </a:r>
            <a:r>
              <a:rPr lang="en-US" altLang="zh-CN" dirty="0" err="1"/>
              <a:t>i</a:t>
            </a:r>
            <a:r>
              <a:rPr lang="en-US" altLang="zh-CN" dirty="0"/>
              <a:t>  j k        z a b c  d e  </a:t>
            </a:r>
            <a:endParaRPr lang="zh-CN" altLang="en-US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45A4990-D83A-4661-859C-63A18A86D330}"/>
              </a:ext>
            </a:extLst>
          </p:cNvPr>
          <p:cNvCxnSpPr/>
          <p:nvPr/>
        </p:nvCxnSpPr>
        <p:spPr>
          <a:xfrm>
            <a:off x="486561" y="5058562"/>
            <a:ext cx="226503" cy="36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2946763-34EC-4EAA-9909-6F55276E012D}"/>
              </a:ext>
            </a:extLst>
          </p:cNvPr>
          <p:cNvSpPr txBox="1"/>
          <p:nvPr/>
        </p:nvSpPr>
        <p:spPr>
          <a:xfrm>
            <a:off x="218114" y="4798503"/>
            <a:ext cx="7439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65  66  67  68  ……    87 88 89 90      97 98 99 100  ……</a:t>
            </a:r>
            <a:r>
              <a:rPr lang="zh-CN" altLang="en-US" dirty="0"/>
              <a:t>  </a:t>
            </a:r>
            <a:r>
              <a:rPr lang="en-US" altLang="zh-CN" dirty="0"/>
              <a:t>119 120 121 122</a:t>
            </a:r>
            <a:endParaRPr lang="zh-CN" altLang="en-US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3E96725-E2B4-4B42-9909-02D2D0C422CE}"/>
              </a:ext>
            </a:extLst>
          </p:cNvPr>
          <p:cNvCxnSpPr/>
          <p:nvPr/>
        </p:nvCxnSpPr>
        <p:spPr>
          <a:xfrm>
            <a:off x="822121" y="5058562"/>
            <a:ext cx="76899" cy="36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DBB80D0-6E51-4E5D-8283-7A59274412DA}"/>
              </a:ext>
            </a:extLst>
          </p:cNvPr>
          <p:cNvCxnSpPr>
            <a:cxnSpLocks/>
          </p:cNvCxnSpPr>
          <p:nvPr/>
        </p:nvCxnSpPr>
        <p:spPr>
          <a:xfrm>
            <a:off x="1108745" y="5058562"/>
            <a:ext cx="0" cy="36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54AFBDD-237D-4CB0-8156-B65713A8DDDF}"/>
              </a:ext>
            </a:extLst>
          </p:cNvPr>
          <p:cNvCxnSpPr>
            <a:cxnSpLocks/>
          </p:cNvCxnSpPr>
          <p:nvPr/>
        </p:nvCxnSpPr>
        <p:spPr>
          <a:xfrm flipH="1">
            <a:off x="1294701" y="5075124"/>
            <a:ext cx="202734" cy="352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D5DEF1FA-DA7B-4269-9DC4-BD0BADBEF4D7}"/>
              </a:ext>
            </a:extLst>
          </p:cNvPr>
          <p:cNvSpPr txBox="1"/>
          <p:nvPr/>
        </p:nvSpPr>
        <p:spPr>
          <a:xfrm>
            <a:off x="218114" y="453866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Unicode</a:t>
            </a:r>
            <a:endParaRPr lang="zh-CN" altLang="en-US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3D0D01E-784E-4DBE-B378-E2F820B81F6D}"/>
              </a:ext>
            </a:extLst>
          </p:cNvPr>
          <p:cNvCxnSpPr/>
          <p:nvPr/>
        </p:nvCxnSpPr>
        <p:spPr>
          <a:xfrm>
            <a:off x="2555814" y="5058562"/>
            <a:ext cx="226503" cy="36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8C6CA77-1DC0-4DD3-A8D6-EF79A52A7F4C}"/>
              </a:ext>
            </a:extLst>
          </p:cNvPr>
          <p:cNvCxnSpPr/>
          <p:nvPr/>
        </p:nvCxnSpPr>
        <p:spPr>
          <a:xfrm>
            <a:off x="2891374" y="5058562"/>
            <a:ext cx="76899" cy="36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5503912-292B-4B96-BCEA-D6776C771E6F}"/>
              </a:ext>
            </a:extLst>
          </p:cNvPr>
          <p:cNvCxnSpPr>
            <a:cxnSpLocks/>
          </p:cNvCxnSpPr>
          <p:nvPr/>
        </p:nvCxnSpPr>
        <p:spPr>
          <a:xfrm>
            <a:off x="3177998" y="5058562"/>
            <a:ext cx="0" cy="36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19629E2-8A1F-482A-8DD8-97C421B8A558}"/>
              </a:ext>
            </a:extLst>
          </p:cNvPr>
          <p:cNvCxnSpPr>
            <a:cxnSpLocks/>
          </p:cNvCxnSpPr>
          <p:nvPr/>
        </p:nvCxnSpPr>
        <p:spPr>
          <a:xfrm flipH="1">
            <a:off x="3363954" y="5113199"/>
            <a:ext cx="92462" cy="314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4AEC65A-13D1-4B52-8D06-E4AF5AC1C563}"/>
              </a:ext>
            </a:extLst>
          </p:cNvPr>
          <p:cNvCxnSpPr>
            <a:cxnSpLocks/>
          </p:cNvCxnSpPr>
          <p:nvPr/>
        </p:nvCxnSpPr>
        <p:spPr>
          <a:xfrm>
            <a:off x="4112702" y="5096637"/>
            <a:ext cx="149604" cy="339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6A7C853-FFBA-453E-8F88-6732F0480F2A}"/>
              </a:ext>
            </a:extLst>
          </p:cNvPr>
          <p:cNvCxnSpPr>
            <a:cxnSpLocks/>
          </p:cNvCxnSpPr>
          <p:nvPr/>
        </p:nvCxnSpPr>
        <p:spPr>
          <a:xfrm flipH="1">
            <a:off x="4423794" y="5096637"/>
            <a:ext cx="24468" cy="323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405EB37-2B81-47D3-B9F8-89CF799726D2}"/>
              </a:ext>
            </a:extLst>
          </p:cNvPr>
          <p:cNvCxnSpPr>
            <a:cxnSpLocks/>
          </p:cNvCxnSpPr>
          <p:nvPr/>
        </p:nvCxnSpPr>
        <p:spPr>
          <a:xfrm flipH="1">
            <a:off x="4633519" y="5096637"/>
            <a:ext cx="101367" cy="331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C16DBB3-D96F-4E8C-A05F-5A45EFA17AD7}"/>
              </a:ext>
            </a:extLst>
          </p:cNvPr>
          <p:cNvCxnSpPr>
            <a:cxnSpLocks/>
          </p:cNvCxnSpPr>
          <p:nvPr/>
        </p:nvCxnSpPr>
        <p:spPr>
          <a:xfrm flipH="1">
            <a:off x="4834046" y="5113199"/>
            <a:ext cx="289530" cy="306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7BEE832E-1CF5-4FCB-A1FF-ACDF003A238A}"/>
              </a:ext>
            </a:extLst>
          </p:cNvPr>
          <p:cNvCxnSpPr>
            <a:cxnSpLocks/>
          </p:cNvCxnSpPr>
          <p:nvPr/>
        </p:nvCxnSpPr>
        <p:spPr>
          <a:xfrm>
            <a:off x="6132970" y="5121372"/>
            <a:ext cx="117446" cy="336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70A981A4-4140-438A-B5C2-4A264E810BFB}"/>
              </a:ext>
            </a:extLst>
          </p:cNvPr>
          <p:cNvCxnSpPr>
            <a:cxnSpLocks/>
          </p:cNvCxnSpPr>
          <p:nvPr/>
        </p:nvCxnSpPr>
        <p:spPr>
          <a:xfrm flipH="1">
            <a:off x="6460372" y="5121372"/>
            <a:ext cx="8158" cy="336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C8FBAE6B-CEBF-43DE-B130-677C1C92457A}"/>
              </a:ext>
            </a:extLst>
          </p:cNvPr>
          <p:cNvCxnSpPr>
            <a:cxnSpLocks/>
          </p:cNvCxnSpPr>
          <p:nvPr/>
        </p:nvCxnSpPr>
        <p:spPr>
          <a:xfrm flipH="1">
            <a:off x="6674840" y="5110479"/>
            <a:ext cx="202733" cy="325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51B13547-9025-407B-9964-9A3A89E66458}"/>
              </a:ext>
            </a:extLst>
          </p:cNvPr>
          <p:cNvCxnSpPr>
            <a:cxnSpLocks/>
          </p:cNvCxnSpPr>
          <p:nvPr/>
        </p:nvCxnSpPr>
        <p:spPr>
          <a:xfrm flipH="1">
            <a:off x="6856054" y="5096637"/>
            <a:ext cx="445944" cy="339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18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字符串的应用</a:t>
            </a:r>
          </a:p>
        </p:txBody>
      </p:sp>
      <p:sp>
        <p:nvSpPr>
          <p:cNvPr id="5" name="矩形 4"/>
          <p:cNvSpPr/>
          <p:nvPr/>
        </p:nvSpPr>
        <p:spPr>
          <a:xfrm>
            <a:off x="94761" y="1364188"/>
            <a:ext cx="8458200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message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encrypt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''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message:</a:t>
            </a:r>
          </a:p>
          <a:p>
            <a:pPr lvl="1"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b="1" dirty="0" err="1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isalpha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 lvl="2"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ux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ord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5</a:t>
            </a:r>
          </a:p>
          <a:p>
            <a:pPr lvl="2"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ux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ord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'z'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lvl="3"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ux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-=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26</a:t>
            </a:r>
          </a:p>
          <a:p>
            <a:pPr lvl="2">
              <a:lnSpc>
                <a:spcPct val="150000"/>
              </a:lnSpc>
            </a:pP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elif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ux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ord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'Z'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and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ux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ord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'Z'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5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3"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ux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-=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26</a:t>
            </a:r>
          </a:p>
          <a:p>
            <a:pPr lvl="2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encrypt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chr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ux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encrypt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endParaRPr lang="zh-CN" altLang="en-US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(encrypt)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601381" y="2683617"/>
            <a:ext cx="4951580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判断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x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是不是英文字母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,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可以是大写的或小写的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3601382" y="3560161"/>
            <a:ext cx="3631965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判断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x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是否小写越界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3601383" y="4708319"/>
            <a:ext cx="5033476" cy="71508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判断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x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是否大写越界，所有的小写字母都大于大写字母，所以这里需要额外判断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ord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'Z'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5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439157" y="5501271"/>
            <a:ext cx="6264068" cy="829600"/>
            <a:chOff x="2563738" y="3769216"/>
            <a:chExt cx="6264068" cy="829600"/>
          </a:xfrm>
        </p:grpSpPr>
        <p:sp>
          <p:nvSpPr>
            <p:cNvPr id="9" name="圆角矩形 8"/>
            <p:cNvSpPr/>
            <p:nvPr/>
          </p:nvSpPr>
          <p:spPr>
            <a:xfrm>
              <a:off x="3794330" y="4190193"/>
              <a:ext cx="5033476" cy="408623"/>
            </a:xfrm>
            <a:prstGeom prst="round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defTabSz="685800">
                <a:spcBef>
                  <a:spcPct val="0"/>
                </a:spcBef>
                <a:buSzPct val="70000"/>
                <a:buNone/>
              </a:pPr>
              <a:r>
                <a:rPr lang="zh-CN" altLang="en-US" dirty="0">
                  <a:solidFill>
                    <a:srgbClr val="00B0F0"/>
                  </a:solidFill>
                  <a:latin typeface="Consolas" panose="020B0609020204030204" charset="0"/>
                </a:rPr>
                <a:t>将</a:t>
              </a:r>
              <a:r>
                <a:rPr lang="en-US" altLang="zh-CN" dirty="0" err="1">
                  <a:solidFill>
                    <a:srgbClr val="00B0F0"/>
                  </a:solidFill>
                  <a:latin typeface="Consolas" panose="020B0609020204030204" charset="0"/>
                </a:rPr>
                <a:t>ux</a:t>
              </a:r>
              <a:r>
                <a:rPr lang="zh-CN" altLang="en-US" dirty="0">
                  <a:solidFill>
                    <a:srgbClr val="00B0F0"/>
                  </a:solidFill>
                  <a:latin typeface="Consolas" panose="020B0609020204030204" charset="0"/>
                </a:rPr>
                <a:t>转成字符串，加到</a:t>
              </a:r>
              <a:r>
                <a:rPr lang="en-US" altLang="zh-CN" dirty="0">
                  <a:solidFill>
                    <a:srgbClr val="00B0F0"/>
                  </a:solidFill>
                  <a:latin typeface="Consolas" panose="020B0609020204030204" charset="0"/>
                </a:rPr>
                <a:t>encrypt</a:t>
              </a:r>
              <a:r>
                <a:rPr lang="zh-CN" altLang="en-US" dirty="0">
                  <a:solidFill>
                    <a:srgbClr val="00B0F0"/>
                  </a:solidFill>
                  <a:latin typeface="Consolas" panose="020B0609020204030204" charset="0"/>
                </a:rPr>
                <a:t>上</a:t>
              </a:r>
            </a:p>
          </p:txBody>
        </p:sp>
        <p:cxnSp>
          <p:nvCxnSpPr>
            <p:cNvPr id="11" name="直接箭头连接符 10"/>
            <p:cNvCxnSpPr>
              <a:stCxn id="9" idx="1"/>
            </p:cNvCxnSpPr>
            <p:nvPr/>
          </p:nvCxnSpPr>
          <p:spPr bwMode="auto">
            <a:xfrm flipH="1" flipV="1">
              <a:off x="2563738" y="3769216"/>
              <a:ext cx="1230592" cy="625289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205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024betty_wav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3C6201D-EA81-4E33-86C4-0475CC4FBC2F}" vid="{03E07CE5-EE3A-4FD9-BFAD-6815F15428DD}"/>
    </a:ext>
  </a:extLst>
</a:theme>
</file>

<file path=ppt/theme/theme2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2392</TotalTime>
  <Words>1842</Words>
  <Application>Microsoft Office PowerPoint</Application>
  <PresentationFormat>全屏显示(4:3)</PresentationFormat>
  <Paragraphs>206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等线</vt:lpstr>
      <vt:lpstr>微软雅黑</vt:lpstr>
      <vt:lpstr>Arial</vt:lpstr>
      <vt:lpstr>Calibri</vt:lpstr>
      <vt:lpstr>Consolas</vt:lpstr>
      <vt:lpstr>Trebuchet MS</vt:lpstr>
      <vt:lpstr>Verdana</vt:lpstr>
      <vt:lpstr>Wingdings</vt:lpstr>
      <vt:lpstr>Wingdings 3</vt:lpstr>
      <vt:lpstr>主题1</vt:lpstr>
      <vt:lpstr>平面</vt:lpstr>
      <vt:lpstr>与字符串相关的类型转换函数</vt:lpstr>
      <vt:lpstr>字符串转成数值</vt:lpstr>
      <vt:lpstr>字符串转成数值</vt:lpstr>
      <vt:lpstr>字符串和其他类型的转换</vt:lpstr>
      <vt:lpstr>字符串的应用 </vt:lpstr>
      <vt:lpstr>原始字符串</vt:lpstr>
      <vt:lpstr>处理字符串的内置函数</vt:lpstr>
      <vt:lpstr>1 最值与求和</vt:lpstr>
      <vt:lpstr>2   排序与逆序</vt:lpstr>
      <vt:lpstr>2   排序与逆序</vt:lpstr>
      <vt:lpstr>排序案例：输入3个自然数（0-9），以空格分隔，输出它们可组成的最小数</vt:lpstr>
      <vt:lpstr>排序案例：输入3个自然数（0-9），以空格分隔，输出它们可组成的最小数</vt:lpstr>
      <vt:lpstr>排序案例：输入3个自然数（0-9），以空格分隔，输出它们可组成的最大数</vt:lpstr>
      <vt:lpstr>字符串和其他类型的转换</vt:lpstr>
      <vt:lpstr>字符串的应用</vt:lpstr>
      <vt:lpstr>字符串的应用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 字符串</dc:title>
  <dc:creator>Dong</dc:creator>
  <cp:lastModifiedBy>cyj</cp:lastModifiedBy>
  <cp:revision>584</cp:revision>
  <dcterms:created xsi:type="dcterms:W3CDTF">2015-05-05T08:02:00Z</dcterms:created>
  <dcterms:modified xsi:type="dcterms:W3CDTF">2024-11-05T04:39:44Z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