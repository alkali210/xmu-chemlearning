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  <p:sldMasterId id="2147483676" r:id="rId2"/>
    <p:sldMasterId id="2147483688" r:id="rId3"/>
  </p:sldMasterIdLst>
  <p:notesMasterIdLst>
    <p:notesMasterId r:id="rId16"/>
  </p:notesMasterIdLst>
  <p:handoutMasterIdLst>
    <p:handoutMasterId r:id="rId17"/>
  </p:handoutMasterIdLst>
  <p:sldIdLst>
    <p:sldId id="1942" r:id="rId4"/>
    <p:sldId id="1901" r:id="rId5"/>
    <p:sldId id="1929" r:id="rId6"/>
    <p:sldId id="1902" r:id="rId7"/>
    <p:sldId id="1943" r:id="rId8"/>
    <p:sldId id="1945" r:id="rId9"/>
    <p:sldId id="1946" r:id="rId10"/>
    <p:sldId id="1947" r:id="rId11"/>
    <p:sldId id="1944" r:id="rId12"/>
    <p:sldId id="1904" r:id="rId13"/>
    <p:sldId id="1933" r:id="rId14"/>
    <p:sldId id="1903" r:id="rId1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yj" initials="c" lastIdx="1" clrIdx="0">
    <p:extLst>
      <p:ext uri="{19B8F6BF-5375-455C-9EA6-DF929625EA0E}">
        <p15:presenceInfo xmlns:p15="http://schemas.microsoft.com/office/powerpoint/2012/main" userId="cyj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0678" autoAdjust="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0566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639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41" name="AutoShape 2405"/>
          <p:cNvSpPr>
            <a:spLocks noChangeArrowheads="1"/>
          </p:cNvSpPr>
          <p:nvPr/>
        </p:nvSpPr>
        <p:spPr bwMode="gray">
          <a:xfrm>
            <a:off x="0" y="1752600"/>
            <a:ext cx="9144000" cy="2514600"/>
          </a:xfrm>
          <a:prstGeom prst="flowChartDocument">
            <a:avLst/>
          </a:prstGeom>
          <a:ln>
            <a:noFill/>
          </a:ln>
          <a:effectLst>
            <a:glow rad="63500">
              <a:schemeClr val="accent2">
                <a:alpha val="45000"/>
                <a:satMod val="12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40" name="AutoShape 2404"/>
          <p:cNvSpPr>
            <a:spLocks noChangeArrowheads="1"/>
          </p:cNvSpPr>
          <p:nvPr/>
        </p:nvSpPr>
        <p:spPr bwMode="gray">
          <a:xfrm>
            <a:off x="0" y="304800"/>
            <a:ext cx="9144000" cy="2209800"/>
          </a:xfrm>
          <a:prstGeom prst="flowChartDocumen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1" name="AutoShape 2395"/>
          <p:cNvSpPr>
            <a:spLocks noChangeArrowheads="1"/>
          </p:cNvSpPr>
          <p:nvPr/>
        </p:nvSpPr>
        <p:spPr bwMode="gray">
          <a:xfrm>
            <a:off x="0" y="0"/>
            <a:ext cx="9144000" cy="2057400"/>
          </a:xfrm>
          <a:prstGeom prst="flowChartDocument">
            <a:avLst/>
          </a:prstGeom>
          <a:gradFill rotWithShape="0">
            <a:gsLst>
              <a:gs pos="0">
                <a:schemeClr val="accent2"/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0" name="Oval 2394"/>
          <p:cNvSpPr>
            <a:spLocks noChangeArrowheads="1"/>
          </p:cNvSpPr>
          <p:nvPr/>
        </p:nvSpPr>
        <p:spPr bwMode="gray">
          <a:xfrm>
            <a:off x="722313" y="1752600"/>
            <a:ext cx="552450" cy="508000"/>
          </a:xfrm>
          <a:prstGeom prst="ellipse">
            <a:avLst/>
          </a:prstGeom>
          <a:gradFill rotWithShape="0">
            <a:gsLst>
              <a:gs pos="0">
                <a:srgbClr val="86B9FF"/>
              </a:gs>
              <a:gs pos="12000">
                <a:schemeClr val="hlink">
                  <a:alpha val="53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4" name="Oval 2398"/>
          <p:cNvSpPr>
            <a:spLocks noChangeArrowheads="1"/>
          </p:cNvSpPr>
          <p:nvPr/>
        </p:nvSpPr>
        <p:spPr bwMode="gray">
          <a:xfrm>
            <a:off x="2971800" y="1773239"/>
            <a:ext cx="230188" cy="207963"/>
          </a:xfrm>
          <a:prstGeom prst="ellipse">
            <a:avLst/>
          </a:prstGeom>
          <a:gradFill rotWithShape="0">
            <a:gsLst>
              <a:gs pos="27000">
                <a:schemeClr val="hlink">
                  <a:alpha val="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5" name="Oval 2399"/>
          <p:cNvSpPr>
            <a:spLocks noChangeArrowheads="1"/>
          </p:cNvSpPr>
          <p:nvPr/>
        </p:nvSpPr>
        <p:spPr bwMode="gray">
          <a:xfrm>
            <a:off x="2247903" y="2271713"/>
            <a:ext cx="538163" cy="495300"/>
          </a:xfrm>
          <a:prstGeom prst="ellipse">
            <a:avLst/>
          </a:prstGeom>
          <a:gradFill rotWithShape="0">
            <a:gsLst>
              <a:gs pos="13000">
                <a:schemeClr val="hlink">
                  <a:alpha val="58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15" name="Rectangle 536"/>
          <p:cNvSpPr txBox="1">
            <a:spLocks noChangeArrowheads="1"/>
          </p:cNvSpPr>
          <p:nvPr/>
        </p:nvSpPr>
        <p:spPr bwMode="black">
          <a:xfrm>
            <a:off x="2247902" y="4405858"/>
            <a:ext cx="5295379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1" rIns="68580" bIns="34291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endParaRPr lang="en-US" altLang="ko-KR" sz="3600" dirty="0"/>
          </a:p>
        </p:txBody>
      </p:sp>
      <p:sp>
        <p:nvSpPr>
          <p:cNvPr id="16" name="Rectangle 536"/>
          <p:cNvSpPr txBox="1">
            <a:spLocks noChangeArrowheads="1"/>
          </p:cNvSpPr>
          <p:nvPr/>
        </p:nvSpPr>
        <p:spPr bwMode="black">
          <a:xfrm>
            <a:off x="2067138" y="4234408"/>
            <a:ext cx="5009728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1" rIns="68580" bIns="34291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3616924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495300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51237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84428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1"/>
            </a:lvl4pPr>
            <a:lvl5pPr>
              <a:defRPr sz="135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1"/>
            </a:lvl4pPr>
            <a:lvl5pPr>
              <a:defRPr sz="135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9761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114498"/>
            <a:ext cx="8229600" cy="63832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9663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9" y="115329"/>
            <a:ext cx="744473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7132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40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9675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4572000" y="6477000"/>
            <a:ext cx="5334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356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0978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943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943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46972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单击图标添加图表</a:t>
            </a:r>
          </a:p>
        </p:txBody>
      </p:sp>
    </p:spTree>
    <p:extLst>
      <p:ext uri="{BB962C8B-B14F-4D97-AF65-F5344CB8AC3E}">
        <p14:creationId xmlns:p14="http://schemas.microsoft.com/office/powerpoint/2010/main" val="2926920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3637208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84403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380431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16534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671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417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0960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834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9208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2711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8609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7758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2932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246732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970406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5031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1645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944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3390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2708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3813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4115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1477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362700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995612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410454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011846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471423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6713791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12780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75922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hyperlink" Target="idle" TargetMode="Externa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hyperlink" Target="idle" TargetMode="Externa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21" Type="http://schemas.openxmlformats.org/officeDocument/2006/relationships/hyperlink" Target="idle" TargetMode="Externa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36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4" name="Rectangle 246"/>
          <p:cNvSpPr>
            <a:spLocks noChangeArrowheads="1"/>
          </p:cNvSpPr>
          <p:nvPr/>
        </p:nvSpPr>
        <p:spPr bwMode="gray">
          <a:xfrm>
            <a:off x="0" y="0"/>
            <a:ext cx="9144000" cy="838200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21176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12538" name="Rectangle 250"/>
          <p:cNvSpPr>
            <a:spLocks noChangeArrowheads="1"/>
          </p:cNvSpPr>
          <p:nvPr/>
        </p:nvSpPr>
        <p:spPr bwMode="white">
          <a:xfrm>
            <a:off x="0" y="990600"/>
            <a:ext cx="9144000" cy="3657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12310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458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 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12309" name="Rectangle 21"/>
          <p:cNvSpPr>
            <a:spLocks noGrp="1" noChangeArrowheads="1"/>
          </p:cNvSpPr>
          <p:nvPr>
            <p:ph type="title"/>
          </p:nvPr>
        </p:nvSpPr>
        <p:spPr bwMode="gray">
          <a:xfrm>
            <a:off x="683569" y="127686"/>
            <a:ext cx="744473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ko-KR" dirty="0"/>
          </a:p>
        </p:txBody>
      </p:sp>
      <p:pic>
        <p:nvPicPr>
          <p:cNvPr id="12548" name="Picture 260" descr="http://astroleaks.lamost.org/wp-content/uploads/2012/03/Logo_Python.png">
            <a:hlinkClick r:id="rId17" action="ppaction://program"/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"/>
            <a:ext cx="632464" cy="63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圆角矩形 2">
            <a:hlinkClick r:id="rId17" action="ppaction://program"/>
          </p:cNvPr>
          <p:cNvSpPr/>
          <p:nvPr userDrawn="1"/>
        </p:nvSpPr>
        <p:spPr>
          <a:xfrm>
            <a:off x="0" y="57665"/>
            <a:ext cx="568411" cy="691431"/>
          </a:xfrm>
          <a:prstGeom prst="roundRect">
            <a:avLst/>
          </a:prstGeom>
          <a:ln>
            <a:noFill/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24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000" b="1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557199" indent="-214308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2pPr>
      <a:lvl3pPr marL="857229" indent="-171446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3pPr>
      <a:lvl4pPr marL="1200121" indent="-171446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4pPr>
      <a:lvl5pPr marL="1543012" indent="-171446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67891-4A7C-4A51-86F1-5BDD3946FBDA}" type="datetimeFigureOut">
              <a:rPr lang="zh-CN" altLang="en-US" smtClean="0"/>
              <a:t>2024/11/29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圆角矩形 6">
            <a:hlinkClick r:id="rId13" action="ppaction://program"/>
          </p:cNvPr>
          <p:cNvSpPr/>
          <p:nvPr userDrawn="1"/>
        </p:nvSpPr>
        <p:spPr>
          <a:xfrm>
            <a:off x="0" y="57665"/>
            <a:ext cx="568411" cy="691431"/>
          </a:xfrm>
          <a:prstGeom prst="roundRect">
            <a:avLst/>
          </a:prstGeom>
          <a:ln>
            <a:noFill/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18677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圆角矩形 11">
            <a:hlinkClick r:id="rId21" action="ppaction://program"/>
          </p:cNvPr>
          <p:cNvSpPr/>
          <p:nvPr userDrawn="1"/>
        </p:nvSpPr>
        <p:spPr>
          <a:xfrm>
            <a:off x="0" y="57665"/>
            <a:ext cx="568411" cy="691431"/>
          </a:xfrm>
          <a:prstGeom prst="roundRect">
            <a:avLst/>
          </a:prstGeom>
          <a:ln>
            <a:noFill/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41052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71225" y="1287029"/>
            <a:ext cx="7772400" cy="717812"/>
          </a:xfrm>
        </p:spPr>
        <p:txBody>
          <a:bodyPr>
            <a:normAutofit fontScale="90000"/>
          </a:bodyPr>
          <a:lstStyle/>
          <a:p>
            <a:pPr algn="ctr">
              <a:lnSpc>
                <a:spcPct val="200000"/>
              </a:lnSpc>
            </a:pPr>
            <a:r>
              <a:rPr lang="zh-CN" altLang="en-US"/>
              <a:t>处理列表的常用方法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74792" y="2816303"/>
            <a:ext cx="3500510" cy="29546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4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等线" panose="02010600030101010101" pitchFamily="2" charset="-122"/>
                <a:cs typeface="Times New Roman" panose="02020603050405020304" pitchFamily="18" charset="0"/>
              </a:rPr>
              <a:t>要求掌握：</a:t>
            </a:r>
            <a:endParaRPr lang="en-US" altLang="zh-CN" sz="240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添加：</a:t>
            </a:r>
            <a:r>
              <a:rPr lang="en-US" altLang="zh-CN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append</a:t>
            </a:r>
            <a:r>
              <a:rPr lang="zh-CN" altLang="zh-CN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insert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删除：</a:t>
            </a:r>
            <a:r>
              <a:rPr lang="en-US" altLang="zh-CN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remove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查找：</a:t>
            </a:r>
            <a:r>
              <a:rPr lang="en-US" altLang="zh-CN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index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排序：</a:t>
            </a:r>
            <a:r>
              <a:rPr lang="en-US" altLang="zh-CN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sort</a:t>
            </a:r>
            <a:r>
              <a:rPr lang="zh-CN" altLang="zh-CN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reverse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复制：</a:t>
            </a:r>
            <a:r>
              <a:rPr lang="en-US" altLang="zh-CN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copy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计数：</a:t>
            </a:r>
            <a:r>
              <a:rPr lang="en-US" altLang="zh-CN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count()</a:t>
            </a:r>
            <a:endParaRPr lang="zh-CN" altLang="zh-CN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192683" y="2004841"/>
            <a:ext cx="2329484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000"/>
              <a:t>格式：</a:t>
            </a:r>
            <a:r>
              <a:rPr lang="zh-CN" altLang="en-US" sz="2000">
                <a:solidFill>
                  <a:srgbClr val="FF0000"/>
                </a:solidFill>
              </a:rPr>
              <a:t>对象</a:t>
            </a:r>
            <a:r>
              <a:rPr lang="en-US" altLang="zh-CN" sz="2000">
                <a:solidFill>
                  <a:srgbClr val="FF0000"/>
                </a:solidFill>
              </a:rPr>
              <a:t>.</a:t>
            </a:r>
            <a:r>
              <a:rPr lang="zh-CN" altLang="en-US" sz="2000">
                <a:solidFill>
                  <a:srgbClr val="FF0000"/>
                </a:solidFill>
              </a:rPr>
              <a:t>方法名</a:t>
            </a:r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289363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83733"/>
            <a:ext cx="8727058" cy="1323038"/>
          </a:xfrm>
        </p:spPr>
        <p:txBody>
          <a:bodyPr>
            <a:normAutofit fontScale="92500" lnSpcReduction="10000"/>
          </a:bodyPr>
          <a:lstStyle/>
          <a:p>
            <a:pPr fontAlgn="auto">
              <a:spcBef>
                <a:spcPts val="0"/>
              </a:spcBef>
            </a:pPr>
            <a:r>
              <a:rPr lang="zh-CN" altLang="en-US" dirty="0"/>
              <a:t>append()、insert()、</a:t>
            </a:r>
            <a:r>
              <a:rPr lang="en-US" altLang="zh-CN" dirty="0"/>
              <a:t>+=</a:t>
            </a:r>
            <a:r>
              <a:rPr lang="zh-CN" altLang="en-US" dirty="0"/>
              <a:t>、</a:t>
            </a:r>
            <a:r>
              <a:rPr lang="en-US" altLang="zh-CN" dirty="0"/>
              <a:t>extend()</a:t>
            </a:r>
            <a:r>
              <a:rPr lang="zh-CN" altLang="en-US" dirty="0"/>
              <a:t>都属于</a:t>
            </a:r>
            <a:r>
              <a:rPr lang="zh-CN" altLang="en-US" dirty="0">
                <a:solidFill>
                  <a:srgbClr val="FF0000"/>
                </a:solidFill>
              </a:rPr>
              <a:t>原地操作</a:t>
            </a:r>
            <a:r>
              <a:rPr lang="zh-CN" altLang="en-US" dirty="0"/>
              <a:t>，不会创建新的列表</a:t>
            </a:r>
            <a:endParaRPr lang="en-US" altLang="zh-CN" dirty="0"/>
          </a:p>
          <a:p>
            <a:pPr lvl="1" fontAlgn="auto">
              <a:spcBef>
                <a:spcPts val="0"/>
              </a:spcBef>
            </a:pPr>
            <a:r>
              <a:rPr lang="zh-CN" altLang="en-US" dirty="0"/>
              <a:t>append()用于向列表尾部追加一个元素，</a:t>
            </a:r>
            <a:endParaRPr lang="en-US" altLang="zh-CN" dirty="0"/>
          </a:p>
          <a:p>
            <a:pPr lvl="1" fontAlgn="auto">
              <a:spcBef>
                <a:spcPts val="0"/>
              </a:spcBef>
            </a:pPr>
            <a:r>
              <a:rPr lang="zh-CN" altLang="en-US" dirty="0"/>
              <a:t>insert()用于向列表任意指定位置插入一个元素，</a:t>
            </a:r>
            <a:endParaRPr lang="en-US" altLang="zh-CN" dirty="0"/>
          </a:p>
          <a:p>
            <a:pPr lvl="1" fontAlgn="auto">
              <a:spcBef>
                <a:spcPts val="0"/>
              </a:spcBef>
            </a:pPr>
            <a:r>
              <a:rPr lang="en-US" altLang="zh-CN" dirty="0"/>
              <a:t>+=</a:t>
            </a:r>
            <a:r>
              <a:rPr lang="zh-CN" altLang="en-US" dirty="0"/>
              <a:t>可用于将另一个列表中的所有元素追加至当前列表的尾部。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列表操作：添加</a:t>
            </a:r>
          </a:p>
        </p:txBody>
      </p:sp>
      <p:sp>
        <p:nvSpPr>
          <p:cNvPr id="4" name="矩形 3"/>
          <p:cNvSpPr/>
          <p:nvPr/>
        </p:nvSpPr>
        <p:spPr>
          <a:xfrm>
            <a:off x="439947" y="2533935"/>
            <a:ext cx="8410438" cy="4136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&gt;&gt;&gt; x=[</a:t>
            </a:r>
            <a:r>
              <a:rPr lang="en-US" altLang="zh-CN" dirty="0">
                <a:solidFill>
                  <a:srgbClr val="0000DD"/>
                </a:solidFill>
                <a:latin typeface="Consolas" panose="020B0609020204030204" pitchFamily="49" charset="0"/>
              </a:rPr>
              <a:t>1,2,3]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CN" dirty="0">
                <a:solidFill>
                  <a:srgbClr val="007020"/>
                </a:solidFill>
                <a:latin typeface="Consolas" panose="020B0609020204030204" pitchFamily="49" charset="0"/>
              </a:rPr>
              <a:t>id(x)                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查看对象的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id</a:t>
            </a:r>
          </a:p>
          <a:p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51010376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solidFill>
                  <a:srgbClr val="333333"/>
                </a:solidFill>
                <a:latin typeface="Consolas" panose="020B0609020204030204" pitchFamily="49" charset="0"/>
              </a:rPr>
              <a:t>x.append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DD"/>
                </a:solidFill>
                <a:latin typeface="Consolas" panose="020B0609020204030204" pitchFamily="49" charset="0"/>
              </a:rPr>
              <a:t>4)          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#在尾部追加元素，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x==[1, 2, 3, 4]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solidFill>
                  <a:srgbClr val="333333"/>
                </a:solidFill>
                <a:latin typeface="Consolas" panose="020B0609020204030204" pitchFamily="49" charset="0"/>
              </a:rPr>
              <a:t>x.insert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DD"/>
                </a:solidFill>
                <a:latin typeface="Consolas" panose="020B0609020204030204" pitchFamily="49" charset="0"/>
              </a:rPr>
              <a:t>0,80)       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#在指定位置插入元素，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x==[80, 1, 2, 3, 4]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&gt;&gt;&gt; x+=[</a:t>
            </a:r>
            <a:r>
              <a:rPr lang="en-US" altLang="zh-CN" dirty="0">
                <a:solidFill>
                  <a:srgbClr val="0000DD"/>
                </a:solidFill>
                <a:latin typeface="Consolas" panose="020B0609020204030204" pitchFamily="49" charset="0"/>
              </a:rPr>
              <a:t>5,6,7]           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#在尾部追加多个元素，功能和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extend()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函数相同</a:t>
            </a:r>
            <a:endParaRPr lang="en-US" altLang="zh-CN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&gt;&gt;&gt; x</a:t>
            </a:r>
          </a:p>
          <a:p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[80, 1, 2, 3, 4, 5, 6, 7]</a:t>
            </a: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CN" dirty="0">
                <a:solidFill>
                  <a:srgbClr val="007020"/>
                </a:solidFill>
                <a:latin typeface="Consolas" panose="020B0609020204030204" pitchFamily="49" charset="0"/>
              </a:rPr>
              <a:t>id(x)</a:t>
            </a:r>
          </a:p>
          <a:p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51010376</a:t>
            </a:r>
          </a:p>
          <a:p>
            <a:endParaRPr lang="en-US" altLang="zh-CN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solidFill>
                  <a:srgbClr val="333333"/>
                </a:solidFill>
                <a:latin typeface="Consolas" panose="020B0609020204030204" pitchFamily="49" charset="0"/>
              </a:rPr>
              <a:t>x.extend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([77,88,99]) 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#在尾部追加多个元素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,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函数参数是可迭代对象，</a:t>
            </a:r>
            <a:endParaRPr lang="en-US" altLang="zh-CN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CN">
                <a:solidFill>
                  <a:srgbClr val="333333"/>
                </a:solidFill>
                <a:latin typeface="Consolas" panose="020B0609020204030204" pitchFamily="49" charset="0"/>
              </a:rPr>
              <a:t>x                    </a:t>
            </a:r>
            <a:r>
              <a:rPr lang="en-US" altLang="zh-CN">
                <a:solidFill>
                  <a:srgbClr val="00B0F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可以是列表、元组、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range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迭代器、字符串等。</a:t>
            </a:r>
            <a:endParaRPr lang="en-US" altLang="zh-CN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[80, 1, 2, 3, 4, 5, 6, 7, 77, 88, 99]</a:t>
            </a:r>
          </a:p>
        </p:txBody>
      </p:sp>
    </p:spTree>
    <p:extLst>
      <p:ext uri="{BB962C8B-B14F-4D97-AF65-F5344CB8AC3E}">
        <p14:creationId xmlns:p14="http://schemas.microsoft.com/office/powerpoint/2010/main" val="1454215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61487" y="1201784"/>
            <a:ext cx="8458200" cy="1772421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例题：产生一列表，列表元素是斐波那契数</a:t>
            </a:r>
            <a:r>
              <a:rPr lang="zh-CN" altLang="en-US" dirty="0"/>
              <a:t>列的前</a:t>
            </a:r>
            <a:r>
              <a:rPr lang="en-US" altLang="zh-CN"/>
              <a:t>20</a:t>
            </a:r>
            <a:r>
              <a:rPr lang="zh-CN" altLang="en-US"/>
              <a:t>个数，然后输出列表</a:t>
            </a:r>
            <a:endParaRPr lang="en-US" altLang="zh-CN" dirty="0"/>
          </a:p>
          <a:p>
            <a:r>
              <a:rPr lang="zh-CN" altLang="en-US" dirty="0"/>
              <a:t>分析：</a:t>
            </a:r>
            <a:endParaRPr lang="en-US" altLang="zh-CN" dirty="0"/>
          </a:p>
          <a:p>
            <a:pPr lvl="1"/>
            <a:r>
              <a:rPr lang="zh-CN" altLang="en-US" dirty="0"/>
              <a:t>斐波那契数列从</a:t>
            </a:r>
            <a:r>
              <a:rPr lang="en-US" altLang="zh-CN" dirty="0"/>
              <a:t>1,1</a:t>
            </a:r>
            <a:r>
              <a:rPr lang="zh-CN" altLang="en-US" dirty="0"/>
              <a:t>开始，通项公式</a:t>
            </a:r>
            <a:r>
              <a:rPr lang="zh-CN" altLang="en-US"/>
              <a:t>为 </a:t>
            </a:r>
            <a:r>
              <a:rPr lang="en-US" altLang="zh-CN"/>
              <a:t>F</a:t>
            </a:r>
            <a:r>
              <a:rPr lang="en-US" altLang="zh-CN" baseline="-25000"/>
              <a:t>n</a:t>
            </a:r>
            <a:r>
              <a:rPr lang="en-US" altLang="zh-CN"/>
              <a:t>=F</a:t>
            </a:r>
            <a:r>
              <a:rPr lang="en-US" altLang="zh-CN" baseline="-25000"/>
              <a:t>n-1</a:t>
            </a:r>
            <a:r>
              <a:rPr lang="en-US" altLang="zh-CN"/>
              <a:t>+F</a:t>
            </a:r>
            <a:r>
              <a:rPr lang="en-US" altLang="zh-CN" baseline="-25000"/>
              <a:t>n-2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1010652" y="3345671"/>
            <a:ext cx="4422809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fib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range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20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lvl="1">
              <a:lnSpc>
                <a:spcPct val="150000"/>
              </a:lnSpc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fib</a:t>
            </a:r>
            <a:r>
              <a:rPr lang="en-US" altLang="zh-CN" b="1" dirty="0" err="1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append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(fib[i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fib[i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fib,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sep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','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矩形 4"/>
          <p:cNvSpPr/>
          <p:nvPr/>
        </p:nvSpPr>
        <p:spPr>
          <a:xfrm>
            <a:off x="2920927" y="20837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例题</a:t>
            </a:r>
          </a:p>
        </p:txBody>
      </p:sp>
      <p:sp>
        <p:nvSpPr>
          <p:cNvPr id="7" name="矩形 6"/>
          <p:cNvSpPr/>
          <p:nvPr/>
        </p:nvSpPr>
        <p:spPr>
          <a:xfrm>
            <a:off x="2645804" y="6020567"/>
            <a:ext cx="2704699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400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解包到函数参数</a:t>
            </a:r>
            <a:endParaRPr lang="zh-CN" altLang="en-US" sz="2400" b="0" cap="none" spc="0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8" name="直接箭头连接符 7"/>
          <p:cNvCxnSpPr>
            <a:cxnSpLocks/>
          </p:cNvCxnSpPr>
          <p:nvPr/>
        </p:nvCxnSpPr>
        <p:spPr bwMode="auto">
          <a:xfrm flipH="1" flipV="1">
            <a:off x="1982804" y="5326988"/>
            <a:ext cx="938123" cy="75503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1073217" y="4983512"/>
            <a:ext cx="2704699" cy="584703"/>
          </a:xfrm>
          <a:prstGeom prst="rect">
            <a:avLst/>
          </a:prstGeom>
          <a:solidFill>
            <a:srgbClr val="FFF2CC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A260A5-B218-4DBD-8EE0-D176355B9A16}"/>
              </a:ext>
            </a:extLst>
          </p:cNvPr>
          <p:cNvSpPr txBox="1"/>
          <p:nvPr/>
        </p:nvSpPr>
        <p:spPr>
          <a:xfrm>
            <a:off x="5350503" y="5004077"/>
            <a:ext cx="25378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</a:t>
            </a:r>
            <a:r>
              <a:rPr lang="en-US" altLang="zh-CN" dirty="0"/>
              <a:t>fib=[1,1,2,3,5,8]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那么解包为</a:t>
            </a:r>
            <a:endParaRPr lang="en-US" altLang="zh-CN" dirty="0"/>
          </a:p>
          <a:p>
            <a:r>
              <a:rPr lang="en-US" altLang="zh-CN" dirty="0"/>
              <a:t>print(1,1,2,3,5,8, </a:t>
            </a:r>
            <a:r>
              <a:rPr lang="en-US" altLang="zh-CN" dirty="0" err="1"/>
              <a:t>sep</a:t>
            </a:r>
            <a:r>
              <a:rPr lang="en-US" altLang="zh-CN" dirty="0"/>
              <a:t>=‘,’)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2330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8793" y="983411"/>
            <a:ext cx="8626416" cy="2027208"/>
          </a:xfrm>
        </p:spPr>
        <p:txBody>
          <a:bodyPr>
            <a:normAutofit fontScale="97500"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b="0" dirty="0"/>
              <a:t>pop()、remove()、</a:t>
            </a:r>
            <a:r>
              <a:rPr lang="en-US" altLang="zh-CN" b="0"/>
              <a:t>clear()</a:t>
            </a:r>
            <a:endParaRPr lang="en-US" altLang="zh-CN" dirty="0">
              <a:solidFill>
                <a:srgbClr val="0070C0"/>
              </a:solidFill>
            </a:endParaRPr>
          </a:p>
          <a:p>
            <a:pPr lvl="1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/>
              <a:t>pop()用于删除并返回指定位置（默认是最后一个）上的元素；</a:t>
            </a:r>
            <a:endParaRPr lang="en-US" altLang="zh-CN" sz="1600" dirty="0"/>
          </a:p>
          <a:p>
            <a:pPr lvl="1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/>
              <a:t>remove()用于删除列表中</a:t>
            </a:r>
            <a:r>
              <a:rPr lang="zh-CN" altLang="en-US" sz="1600" dirty="0">
                <a:solidFill>
                  <a:srgbClr val="FF0000"/>
                </a:solidFill>
              </a:rPr>
              <a:t>第一个</a:t>
            </a:r>
            <a:r>
              <a:rPr lang="zh-CN" altLang="en-US" sz="1600" dirty="0"/>
              <a:t>值与指定值相等的元素；</a:t>
            </a:r>
            <a:endParaRPr lang="en-US" altLang="zh-CN" sz="1600" dirty="0"/>
          </a:p>
          <a:p>
            <a:pPr lvl="1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/>
              <a:t>clear()用于清空列表中的所有元素。这3个方法也属于</a:t>
            </a:r>
            <a:r>
              <a:rPr lang="zh-CN" altLang="en-US" sz="1600" dirty="0">
                <a:solidFill>
                  <a:srgbClr val="FF0000"/>
                </a:solidFill>
              </a:rPr>
              <a:t>原地操作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lvl="1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/>
              <a:t>还可以使用del命令删除列表中指定位置的元素，同样也属于原地操作。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列表操作：</a:t>
            </a:r>
            <a:r>
              <a:rPr lang="zh-CN" altLang="en-US" dirty="0">
                <a:sym typeface="+mn-ea"/>
              </a:rPr>
              <a:t>删除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58793" y="3010619"/>
            <a:ext cx="8826484" cy="373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&gt;&gt;&gt; x = [</a:t>
            </a:r>
            <a:r>
              <a:rPr lang="en-US" altLang="zh-CN" dirty="0">
                <a:solidFill>
                  <a:srgbClr val="0000DD"/>
                </a:solidFill>
                <a:latin typeface="Consolas" panose="020B0609020204030204" pitchFamily="49" charset="0"/>
              </a:rPr>
              <a:t>1, 2, 3, 4, 5, 6, 7]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solidFill>
                  <a:srgbClr val="333333"/>
                </a:solidFill>
                <a:latin typeface="Consolas" panose="020B0609020204030204" pitchFamily="49" charset="0"/>
              </a:rPr>
              <a:t>x.pop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()         </a:t>
            </a:r>
            <a:r>
              <a:rPr lang="zh-CN" alt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#弹出并返回尾部元素，</a:t>
            </a:r>
            <a:r>
              <a:rPr lang="en-US" altLang="zh-CN" sz="2000" dirty="0">
                <a:solidFill>
                  <a:srgbClr val="00B0F0"/>
                </a:solidFill>
                <a:latin typeface="Consolas" panose="020B0609020204030204" pitchFamily="49" charset="0"/>
              </a:rPr>
              <a:t>x==[1, 2, 3, 4, 5, 6]</a:t>
            </a:r>
          </a:p>
          <a:p>
            <a:pPr>
              <a:spcAft>
                <a:spcPts val="600"/>
              </a:spcAft>
            </a:pP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7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solidFill>
                  <a:srgbClr val="333333"/>
                </a:solidFill>
                <a:latin typeface="Consolas" panose="020B0609020204030204" pitchFamily="49" charset="0"/>
              </a:rPr>
              <a:t>x.pop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DD"/>
                </a:solidFill>
                <a:latin typeface="Consolas" panose="020B0609020204030204" pitchFamily="49" charset="0"/>
              </a:rPr>
              <a:t>0)        </a:t>
            </a:r>
            <a:r>
              <a:rPr lang="zh-CN" alt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#弹出并返回指定位置的元素，</a:t>
            </a:r>
            <a:r>
              <a:rPr lang="en-US" altLang="zh-CN" sz="2000" dirty="0">
                <a:solidFill>
                  <a:srgbClr val="00B0F0"/>
                </a:solidFill>
                <a:latin typeface="Consolas" panose="020B0609020204030204" pitchFamily="49" charset="0"/>
              </a:rPr>
              <a:t>x==[2, 3, 4, 5, 6]</a:t>
            </a:r>
          </a:p>
          <a:p>
            <a:pPr>
              <a:spcAft>
                <a:spcPts val="600"/>
              </a:spcAft>
            </a:pP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1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&gt;&gt;&gt; x=[</a:t>
            </a:r>
            <a:r>
              <a:rPr lang="en-US" altLang="zh-CN" dirty="0">
                <a:solidFill>
                  <a:srgbClr val="0000DD"/>
                </a:solidFill>
                <a:latin typeface="Consolas" panose="020B0609020204030204" pitchFamily="49" charset="0"/>
              </a:rPr>
              <a:t>1,2,1,1,2]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solidFill>
                  <a:srgbClr val="333333"/>
                </a:solidFill>
                <a:latin typeface="Consolas" panose="020B0609020204030204" pitchFamily="49" charset="0"/>
              </a:rPr>
              <a:t>x.remove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DD"/>
                </a:solidFill>
                <a:latin typeface="Consolas" panose="020B0609020204030204" pitchFamily="49" charset="0"/>
              </a:rPr>
              <a:t>2)     </a:t>
            </a:r>
            <a:r>
              <a:rPr lang="en-US" altLang="zh-CN" sz="2000" dirty="0">
                <a:solidFill>
                  <a:srgbClr val="00B0F0"/>
                </a:solidFill>
                <a:latin typeface="Consolas" panose="020B0609020204030204" pitchFamily="49" charset="0"/>
              </a:rPr>
              <a:t>#</a:t>
            </a:r>
            <a:r>
              <a:rPr lang="zh-CN" alt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删除首个值为</a:t>
            </a:r>
            <a:r>
              <a:rPr lang="en-US" altLang="zh-CN" sz="2000" dirty="0">
                <a:solidFill>
                  <a:srgbClr val="00B0F0"/>
                </a:solidFill>
                <a:latin typeface="Consolas" panose="020B0609020204030204" pitchFamily="49" charset="0"/>
              </a:rPr>
              <a:t>2</a:t>
            </a:r>
            <a:r>
              <a:rPr lang="zh-CN" alt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的元素，</a:t>
            </a:r>
            <a:r>
              <a:rPr lang="en-US" altLang="zh-CN" sz="2000" dirty="0">
                <a:solidFill>
                  <a:srgbClr val="00B0F0"/>
                </a:solidFill>
                <a:latin typeface="Consolas" panose="020B0609020204030204" pitchFamily="49" charset="0"/>
              </a:rPr>
              <a:t> x==[1, 1, 1, 2]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&gt;&gt;&gt; x</a:t>
            </a:r>
          </a:p>
          <a:p>
            <a:pPr>
              <a:spcAft>
                <a:spcPts val="600"/>
              </a:spcAft>
            </a:pP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[1, 1, 1, 2]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solidFill>
                  <a:srgbClr val="333333"/>
                </a:solidFill>
                <a:latin typeface="Consolas" panose="020B0609020204030204" pitchFamily="49" charset="0"/>
              </a:rPr>
              <a:t>x.clear</a:t>
            </a:r>
            <a:r>
              <a:rPr lang="en-US" altLang="zh-CN" dirty="0">
                <a:solidFill>
                  <a:srgbClr val="333333"/>
                </a:solidFill>
                <a:latin typeface="Consolas" panose="020B0609020204030204" pitchFamily="49" charset="0"/>
              </a:rPr>
              <a:t>()       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#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把列表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的元素清空，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 x==[]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，但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x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的地址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pitchFamily="49" charset="0"/>
              </a:rPr>
              <a:t>id(x)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不变</a:t>
            </a:r>
            <a:endParaRPr lang="en-US" altLang="zh-CN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596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47048" y="944167"/>
            <a:ext cx="8458200" cy="178359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/>
              <a:t>例题：对输入的整数数列进行从小到大的排序，禁止使用</a:t>
            </a:r>
            <a:r>
              <a:rPr lang="en-US" altLang="zh-CN"/>
              <a:t>sort</a:t>
            </a:r>
            <a:r>
              <a:rPr lang="zh-CN" altLang="en-US"/>
              <a:t>或者</a:t>
            </a:r>
            <a:r>
              <a:rPr lang="en-US" altLang="zh-CN"/>
              <a:t>sorted</a:t>
            </a:r>
            <a:r>
              <a:rPr lang="zh-CN" altLang="en-US"/>
              <a:t>函数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将所有的数保存到列表</a:t>
            </a:r>
            <a:r>
              <a:rPr lang="en-US" altLang="zh-CN" dirty="0"/>
              <a:t>ns</a:t>
            </a:r>
            <a:r>
              <a:rPr lang="zh-CN" altLang="en-US" dirty="0"/>
              <a:t>中，并创建空列表</a:t>
            </a:r>
            <a:r>
              <a:rPr lang="en-US" altLang="zh-CN" dirty="0" err="1"/>
              <a:t>rs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找到</a:t>
            </a:r>
            <a:r>
              <a:rPr lang="en-US" altLang="zh-CN" dirty="0"/>
              <a:t>ns</a:t>
            </a:r>
            <a:r>
              <a:rPr lang="zh-CN" altLang="en-US" dirty="0"/>
              <a:t>中最小的数加到</a:t>
            </a:r>
            <a:r>
              <a:rPr lang="en-US" altLang="zh-CN" dirty="0" err="1"/>
              <a:t>rs</a:t>
            </a:r>
            <a:r>
              <a:rPr lang="zh-CN" altLang="en-US" dirty="0"/>
              <a:t>结尾，从</a:t>
            </a:r>
            <a:r>
              <a:rPr lang="en-US" altLang="zh-CN" dirty="0"/>
              <a:t>ns</a:t>
            </a:r>
            <a:r>
              <a:rPr lang="zh-CN" altLang="en-US" dirty="0"/>
              <a:t>中删除这个最小的数，重复这个过程知道</a:t>
            </a:r>
            <a:r>
              <a:rPr lang="en-US" altLang="zh-CN" dirty="0"/>
              <a:t>ns</a:t>
            </a:r>
            <a:r>
              <a:rPr lang="zh-CN" altLang="en-US"/>
              <a:t>为空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683569" y="2727765"/>
            <a:ext cx="4572000" cy="33718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alist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split()</a:t>
            </a:r>
          </a:p>
          <a:p>
            <a:pPr>
              <a:lnSpc>
                <a:spcPct val="150000"/>
              </a:lnSpc>
            </a:pPr>
            <a:r>
              <a:rPr lang="nn-NO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ns</a:t>
            </a:r>
            <a:r>
              <a:rPr lang="nn-NO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nn-NO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nn-NO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int</a:t>
            </a:r>
            <a:r>
              <a:rPr lang="nn-NO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(i) </a:t>
            </a:r>
            <a:r>
              <a:rPr lang="nn-NO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nn-NO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i </a:t>
            </a:r>
            <a:r>
              <a:rPr lang="nn-NO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</a:t>
            </a:r>
            <a:r>
              <a:rPr lang="nn-NO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alist]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rs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[]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while </a:t>
            </a:r>
            <a:r>
              <a:rPr lang="en-US" altLang="zh-CN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(ns)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min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(ns)</a:t>
            </a:r>
          </a:p>
          <a:p>
            <a:pPr lvl="1">
              <a:lnSpc>
                <a:spcPct val="150000"/>
              </a:lnSpc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ns</a:t>
            </a:r>
            <a:r>
              <a:rPr lang="en-US" altLang="zh-CN" b="1" dirty="0" err="1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remove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(n)</a:t>
            </a:r>
          </a:p>
          <a:p>
            <a:pPr lvl="1">
              <a:lnSpc>
                <a:spcPct val="150000"/>
              </a:lnSpc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rs</a:t>
            </a:r>
            <a:r>
              <a:rPr lang="en-US" altLang="zh-CN" b="1" dirty="0" err="1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append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(n)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矩形 4"/>
          <p:cNvSpPr/>
          <p:nvPr/>
        </p:nvSpPr>
        <p:spPr>
          <a:xfrm>
            <a:off x="2920927" y="20837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例题</a:t>
            </a:r>
          </a:p>
        </p:txBody>
      </p:sp>
    </p:spTree>
    <p:extLst>
      <p:ext uri="{BB962C8B-B14F-4D97-AF65-F5344CB8AC3E}">
        <p14:creationId xmlns:p14="http://schemas.microsoft.com/office/powerpoint/2010/main" val="2233642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09842"/>
            <a:ext cx="8458200" cy="477212"/>
          </a:xfrm>
        </p:spPr>
        <p:txBody>
          <a:bodyPr/>
          <a:lstStyle/>
          <a:p>
            <a:r>
              <a:rPr lang="en-US" altLang="zh-CN" dirty="0"/>
              <a:t>copy()</a:t>
            </a:r>
            <a:r>
              <a:rPr lang="zh-CN" altLang="en-US" dirty="0"/>
              <a:t>用于</a:t>
            </a:r>
            <a:r>
              <a:rPr lang="zh-CN" altLang="en-US"/>
              <a:t>复制列表</a:t>
            </a:r>
            <a:endParaRPr lang="en-US" altLang="zh-CN"/>
          </a:p>
          <a:p>
            <a:r>
              <a:rPr lang="zh-CN" altLang="en-US"/>
              <a:t>对于</a:t>
            </a:r>
            <a:r>
              <a:rPr lang="zh-CN" altLang="en-US" dirty="0"/>
              <a:t>列表</a:t>
            </a:r>
            <a:r>
              <a:rPr lang="en-US" altLang="zh-CN" dirty="0"/>
              <a:t>a</a:t>
            </a:r>
            <a:r>
              <a:rPr lang="zh-CN" altLang="en-US" dirty="0"/>
              <a:t>，分片 </a:t>
            </a:r>
            <a:r>
              <a:rPr lang="en-US" altLang="zh-CN" dirty="0"/>
              <a:t>a[::]</a:t>
            </a:r>
            <a:r>
              <a:rPr lang="zh-CN" altLang="en-US" dirty="0"/>
              <a:t>同样可以用于复制列表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</a:t>
            </a:r>
            <a:r>
              <a:rPr lang="zh-CN" altLang="en-US">
                <a:sym typeface="+mn-ea"/>
              </a:rPr>
              <a:t>复制</a:t>
            </a:r>
            <a:r>
              <a:rPr lang="zh-CN" altLang="en-US"/>
              <a:t>：</a:t>
            </a:r>
            <a:r>
              <a:rPr lang="en-US" altLang="zh-CN"/>
              <a:t> </a:t>
            </a:r>
            <a:r>
              <a:rPr lang="en-US" altLang="zh-CN">
                <a:solidFill>
                  <a:srgbClr val="C00000"/>
                </a:solidFill>
              </a:rPr>
              <a:t>copy() </a:t>
            </a:r>
            <a:r>
              <a:rPr lang="zh-CN" altLang="en-US"/>
              <a:t>或 </a:t>
            </a:r>
            <a:r>
              <a:rPr lang="zh-CN" altLang="en-US">
                <a:solidFill>
                  <a:srgbClr val="C00000"/>
                </a:solidFill>
              </a:rPr>
              <a:t>分片 </a:t>
            </a:r>
            <a:r>
              <a:rPr lang="en-US" altLang="zh-CN">
                <a:solidFill>
                  <a:srgbClr val="C00000"/>
                </a:solidFill>
              </a:rPr>
              <a:t>a[::]</a:t>
            </a:r>
            <a:r>
              <a:rPr lang="zh-CN" altLang="en-US">
                <a:solidFill>
                  <a:srgbClr val="C00000"/>
                </a:solidFill>
              </a:rPr>
              <a:t>赋值，</a:t>
            </a:r>
            <a:r>
              <a:rPr lang="zh-CN" altLang="en-US"/>
              <a:t>产生</a:t>
            </a:r>
            <a:r>
              <a:rPr lang="zh-CN" altLang="en-US">
                <a:solidFill>
                  <a:srgbClr val="C00000"/>
                </a:solidFill>
              </a:rPr>
              <a:t>新列表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4184" y="1759610"/>
            <a:ext cx="8079431" cy="4617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</a:pPr>
            <a:r>
              <a:rPr lang="pt-BR" altLang="zh-CN" b="1" dirty="0">
                <a:latin typeface="Consolas" panose="020B0609020204030204" pitchFamily="49" charset="0"/>
              </a:rPr>
              <a:t>&gt;&gt;&gt; a = [1,2,3]</a:t>
            </a:r>
          </a:p>
          <a:p>
            <a:pPr fontAlgn="base">
              <a:lnSpc>
                <a:spcPts val="2400"/>
              </a:lnSpc>
              <a:spcBef>
                <a:spcPct val="20000"/>
              </a:spcBef>
              <a:spcAft>
                <a:spcPts val="600"/>
              </a:spcAft>
              <a:buClr>
                <a:schemeClr val="hlink"/>
              </a:buClr>
            </a:pPr>
            <a:r>
              <a:rPr lang="pt-BR" altLang="zh-CN" b="1" dirty="0">
                <a:latin typeface="Consolas" panose="020B0609020204030204" pitchFamily="49" charset="0"/>
              </a:rPr>
              <a:t>&gt;&gt;&gt; c = a.copy()   </a:t>
            </a:r>
            <a:r>
              <a:rPr lang="en-US" altLang="zh-CN" b="1" dirty="0">
                <a:solidFill>
                  <a:srgbClr val="00B0F0"/>
                </a:solidFill>
                <a:latin typeface="Consolas" panose="020B0609020204030204" pitchFamily="49" charset="0"/>
                <a:ea typeface="微软雅黑" pitchFamily="34" charset="-122"/>
              </a:rPr>
              <a:t># c</a:t>
            </a:r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  <a:ea typeface="微软雅黑" pitchFamily="34" charset="-122"/>
              </a:rPr>
              <a:t>是一个新列表</a:t>
            </a:r>
            <a:r>
              <a:rPr lang="pt-BR" altLang="zh-CN" b="1" dirty="0">
                <a:solidFill>
                  <a:srgbClr val="00B0F0"/>
                </a:solidFill>
                <a:latin typeface="Consolas" panose="020B0609020204030204" pitchFamily="49" charset="0"/>
                <a:ea typeface="微软雅黑" pitchFamily="34" charset="-122"/>
              </a:rPr>
              <a:t> </a:t>
            </a:r>
          </a:p>
          <a:p>
            <a:pPr>
              <a:lnSpc>
                <a:spcPts val="2400"/>
              </a:lnSpc>
              <a:spcAft>
                <a:spcPts val="600"/>
              </a:spcAft>
            </a:pPr>
            <a:r>
              <a:rPr lang="en-US" altLang="zh-CN" b="1" dirty="0">
                <a:latin typeface="Consolas" panose="020B0609020204030204" pitchFamily="49" charset="0"/>
              </a:rPr>
              <a:t>&gt;&gt;&gt; print(id(a), id(c))</a:t>
            </a:r>
          </a:p>
          <a:p>
            <a:pPr>
              <a:lnSpc>
                <a:spcPts val="2400"/>
              </a:lnSpc>
              <a:spcAft>
                <a:spcPts val="600"/>
              </a:spcAft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</a:rPr>
              <a:t>2880792945544 2880800139592</a:t>
            </a:r>
          </a:p>
          <a:p>
            <a:pPr fontAlgn="base">
              <a:lnSpc>
                <a:spcPts val="2400"/>
              </a:lnSpc>
              <a:spcBef>
                <a:spcPct val="20000"/>
              </a:spcBef>
              <a:spcAft>
                <a:spcPts val="600"/>
              </a:spcAft>
              <a:buClr>
                <a:schemeClr val="hlink"/>
              </a:buClr>
            </a:pPr>
            <a:r>
              <a:rPr lang="pt-BR" altLang="zh-CN" b="1" dirty="0">
                <a:latin typeface="Consolas" panose="020B0609020204030204" pitchFamily="49" charset="0"/>
              </a:rPr>
              <a:t>&gt;&gt;&gt; print(c)</a:t>
            </a:r>
            <a:endParaRPr lang="pt-BR" altLang="zh-CN" b="1" dirty="0">
              <a:solidFill>
                <a:srgbClr val="00B0F0"/>
              </a:solidFill>
              <a:latin typeface="Consolas" panose="020B0609020204030204" pitchFamily="49" charset="0"/>
              <a:ea typeface="微软雅黑" pitchFamily="34" charset="-122"/>
            </a:endParaRPr>
          </a:p>
          <a:p>
            <a:pPr fontAlgn="base">
              <a:lnSpc>
                <a:spcPts val="2400"/>
              </a:lnSpc>
              <a:spcBef>
                <a:spcPct val="20000"/>
              </a:spcBef>
              <a:spcAft>
                <a:spcPts val="600"/>
              </a:spcAft>
              <a:buClr>
                <a:schemeClr val="hlink"/>
              </a:buClr>
            </a:pPr>
            <a:r>
              <a:rPr lang="pt-BR" altLang="zh-CN" b="1" dirty="0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</a:rPr>
              <a:t>[1, 2, 3]</a:t>
            </a:r>
          </a:p>
          <a:p>
            <a:pPr fontAlgn="base">
              <a:lnSpc>
                <a:spcPts val="2400"/>
              </a:lnSpc>
              <a:spcBef>
                <a:spcPct val="20000"/>
              </a:spcBef>
              <a:spcAft>
                <a:spcPts val="600"/>
              </a:spcAft>
              <a:buClr>
                <a:schemeClr val="hlink"/>
              </a:buClr>
            </a:pPr>
            <a:endParaRPr lang="pt-BR" altLang="zh-CN" b="1" dirty="0">
              <a:latin typeface="Consolas" panose="020B0609020204030204" pitchFamily="49" charset="0"/>
            </a:endParaRPr>
          </a:p>
          <a:p>
            <a:pPr fontAlgn="base">
              <a:lnSpc>
                <a:spcPts val="2400"/>
              </a:lnSpc>
              <a:spcBef>
                <a:spcPct val="20000"/>
              </a:spcBef>
              <a:spcAft>
                <a:spcPts val="600"/>
              </a:spcAft>
              <a:buClr>
                <a:schemeClr val="hlink"/>
              </a:buClr>
            </a:pPr>
            <a:r>
              <a:rPr lang="pt-BR" altLang="zh-CN" b="1" dirty="0">
                <a:latin typeface="Consolas" panose="020B0609020204030204" pitchFamily="49" charset="0"/>
              </a:rPr>
              <a:t>&gt;&gt;&gt; d = a[:]       </a:t>
            </a:r>
            <a:r>
              <a:rPr lang="pt-BR" altLang="zh-CN" b="1" dirty="0">
                <a:solidFill>
                  <a:srgbClr val="00B0F0"/>
                </a:solidFill>
                <a:latin typeface="Consolas" panose="020B0609020204030204" pitchFamily="49" charset="0"/>
                <a:ea typeface="微软雅黑" pitchFamily="34" charset="-122"/>
              </a:rPr>
              <a:t># a[:]</a:t>
            </a:r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  <a:ea typeface="微软雅黑" pitchFamily="34" charset="-122"/>
              </a:rPr>
              <a:t>等价于</a:t>
            </a:r>
            <a:r>
              <a:rPr lang="en-US" altLang="zh-CN" b="1" dirty="0" err="1">
                <a:solidFill>
                  <a:srgbClr val="00B0F0"/>
                </a:solidFill>
                <a:latin typeface="Consolas" panose="020B0609020204030204" pitchFamily="49" charset="0"/>
                <a:ea typeface="微软雅黑" pitchFamily="34" charset="-122"/>
              </a:rPr>
              <a:t>a.copy</a:t>
            </a:r>
            <a:r>
              <a:rPr lang="en-US" altLang="zh-CN" b="1" dirty="0">
                <a:solidFill>
                  <a:srgbClr val="00B0F0"/>
                </a:solidFill>
                <a:latin typeface="Consolas" panose="020B0609020204030204" pitchFamily="49" charset="0"/>
                <a:ea typeface="微软雅黑" pitchFamily="34" charset="-122"/>
              </a:rPr>
              <a:t>()</a:t>
            </a:r>
            <a:endParaRPr lang="pt-BR" altLang="zh-CN" b="1" dirty="0">
              <a:solidFill>
                <a:srgbClr val="00B0F0"/>
              </a:solidFill>
              <a:latin typeface="Consolas" panose="020B0609020204030204" pitchFamily="49" charset="0"/>
              <a:ea typeface="微软雅黑" pitchFamily="34" charset="-122"/>
            </a:endParaRPr>
          </a:p>
          <a:p>
            <a:pPr>
              <a:lnSpc>
                <a:spcPts val="2400"/>
              </a:lnSpc>
              <a:spcAft>
                <a:spcPts val="600"/>
              </a:spcAft>
            </a:pPr>
            <a:r>
              <a:rPr lang="pt-BR" altLang="zh-CN" b="1" dirty="0">
                <a:latin typeface="Consolas" panose="020B0609020204030204" pitchFamily="49" charset="0"/>
              </a:rPr>
              <a:t>&gt;&gt;&gt; d[0] = -3</a:t>
            </a:r>
          </a:p>
          <a:p>
            <a:pPr fontAlgn="base">
              <a:lnSpc>
                <a:spcPts val="2400"/>
              </a:lnSpc>
              <a:spcBef>
                <a:spcPct val="20000"/>
              </a:spcBef>
              <a:spcAft>
                <a:spcPts val="600"/>
              </a:spcAft>
              <a:buClr>
                <a:schemeClr val="hlink"/>
              </a:buClr>
            </a:pPr>
            <a:r>
              <a:rPr lang="pt-BR" altLang="zh-CN" b="1" dirty="0">
                <a:latin typeface="Consolas" panose="020B0609020204030204" pitchFamily="49" charset="0"/>
              </a:rPr>
              <a:t>&gt;&gt;&gt; a,d            </a:t>
            </a:r>
            <a:r>
              <a:rPr lang="en-US" altLang="zh-CN" b="1" dirty="0">
                <a:solidFill>
                  <a:srgbClr val="00B0F0"/>
                </a:solidFill>
                <a:latin typeface="Consolas" panose="020B0609020204030204" pitchFamily="49" charset="0"/>
                <a:ea typeface="微软雅黑" pitchFamily="34" charset="-122"/>
              </a:rPr>
              <a:t># </a:t>
            </a:r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  <a:ea typeface="微软雅黑" pitchFamily="34" charset="-122"/>
              </a:rPr>
              <a:t>修改</a:t>
            </a:r>
            <a:r>
              <a:rPr lang="en-US" altLang="zh-CN" b="1" dirty="0">
                <a:solidFill>
                  <a:srgbClr val="00B0F0"/>
                </a:solidFill>
                <a:latin typeface="Consolas" panose="020B0609020204030204" pitchFamily="49" charset="0"/>
                <a:ea typeface="微软雅黑" pitchFamily="34" charset="-122"/>
              </a:rPr>
              <a:t>d</a:t>
            </a:r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  <a:ea typeface="微软雅黑" pitchFamily="34" charset="-122"/>
              </a:rPr>
              <a:t>对</a:t>
            </a:r>
            <a:r>
              <a:rPr lang="en-US" altLang="zh-CN" b="1" dirty="0">
                <a:solidFill>
                  <a:srgbClr val="00B0F0"/>
                </a:solidFill>
                <a:latin typeface="Consolas" panose="020B0609020204030204" pitchFamily="49" charset="0"/>
                <a:ea typeface="微软雅黑" pitchFamily="34" charset="-122"/>
              </a:rPr>
              <a:t>a</a:t>
            </a:r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  <a:ea typeface="微软雅黑" pitchFamily="34" charset="-122"/>
              </a:rPr>
              <a:t>无影响</a:t>
            </a:r>
            <a:r>
              <a:rPr lang="pt-BR" altLang="zh-CN" b="1" dirty="0">
                <a:solidFill>
                  <a:srgbClr val="00B0F0"/>
                </a:solidFill>
                <a:latin typeface="Consolas" panose="020B0609020204030204" pitchFamily="49" charset="0"/>
                <a:ea typeface="微软雅黑" pitchFamily="34" charset="-122"/>
              </a:rPr>
              <a:t> </a:t>
            </a:r>
          </a:p>
          <a:p>
            <a:pPr fontAlgn="base">
              <a:lnSpc>
                <a:spcPts val="2400"/>
              </a:lnSpc>
              <a:spcBef>
                <a:spcPct val="20000"/>
              </a:spcBef>
              <a:spcAft>
                <a:spcPts val="600"/>
              </a:spcAft>
              <a:buClr>
                <a:schemeClr val="hlink"/>
              </a:buClr>
            </a:pPr>
            <a:r>
              <a:rPr lang="pt-BR" altLang="zh-CN" b="1" dirty="0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</a:rPr>
              <a:t>([1, 2, 3], [-3, 2, 3])</a:t>
            </a:r>
          </a:p>
        </p:txBody>
      </p:sp>
      <p:cxnSp>
        <p:nvCxnSpPr>
          <p:cNvPr id="6" name="直接连接符 5"/>
          <p:cNvCxnSpPr/>
          <p:nvPr/>
        </p:nvCxnSpPr>
        <p:spPr bwMode="auto">
          <a:xfrm flipV="1">
            <a:off x="216568" y="4350619"/>
            <a:ext cx="8546432" cy="9626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5">
                <a:lumMod val="5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263846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09842"/>
            <a:ext cx="8458200" cy="477212"/>
          </a:xfrm>
        </p:spPr>
        <p:txBody>
          <a:bodyPr/>
          <a:lstStyle/>
          <a:p>
            <a:r>
              <a:rPr lang="zh-CN" altLang="en-US"/>
              <a:t>注意</a:t>
            </a:r>
            <a:r>
              <a:rPr lang="zh-CN" altLang="en-US" dirty="0"/>
              <a:t>：简单的赋值并不会</a:t>
            </a:r>
            <a:r>
              <a:rPr lang="zh-CN" altLang="en-US"/>
              <a:t>复制列表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绑定列表：</a:t>
            </a:r>
            <a:r>
              <a:rPr lang="en-US" altLang="zh-CN">
                <a:solidFill>
                  <a:srgbClr val="C00000"/>
                </a:solidFill>
              </a:rPr>
              <a:t>=</a:t>
            </a:r>
            <a:r>
              <a:rPr lang="en-US" altLang="zh-CN"/>
              <a:t>  </a:t>
            </a:r>
            <a:r>
              <a:rPr lang="zh-CN" altLang="en-US"/>
              <a:t> ，不是复制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94184" y="1759610"/>
            <a:ext cx="8079431" cy="4136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pt-BR" altLang="zh-CN" b="1" dirty="0">
                <a:latin typeface="Consolas" panose="020B0609020204030204" pitchFamily="49" charset="0"/>
              </a:rPr>
              <a:t>&gt;&gt;&gt; a=[1,2,3]</a:t>
            </a:r>
          </a:p>
          <a:p>
            <a:pPr>
              <a:lnSpc>
                <a:spcPct val="200000"/>
              </a:lnSpc>
            </a:pPr>
            <a:r>
              <a:rPr lang="pt-BR" altLang="zh-CN" b="1" dirty="0">
                <a:latin typeface="Consolas" panose="020B0609020204030204" pitchFamily="49" charset="0"/>
              </a:rPr>
              <a:t>&gt;&gt;&gt; b=a                      </a:t>
            </a:r>
            <a:r>
              <a:rPr lang="pt-BR" altLang="zh-CN" b="1" dirty="0">
                <a:solidFill>
                  <a:srgbClr val="00B0F0"/>
                </a:solidFill>
                <a:latin typeface="Consolas" panose="020B0609020204030204" pitchFamily="49" charset="0"/>
                <a:ea typeface="微软雅黑" pitchFamily="34" charset="-122"/>
              </a:rPr>
              <a:t># a,b</a:t>
            </a:r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  <a:ea typeface="微软雅黑" pitchFamily="34" charset="-122"/>
              </a:rPr>
              <a:t>绑定的是同一个列表</a:t>
            </a:r>
            <a:r>
              <a:rPr lang="pt-BR" altLang="zh-CN" b="1" dirty="0">
                <a:solidFill>
                  <a:srgbClr val="00B0F0"/>
                </a:solidFill>
                <a:latin typeface="Consolas" panose="020B0609020204030204" pitchFamily="49" charset="0"/>
                <a:ea typeface="微软雅黑" pitchFamily="34" charset="-122"/>
              </a:rPr>
              <a:t>  </a:t>
            </a:r>
          </a:p>
          <a:p>
            <a:pPr>
              <a:lnSpc>
                <a:spcPct val="200000"/>
              </a:lnSpc>
            </a:pPr>
            <a:r>
              <a:rPr lang="pt-BR" altLang="zh-CN" b="1" dirty="0">
                <a:latin typeface="Consolas" panose="020B0609020204030204" pitchFamily="49" charset="0"/>
              </a:rPr>
              <a:t>&gt;&gt;&gt; b[0]=-1</a:t>
            </a:r>
          </a:p>
          <a:p>
            <a:pPr fontAlgn="base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</a:pPr>
            <a:r>
              <a:rPr lang="pt-BR" altLang="zh-CN" b="1" dirty="0">
                <a:latin typeface="Consolas" panose="020B0609020204030204" pitchFamily="49" charset="0"/>
              </a:rPr>
              <a:t>&gt;&gt;&gt; print(a,b)             </a:t>
            </a:r>
            <a:r>
              <a:rPr lang="en-US" altLang="zh-CN" b="1" dirty="0">
                <a:solidFill>
                  <a:srgbClr val="00B0F0"/>
                </a:solidFill>
                <a:latin typeface="Consolas" panose="020B0609020204030204" pitchFamily="49" charset="0"/>
                <a:ea typeface="微软雅黑" pitchFamily="34" charset="-122"/>
              </a:rPr>
              <a:t># </a:t>
            </a:r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  <a:ea typeface="微软雅黑" pitchFamily="34" charset="-122"/>
              </a:rPr>
              <a:t>修改</a:t>
            </a:r>
            <a:r>
              <a:rPr lang="en-US" altLang="zh-CN" b="1" dirty="0">
                <a:solidFill>
                  <a:srgbClr val="00B0F0"/>
                </a:solidFill>
                <a:latin typeface="Consolas" panose="020B0609020204030204" pitchFamily="49" charset="0"/>
                <a:ea typeface="微软雅黑" pitchFamily="34" charset="-122"/>
              </a:rPr>
              <a:t>b[0]</a:t>
            </a:r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  <a:ea typeface="微软雅黑" pitchFamily="34" charset="-122"/>
              </a:rPr>
              <a:t>的时候，</a:t>
            </a:r>
            <a:r>
              <a:rPr lang="en-US" altLang="zh-CN" b="1" dirty="0">
                <a:solidFill>
                  <a:srgbClr val="00B0F0"/>
                </a:solidFill>
                <a:latin typeface="Consolas" panose="020B0609020204030204" pitchFamily="49" charset="0"/>
                <a:ea typeface="微软雅黑" pitchFamily="34" charset="-122"/>
              </a:rPr>
              <a:t>a[0]</a:t>
            </a:r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  <a:ea typeface="微软雅黑" pitchFamily="34" charset="-122"/>
              </a:rPr>
              <a:t>也发生改变</a:t>
            </a:r>
            <a:endParaRPr lang="pt-BR" altLang="zh-CN" b="1" dirty="0">
              <a:solidFill>
                <a:srgbClr val="00B0F0"/>
              </a:solidFill>
              <a:latin typeface="Consolas" panose="020B0609020204030204" pitchFamily="49" charset="0"/>
              <a:ea typeface="微软雅黑" pitchFamily="34" charset="-122"/>
            </a:endParaRPr>
          </a:p>
          <a:p>
            <a:pPr fontAlgn="base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</a:pPr>
            <a:r>
              <a:rPr lang="pt-BR" altLang="zh-CN" b="1" dirty="0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</a:rPr>
              <a:t>[-1, 2, 3], [-1, 2, 3]</a:t>
            </a:r>
          </a:p>
          <a:p>
            <a:pPr fontAlgn="base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</a:pPr>
            <a:r>
              <a:rPr lang="pt-BR" altLang="zh-CN" b="1" dirty="0">
                <a:latin typeface="Consolas" panose="020B0609020204030204" pitchFamily="49" charset="0"/>
              </a:rPr>
              <a:t>&gt;&gt;&gt; </a:t>
            </a:r>
            <a:r>
              <a:rPr lang="en-US" altLang="zh-CN" b="1" dirty="0">
                <a:latin typeface="Consolas" panose="020B0609020204030204" pitchFamily="49" charset="0"/>
              </a:rPr>
              <a:t>print(id(a),id(b))</a:t>
            </a: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</a:rPr>
              <a:t>2880792945544 2880792945544</a:t>
            </a:r>
          </a:p>
        </p:txBody>
      </p:sp>
    </p:spTree>
    <p:extLst>
      <p:ext uri="{BB962C8B-B14F-4D97-AF65-F5344CB8AC3E}">
        <p14:creationId xmlns:p14="http://schemas.microsoft.com/office/powerpoint/2010/main" val="1442920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212882" y="968412"/>
            <a:ext cx="3931118" cy="124247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zh-CN" altLang="en-US"/>
              <a:t>注意：</a:t>
            </a:r>
            <a:endParaRPr lang="en-US" altLang="zh-CN"/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/>
              <a:t>简单的赋值，两列表地址相同，绑定同一列表，同时变化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C00000"/>
                </a:solidFill>
              </a:rPr>
              <a:t>copy</a:t>
            </a:r>
            <a:r>
              <a:rPr lang="en-US" altLang="zh-CN"/>
              <a:t>   </a:t>
            </a:r>
            <a:r>
              <a:rPr lang="zh-CN" altLang="en-US"/>
              <a:t>与   </a:t>
            </a:r>
            <a:r>
              <a:rPr lang="en-US" altLang="zh-CN">
                <a:solidFill>
                  <a:srgbClr val="C00000"/>
                </a:solidFill>
              </a:rPr>
              <a:t>=</a:t>
            </a:r>
            <a:r>
              <a:rPr lang="en-US" altLang="zh-CN"/>
              <a:t>  </a:t>
            </a:r>
            <a:r>
              <a:rPr lang="zh-CN" altLang="en-US"/>
              <a:t> 的区别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741597" y="2730765"/>
            <a:ext cx="4655419" cy="3831818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altLang="zh-CN" b="1">
                <a:latin typeface="Consolas" panose="020B0609020204030204" pitchFamily="49" charset="0"/>
              </a:rPr>
              <a:t>&gt;&gt;&gt; a</a:t>
            </a:r>
          </a:p>
          <a:p>
            <a:pPr>
              <a:lnSpc>
                <a:spcPct val="150000"/>
              </a:lnSpc>
            </a:pPr>
            <a:r>
              <a:rPr lang="it-IT" altLang="zh-CN" b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[1, 2, 3, 5]</a:t>
            </a:r>
          </a:p>
          <a:p>
            <a:pPr>
              <a:lnSpc>
                <a:spcPct val="150000"/>
              </a:lnSpc>
            </a:pPr>
            <a:r>
              <a:rPr lang="it-IT" altLang="zh-CN" b="1">
                <a:latin typeface="Consolas" panose="020B0609020204030204" pitchFamily="49" charset="0"/>
              </a:rPr>
              <a:t>&gt;&gt;&gt; b=a</a:t>
            </a:r>
          </a:p>
          <a:p>
            <a:pPr>
              <a:lnSpc>
                <a:spcPct val="150000"/>
              </a:lnSpc>
            </a:pPr>
            <a:r>
              <a:rPr lang="it-IT" altLang="zh-CN" b="1">
                <a:latin typeface="Consolas" panose="020B0609020204030204" pitchFamily="49" charset="0"/>
              </a:rPr>
              <a:t>&gt;&gt;&gt; c=a.copy()</a:t>
            </a:r>
          </a:p>
          <a:p>
            <a:pPr>
              <a:lnSpc>
                <a:spcPct val="150000"/>
              </a:lnSpc>
            </a:pPr>
            <a:r>
              <a:rPr lang="it-IT" altLang="zh-CN" b="1">
                <a:latin typeface="Consolas" panose="020B0609020204030204" pitchFamily="49" charset="0"/>
                <a:ea typeface="微软雅黑" pitchFamily="34" charset="-122"/>
              </a:rPr>
              <a:t>&gt;&gt;&gt; a.remove(5)</a:t>
            </a:r>
          </a:p>
          <a:p>
            <a:pPr>
              <a:lnSpc>
                <a:spcPct val="150000"/>
              </a:lnSpc>
            </a:pPr>
            <a:r>
              <a:rPr lang="it-IT" altLang="zh-CN" b="1">
                <a:latin typeface="Consolas" panose="020B0609020204030204" pitchFamily="49" charset="0"/>
                <a:ea typeface="微软雅黑" pitchFamily="34" charset="-122"/>
              </a:rPr>
              <a:t>&gt;&gt;&gt; b</a:t>
            </a:r>
          </a:p>
          <a:p>
            <a:pPr>
              <a:lnSpc>
                <a:spcPct val="150000"/>
              </a:lnSpc>
            </a:pPr>
            <a:r>
              <a:rPr lang="it-IT" altLang="zh-CN" b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[1, 2, 3]</a:t>
            </a:r>
          </a:p>
          <a:p>
            <a:pPr>
              <a:lnSpc>
                <a:spcPct val="150000"/>
              </a:lnSpc>
            </a:pPr>
            <a:r>
              <a:rPr lang="it-IT" altLang="zh-CN" b="1">
                <a:latin typeface="Consolas" panose="020B0609020204030204" pitchFamily="49" charset="0"/>
                <a:ea typeface="微软雅黑" pitchFamily="34" charset="-122"/>
              </a:rPr>
              <a:t>&gt;&gt;&gt; c</a:t>
            </a:r>
          </a:p>
          <a:p>
            <a:pPr>
              <a:lnSpc>
                <a:spcPct val="150000"/>
              </a:lnSpc>
            </a:pPr>
            <a:r>
              <a:rPr lang="it-IT" altLang="zh-CN" b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[1, 2, 3, 5]</a:t>
            </a:r>
            <a:endParaRPr lang="pt-BR" altLang="zh-CN" b="1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内容占位符 1"/>
          <p:cNvSpPr txBox="1">
            <a:spLocks/>
          </p:cNvSpPr>
          <p:nvPr/>
        </p:nvSpPr>
        <p:spPr bwMode="auto">
          <a:xfrm>
            <a:off x="311216" y="1048485"/>
            <a:ext cx="3931118" cy="12424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0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557199" indent="-214308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857229" indent="-171446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200121" indent="-171446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1543012" indent="-171446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kern="0"/>
              <a:t>注意：</a:t>
            </a:r>
            <a:endParaRPr lang="en-US" altLang="zh-CN" kern="0"/>
          </a:p>
          <a:p>
            <a:pPr lvl="1">
              <a:buFont typeface="Wingdings" pitchFamily="2" charset="2"/>
              <a:buChar char="Ø"/>
            </a:pPr>
            <a:r>
              <a:rPr lang="en-US" altLang="zh-CN" kern="0"/>
              <a:t>copy</a:t>
            </a:r>
            <a:r>
              <a:rPr lang="zh-CN" altLang="en-US" kern="0"/>
              <a:t>，两列表地址不同</a:t>
            </a:r>
            <a:endParaRPr lang="en-US" altLang="zh-CN" kern="0"/>
          </a:p>
          <a:p>
            <a:pPr lvl="1">
              <a:buFont typeface="Wingdings" pitchFamily="2" charset="2"/>
              <a:buChar char="Ø"/>
            </a:pPr>
            <a:r>
              <a:rPr lang="zh-CN" altLang="en-US" kern="0"/>
              <a:t>两列表独立，不相关</a:t>
            </a:r>
            <a:endParaRPr lang="zh-CN" altLang="en-US" kern="0" dirty="0"/>
          </a:p>
        </p:txBody>
      </p:sp>
      <p:sp>
        <p:nvSpPr>
          <p:cNvPr id="8" name="矩形 7"/>
          <p:cNvSpPr/>
          <p:nvPr/>
        </p:nvSpPr>
        <p:spPr>
          <a:xfrm>
            <a:off x="5146308" y="6137377"/>
            <a:ext cx="18934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无影响</a:t>
            </a:r>
            <a:r>
              <a:rPr lang="pt-BR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69305" y="5342037"/>
            <a:ext cx="19239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也修改</a:t>
            </a:r>
            <a:r>
              <a:rPr lang="pt-BR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50320" y="3627136"/>
            <a:ext cx="17187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a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地址相同</a:t>
            </a:r>
            <a:endParaRPr lang="zh-CN" altLang="en-US" sz="16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74508" y="4120289"/>
            <a:ext cx="16882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a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互相独立</a:t>
            </a:r>
            <a:endParaRPr lang="zh-CN" altLang="en-US" sz="16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3410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18172" y="995977"/>
            <a:ext cx="8458200" cy="1864566"/>
          </a:xfrm>
        </p:spPr>
        <p:txBody>
          <a:bodyPr/>
          <a:lstStyle/>
          <a:p>
            <a:r>
              <a:rPr lang="zh-CN" altLang="en-US"/>
              <a:t>例题：判断</a:t>
            </a:r>
            <a:r>
              <a:rPr lang="zh-CN" altLang="en-US" dirty="0"/>
              <a:t>输入的正整数</a:t>
            </a:r>
            <a:r>
              <a:rPr lang="en-US" altLang="zh-CN" dirty="0"/>
              <a:t>n</a:t>
            </a:r>
            <a:r>
              <a:rPr lang="zh-CN" altLang="en-US" dirty="0"/>
              <a:t>能否在去掉某一位后被</a:t>
            </a:r>
            <a:r>
              <a:rPr lang="en-US" altLang="zh-CN" dirty="0"/>
              <a:t>7</a:t>
            </a:r>
            <a:r>
              <a:rPr lang="zh-CN" altLang="en-US" dirty="0"/>
              <a:t>整除，例如，</a:t>
            </a:r>
            <a:r>
              <a:rPr lang="en-US" altLang="zh-CN" dirty="0"/>
              <a:t>412</a:t>
            </a:r>
            <a:r>
              <a:rPr lang="zh-CN" altLang="en-US" dirty="0"/>
              <a:t>在去掉</a:t>
            </a:r>
            <a:r>
              <a:rPr lang="en-US" altLang="zh-CN" dirty="0"/>
              <a:t>1</a:t>
            </a:r>
            <a:r>
              <a:rPr lang="zh-CN" altLang="en-US" dirty="0"/>
              <a:t>后得到</a:t>
            </a:r>
            <a:r>
              <a:rPr lang="en-US" altLang="zh-CN" dirty="0"/>
              <a:t>42</a:t>
            </a:r>
            <a:r>
              <a:rPr lang="zh-CN" altLang="en-US" dirty="0"/>
              <a:t>，可以被</a:t>
            </a:r>
            <a:r>
              <a:rPr lang="en-US" altLang="zh-CN" dirty="0"/>
              <a:t>7</a:t>
            </a:r>
            <a:r>
              <a:rPr lang="zh-CN" altLang="en-US" dirty="0"/>
              <a:t>整除</a:t>
            </a:r>
            <a:endParaRPr lang="en-US" altLang="zh-CN" dirty="0"/>
          </a:p>
          <a:p>
            <a:r>
              <a:rPr lang="zh-CN" altLang="en-US" dirty="0"/>
              <a:t>分析：</a:t>
            </a:r>
            <a:endParaRPr lang="en-US" altLang="zh-CN" dirty="0"/>
          </a:p>
          <a:p>
            <a:pPr lvl="1"/>
            <a:r>
              <a:rPr lang="zh-CN" altLang="en-US" dirty="0"/>
              <a:t>将输入的数每位提取出来组成一个列表</a:t>
            </a:r>
            <a:endParaRPr lang="en-US" altLang="zh-CN" dirty="0"/>
          </a:p>
          <a:p>
            <a:pPr lvl="1"/>
            <a:r>
              <a:rPr lang="zh-CN" altLang="en-US" dirty="0"/>
              <a:t>使用穷举法，从高位开始，每次去掉一位，看看能否被</a:t>
            </a:r>
            <a:r>
              <a:rPr lang="en-US" altLang="zh-CN" dirty="0"/>
              <a:t>7</a:t>
            </a:r>
            <a:r>
              <a:rPr lang="zh-CN" altLang="en-US" dirty="0"/>
              <a:t>整除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304800" y="3028347"/>
            <a:ext cx="798186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num_string</a:t>
            </a:r>
            <a:r>
              <a:rPr lang="en-US" altLang="zh-CN" b="1" kern="0" dirty="0">
                <a:solidFill>
                  <a:srgbClr val="CE5C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=</a:t>
            </a:r>
            <a:r>
              <a:rPr lang="en-US" altLang="zh-CN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input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kern="0" dirty="0">
                <a:solidFill>
                  <a:srgbClr val="4E9A06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'Please input a positive number: '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</a:pP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digit_list</a:t>
            </a:r>
            <a:r>
              <a:rPr lang="en-US" altLang="zh-CN" b="1" kern="0" dirty="0">
                <a:solidFill>
                  <a:srgbClr val="CE5C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=</a:t>
            </a:r>
            <a:r>
              <a:rPr lang="en-US" altLang="zh-CN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list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num_string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</a:pPr>
            <a:r>
              <a:rPr lang="en-US" altLang="zh-CN" b="1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b="1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in</a:t>
            </a: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range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kern="0" dirty="0" err="1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len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digit_list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)):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</a:pP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	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alist</a:t>
            </a:r>
            <a:r>
              <a:rPr lang="en-US" altLang="zh-CN" b="1" kern="0" dirty="0">
                <a:solidFill>
                  <a:srgbClr val="CE5C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=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digit_list</a:t>
            </a:r>
            <a:r>
              <a:rPr lang="en-US" altLang="zh-CN" b="1" kern="0" dirty="0" err="1">
                <a:solidFill>
                  <a:srgbClr val="CE5C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.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copy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</a:pP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	</a:t>
            </a:r>
            <a:r>
              <a:rPr lang="en-US" altLang="zh-CN" b="1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del</a:t>
            </a: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alist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]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</a:pP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	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b="1" kern="0" dirty="0">
                <a:solidFill>
                  <a:srgbClr val="CE5C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=</a:t>
            </a:r>
            <a:r>
              <a:rPr lang="en-US" altLang="zh-CN" kern="0" dirty="0" err="1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kern="0" dirty="0">
                <a:solidFill>
                  <a:srgbClr val="4E9A06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''</a:t>
            </a:r>
            <a:r>
              <a:rPr lang="en-US" altLang="zh-CN" b="1" kern="0" dirty="0">
                <a:solidFill>
                  <a:srgbClr val="CE5C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.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join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kern="0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alist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</a:pP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	</a:t>
            </a:r>
            <a:r>
              <a:rPr lang="en-US" altLang="zh-CN" b="1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b="1" kern="0" dirty="0">
                <a:solidFill>
                  <a:srgbClr val="CE5C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%</a:t>
            </a:r>
            <a:r>
              <a:rPr lang="en-US" altLang="zh-CN" b="1" kern="0" dirty="0">
                <a:solidFill>
                  <a:srgbClr val="0000C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7</a:t>
            </a:r>
            <a:r>
              <a:rPr lang="en-US" altLang="zh-CN" b="1" kern="0" dirty="0">
                <a:solidFill>
                  <a:srgbClr val="CE5C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==</a:t>
            </a:r>
            <a:r>
              <a:rPr lang="en-US" altLang="zh-CN" b="1" kern="0" dirty="0">
                <a:solidFill>
                  <a:srgbClr val="0000C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0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: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</a:pP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		</a:t>
            </a:r>
            <a:r>
              <a:rPr lang="en-US" altLang="zh-CN" b="1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print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</a:pP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		</a:t>
            </a:r>
            <a:r>
              <a:rPr lang="en-US" altLang="zh-CN" b="1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break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</a:pPr>
            <a:r>
              <a:rPr lang="en-US" altLang="zh-CN" b="1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else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:</a:t>
            </a:r>
            <a:endParaRPr lang="zh-CN" altLang="zh-CN" sz="1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400"/>
              </a:lnSpc>
            </a:pPr>
            <a:r>
              <a:rPr lang="en-US" altLang="zh-CN" kern="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	</a:t>
            </a:r>
            <a:r>
              <a:rPr lang="en-US" altLang="zh-CN" b="1" kern="0" dirty="0">
                <a:solidFill>
                  <a:srgbClr val="204A87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print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kern="0" dirty="0">
                <a:solidFill>
                  <a:srgbClr val="4E9A06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"cannot find!"</a:t>
            </a:r>
            <a:r>
              <a:rPr lang="en-US" altLang="zh-CN" b="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617132" y="3363956"/>
            <a:ext cx="4364498" cy="37457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Consolas" panose="020B0609020204030204" pitchFamily="49" charset="0"/>
              </a:rPr>
              <a:t>因为字符串不能修改，须转成列表</a:t>
            </a:r>
            <a:endParaRPr lang="zh-CN" altLang="en-US" sz="1600" dirty="0"/>
          </a:p>
        </p:txBody>
      </p:sp>
      <p:sp>
        <p:nvSpPr>
          <p:cNvPr id="7" name="圆角矩形 6"/>
          <p:cNvSpPr/>
          <p:nvPr/>
        </p:nvSpPr>
        <p:spPr>
          <a:xfrm>
            <a:off x="4617132" y="3966898"/>
            <a:ext cx="4364498" cy="6469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Consolas" panose="020B0609020204030204" pitchFamily="49" charset="0"/>
              </a:rPr>
              <a:t>*制作</a:t>
            </a:r>
            <a:r>
              <a:rPr lang="en-US" altLang="zh-CN" sz="1600" b="1" dirty="0" err="1">
                <a:solidFill>
                  <a:srgbClr val="00B0F0"/>
                </a:solidFill>
                <a:latin typeface="Consolas" panose="020B0609020204030204" pitchFamily="49" charset="0"/>
              </a:rPr>
              <a:t>digit_list</a:t>
            </a:r>
            <a:r>
              <a:rPr lang="zh-CN" altLang="en-US" sz="1600" b="1" dirty="0">
                <a:solidFill>
                  <a:srgbClr val="00B0F0"/>
                </a:solidFill>
                <a:latin typeface="Consolas" panose="020B0609020204030204" pitchFamily="49" charset="0"/>
              </a:rPr>
              <a:t>的拷贝，这样修改</a:t>
            </a:r>
            <a:r>
              <a:rPr lang="en-US" altLang="zh-CN" sz="1600" b="1" dirty="0" err="1">
                <a:solidFill>
                  <a:srgbClr val="00B0F0"/>
                </a:solidFill>
                <a:latin typeface="Consolas" panose="020B0609020204030204" pitchFamily="49" charset="0"/>
              </a:rPr>
              <a:t>alist</a:t>
            </a:r>
            <a:r>
              <a:rPr lang="zh-CN" altLang="en-US" sz="1600" b="1" dirty="0">
                <a:solidFill>
                  <a:srgbClr val="00B0F0"/>
                </a:solidFill>
                <a:latin typeface="Consolas" panose="020B0609020204030204" pitchFamily="49" charset="0"/>
              </a:rPr>
              <a:t>不会影响</a:t>
            </a:r>
            <a:r>
              <a:rPr lang="en-US" altLang="zh-CN" sz="1600" b="1" dirty="0" err="1">
                <a:solidFill>
                  <a:srgbClr val="00B0F0"/>
                </a:solidFill>
                <a:latin typeface="Consolas" panose="020B0609020204030204" pitchFamily="49" charset="0"/>
              </a:rPr>
              <a:t>digit_list</a:t>
            </a:r>
            <a:r>
              <a:rPr lang="zh-CN" altLang="en-US" sz="1600" b="1" dirty="0">
                <a:solidFill>
                  <a:srgbClr val="00B0F0"/>
                </a:solidFill>
                <a:latin typeface="Consolas" panose="020B0609020204030204" pitchFamily="49" charset="0"/>
              </a:rPr>
              <a:t>，这步很重要</a:t>
            </a:r>
            <a:endParaRPr lang="zh-CN" altLang="en-US" sz="1600" dirty="0"/>
          </a:p>
        </p:txBody>
      </p:sp>
      <p:sp>
        <p:nvSpPr>
          <p:cNvPr id="8" name="圆角矩形 7"/>
          <p:cNvSpPr/>
          <p:nvPr/>
        </p:nvSpPr>
        <p:spPr>
          <a:xfrm>
            <a:off x="4617132" y="4613884"/>
            <a:ext cx="4364498" cy="37457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Consolas" panose="020B0609020204030204" pitchFamily="49" charset="0"/>
              </a:rPr>
              <a:t>为了下步测试，将</a:t>
            </a:r>
            <a:r>
              <a:rPr lang="en-US" altLang="zh-CN" sz="1600" b="1" dirty="0" err="1">
                <a:solidFill>
                  <a:srgbClr val="00B0F0"/>
                </a:solidFill>
                <a:latin typeface="Consolas" panose="020B0609020204030204" pitchFamily="49" charset="0"/>
              </a:rPr>
              <a:t>alist</a:t>
            </a:r>
            <a:r>
              <a:rPr lang="zh-CN" altLang="en-US" sz="1600" b="1" dirty="0">
                <a:solidFill>
                  <a:srgbClr val="00B0F0"/>
                </a:solidFill>
                <a:latin typeface="Consolas" panose="020B0609020204030204" pitchFamily="49" charset="0"/>
              </a:rPr>
              <a:t>重新组装成整数</a:t>
            </a:r>
            <a:endParaRPr lang="zh-CN" altLang="en-US" sz="1600" dirty="0"/>
          </a:p>
        </p:txBody>
      </p:sp>
      <p:sp>
        <p:nvSpPr>
          <p:cNvPr id="9" name="圆角矩形 8"/>
          <p:cNvSpPr/>
          <p:nvPr/>
        </p:nvSpPr>
        <p:spPr>
          <a:xfrm>
            <a:off x="4617132" y="5723029"/>
            <a:ext cx="4364498" cy="6469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B0F0"/>
                </a:solidFill>
                <a:latin typeface="Consolas" panose="020B0609020204030204" pitchFamily="49" charset="0"/>
              </a:rPr>
              <a:t>如果有能整除</a:t>
            </a:r>
            <a:r>
              <a:rPr lang="en-US" altLang="zh-CN" sz="1600" b="1" dirty="0">
                <a:solidFill>
                  <a:srgbClr val="00B0F0"/>
                </a:solidFill>
                <a:latin typeface="Consolas" panose="020B0609020204030204" pitchFamily="49" charset="0"/>
              </a:rPr>
              <a:t>7</a:t>
            </a:r>
            <a:r>
              <a:rPr lang="zh-CN" altLang="en-US" sz="1600" b="1" dirty="0">
                <a:solidFill>
                  <a:srgbClr val="00B0F0"/>
                </a:solidFill>
                <a:latin typeface="Consolas" panose="020B0609020204030204" pitchFamily="49" charset="0"/>
              </a:rPr>
              <a:t>的组合就会</a:t>
            </a:r>
            <a:r>
              <a:rPr lang="en-US" altLang="zh-CN" sz="1600" b="1" dirty="0">
                <a:solidFill>
                  <a:srgbClr val="00B0F0"/>
                </a:solidFill>
                <a:latin typeface="Consolas" panose="020B0609020204030204" pitchFamily="49" charset="0"/>
              </a:rPr>
              <a:t>break</a:t>
            </a:r>
            <a:r>
              <a:rPr lang="zh-CN" altLang="en-US" sz="1600" b="1" dirty="0">
                <a:solidFill>
                  <a:srgbClr val="00B0F0"/>
                </a:solidFill>
                <a:latin typeface="Consolas" panose="020B0609020204030204" pitchFamily="49" charset="0"/>
              </a:rPr>
              <a:t>出去，没有才会执行到</a:t>
            </a:r>
            <a:r>
              <a:rPr lang="en-US" altLang="zh-CN" sz="1600" b="1" dirty="0">
                <a:solidFill>
                  <a:srgbClr val="00B0F0"/>
                </a:solidFill>
                <a:latin typeface="Consolas" panose="020B0609020204030204" pitchFamily="49" charset="0"/>
              </a:rPr>
              <a:t>else</a:t>
            </a:r>
            <a:endParaRPr lang="zh-CN" altLang="en-US" sz="1600" dirty="0"/>
          </a:p>
        </p:txBody>
      </p:sp>
      <p:sp>
        <p:nvSpPr>
          <p:cNvPr id="10" name="矩形 9"/>
          <p:cNvSpPr/>
          <p:nvPr/>
        </p:nvSpPr>
        <p:spPr>
          <a:xfrm>
            <a:off x="2920927" y="20837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例题</a:t>
            </a:r>
          </a:p>
        </p:txBody>
      </p:sp>
    </p:spTree>
    <p:extLst>
      <p:ext uri="{BB962C8B-B14F-4D97-AF65-F5344CB8AC3E}">
        <p14:creationId xmlns:p14="http://schemas.microsoft.com/office/powerpoint/2010/main" val="1826451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4094" y="924624"/>
            <a:ext cx="8682487" cy="2051490"/>
          </a:xfrm>
        </p:spPr>
        <p:txBody>
          <a:bodyPr>
            <a:normAutofit fontScale="95000"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sort()、reverse()</a:t>
            </a:r>
            <a:endParaRPr lang="en-US" altLang="zh-CN" dirty="0"/>
          </a:p>
          <a:p>
            <a:pPr lvl="1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sort()方法用于按照指定的规则对所有元素进行排序；</a:t>
            </a:r>
            <a:endParaRPr lang="en-US" altLang="zh-CN" dirty="0"/>
          </a:p>
          <a:p>
            <a:pPr lvl="1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reverse()方法用于将列表所有元素逆序或翻转。</a:t>
            </a:r>
            <a:endParaRPr lang="en-US" altLang="zh-CN" dirty="0"/>
          </a:p>
          <a:p>
            <a:pPr lvl="1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这两种操作都会改变列表本身，而内置函数</a:t>
            </a:r>
            <a:r>
              <a:rPr lang="en-US" altLang="zh-CN" dirty="0">
                <a:solidFill>
                  <a:srgbClr val="FF0000"/>
                </a:solidFill>
              </a:rPr>
              <a:t>sorted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reversed</a:t>
            </a:r>
            <a:r>
              <a:rPr lang="zh-CN" altLang="en-US" dirty="0">
                <a:solidFill>
                  <a:srgbClr val="FF0000"/>
                </a:solidFill>
              </a:rPr>
              <a:t>不会改变列表本身，而是得到一个新的列表</a:t>
            </a:r>
            <a:endParaRPr lang="en-US" altLang="zh-CN" sz="1900" dirty="0">
              <a:latin typeface="Consolas" panose="020B060902020403020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列表操作：排序</a:t>
            </a:r>
          </a:p>
        </p:txBody>
      </p:sp>
      <p:sp>
        <p:nvSpPr>
          <p:cNvPr id="4" name="矩形 3"/>
          <p:cNvSpPr/>
          <p:nvPr/>
        </p:nvSpPr>
        <p:spPr>
          <a:xfrm>
            <a:off x="284670" y="2976114"/>
            <a:ext cx="879894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anose="020B0609020204030204" charset="0"/>
              </a:rPr>
              <a:t>&gt;&gt;&gt; x</a:t>
            </a:r>
          </a:p>
          <a:p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[6, 0, 1, 7, 4, 3, 2, 8, 5, 10, 9]</a:t>
            </a:r>
            <a:endParaRPr lang="en-US" altLang="zh-CN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charset="0"/>
              </a:rPr>
              <a:t>&gt;&gt;&gt; x.sort()                         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#按默认规则排序</a:t>
            </a:r>
          </a:p>
          <a:p>
            <a:r>
              <a:rPr lang="zh-CN" altLang="en-US" dirty="0">
                <a:latin typeface="Consolas" panose="020B0609020204030204" charset="0"/>
              </a:rPr>
              <a:t>&gt;&gt;&gt; x</a:t>
            </a:r>
          </a:p>
          <a:p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[0, 1, 2, 3, 4, 5, 6, 7, 8, 9, 10]</a:t>
            </a:r>
          </a:p>
          <a:p>
            <a:r>
              <a:rPr lang="zh-CN" altLang="en-US" dirty="0">
                <a:latin typeface="Consolas" panose="020B0609020204030204" charset="0"/>
              </a:rPr>
              <a:t>&gt;&gt;&gt; x.sort(key=str)                  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#按转换为字符串后的大小，升序排序</a:t>
            </a:r>
          </a:p>
          <a:p>
            <a:r>
              <a:rPr lang="zh-CN" altLang="en-US" dirty="0">
                <a:latin typeface="Consolas" panose="020B0609020204030204" charset="0"/>
              </a:rPr>
              <a:t>&gt;&gt;&gt; x</a:t>
            </a:r>
          </a:p>
          <a:p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[0, 1, 10, 2, 3, 4, 5, 6, 7, 8, 9]</a:t>
            </a:r>
            <a:endParaRPr lang="en-US" altLang="zh-CN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charset="0"/>
              </a:rPr>
              <a:t>&gt;&gt;&gt; x.reverse()                      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#把所有元素翻转或逆序</a:t>
            </a:r>
          </a:p>
          <a:p>
            <a:r>
              <a:rPr lang="zh-CN" altLang="en-US" dirty="0">
                <a:latin typeface="Consolas" panose="020B0609020204030204" charset="0"/>
              </a:rPr>
              <a:t>&gt;&gt;&gt; x</a:t>
            </a:r>
          </a:p>
          <a:p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[9, 8, 7, 6, 5, 4, 3, 2, 10, 1, 0]</a:t>
            </a:r>
            <a:endParaRPr lang="zh-CN" altLang="en-US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17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66961" y="998754"/>
            <a:ext cx="8458200" cy="2255386"/>
          </a:xfrm>
        </p:spPr>
        <p:txBody>
          <a:bodyPr/>
          <a:lstStyle/>
          <a:p>
            <a:pPr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dirty="0"/>
              <a:t>例题：输入一组整数，中间用空格间隔，对其从小到大排序后输出，中间用逗号间隔</a:t>
            </a:r>
            <a:endParaRPr lang="en-US" altLang="zh-CN" dirty="0"/>
          </a:p>
          <a:p>
            <a:pPr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dirty="0"/>
              <a:t>分析：</a:t>
            </a:r>
            <a:endParaRPr lang="en-US" altLang="zh-CN" dirty="0"/>
          </a:p>
          <a:p>
            <a:pPr lvl="1"/>
            <a:r>
              <a:rPr lang="zh-CN" altLang="en-US" dirty="0"/>
              <a:t>输入分隔  </a:t>
            </a:r>
            <a:r>
              <a:rPr lang="en-US" altLang="zh-CN" dirty="0" err="1"/>
              <a:t>xs</a:t>
            </a:r>
            <a:r>
              <a:rPr lang="en-US" altLang="zh-CN" dirty="0"/>
              <a:t>=input().split()</a:t>
            </a:r>
          </a:p>
          <a:p>
            <a:pPr lvl="1"/>
            <a:r>
              <a:rPr lang="zh-CN" altLang="en-US" dirty="0"/>
              <a:t>用列表解析将</a:t>
            </a:r>
            <a:r>
              <a:rPr lang="en-US" altLang="zh-CN" dirty="0" err="1"/>
              <a:t>xs</a:t>
            </a:r>
            <a:r>
              <a:rPr lang="zh-CN" altLang="en-US" dirty="0"/>
              <a:t>的元素由字符串转为数值 </a:t>
            </a:r>
            <a:r>
              <a:rPr lang="en-US" altLang="zh-CN" dirty="0"/>
              <a:t>ns=[</a:t>
            </a:r>
            <a:r>
              <a:rPr lang="en-US" altLang="zh-CN" dirty="0" err="1"/>
              <a:t>int</a:t>
            </a:r>
            <a:r>
              <a:rPr lang="en-US" altLang="zh-CN" dirty="0"/>
              <a:t>(x) for x in </a:t>
            </a:r>
            <a:r>
              <a:rPr lang="en-US" altLang="zh-CN" dirty="0" err="1"/>
              <a:t>xs</a:t>
            </a:r>
            <a:r>
              <a:rPr lang="en-US" altLang="zh-CN" dirty="0"/>
              <a:t>]</a:t>
            </a:r>
          </a:p>
          <a:p>
            <a:pPr lvl="1"/>
            <a:r>
              <a:rPr lang="zh-CN" altLang="en-US" dirty="0"/>
              <a:t>排序 </a:t>
            </a:r>
            <a:r>
              <a:rPr lang="en-US" altLang="zh-CN" err="1"/>
              <a:t>ns.sort</a:t>
            </a:r>
            <a:r>
              <a:rPr lang="en-US" altLang="zh-CN"/>
              <a:t>()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700092" y="3339119"/>
            <a:ext cx="4025069" cy="1857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xs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split()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ns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(x)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x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xs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2800"/>
              </a:lnSpc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ns</a:t>
            </a:r>
            <a:r>
              <a:rPr lang="en-US" altLang="zh-CN" b="1" dirty="0" err="1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sort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ns 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(n)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n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ns]</a:t>
            </a:r>
          </a:p>
          <a:p>
            <a:pPr>
              <a:lnSpc>
                <a:spcPts val="28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','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join(ns))</a:t>
            </a:r>
          </a:p>
        </p:txBody>
      </p:sp>
      <p:sp>
        <p:nvSpPr>
          <p:cNvPr id="5" name="矩形 4"/>
          <p:cNvSpPr/>
          <p:nvPr/>
        </p:nvSpPr>
        <p:spPr>
          <a:xfrm>
            <a:off x="683568" y="3339119"/>
            <a:ext cx="4572000" cy="260584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xs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split()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ns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b="1" dirty="0" err="1">
                <a:solidFill>
                  <a:srgbClr val="204A87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(x)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x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xs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2800"/>
              </a:lnSpc>
            </a:pP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ns</a:t>
            </a:r>
            <a:r>
              <a:rPr lang="en-US" altLang="zh-CN" b="1" dirty="0" err="1">
                <a:solidFill>
                  <a:srgbClr val="CE5C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sort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800"/>
              </a:lnSpc>
            </a:pPr>
            <a:endParaRPr lang="en-US" altLang="zh-CN" b="1" dirty="0">
              <a:solidFill>
                <a:srgbClr val="204A87"/>
              </a:solidFill>
              <a:latin typeface="Consolas" panose="020B0609020204030204" pitchFamily="49" charset="0"/>
            </a:endParaRPr>
          </a:p>
          <a:p>
            <a:pPr>
              <a:lnSpc>
                <a:spcPts val="28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n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ns[: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]:</a:t>
            </a:r>
          </a:p>
          <a:p>
            <a:pPr lvl="1">
              <a:lnSpc>
                <a:spcPts val="28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n,end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','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8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(ns[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683568" y="5944960"/>
            <a:ext cx="2837298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最后一个数后面没有逗号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4700092" y="5366380"/>
            <a:ext cx="3785881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</a:rPr>
              <a:t>join()</a:t>
            </a:r>
            <a:r>
              <a:rPr lang="zh-CN" altLang="en-US" dirty="0">
                <a:solidFill>
                  <a:srgbClr val="00B0F0"/>
                </a:solidFill>
              </a:rPr>
              <a:t>里面的列表元素须为字符串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683568" y="4437728"/>
            <a:ext cx="3409868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</a:rPr>
              <a:t>sort</a:t>
            </a:r>
            <a:r>
              <a:rPr lang="zh-CN" altLang="en-US" dirty="0">
                <a:solidFill>
                  <a:srgbClr val="00B0F0"/>
                </a:solidFill>
              </a:rPr>
              <a:t>重排了</a:t>
            </a:r>
            <a:r>
              <a:rPr lang="en-US" altLang="zh-CN" dirty="0">
                <a:solidFill>
                  <a:srgbClr val="00B0F0"/>
                </a:solidFill>
              </a:rPr>
              <a:t>ns</a:t>
            </a:r>
            <a:r>
              <a:rPr lang="zh-CN" altLang="en-US" dirty="0">
                <a:solidFill>
                  <a:srgbClr val="00B0F0"/>
                </a:solidFill>
              </a:rPr>
              <a:t>，而</a:t>
            </a:r>
            <a:r>
              <a:rPr lang="en-US" altLang="zh-CN" dirty="0">
                <a:solidFill>
                  <a:srgbClr val="00B0F0"/>
                </a:solidFill>
              </a:rPr>
              <a:t>sorted</a:t>
            </a:r>
            <a:r>
              <a:rPr lang="zh-CN" altLang="en-US" dirty="0">
                <a:solidFill>
                  <a:srgbClr val="00B0F0"/>
                </a:solidFill>
              </a:rPr>
              <a:t>不会</a:t>
            </a:r>
          </a:p>
        </p:txBody>
      </p:sp>
      <p:sp>
        <p:nvSpPr>
          <p:cNvPr id="9" name="矩形 8"/>
          <p:cNvSpPr/>
          <p:nvPr/>
        </p:nvSpPr>
        <p:spPr>
          <a:xfrm>
            <a:off x="2920927" y="20837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例题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2448" y="5789735"/>
            <a:ext cx="4165600" cy="1181100"/>
          </a:xfrm>
          <a:prstGeom prst="rect">
            <a:avLst/>
          </a:prstGeom>
          <a:noFill/>
          <a:ln>
            <a:noFill/>
          </a:ln>
          <a:effectLst>
            <a:softEdge rad="190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022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1745731"/>
          </a:xfrm>
        </p:spPr>
        <p:txBody>
          <a:bodyPr>
            <a:norm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count()、index()</a:t>
            </a:r>
            <a:endParaRPr lang="en-US" altLang="zh-CN" dirty="0"/>
          </a:p>
          <a:p>
            <a:pPr lvl="1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count()用于返回列表中指定元素出现的次数；</a:t>
            </a:r>
            <a:endParaRPr lang="en-US" altLang="zh-CN" dirty="0"/>
          </a:p>
          <a:p>
            <a:pPr lvl="1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index()用于返回指定元素在列表中</a:t>
            </a:r>
            <a:r>
              <a:rPr lang="zh-CN" altLang="en-US" dirty="0">
                <a:solidFill>
                  <a:srgbClr val="FF0000"/>
                </a:solidFill>
              </a:rPr>
              <a:t>首次出现的位置</a:t>
            </a:r>
            <a:r>
              <a:rPr lang="zh-CN" altLang="en-US" dirty="0"/>
              <a:t>，如果该元素不在列表中则抛出异常。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列表操作：</a:t>
            </a:r>
            <a:r>
              <a:rPr lang="zh-CN" altLang="en-US" dirty="0">
                <a:sym typeface="+mn-ea"/>
              </a:rPr>
              <a:t>查找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04800" y="3004745"/>
            <a:ext cx="8678174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x = [1, 2, 2, 3, 3, 3, 4, 4, 4, 4]</a:t>
            </a:r>
          </a:p>
          <a:p>
            <a:r>
              <a:rPr lang="zh-CN" altLang="en-US" dirty="0">
                <a:latin typeface="Consolas" panose="020B0609020204030204" charset="0"/>
              </a:rPr>
              <a:t>&gt;&gt;&gt; x.count(3)                     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#元素3在列表x中的出现次数</a:t>
            </a:r>
          </a:p>
          <a:p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3</a:t>
            </a:r>
          </a:p>
          <a:p>
            <a:r>
              <a:rPr lang="zh-CN" altLang="en-US" dirty="0">
                <a:latin typeface="Consolas" panose="020B0609020204030204" charset="0"/>
              </a:rPr>
              <a:t>&gt;&gt;&gt; x.count(5)                     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#不存在，返回0</a:t>
            </a:r>
          </a:p>
          <a:p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zh-CN" altLang="en-US" dirty="0">
                <a:latin typeface="Consolas" panose="020B0609020204030204" charset="0"/>
              </a:rPr>
              <a:t>&gt;&gt;&gt; x.index(2)                     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#元素2在列表x中首次出现的索引</a:t>
            </a:r>
          </a:p>
          <a:p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1</a:t>
            </a:r>
          </a:p>
          <a:p>
            <a:r>
              <a:rPr lang="zh-CN" altLang="en-US" dirty="0">
                <a:latin typeface="Consolas" panose="020B0609020204030204" charset="0"/>
              </a:rPr>
              <a:t>&gt;&gt;&gt; x.index(5)                     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pitchFamily="49" charset="0"/>
              </a:rPr>
              <a:t>#列表x中没有5，抛出异常</a:t>
            </a:r>
          </a:p>
          <a:p>
            <a:r>
              <a:rPr lang="en-US" altLang="zh-CN" dirty="0" err="1">
                <a:solidFill>
                  <a:srgbClr val="FF0000"/>
                </a:solidFill>
                <a:latin typeface="Consolas" panose="020B0609020204030204" charset="0"/>
              </a:rPr>
              <a:t>Traceback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charset="0"/>
              </a:rPr>
              <a:t> (most recent call last):</a:t>
            </a:r>
          </a:p>
          <a:p>
            <a:r>
              <a:rPr lang="en-US" altLang="zh-CN" dirty="0">
                <a:solidFill>
                  <a:srgbClr val="FF0000"/>
                </a:solidFill>
                <a:latin typeface="Consolas" panose="020B0609020204030204" charset="0"/>
              </a:rPr>
              <a:t>  File "&lt;pyshell#20&gt;", line 1, in &lt;module&gt;</a:t>
            </a:r>
          </a:p>
          <a:p>
            <a:r>
              <a:rPr lang="en-US" altLang="zh-CN" dirty="0">
                <a:solidFill>
                  <a:srgbClr val="FF0000"/>
                </a:solidFill>
                <a:latin typeface="Consolas" panose="020B0609020204030204" charset="0"/>
              </a:rPr>
              <a:t>    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charset="0"/>
              </a:rPr>
              <a:t>x.index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charset="0"/>
              </a:rPr>
              <a:t>(5)</a:t>
            </a:r>
          </a:p>
          <a:p>
            <a:r>
              <a:rPr lang="en-US" altLang="zh-CN" dirty="0" err="1">
                <a:solidFill>
                  <a:srgbClr val="FF0000"/>
                </a:solidFill>
                <a:latin typeface="Consolas" panose="020B0609020204030204" charset="0"/>
              </a:rPr>
              <a:t>ValueError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charset="0"/>
              </a:rPr>
              <a:t>: 5 is not in list</a:t>
            </a:r>
            <a:endParaRPr lang="zh-CN" altLang="en-US" dirty="0">
              <a:solidFill>
                <a:srgbClr val="FF0000"/>
              </a:solidFill>
              <a:latin typeface="Consolas" panose="020B060902020403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6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主题1">
  <a:themeElements>
    <a:clrScheme name="自定义 3">
      <a:dk1>
        <a:srgbClr val="000000"/>
      </a:dk1>
      <a:lt1>
        <a:srgbClr val="FFFFFF"/>
      </a:lt1>
      <a:dk2>
        <a:srgbClr val="003468"/>
      </a:dk2>
      <a:lt2>
        <a:srgbClr val="969696"/>
      </a:lt2>
      <a:accent1>
        <a:srgbClr val="99CC00"/>
      </a:accent1>
      <a:accent2>
        <a:srgbClr val="6699FF"/>
      </a:accent2>
      <a:accent3>
        <a:srgbClr val="FFFFFF"/>
      </a:accent3>
      <a:accent4>
        <a:srgbClr val="000000"/>
      </a:accent4>
      <a:accent5>
        <a:srgbClr val="CAE2AA"/>
      </a:accent5>
      <a:accent6>
        <a:srgbClr val="5C8AE7"/>
      </a:accent6>
      <a:hlink>
        <a:srgbClr val="00B0F0"/>
      </a:hlink>
      <a:folHlink>
        <a:srgbClr val="00B0F0"/>
      </a:folHlink>
    </a:clrScheme>
    <a:fontScheme name="024betty_wav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>
        <a:spAutoFit/>
      </a:bodyPr>
      <a:lstStyle>
        <a:defPPr>
          <a:spcAft>
            <a:spcPts val="0"/>
          </a:spcAft>
          <a:defRPr kern="0">
            <a:solidFill>
              <a:srgbClr val="800000"/>
            </a:solidFill>
            <a:latin typeface="Courier New"/>
            <a:ea typeface="宋体"/>
            <a:cs typeface="Times New Roman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024betty_wave 1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FF99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2D597A"/>
        </a:accent6>
        <a:hlink>
          <a:srgbClr val="66CAE2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33CCCC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2D2D8A"/>
        </a:accent6>
        <a:hlink>
          <a:srgbClr val="9999FF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3">
        <a:dk1>
          <a:srgbClr val="000000"/>
        </a:dk1>
        <a:lt1>
          <a:srgbClr val="FFFFFF"/>
        </a:lt1>
        <a:dk2>
          <a:srgbClr val="003468"/>
        </a:dk2>
        <a:lt2>
          <a:srgbClr val="969696"/>
        </a:lt2>
        <a:accent1>
          <a:srgbClr val="99CC00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5C8AE7"/>
        </a:accent6>
        <a:hlink>
          <a:srgbClr val="99CCFF"/>
        </a:hlink>
        <a:folHlink>
          <a:srgbClr val="CC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4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CCCC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2D597A"/>
        </a:accent6>
        <a:hlink>
          <a:srgbClr val="66CAE2"/>
        </a:hlink>
        <a:folHlink>
          <a:srgbClr val="CCFF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F95A2A35-674A-40AD-A83A-DE29BAA59257}" vid="{E14F0F36-DC56-4341-802B-8D7414312C92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2332</TotalTime>
  <Words>1776</Words>
  <Application>Microsoft Office PowerPoint</Application>
  <PresentationFormat>全屏显示(4:3)</PresentationFormat>
  <Paragraphs>184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等线</vt:lpstr>
      <vt:lpstr>等线 Light</vt:lpstr>
      <vt:lpstr>微软雅黑</vt:lpstr>
      <vt:lpstr>Arial</vt:lpstr>
      <vt:lpstr>Calibri</vt:lpstr>
      <vt:lpstr>Consolas</vt:lpstr>
      <vt:lpstr>Courier New</vt:lpstr>
      <vt:lpstr>Garamond</vt:lpstr>
      <vt:lpstr>Verdana</vt:lpstr>
      <vt:lpstr>Wingdings</vt:lpstr>
      <vt:lpstr>主题1</vt:lpstr>
      <vt:lpstr>Office 主题​​</vt:lpstr>
      <vt:lpstr>环保</vt:lpstr>
      <vt:lpstr>处理列表的常用方法</vt:lpstr>
      <vt:lpstr>列表操作：添加</vt:lpstr>
      <vt:lpstr>PowerPoint 演示文稿</vt:lpstr>
      <vt:lpstr>列表操作：删除</vt:lpstr>
      <vt:lpstr>PowerPoint 演示文稿</vt:lpstr>
      <vt:lpstr>列表复制： copy() 或 分片 a[::]赋值，产生新列表</vt:lpstr>
      <vt:lpstr>绑定列表：=   ，不是复制</vt:lpstr>
      <vt:lpstr>copy   与   =   的区别</vt:lpstr>
      <vt:lpstr>PowerPoint 演示文稿</vt:lpstr>
      <vt:lpstr>列表操作：排序</vt:lpstr>
      <vt:lpstr>PowerPoint 演示文稿</vt:lpstr>
      <vt:lpstr>列表操作：查找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 详解Python序列结构</dc:title>
  <dc:creator>Dong</dc:creator>
  <cp:lastModifiedBy>cyj</cp:lastModifiedBy>
  <cp:revision>698</cp:revision>
  <cp:lastPrinted>2019-10-16T14:42:59Z</cp:lastPrinted>
  <dcterms:created xsi:type="dcterms:W3CDTF">2015-05-05T08:02:00Z</dcterms:created>
  <dcterms:modified xsi:type="dcterms:W3CDTF">2024-11-29T14:24:54Z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1033-10.2.0.5978</vt:lpwstr>
  </property>
</Properties>
</file>