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415" r:id="rId2"/>
    <p:sldId id="442" r:id="rId3"/>
    <p:sldId id="445" r:id="rId4"/>
    <p:sldId id="443" r:id="rId5"/>
    <p:sldId id="446" r:id="rId6"/>
    <p:sldId id="447" r:id="rId7"/>
    <p:sldId id="257" r:id="rId8"/>
    <p:sldId id="320" r:id="rId9"/>
    <p:sldId id="374" r:id="rId10"/>
    <p:sldId id="375" r:id="rId11"/>
    <p:sldId id="376" r:id="rId12"/>
    <p:sldId id="377" r:id="rId13"/>
    <p:sldId id="420" r:id="rId14"/>
    <p:sldId id="378" r:id="rId15"/>
    <p:sldId id="421" r:id="rId16"/>
    <p:sldId id="448" r:id="rId17"/>
    <p:sldId id="449" r:id="rId18"/>
    <p:sldId id="364" r:id="rId19"/>
    <p:sldId id="389" r:id="rId20"/>
    <p:sldId id="468" r:id="rId21"/>
    <p:sldId id="455" r:id="rId22"/>
    <p:sldId id="456" r:id="rId23"/>
    <p:sldId id="453" r:id="rId24"/>
    <p:sldId id="454" r:id="rId25"/>
    <p:sldId id="452" r:id="rId2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794"/>
    <a:srgbClr val="FFFFCC"/>
    <a:srgbClr val="66FFCC"/>
    <a:srgbClr val="66FFFF"/>
    <a:srgbClr val="17385F"/>
    <a:srgbClr val="0033CC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95E73C-8546-4191-8953-8D133B8AD474}" type="datetimeFigureOut">
              <a:rPr lang="zh-CN" altLang="en-US" smtClean="0"/>
              <a:t>2024/12/10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51E8A-F9F8-4534-B221-B771A591F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791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13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1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1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36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7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3213586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6837" y="948267"/>
            <a:ext cx="8780896" cy="5698066"/>
          </a:xfrm>
        </p:spPr>
        <p:txBody>
          <a:bodyPr/>
          <a:lstStyle>
            <a:lvl1pPr>
              <a:lnSpc>
                <a:spcPts val="2800"/>
              </a:lnSpc>
              <a:defRPr/>
            </a:lvl1pPr>
            <a:lvl2pPr>
              <a:lnSpc>
                <a:spcPts val="2800"/>
              </a:lnSpc>
              <a:defRPr sz="1800" b="1"/>
            </a:lvl2pPr>
            <a:lvl3pPr>
              <a:lnSpc>
                <a:spcPts val="2800"/>
              </a:lnSpc>
              <a:defRPr/>
            </a:lvl3pPr>
            <a:lvl4pPr>
              <a:lnSpc>
                <a:spcPts val="2800"/>
              </a:lnSpc>
              <a:defRPr/>
            </a:lvl4pPr>
            <a:lvl5pPr>
              <a:lnSpc>
                <a:spcPts val="2800"/>
              </a:lnSpc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47438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57544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18280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77580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40078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659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13927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00B2EB-ABB7-41F5-A8C2-C05D23AA50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096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9604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99320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1735722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1955949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04231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3673CA0-868D-4EE4-97C8-B8815C447DE6}" type="datetimeFigureOut">
              <a:rPr lang="zh-CN" altLang="en-US" smtClean="0"/>
              <a:pPr/>
              <a:t>2024/12/10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B2EB-ABB7-41F5-A8C2-C05D23AA50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0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13" name="Rectangle 25"/>
          <p:cNvSpPr>
            <a:spLocks noGrp="1" noChangeArrowheads="1"/>
          </p:cNvSpPr>
          <p:nvPr>
            <p:ph type="sldNum" sz="quarter" idx="4"/>
          </p:nvPr>
        </p:nvSpPr>
        <p:spPr bwMode="ltGray">
          <a:xfrm>
            <a:off x="4572000" y="6477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0" b="1">
                <a:solidFill>
                  <a:schemeClr val="hlink"/>
                </a:solidFill>
                <a:latin typeface="+mn-lt"/>
                <a:ea typeface="굴림" pitchFamily="50" charset="-127"/>
              </a:defRPr>
            </a:lvl1pPr>
          </a:lstStyle>
          <a:p>
            <a:fld id="{CF00B2EB-ABB7-41F5-A8C2-C05D23AA509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ko-KR"/>
          </a:p>
        </p:txBody>
      </p:sp>
      <p:pic>
        <p:nvPicPr>
          <p:cNvPr id="12548" name="Picture 260" descr="http://astroleaks.lamost.org/wp-content/uploads/2012/03/Logo_Python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231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9pPr>
    </p:titleStyle>
    <p:bodyStyle>
      <a:lvl1pPr marL="257175" indent="-257175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557213" indent="-214313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8572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2001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6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5430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6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zh-CN" altLang="zh-CN" dirty="0"/>
              <a:t>第</a:t>
            </a:r>
            <a:r>
              <a:rPr lang="en-US" altLang="zh-CN" dirty="0"/>
              <a:t>8</a:t>
            </a:r>
            <a:r>
              <a:rPr lang="zh-CN" altLang="zh-CN" dirty="0"/>
              <a:t>章</a:t>
            </a:r>
            <a:r>
              <a:rPr lang="en-US" altLang="zh-CN" dirty="0"/>
              <a:t>  </a:t>
            </a:r>
            <a:r>
              <a:rPr lang="zh-CN" altLang="zh-CN" dirty="0"/>
              <a:t>函数与模块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6C27CE-117E-4E04-B782-80B7A3BB863C}"/>
              </a:ext>
            </a:extLst>
          </p:cNvPr>
          <p:cNvSpPr txBox="1"/>
          <p:nvPr/>
        </p:nvSpPr>
        <p:spPr>
          <a:xfrm>
            <a:off x="3059832" y="4437112"/>
            <a:ext cx="2462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z = f(x, y) = x + y</a:t>
            </a:r>
            <a:endParaRPr lang="zh-CN" altLang="en-US" sz="24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22E87ED8-383C-4085-A44B-3B8004C16F1C}"/>
              </a:ext>
            </a:extLst>
          </p:cNvPr>
          <p:cNvCxnSpPr/>
          <p:nvPr/>
        </p:nvCxnSpPr>
        <p:spPr bwMode="auto">
          <a:xfrm flipV="1">
            <a:off x="3923928" y="4898777"/>
            <a:ext cx="0" cy="4024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F0880F5-9693-4AF2-9508-D554E661ACE4}"/>
              </a:ext>
            </a:extLst>
          </p:cNvPr>
          <p:cNvCxnSpPr/>
          <p:nvPr/>
        </p:nvCxnSpPr>
        <p:spPr bwMode="auto">
          <a:xfrm flipV="1">
            <a:off x="4219091" y="4898777"/>
            <a:ext cx="0" cy="4024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5B4DD6B-476F-4B97-BA7B-444B4A797584}"/>
              </a:ext>
            </a:extLst>
          </p:cNvPr>
          <p:cNvSpPr txBox="1"/>
          <p:nvPr/>
        </p:nvSpPr>
        <p:spPr>
          <a:xfrm>
            <a:off x="3738593" y="5301208"/>
            <a:ext cx="720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2    3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963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310" y="-13736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en-US" altLang="zh-CN" sz="2200"/>
              <a:t>1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  计算形式如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a+aa+aaa+aaaa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+...+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aaa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...aaa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的公式值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91560" y="1760152"/>
            <a:ext cx="596867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/>
              <a:t>ls</a:t>
            </a:r>
            <a:r>
              <a:rPr lang="en-US" altLang="zh-CN" sz="2400"/>
              <a:t>3</a:t>
            </a:r>
            <a:r>
              <a:rPr lang="zh-CN" altLang="en-US" sz="2400"/>
              <a:t>=</a:t>
            </a:r>
            <a:r>
              <a:rPr lang="en-US" altLang="zh-CN" sz="2400"/>
              <a:t>sum(</a:t>
            </a:r>
            <a:r>
              <a:rPr lang="zh-CN" altLang="en-US" sz="2400"/>
              <a:t>[int(str(</a:t>
            </a:r>
            <a:r>
              <a:rPr lang="en-US" altLang="zh-CN" sz="2400">
                <a:solidFill>
                  <a:srgbClr val="FF0000"/>
                </a:solidFill>
              </a:rPr>
              <a:t>3</a:t>
            </a:r>
            <a:r>
              <a:rPr lang="zh-CN" altLang="en-US" sz="2400"/>
              <a:t>)*i) for i in range(1,</a:t>
            </a:r>
            <a:r>
              <a:rPr lang="en-US" altLang="zh-CN" sz="2400">
                <a:solidFill>
                  <a:srgbClr val="FF0000"/>
                </a:solidFill>
              </a:rPr>
              <a:t>5</a:t>
            </a:r>
            <a:r>
              <a:rPr lang="zh-CN" altLang="en-US" sz="2400"/>
              <a:t>+1)]</a:t>
            </a:r>
            <a:r>
              <a:rPr lang="en-US" altLang="zh-CN" sz="2400"/>
              <a:t>)</a:t>
            </a:r>
            <a:endParaRPr lang="zh-CN" altLang="en-US" sz="2400"/>
          </a:p>
        </p:txBody>
      </p:sp>
      <p:sp>
        <p:nvSpPr>
          <p:cNvPr id="11" name="矩形 10"/>
          <p:cNvSpPr/>
          <p:nvPr/>
        </p:nvSpPr>
        <p:spPr>
          <a:xfrm>
            <a:off x="683568" y="1164538"/>
            <a:ext cx="2890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3+33+333+3333+33333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26800" y="2799734"/>
            <a:ext cx="1335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5+55+555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06800" y="4293096"/>
            <a:ext cx="3499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8+88+888+8888+...+8888888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22040" y="3288736"/>
            <a:ext cx="586618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/>
              <a:t>ls</a:t>
            </a:r>
            <a:r>
              <a:rPr lang="en-US" altLang="zh-CN" sz="2400"/>
              <a:t>5</a:t>
            </a:r>
            <a:r>
              <a:rPr lang="zh-CN" altLang="en-US" sz="2400"/>
              <a:t>=</a:t>
            </a:r>
            <a:r>
              <a:rPr lang="en-US" altLang="zh-CN" sz="2400"/>
              <a:t>sum(</a:t>
            </a:r>
            <a:r>
              <a:rPr lang="zh-CN" altLang="en-US" sz="2400"/>
              <a:t>[int(str(</a:t>
            </a:r>
            <a:r>
              <a:rPr lang="en-US" altLang="zh-CN" sz="2400">
                <a:solidFill>
                  <a:srgbClr val="FF0000"/>
                </a:solidFill>
              </a:rPr>
              <a:t>5</a:t>
            </a:r>
            <a:r>
              <a:rPr lang="zh-CN" altLang="en-US" sz="2400"/>
              <a:t>)*i) for i in range(1,</a:t>
            </a:r>
            <a:r>
              <a:rPr lang="en-US" altLang="zh-CN" sz="2400">
                <a:solidFill>
                  <a:srgbClr val="FF0000"/>
                </a:solidFill>
              </a:rPr>
              <a:t>3</a:t>
            </a:r>
            <a:r>
              <a:rPr lang="zh-CN" altLang="en-US" sz="2400"/>
              <a:t>+1)]</a:t>
            </a:r>
            <a:r>
              <a:rPr lang="en-US" altLang="zh-CN" sz="2400"/>
              <a:t>)</a:t>
            </a:r>
            <a:endParaRPr lang="zh-CN" altLang="en-US" sz="2400"/>
          </a:p>
        </p:txBody>
      </p:sp>
      <p:sp>
        <p:nvSpPr>
          <p:cNvPr id="15" name="矩形 14"/>
          <p:cNvSpPr/>
          <p:nvPr/>
        </p:nvSpPr>
        <p:spPr>
          <a:xfrm>
            <a:off x="722040" y="4797152"/>
            <a:ext cx="586618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/>
              <a:t>ls</a:t>
            </a:r>
            <a:r>
              <a:rPr lang="en-US" altLang="zh-CN" sz="2400"/>
              <a:t>8</a:t>
            </a:r>
            <a:r>
              <a:rPr lang="zh-CN" altLang="en-US" sz="2400"/>
              <a:t>=</a:t>
            </a:r>
            <a:r>
              <a:rPr lang="en-US" altLang="zh-CN" sz="2400"/>
              <a:t>sum(</a:t>
            </a:r>
            <a:r>
              <a:rPr lang="zh-CN" altLang="en-US" sz="2400"/>
              <a:t>[int(str(</a:t>
            </a:r>
            <a:r>
              <a:rPr lang="en-US" altLang="zh-CN" sz="2400">
                <a:solidFill>
                  <a:srgbClr val="FF0000"/>
                </a:solidFill>
              </a:rPr>
              <a:t>8</a:t>
            </a:r>
            <a:r>
              <a:rPr lang="zh-CN" altLang="en-US" sz="2400"/>
              <a:t>)*i) for i in range(1,</a:t>
            </a:r>
            <a:r>
              <a:rPr lang="en-US" altLang="zh-CN" sz="2400">
                <a:solidFill>
                  <a:srgbClr val="FF0000"/>
                </a:solidFill>
              </a:rPr>
              <a:t>7</a:t>
            </a:r>
            <a:r>
              <a:rPr lang="zh-CN" altLang="en-US" sz="2400"/>
              <a:t>+1)]</a:t>
            </a:r>
            <a:r>
              <a:rPr lang="en-US" altLang="zh-CN" sz="2400"/>
              <a:t>)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69736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310" y="-13736"/>
            <a:ext cx="78867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示例1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编写函数，计算形式如a+aa+aaa+aaaa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+...+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aaa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...aaa的表达式的值，其中a为小于10的自然数。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95536" y="1556792"/>
            <a:ext cx="6189139" cy="16858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00B0F0"/>
                </a:solidFill>
              </a:rPr>
              <a:t>def fn(a,n):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    ls=[int(str(a)*i) for i in range(1,n+1)]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    return sum(ls)</a:t>
            </a:r>
          </a:p>
        </p:txBody>
      </p:sp>
      <p:sp>
        <p:nvSpPr>
          <p:cNvPr id="6" name="矩形 5"/>
          <p:cNvSpPr/>
          <p:nvPr/>
        </p:nvSpPr>
        <p:spPr>
          <a:xfrm>
            <a:off x="349238" y="3887760"/>
            <a:ext cx="1871025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print( fn(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9238" y="3479844"/>
            <a:ext cx="2890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3+33+333+3333+33333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54422" y="4653136"/>
            <a:ext cx="1335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5+55+555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49238" y="5730500"/>
            <a:ext cx="3499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8+88+888+8888+...+8888888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18396" y="5002004"/>
            <a:ext cx="1795684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print(fn(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5536" y="6175296"/>
            <a:ext cx="1795684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print(fn(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90109" y="5043110"/>
            <a:ext cx="284084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fn(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)+fn(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)+fn(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07437" y="4072426"/>
            <a:ext cx="2890535" cy="36933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3+33+333+3333+33333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418892" y="4072426"/>
            <a:ext cx="1507144" cy="36933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+5+55+555</a:t>
            </a:r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083501" y="4462400"/>
            <a:ext cx="3671198" cy="36933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+8+88+888+8888+...+8888888</a:t>
            </a: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640E62-5797-40F1-842E-5A683B2FBA9F}"/>
              </a:ext>
            </a:extLst>
          </p:cNvPr>
          <p:cNvSpPr/>
          <p:nvPr/>
        </p:nvSpPr>
        <p:spPr>
          <a:xfrm>
            <a:off x="251520" y="3429000"/>
            <a:ext cx="3744416" cy="101275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E9552D-3633-485F-8346-8446CFEBA883}"/>
              </a:ext>
            </a:extLst>
          </p:cNvPr>
          <p:cNvSpPr/>
          <p:nvPr/>
        </p:nvSpPr>
        <p:spPr>
          <a:xfrm>
            <a:off x="251520" y="4557073"/>
            <a:ext cx="3744416" cy="101275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7C95A3A-8635-4663-BD0A-ECEB1A195B69}"/>
              </a:ext>
            </a:extLst>
          </p:cNvPr>
          <p:cNvSpPr/>
          <p:nvPr/>
        </p:nvSpPr>
        <p:spPr>
          <a:xfrm>
            <a:off x="251520" y="5716536"/>
            <a:ext cx="3744416" cy="101275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123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104" y="44624"/>
            <a:ext cx="8780896" cy="752541"/>
          </a:xfrm>
        </p:spPr>
        <p:txBody>
          <a:bodyPr/>
          <a:lstStyle/>
          <a:p>
            <a:r>
              <a:rPr lang="en-US" sz="1800" b="1"/>
              <a:t>示例2</a:t>
            </a:r>
            <a:r>
              <a:rPr lang="en-US" sz="1800"/>
              <a:t>  编写函数，接收两个正整数作为参数，返回一个元组，其中第一个元素为最大公约数，第二个元素为最小公倍数。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220152" y="6345827"/>
            <a:ext cx="533400" cy="304800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46620" y="1404568"/>
            <a:ext cx="4158208" cy="16312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charset="0"/>
              </a:rPr>
              <a:t>def demo(m, n):</a:t>
            </a:r>
          </a:p>
          <a:p>
            <a:r>
              <a:rPr lang="en-US" altLang="zh-CN" sz="2000" dirty="0">
                <a:latin typeface="Consolas" panose="020B0609020204030204" charset="0"/>
              </a:rPr>
              <a:t>    r=min(</a:t>
            </a:r>
            <a:r>
              <a:rPr lang="en-US" altLang="zh-CN" sz="2000" dirty="0" err="1">
                <a:latin typeface="Consolas" panose="020B0609020204030204" charset="0"/>
              </a:rPr>
              <a:t>m,n</a:t>
            </a:r>
            <a:r>
              <a:rPr lang="en-US" altLang="zh-CN" sz="2000" dirty="0">
                <a:latin typeface="Consolas" panose="020B0609020204030204" charset="0"/>
              </a:rPr>
              <a:t>)</a:t>
            </a:r>
          </a:p>
          <a:p>
            <a:r>
              <a:rPr lang="en-US" altLang="zh-CN" sz="2000" dirty="0">
                <a:latin typeface="Consolas" panose="020B0609020204030204" charset="0"/>
              </a:rPr>
              <a:t>    while </a:t>
            </a:r>
            <a:r>
              <a:rPr lang="en-US" altLang="zh-CN" sz="2000" dirty="0" err="1">
                <a:latin typeface="Consolas" panose="020B0609020204030204" charset="0"/>
              </a:rPr>
              <a:t>m%r</a:t>
            </a:r>
            <a:r>
              <a:rPr lang="en-US" altLang="zh-CN" sz="2000" dirty="0">
                <a:latin typeface="Consolas" panose="020B0609020204030204" charset="0"/>
              </a:rPr>
              <a:t>!=0 or </a:t>
            </a:r>
            <a:r>
              <a:rPr lang="en-US" altLang="zh-CN" sz="2000" dirty="0" err="1">
                <a:latin typeface="Consolas" panose="020B0609020204030204" charset="0"/>
              </a:rPr>
              <a:t>n%r</a:t>
            </a:r>
            <a:r>
              <a:rPr lang="en-US" altLang="zh-CN" sz="2000" dirty="0">
                <a:latin typeface="Consolas" panose="020B0609020204030204" charset="0"/>
              </a:rPr>
              <a:t>!=0:</a:t>
            </a:r>
          </a:p>
          <a:p>
            <a:r>
              <a:rPr lang="en-US" altLang="zh-CN" sz="2000" dirty="0">
                <a:latin typeface="Consolas" panose="020B0609020204030204" charset="0"/>
              </a:rPr>
              <a:t>        r= r-1</a:t>
            </a:r>
          </a:p>
          <a:p>
            <a:r>
              <a:rPr lang="en-US" altLang="zh-CN" sz="2000" dirty="0">
                <a:latin typeface="Consolas" panose="020B0609020204030204" charset="0"/>
              </a:rPr>
              <a:t>    return (r, m*n//r)</a:t>
            </a:r>
          </a:p>
        </p:txBody>
      </p:sp>
      <p:sp>
        <p:nvSpPr>
          <p:cNvPr id="6" name="矩形 5"/>
          <p:cNvSpPr/>
          <p:nvPr/>
        </p:nvSpPr>
        <p:spPr>
          <a:xfrm>
            <a:off x="1046620" y="4068864"/>
            <a:ext cx="2779928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/>
              <a:t>&gt;&gt;&gt;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print(demo(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005064"/>
            <a:ext cx="1265655" cy="49219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89713" y="5158768"/>
            <a:ext cx="344517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400"/>
              <a:t>&gt;&gt;&gt; print(demo(</a:t>
            </a:r>
            <a:r>
              <a:rPr lang="zh-CN" altLang="en-US" sz="2400">
                <a:solidFill>
                  <a:srgbClr val="FF0000"/>
                </a:solidFill>
              </a:rPr>
              <a:t>36</a:t>
            </a:r>
            <a:r>
              <a:rPr lang="zh-CN" altLang="en-US" sz="2400"/>
              <a:t>, </a:t>
            </a:r>
            <a:r>
              <a:rPr lang="zh-CN" altLang="en-US" sz="2400">
                <a:solidFill>
                  <a:srgbClr val="FF0000"/>
                </a:solidFill>
              </a:rPr>
              <a:t>48</a:t>
            </a:r>
            <a:r>
              <a:rPr lang="zh-CN" altLang="en-US" sz="2400"/>
              <a:t>))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829" y="5287188"/>
            <a:ext cx="1571943" cy="30101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216C088-69B4-4CBA-8E6A-A859E0D95779}"/>
              </a:ext>
            </a:extLst>
          </p:cNvPr>
          <p:cNvSpPr txBox="1"/>
          <p:nvPr/>
        </p:nvSpPr>
        <p:spPr>
          <a:xfrm>
            <a:off x="6948264" y="3035784"/>
            <a:ext cx="1008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 startAt="6"/>
            </a:pPr>
            <a:r>
              <a:rPr lang="en-US" altLang="zh-CN" dirty="0"/>
              <a:t>   8</a:t>
            </a:r>
          </a:p>
          <a:p>
            <a:r>
              <a:rPr lang="en-US" altLang="zh-CN" dirty="0"/>
              <a:t>    6</a:t>
            </a:r>
          </a:p>
          <a:p>
            <a:r>
              <a:rPr lang="en-US" altLang="zh-CN" dirty="0"/>
              <a:t>    5</a:t>
            </a:r>
          </a:p>
          <a:p>
            <a:r>
              <a:rPr lang="en-US" altLang="zh-CN" dirty="0"/>
              <a:t>    4</a:t>
            </a:r>
          </a:p>
          <a:p>
            <a:r>
              <a:rPr lang="en-US" altLang="zh-CN" dirty="0"/>
              <a:t>    3</a:t>
            </a:r>
          </a:p>
          <a:p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</a:p>
          <a:p>
            <a:r>
              <a:rPr lang="en-US" altLang="zh-CN" dirty="0"/>
              <a:t>    1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881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7504" y="1717508"/>
            <a:ext cx="2376264" cy="1296144"/>
          </a:xfrm>
        </p:spPr>
        <p:txBody>
          <a:bodyPr/>
          <a:lstStyle/>
          <a:p>
            <a:r>
              <a:rPr lang="zh-CN" altLang="en-US" dirty="0"/>
              <a:t>程序的功能模块</a:t>
            </a:r>
            <a:endParaRPr lang="en-US" altLang="zh-CN" dirty="0"/>
          </a:p>
          <a:p>
            <a:r>
              <a:rPr lang="zh-CN" altLang="en-US" dirty="0"/>
              <a:t>代码</a:t>
            </a:r>
            <a:r>
              <a:rPr lang="zh-CN" altLang="en-US"/>
              <a:t>的重用</a:t>
            </a:r>
            <a:endParaRPr lang="en-US" altLang="zh-CN" dirty="0"/>
          </a:p>
          <a:p>
            <a:r>
              <a:rPr lang="zh-CN" altLang="en-US"/>
              <a:t>自定义</a:t>
            </a:r>
            <a:r>
              <a:rPr lang="zh-CN" altLang="en-US" dirty="0"/>
              <a:t>函数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11561" y="327224"/>
            <a:ext cx="5256584" cy="609600"/>
          </a:xfrm>
        </p:spPr>
        <p:txBody>
          <a:bodyPr/>
          <a:lstStyle/>
          <a:p>
            <a:r>
              <a:rPr lang="zh-CN" altLang="en-US" dirty="0"/>
              <a:t>示例</a:t>
            </a:r>
            <a:r>
              <a:rPr lang="en-US" altLang="zh-CN" dirty="0"/>
              <a:t>3</a:t>
            </a:r>
            <a:r>
              <a:rPr lang="zh-CN" altLang="en-US" dirty="0"/>
              <a:t>：验证哥德巴赫猜想，</a:t>
            </a:r>
            <a:r>
              <a:rPr lang="en-US" altLang="zh-CN" dirty="0" err="1"/>
              <a:t>正偶数n等于两个素数之和</a:t>
            </a:r>
            <a:r>
              <a:rPr lang="en-US" altLang="zh-CN" dirty="0"/>
              <a:t>, </a:t>
            </a:r>
            <a:r>
              <a:rPr lang="zh-CN" altLang="en-US" dirty="0"/>
              <a:t>即</a:t>
            </a:r>
            <a:r>
              <a:rPr lang="en-US" altLang="zh-CN" dirty="0"/>
              <a:t> n= x + y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713" y="25112"/>
            <a:ext cx="2714953" cy="667466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521080" y="2487108"/>
            <a:ext cx="2371399" cy="1373940"/>
          </a:xfrm>
          <a:prstGeom prst="rect">
            <a:avLst/>
          </a:prstGeom>
          <a:solidFill>
            <a:srgbClr val="66FFFF">
              <a:alpha val="69804"/>
            </a:srgbClr>
          </a:solidFill>
          <a:ln>
            <a:solidFill>
              <a:schemeClr val="accent6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1350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54651" y="4426424"/>
            <a:ext cx="2337828" cy="1450848"/>
          </a:xfrm>
          <a:prstGeom prst="rect">
            <a:avLst/>
          </a:prstGeom>
          <a:solidFill>
            <a:srgbClr val="66FFCC">
              <a:alpha val="69804"/>
            </a:srgbClr>
          </a:solidFill>
          <a:ln>
            <a:solidFill>
              <a:schemeClr val="accent6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1350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303" y="1717508"/>
            <a:ext cx="2640620" cy="2307068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9" name="左箭头 8"/>
          <p:cNvSpPr/>
          <p:nvPr/>
        </p:nvSpPr>
        <p:spPr>
          <a:xfrm>
            <a:off x="5204641" y="2488491"/>
            <a:ext cx="1296144" cy="602957"/>
          </a:xfrm>
          <a:prstGeom prst="lef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1350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699792" y="4221088"/>
            <a:ext cx="3621324" cy="224676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n=int(input())</a:t>
            </a:r>
          </a:p>
          <a:p>
            <a:pPr>
              <a:lnSpc>
                <a:spcPts val="28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for x in range(2, n//2+1):</a:t>
            </a:r>
          </a:p>
          <a:p>
            <a:pPr>
              <a:lnSpc>
                <a:spcPts val="28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     flag1=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IsPrime(x)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     flag2=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IsPrime(n-x)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     if flag1 and flag2:</a:t>
            </a:r>
          </a:p>
          <a:p>
            <a:pPr>
              <a:lnSpc>
                <a:spcPts val="28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print(f'{n} ={x} +{n-x}')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98189" y="2321144"/>
            <a:ext cx="2278459" cy="1274359"/>
          </a:xfrm>
          <a:prstGeom prst="rect">
            <a:avLst/>
          </a:prstGeom>
          <a:solidFill>
            <a:srgbClr val="FFFFCC">
              <a:alpha val="69804"/>
            </a:srgbClr>
          </a:solidFill>
          <a:ln>
            <a:solidFill>
              <a:srgbClr val="00B05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1350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B8A6AF-FEFF-4C3C-AB26-019BD178D800}"/>
              </a:ext>
            </a:extLst>
          </p:cNvPr>
          <p:cNvSpPr txBox="1"/>
          <p:nvPr/>
        </p:nvSpPr>
        <p:spPr>
          <a:xfrm>
            <a:off x="3563888" y="861692"/>
            <a:ext cx="1547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10 =  3  +  7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4CFFEF-CE6C-4FE7-B9B3-9EB04405352D}"/>
              </a:ext>
            </a:extLst>
          </p:cNvPr>
          <p:cNvSpPr txBox="1"/>
          <p:nvPr/>
        </p:nvSpPr>
        <p:spPr>
          <a:xfrm>
            <a:off x="179512" y="402457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改个简单一点的例子</a:t>
            </a:r>
          </a:p>
        </p:txBody>
      </p:sp>
    </p:spTree>
    <p:extLst>
      <p:ext uri="{BB962C8B-B14F-4D97-AF65-F5344CB8AC3E}">
        <p14:creationId xmlns:p14="http://schemas.microsoft.com/office/powerpoint/2010/main" val="185161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  <p:bldP spid="11" grpId="0" animBg="1"/>
      <p:bldP spid="1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文本占位符 20482"/>
          <p:cNvSpPr>
            <a:spLocks noGrp="1"/>
          </p:cNvSpPr>
          <p:nvPr>
            <p:ph idx="1"/>
          </p:nvPr>
        </p:nvSpPr>
        <p:spPr>
          <a:xfrm>
            <a:off x="395536" y="54922"/>
            <a:ext cx="8640960" cy="1040521"/>
          </a:xfrm>
        </p:spPr>
        <p:txBody>
          <a:bodyPr anchor="t">
            <a:normAutofit/>
          </a:bodyPr>
          <a:lstStyle/>
          <a:p>
            <a:pPr>
              <a:buSzPct val="90000"/>
              <a:buFont typeface="Wingdings" panose="05000000000000000000" charset="0"/>
              <a:buChar char="§"/>
            </a:pPr>
            <a:r>
              <a:rPr lang="zh-CN" altLang="en-US" sz="2000" b="1"/>
              <a:t>示例</a:t>
            </a:r>
            <a:r>
              <a:rPr lang="en-US" altLang="zh-CN"/>
              <a:t>4</a:t>
            </a:r>
            <a:r>
              <a:rPr lang="zh-CN" altLang="en-US" sz="2000" b="1"/>
              <a:t>：</a:t>
            </a:r>
            <a:r>
              <a:rPr lang="zh-CN" altLang="en-US" sz="2000"/>
              <a:t>编写</a:t>
            </a:r>
            <a:r>
              <a:rPr lang="zh-CN" altLang="en-US"/>
              <a:t>输出</a:t>
            </a:r>
            <a:r>
              <a:rPr lang="zh-CN" altLang="en-US" sz="2000"/>
              <a:t>斐波那契数</a:t>
            </a:r>
            <a:r>
              <a:rPr lang="zh-CN" altLang="en-US" sz="2000" dirty="0"/>
              <a:t>列</a:t>
            </a:r>
            <a:r>
              <a:rPr lang="zh-CN" altLang="en-US" sz="2000"/>
              <a:t>的函数</a:t>
            </a:r>
            <a:r>
              <a:rPr lang="en-US" altLang="zh-CN" sz="2000"/>
              <a:t>fib(n)</a:t>
            </a:r>
            <a:r>
              <a:rPr lang="zh-CN" altLang="en-US" sz="2000"/>
              <a:t>，功能：输出</a:t>
            </a:r>
            <a:r>
              <a:rPr lang="en-US" altLang="zh-CN" sz="2000"/>
              <a:t>&lt;n</a:t>
            </a:r>
            <a:r>
              <a:rPr lang="zh-CN" altLang="en-US" sz="2000"/>
              <a:t>的数列项。</a:t>
            </a:r>
            <a:endParaRPr lang="en-US" altLang="zh-CN" sz="2000"/>
          </a:p>
          <a:p>
            <a:pPr>
              <a:buSzPct val="90000"/>
              <a:buFont typeface="Wingdings" panose="05000000000000000000" charset="0"/>
              <a:buChar char="§"/>
            </a:pPr>
            <a:r>
              <a:rPr lang="zh-CN" altLang="en-US" sz="2000"/>
              <a:t>调用输出</a:t>
            </a:r>
            <a:r>
              <a:rPr lang="en-US" altLang="zh-CN" sz="2000"/>
              <a:t>&lt;1000</a:t>
            </a:r>
            <a:r>
              <a:rPr lang="zh-CN" altLang="en-US" sz="2000"/>
              <a:t>的数列项，</a:t>
            </a:r>
            <a:r>
              <a:rPr lang="en-US" altLang="zh-CN"/>
              <a:t>&lt;3000</a:t>
            </a:r>
            <a:r>
              <a:rPr lang="zh-CN" altLang="en-US"/>
              <a:t>的数列项</a:t>
            </a:r>
            <a:r>
              <a:rPr lang="zh-CN" altLang="en-US" sz="2000"/>
              <a:t>。</a:t>
            </a:r>
            <a:endParaRPr lang="en-US" altLang="zh-CN" sz="1400" dirty="0">
              <a:latin typeface="Consolas" panose="020B060902020403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726215" y="6399576"/>
            <a:ext cx="2057400" cy="273844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线形标注 2 4"/>
          <p:cNvSpPr/>
          <p:nvPr/>
        </p:nvSpPr>
        <p:spPr>
          <a:xfrm>
            <a:off x="467544" y="5146353"/>
            <a:ext cx="1207294" cy="354806"/>
          </a:xfrm>
          <a:prstGeom prst="borderCallout2">
            <a:avLst>
              <a:gd name="adj1" fmla="val -291"/>
              <a:gd name="adj2" fmla="val 48580"/>
              <a:gd name="adj3" fmla="val -55642"/>
              <a:gd name="adj4" fmla="val 55717"/>
              <a:gd name="adj5" fmla="val -117716"/>
              <a:gd name="adj6" fmla="val 1430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noProof="1"/>
              <a:t>调用函数</a:t>
            </a:r>
          </a:p>
        </p:txBody>
      </p:sp>
      <p:sp>
        <p:nvSpPr>
          <p:cNvPr id="6" name="线形标注 2 5"/>
          <p:cNvSpPr/>
          <p:nvPr/>
        </p:nvSpPr>
        <p:spPr>
          <a:xfrm>
            <a:off x="5272415" y="5661248"/>
            <a:ext cx="1675038" cy="63840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48654"/>
              <a:gd name="adj6" fmla="val -1294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altLang="zh-CN" noProof="1"/>
              <a:t>1000</a:t>
            </a:r>
            <a:r>
              <a:rPr lang="zh-CN" altLang="en-US" noProof="1"/>
              <a:t>是实参</a:t>
            </a:r>
          </a:p>
        </p:txBody>
      </p:sp>
      <p:sp>
        <p:nvSpPr>
          <p:cNvPr id="7" name="线形标注 2 6"/>
          <p:cNvSpPr/>
          <p:nvPr/>
        </p:nvSpPr>
        <p:spPr>
          <a:xfrm>
            <a:off x="4644008" y="1095443"/>
            <a:ext cx="1207294" cy="38576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27089"/>
              <a:gd name="adj6" fmla="val -890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altLang="zh-CN" noProof="1"/>
              <a:t>n</a:t>
            </a:r>
            <a:r>
              <a:rPr lang="zh-CN" altLang="en-US" noProof="1"/>
              <a:t>是形参</a:t>
            </a:r>
          </a:p>
        </p:txBody>
      </p:sp>
      <p:sp>
        <p:nvSpPr>
          <p:cNvPr id="25606" name="文本框 4"/>
          <p:cNvSpPr txBox="1"/>
          <p:nvPr/>
        </p:nvSpPr>
        <p:spPr>
          <a:xfrm>
            <a:off x="2276592" y="1691544"/>
            <a:ext cx="3807576" cy="2400657"/>
          </a:xfrm>
          <a:prstGeom prst="rect">
            <a:avLst/>
          </a:prstGeom>
          <a:noFill/>
          <a:ln w="222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defTabSz="685800">
              <a:lnSpc>
                <a:spcPct val="150000"/>
              </a:lnSpc>
              <a:buSzPct val="90000"/>
            </a:pPr>
            <a:r>
              <a:rPr lang="en-US" altLang="zh-CN" sz="2000" dirty="0" err="1">
                <a:latin typeface="Consolas" panose="020B0609020204030204" charset="0"/>
                <a:ea typeface="宋体" panose="02010600030101010101" pitchFamily="2" charset="-122"/>
              </a:rPr>
              <a:t>def</a:t>
            </a:r>
            <a:r>
              <a:rPr lang="en-US" altLang="zh-CN" sz="2000" dirty="0">
                <a:latin typeface="Consolas" panose="020B0609020204030204" charset="0"/>
                <a:ea typeface="宋体" panose="02010600030101010101" pitchFamily="2" charset="-122"/>
              </a:rPr>
              <a:t> fib(n):</a:t>
            </a:r>
          </a:p>
          <a:p>
            <a:pPr defTabSz="685800">
              <a:lnSpc>
                <a:spcPct val="150000"/>
              </a:lnSpc>
              <a:buSzPct val="90000"/>
            </a:pPr>
            <a:r>
              <a:rPr lang="en-US" altLang="zh-CN" sz="2000" dirty="0">
                <a:latin typeface="Consolas" panose="020B0609020204030204" charset="0"/>
                <a:ea typeface="宋体" panose="02010600030101010101" pitchFamily="2" charset="-122"/>
              </a:rPr>
              <a:t>    a, b = 1, 1</a:t>
            </a:r>
          </a:p>
          <a:p>
            <a:pPr defTabSz="685800">
              <a:lnSpc>
                <a:spcPct val="150000"/>
              </a:lnSpc>
              <a:buSzPct val="90000"/>
            </a:pPr>
            <a:r>
              <a:rPr lang="en-US" altLang="zh-CN" sz="2000" dirty="0">
                <a:latin typeface="Consolas" panose="020B0609020204030204" charset="0"/>
                <a:ea typeface="宋体" panose="02010600030101010101" pitchFamily="2" charset="-122"/>
              </a:rPr>
              <a:t>    while a &lt; n:</a:t>
            </a:r>
          </a:p>
          <a:p>
            <a:pPr defTabSz="685800">
              <a:lnSpc>
                <a:spcPct val="150000"/>
              </a:lnSpc>
              <a:buSzPct val="90000"/>
            </a:pPr>
            <a:r>
              <a:rPr lang="en-US" altLang="zh-CN" sz="2000" dirty="0">
                <a:latin typeface="Consolas" panose="020B0609020204030204" charset="0"/>
                <a:ea typeface="宋体" panose="02010600030101010101" pitchFamily="2" charset="-122"/>
              </a:rPr>
              <a:t>        print(a, end=' ')</a:t>
            </a:r>
          </a:p>
          <a:p>
            <a:pPr defTabSz="685800">
              <a:lnSpc>
                <a:spcPct val="150000"/>
              </a:lnSpc>
              <a:buSzPct val="90000"/>
            </a:pPr>
            <a:r>
              <a:rPr lang="en-US" altLang="zh-CN" sz="2000" dirty="0">
                <a:latin typeface="Consolas" panose="020B0609020204030204" charset="0"/>
                <a:ea typeface="宋体" panose="02010600030101010101" pitchFamily="2" charset="-122"/>
              </a:rPr>
              <a:t>        a, b = b</a:t>
            </a:r>
            <a:r>
              <a:rPr lang="en-US" altLang="zh-CN" sz="2000">
                <a:latin typeface="Consolas" panose="020B0609020204030204" charset="0"/>
                <a:ea typeface="宋体" panose="02010600030101010101" pitchFamily="2" charset="-122"/>
              </a:rPr>
              <a:t>, a+b</a:t>
            </a:r>
            <a:endParaRPr lang="en-US" altLang="zh-CN" sz="2000" dirty="0">
              <a:latin typeface="Consolas" panose="020B0609020204030204" charset="0"/>
              <a:ea typeface="宋体" panose="02010600030101010101" pitchFamily="2" charset="-122"/>
            </a:endParaRPr>
          </a:p>
        </p:txBody>
      </p:sp>
      <p:sp>
        <p:nvSpPr>
          <p:cNvPr id="8" name="线形标注 1 7"/>
          <p:cNvSpPr/>
          <p:nvPr/>
        </p:nvSpPr>
        <p:spPr>
          <a:xfrm>
            <a:off x="611560" y="2437958"/>
            <a:ext cx="1203213" cy="351132"/>
          </a:xfrm>
          <a:prstGeom prst="borderCallout1">
            <a:avLst>
              <a:gd name="adj1" fmla="val -4574"/>
              <a:gd name="adj2" fmla="val 48895"/>
              <a:gd name="adj3" fmla="val -136276"/>
              <a:gd name="adj4" fmla="val 1447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noProof="1"/>
              <a:t>定义头</a:t>
            </a:r>
          </a:p>
        </p:txBody>
      </p:sp>
      <p:sp>
        <p:nvSpPr>
          <p:cNvPr id="9" name="矩形 8"/>
          <p:cNvSpPr/>
          <p:nvPr/>
        </p:nvSpPr>
        <p:spPr>
          <a:xfrm>
            <a:off x="2915816" y="2290157"/>
            <a:ext cx="3168352" cy="178254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noProof="1"/>
          </a:p>
        </p:txBody>
      </p:sp>
      <p:sp>
        <p:nvSpPr>
          <p:cNvPr id="10" name="线形标注 2 9"/>
          <p:cNvSpPr/>
          <p:nvPr/>
        </p:nvSpPr>
        <p:spPr>
          <a:xfrm>
            <a:off x="6660232" y="2119371"/>
            <a:ext cx="1173782" cy="34157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9629"/>
              <a:gd name="adj6" fmla="val -6565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noProof="1"/>
              <a:t>函数体</a:t>
            </a:r>
          </a:p>
        </p:txBody>
      </p:sp>
      <p:sp>
        <p:nvSpPr>
          <p:cNvPr id="11" name="矩形 10"/>
          <p:cNvSpPr/>
          <p:nvPr/>
        </p:nvSpPr>
        <p:spPr>
          <a:xfrm>
            <a:off x="2195736" y="4434386"/>
            <a:ext cx="132440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>
              <a:lnSpc>
                <a:spcPct val="150000"/>
              </a:lnSpc>
              <a:buSzPct val="90000"/>
            </a:pPr>
            <a:r>
              <a:rPr lang="en-US" altLang="zh-CN">
                <a:latin typeface="Consolas" panose="020B0609020204030204" charset="0"/>
                <a:ea typeface="宋体" panose="02010600030101010101" pitchFamily="2" charset="-122"/>
              </a:rPr>
              <a:t>fib(1000)</a:t>
            </a:r>
            <a:endParaRPr lang="en-US" altLang="zh-CN" dirty="0">
              <a:latin typeface="Consolas" panose="020B0609020204030204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76448" y="5069840"/>
            <a:ext cx="132440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>
              <a:lnSpc>
                <a:spcPct val="150000"/>
              </a:lnSpc>
              <a:buSzPct val="90000"/>
            </a:pPr>
            <a:r>
              <a:rPr lang="en-US" altLang="zh-CN">
                <a:latin typeface="Consolas" panose="020B0609020204030204" charset="0"/>
                <a:ea typeface="宋体" panose="02010600030101010101" pitchFamily="2" charset="-122"/>
              </a:rPr>
              <a:t>fib(3000)</a:t>
            </a:r>
            <a:endParaRPr lang="en-US" altLang="zh-CN" dirty="0">
              <a:latin typeface="Consolas" panose="020B060902020403020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686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25606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43607" y="1124744"/>
            <a:ext cx="724067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cs typeface="+mj-cs"/>
              </a:rPr>
              <a:t>本章内容</a:t>
            </a:r>
          </a:p>
        </p:txBody>
      </p:sp>
      <p:sp>
        <p:nvSpPr>
          <p:cNvPr id="6" name="矩形 5"/>
          <p:cNvSpPr/>
          <p:nvPr/>
        </p:nvSpPr>
        <p:spPr>
          <a:xfrm>
            <a:off x="1073174" y="2132856"/>
            <a:ext cx="7211111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40000">
              <a:lnSpc>
                <a:spcPts val="5000"/>
              </a:lnSpc>
              <a:buClr>
                <a:srgbClr val="7030A0"/>
              </a:buClr>
              <a:buSzPct val="60000"/>
              <a:buFont typeface="Wingdings" pitchFamily="2" charset="2"/>
              <a:buChar char=""/>
            </a:pPr>
            <a:r>
              <a:rPr lang="zh-CN" altLang="zh-CN" sz="3600" b="1" dirty="0">
                <a:hlinkClick r:id="rId2" action="ppaction://hlinksldjump"/>
              </a:rPr>
              <a:t>函数的定义与调用</a:t>
            </a:r>
            <a:endParaRPr lang="en-US" altLang="zh-CN" sz="3600" b="1" dirty="0"/>
          </a:p>
          <a:p>
            <a:pPr indent="-540000">
              <a:lnSpc>
                <a:spcPts val="5000"/>
              </a:lnSpc>
              <a:buClr>
                <a:srgbClr val="7030A0"/>
              </a:buClr>
              <a:buSzPct val="60000"/>
              <a:buFont typeface="Wingdings" pitchFamily="2" charset="2"/>
              <a:buChar char=""/>
            </a:pPr>
            <a:r>
              <a:rPr lang="zh-CN" altLang="zh-CN" sz="3600" b="1" dirty="0">
                <a:hlinkClick r:id="" action="ppaction://noaction"/>
              </a:rPr>
              <a:t>函数参数的传递</a:t>
            </a:r>
            <a:endParaRPr lang="en-US" altLang="zh-CN" sz="3600" b="1" dirty="0"/>
          </a:p>
          <a:p>
            <a:pPr indent="-540000">
              <a:lnSpc>
                <a:spcPts val="5000"/>
              </a:lnSpc>
              <a:buClr>
                <a:srgbClr val="7030A0"/>
              </a:buClr>
              <a:buSzPct val="60000"/>
              <a:buFont typeface="Wingdings" pitchFamily="2" charset="2"/>
              <a:buChar char=""/>
            </a:pPr>
            <a:r>
              <a:rPr lang="zh-CN" altLang="zh-CN" sz="2000" b="1" strike="sngStrike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匿名函数的定义</a:t>
            </a:r>
            <a:r>
              <a:rPr lang="zh-CN" altLang="zh-CN" sz="2000" b="1" strike="sngStrike">
                <a:solidFill>
                  <a:schemeClr val="accent5">
                    <a:lumMod val="75000"/>
                  </a:schemeClr>
                </a:solidFill>
                <a:latin typeface="+mn-ea"/>
              </a:rPr>
              <a:t>与使用</a:t>
            </a:r>
            <a:r>
              <a:rPr lang="zh-CN" altLang="en-US" sz="2000" b="1" strike="sngStrike">
                <a:solidFill>
                  <a:schemeClr val="accent5">
                    <a:lumMod val="75000"/>
                  </a:schemeClr>
                </a:solidFill>
                <a:latin typeface="+mn-ea"/>
              </a:rPr>
              <a:t>：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latin typeface="+mn-ea"/>
              </a:rPr>
              <a:t>lambda</a:t>
            </a:r>
            <a:endParaRPr lang="en-US" altLang="zh-CN" sz="2000" b="1" dirty="0">
              <a:solidFill>
                <a:schemeClr val="accent5">
                  <a:lumMod val="75000"/>
                </a:schemeClr>
              </a:solidFill>
              <a:latin typeface="+mn-ea"/>
            </a:endParaRPr>
          </a:p>
          <a:p>
            <a:pPr marL="0" lvl="1" indent="-540000">
              <a:lnSpc>
                <a:spcPts val="5000"/>
              </a:lnSpc>
              <a:buClr>
                <a:srgbClr val="7030A0"/>
              </a:buClr>
              <a:buSzPct val="60000"/>
              <a:buFont typeface="Wingdings" pitchFamily="2" charset="2"/>
              <a:buChar char=""/>
            </a:pPr>
            <a:r>
              <a:rPr lang="zh-CN" altLang="zh-CN" sz="3600" b="1" dirty="0">
                <a:hlinkClick r:id="" action="ppaction://noaction"/>
              </a:rPr>
              <a:t>变量的作用域</a:t>
            </a:r>
            <a:endParaRPr lang="zh-CN" altLang="zh-CN" sz="3600" b="1" dirty="0"/>
          </a:p>
          <a:p>
            <a:pPr marL="0" lvl="1" indent="-540000">
              <a:lnSpc>
                <a:spcPts val="5000"/>
              </a:lnSpc>
              <a:buClr>
                <a:srgbClr val="7030A0"/>
              </a:buClr>
              <a:buSzPct val="60000"/>
              <a:buFont typeface="Wingdings" pitchFamily="2" charset="2"/>
              <a:buChar char=""/>
            </a:pPr>
            <a:r>
              <a:rPr lang="zh-CN" altLang="zh-CN" sz="3600" b="1" dirty="0">
                <a:hlinkClick r:id="" action="ppaction://noaction"/>
              </a:rPr>
              <a:t>模块的定义与使用</a:t>
            </a:r>
            <a:endParaRPr lang="en-US" altLang="zh-CN" sz="3600" b="1" dirty="0"/>
          </a:p>
          <a:p>
            <a:pPr marL="0" lvl="1" indent="-540000">
              <a:lnSpc>
                <a:spcPts val="5000"/>
              </a:lnSpc>
              <a:buClr>
                <a:srgbClr val="7030A0"/>
              </a:buClr>
              <a:buSzPct val="60000"/>
              <a:buFont typeface="Wingdings" pitchFamily="2" charset="2"/>
              <a:buChar char=""/>
            </a:pPr>
            <a:r>
              <a:rPr lang="zh-CN" altLang="en-US" sz="3600" b="1" dirty="0">
                <a:hlinkClick r:id="" action="ppaction://noaction"/>
              </a:rPr>
              <a:t>函数应用举例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622790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76837" y="948267"/>
            <a:ext cx="8780896" cy="2984789"/>
          </a:xfrm>
        </p:spPr>
        <p:txBody>
          <a:bodyPr/>
          <a:lstStyle/>
          <a:p>
            <a:r>
              <a:rPr lang="en-US" altLang="zh-CN" dirty="0"/>
              <a:t>8.1.1  </a:t>
            </a:r>
            <a:r>
              <a:rPr lang="zh-CN" altLang="en-US" dirty="0"/>
              <a:t>函数的定义</a:t>
            </a:r>
          </a:p>
          <a:p>
            <a:pPr indent="0">
              <a:buNone/>
            </a:pPr>
            <a:r>
              <a:rPr lang="en-US" altLang="zh-CN" dirty="0"/>
              <a:t>Python</a:t>
            </a:r>
            <a:r>
              <a:rPr lang="zh-CN" altLang="en-US" dirty="0"/>
              <a:t>函数的定义包括对函数名、函数的参数与函数功能的描述。一般形式为：</a:t>
            </a:r>
          </a:p>
          <a:p>
            <a:pPr indent="0">
              <a:buNone/>
            </a:pPr>
            <a:endParaRPr lang="en-US" altLang="zh-CN"/>
          </a:p>
          <a:p>
            <a:pPr indent="0">
              <a:buNone/>
            </a:pPr>
            <a:endParaRPr lang="en-US" altLang="zh-CN"/>
          </a:p>
          <a:p>
            <a:pPr indent="0">
              <a:buNone/>
            </a:pPr>
            <a:endParaRPr lang="en-US" altLang="zh-CN"/>
          </a:p>
          <a:p>
            <a:pPr indent="0">
              <a:buNone/>
            </a:pPr>
            <a:r>
              <a:rPr lang="zh-CN" altLang="en-US"/>
              <a:t>例如：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245794"/>
                </a:solidFill>
              </a:rPr>
              <a:t>8.1  </a:t>
            </a:r>
            <a:r>
              <a:rPr lang="zh-CN" altLang="en-US" dirty="0">
                <a:solidFill>
                  <a:srgbClr val="245794"/>
                </a:solidFill>
              </a:rPr>
              <a:t>函数的定义与调用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893769" y="2060848"/>
            <a:ext cx="3024336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en-US" altLang="zh-CN" sz="2000">
                <a:latin typeface="+mj-ea"/>
                <a:ea typeface="+mj-ea"/>
              </a:rPr>
              <a:t>def </a:t>
            </a:r>
            <a:r>
              <a:rPr lang="zh-CN" altLang="en-US" sz="2000">
                <a:latin typeface="+mj-ea"/>
                <a:ea typeface="+mj-ea"/>
              </a:rPr>
              <a:t>函数名</a:t>
            </a:r>
            <a:r>
              <a:rPr lang="en-US" altLang="zh-CN" sz="2000">
                <a:latin typeface="+mj-ea"/>
                <a:ea typeface="+mj-ea"/>
              </a:rPr>
              <a:t>([</a:t>
            </a:r>
            <a:r>
              <a:rPr lang="zh-CN" altLang="en-US" sz="2000">
                <a:latin typeface="+mj-ea"/>
                <a:ea typeface="+mj-ea"/>
              </a:rPr>
              <a:t>形式参数表</a:t>
            </a:r>
            <a:r>
              <a:rPr lang="en-US" altLang="zh-CN" sz="2000">
                <a:latin typeface="+mj-ea"/>
                <a:ea typeface="+mj-ea"/>
              </a:rPr>
              <a:t>]):</a:t>
            </a:r>
          </a:p>
          <a:p>
            <a:pPr indent="0">
              <a:lnSpc>
                <a:spcPct val="150000"/>
              </a:lnSpc>
              <a:buNone/>
            </a:pPr>
            <a:r>
              <a:rPr lang="en-US" altLang="zh-CN" sz="2000">
                <a:latin typeface="+mj-ea"/>
                <a:ea typeface="+mj-ea"/>
                <a:sym typeface="+mn-ea"/>
              </a:rPr>
              <a:t>    '''</a:t>
            </a:r>
            <a:r>
              <a:rPr lang="zh-CN" altLang="en-US" sz="2000">
                <a:latin typeface="+mj-ea"/>
                <a:ea typeface="+mj-ea"/>
                <a:sym typeface="+mn-ea"/>
              </a:rPr>
              <a:t>注释</a:t>
            </a:r>
            <a:r>
              <a:rPr lang="en-US" altLang="zh-CN" sz="2000">
                <a:latin typeface="+mj-ea"/>
                <a:ea typeface="+mj-ea"/>
                <a:sym typeface="+mn-ea"/>
              </a:rPr>
              <a:t>'''</a:t>
            </a:r>
            <a:endParaRPr lang="zh-CN" altLang="en-US" sz="2000">
              <a:latin typeface="+mj-ea"/>
              <a:ea typeface="+mj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2000">
                <a:latin typeface="+mj-ea"/>
                <a:ea typeface="+mj-ea"/>
              </a:rPr>
              <a:t>    </a:t>
            </a:r>
            <a:r>
              <a:rPr lang="zh-CN" altLang="en-US" sz="2000">
                <a:latin typeface="+mj-ea"/>
                <a:ea typeface="+mj-ea"/>
              </a:rPr>
              <a:t>函数体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69069" y="4157997"/>
            <a:ext cx="7073736" cy="19389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b="1">
                <a:solidFill>
                  <a:srgbClr val="008800"/>
                </a:solidFill>
                <a:latin typeface="Consolas" panose="020B0609020204030204" pitchFamily="49" charset="0"/>
              </a:rPr>
              <a:t>def </a:t>
            </a:r>
            <a:r>
              <a:rPr lang="en-US" altLang="zh-CN" sz="2000" b="1">
                <a:solidFill>
                  <a:srgbClr val="0066BB"/>
                </a:solidFill>
                <a:latin typeface="Consolas" panose="020B0609020204030204" pitchFamily="49" charset="0"/>
              </a:rPr>
              <a:t>isOdd(num):       </a:t>
            </a:r>
          </a:p>
          <a:p>
            <a:r>
              <a:rPr lang="zh-CN" altLang="en-US" sz="2000">
                <a:latin typeface="Consolas" panose="020B0609020204030204" pitchFamily="49" charset="0"/>
              </a:rPr>
              <a:t>    </a:t>
            </a:r>
            <a:r>
              <a:rPr lang="en-US" altLang="zh-CN" sz="1600">
                <a:solidFill>
                  <a:srgbClr val="DD4422"/>
                </a:solidFill>
                <a:latin typeface="Consolas" panose="020B0609020204030204" pitchFamily="49" charset="0"/>
              </a:rPr>
              <a:t>'''</a:t>
            </a:r>
            <a:r>
              <a:rPr lang="zh-CN" altLang="en-US" sz="1600">
                <a:solidFill>
                  <a:srgbClr val="DD4422"/>
                </a:solidFill>
                <a:latin typeface="Consolas" panose="020B0609020204030204" pitchFamily="49" charset="0"/>
              </a:rPr>
              <a:t>判断</a:t>
            </a:r>
            <a:r>
              <a:rPr lang="en-US" altLang="zh-CN" sz="1600">
                <a:solidFill>
                  <a:srgbClr val="DD4422"/>
                </a:solidFill>
                <a:latin typeface="Consolas" panose="020B0609020204030204" pitchFamily="49" charset="0"/>
              </a:rPr>
              <a:t>num</a:t>
            </a:r>
            <a:r>
              <a:rPr lang="zh-CN" altLang="en-US" sz="1600">
                <a:solidFill>
                  <a:srgbClr val="DD4422"/>
                </a:solidFill>
                <a:latin typeface="Consolas" panose="020B0609020204030204" pitchFamily="49" charset="0"/>
              </a:rPr>
              <a:t>是否为奇数，是奇数则返回</a:t>
            </a:r>
            <a:r>
              <a:rPr lang="en-US" altLang="zh-CN" sz="1600">
                <a:solidFill>
                  <a:srgbClr val="DD4422"/>
                </a:solidFill>
                <a:latin typeface="Consolas" panose="020B0609020204030204" pitchFamily="49" charset="0"/>
              </a:rPr>
              <a:t>True</a:t>
            </a:r>
            <a:r>
              <a:rPr lang="zh-CN" altLang="en-US" sz="1600">
                <a:solidFill>
                  <a:srgbClr val="DD4422"/>
                </a:solidFill>
                <a:latin typeface="Consolas" panose="020B0609020204030204" pitchFamily="49" charset="0"/>
              </a:rPr>
              <a:t>，否则返回</a:t>
            </a:r>
            <a:r>
              <a:rPr lang="en-US" altLang="zh-CN" sz="1600">
                <a:solidFill>
                  <a:srgbClr val="DD4422"/>
                </a:solidFill>
                <a:latin typeface="Consolas" panose="020B0609020204030204" pitchFamily="49" charset="0"/>
              </a:rPr>
              <a:t>False'''</a:t>
            </a:r>
          </a:p>
          <a:p>
            <a:r>
              <a:rPr lang="en-US" altLang="zh-CN" sz="2000">
                <a:latin typeface="Consolas" panose="020B0609020204030204" pitchFamily="49" charset="0"/>
              </a:rPr>
              <a:t>    </a:t>
            </a:r>
            <a:r>
              <a:rPr lang="en-US" altLang="zh-CN" sz="2000" b="1">
                <a:solidFill>
                  <a:srgbClr val="008800"/>
                </a:solidFill>
                <a:latin typeface="Consolas" panose="020B0609020204030204" pitchFamily="49" charset="0"/>
              </a:rPr>
              <a:t>if num</a:t>
            </a:r>
            <a:r>
              <a:rPr lang="en-US" altLang="zh-CN" sz="2000" b="1">
                <a:solidFill>
                  <a:srgbClr val="333333"/>
                </a:solidFill>
                <a:latin typeface="Consolas" panose="020B0609020204030204" pitchFamily="49" charset="0"/>
              </a:rPr>
              <a:t>%</a:t>
            </a:r>
            <a:r>
              <a:rPr lang="en-US" altLang="zh-CN" sz="2000" b="1">
                <a:solidFill>
                  <a:srgbClr val="0000DD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000" b="1">
                <a:solidFill>
                  <a:srgbClr val="333333"/>
                </a:solidFill>
                <a:latin typeface="Consolas" panose="020B0609020204030204" pitchFamily="49" charset="0"/>
              </a:rPr>
              <a:t>==</a:t>
            </a:r>
            <a:r>
              <a:rPr lang="en-US" altLang="zh-CN" sz="2000" b="1">
                <a:solidFill>
                  <a:srgbClr val="0000DD"/>
                </a:solidFill>
                <a:latin typeface="Consolas" panose="020B0609020204030204" pitchFamily="49" charset="0"/>
              </a:rPr>
              <a:t>1: </a:t>
            </a:r>
          </a:p>
          <a:p>
            <a:r>
              <a:rPr lang="en-US" altLang="zh-CN" sz="2000">
                <a:latin typeface="Consolas" panose="020B0609020204030204" pitchFamily="49" charset="0"/>
              </a:rPr>
              <a:t>        </a:t>
            </a:r>
            <a:r>
              <a:rPr lang="en-US" altLang="zh-CN" sz="2000" b="1">
                <a:solidFill>
                  <a:srgbClr val="008800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CN" sz="2000" b="1">
                <a:solidFill>
                  <a:srgbClr val="007020"/>
                </a:solidFill>
                <a:latin typeface="Consolas" panose="020B0609020204030204" pitchFamily="49" charset="0"/>
              </a:rPr>
              <a:t>True     </a:t>
            </a:r>
          </a:p>
          <a:p>
            <a:r>
              <a:rPr lang="en-US" altLang="zh-CN" sz="2000">
                <a:latin typeface="Consolas" panose="020B0609020204030204" pitchFamily="49" charset="0"/>
              </a:rPr>
              <a:t>    </a:t>
            </a:r>
            <a:r>
              <a:rPr lang="en-US" altLang="zh-CN" sz="2000" b="1">
                <a:solidFill>
                  <a:srgbClr val="008800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n-US" altLang="zh-CN" sz="2000">
                <a:latin typeface="Consolas" panose="020B0609020204030204" pitchFamily="49" charset="0"/>
              </a:rPr>
              <a:t>        </a:t>
            </a:r>
            <a:r>
              <a:rPr lang="en-US" altLang="zh-CN" sz="2000" b="1">
                <a:solidFill>
                  <a:srgbClr val="008800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CN" sz="2000" b="1">
                <a:solidFill>
                  <a:srgbClr val="007020"/>
                </a:solidFill>
                <a:latin typeface="Consolas" panose="020B0609020204030204" pitchFamily="49" charset="0"/>
              </a:rPr>
              <a:t>False </a:t>
            </a:r>
            <a:endParaRPr lang="en-US" altLang="zh-CN" sz="2000" b="1" dirty="0">
              <a:solidFill>
                <a:srgbClr val="00702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7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函数头</a:t>
            </a:r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176837" y="948267"/>
            <a:ext cx="5907331" cy="204868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函数头：</a:t>
            </a:r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zh-CN" altLang="en-US" dirty="0"/>
              <a:t>函数名</a:t>
            </a:r>
            <a:r>
              <a:rPr lang="en-US" altLang="zh-CN" dirty="0"/>
              <a:t>([</a:t>
            </a:r>
            <a:r>
              <a:rPr lang="zh-CN" altLang="en-US" dirty="0"/>
              <a:t>参数列表</a:t>
            </a:r>
            <a:r>
              <a:rPr lang="en-US" altLang="zh-CN" dirty="0"/>
              <a:t>]):</a:t>
            </a:r>
          </a:p>
          <a:p>
            <a:pPr lvl="1">
              <a:lnSpc>
                <a:spcPct val="150000"/>
              </a:lnSpc>
            </a:pPr>
            <a:r>
              <a:rPr lang="en-US" altLang="zh-CN" sz="1800" b="1" dirty="0" err="1"/>
              <a:t>def</a:t>
            </a:r>
            <a:r>
              <a:rPr lang="en-US" altLang="zh-CN" sz="1800" b="1" dirty="0"/>
              <a:t> ： python</a:t>
            </a:r>
            <a:r>
              <a:rPr lang="zh-CN" altLang="en-US" sz="1800" b="1" dirty="0"/>
              <a:t>用于定义函数</a:t>
            </a:r>
            <a:r>
              <a:rPr lang="zh-CN" altLang="en-US" sz="1800" b="1"/>
              <a:t>的关键字</a:t>
            </a:r>
            <a:endParaRPr lang="en-US" altLang="zh-CN" sz="1800" b="1"/>
          </a:p>
          <a:p>
            <a:pPr lvl="1">
              <a:lnSpc>
                <a:spcPct val="150000"/>
              </a:lnSpc>
            </a:pPr>
            <a:r>
              <a:rPr lang="zh-CN" altLang="en-US" sz="1800" b="1"/>
              <a:t>函数</a:t>
            </a:r>
            <a:r>
              <a:rPr lang="zh-CN" altLang="en-US" sz="1800" b="1" dirty="0"/>
              <a:t>名：标识符</a:t>
            </a:r>
            <a:endParaRPr lang="en-US" altLang="zh-CN" sz="1800" b="1" dirty="0"/>
          </a:p>
          <a:p>
            <a:pPr lvl="1">
              <a:lnSpc>
                <a:spcPct val="150000"/>
              </a:lnSpc>
            </a:pPr>
            <a:r>
              <a:rPr lang="zh-CN" altLang="en-US" sz="1800" b="1"/>
              <a:t>括号</a:t>
            </a:r>
            <a:r>
              <a:rPr lang="zh-CN" altLang="en-US" sz="1800" b="1" dirty="0"/>
              <a:t>后面的冒号必不可少</a:t>
            </a:r>
          </a:p>
          <a:p>
            <a:endParaRPr lang="zh-CN" altLang="en-US" sz="1800" dirty="0"/>
          </a:p>
        </p:txBody>
      </p:sp>
      <p:sp>
        <p:nvSpPr>
          <p:cNvPr id="6" name="矩形 5"/>
          <p:cNvSpPr/>
          <p:nvPr/>
        </p:nvSpPr>
        <p:spPr>
          <a:xfrm>
            <a:off x="755576" y="3153452"/>
            <a:ext cx="3168352" cy="16312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8800"/>
                </a:solidFill>
                <a:latin typeface="Consolas" panose="020B0609020204030204" pitchFamily="49" charset="0"/>
              </a:rPr>
              <a:t>def </a:t>
            </a:r>
            <a:r>
              <a:rPr lang="en-US" altLang="zh-CN" sz="2000" b="1" dirty="0" err="1">
                <a:solidFill>
                  <a:srgbClr val="0066BB"/>
                </a:solidFill>
                <a:latin typeface="Consolas" panose="020B0609020204030204" pitchFamily="49" charset="0"/>
              </a:rPr>
              <a:t>Mymax</a:t>
            </a:r>
            <a:r>
              <a:rPr lang="en-US" altLang="zh-CN" sz="2000" b="1" dirty="0">
                <a:solidFill>
                  <a:srgbClr val="0066B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 err="1">
                <a:solidFill>
                  <a:srgbClr val="0066BB"/>
                </a:solidFill>
                <a:latin typeface="Consolas" panose="020B0609020204030204" pitchFamily="49" charset="0"/>
              </a:rPr>
              <a:t>m,n</a:t>
            </a:r>
            <a:r>
              <a:rPr lang="en-US" altLang="zh-CN" sz="2000" b="1" dirty="0">
                <a:solidFill>
                  <a:srgbClr val="0066BB"/>
                </a:solidFill>
                <a:latin typeface="Consolas" panose="020B0609020204030204" pitchFamily="49" charset="0"/>
              </a:rPr>
              <a:t>):       </a:t>
            </a:r>
          </a:p>
          <a:p>
            <a:r>
              <a:rPr lang="en-US" altLang="zh-CN" sz="2000" b="1" dirty="0">
                <a:solidFill>
                  <a:srgbClr val="008800"/>
                </a:solidFill>
                <a:latin typeface="Consolas" panose="020B0609020204030204" pitchFamily="49" charset="0"/>
              </a:rPr>
              <a:t>    if m</a:t>
            </a:r>
            <a:r>
              <a:rPr lang="en-US" altLang="zh-CN" sz="2000" b="1" dirty="0">
                <a:solidFill>
                  <a:srgbClr val="333333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2000" b="1" dirty="0">
                <a:solidFill>
                  <a:srgbClr val="0000DD"/>
                </a:solidFill>
                <a:latin typeface="Consolas" panose="020B0609020204030204" pitchFamily="49" charset="0"/>
              </a:rPr>
              <a:t>n: 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   </a:t>
            </a:r>
            <a:r>
              <a:rPr lang="en-US" altLang="zh-CN" sz="2000" b="1" dirty="0">
                <a:solidFill>
                  <a:srgbClr val="008800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CN" sz="2000" b="1" dirty="0">
                <a:solidFill>
                  <a:srgbClr val="007020"/>
                </a:solidFill>
                <a:latin typeface="Consolas" panose="020B0609020204030204" pitchFamily="49" charset="0"/>
              </a:rPr>
              <a:t>m     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b="1" dirty="0">
                <a:solidFill>
                  <a:srgbClr val="008800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   </a:t>
            </a:r>
            <a:r>
              <a:rPr lang="en-US" altLang="zh-CN" sz="2000" b="1" dirty="0">
                <a:solidFill>
                  <a:srgbClr val="008800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CN" sz="2000" b="1" dirty="0">
                <a:solidFill>
                  <a:srgbClr val="007020"/>
                </a:solidFill>
                <a:latin typeface="Consolas" panose="020B0609020204030204" pitchFamily="49" charset="0"/>
              </a:rPr>
              <a:t>n </a:t>
            </a:r>
          </a:p>
        </p:txBody>
      </p:sp>
      <p:sp>
        <p:nvSpPr>
          <p:cNvPr id="2" name="矩形 1"/>
          <p:cNvSpPr/>
          <p:nvPr/>
        </p:nvSpPr>
        <p:spPr>
          <a:xfrm>
            <a:off x="1809408" y="5544650"/>
            <a:ext cx="62926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2" indent="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/>
              <a:t>形参列表由变量组成，之间用逗号分隔</a:t>
            </a:r>
            <a:endParaRPr lang="en-US" altLang="zh-CN" b="1"/>
          </a:p>
          <a:p>
            <a:pPr marL="285750" lvl="2" indent="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/>
              <a:t>即使该函数不需要形参，也必须保留一对空的圆括号</a:t>
            </a:r>
            <a:endParaRPr lang="zh-CN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5580112" y="3284984"/>
            <a:ext cx="1584176" cy="10926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>
                <a:latin typeface="+mj-ea"/>
                <a:ea typeface="+mj-ea"/>
              </a:rPr>
              <a:t>def try():</a:t>
            </a:r>
            <a:endParaRPr lang="zh-CN" altLang="en-US" sz="2000">
              <a:latin typeface="+mj-ea"/>
              <a:ea typeface="+mj-ea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>
                <a:latin typeface="+mj-ea"/>
                <a:ea typeface="+mj-ea"/>
              </a:rPr>
              <a:t>    pass</a:t>
            </a:r>
            <a:endParaRPr lang="zh-CN" altLang="en-US" sz="2000" dirty="0">
              <a:latin typeface="+mj-ea"/>
              <a:ea typeface="+mj-ea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 flipH="1" flipV="1">
            <a:off x="2483768" y="3501008"/>
            <a:ext cx="1368152" cy="22322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/>
          <p:cNvCxnSpPr/>
          <p:nvPr/>
        </p:nvCxnSpPr>
        <p:spPr bwMode="auto">
          <a:xfrm flipV="1">
            <a:off x="6444208" y="3717032"/>
            <a:ext cx="144016" cy="24482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/>
          <p:cNvCxnSpPr/>
          <p:nvPr/>
        </p:nvCxnSpPr>
        <p:spPr bwMode="auto">
          <a:xfrm flipH="1">
            <a:off x="1835696" y="2348880"/>
            <a:ext cx="144016" cy="936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矩形 9"/>
          <p:cNvSpPr/>
          <p:nvPr/>
        </p:nvSpPr>
        <p:spPr>
          <a:xfrm>
            <a:off x="6475536" y="4652375"/>
            <a:ext cx="2095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altLang="zh-CN"/>
              <a:t> </a:t>
            </a:r>
            <a:r>
              <a:rPr lang="zh-CN" altLang="en-US" b="1">
                <a:solidFill>
                  <a:schemeClr val="accent6"/>
                </a:solidFill>
              </a:rPr>
              <a:t>函数体为空的函数</a:t>
            </a:r>
            <a:endParaRPr lang="zh-CN" altLang="en-US" b="1" dirty="0">
              <a:solidFill>
                <a:schemeClr val="accent6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 bwMode="auto">
          <a:xfrm flipH="1" flipV="1">
            <a:off x="6986804" y="4111151"/>
            <a:ext cx="183627" cy="7200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83663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5505" y="940143"/>
            <a:ext cx="8458200" cy="23250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注释：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注释并不是必需的，但如果为函数的定义加上注释的话，可以为用户提供友好的提示。</a:t>
            </a:r>
            <a:endParaRPr lang="en-US" altLang="zh-CN" sz="1800" b="1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注释一般由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个单引号或者双引号</a:t>
            </a:r>
            <a:r>
              <a:rPr lang="zh-CN" altLang="en-US" sz="1800" b="1"/>
              <a:t>围起来</a:t>
            </a:r>
            <a:endParaRPr lang="en-US" altLang="zh-CN" sz="1800" b="1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注释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3569" y="3407707"/>
            <a:ext cx="80656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008800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b="1" dirty="0">
                <a:solidFill>
                  <a:srgbClr val="0088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66BB"/>
                </a:solidFill>
                <a:latin typeface="Consolas" panose="020B0609020204030204" pitchFamily="49" charset="0"/>
              </a:rPr>
              <a:t>isOdd</a:t>
            </a:r>
            <a:r>
              <a:rPr lang="en-US" altLang="zh-CN" b="1" dirty="0">
                <a:solidFill>
                  <a:srgbClr val="0066BB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66BB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b="1" dirty="0">
                <a:solidFill>
                  <a:srgbClr val="0066BB"/>
                </a:solidFill>
                <a:latin typeface="Consolas" panose="020B0609020204030204" pitchFamily="49" charset="0"/>
              </a:rPr>
              <a:t>):       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DD4422"/>
                </a:solidFill>
                <a:latin typeface="Consolas" panose="020B0609020204030204" pitchFamily="49" charset="0"/>
              </a:rPr>
              <a:t>'''</a:t>
            </a:r>
            <a:r>
              <a:rPr lang="zh-CN" altLang="en-US" dirty="0">
                <a:solidFill>
                  <a:srgbClr val="DD4422"/>
                </a:solidFill>
                <a:latin typeface="Consolas" panose="020B0609020204030204" pitchFamily="49" charset="0"/>
              </a:rPr>
              <a:t>判断</a:t>
            </a:r>
            <a:r>
              <a:rPr lang="en-US" altLang="zh-CN" dirty="0" err="1">
                <a:solidFill>
                  <a:srgbClr val="DD4422"/>
                </a:solidFill>
                <a:latin typeface="Consolas" panose="020B0609020204030204" pitchFamily="49" charset="0"/>
              </a:rPr>
              <a:t>num</a:t>
            </a:r>
            <a:r>
              <a:rPr lang="zh-CN" altLang="en-US" dirty="0">
                <a:solidFill>
                  <a:srgbClr val="DD4422"/>
                </a:solidFill>
                <a:latin typeface="Consolas" panose="020B0609020204030204" pitchFamily="49" charset="0"/>
              </a:rPr>
              <a:t>是否为奇数，是奇数则返回</a:t>
            </a:r>
            <a:r>
              <a:rPr lang="en-US" altLang="zh-CN" dirty="0">
                <a:solidFill>
                  <a:srgbClr val="DD4422"/>
                </a:solidFill>
                <a:latin typeface="Consolas" panose="020B0609020204030204" pitchFamily="49" charset="0"/>
              </a:rPr>
              <a:t>True</a:t>
            </a:r>
            <a:r>
              <a:rPr lang="zh-CN" altLang="en-US" dirty="0">
                <a:solidFill>
                  <a:srgbClr val="DD4422"/>
                </a:solidFill>
                <a:latin typeface="Consolas" panose="020B0609020204030204" pitchFamily="49" charset="0"/>
              </a:rPr>
              <a:t>，否则返回</a:t>
            </a:r>
            <a:r>
              <a:rPr lang="en-US" altLang="zh-CN" dirty="0">
                <a:solidFill>
                  <a:srgbClr val="DD4422"/>
                </a:solidFill>
                <a:latin typeface="Consolas" panose="020B0609020204030204" pitchFamily="49" charset="0"/>
              </a:rPr>
              <a:t>False'''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008800"/>
                </a:solidFill>
                <a:latin typeface="Consolas" panose="020B0609020204030204" pitchFamily="49" charset="0"/>
              </a:rPr>
              <a:t>if num</a:t>
            </a:r>
            <a:r>
              <a:rPr lang="en-US" altLang="zh-CN" b="1" dirty="0">
                <a:solidFill>
                  <a:srgbClr val="333333"/>
                </a:solidFill>
                <a:latin typeface="Consolas" panose="020B0609020204030204" pitchFamily="49" charset="0"/>
              </a:rPr>
              <a:t>%</a:t>
            </a:r>
            <a:r>
              <a:rPr lang="en-US" altLang="zh-CN" b="1" dirty="0">
                <a:solidFill>
                  <a:srgbClr val="0000DD"/>
                </a:solidFill>
                <a:latin typeface="Consolas" panose="020B0609020204030204" pitchFamily="49" charset="0"/>
              </a:rPr>
              <a:t>2</a:t>
            </a:r>
            <a:r>
              <a:rPr lang="en-US" altLang="zh-CN" b="1" dirty="0">
                <a:solidFill>
                  <a:srgbClr val="333333"/>
                </a:solidFill>
                <a:latin typeface="Consolas" panose="020B0609020204030204" pitchFamily="49" charset="0"/>
              </a:rPr>
              <a:t>==</a:t>
            </a:r>
            <a:r>
              <a:rPr lang="en-US" altLang="zh-CN" b="1" dirty="0">
                <a:solidFill>
                  <a:srgbClr val="0000DD"/>
                </a:solidFill>
                <a:latin typeface="Consolas" panose="020B0609020204030204" pitchFamily="49" charset="0"/>
              </a:rPr>
              <a:t>1: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b="1" dirty="0">
                <a:solidFill>
                  <a:srgbClr val="008800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CN" b="1" dirty="0">
                <a:solidFill>
                  <a:srgbClr val="007020"/>
                </a:solidFill>
                <a:latin typeface="Consolas" panose="020B0609020204030204" pitchFamily="49" charset="0"/>
              </a:rPr>
              <a:t>True    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008800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b="1" dirty="0">
                <a:solidFill>
                  <a:srgbClr val="008800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CN" b="1" dirty="0">
                <a:solidFill>
                  <a:srgbClr val="007020"/>
                </a:solidFill>
                <a:latin typeface="Consolas" panose="020B0609020204030204" pitchFamily="49" charset="0"/>
              </a:rPr>
              <a:t>False </a:t>
            </a:r>
          </a:p>
        </p:txBody>
      </p:sp>
    </p:spTree>
    <p:extLst>
      <p:ext uri="{BB962C8B-B14F-4D97-AF65-F5344CB8AC3E}">
        <p14:creationId xmlns:p14="http://schemas.microsoft.com/office/powerpoint/2010/main" val="3858169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6956" y="940143"/>
            <a:ext cx="8643079" cy="4001025"/>
          </a:xfrm>
        </p:spPr>
        <p:txBody>
          <a:bodyPr/>
          <a:lstStyle/>
          <a:p>
            <a:r>
              <a:rPr lang="zh-CN" altLang="en-US" dirty="0"/>
              <a:t>函数体</a:t>
            </a:r>
          </a:p>
          <a:p>
            <a:pPr lvl="1">
              <a:lnSpc>
                <a:spcPct val="150000"/>
              </a:lnSpc>
            </a:pPr>
            <a:r>
              <a:rPr lang="zh-CN" altLang="en-US" sz="1800" b="1"/>
              <a:t>函数</a:t>
            </a:r>
            <a:r>
              <a:rPr lang="zh-CN" altLang="en-US" sz="1800" b="1" dirty="0"/>
              <a:t>体相对于</a:t>
            </a:r>
            <a:r>
              <a:rPr lang="en-US" altLang="zh-CN" sz="1800" b="1" dirty="0" err="1"/>
              <a:t>def</a:t>
            </a:r>
            <a:r>
              <a:rPr lang="zh-CN" altLang="en-US" sz="1800" b="1" dirty="0"/>
              <a:t>关键字必须保持一定的空格缩进</a:t>
            </a:r>
            <a:endParaRPr lang="en-US" altLang="zh-CN" sz="1800" b="1" dirty="0"/>
          </a:p>
          <a:p>
            <a:pPr lvl="1"/>
            <a:r>
              <a:rPr lang="zh-CN" altLang="en-US" dirty="0"/>
              <a:t>返回值：</a:t>
            </a:r>
            <a:r>
              <a:rPr lang="en-US" altLang="zh-CN" dirty="0"/>
              <a:t>return </a:t>
            </a:r>
            <a:r>
              <a:rPr lang="zh-CN" altLang="en-US" dirty="0"/>
              <a:t>表达式</a:t>
            </a:r>
          </a:p>
          <a:p>
            <a:pPr lvl="2">
              <a:lnSpc>
                <a:spcPct val="150000"/>
              </a:lnSpc>
            </a:pPr>
            <a:r>
              <a:rPr lang="zh-CN" altLang="en-US" sz="1800" b="1" dirty="0"/>
              <a:t>函数执行完成后，可以通过</a:t>
            </a:r>
            <a:r>
              <a:rPr lang="en-US" altLang="zh-CN" sz="1800" b="1" dirty="0"/>
              <a:t>return</a:t>
            </a:r>
            <a:r>
              <a:rPr lang="zh-CN" altLang="en-US" sz="1800" b="1" dirty="0"/>
              <a:t>返回数据，这个数据被称为</a:t>
            </a:r>
            <a:r>
              <a:rPr lang="zh-CN" altLang="en-US" sz="1800" b="1"/>
              <a:t>返回值</a:t>
            </a:r>
            <a:endParaRPr lang="en-US" altLang="zh-CN" sz="1800" b="1"/>
          </a:p>
          <a:p>
            <a:pPr lvl="2">
              <a:lnSpc>
                <a:spcPct val="150000"/>
              </a:lnSpc>
            </a:pPr>
            <a:r>
              <a:rPr lang="zh-CN" altLang="en-US" sz="1800" b="1"/>
              <a:t>没有</a:t>
            </a:r>
            <a:r>
              <a:rPr lang="en-US" altLang="zh-CN" sz="1800" b="1" dirty="0"/>
              <a:t>return</a:t>
            </a:r>
            <a:r>
              <a:rPr lang="zh-CN" altLang="en-US" sz="1800" b="1" dirty="0"/>
              <a:t>则返回</a:t>
            </a:r>
            <a:r>
              <a:rPr lang="en-US" altLang="zh-CN" sz="1800" b="1" dirty="0"/>
              <a:t>None</a:t>
            </a:r>
            <a:endParaRPr lang="zh-CN" altLang="en-US" sz="1800" b="1" dirty="0"/>
          </a:p>
          <a:p>
            <a:pPr lvl="2">
              <a:lnSpc>
                <a:spcPct val="150000"/>
              </a:lnSpc>
            </a:pPr>
            <a:r>
              <a:rPr lang="en-US" altLang="zh-CN" sz="1800" b="1" dirty="0"/>
              <a:t>return</a:t>
            </a:r>
            <a:r>
              <a:rPr lang="zh-CN" altLang="en-US" sz="1800" b="1" dirty="0"/>
              <a:t>语句终止当前函数的运行，</a:t>
            </a:r>
            <a:r>
              <a:rPr lang="en-US" altLang="zh-CN" sz="1800" b="1" dirty="0"/>
              <a:t>return</a:t>
            </a:r>
            <a:r>
              <a:rPr lang="zh-CN" altLang="en-US" sz="1800" b="1" dirty="0"/>
              <a:t>后的语句将被忽略</a:t>
            </a:r>
            <a:endParaRPr lang="en-US" altLang="zh-CN" sz="1800" b="1" dirty="0"/>
          </a:p>
          <a:p>
            <a:pPr lvl="2"/>
            <a:r>
              <a:rPr lang="zh-CN" altLang="en-US" sz="1800" b="1" dirty="0"/>
              <a:t>函数的返回值</a:t>
            </a:r>
            <a:r>
              <a:rPr lang="zh-CN" altLang="en-US" sz="1800" b="1"/>
              <a:t>的类型由</a:t>
            </a:r>
            <a:r>
              <a:rPr lang="en-US" altLang="zh-CN" sz="1800" b="1" dirty="0"/>
              <a:t>return</a:t>
            </a:r>
            <a:r>
              <a:rPr lang="zh-CN" altLang="en-US" sz="1800" b="1" dirty="0"/>
              <a:t>语句返回的值的类型决定，故一个</a:t>
            </a:r>
            <a:r>
              <a:rPr lang="zh-CN" altLang="en-US" sz="1800" b="1" dirty="0">
                <a:solidFill>
                  <a:srgbClr val="FF0000"/>
                </a:solidFill>
              </a:rPr>
              <a:t>函数在不同的调用环境下可能会返回不同的</a:t>
            </a:r>
            <a:r>
              <a:rPr lang="zh-CN" altLang="en-US" sz="1800" b="1">
                <a:solidFill>
                  <a:srgbClr val="FF0000"/>
                </a:solidFill>
              </a:rPr>
              <a:t>类型</a:t>
            </a:r>
            <a:r>
              <a:rPr lang="zh-CN" altLang="en-US" sz="1800" b="1"/>
              <a:t>。</a:t>
            </a:r>
            <a:endParaRPr lang="zh-CN" altLang="en-US" b="1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函数体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38FC92-03BF-416A-B7E1-3B7DE38FE986}"/>
              </a:ext>
            </a:extLst>
          </p:cNvPr>
          <p:cNvSpPr txBox="1"/>
          <p:nvPr/>
        </p:nvSpPr>
        <p:spPr>
          <a:xfrm>
            <a:off x="1187624" y="4623528"/>
            <a:ext cx="4572000" cy="1294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def echo(x):</a:t>
            </a: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    return x</a:t>
            </a: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    print('reach the echo end')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85A965-543A-4A98-BBB7-B904DFE41255}"/>
              </a:ext>
            </a:extLst>
          </p:cNvPr>
          <p:cNvSpPr txBox="1"/>
          <p:nvPr/>
        </p:nvSpPr>
        <p:spPr>
          <a:xfrm>
            <a:off x="6588224" y="4797152"/>
            <a:ext cx="17043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</a:p>
          <a:p>
            <a:r>
              <a:rPr lang="en-US" altLang="zh-CN" dirty="0"/>
              <a:t>a = echo(‘</a:t>
            </a:r>
            <a:r>
              <a:rPr lang="en-US" altLang="zh-CN" dirty="0" err="1"/>
              <a:t>abc</a:t>
            </a:r>
            <a:r>
              <a:rPr lang="en-US" altLang="zh-CN" dirty="0"/>
              <a:t>’)</a:t>
            </a:r>
          </a:p>
          <a:p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7437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return</a:t>
            </a:r>
            <a:r>
              <a:rPr lang="zh-CN" altLang="en-US"/>
              <a:t>功能：返回函数值</a:t>
            </a:r>
            <a:r>
              <a:rPr lang="en-US" altLang="zh-CN"/>
              <a:t>+</a:t>
            </a:r>
            <a:r>
              <a:rPr lang="zh-CN" altLang="en-US"/>
              <a:t>终止函数执行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35530" y="908720"/>
            <a:ext cx="6700642" cy="4253079"/>
            <a:chOff x="657461" y="3307841"/>
            <a:chExt cx="6700642" cy="4253079"/>
          </a:xfrm>
        </p:grpSpPr>
        <p:sp>
          <p:nvSpPr>
            <p:cNvPr id="4" name="矩形 3"/>
            <p:cNvSpPr/>
            <p:nvPr/>
          </p:nvSpPr>
          <p:spPr>
            <a:xfrm>
              <a:off x="657461" y="3307841"/>
              <a:ext cx="6700642" cy="37856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def echo(x):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    return x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    print('reach the echo end')</a:t>
              </a:r>
            </a:p>
            <a:p>
              <a:pPr>
                <a:lnSpc>
                  <a:spcPct val="150000"/>
                </a:lnSpc>
              </a:pPr>
              <a:endParaRPr lang="zh-CN" altLang="en-US" sz="2000" b="1" dirty="0">
                <a:solidFill>
                  <a:srgbClr val="0070C0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r=echo(123)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s=echo('123')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t=echo([1,2,3])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print(type(r), type(s), type(t))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657461" y="7145422"/>
              <a:ext cx="5357942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100" b="1" dirty="0">
                  <a:latin typeface="微软雅黑" pitchFamily="34" charset="-122"/>
                  <a:ea typeface="微软雅黑" pitchFamily="34" charset="-122"/>
                </a:rPr>
                <a:t>&lt;class '</a:t>
              </a:r>
              <a:r>
                <a:rPr lang="en-US" altLang="zh-CN" sz="2100" b="1" dirty="0" err="1">
                  <a:latin typeface="微软雅黑" pitchFamily="34" charset="-122"/>
                  <a:ea typeface="微软雅黑" pitchFamily="34" charset="-122"/>
                </a:rPr>
                <a:t>int</a:t>
              </a:r>
              <a:r>
                <a:rPr lang="en-US" altLang="zh-CN" sz="2100" b="1" dirty="0">
                  <a:latin typeface="微软雅黑" pitchFamily="34" charset="-122"/>
                  <a:ea typeface="微软雅黑" pitchFamily="34" charset="-122"/>
                </a:rPr>
                <a:t>'&gt; &lt;class '</a:t>
              </a:r>
              <a:r>
                <a:rPr lang="en-US" altLang="zh-CN" sz="2100" b="1" dirty="0" err="1">
                  <a:latin typeface="微软雅黑" pitchFamily="34" charset="-122"/>
                  <a:ea typeface="微软雅黑" pitchFamily="34" charset="-122"/>
                </a:rPr>
                <a:t>str</a:t>
              </a:r>
              <a:r>
                <a:rPr lang="en-US" altLang="zh-CN" sz="2100" b="1" dirty="0">
                  <a:latin typeface="微软雅黑" pitchFamily="34" charset="-122"/>
                  <a:ea typeface="微软雅黑" pitchFamily="34" charset="-122"/>
                </a:rPr>
                <a:t>'&gt; &lt;class 'list'&gt;</a:t>
              </a:r>
              <a:endParaRPr lang="zh-CN" altLang="en-US" sz="21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4716016" y="789215"/>
            <a:ext cx="3703968" cy="869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</a:rPr>
              <a:t>函数执行完成后，可以通过</a:t>
            </a:r>
            <a:r>
              <a:rPr lang="en-US" altLang="zh-CN" b="1">
                <a:solidFill>
                  <a:srgbClr val="FF0000"/>
                </a:solidFill>
              </a:rPr>
              <a:t>return</a:t>
            </a:r>
            <a:r>
              <a:rPr lang="zh-CN" altLang="en-US" b="1">
                <a:solidFill>
                  <a:srgbClr val="FF0000"/>
                </a:solidFill>
              </a:rPr>
              <a:t>返回数据，这个数据被称为返回值</a:t>
            </a:r>
            <a:endParaRPr lang="en-US" altLang="zh-CN" b="1">
              <a:solidFill>
                <a:srgbClr val="FF0000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 bwMode="auto">
          <a:xfrm flipH="1">
            <a:off x="2195736" y="1268760"/>
            <a:ext cx="2520280" cy="4320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/>
          <p:cNvCxnSpPr/>
          <p:nvPr/>
        </p:nvCxnSpPr>
        <p:spPr bwMode="auto">
          <a:xfrm flipV="1">
            <a:off x="1043608" y="1412776"/>
            <a:ext cx="110230" cy="151216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 bwMode="auto">
          <a:xfrm flipH="1">
            <a:off x="1331640" y="1772816"/>
            <a:ext cx="713914" cy="115212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 bwMode="auto">
          <a:xfrm flipV="1">
            <a:off x="1115616" y="1412776"/>
            <a:ext cx="173854" cy="1944216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 bwMode="auto">
          <a:xfrm flipH="1">
            <a:off x="1403648" y="1772816"/>
            <a:ext cx="720080" cy="1584176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 bwMode="auto">
          <a:xfrm flipV="1">
            <a:off x="1196008" y="1340768"/>
            <a:ext cx="288032" cy="2520280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 bwMode="auto">
          <a:xfrm flipH="1">
            <a:off x="1484040" y="1820313"/>
            <a:ext cx="680086" cy="2040735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0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return</a:t>
            </a:r>
            <a:r>
              <a:rPr lang="zh-CN" altLang="en-US"/>
              <a:t>功能：返回函数值</a:t>
            </a:r>
            <a:r>
              <a:rPr lang="en-US" altLang="zh-CN"/>
              <a:t>+</a:t>
            </a:r>
            <a:r>
              <a:rPr lang="zh-CN" altLang="en-US"/>
              <a:t>终止函数执行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35530" y="908720"/>
            <a:ext cx="6700642" cy="4253079"/>
            <a:chOff x="657461" y="3307841"/>
            <a:chExt cx="6700642" cy="4253079"/>
          </a:xfrm>
        </p:grpSpPr>
        <p:sp>
          <p:nvSpPr>
            <p:cNvPr id="4" name="矩形 3"/>
            <p:cNvSpPr/>
            <p:nvPr/>
          </p:nvSpPr>
          <p:spPr>
            <a:xfrm>
              <a:off x="657461" y="3307841"/>
              <a:ext cx="6700642" cy="37856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b="1" dirty="0" err="1">
                  <a:solidFill>
                    <a:srgbClr val="0070C0"/>
                  </a:solidFill>
                  <a:latin typeface="Consolas" panose="020B0609020204030204" pitchFamily="49" charset="0"/>
                </a:rPr>
                <a:t>def</a:t>
              </a: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 echo(x):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    return x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    print('reach the echo end')</a:t>
              </a:r>
            </a:p>
            <a:p>
              <a:pPr>
                <a:lnSpc>
                  <a:spcPct val="150000"/>
                </a:lnSpc>
              </a:pPr>
              <a:endParaRPr lang="zh-CN" altLang="en-US" sz="2000" b="1" dirty="0">
                <a:solidFill>
                  <a:srgbClr val="0070C0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r=echo(123)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s=echo('123')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t=echo([1,2,3])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print(type(r), type(s), type(t))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657461" y="7145422"/>
              <a:ext cx="5357942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100" b="1" dirty="0">
                  <a:latin typeface="微软雅黑" pitchFamily="34" charset="-122"/>
                  <a:ea typeface="微软雅黑" pitchFamily="34" charset="-122"/>
                </a:rPr>
                <a:t>&lt;class '</a:t>
              </a:r>
              <a:r>
                <a:rPr lang="en-US" altLang="zh-CN" sz="2100" b="1" dirty="0" err="1">
                  <a:latin typeface="微软雅黑" pitchFamily="34" charset="-122"/>
                  <a:ea typeface="微软雅黑" pitchFamily="34" charset="-122"/>
                </a:rPr>
                <a:t>int</a:t>
              </a:r>
              <a:r>
                <a:rPr lang="en-US" altLang="zh-CN" sz="2100" b="1" dirty="0">
                  <a:latin typeface="微软雅黑" pitchFamily="34" charset="-122"/>
                  <a:ea typeface="微软雅黑" pitchFamily="34" charset="-122"/>
                </a:rPr>
                <a:t>'&gt; &lt;class '</a:t>
              </a:r>
              <a:r>
                <a:rPr lang="en-US" altLang="zh-CN" sz="2100" b="1" dirty="0" err="1">
                  <a:latin typeface="微软雅黑" pitchFamily="34" charset="-122"/>
                  <a:ea typeface="微软雅黑" pitchFamily="34" charset="-122"/>
                </a:rPr>
                <a:t>str</a:t>
              </a:r>
              <a:r>
                <a:rPr lang="en-US" altLang="zh-CN" sz="2100" b="1" dirty="0">
                  <a:latin typeface="微软雅黑" pitchFamily="34" charset="-122"/>
                  <a:ea typeface="微软雅黑" pitchFamily="34" charset="-122"/>
                </a:rPr>
                <a:t>'&gt; &lt;class 'list'&gt;</a:t>
              </a:r>
              <a:endParaRPr lang="zh-CN" altLang="en-US" sz="21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084168" y="3173346"/>
            <a:ext cx="3006080" cy="869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</a:rPr>
              <a:t>函数在不同的调用环境下可能会返回不同的类型</a:t>
            </a:r>
            <a:r>
              <a:rPr lang="zh-CN" altLang="en-US" b="1"/>
              <a:t>。</a:t>
            </a:r>
            <a:endParaRPr lang="zh-CN" altLang="en-US" b="1" dirty="0"/>
          </a:p>
        </p:txBody>
      </p:sp>
      <p:cxnSp>
        <p:nvCxnSpPr>
          <p:cNvPr id="8" name="直接箭头连接符 7"/>
          <p:cNvCxnSpPr>
            <a:stCxn id="2" idx="1"/>
          </p:cNvCxnSpPr>
          <p:nvPr/>
        </p:nvCxnSpPr>
        <p:spPr bwMode="auto">
          <a:xfrm flipH="1">
            <a:off x="5220072" y="3608113"/>
            <a:ext cx="864096" cy="12576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矩形 9"/>
          <p:cNvSpPr/>
          <p:nvPr/>
        </p:nvSpPr>
        <p:spPr>
          <a:xfrm>
            <a:off x="4716016" y="789215"/>
            <a:ext cx="37039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FF0000"/>
                </a:solidFill>
              </a:rPr>
              <a:t>return</a:t>
            </a:r>
            <a:r>
              <a:rPr lang="zh-CN" altLang="en-US" b="1">
                <a:solidFill>
                  <a:srgbClr val="FF0000"/>
                </a:solidFill>
              </a:rPr>
              <a:t>语句终止当前函数的运行</a:t>
            </a:r>
            <a:endParaRPr lang="en-US" altLang="zh-CN" b="1">
              <a:solidFill>
                <a:srgbClr val="FF0000"/>
              </a:solidFill>
            </a:endParaRPr>
          </a:p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FF0000"/>
                </a:solidFill>
              </a:rPr>
              <a:t>return</a:t>
            </a:r>
            <a:r>
              <a:rPr lang="zh-CN" altLang="en-US" b="1">
                <a:solidFill>
                  <a:srgbClr val="FF0000"/>
                </a:solidFill>
              </a:rPr>
              <a:t>后的语句将被忽略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 bwMode="auto">
          <a:xfrm flipH="1">
            <a:off x="2195736" y="1268760"/>
            <a:ext cx="2520280" cy="4320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34593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7504" y="1346832"/>
            <a:ext cx="3312368" cy="1184589"/>
          </a:xfrm>
        </p:spPr>
        <p:txBody>
          <a:bodyPr/>
          <a:lstStyle/>
          <a:p>
            <a:r>
              <a:rPr lang="zh-CN" altLang="en-US"/>
              <a:t>函数</a:t>
            </a:r>
            <a:r>
              <a:rPr lang="zh-CN" altLang="en-US" dirty="0"/>
              <a:t>调用</a:t>
            </a:r>
          </a:p>
          <a:p>
            <a:pPr lvl="1"/>
            <a:r>
              <a:rPr lang="en-US" altLang="zh-CN" dirty="0"/>
              <a:t>&lt;</a:t>
            </a:r>
            <a:r>
              <a:rPr lang="zh-CN" altLang="en-US" dirty="0"/>
              <a:t>函数名</a:t>
            </a:r>
            <a:r>
              <a:rPr lang="en-US" altLang="zh-CN" dirty="0"/>
              <a:t>&gt;(&lt;</a:t>
            </a:r>
            <a:r>
              <a:rPr lang="zh-CN" altLang="en-US" dirty="0"/>
              <a:t>实参列表</a:t>
            </a:r>
            <a:r>
              <a:rPr lang="en-US" altLang="zh-CN" dirty="0"/>
              <a:t>&gt;)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/>
              <a:t>8.1.2  </a:t>
            </a:r>
            <a:r>
              <a:rPr lang="zh-CN" altLang="en-US"/>
              <a:t>函数的调用</a:t>
            </a:r>
            <a:endParaRPr lang="zh-CN" altLang="en-US" dirty="0">
              <a:solidFill>
                <a:srgbClr val="245794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9810" y="4718545"/>
            <a:ext cx="878437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a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DD"/>
                </a:solidFill>
                <a:latin typeface="Consolas" panose="020B0609020204030204" pitchFamily="49" charset="0"/>
              </a:rPr>
              <a:t>5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isOdd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(a)      </a:t>
            </a:r>
            <a:r>
              <a:rPr lang="en-US" altLang="zh-CN" dirty="0">
                <a:solidFill>
                  <a:srgbClr val="888888"/>
                </a:solidFill>
                <a:latin typeface="Consolas" panose="020B0609020204030204" pitchFamily="49" charset="0"/>
              </a:rPr>
              <a:t># </a:t>
            </a:r>
            <a:r>
              <a:rPr lang="zh-CN" altLang="en-US" dirty="0">
                <a:solidFill>
                  <a:srgbClr val="888888"/>
                </a:solidFill>
                <a:latin typeface="Consolas" panose="020B0609020204030204" pitchFamily="49" charset="0"/>
              </a:rPr>
              <a:t>函数的实际参数是表达式</a:t>
            </a:r>
            <a:endParaRPr lang="en-US" altLang="zh-CN" dirty="0">
              <a:solidFill>
                <a:srgbClr val="888888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c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isOdd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00DD"/>
                </a:solidFill>
                <a:latin typeface="Consolas" panose="020B0609020204030204" pitchFamily="49" charset="0"/>
              </a:rPr>
              <a:t>4)      #</a:t>
            </a:r>
            <a:r>
              <a:rPr lang="zh-CN" altLang="en-US" dirty="0">
                <a:solidFill>
                  <a:srgbClr val="888888"/>
                </a:solidFill>
                <a:latin typeface="Consolas" panose="020B0609020204030204" pitchFamily="49" charset="0"/>
              </a:rPr>
              <a:t>常量</a:t>
            </a:r>
            <a:r>
              <a:rPr lang="en-US" altLang="zh-CN" dirty="0">
                <a:solidFill>
                  <a:srgbClr val="888888"/>
                </a:solidFill>
                <a:latin typeface="Consolas" panose="020B0609020204030204" pitchFamily="49" charset="0"/>
              </a:rPr>
              <a:t>4</a:t>
            </a:r>
            <a:r>
              <a:rPr lang="zh-CN" altLang="en-US" dirty="0">
                <a:solidFill>
                  <a:srgbClr val="888888"/>
                </a:solidFill>
                <a:latin typeface="Consolas" panose="020B0609020204030204" pitchFamily="49" charset="0"/>
              </a:rPr>
              <a:t>和变量</a:t>
            </a:r>
            <a:r>
              <a:rPr lang="en-US" altLang="zh-CN" dirty="0">
                <a:solidFill>
                  <a:srgbClr val="888888"/>
                </a:solidFill>
                <a:latin typeface="Consolas" panose="020B0609020204030204" pitchFamily="49" charset="0"/>
              </a:rPr>
              <a:t>a</a:t>
            </a:r>
            <a:r>
              <a:rPr lang="zh-CN" altLang="en-US" dirty="0">
                <a:solidFill>
                  <a:srgbClr val="888888"/>
                </a:solidFill>
                <a:latin typeface="Consolas" panose="020B0609020204030204" pitchFamily="49" charset="0"/>
              </a:rPr>
              <a:t>是表达式</a:t>
            </a:r>
            <a:endParaRPr lang="en-US" altLang="zh-CN" b="1" dirty="0">
              <a:solidFill>
                <a:srgbClr val="0000DD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d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isOdd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00DD"/>
                </a:solidFill>
                <a:latin typeface="Consolas" panose="020B0609020204030204" pitchFamily="49" charset="0"/>
              </a:rPr>
              <a:t>4</a:t>
            </a:r>
            <a:r>
              <a:rPr lang="en-US" altLang="zh-CN" b="1" dirty="0">
                <a:solidFill>
                  <a:srgbClr val="333333"/>
                </a:solidFill>
                <a:latin typeface="Consolas" panose="020B0609020204030204" pitchFamily="49" charset="0"/>
              </a:rPr>
              <a:t>+a)    #</a:t>
            </a:r>
            <a:r>
              <a:rPr lang="zh-CN" altLang="en-US" dirty="0">
                <a:solidFill>
                  <a:srgbClr val="888888"/>
                </a:solidFill>
                <a:latin typeface="Consolas" panose="020B0609020204030204" pitchFamily="49" charset="0"/>
              </a:rPr>
              <a:t>表达式</a:t>
            </a:r>
            <a:r>
              <a:rPr lang="en-US" altLang="zh-CN" dirty="0">
                <a:solidFill>
                  <a:srgbClr val="888888"/>
                </a:solidFill>
                <a:latin typeface="Consolas" panose="020B0609020204030204" pitchFamily="49" charset="0"/>
              </a:rPr>
              <a:t>4</a:t>
            </a:r>
            <a:r>
              <a:rPr lang="zh-CN" altLang="en-US" dirty="0">
                <a:solidFill>
                  <a:srgbClr val="888888"/>
                </a:solidFill>
                <a:latin typeface="Consolas" panose="020B0609020204030204" pitchFamily="49" charset="0"/>
              </a:rPr>
              <a:t>和表达式</a:t>
            </a:r>
            <a:r>
              <a:rPr lang="en-US" altLang="zh-CN" dirty="0">
                <a:solidFill>
                  <a:srgbClr val="888888"/>
                </a:solidFill>
                <a:latin typeface="Consolas" panose="020B0609020204030204" pitchFamily="49" charset="0"/>
              </a:rPr>
              <a:t>a</a:t>
            </a:r>
            <a:r>
              <a:rPr lang="zh-CN" altLang="en-US" dirty="0">
                <a:solidFill>
                  <a:srgbClr val="888888"/>
                </a:solidFill>
                <a:latin typeface="Consolas" panose="020B0609020204030204" pitchFamily="49" charset="0"/>
              </a:rPr>
              <a:t>通过运算符</a:t>
            </a:r>
            <a:r>
              <a:rPr lang="en-US" altLang="zh-CN" dirty="0">
                <a:solidFill>
                  <a:srgbClr val="888888"/>
                </a:solidFill>
                <a:latin typeface="Consolas" panose="020B0609020204030204" pitchFamily="49" charset="0"/>
              </a:rPr>
              <a:t>+</a:t>
            </a:r>
            <a:r>
              <a:rPr lang="zh-CN" altLang="en-US" dirty="0">
                <a:solidFill>
                  <a:srgbClr val="888888"/>
                </a:solidFill>
                <a:latin typeface="Consolas" panose="020B0609020204030204" pitchFamily="49" charset="0"/>
              </a:rPr>
              <a:t>构成更大的表达式</a:t>
            </a:r>
            <a:r>
              <a:rPr lang="en-US" altLang="zh-CN" dirty="0">
                <a:solidFill>
                  <a:srgbClr val="888888"/>
                </a:solidFill>
                <a:latin typeface="Consolas" panose="020B0609020204030204" pitchFamily="49" charset="0"/>
              </a:rPr>
              <a:t>4+a</a:t>
            </a:r>
            <a:endParaRPr lang="en-US" altLang="zh-CN" b="1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00880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CN" b="1" dirty="0" err="1">
                <a:solidFill>
                  <a:srgbClr val="008800"/>
                </a:solidFill>
                <a:latin typeface="Consolas" panose="020B0609020204030204" pitchFamily="49" charset="0"/>
              </a:rPr>
              <a:t>b,c,d</a:t>
            </a:r>
            <a:r>
              <a:rPr lang="en-US" altLang="zh-CN" b="1" dirty="0">
                <a:solidFill>
                  <a:srgbClr val="0088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线形标注 1 4"/>
          <p:cNvSpPr/>
          <p:nvPr/>
        </p:nvSpPr>
        <p:spPr>
          <a:xfrm>
            <a:off x="3419872" y="1196752"/>
            <a:ext cx="4464496" cy="646331"/>
          </a:xfrm>
          <a:prstGeom prst="borderCallout1">
            <a:avLst>
              <a:gd name="adj1" fmla="val 47782"/>
              <a:gd name="adj2" fmla="val -67"/>
              <a:gd name="adj3" fmla="val 92083"/>
              <a:gd name="adj4" fmla="val -13677"/>
            </a:avLst>
          </a:prstGeom>
          <a:ln w="28575">
            <a:headEnd type="none" w="med" len="med"/>
            <a:tailEnd type="arrow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0000" rtlCol="0" anchor="ctr" anchorCtr="0">
            <a:spAutoFit/>
          </a:bodyPr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ourier New"/>
                <a:ea typeface="宋体"/>
                <a:cs typeface="Times New Roman"/>
              </a:rPr>
              <a:t>函数定义时的参数称为形参，是变量</a:t>
            </a:r>
            <a:endParaRPr lang="en-US" altLang="zh-CN" b="1" kern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Courier New"/>
              <a:ea typeface="宋体"/>
              <a:cs typeface="Times New Roman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ourier New"/>
                <a:ea typeface="宋体"/>
                <a:cs typeface="Times New Roman"/>
              </a:rPr>
              <a:t>函数调用时的参数称为实参，是表达式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F1B27A-CA1B-4F74-B4E1-867D07557268}"/>
              </a:ext>
            </a:extLst>
          </p:cNvPr>
          <p:cNvSpPr/>
          <p:nvPr/>
        </p:nvSpPr>
        <p:spPr>
          <a:xfrm>
            <a:off x="179810" y="2772983"/>
            <a:ext cx="80656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008800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b="1" dirty="0">
                <a:solidFill>
                  <a:srgbClr val="0088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66BB"/>
                </a:solidFill>
                <a:latin typeface="Consolas" panose="020B0609020204030204" pitchFamily="49" charset="0"/>
              </a:rPr>
              <a:t>isOdd</a:t>
            </a:r>
            <a:r>
              <a:rPr lang="en-US" altLang="zh-CN" b="1" dirty="0">
                <a:solidFill>
                  <a:srgbClr val="0066BB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66BB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b="1" dirty="0">
                <a:solidFill>
                  <a:srgbClr val="0066BB"/>
                </a:solidFill>
                <a:latin typeface="Consolas" panose="020B0609020204030204" pitchFamily="49" charset="0"/>
              </a:rPr>
              <a:t>):       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DD4422"/>
                </a:solidFill>
                <a:latin typeface="Consolas" panose="020B0609020204030204" pitchFamily="49" charset="0"/>
              </a:rPr>
              <a:t>'''</a:t>
            </a:r>
            <a:r>
              <a:rPr lang="zh-CN" altLang="en-US" dirty="0">
                <a:solidFill>
                  <a:srgbClr val="DD4422"/>
                </a:solidFill>
                <a:latin typeface="Consolas" panose="020B0609020204030204" pitchFamily="49" charset="0"/>
              </a:rPr>
              <a:t>判断</a:t>
            </a:r>
            <a:r>
              <a:rPr lang="en-US" altLang="zh-CN" dirty="0" err="1">
                <a:solidFill>
                  <a:srgbClr val="DD4422"/>
                </a:solidFill>
                <a:latin typeface="Consolas" panose="020B0609020204030204" pitchFamily="49" charset="0"/>
              </a:rPr>
              <a:t>num</a:t>
            </a:r>
            <a:r>
              <a:rPr lang="zh-CN" altLang="en-US" dirty="0">
                <a:solidFill>
                  <a:srgbClr val="DD4422"/>
                </a:solidFill>
                <a:latin typeface="Consolas" panose="020B0609020204030204" pitchFamily="49" charset="0"/>
              </a:rPr>
              <a:t>是否为奇数，是奇数则返回</a:t>
            </a:r>
            <a:r>
              <a:rPr lang="en-US" altLang="zh-CN" dirty="0">
                <a:solidFill>
                  <a:srgbClr val="DD4422"/>
                </a:solidFill>
                <a:latin typeface="Consolas" panose="020B0609020204030204" pitchFamily="49" charset="0"/>
              </a:rPr>
              <a:t>True</a:t>
            </a:r>
            <a:r>
              <a:rPr lang="zh-CN" altLang="en-US" dirty="0">
                <a:solidFill>
                  <a:srgbClr val="DD4422"/>
                </a:solidFill>
                <a:latin typeface="Consolas" panose="020B0609020204030204" pitchFamily="49" charset="0"/>
              </a:rPr>
              <a:t>，否则返回</a:t>
            </a:r>
            <a:r>
              <a:rPr lang="en-US" altLang="zh-CN" dirty="0">
                <a:solidFill>
                  <a:srgbClr val="DD4422"/>
                </a:solidFill>
                <a:latin typeface="Consolas" panose="020B0609020204030204" pitchFamily="49" charset="0"/>
              </a:rPr>
              <a:t>False'''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008800"/>
                </a:solidFill>
                <a:latin typeface="Consolas" panose="020B0609020204030204" pitchFamily="49" charset="0"/>
              </a:rPr>
              <a:t>if num</a:t>
            </a:r>
            <a:r>
              <a:rPr lang="en-US" altLang="zh-CN" b="1" dirty="0">
                <a:solidFill>
                  <a:srgbClr val="333333"/>
                </a:solidFill>
                <a:latin typeface="Consolas" panose="020B0609020204030204" pitchFamily="49" charset="0"/>
              </a:rPr>
              <a:t>%</a:t>
            </a:r>
            <a:r>
              <a:rPr lang="en-US" altLang="zh-CN" b="1" dirty="0">
                <a:solidFill>
                  <a:srgbClr val="0000DD"/>
                </a:solidFill>
                <a:latin typeface="Consolas" panose="020B0609020204030204" pitchFamily="49" charset="0"/>
              </a:rPr>
              <a:t>2</a:t>
            </a:r>
            <a:r>
              <a:rPr lang="en-US" altLang="zh-CN" b="1" dirty="0">
                <a:solidFill>
                  <a:srgbClr val="333333"/>
                </a:solidFill>
                <a:latin typeface="Consolas" panose="020B0609020204030204" pitchFamily="49" charset="0"/>
              </a:rPr>
              <a:t>==</a:t>
            </a:r>
            <a:r>
              <a:rPr lang="en-US" altLang="zh-CN" b="1" dirty="0">
                <a:solidFill>
                  <a:srgbClr val="0000DD"/>
                </a:solidFill>
                <a:latin typeface="Consolas" panose="020B0609020204030204" pitchFamily="49" charset="0"/>
              </a:rPr>
              <a:t>1: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b="1" dirty="0">
                <a:solidFill>
                  <a:srgbClr val="008800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CN" b="1" dirty="0">
                <a:solidFill>
                  <a:srgbClr val="007020"/>
                </a:solidFill>
                <a:latin typeface="Consolas" panose="020B0609020204030204" pitchFamily="49" charset="0"/>
              </a:rPr>
              <a:t>True    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008800"/>
                </a:solidFill>
                <a:latin typeface="Consolas" panose="020B0609020204030204" pitchFamily="49" charset="0"/>
              </a:rPr>
              <a:t>else: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b="1" dirty="0">
                <a:solidFill>
                  <a:srgbClr val="008800"/>
                </a:solidFill>
                <a:latin typeface="Consolas" panose="020B0609020204030204" pitchFamily="49" charset="0"/>
              </a:rPr>
              <a:t>return </a:t>
            </a:r>
            <a:r>
              <a:rPr lang="en-US" altLang="zh-CN" b="1" dirty="0">
                <a:solidFill>
                  <a:srgbClr val="007020"/>
                </a:solidFill>
                <a:latin typeface="Consolas" panose="020B0609020204030204" pitchFamily="49" charset="0"/>
              </a:rPr>
              <a:t>False </a:t>
            </a:r>
          </a:p>
        </p:txBody>
      </p:sp>
    </p:spTree>
    <p:extLst>
      <p:ext uri="{BB962C8B-B14F-4D97-AF65-F5344CB8AC3E}">
        <p14:creationId xmlns:p14="http://schemas.microsoft.com/office/powerpoint/2010/main" val="3892750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8.1.2  </a:t>
            </a:r>
            <a:r>
              <a:rPr lang="zh-CN" altLang="en-US"/>
              <a:t>函数的调用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35530" y="908720"/>
            <a:ext cx="6700642" cy="5112568"/>
            <a:chOff x="657461" y="3307841"/>
            <a:chExt cx="6700642" cy="4576245"/>
          </a:xfrm>
        </p:grpSpPr>
        <p:sp>
          <p:nvSpPr>
            <p:cNvPr id="4" name="矩形 3"/>
            <p:cNvSpPr/>
            <p:nvPr/>
          </p:nvSpPr>
          <p:spPr>
            <a:xfrm>
              <a:off x="657461" y="3307841"/>
              <a:ext cx="6700642" cy="35262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def </a:t>
              </a:r>
              <a:r>
                <a:rPr lang="en-US" altLang="zh-CN" sz="2000" b="1" dirty="0" err="1">
                  <a:solidFill>
                    <a:srgbClr val="0066BB"/>
                  </a:solidFill>
                  <a:latin typeface="Consolas" panose="020B0609020204030204" pitchFamily="49" charset="0"/>
                </a:rPr>
                <a:t>Mymax</a:t>
              </a:r>
              <a:r>
                <a:rPr lang="en-US" altLang="zh-CN" sz="2000" b="1" dirty="0">
                  <a:solidFill>
                    <a:srgbClr val="0066BB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zh-CN" sz="2000" b="1" dirty="0" err="1">
                  <a:solidFill>
                    <a:srgbClr val="0066BB"/>
                  </a:solidFill>
                  <a:latin typeface="Consolas" panose="020B0609020204030204" pitchFamily="49" charset="0"/>
                </a:rPr>
                <a:t>m,n</a:t>
              </a:r>
              <a:r>
                <a:rPr lang="en-US" altLang="zh-CN" sz="2000" b="1" dirty="0">
                  <a:solidFill>
                    <a:srgbClr val="0066BB"/>
                  </a:solidFill>
                  <a:latin typeface="Consolas" panose="020B0609020204030204" pitchFamily="49" charset="0"/>
                </a:rPr>
                <a:t>):       </a:t>
              </a:r>
            </a:p>
            <a:p>
              <a:r>
                <a:rPr lang="en-US" altLang="zh-CN" sz="20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    if m</a:t>
              </a:r>
              <a:r>
                <a:rPr lang="en-US" altLang="zh-CN" sz="2000" b="1" dirty="0">
                  <a:solidFill>
                    <a:srgbClr val="333333"/>
                  </a:solidFill>
                  <a:latin typeface="Consolas" panose="020B0609020204030204" pitchFamily="49" charset="0"/>
                </a:rPr>
                <a:t>&gt;</a:t>
              </a:r>
              <a:r>
                <a:rPr lang="en-US" altLang="zh-CN" sz="2000" b="1" dirty="0">
                  <a:solidFill>
                    <a:srgbClr val="0000DD"/>
                  </a:solidFill>
                  <a:latin typeface="Consolas" panose="020B0609020204030204" pitchFamily="49" charset="0"/>
                </a:rPr>
                <a:t>n: </a:t>
              </a:r>
            </a:p>
            <a:p>
              <a:r>
                <a:rPr lang="en-US" altLang="zh-CN" sz="2000" dirty="0">
                  <a:latin typeface="Consolas" panose="020B0609020204030204" pitchFamily="49" charset="0"/>
                </a:rPr>
                <a:t>        </a:t>
              </a:r>
              <a:r>
                <a:rPr lang="en-US" altLang="zh-CN" sz="20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return </a:t>
              </a:r>
              <a:r>
                <a:rPr lang="en-US" altLang="zh-CN" sz="2000" b="1" dirty="0">
                  <a:solidFill>
                    <a:srgbClr val="007020"/>
                  </a:solidFill>
                  <a:latin typeface="Consolas" panose="020B0609020204030204" pitchFamily="49" charset="0"/>
                </a:rPr>
                <a:t>m     </a:t>
              </a:r>
            </a:p>
            <a:p>
              <a:r>
                <a:rPr lang="en-US" altLang="zh-CN" sz="2000" dirty="0">
                  <a:latin typeface="Consolas" panose="020B0609020204030204" pitchFamily="49" charset="0"/>
                </a:rPr>
                <a:t>    </a:t>
              </a:r>
              <a:r>
                <a:rPr lang="en-US" altLang="zh-CN" sz="20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else:</a:t>
              </a:r>
            </a:p>
            <a:p>
              <a:r>
                <a:rPr lang="en-US" altLang="zh-CN" sz="2000" dirty="0">
                  <a:latin typeface="Consolas" panose="020B0609020204030204" pitchFamily="49" charset="0"/>
                </a:rPr>
                <a:t>        </a:t>
              </a:r>
              <a:r>
                <a:rPr lang="en-US" altLang="zh-CN" sz="20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return </a:t>
              </a:r>
              <a:r>
                <a:rPr lang="en-US" altLang="zh-CN" sz="2000" b="1" dirty="0">
                  <a:solidFill>
                    <a:srgbClr val="007020"/>
                  </a:solidFill>
                  <a:latin typeface="Consolas" panose="020B0609020204030204" pitchFamily="49" charset="0"/>
                </a:rPr>
                <a:t>n </a:t>
              </a:r>
            </a:p>
            <a:p>
              <a:pPr>
                <a:lnSpc>
                  <a:spcPct val="150000"/>
                </a:lnSpc>
              </a:pPr>
              <a:endParaRPr lang="en-US" altLang="zh-CN" sz="2000" b="1" dirty="0">
                <a:solidFill>
                  <a:srgbClr val="0070C0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r=</a:t>
              </a:r>
              <a:r>
                <a:rPr lang="en-US" altLang="zh-CN" sz="2000" b="1" dirty="0" err="1">
                  <a:solidFill>
                    <a:srgbClr val="0066BB"/>
                  </a:solidFill>
                  <a:latin typeface="Consolas" panose="020B0609020204030204" pitchFamily="49" charset="0"/>
                </a:rPr>
                <a:t>Mymax</a:t>
              </a: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(3,1)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print(r)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s=</a:t>
              </a:r>
              <a:r>
                <a:rPr lang="en-US" altLang="zh-CN" sz="2000" b="1" dirty="0" err="1">
                  <a:solidFill>
                    <a:srgbClr val="0066BB"/>
                  </a:solidFill>
                  <a:latin typeface="Consolas" panose="020B0609020204030204" pitchFamily="49" charset="0"/>
                </a:rPr>
                <a:t>Mymax</a:t>
              </a: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(3,12 + r)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rgbClr val="0070C0"/>
                  </a:solidFill>
                  <a:latin typeface="Consolas" panose="020B0609020204030204" pitchFamily="49" charset="0"/>
                </a:rPr>
                <a:t>print(s) 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657461" y="7145422"/>
              <a:ext cx="518091" cy="7386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latin typeface="微软雅黑" pitchFamily="34" charset="-122"/>
                  <a:ea typeface="微软雅黑" pitchFamily="34" charset="-122"/>
                </a:rPr>
                <a:t>3</a:t>
              </a:r>
            </a:p>
            <a:p>
              <a:r>
                <a:rPr lang="en-US" altLang="zh-CN" sz="2100" b="1">
                  <a:latin typeface="微软雅黑" pitchFamily="34" charset="-122"/>
                  <a:ea typeface="微软雅黑" pitchFamily="34" charset="-122"/>
                </a:rPr>
                <a:t>15</a:t>
              </a:r>
              <a:endParaRPr lang="zh-CN" altLang="en-US" sz="21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14" name="直接箭头连接符 13"/>
          <p:cNvCxnSpPr/>
          <p:nvPr/>
        </p:nvCxnSpPr>
        <p:spPr bwMode="auto">
          <a:xfrm flipV="1">
            <a:off x="1727034" y="1196752"/>
            <a:ext cx="235103" cy="1944216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 bwMode="auto">
          <a:xfrm flipH="1">
            <a:off x="1283480" y="1808820"/>
            <a:ext cx="1374367" cy="1287558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 bwMode="auto">
          <a:xfrm flipV="1">
            <a:off x="1727034" y="1268760"/>
            <a:ext cx="270361" cy="2799726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 bwMode="auto">
          <a:xfrm flipH="1">
            <a:off x="1327032" y="2420888"/>
            <a:ext cx="1340726" cy="1647598"/>
          </a:xfrm>
          <a:prstGeom prst="straightConnector1">
            <a:avLst/>
          </a:prstGeom>
          <a:ln>
            <a:solidFill>
              <a:srgbClr val="FFC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347864" y="867053"/>
            <a:ext cx="5256584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j-ea"/>
                <a:ea typeface="+mj-ea"/>
              </a:rPr>
              <a:t>调用过程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zh-CN" altLang="en-US" dirty="0">
                <a:latin typeface="+mj-ea"/>
                <a:ea typeface="+mj-ea"/>
              </a:rPr>
              <a:t>计算实参，并创建函数的形参变量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zh-CN" altLang="en-US" dirty="0">
                <a:latin typeface="+mj-ea"/>
                <a:ea typeface="+mj-ea"/>
              </a:rPr>
              <a:t>函数形参变量被赋值为实参</a:t>
            </a:r>
            <a:r>
              <a:rPr lang="en-US" altLang="zh-CN" dirty="0">
                <a:latin typeface="+mj-ea"/>
                <a:ea typeface="+mj-ea"/>
              </a:rPr>
              <a:t>(</a:t>
            </a:r>
            <a:r>
              <a:rPr lang="zh-CN" altLang="en-US" dirty="0">
                <a:latin typeface="+mj-ea"/>
                <a:ea typeface="+mj-ea"/>
              </a:rPr>
              <a:t>按位置对应</a:t>
            </a:r>
            <a:r>
              <a:rPr lang="en-US" altLang="zh-CN" dirty="0">
                <a:latin typeface="+mj-ea"/>
                <a:ea typeface="+mj-ea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zh-CN" altLang="en-US" dirty="0">
                <a:latin typeface="+mj-ea"/>
                <a:ea typeface="+mj-ea"/>
              </a:rPr>
              <a:t>跳转到函数定义处， 执行函数体</a:t>
            </a: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zh-CN" altLang="en-US" dirty="0">
                <a:latin typeface="+mj-ea"/>
                <a:ea typeface="+mj-ea"/>
              </a:rPr>
              <a:t>控制返回调用点的下一条语句</a:t>
            </a:r>
          </a:p>
        </p:txBody>
      </p:sp>
      <p:cxnSp>
        <p:nvCxnSpPr>
          <p:cNvPr id="18" name="直接箭头连接符 17"/>
          <p:cNvCxnSpPr>
            <a:cxnSpLocks/>
          </p:cNvCxnSpPr>
          <p:nvPr/>
        </p:nvCxnSpPr>
        <p:spPr bwMode="auto">
          <a:xfrm flipV="1">
            <a:off x="2287398" y="1268760"/>
            <a:ext cx="35258" cy="2712905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 bwMode="auto">
          <a:xfrm flipV="1">
            <a:off x="1997395" y="1194882"/>
            <a:ext cx="290003" cy="1899626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 bwMode="auto">
          <a:xfrm>
            <a:off x="953621" y="1268760"/>
            <a:ext cx="0" cy="504056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 bwMode="auto">
          <a:xfrm>
            <a:off x="827584" y="1268760"/>
            <a:ext cx="0" cy="1080120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7B1110C-6BA6-47A6-9F07-D69FA7FBFAB3}"/>
              </a:ext>
            </a:extLst>
          </p:cNvPr>
          <p:cNvSpPr/>
          <p:nvPr/>
        </p:nvSpPr>
        <p:spPr>
          <a:xfrm>
            <a:off x="3820840" y="3027459"/>
            <a:ext cx="4214781" cy="281615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solidFill>
                  <a:srgbClr val="FF6600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b="1" dirty="0"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99"/>
                </a:solidFill>
                <a:latin typeface="Consolas" panose="020B0609020204030204" pitchFamily="49" charset="0"/>
              </a:rPr>
              <a:t>myf</a:t>
            </a:r>
            <a:r>
              <a:rPr lang="en-US" altLang="zh-CN" b="1" dirty="0"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latin typeface="Consolas" panose="020B0609020204030204" pitchFamily="49" charset="0"/>
              </a:rPr>
              <a:t>x,y</a:t>
            </a:r>
            <a:r>
              <a:rPr lang="en-US" altLang="zh-CN" b="1" dirty="0">
                <a:latin typeface="Consolas" panose="020B0609020204030204" pitchFamily="49" charset="0"/>
              </a:rPr>
              <a:t>):    #</a:t>
            </a:r>
            <a:r>
              <a:rPr lang="zh-CN" altLang="en-US" b="1" dirty="0">
                <a:latin typeface="Consolas" panose="020B0609020204030204" pitchFamily="49" charset="0"/>
              </a:rPr>
              <a:t>形参</a:t>
            </a:r>
            <a:r>
              <a:rPr lang="en-US" altLang="zh-CN" b="1" dirty="0">
                <a:latin typeface="Consolas" panose="020B0609020204030204" pitchFamily="49" charset="0"/>
              </a:rPr>
              <a:t>y==3   </a:t>
            </a: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latin typeface="Consolas" panose="020B0609020204030204" pitchFamily="49" charset="0"/>
              </a:rPr>
              <a:t>    y += 1       #</a:t>
            </a:r>
            <a:r>
              <a:rPr lang="zh-CN" altLang="en-US" b="1" dirty="0">
                <a:latin typeface="Consolas" panose="020B0609020204030204" pitchFamily="49" charset="0"/>
              </a:rPr>
              <a:t>形参</a:t>
            </a:r>
            <a:r>
              <a:rPr lang="en-US" altLang="zh-CN" b="1" dirty="0">
                <a:latin typeface="Consolas" panose="020B0609020204030204" pitchFamily="49" charset="0"/>
              </a:rPr>
              <a:t>y==4</a:t>
            </a:r>
            <a:endParaRPr lang="zh-CN" altLang="en-US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FF660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b="1" dirty="0"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latin typeface="Consolas" panose="020B0609020204030204" pitchFamily="49" charset="0"/>
              </a:rPr>
              <a:t>x+y</a:t>
            </a:r>
            <a:endParaRPr lang="zh-CN" altLang="en-US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solidFill>
                  <a:srgbClr val="7030A0"/>
                </a:solidFill>
                <a:latin typeface="Consolas" panose="020B0609020204030204" pitchFamily="49" charset="0"/>
              </a:rPr>
              <a:t>y = 3</a:t>
            </a: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latin typeface="Consolas" panose="020B0609020204030204" pitchFamily="49" charset="0"/>
              </a:rPr>
              <a:t>myf</a:t>
            </a:r>
            <a:r>
              <a:rPr lang="en-US" altLang="zh-CN" b="1" dirty="0">
                <a:latin typeface="Consolas" panose="020B0609020204030204" pitchFamily="49" charset="0"/>
              </a:rPr>
              <a:t>(3,y))  #y==3</a:t>
            </a: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latin typeface="Consolas" panose="020B0609020204030204" pitchFamily="49" charset="0"/>
              </a:rPr>
              <a:t>print(y)         #y==3</a:t>
            </a:r>
          </a:p>
          <a:p>
            <a:r>
              <a:rPr lang="zh-CN" altLang="en-US" dirty="0"/>
              <a:t>程序运行结果如下：</a:t>
            </a:r>
          </a:p>
          <a:p>
            <a:r>
              <a:rPr lang="en-US" altLang="zh-CN" dirty="0"/>
              <a:t>7</a:t>
            </a:r>
          </a:p>
          <a:p>
            <a:r>
              <a:rPr lang="en-US" altLang="zh-CN" dirty="0"/>
              <a:t>3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644512-4701-4387-94CB-63B49B0799FF}"/>
              </a:ext>
            </a:extLst>
          </p:cNvPr>
          <p:cNvSpPr txBox="1"/>
          <p:nvPr/>
        </p:nvSpPr>
        <p:spPr>
          <a:xfrm>
            <a:off x="3602883" y="5880740"/>
            <a:ext cx="5328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这两个</a:t>
            </a:r>
            <a:r>
              <a:rPr lang="en-US" altLang="zh-CN" dirty="0"/>
              <a:t>y</a:t>
            </a:r>
            <a:r>
              <a:rPr lang="zh-CN" altLang="en-US" dirty="0"/>
              <a:t>是同名的两个不同变量。</a:t>
            </a:r>
            <a:endParaRPr lang="en-US" altLang="zh-CN" dirty="0"/>
          </a:p>
          <a:p>
            <a:r>
              <a:rPr lang="zh-CN" altLang="en-US" dirty="0"/>
              <a:t>当调用</a:t>
            </a:r>
            <a:r>
              <a:rPr lang="en-US" altLang="zh-CN" dirty="0" err="1"/>
              <a:t>myf</a:t>
            </a:r>
            <a:r>
              <a:rPr lang="zh-CN" altLang="en-US" dirty="0"/>
              <a:t>函数时，会自动创建形参</a:t>
            </a:r>
            <a:r>
              <a:rPr lang="en-US" altLang="zh-CN" dirty="0"/>
              <a:t>x</a:t>
            </a:r>
            <a:r>
              <a:rPr lang="zh-CN" altLang="en-US" dirty="0"/>
              <a:t>和形参</a:t>
            </a:r>
            <a:r>
              <a:rPr lang="en-US" altLang="zh-CN" dirty="0"/>
              <a:t>y</a:t>
            </a:r>
            <a:r>
              <a:rPr lang="zh-CN" altLang="en-US" dirty="0"/>
              <a:t>。当函数返回时，会自动释放形参</a:t>
            </a:r>
            <a:r>
              <a:rPr lang="en-US" altLang="zh-CN" dirty="0"/>
              <a:t>x</a:t>
            </a:r>
            <a:r>
              <a:rPr lang="zh-CN" altLang="en-US" dirty="0"/>
              <a:t>和形参</a:t>
            </a:r>
            <a:r>
              <a:rPr lang="en-US" altLang="zh-CN" dirty="0"/>
              <a:t>y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5E24138-EA41-44BE-84FB-28F5A7A0E53F}"/>
              </a:ext>
            </a:extLst>
          </p:cNvPr>
          <p:cNvCxnSpPr>
            <a:cxnSpLocks/>
            <a:stCxn id="6" idx="0"/>
          </p:cNvCxnSpPr>
          <p:nvPr/>
        </p:nvCxnSpPr>
        <p:spPr bwMode="auto">
          <a:xfrm flipH="1" flipV="1">
            <a:off x="4034931" y="4207979"/>
            <a:ext cx="2232248" cy="16727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540F5E5-52F1-4974-BBD0-3C52BCBFD5AF}"/>
              </a:ext>
            </a:extLst>
          </p:cNvPr>
          <p:cNvCxnSpPr>
            <a:cxnSpLocks/>
            <a:stCxn id="6" idx="0"/>
          </p:cNvCxnSpPr>
          <p:nvPr/>
        </p:nvCxnSpPr>
        <p:spPr bwMode="auto">
          <a:xfrm flipH="1" flipV="1">
            <a:off x="5259950" y="3343883"/>
            <a:ext cx="1007229" cy="25368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86508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函数的调用</a:t>
            </a:r>
          </a:p>
        </p:txBody>
      </p:sp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3582144"/>
          </a:xfrm>
        </p:spPr>
        <p:txBody>
          <a:bodyPr/>
          <a:lstStyle/>
          <a:p>
            <a:r>
              <a:rPr lang="zh-CN" altLang="en-US" sz="1800" dirty="0"/>
              <a:t>通常将函数定义和函数调用都放在一个程序文件中，然后运行程序文件。例如，程序文件</a:t>
            </a:r>
            <a:r>
              <a:rPr lang="en-US" altLang="zh-CN" sz="1800" dirty="0"/>
              <a:t>ftest.py</a:t>
            </a:r>
            <a:r>
              <a:rPr lang="zh-CN" altLang="en-US" sz="1800" dirty="0"/>
              <a:t>的内容如下：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程序运行结果如下：</a:t>
            </a:r>
          </a:p>
          <a:p>
            <a:pPr marL="0" indent="0">
              <a:buNone/>
            </a:pPr>
            <a:r>
              <a:rPr lang="en-US" altLang="zh-CN" sz="1800" dirty="0"/>
              <a:t>25</a:t>
            </a:r>
          </a:p>
          <a:p>
            <a:pPr marL="0" indent="0">
              <a:buNone/>
            </a:pPr>
            <a:endParaRPr lang="zh-CN" altLang="en-US" sz="1800" dirty="0"/>
          </a:p>
          <a:p>
            <a:endParaRPr lang="zh-CN" altLang="en-US" sz="1800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1800" dirty="0"/>
              <a:t>程序中还可以定义一个</a:t>
            </a:r>
            <a:r>
              <a:rPr lang="zh-CN" altLang="en-US" sz="1800" dirty="0">
                <a:solidFill>
                  <a:srgbClr val="FF0000"/>
                </a:solidFill>
              </a:rPr>
              <a:t>主函数</a:t>
            </a:r>
            <a:r>
              <a:rPr lang="en-US" altLang="zh-CN" sz="1800" dirty="0">
                <a:solidFill>
                  <a:srgbClr val="FF0000"/>
                </a:solidFill>
              </a:rPr>
              <a:t>main</a:t>
            </a:r>
            <a:r>
              <a:rPr lang="zh-CN" altLang="en-US" sz="1800" dirty="0"/>
              <a:t>，用于完成程序的总体调度功能。例如，程序文件</a:t>
            </a:r>
            <a:r>
              <a:rPr lang="en-US" altLang="zh-CN" sz="1800" dirty="0"/>
              <a:t>ftest1.py</a:t>
            </a:r>
            <a:r>
              <a:rPr lang="zh-CN" altLang="en-US" sz="1800" dirty="0"/>
              <a:t>的内容如下：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程序运行结果如下：</a:t>
            </a:r>
          </a:p>
          <a:p>
            <a:pPr marL="0" indent="0">
              <a:buNone/>
            </a:pPr>
            <a:r>
              <a:rPr lang="en-US" altLang="zh-CN" sz="1800" dirty="0"/>
              <a:t>3,4</a:t>
            </a:r>
            <a:r>
              <a:rPr lang="zh-CN" altLang="en-US" sz="1800" dirty="0"/>
              <a:t>↙</a:t>
            </a:r>
          </a:p>
          <a:p>
            <a:pPr marL="0" indent="0">
              <a:buNone/>
            </a:pPr>
            <a:r>
              <a:rPr lang="en-US" altLang="zh-CN" sz="1800" dirty="0"/>
              <a:t>25</a:t>
            </a:r>
            <a:endParaRPr lang="zh-CN" altLang="en-US" sz="1800" dirty="0"/>
          </a:p>
          <a:p>
            <a:endParaRPr lang="zh-CN" altLang="en-US" sz="1800" dirty="0"/>
          </a:p>
        </p:txBody>
      </p:sp>
      <p:sp>
        <p:nvSpPr>
          <p:cNvPr id="3" name="矩形 2"/>
          <p:cNvSpPr/>
          <p:nvPr/>
        </p:nvSpPr>
        <p:spPr>
          <a:xfrm>
            <a:off x="684852" y="2348880"/>
            <a:ext cx="2754306" cy="133575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 err="1">
                <a:solidFill>
                  <a:srgbClr val="FF6600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b="1" dirty="0"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99"/>
                </a:solidFill>
                <a:latin typeface="Consolas" panose="020B0609020204030204" pitchFamily="49" charset="0"/>
              </a:rPr>
              <a:t>myf</a:t>
            </a:r>
            <a:r>
              <a:rPr lang="en-US" altLang="zh-CN" b="1" dirty="0"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latin typeface="Consolas" panose="020B0609020204030204" pitchFamily="49" charset="0"/>
              </a:rPr>
              <a:t>x,y</a:t>
            </a:r>
            <a:r>
              <a:rPr lang="en-US" altLang="zh-CN" b="1" dirty="0">
                <a:latin typeface="Consolas" panose="020B0609020204030204" pitchFamily="49" charset="0"/>
              </a:rPr>
              <a:t>):</a:t>
            </a:r>
            <a:endParaRPr lang="zh-CN" altLang="en-US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FF6600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b="1" dirty="0">
                <a:latin typeface="Consolas" panose="020B0609020204030204" pitchFamily="49" charset="0"/>
              </a:rPr>
              <a:t> x*</a:t>
            </a:r>
            <a:r>
              <a:rPr lang="en-US" altLang="zh-CN" b="1" dirty="0" err="1">
                <a:latin typeface="Consolas" panose="020B0609020204030204" pitchFamily="49" charset="0"/>
              </a:rPr>
              <a:t>x+y</a:t>
            </a:r>
            <a:r>
              <a:rPr lang="en-US" altLang="zh-CN" b="1" dirty="0">
                <a:latin typeface="Consolas" panose="020B0609020204030204" pitchFamily="49" charset="0"/>
              </a:rPr>
              <a:t>*y</a:t>
            </a:r>
            <a:endParaRPr lang="zh-CN" altLang="en-US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endParaRPr lang="en-US" altLang="zh-CN" b="1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latin typeface="Consolas" panose="020B0609020204030204" pitchFamily="49" charset="0"/>
              </a:rPr>
              <a:t>myf</a:t>
            </a:r>
            <a:r>
              <a:rPr lang="en-US" altLang="zh-CN" b="1" dirty="0">
                <a:latin typeface="Consolas" panose="020B0609020204030204" pitchFamily="49" charset="0"/>
              </a:rPr>
              <a:t>(3,4))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50042" y="2618911"/>
            <a:ext cx="3618402" cy="1985159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s-ES" altLang="zh-CN" b="1" dirty="0">
                <a:solidFill>
                  <a:srgbClr val="FF6600"/>
                </a:solidFill>
                <a:latin typeface="Consolas" panose="020B0609020204030204" pitchFamily="49" charset="0"/>
              </a:rPr>
              <a:t>def</a:t>
            </a:r>
            <a:r>
              <a:rPr lang="es-ES" altLang="zh-CN" b="1" dirty="0">
                <a:latin typeface="Consolas" panose="020B0609020204030204" pitchFamily="49" charset="0"/>
              </a:rPr>
              <a:t> </a:t>
            </a:r>
            <a:r>
              <a:rPr lang="es-ES" altLang="zh-CN" b="1" dirty="0">
                <a:solidFill>
                  <a:srgbClr val="000099"/>
                </a:solidFill>
                <a:latin typeface="Consolas" panose="020B0609020204030204" pitchFamily="49" charset="0"/>
              </a:rPr>
              <a:t>myf</a:t>
            </a:r>
            <a:r>
              <a:rPr lang="es-ES" altLang="zh-CN" b="1" dirty="0">
                <a:latin typeface="Consolas" panose="020B0609020204030204" pitchFamily="49" charset="0"/>
              </a:rPr>
              <a:t>(x,y):</a:t>
            </a:r>
            <a:endParaRPr lang="zh-CN" altLang="en-US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s-ES" altLang="zh-CN" b="1" dirty="0">
                <a:latin typeface="Consolas" panose="020B0609020204030204" pitchFamily="49" charset="0"/>
              </a:rPr>
              <a:t>    </a:t>
            </a:r>
            <a:r>
              <a:rPr lang="es-ES" altLang="zh-CN" b="1" dirty="0">
                <a:solidFill>
                  <a:srgbClr val="FF6600"/>
                </a:solidFill>
                <a:latin typeface="Consolas" panose="020B0609020204030204" pitchFamily="49" charset="0"/>
              </a:rPr>
              <a:t>return</a:t>
            </a:r>
            <a:r>
              <a:rPr lang="es-ES" altLang="zh-CN" b="1" dirty="0">
                <a:latin typeface="Consolas" panose="020B0609020204030204" pitchFamily="49" charset="0"/>
              </a:rPr>
              <a:t> x*x+y*y</a:t>
            </a:r>
            <a:endParaRPr lang="zh-CN" altLang="en-US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 err="1">
                <a:solidFill>
                  <a:srgbClr val="FF6600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b="1" dirty="0"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0099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latin typeface="Consolas" panose="020B0609020204030204" pitchFamily="49" charset="0"/>
              </a:rPr>
              <a:t>():</a:t>
            </a:r>
            <a:endParaRPr lang="zh-CN" altLang="en-US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latin typeface="Consolas" panose="020B0609020204030204" pitchFamily="49" charset="0"/>
              </a:rPr>
              <a:t>    </a:t>
            </a:r>
            <a:r>
              <a:rPr lang="en-US" altLang="zh-CN" b="1" dirty="0" err="1">
                <a:latin typeface="Consolas" panose="020B0609020204030204" pitchFamily="49" charset="0"/>
              </a:rPr>
              <a:t>a,b</a:t>
            </a:r>
            <a:r>
              <a:rPr lang="en-US" altLang="zh-CN" b="1" dirty="0">
                <a:latin typeface="Consolas" panose="020B0609020204030204" pitchFamily="49" charset="0"/>
              </a:rPr>
              <a:t>=</a:t>
            </a:r>
            <a:r>
              <a:rPr lang="en-US" altLang="zh-CN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eval</a:t>
            </a:r>
            <a:r>
              <a:rPr lang="en-US" altLang="zh-CN" b="1" dirty="0"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latin typeface="Consolas" panose="020B0609020204030204" pitchFamily="49" charset="0"/>
              </a:rPr>
              <a:t>())</a:t>
            </a:r>
            <a:endParaRPr lang="zh-CN" altLang="en-US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latin typeface="Consolas" panose="020B0609020204030204" pitchFamily="49" charset="0"/>
              </a:rPr>
              <a:t>myf</a:t>
            </a:r>
            <a:r>
              <a:rPr lang="en-US" altLang="zh-CN" b="1" dirty="0"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latin typeface="Consolas" panose="020B0609020204030204" pitchFamily="49" charset="0"/>
              </a:rPr>
              <a:t>a,b</a:t>
            </a:r>
            <a:r>
              <a:rPr lang="en-US" altLang="zh-CN" b="1" dirty="0">
                <a:latin typeface="Consolas" panose="020B0609020204030204" pitchFamily="49" charset="0"/>
              </a:rPr>
              <a:t>))</a:t>
            </a:r>
            <a:endParaRPr lang="zh-CN" altLang="en-US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b="1" dirty="0">
                <a:latin typeface="Consolas" panose="020B0609020204030204" pitchFamily="49" charset="0"/>
              </a:rPr>
              <a:t>main()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85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5271120" cy="845840"/>
          </a:xfrm>
        </p:spPr>
        <p:txBody>
          <a:bodyPr/>
          <a:lstStyle/>
          <a:p>
            <a:r>
              <a:rPr lang="zh-CN" altLang="en-US" dirty="0"/>
              <a:t>函数定义之前，不允许调用该函数</a:t>
            </a:r>
          </a:p>
        </p:txBody>
      </p:sp>
      <p:sp>
        <p:nvSpPr>
          <p:cNvPr id="5" name="矩形 4"/>
          <p:cNvSpPr/>
          <p:nvPr/>
        </p:nvSpPr>
        <p:spPr>
          <a:xfrm>
            <a:off x="827584" y="2039708"/>
            <a:ext cx="3618402" cy="300851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sz="2000" b="1" dirty="0" err="1">
                <a:solidFill>
                  <a:srgbClr val="FF6600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2000" b="1" dirty="0">
                <a:latin typeface="Consolas" panose="020B0609020204030204" pitchFamily="49" charset="0"/>
              </a:rPr>
              <a:t> </a:t>
            </a:r>
            <a:r>
              <a:rPr lang="en-US" altLang="zh-CN" sz="2000" b="1" dirty="0">
                <a:solidFill>
                  <a:srgbClr val="000099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sz="2000" b="1" dirty="0">
                <a:latin typeface="Consolas" panose="020B0609020204030204" pitchFamily="49" charset="0"/>
              </a:rPr>
              <a:t>():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sz="2000" b="1" dirty="0">
                <a:latin typeface="Consolas" panose="020B0609020204030204" pitchFamily="49" charset="0"/>
              </a:rPr>
              <a:t>    </a:t>
            </a:r>
            <a:r>
              <a:rPr lang="en-US" altLang="zh-CN" sz="2000" b="1" dirty="0" err="1">
                <a:latin typeface="Consolas" panose="020B0609020204030204" pitchFamily="49" charset="0"/>
              </a:rPr>
              <a:t>a,b</a:t>
            </a:r>
            <a:r>
              <a:rPr lang="en-US" altLang="zh-CN" sz="2000" b="1" dirty="0">
                <a:latin typeface="Consolas" panose="020B0609020204030204" pitchFamily="49" charset="0"/>
              </a:rPr>
              <a:t>=</a:t>
            </a:r>
            <a:r>
              <a:rPr lang="en-US" altLang="zh-CN" sz="20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eval</a:t>
            </a:r>
            <a:r>
              <a:rPr lang="en-US" altLang="zh-CN" sz="2000" b="1" dirty="0"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sz="2000" b="1" dirty="0">
                <a:latin typeface="Consolas" panose="020B0609020204030204" pitchFamily="49" charset="0"/>
              </a:rPr>
              <a:t>())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sz="2000" b="1" dirty="0">
                <a:latin typeface="Consolas" panose="020B0609020204030204" pitchFamily="49" charset="0"/>
              </a:rPr>
              <a:t>    </a:t>
            </a: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2000" b="1" dirty="0">
                <a:latin typeface="Consolas" panose="020B0609020204030204" pitchFamily="49" charset="0"/>
              </a:rPr>
              <a:t>(</a:t>
            </a:r>
            <a:r>
              <a:rPr lang="en-US" altLang="zh-CN" sz="2000" b="1" dirty="0" err="1">
                <a:latin typeface="Consolas" panose="020B0609020204030204" pitchFamily="49" charset="0"/>
              </a:rPr>
              <a:t>myf</a:t>
            </a:r>
            <a:r>
              <a:rPr lang="en-US" altLang="zh-CN" sz="2000" b="1" dirty="0">
                <a:latin typeface="Consolas" panose="020B0609020204030204" pitchFamily="49" charset="0"/>
              </a:rPr>
              <a:t>(</a:t>
            </a:r>
            <a:r>
              <a:rPr lang="en-US" altLang="zh-CN" sz="2000" b="1" dirty="0" err="1">
                <a:latin typeface="Consolas" panose="020B0609020204030204" pitchFamily="49" charset="0"/>
              </a:rPr>
              <a:t>a,b</a:t>
            </a:r>
            <a:r>
              <a:rPr lang="en-US" altLang="zh-CN" sz="2000" b="1" dirty="0">
                <a:latin typeface="Consolas" panose="020B0609020204030204" pitchFamily="49" charset="0"/>
              </a:rPr>
              <a:t>))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endParaRPr lang="en-US" altLang="zh-CN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sz="2000" b="1" dirty="0">
                <a:latin typeface="Consolas" panose="020B0609020204030204" pitchFamily="49" charset="0"/>
              </a:rPr>
              <a:t>main()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endParaRPr lang="es-ES" altLang="zh-CN" sz="2000" b="1" dirty="0">
              <a:solidFill>
                <a:srgbClr val="FF6600"/>
              </a:solidFill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s-ES" altLang="zh-CN" sz="2000" b="1" dirty="0">
                <a:solidFill>
                  <a:srgbClr val="FF6600"/>
                </a:solidFill>
                <a:latin typeface="Consolas" panose="020B0609020204030204" pitchFamily="49" charset="0"/>
              </a:rPr>
              <a:t>def</a:t>
            </a:r>
            <a:r>
              <a:rPr lang="es-ES" altLang="zh-CN" sz="2000" b="1" dirty="0">
                <a:latin typeface="Consolas" panose="020B0609020204030204" pitchFamily="49" charset="0"/>
              </a:rPr>
              <a:t> </a:t>
            </a:r>
            <a:r>
              <a:rPr lang="es-ES" altLang="zh-CN" sz="2000" b="1" dirty="0">
                <a:solidFill>
                  <a:srgbClr val="000099"/>
                </a:solidFill>
                <a:latin typeface="Consolas" panose="020B0609020204030204" pitchFamily="49" charset="0"/>
              </a:rPr>
              <a:t>myf</a:t>
            </a:r>
            <a:r>
              <a:rPr lang="es-ES" altLang="zh-CN" sz="2000" b="1" dirty="0">
                <a:latin typeface="Consolas" panose="020B0609020204030204" pitchFamily="49" charset="0"/>
              </a:rPr>
              <a:t>(x,y):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s-ES" altLang="zh-CN" sz="2000" b="1" dirty="0">
                <a:latin typeface="Consolas" panose="020B0609020204030204" pitchFamily="49" charset="0"/>
              </a:rPr>
              <a:t>    </a:t>
            </a:r>
            <a:r>
              <a:rPr lang="es-ES" altLang="zh-CN" sz="2000" b="1" dirty="0">
                <a:solidFill>
                  <a:srgbClr val="FF6600"/>
                </a:solidFill>
                <a:latin typeface="Consolas" panose="020B0609020204030204" pitchFamily="49" charset="0"/>
              </a:rPr>
              <a:t>return</a:t>
            </a:r>
            <a:r>
              <a:rPr lang="es-ES" altLang="zh-CN" sz="2000" b="1" dirty="0">
                <a:latin typeface="Consolas" panose="020B0609020204030204" pitchFamily="49" charset="0"/>
              </a:rPr>
              <a:t> x*x+y*y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endParaRPr lang="en-US" altLang="zh-CN" sz="2000" b="1" dirty="0"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2391" y="5135271"/>
            <a:ext cx="44053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FF0000"/>
                </a:solidFill>
              </a:rPr>
              <a:t>NameError</a:t>
            </a:r>
            <a:r>
              <a:rPr lang="en-US" altLang="zh-CN" sz="2000" dirty="0">
                <a:solidFill>
                  <a:srgbClr val="FF0000"/>
                </a:solidFill>
              </a:rPr>
              <a:t>: name ‘</a:t>
            </a:r>
            <a:r>
              <a:rPr lang="en-US" altLang="zh-CN" sz="2000" dirty="0" err="1">
                <a:solidFill>
                  <a:srgbClr val="FF0000"/>
                </a:solidFill>
              </a:rPr>
              <a:t>myf</a:t>
            </a:r>
            <a:r>
              <a:rPr lang="en-US" altLang="zh-CN" sz="2000" dirty="0">
                <a:solidFill>
                  <a:srgbClr val="FF0000"/>
                </a:solidFill>
              </a:rPr>
              <a:t>' is not defined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03848" y="2394554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>
                <a:solidFill>
                  <a:srgbClr val="FF0000"/>
                </a:solidFill>
                <a:latin typeface="Bradley Hand ITC" panose="03070402050302030203" pitchFamily="66" charset="0"/>
              </a:rPr>
              <a:t>x</a:t>
            </a:r>
            <a:endParaRPr lang="zh-CN" altLang="en-US" sz="8000" b="1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F45A2A-7306-448E-8366-BC43E47B3456}"/>
              </a:ext>
            </a:extLst>
          </p:cNvPr>
          <p:cNvSpPr/>
          <p:nvPr/>
        </p:nvSpPr>
        <p:spPr>
          <a:xfrm>
            <a:off x="5333207" y="1012721"/>
            <a:ext cx="3618402" cy="267765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s-ES" altLang="zh-CN" sz="2000" b="1" dirty="0">
                <a:solidFill>
                  <a:srgbClr val="FF6600"/>
                </a:solidFill>
                <a:latin typeface="Consolas" panose="020B0609020204030204" pitchFamily="49" charset="0"/>
              </a:rPr>
              <a:t>def</a:t>
            </a:r>
            <a:r>
              <a:rPr lang="es-ES" altLang="zh-CN" sz="2000" b="1" dirty="0">
                <a:latin typeface="Consolas" panose="020B0609020204030204" pitchFamily="49" charset="0"/>
              </a:rPr>
              <a:t> </a:t>
            </a:r>
            <a:r>
              <a:rPr lang="es-ES" altLang="zh-CN" sz="2000" b="1" dirty="0">
                <a:solidFill>
                  <a:srgbClr val="000099"/>
                </a:solidFill>
                <a:latin typeface="Consolas" panose="020B0609020204030204" pitchFamily="49" charset="0"/>
              </a:rPr>
              <a:t>myf</a:t>
            </a:r>
            <a:r>
              <a:rPr lang="es-ES" altLang="zh-CN" sz="2000" b="1" dirty="0">
                <a:latin typeface="Consolas" panose="020B0609020204030204" pitchFamily="49" charset="0"/>
              </a:rPr>
              <a:t>(x,y):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s-ES" altLang="zh-CN" sz="2000" b="1" dirty="0">
                <a:latin typeface="Consolas" panose="020B0609020204030204" pitchFamily="49" charset="0"/>
              </a:rPr>
              <a:t>    </a:t>
            </a:r>
            <a:r>
              <a:rPr lang="es-ES" altLang="zh-CN" sz="2000" b="1" dirty="0">
                <a:solidFill>
                  <a:srgbClr val="FF6600"/>
                </a:solidFill>
                <a:latin typeface="Consolas" panose="020B0609020204030204" pitchFamily="49" charset="0"/>
              </a:rPr>
              <a:t>return</a:t>
            </a:r>
            <a:r>
              <a:rPr lang="es-ES" altLang="zh-CN" sz="2000" b="1" dirty="0">
                <a:latin typeface="Consolas" panose="020B0609020204030204" pitchFamily="49" charset="0"/>
              </a:rPr>
              <a:t> x*x+y*y</a:t>
            </a: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endParaRPr lang="zh-CN" altLang="en-US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sz="2000" b="1" dirty="0" err="1">
                <a:solidFill>
                  <a:srgbClr val="FF6600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2000" b="1" dirty="0">
                <a:latin typeface="Consolas" panose="020B0609020204030204" pitchFamily="49" charset="0"/>
              </a:rPr>
              <a:t> </a:t>
            </a:r>
            <a:r>
              <a:rPr lang="en-US" altLang="zh-CN" sz="2000" b="1" dirty="0">
                <a:solidFill>
                  <a:srgbClr val="000099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sz="2000" b="1" dirty="0">
                <a:latin typeface="Consolas" panose="020B0609020204030204" pitchFamily="49" charset="0"/>
              </a:rPr>
              <a:t>():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sz="2000" b="1" dirty="0">
                <a:latin typeface="Consolas" panose="020B0609020204030204" pitchFamily="49" charset="0"/>
              </a:rPr>
              <a:t>    </a:t>
            </a:r>
            <a:r>
              <a:rPr lang="en-US" altLang="zh-CN" sz="2000" b="1" dirty="0" err="1">
                <a:latin typeface="Consolas" panose="020B0609020204030204" pitchFamily="49" charset="0"/>
              </a:rPr>
              <a:t>a,b</a:t>
            </a:r>
            <a:r>
              <a:rPr lang="en-US" altLang="zh-CN" sz="2000" b="1" dirty="0">
                <a:latin typeface="Consolas" panose="020B0609020204030204" pitchFamily="49" charset="0"/>
              </a:rPr>
              <a:t>=</a:t>
            </a:r>
            <a:r>
              <a:rPr lang="en-US" altLang="zh-CN" sz="20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eval</a:t>
            </a:r>
            <a:r>
              <a:rPr lang="en-US" altLang="zh-CN" sz="2000" b="1" dirty="0"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sz="2000" b="1" dirty="0">
                <a:latin typeface="Consolas" panose="020B0609020204030204" pitchFamily="49" charset="0"/>
              </a:rPr>
              <a:t>())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sz="2000" b="1" dirty="0">
                <a:latin typeface="Consolas" panose="020B0609020204030204" pitchFamily="49" charset="0"/>
              </a:rPr>
              <a:t>    </a:t>
            </a: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2000" b="1" dirty="0">
                <a:latin typeface="Consolas" panose="020B0609020204030204" pitchFamily="49" charset="0"/>
              </a:rPr>
              <a:t>(</a:t>
            </a:r>
            <a:r>
              <a:rPr lang="en-US" altLang="zh-CN" sz="2000" b="1" dirty="0" err="1">
                <a:latin typeface="Consolas" panose="020B0609020204030204" pitchFamily="49" charset="0"/>
              </a:rPr>
              <a:t>myf</a:t>
            </a:r>
            <a:r>
              <a:rPr lang="en-US" altLang="zh-CN" sz="2000" b="1" dirty="0">
                <a:latin typeface="Consolas" panose="020B0609020204030204" pitchFamily="49" charset="0"/>
              </a:rPr>
              <a:t>(</a:t>
            </a:r>
            <a:r>
              <a:rPr lang="en-US" altLang="zh-CN" sz="2000" b="1" dirty="0" err="1">
                <a:latin typeface="Consolas" panose="020B0609020204030204" pitchFamily="49" charset="0"/>
              </a:rPr>
              <a:t>a,b</a:t>
            </a:r>
            <a:r>
              <a:rPr lang="en-US" altLang="zh-CN" sz="2000" b="1" dirty="0">
                <a:latin typeface="Consolas" panose="020B0609020204030204" pitchFamily="49" charset="0"/>
              </a:rPr>
              <a:t>))</a:t>
            </a: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endParaRPr lang="zh-CN" altLang="en-US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sz="2000" b="1" dirty="0">
                <a:latin typeface="Consolas" panose="020B0609020204030204" pitchFamily="49" charset="0"/>
              </a:rPr>
              <a:t>main()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  <p:pic>
        <p:nvPicPr>
          <p:cNvPr id="9" name="图形 8" descr="复选标记 纯色填充">
            <a:extLst>
              <a:ext uri="{FF2B5EF4-FFF2-40B4-BE49-F238E27FC236}">
                <a16:creationId xmlns:a16="http://schemas.microsoft.com/office/drawing/2014/main" id="{B11A0B00-288E-4748-B0A4-449C3DF02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1263" y="1450802"/>
            <a:ext cx="914400" cy="9144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99B4044-0931-4384-8B15-9C219016572E}"/>
              </a:ext>
            </a:extLst>
          </p:cNvPr>
          <p:cNvSpPr/>
          <p:nvPr/>
        </p:nvSpPr>
        <p:spPr>
          <a:xfrm>
            <a:off x="5333207" y="4108533"/>
            <a:ext cx="3618402" cy="2616101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sz="2000" b="1" dirty="0">
                <a:solidFill>
                  <a:srgbClr val="FF6600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2000" b="1" dirty="0">
                <a:latin typeface="Consolas" panose="020B0609020204030204" pitchFamily="49" charset="0"/>
              </a:rPr>
              <a:t> </a:t>
            </a:r>
            <a:r>
              <a:rPr lang="en-US" altLang="zh-CN" sz="2000" b="1" dirty="0">
                <a:solidFill>
                  <a:srgbClr val="000099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sz="2000" b="1" dirty="0">
                <a:latin typeface="Consolas" panose="020B0609020204030204" pitchFamily="49" charset="0"/>
              </a:rPr>
              <a:t>():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sz="2000" b="1" dirty="0">
                <a:latin typeface="Consolas" panose="020B0609020204030204" pitchFamily="49" charset="0"/>
              </a:rPr>
              <a:t>    </a:t>
            </a:r>
            <a:r>
              <a:rPr lang="en-US" altLang="zh-CN" sz="2000" b="1" dirty="0" err="1">
                <a:latin typeface="Consolas" panose="020B0609020204030204" pitchFamily="49" charset="0"/>
              </a:rPr>
              <a:t>a,b</a:t>
            </a:r>
            <a:r>
              <a:rPr lang="en-US" altLang="zh-CN" sz="2000" b="1" dirty="0">
                <a:latin typeface="Consolas" panose="020B0609020204030204" pitchFamily="49" charset="0"/>
              </a:rPr>
              <a:t>=</a:t>
            </a:r>
            <a:r>
              <a:rPr lang="en-US" altLang="zh-CN" sz="20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eval</a:t>
            </a:r>
            <a:r>
              <a:rPr lang="en-US" altLang="zh-CN" sz="2000" b="1" dirty="0"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sz="2000" b="1" dirty="0">
                <a:latin typeface="Consolas" panose="020B0609020204030204" pitchFamily="49" charset="0"/>
              </a:rPr>
              <a:t>())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sz="2000" b="1" dirty="0">
                <a:latin typeface="Consolas" panose="020B0609020204030204" pitchFamily="49" charset="0"/>
              </a:rPr>
              <a:t>    </a:t>
            </a: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2000" b="1" dirty="0">
                <a:latin typeface="Consolas" panose="020B0609020204030204" pitchFamily="49" charset="0"/>
              </a:rPr>
              <a:t>(</a:t>
            </a:r>
            <a:r>
              <a:rPr lang="en-US" altLang="zh-CN" sz="2000" b="1" dirty="0" err="1">
                <a:latin typeface="Consolas" panose="020B0609020204030204" pitchFamily="49" charset="0"/>
              </a:rPr>
              <a:t>myf</a:t>
            </a:r>
            <a:r>
              <a:rPr lang="en-US" altLang="zh-CN" sz="2000" b="1" dirty="0">
                <a:latin typeface="Consolas" panose="020B0609020204030204" pitchFamily="49" charset="0"/>
              </a:rPr>
              <a:t>(</a:t>
            </a:r>
            <a:r>
              <a:rPr lang="en-US" altLang="zh-CN" sz="2000" b="1" dirty="0" err="1">
                <a:latin typeface="Consolas" panose="020B0609020204030204" pitchFamily="49" charset="0"/>
              </a:rPr>
              <a:t>a,b</a:t>
            </a:r>
            <a:r>
              <a:rPr lang="en-US" altLang="zh-CN" sz="2000" b="1" dirty="0">
                <a:latin typeface="Consolas" panose="020B0609020204030204" pitchFamily="49" charset="0"/>
              </a:rPr>
              <a:t>))</a:t>
            </a: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br>
              <a:rPr lang="en-US" altLang="zh-CN" sz="2000" b="1" dirty="0">
                <a:latin typeface="Consolas" panose="020B0609020204030204" pitchFamily="49" charset="0"/>
              </a:rPr>
            </a:br>
            <a:r>
              <a:rPr lang="es-ES" altLang="zh-CN" sz="2000" b="1" dirty="0">
                <a:solidFill>
                  <a:srgbClr val="FF6600"/>
                </a:solidFill>
                <a:latin typeface="Consolas" panose="020B0609020204030204" pitchFamily="49" charset="0"/>
              </a:rPr>
              <a:t>def</a:t>
            </a:r>
            <a:r>
              <a:rPr lang="es-ES" altLang="zh-CN" sz="2000" b="1" dirty="0">
                <a:latin typeface="Consolas" panose="020B0609020204030204" pitchFamily="49" charset="0"/>
              </a:rPr>
              <a:t> </a:t>
            </a:r>
            <a:r>
              <a:rPr lang="es-ES" altLang="zh-CN" sz="2000" b="1" dirty="0">
                <a:solidFill>
                  <a:srgbClr val="000099"/>
                </a:solidFill>
                <a:latin typeface="Consolas" panose="020B0609020204030204" pitchFamily="49" charset="0"/>
              </a:rPr>
              <a:t>myf</a:t>
            </a:r>
            <a:r>
              <a:rPr lang="es-ES" altLang="zh-CN" sz="2000" b="1" dirty="0">
                <a:latin typeface="Consolas" panose="020B0609020204030204" pitchFamily="49" charset="0"/>
              </a:rPr>
              <a:t>(x,y):</a:t>
            </a:r>
            <a:endParaRPr lang="zh-CN" altLang="en-US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s-ES" altLang="zh-CN" sz="2000" b="1" dirty="0">
                <a:latin typeface="Consolas" panose="020B0609020204030204" pitchFamily="49" charset="0"/>
              </a:rPr>
              <a:t>    </a:t>
            </a:r>
            <a:r>
              <a:rPr lang="es-ES" altLang="zh-CN" sz="2000" b="1" dirty="0">
                <a:solidFill>
                  <a:srgbClr val="FF6600"/>
                </a:solidFill>
                <a:latin typeface="Consolas" panose="020B0609020204030204" pitchFamily="49" charset="0"/>
              </a:rPr>
              <a:t>return</a:t>
            </a:r>
            <a:r>
              <a:rPr lang="es-ES" altLang="zh-CN" sz="2000" b="1" dirty="0">
                <a:latin typeface="Consolas" panose="020B0609020204030204" pitchFamily="49" charset="0"/>
              </a:rPr>
              <a:t> x*x+y*y</a:t>
            </a: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endParaRPr lang="zh-CN" altLang="en-US" sz="2000" b="1" dirty="0">
              <a:latin typeface="Consolas" panose="020B0609020204030204" pitchFamily="49" charset="0"/>
            </a:endParaRPr>
          </a:p>
          <a:p>
            <a:pPr fontAlgn="base">
              <a:lnSpc>
                <a:spcPts val="2100"/>
              </a:lnSpc>
              <a:spcBef>
                <a:spcPct val="20000"/>
              </a:spcBef>
              <a:spcAft>
                <a:spcPct val="0"/>
              </a:spcAft>
              <a:buClr>
                <a:srgbClr val="00B0F0"/>
              </a:buClr>
            </a:pPr>
            <a:r>
              <a:rPr lang="en-US" altLang="zh-CN" sz="2000" b="1" dirty="0">
                <a:latin typeface="Consolas" panose="020B0609020204030204" pitchFamily="49" charset="0"/>
              </a:rPr>
              <a:t>main()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  <p:pic>
        <p:nvPicPr>
          <p:cNvPr id="11" name="图形 10" descr="复选标记 纯色填充">
            <a:extLst>
              <a:ext uri="{FF2B5EF4-FFF2-40B4-BE49-F238E27FC236}">
                <a16:creationId xmlns:a16="http://schemas.microsoft.com/office/drawing/2014/main" id="{D3115DC2-220E-43E1-A92B-DD2593A73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9374" y="4427531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1F06F31-C2E1-4A54-926C-2AE3DAD8F777}"/>
              </a:ext>
            </a:extLst>
          </p:cNvPr>
          <p:cNvSpPr txBox="1"/>
          <p:nvPr/>
        </p:nvSpPr>
        <p:spPr>
          <a:xfrm>
            <a:off x="18715" y="5888245"/>
            <a:ext cx="4852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原因是：从文件开始一直扫描到这行，才开始执行代码，那么之前的</a:t>
            </a:r>
            <a:r>
              <a:rPr lang="en-US" altLang="zh-CN" dirty="0"/>
              <a:t>main</a:t>
            </a:r>
            <a:r>
              <a:rPr lang="zh-CN" altLang="en-US" dirty="0"/>
              <a:t>函数和</a:t>
            </a:r>
            <a:r>
              <a:rPr lang="en-US" altLang="zh-CN" dirty="0" err="1"/>
              <a:t>myf</a:t>
            </a:r>
            <a:r>
              <a:rPr lang="zh-CN" altLang="en-US" dirty="0"/>
              <a:t>函数已经被识别并填写到符号表</a:t>
            </a:r>
            <a:r>
              <a:rPr lang="zh-CN" altLang="en-US"/>
              <a:t>中。解释性语言。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BA0CE96-B57C-4C53-9037-90B2044965C6}"/>
              </a:ext>
            </a:extLst>
          </p:cNvPr>
          <p:cNvCxnSpPr/>
          <p:nvPr/>
        </p:nvCxnSpPr>
        <p:spPr bwMode="auto">
          <a:xfrm>
            <a:off x="4709577" y="6381328"/>
            <a:ext cx="662455" cy="1218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27774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71600" y="260648"/>
            <a:ext cx="721111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b="1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sz="2100" b="1" dirty="0">
                <a:latin typeface="微软雅黑" pitchFamily="34" charset="-122"/>
                <a:ea typeface="微软雅黑" pitchFamily="34" charset="-122"/>
              </a:rPr>
              <a:t>8-1  </a:t>
            </a:r>
            <a:r>
              <a:rPr lang="zh-CN" altLang="en-US" sz="2100" b="1" dirty="0">
                <a:latin typeface="微软雅黑" pitchFamily="34" charset="-122"/>
                <a:ea typeface="微软雅黑" pitchFamily="34" charset="-122"/>
              </a:rPr>
              <a:t>求五边形面积，长度</a:t>
            </a:r>
            <a:r>
              <a:rPr lang="en-US" sz="2100" b="1" dirty="0">
                <a:latin typeface="微软雅黑" pitchFamily="34" charset="-122"/>
                <a:ea typeface="微软雅黑" pitchFamily="34" charset="-122"/>
              </a:rPr>
              <a:t>k1</a:t>
            </a:r>
            <a:r>
              <a:rPr lang="zh-CN" altLang="en-US" sz="2100" b="1" dirty="0"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sz="2100" b="1" dirty="0">
                <a:latin typeface="微软雅黑" pitchFamily="34" charset="-122"/>
                <a:ea typeface="微软雅黑" pitchFamily="34" charset="-122"/>
              </a:rPr>
              <a:t>k7</a:t>
            </a:r>
            <a:r>
              <a:rPr lang="zh-CN" altLang="en-US" sz="2100" b="1" dirty="0">
                <a:latin typeface="微软雅黑" pitchFamily="34" charset="-122"/>
                <a:ea typeface="微软雅黑" pitchFamily="34" charset="-122"/>
              </a:rPr>
              <a:t>从键盘输入。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560" y="1916832"/>
            <a:ext cx="2990850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4067944" y="1223512"/>
            <a:ext cx="4569990" cy="1623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100" b="1">
                <a:latin typeface="微软雅黑" pitchFamily="34" charset="-122"/>
                <a:ea typeface="微软雅黑" pitchFamily="34" charset="-122"/>
              </a:rPr>
              <a:t>分析：</a:t>
            </a:r>
            <a:endParaRPr lang="en-US" altLang="zh-CN" sz="2100" b="1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100" b="1">
                <a:latin typeface="微软雅黑" pitchFamily="34" charset="-122"/>
                <a:ea typeface="微软雅黑" pitchFamily="34" charset="-122"/>
              </a:rPr>
              <a:t>求</a:t>
            </a:r>
            <a:r>
              <a:rPr lang="zh-CN" altLang="en-US" sz="2100" b="1" dirty="0">
                <a:latin typeface="微软雅黑" pitchFamily="34" charset="-122"/>
                <a:ea typeface="微软雅黑" pitchFamily="34" charset="-122"/>
              </a:rPr>
              <a:t>五边形的面积可以变成求三个三角形面积的</a:t>
            </a:r>
            <a:r>
              <a:rPr lang="zh-CN" altLang="en-US" sz="2100" b="1">
                <a:latin typeface="微软雅黑" pitchFamily="34" charset="-122"/>
                <a:ea typeface="微软雅黑" pitchFamily="34" charset="-122"/>
              </a:rPr>
              <a:t>和。</a:t>
            </a:r>
            <a:endParaRPr lang="zh-CN" altLang="en-US" sz="21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83968" y="3737788"/>
            <a:ext cx="4572000" cy="190821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可将计算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三角形面积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定义成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函数</a:t>
            </a:r>
            <a:endParaRPr lang="en-US" altLang="zh-CN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在主函数中</a:t>
            </a:r>
            <a:r>
              <a:rPr lang="zh-CN" altLang="en-US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三次调用</a:t>
            </a: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它，分别得到三个三角形的面积</a:t>
            </a:r>
            <a:endParaRPr lang="en-US" altLang="zh-CN" b="1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然后相加得到五边形的面积。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53096" y="3120890"/>
            <a:ext cx="1338828" cy="4589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解决方法：</a:t>
            </a:r>
            <a:endParaRPr lang="en-US" altLang="zh-CN" b="1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57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9552" y="764704"/>
            <a:ext cx="7632848" cy="4524315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Consolas" panose="020B0609020204030204" pitchFamily="49" charset="0"/>
              </a:rPr>
              <a:t>from math import *</a:t>
            </a:r>
          </a:p>
          <a:p>
            <a:r>
              <a:rPr lang="en-US" altLang="zh-CN" sz="2400" b="1" dirty="0" err="1">
                <a:latin typeface="Consolas" panose="020B0609020204030204" pitchFamily="49" charset="0"/>
              </a:rPr>
              <a:t>def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ts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a,b,c</a:t>
            </a:r>
            <a:r>
              <a:rPr lang="en-US" altLang="zh-CN" sz="2400" b="1" dirty="0"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s=(</a:t>
            </a:r>
            <a:r>
              <a:rPr lang="en-US" altLang="zh-CN" sz="2400" b="1" dirty="0" err="1">
                <a:latin typeface="Consolas" panose="020B0609020204030204" pitchFamily="49" charset="0"/>
              </a:rPr>
              <a:t>a+b+c</a:t>
            </a:r>
            <a:r>
              <a:rPr lang="en-US" altLang="zh-CN" sz="2400" b="1" dirty="0">
                <a:latin typeface="Consolas" panose="020B0609020204030204" pitchFamily="49" charset="0"/>
              </a:rPr>
              <a:t>)/2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s=</a:t>
            </a:r>
            <a:r>
              <a:rPr lang="en-US" altLang="zh-CN" sz="2400" b="1" dirty="0" err="1">
                <a:latin typeface="Consolas" panose="020B0609020204030204" pitchFamily="49" charset="0"/>
              </a:rPr>
              <a:t>sqrt</a:t>
            </a:r>
            <a:r>
              <a:rPr lang="en-US" altLang="zh-CN" sz="2400" b="1" dirty="0">
                <a:latin typeface="Consolas" panose="020B0609020204030204" pitchFamily="49" charset="0"/>
              </a:rPr>
              <a:t>(s*(s-a)*(s-b)*(s-c))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</a:t>
            </a:r>
            <a:r>
              <a:rPr lang="en-US" altLang="zh-CN" sz="2400" b="1">
                <a:latin typeface="Consolas" panose="020B0609020204030204" pitchFamily="49" charset="0"/>
              </a:rPr>
              <a:t>return s</a:t>
            </a:r>
          </a:p>
          <a:p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 err="1">
                <a:latin typeface="Consolas" panose="020B0609020204030204" pitchFamily="49" charset="0"/>
              </a:rPr>
              <a:t>def</a:t>
            </a:r>
            <a:r>
              <a:rPr lang="en-US" altLang="zh-CN" sz="2400" b="1" dirty="0">
                <a:latin typeface="Consolas" panose="020B0609020204030204" pitchFamily="49" charset="0"/>
              </a:rPr>
              <a:t> main():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k1,k2,k3,k4,k5,k6,k7=</a:t>
            </a:r>
            <a:r>
              <a:rPr lang="en-US" altLang="zh-CN" sz="2400" b="1" dirty="0" err="1">
                <a:latin typeface="Consolas" panose="020B0609020204030204" pitchFamily="49" charset="0"/>
              </a:rPr>
              <a:t>eval</a:t>
            </a:r>
            <a:r>
              <a:rPr lang="en-US" altLang="zh-CN" sz="2400" b="1" dirty="0">
                <a:latin typeface="Consolas" panose="020B0609020204030204" pitchFamily="49" charset="0"/>
              </a:rPr>
              <a:t>(input())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s=</a:t>
            </a:r>
            <a:r>
              <a:rPr lang="en-US" altLang="zh-CN" sz="2400" b="1" dirty="0" err="1">
                <a:latin typeface="Consolas" panose="020B0609020204030204" pitchFamily="49" charset="0"/>
              </a:rPr>
              <a:t>ts</a:t>
            </a:r>
            <a:r>
              <a:rPr lang="en-US" altLang="zh-CN" sz="2400" b="1" dirty="0">
                <a:latin typeface="Consolas" panose="020B0609020204030204" pitchFamily="49" charset="0"/>
              </a:rPr>
              <a:t>(k1,k2,k6)+</a:t>
            </a:r>
            <a:r>
              <a:rPr lang="en-US" altLang="zh-CN" sz="2400" b="1" dirty="0" err="1">
                <a:latin typeface="Consolas" panose="020B0609020204030204" pitchFamily="49" charset="0"/>
              </a:rPr>
              <a:t>ts</a:t>
            </a:r>
            <a:r>
              <a:rPr lang="en-US" altLang="zh-CN" sz="2400" b="1" dirty="0">
                <a:latin typeface="Consolas" panose="020B0609020204030204" pitchFamily="49" charset="0"/>
              </a:rPr>
              <a:t>(k6,k3,k7)+</a:t>
            </a:r>
            <a:r>
              <a:rPr lang="en-US" altLang="zh-CN" sz="2400" b="1" dirty="0" err="1">
                <a:latin typeface="Consolas" panose="020B0609020204030204" pitchFamily="49" charset="0"/>
              </a:rPr>
              <a:t>ts</a:t>
            </a:r>
            <a:r>
              <a:rPr lang="en-US" altLang="zh-CN" sz="2400" b="1" dirty="0">
                <a:latin typeface="Consolas" panose="020B0609020204030204" pitchFamily="49" charset="0"/>
              </a:rPr>
              <a:t>(k7,k4,k5)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print('area=',</a:t>
            </a:r>
            <a:r>
              <a:rPr lang="en-US" altLang="zh-CN" sz="2400" b="1">
                <a:latin typeface="Consolas" panose="020B0609020204030204" pitchFamily="49" charset="0"/>
              </a:rPr>
              <a:t>s)</a:t>
            </a:r>
          </a:p>
          <a:p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main()</a:t>
            </a:r>
            <a:endParaRPr lang="zh-CN" altLang="en-US" sz="2400" b="1" dirty="0"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552" y="5517232"/>
            <a:ext cx="5616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Consolas" panose="020B0609020204030204" pitchFamily="49" charset="0"/>
              </a:rPr>
              <a:t>3,2,5,2,7,4,8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area= 17.523468190424214</a:t>
            </a:r>
            <a:endParaRPr lang="zh-CN" altLang="en-US" sz="2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049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本周</a:t>
            </a:r>
            <a:r>
              <a:rPr lang="en-US" altLang="zh-CN" dirty="0"/>
              <a:t>PTA</a:t>
            </a:r>
            <a:r>
              <a:rPr lang="zh-CN" altLang="en-US" dirty="0"/>
              <a:t>作业说明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函数题</a:t>
            </a:r>
            <a:r>
              <a:rPr lang="en-US" altLang="zh-CN" dirty="0"/>
              <a:t>——</a:t>
            </a:r>
            <a:r>
              <a:rPr lang="zh-CN" altLang="en-US" dirty="0"/>
              <a:t>只要求写函数，不必写完整的程序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86" y="1862826"/>
            <a:ext cx="7768773" cy="4051543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176838" y="3407036"/>
            <a:ext cx="992785" cy="421972"/>
          </a:xfrm>
          <a:prstGeom prst="ellipse">
            <a:avLst/>
          </a:prstGeom>
          <a:ln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ctr"/>
            <a:endParaRPr lang="zh-CN" altLang="en-US" sz="1350" kern="0">
              <a:solidFill>
                <a:srgbClr val="FF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76836" y="4816927"/>
            <a:ext cx="1910888" cy="421972"/>
          </a:xfrm>
          <a:prstGeom prst="ellipse">
            <a:avLst/>
          </a:prstGeom>
          <a:ln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ctr"/>
            <a:endParaRPr lang="zh-CN" altLang="en-US" sz="1350" kern="0">
              <a:solidFill>
                <a:srgbClr val="FF0000"/>
              </a:solidFill>
              <a:latin typeface="Courier New"/>
              <a:ea typeface="宋体"/>
              <a:cs typeface="Times New Roman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951" y="4037106"/>
            <a:ext cx="3674354" cy="19631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385646" y="3479521"/>
            <a:ext cx="12234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solidFill>
                  <a:srgbClr val="FF0000"/>
                </a:solidFill>
              </a:rPr>
              <a:t>函数名已指定</a:t>
            </a:r>
          </a:p>
        </p:txBody>
      </p:sp>
    </p:spTree>
    <p:extLst>
      <p:ext uri="{BB962C8B-B14F-4D97-AF65-F5344CB8AC3E}">
        <p14:creationId xmlns:p14="http://schemas.microsoft.com/office/powerpoint/2010/main" val="313966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99792" y="2924944"/>
            <a:ext cx="3528392" cy="648072"/>
          </a:xfrm>
        </p:spPr>
        <p:txBody>
          <a:bodyPr/>
          <a:lstStyle/>
          <a:p>
            <a:r>
              <a:rPr lang="zh-CN" altLang="en-US" sz="3600"/>
              <a:t>阅读 函数 程序</a:t>
            </a:r>
          </a:p>
        </p:txBody>
      </p:sp>
    </p:spTree>
    <p:extLst>
      <p:ext uri="{BB962C8B-B14F-4D97-AF65-F5344CB8AC3E}">
        <p14:creationId xmlns:p14="http://schemas.microsoft.com/office/powerpoint/2010/main" val="770876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5250" y="908720"/>
            <a:ext cx="4332734" cy="12098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阅读下面的程序，程序运行结果是（   ）。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940152" y="2037478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1</a:t>
            </a:r>
            <a:endParaRPr lang="zh-CN" altLang="en-US" sz="240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5940152" y="2894728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9</a:t>
            </a:r>
            <a:endParaRPr lang="zh-CN" altLang="en-US" sz="240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5940152" y="3751978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2 3 4</a:t>
            </a:r>
            <a:endParaRPr lang="zh-CN" altLang="en-US" sz="240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012160" y="4797152"/>
            <a:ext cx="288721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1 3 6</a:t>
            </a:r>
            <a:endParaRPr lang="zh-CN" altLang="en-US" sz="240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225777" y="2101771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225777" y="2959021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225777" y="3816271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213742" y="486144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19" name="矩形 18"/>
          <p:cNvSpPr/>
          <p:nvPr/>
        </p:nvSpPr>
        <p:spPr>
          <a:xfrm>
            <a:off x="181724" y="2392264"/>
            <a:ext cx="4572000" cy="3416320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>
            <a:spAutoFit/>
          </a:bodyPr>
          <a:lstStyle/>
          <a:p>
            <a:r>
              <a:rPr lang="en-US" altLang="zh-CN" dirty="0" err="1"/>
              <a:t>def</a:t>
            </a:r>
            <a:r>
              <a:rPr lang="en-US" altLang="zh-CN" dirty="0"/>
              <a:t> foo(</a:t>
            </a:r>
            <a:r>
              <a:rPr lang="en-US" altLang="zh-CN" dirty="0" err="1"/>
              <a:t>num</a:t>
            </a:r>
            <a:r>
              <a:rPr lang="en-US" altLang="zh-CN" dirty="0"/>
              <a:t>):</a:t>
            </a:r>
          </a:p>
          <a:p>
            <a:r>
              <a:rPr lang="en-US" altLang="zh-CN" dirty="0"/>
              <a:t>    s = 0</a:t>
            </a:r>
          </a:p>
          <a:p>
            <a:r>
              <a:rPr lang="en-US" altLang="zh-CN" dirty="0"/>
              <a:t>    for j in range(</a:t>
            </a:r>
            <a:r>
              <a:rPr lang="en-US" altLang="zh-CN" dirty="0" err="1"/>
              <a:t>num</a:t>
            </a:r>
            <a:r>
              <a:rPr lang="en-US" altLang="zh-CN" dirty="0"/>
              <a:t>):</a:t>
            </a:r>
          </a:p>
          <a:p>
            <a:r>
              <a:rPr lang="en-US" altLang="zh-CN" dirty="0"/>
              <a:t>        s += j</a:t>
            </a:r>
          </a:p>
          <a:p>
            <a:r>
              <a:rPr lang="en-US" altLang="zh-CN" dirty="0"/>
              <a:t>    return s</a:t>
            </a:r>
          </a:p>
          <a:p>
            <a:endParaRPr lang="en-US" altLang="zh-CN" dirty="0"/>
          </a:p>
          <a:p>
            <a:r>
              <a:rPr lang="en-US" altLang="zh-CN" dirty="0" err="1"/>
              <a:t>def</a:t>
            </a:r>
            <a:r>
              <a:rPr lang="en-US" altLang="zh-CN" dirty="0"/>
              <a:t> main():</a:t>
            </a:r>
          </a:p>
          <a:p>
            <a:r>
              <a:rPr lang="en-US" altLang="zh-CN" dirty="0"/>
              <a:t>    n = 4 </a:t>
            </a:r>
          </a:p>
          <a:p>
            <a:r>
              <a:rPr lang="en-US" altLang="zh-CN" dirty="0"/>
              <a:t>    for </a:t>
            </a:r>
            <a:r>
              <a:rPr lang="en-US" altLang="zh-CN" dirty="0" err="1"/>
              <a:t>i</a:t>
            </a:r>
            <a:r>
              <a:rPr lang="en-US" altLang="zh-CN" dirty="0"/>
              <a:t> in range(2, n+1):</a:t>
            </a:r>
          </a:p>
          <a:p>
            <a:r>
              <a:rPr lang="en-US" altLang="zh-CN" dirty="0"/>
              <a:t>        </a:t>
            </a:r>
            <a:r>
              <a:rPr lang="en-US" altLang="zh-CN"/>
              <a:t>print( </a:t>
            </a:r>
            <a:r>
              <a:rPr lang="en-US" altLang="zh-CN">
                <a:solidFill>
                  <a:srgbClr val="FF0000"/>
                </a:solidFill>
              </a:rPr>
              <a:t>foo(i),end=' '</a:t>
            </a:r>
            <a:r>
              <a:rPr lang="en-US" altLang="zh-CN"/>
              <a:t> )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main()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658110" y="2412258"/>
            <a:ext cx="193995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solidFill>
                  <a:srgbClr val="C00000"/>
                </a:solidFill>
              </a:rPr>
              <a:t>#</a:t>
            </a:r>
            <a:r>
              <a:rPr lang="zh-CN" altLang="en-US" sz="1350" dirty="0">
                <a:solidFill>
                  <a:srgbClr val="C00000"/>
                </a:solidFill>
              </a:rPr>
              <a:t>累加</a:t>
            </a:r>
            <a:r>
              <a:rPr lang="en-US" altLang="zh-CN" sz="1350" dirty="0">
                <a:solidFill>
                  <a:srgbClr val="C00000"/>
                </a:solidFill>
              </a:rPr>
              <a:t>1 ~ </a:t>
            </a:r>
            <a:r>
              <a:rPr lang="en-US" altLang="zh-CN" sz="1350" dirty="0" err="1">
                <a:solidFill>
                  <a:srgbClr val="C00000"/>
                </a:solidFill>
              </a:rPr>
              <a:t>num</a:t>
            </a:r>
            <a:r>
              <a:rPr lang="en-US" altLang="zh-CN" sz="1350" dirty="0">
                <a:solidFill>
                  <a:srgbClr val="C00000"/>
                </a:solidFill>
              </a:rPr>
              <a:t> – 1 </a:t>
            </a:r>
            <a:r>
              <a:rPr lang="zh-CN" altLang="en-US" sz="1350" dirty="0">
                <a:solidFill>
                  <a:srgbClr val="C00000"/>
                </a:solidFill>
              </a:rPr>
              <a:t>之和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877954" y="4877944"/>
            <a:ext cx="2051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C00000"/>
                </a:solidFill>
                <a:latin typeface="+mn-ea"/>
              </a:rPr>
              <a:t>#</a:t>
            </a:r>
            <a:r>
              <a:rPr lang="zh-CN" altLang="en-US" sz="1400" dirty="0">
                <a:solidFill>
                  <a:srgbClr val="C00000"/>
                </a:solidFill>
                <a:latin typeface="+mn-ea"/>
              </a:rPr>
              <a:t>调用</a:t>
            </a:r>
            <a:r>
              <a:rPr lang="en-US" altLang="zh-CN" sz="1400" dirty="0">
                <a:solidFill>
                  <a:srgbClr val="C00000"/>
                </a:solidFill>
                <a:latin typeface="+mn-ea"/>
              </a:rPr>
              <a:t>3</a:t>
            </a:r>
            <a:r>
              <a:rPr lang="zh-CN" altLang="en-US" sz="1400" dirty="0">
                <a:solidFill>
                  <a:srgbClr val="C00000"/>
                </a:solidFill>
                <a:latin typeface="+mn-ea"/>
              </a:rPr>
              <a:t>次，</a:t>
            </a:r>
            <a:r>
              <a:rPr lang="en-US" altLang="zh-CN" sz="1400" dirty="0" err="1">
                <a:solidFill>
                  <a:srgbClr val="C00000"/>
                </a:solidFill>
                <a:latin typeface="+mn-ea"/>
              </a:rPr>
              <a:t>i</a:t>
            </a:r>
            <a:r>
              <a:rPr lang="en-US" altLang="zh-CN" sz="1400" dirty="0">
                <a:solidFill>
                  <a:srgbClr val="C00000"/>
                </a:solidFill>
                <a:latin typeface="+mn-ea"/>
              </a:rPr>
              <a:t> : 2, 3, 4</a:t>
            </a:r>
            <a:endParaRPr lang="zh-CN" altLang="en-US" sz="1400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922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27686"/>
            <a:ext cx="8208912" cy="609600"/>
          </a:xfrm>
        </p:spPr>
        <p:txBody>
          <a:bodyPr/>
          <a:lstStyle/>
          <a:p>
            <a:r>
              <a:rPr lang="zh-CN" altLang="en-US" dirty="0"/>
              <a:t>补充例题：定义一个判断水仙花数的函数，返回</a:t>
            </a:r>
            <a:r>
              <a:rPr lang="en-US" altLang="zh-CN" dirty="0"/>
              <a:t>True/False</a:t>
            </a:r>
            <a:r>
              <a:rPr lang="zh-CN" altLang="en-US" dirty="0"/>
              <a:t>，</a:t>
            </a:r>
            <a:r>
              <a:rPr lang="zh-CN" altLang="en-US"/>
              <a:t>找出所有</a:t>
            </a:r>
            <a:r>
              <a:rPr lang="en-US" altLang="zh-CN"/>
              <a:t>3</a:t>
            </a:r>
            <a:r>
              <a:rPr lang="zh-CN" altLang="en-US"/>
              <a:t>位水仙花</a:t>
            </a:r>
            <a:r>
              <a:rPr lang="zh-CN" altLang="en-US" dirty="0"/>
              <a:t>数。</a:t>
            </a:r>
          </a:p>
        </p:txBody>
      </p:sp>
      <p:sp>
        <p:nvSpPr>
          <p:cNvPr id="3" name="矩形 2"/>
          <p:cNvSpPr/>
          <p:nvPr/>
        </p:nvSpPr>
        <p:spPr>
          <a:xfrm>
            <a:off x="539552" y="1012139"/>
            <a:ext cx="6192688" cy="2246769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 err="1"/>
              <a:t>def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IsAN</a:t>
            </a:r>
            <a:r>
              <a:rPr lang="en-US" altLang="zh-CN" sz="2000" dirty="0"/>
              <a:t>(n):</a:t>
            </a:r>
          </a:p>
          <a:p>
            <a:r>
              <a:rPr lang="en-US" altLang="zh-CN" sz="2000" dirty="0"/>
              <a:t>    l = list(str(n))  		</a:t>
            </a:r>
            <a:r>
              <a:rPr lang="en-US" altLang="zh-CN" sz="2000" dirty="0">
                <a:solidFill>
                  <a:srgbClr val="C00000"/>
                </a:solidFill>
              </a:rPr>
              <a:t># ['1', '5', '3']</a:t>
            </a:r>
          </a:p>
          <a:p>
            <a:r>
              <a:rPr lang="en-US" altLang="zh-CN" sz="2000" dirty="0"/>
              <a:t>    l = [int(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)**3 for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in l]   	</a:t>
            </a:r>
            <a:r>
              <a:rPr lang="en-US" altLang="zh-CN" sz="2000"/>
              <a:t>	</a:t>
            </a:r>
            <a:r>
              <a:rPr lang="en-US" altLang="zh-CN" sz="2000">
                <a:solidFill>
                  <a:srgbClr val="C00000"/>
                </a:solidFill>
              </a:rPr>
              <a:t># [</a:t>
            </a:r>
            <a:r>
              <a:rPr lang="en-US" altLang="zh-CN" sz="2000" dirty="0">
                <a:solidFill>
                  <a:srgbClr val="C00000"/>
                </a:solidFill>
              </a:rPr>
              <a:t>1**3, 5**3, 3**3]</a:t>
            </a:r>
          </a:p>
          <a:p>
            <a:r>
              <a:rPr lang="en-US" altLang="zh-CN" sz="2000" dirty="0"/>
              <a:t>    if sum(l) == n:</a:t>
            </a:r>
          </a:p>
          <a:p>
            <a:r>
              <a:rPr lang="en-US" altLang="zh-CN" sz="2000" dirty="0"/>
              <a:t>        return True</a:t>
            </a:r>
          </a:p>
          <a:p>
            <a:r>
              <a:rPr lang="en-US" altLang="zh-CN" sz="2000" dirty="0"/>
              <a:t>    else:</a:t>
            </a:r>
          </a:p>
          <a:p>
            <a:r>
              <a:rPr lang="en-US" altLang="zh-CN" sz="2000" dirty="0"/>
              <a:t>        return False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395536" y="4149080"/>
            <a:ext cx="31683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for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in range(100, 1000):</a:t>
            </a:r>
          </a:p>
          <a:p>
            <a:r>
              <a:rPr lang="en-US" altLang="zh-CN" sz="2000" dirty="0"/>
              <a:t>    if </a:t>
            </a:r>
            <a:r>
              <a:rPr lang="en-US" altLang="zh-CN" sz="2000" dirty="0" err="1"/>
              <a:t>IsAN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):</a:t>
            </a:r>
          </a:p>
          <a:p>
            <a:r>
              <a:rPr lang="en-US" altLang="zh-CN" sz="2000" dirty="0"/>
              <a:t>        print(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4572000" y="4221088"/>
            <a:ext cx="7020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99"/>
                </a:solidFill>
              </a:rPr>
              <a:t>153</a:t>
            </a:r>
          </a:p>
          <a:p>
            <a:r>
              <a:rPr lang="en-US" altLang="zh-CN" dirty="0">
                <a:solidFill>
                  <a:srgbClr val="000099"/>
                </a:solidFill>
              </a:rPr>
              <a:t>370</a:t>
            </a:r>
          </a:p>
          <a:p>
            <a:r>
              <a:rPr lang="en-US" altLang="zh-CN" dirty="0">
                <a:solidFill>
                  <a:srgbClr val="000099"/>
                </a:solidFill>
              </a:rPr>
              <a:t>371</a:t>
            </a:r>
          </a:p>
          <a:p>
            <a:r>
              <a:rPr lang="en-US" altLang="zh-CN" dirty="0">
                <a:solidFill>
                  <a:srgbClr val="000099"/>
                </a:solidFill>
              </a:rPr>
              <a:t>407</a:t>
            </a:r>
            <a:endParaRPr lang="zh-CN" altLang="en-US" dirty="0">
              <a:solidFill>
                <a:srgbClr val="000099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79912" y="2662400"/>
            <a:ext cx="5184576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nn-NO" altLang="zh-CN" sz="2000" dirty="0"/>
              <a:t>def IsAN(n):    </a:t>
            </a:r>
            <a:r>
              <a:rPr lang="nn-NO" altLang="zh-CN" sz="2000" dirty="0">
                <a:solidFill>
                  <a:srgbClr val="C00000"/>
                </a:solidFill>
              </a:rPr>
              <a:t>#</a:t>
            </a:r>
            <a:r>
              <a:rPr lang="zh-CN" altLang="en-US" sz="2000" dirty="0">
                <a:solidFill>
                  <a:srgbClr val="C00000"/>
                </a:solidFill>
              </a:rPr>
              <a:t>可以这样实现</a:t>
            </a:r>
            <a:endParaRPr lang="nn-NO" altLang="zh-CN" sz="2000" dirty="0">
              <a:solidFill>
                <a:srgbClr val="C00000"/>
              </a:solidFill>
            </a:endParaRPr>
          </a:p>
          <a:p>
            <a:r>
              <a:rPr lang="nn-NO" altLang="zh-CN" sz="2000" dirty="0"/>
              <a:t>    return sum([int(i) ** 3 for i in str(n)]) </a:t>
            </a:r>
            <a:r>
              <a:rPr lang="nn-NO" altLang="zh-CN" sz="2000"/>
              <a:t>== n</a:t>
            </a:r>
            <a:endParaRPr lang="nn-NO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61764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方法二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9" y="1754814"/>
            <a:ext cx="4482497" cy="193228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83569" y="4031693"/>
            <a:ext cx="2236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33CC"/>
                </a:solidFill>
              </a:rPr>
              <a:t>[153, 370, 371, 407]</a:t>
            </a:r>
            <a:endParaRPr lang="zh-CN" altLang="en-US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71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27686"/>
            <a:ext cx="8208911" cy="609600"/>
          </a:xfrm>
        </p:spPr>
        <p:txBody>
          <a:bodyPr/>
          <a:lstStyle/>
          <a:p>
            <a:r>
              <a:rPr lang="zh-CN" altLang="en-US"/>
              <a:t>方法三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45586" y="1808821"/>
            <a:ext cx="728271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水仙花数是指一个 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位数，它的各位数字的 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次幂之和等于它本身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IsAN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(n):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 = n // 100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b = n //10 % 10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c = n % 10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if (n == a**3 + b ** 3 + c**3):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True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else: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False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IsAN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(153))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IsAN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(157))</a:t>
            </a:r>
          </a:p>
        </p:txBody>
      </p:sp>
    </p:spTree>
    <p:extLst>
      <p:ext uri="{BB962C8B-B14F-4D97-AF65-F5344CB8AC3E}">
        <p14:creationId xmlns:p14="http://schemas.microsoft.com/office/powerpoint/2010/main" val="21208458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08D67D16-F09F-4120-9902-8B6E13640965}" vid="{F004A0D0-0AA1-407E-8AAF-2472C67E5ED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4310</TotalTime>
  <Words>2272</Words>
  <Application>Microsoft Office PowerPoint</Application>
  <PresentationFormat>全屏显示(4:3)</PresentationFormat>
  <Paragraphs>342</Paragraphs>
  <Slides>25</Slides>
  <Notes>1</Notes>
  <HiddenSlides>3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等线</vt:lpstr>
      <vt:lpstr>黑体</vt:lpstr>
      <vt:lpstr>Microsoft Yahei</vt:lpstr>
      <vt:lpstr>Microsoft Yahei</vt:lpstr>
      <vt:lpstr>Arial</vt:lpstr>
      <vt:lpstr>Bradley Hand ITC</vt:lpstr>
      <vt:lpstr>Consolas</vt:lpstr>
      <vt:lpstr>Courier New</vt:lpstr>
      <vt:lpstr>Verdana</vt:lpstr>
      <vt:lpstr>Wingdings</vt:lpstr>
      <vt:lpstr>主题1</vt:lpstr>
      <vt:lpstr>第8章  函数与模块</vt:lpstr>
      <vt:lpstr>示例1  计算形式如a+aa+aaa+aaaa+...+aaa...aaa的公式值</vt:lpstr>
      <vt:lpstr>示例1  编写函数，计算形式如a+aa+aaa+aaaa+...+aaa...aaa的表达式的值，其中a为小于10的自然数。</vt:lpstr>
      <vt:lpstr>PowerPoint 演示文稿</vt:lpstr>
      <vt:lpstr>示例3：验证哥德巴赫猜想，正偶数n等于两个素数之和, 即 n= x + y </vt:lpstr>
      <vt:lpstr>PowerPoint 演示文稿</vt:lpstr>
      <vt:lpstr>PowerPoint 演示文稿</vt:lpstr>
      <vt:lpstr>8.1  函数的定义与调用</vt:lpstr>
      <vt:lpstr>函数头</vt:lpstr>
      <vt:lpstr>注释</vt:lpstr>
      <vt:lpstr>函数体</vt:lpstr>
      <vt:lpstr>return功能：返回函数值+终止函数执行</vt:lpstr>
      <vt:lpstr>return功能：返回函数值+终止函数执行</vt:lpstr>
      <vt:lpstr>8.1.2  函数的调用</vt:lpstr>
      <vt:lpstr>8.1.2  函数的调用</vt:lpstr>
      <vt:lpstr>函数的调用</vt:lpstr>
      <vt:lpstr>函数的调用</vt:lpstr>
      <vt:lpstr>PowerPoint 演示文稿</vt:lpstr>
      <vt:lpstr>PowerPoint 演示文稿</vt:lpstr>
      <vt:lpstr>本周PTA作业说明</vt:lpstr>
      <vt:lpstr>阅读 函数 程序</vt:lpstr>
      <vt:lpstr>PowerPoint 演示文稿</vt:lpstr>
      <vt:lpstr>补充例题：定义一个判断水仙花数的函数，返回True/False，找出所有3位水仙花数。</vt:lpstr>
      <vt:lpstr>方法二</vt:lpstr>
      <vt:lpstr>方法三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cyj</cp:lastModifiedBy>
  <cp:revision>195</cp:revision>
  <dcterms:created xsi:type="dcterms:W3CDTF">2016-08-25T03:48:37Z</dcterms:created>
  <dcterms:modified xsi:type="dcterms:W3CDTF">2024-12-10T05:28:48Z</dcterms:modified>
</cp:coreProperties>
</file>