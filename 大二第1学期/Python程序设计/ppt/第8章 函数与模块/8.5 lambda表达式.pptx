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1817" r:id="rId2"/>
    <p:sldId id="1818" r:id="rId3"/>
    <p:sldId id="1821" r:id="rId4"/>
    <p:sldId id="1826" r:id="rId5"/>
    <p:sldId id="1819" r:id="rId6"/>
    <p:sldId id="182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63871" y="3371851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32749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342" y="119544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58420"/>
            <a:ext cx="78867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 userDrawn="1"/>
        </p:nvSpPr>
        <p:spPr bwMode="auto">
          <a:xfrm>
            <a:off x="288286" y="1214920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408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6514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09702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1907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559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71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4010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2792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8814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3189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83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5.4  lambda表达式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958" y="1445107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en-US" altLang="x-none" sz="1800" dirty="0">
                <a:sym typeface="+mn-ea"/>
              </a:rPr>
              <a:t>lambda</a:t>
            </a:r>
            <a:r>
              <a:rPr lang="zh-CN" altLang="en-US" sz="1800" dirty="0">
                <a:sym typeface="+mn-ea"/>
              </a:rPr>
              <a:t>表达式可以用来声明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匿名函数</a:t>
            </a:r>
            <a:r>
              <a:rPr lang="zh-CN" altLang="en-US" sz="1800" dirty="0">
                <a:sym typeface="+mn-ea"/>
              </a:rPr>
              <a:t>，也就是没有函数名字的临时使用的小函数，尤其适合需要一个函数作为另一个函数参数的场合。也可以定义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具名函数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00" dirty="0"/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en-US" altLang="zh-CN" sz="1800" dirty="0">
                <a:sym typeface="+mn-ea"/>
              </a:rPr>
              <a:t>lambda</a:t>
            </a:r>
            <a:r>
              <a:rPr lang="zh-CN" altLang="en-US" sz="1800" dirty="0">
                <a:sym typeface="+mn-ea"/>
              </a:rPr>
              <a:t>表达式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只可以包含一个表达式</a:t>
            </a:r>
            <a:r>
              <a:rPr lang="zh-CN" altLang="en-US" sz="1800" dirty="0">
                <a:sym typeface="+mn-ea"/>
              </a:rPr>
              <a:t>，该表达式的计算结果可以看作是函数的返回值，</a:t>
            </a:r>
            <a:r>
              <a:rPr lang="zh-CN" altLang="en-US" sz="1800" b="1" dirty="0">
                <a:solidFill>
                  <a:schemeClr val="accent2"/>
                </a:solidFill>
                <a:sym typeface="+mn-ea"/>
              </a:rPr>
              <a:t>不允许包含复合语句</a:t>
            </a:r>
            <a:r>
              <a:rPr lang="zh-CN" altLang="en-US" sz="1800" dirty="0">
                <a:sym typeface="+mn-ea"/>
              </a:rPr>
              <a:t>，但在表达式中可以调用其他函数。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0FEEA1-9B9C-48EF-9133-29F5A58C8A73}"/>
              </a:ext>
            </a:extLst>
          </p:cNvPr>
          <p:cNvSpPr txBox="1"/>
          <p:nvPr/>
        </p:nvSpPr>
        <p:spPr>
          <a:xfrm>
            <a:off x="360727" y="3879901"/>
            <a:ext cx="8699383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&gt;&gt;&gt; f = lambda x, y, z: </a:t>
            </a:r>
            <a:r>
              <a:rPr lang="en-US" altLang="zh-CN" sz="2000" dirty="0" err="1"/>
              <a:t>x+y+z</a:t>
            </a:r>
            <a:r>
              <a:rPr lang="en-US" altLang="zh-CN" sz="2000" dirty="0"/>
              <a:t>      #</a:t>
            </a:r>
            <a:r>
              <a:rPr lang="zh-CN" altLang="en-US" sz="2000" dirty="0"/>
              <a:t>匿名函数也是对象，变量</a:t>
            </a:r>
            <a:r>
              <a:rPr lang="en-US" altLang="zh-CN" sz="2000" dirty="0"/>
              <a:t>f</a:t>
            </a:r>
            <a:r>
              <a:rPr lang="zh-CN" altLang="en-US" sz="2000" dirty="0"/>
              <a:t>指向该匿名函数对象</a:t>
            </a:r>
          </a:p>
          <a:p>
            <a:r>
              <a:rPr lang="en-US" altLang="zh-CN" sz="2000" dirty="0"/>
              <a:t>&gt;&gt;&gt; f(1,2,3)                                   #</a:t>
            </a:r>
            <a:r>
              <a:rPr lang="zh-CN" altLang="en-US" sz="2000" dirty="0"/>
              <a:t>像函数一样调用</a:t>
            </a:r>
          </a:p>
          <a:p>
            <a:r>
              <a:rPr lang="en-US" altLang="zh-CN" sz="2000" dirty="0"/>
              <a:t>6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0906D1-42CA-47E6-9F35-C5CFD50670ED}"/>
              </a:ext>
            </a:extLst>
          </p:cNvPr>
          <p:cNvSpPr txBox="1"/>
          <p:nvPr/>
        </p:nvSpPr>
        <p:spPr>
          <a:xfrm>
            <a:off x="360728" y="5134725"/>
            <a:ext cx="6510338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def  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(x, y, z):</a:t>
            </a:r>
          </a:p>
          <a:p>
            <a:r>
              <a:rPr lang="en-US" altLang="zh-CN" sz="2000" dirty="0"/>
              <a:t>        return x + y + z;</a:t>
            </a:r>
          </a:p>
          <a:p>
            <a:r>
              <a:rPr lang="en-US" altLang="zh-CN" sz="2000" dirty="0"/>
              <a:t>f  = 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    #</a:t>
            </a:r>
            <a:r>
              <a:rPr lang="zh-CN" altLang="en-US" sz="2000" dirty="0"/>
              <a:t>函数也是一个对象，变量</a:t>
            </a:r>
            <a:r>
              <a:rPr lang="en-US" altLang="zh-CN" sz="2000" dirty="0"/>
              <a:t>f</a:t>
            </a:r>
            <a:r>
              <a:rPr lang="zh-CN" altLang="en-US" sz="2000" dirty="0"/>
              <a:t>指向这个函数对象</a:t>
            </a:r>
            <a:endParaRPr lang="en-US" altLang="zh-CN" sz="2000" dirty="0"/>
          </a:p>
          <a:p>
            <a:r>
              <a:rPr lang="en-US" altLang="zh-CN" sz="2000" dirty="0"/>
              <a:t>f(1,2,3)    #</a:t>
            </a:r>
            <a:r>
              <a:rPr lang="zh-CN" altLang="en-US" sz="2000" dirty="0"/>
              <a:t>实际上就是调用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(1,2,3)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5.4  lambda表达式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x-none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 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 lambda x, y, z: </a:t>
            </a:r>
            <a:r>
              <a:rPr lang="en-US" altLang="x-none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x+y+z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#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指向这个函数对象</a:t>
            </a: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f(1,2,3)                                          #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像函数一样调用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endParaRPr lang="en-US" altLang="x-none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x-none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 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 lambda x, y=2, z=3: x+y+z    #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参数默认值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g(1)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endParaRPr lang="en-US" altLang="x-none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g(2, z=4, y=5)                                 #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关键参数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363" y="140444"/>
            <a:ext cx="7886700" cy="1045663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 dirty="0">
                <a:sym typeface="+mn-ea"/>
              </a:rPr>
              <a:t>L</a:t>
            </a:r>
            <a:r>
              <a:rPr lang="zh-CN" altLang="en-US" dirty="0">
                <a:sym typeface="+mn-ea"/>
              </a:rPr>
              <a:t>ambda与</a:t>
            </a:r>
            <a:r>
              <a:rPr lang="en-US" altLang="zh-CN" dirty="0">
                <a:sym typeface="+mn-ea"/>
              </a:rPr>
              <a:t>sort</a:t>
            </a:r>
            <a:r>
              <a:rPr lang="zh-CN" altLang="en-US" dirty="0">
                <a:sym typeface="+mn-ea"/>
              </a:rPr>
              <a:t>合用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505" y="1658419"/>
            <a:ext cx="8322845" cy="46483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5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data = </a:t>
            </a: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0, 1, 2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3, 4, 5, 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6, 7, 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8]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</a:t>
            </a:r>
            <a:r>
              <a:rPr lang="en-US" altLang="x-none" sz="1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1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创建列表</a:t>
            </a:r>
            <a:endParaRPr lang="zh-CN" altLang="en-US" sz="1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5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x-none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data.sort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(key=lambda x: </a:t>
            </a:r>
            <a:r>
              <a:rPr lang="en-US" altLang="x-none" sz="1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</a:t>
            </a:r>
            <a:r>
              <a:rPr lang="en-US" altLang="x-none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(str(x))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   </a:t>
            </a:r>
            <a:r>
              <a:rPr lang="en-US" altLang="x-none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按转换成字符串以后的长度排序</a:t>
            </a:r>
            <a:endParaRPr lang="zh-CN" altLang="en-US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5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data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15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 3, 4, 5, 7, 21, 26, 18, 110]</a:t>
            </a:r>
            <a:endParaRPr lang="en-US" altLang="x-none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AB739-8C84-41DE-BE48-8F7E6589F477}"/>
              </a:ext>
            </a:extLst>
          </p:cNvPr>
          <p:cNvSpPr txBox="1"/>
          <p:nvPr/>
        </p:nvSpPr>
        <p:spPr>
          <a:xfrm>
            <a:off x="5578679" y="3429000"/>
            <a:ext cx="25686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x = 110</a:t>
            </a:r>
          </a:p>
          <a:p>
            <a:r>
              <a:rPr lang="en-US" altLang="zh-CN" sz="2000" dirty="0"/>
              <a:t>str(x) </a:t>
            </a:r>
            <a:r>
              <a:rPr lang="zh-CN" altLang="en-US" sz="2000" dirty="0"/>
              <a:t>为字符串‘</a:t>
            </a:r>
            <a:r>
              <a:rPr lang="en-US" altLang="zh-CN" sz="2000" dirty="0"/>
              <a:t>110</a:t>
            </a:r>
            <a:r>
              <a:rPr lang="zh-CN" altLang="en-US" sz="2000" dirty="0"/>
              <a:t>’，</a:t>
            </a:r>
            <a:endParaRPr lang="en-US" altLang="zh-CN" sz="2000" dirty="0"/>
          </a:p>
          <a:p>
            <a:r>
              <a:rPr lang="en-US" altLang="zh-CN" sz="2000" dirty="0" err="1"/>
              <a:t>len</a:t>
            </a:r>
            <a:r>
              <a:rPr lang="en-US" altLang="zh-CN" sz="2000" dirty="0"/>
              <a:t>(str(x)) </a:t>
            </a:r>
            <a:r>
              <a:rPr lang="zh-CN" altLang="en-US" sz="2000" dirty="0"/>
              <a:t>为长度</a:t>
            </a:r>
            <a:r>
              <a:rPr lang="en-US" altLang="zh-CN" sz="2000" dirty="0"/>
              <a:t>3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7740" y="1503337"/>
            <a:ext cx="8458200" cy="495300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&gt;&gt;&gt; sorted(</a:t>
            </a:r>
            <a:r>
              <a:rPr lang="en-US" altLang="zh-CN" sz="2400" dirty="0" err="1"/>
              <a:t>d.items</a:t>
            </a:r>
            <a:r>
              <a:rPr lang="en-US" altLang="zh-CN" sz="2400" dirty="0"/>
              <a:t>(), key = </a:t>
            </a:r>
            <a:r>
              <a:rPr lang="en-US" altLang="zh-CN" sz="2400" dirty="0">
                <a:solidFill>
                  <a:srgbClr val="FF3300"/>
                </a:solidFill>
              </a:rPr>
              <a:t>lambda x:x[0]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[('</a:t>
            </a:r>
            <a:r>
              <a:rPr lang="en-US" altLang="zh-CN" sz="2000" dirty="0" err="1">
                <a:solidFill>
                  <a:srgbClr val="0070C0"/>
                </a:solidFill>
              </a:rPr>
              <a:t>abb</a:t>
            </a:r>
            <a:r>
              <a:rPr lang="en-US" altLang="zh-CN" sz="2000" dirty="0">
                <a:solidFill>
                  <a:srgbClr val="0070C0"/>
                </a:solidFill>
              </a:rPr>
              <a:t>', 10), ('</a:t>
            </a:r>
            <a:r>
              <a:rPr lang="en-US" altLang="zh-CN" sz="2000" dirty="0" err="1">
                <a:solidFill>
                  <a:srgbClr val="0070C0"/>
                </a:solidFill>
              </a:rPr>
              <a:t>abc</a:t>
            </a:r>
            <a:r>
              <a:rPr lang="en-US" altLang="zh-CN" sz="2000" dirty="0">
                <a:solidFill>
                  <a:srgbClr val="0070C0"/>
                </a:solidFill>
              </a:rPr>
              <a:t>', 2), ('</a:t>
            </a:r>
            <a:r>
              <a:rPr lang="en-US" altLang="zh-CN" sz="2000" dirty="0" err="1">
                <a:solidFill>
                  <a:srgbClr val="0070C0"/>
                </a:solidFill>
              </a:rPr>
              <a:t>acc</a:t>
            </a:r>
            <a:r>
              <a:rPr lang="en-US" altLang="zh-CN" sz="2000" dirty="0">
                <a:solidFill>
                  <a:srgbClr val="0070C0"/>
                </a:solidFill>
              </a:rPr>
              <a:t>', 2), ('bag', 2), ('cat', 4)]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&gt;&gt;&gt; sorted(</a:t>
            </a:r>
            <a:r>
              <a:rPr lang="en-US" altLang="zh-CN" sz="2400" dirty="0" err="1"/>
              <a:t>d.items</a:t>
            </a:r>
            <a:r>
              <a:rPr lang="en-US" altLang="zh-CN" sz="2400" dirty="0"/>
              <a:t>(), key = lambda x:</a:t>
            </a:r>
            <a:r>
              <a:rPr lang="en-US" altLang="zh-CN" sz="2400" dirty="0">
                <a:solidFill>
                  <a:srgbClr val="FF3300"/>
                </a:solidFill>
              </a:rPr>
              <a:t>x[1]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[('</a:t>
            </a:r>
            <a:r>
              <a:rPr lang="en-US" altLang="zh-CN" sz="2000" dirty="0" err="1">
                <a:solidFill>
                  <a:srgbClr val="0070C0"/>
                </a:solidFill>
              </a:rPr>
              <a:t>abc</a:t>
            </a:r>
            <a:r>
              <a:rPr lang="en-US" altLang="zh-CN" sz="2000" dirty="0">
                <a:solidFill>
                  <a:srgbClr val="0070C0"/>
                </a:solidFill>
              </a:rPr>
              <a:t>', 2), ('bag', 2), ('</a:t>
            </a:r>
            <a:r>
              <a:rPr lang="en-US" altLang="zh-CN" sz="2000" dirty="0" err="1">
                <a:solidFill>
                  <a:srgbClr val="0070C0"/>
                </a:solidFill>
              </a:rPr>
              <a:t>acc</a:t>
            </a:r>
            <a:r>
              <a:rPr lang="en-US" altLang="zh-CN" sz="2000" dirty="0">
                <a:solidFill>
                  <a:srgbClr val="0070C0"/>
                </a:solidFill>
              </a:rPr>
              <a:t>', 2), ('cat', 4), ('</a:t>
            </a:r>
            <a:r>
              <a:rPr lang="en-US" altLang="zh-CN" sz="2000" dirty="0" err="1">
                <a:solidFill>
                  <a:srgbClr val="0070C0"/>
                </a:solidFill>
              </a:rPr>
              <a:t>abb</a:t>
            </a:r>
            <a:r>
              <a:rPr lang="en-US" altLang="zh-CN" sz="2000" dirty="0">
                <a:solidFill>
                  <a:srgbClr val="0070C0"/>
                </a:solidFill>
              </a:rPr>
              <a:t>', 10)]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&gt;&gt;&gt; sorted(</a:t>
            </a:r>
            <a:r>
              <a:rPr lang="en-US" altLang="zh-CN" sz="2400" dirty="0" err="1"/>
              <a:t>d.items</a:t>
            </a:r>
            <a:r>
              <a:rPr lang="en-US" altLang="zh-CN" sz="2400" dirty="0"/>
              <a:t>(), key = lambda x: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en-US" altLang="zh-CN" sz="32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>
                <a:solidFill>
                  <a:srgbClr val="7030A0"/>
                </a:solidFill>
              </a:rPr>
              <a:t>x[1], x[0]</a:t>
            </a:r>
            <a:r>
              <a:rPr lang="en-US" altLang="zh-CN" sz="2400" dirty="0">
                <a:solidFill>
                  <a:srgbClr val="FF3300"/>
                </a:solidFill>
              </a:rPr>
              <a:t> )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[('abb', 10), ('cat', 4), ('</a:t>
            </a:r>
            <a:r>
              <a:rPr lang="en-US" altLang="zh-CN" sz="2400" dirty="0" err="1">
                <a:solidFill>
                  <a:srgbClr val="0070C0"/>
                </a:solidFill>
              </a:rPr>
              <a:t>abc</a:t>
            </a:r>
            <a:r>
              <a:rPr lang="en-US" altLang="zh-CN" sz="2400" dirty="0">
                <a:solidFill>
                  <a:srgbClr val="0070C0"/>
                </a:solidFill>
              </a:rPr>
              <a:t>', 2), ('</a:t>
            </a:r>
            <a:r>
              <a:rPr lang="en-US" altLang="zh-CN" sz="2400" dirty="0">
                <a:solidFill>
                  <a:srgbClr val="FF0000"/>
                </a:solidFill>
              </a:rPr>
              <a:t>acc</a:t>
            </a:r>
            <a:r>
              <a:rPr lang="en-US" altLang="zh-CN" sz="2400" dirty="0">
                <a:solidFill>
                  <a:srgbClr val="0070C0"/>
                </a:solidFill>
              </a:rPr>
              <a:t>', 2), ('bag', 2)]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195012" y="700526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个元素升序，对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5529714" y="1000609"/>
            <a:ext cx="751076" cy="601997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3928713" y="2421536"/>
            <a:ext cx="4373686" cy="400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个元素升序，对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H="1">
            <a:off x="5529714" y="2817195"/>
            <a:ext cx="385316" cy="60275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19238" y="140694"/>
            <a:ext cx="806436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/>
              <a:t>&gt;&gt;&gt; d = {'abc': 2, 'abb': 10, 'bag': 2, 'cat': 4, 'acc': 2}</a:t>
            </a:r>
            <a:endParaRPr lang="en-US" altLang="zh-CN" sz="2800" dirty="0"/>
          </a:p>
        </p:txBody>
      </p:sp>
      <p:sp>
        <p:nvSpPr>
          <p:cNvPr id="11" name="圆角矩形 10"/>
          <p:cNvSpPr/>
          <p:nvPr/>
        </p:nvSpPr>
        <p:spPr>
          <a:xfrm>
            <a:off x="2591756" y="4240080"/>
            <a:ext cx="6261232" cy="6980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双重排序：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先按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降序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排，第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个元素相同的，再按第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升序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，对</a:t>
            </a:r>
            <a:r>
              <a:rPr lang="en-US" altLang="zh-CN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zh-CN" altLang="en-US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</a:t>
            </a:r>
            <a:endParaRPr lang="en-US" altLang="zh-CN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>
            <a:off x="5832909" y="4636765"/>
            <a:ext cx="447881" cy="647504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C44131B-579B-4D58-82A0-ABEA082C0ACF}"/>
              </a:ext>
            </a:extLst>
          </p:cNvPr>
          <p:cNvSpPr txBox="1"/>
          <p:nvPr/>
        </p:nvSpPr>
        <p:spPr>
          <a:xfrm>
            <a:off x="3452266" y="6063791"/>
            <a:ext cx="333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key</a:t>
            </a:r>
            <a:r>
              <a:rPr lang="en-US" altLang="zh-CN" sz="2000" dirty="0"/>
              <a:t> </a:t>
            </a:r>
            <a:r>
              <a:rPr lang="zh-CN" altLang="en-US" sz="2000" dirty="0"/>
              <a:t>：</a:t>
            </a:r>
            <a:r>
              <a:rPr lang="en-US" altLang="zh-CN" sz="2000" dirty="0"/>
              <a:t>(-2, ‘acc’)      (-2, ‘bag’)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90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722" y="4185936"/>
            <a:ext cx="7886700" cy="25765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L = [(lambda x: x**2),  (lambda x: x**3),   (lambda x: x**4)]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print(L[0](2),L[1](2),L[2](2))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4 8 16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L = [1,2,3,4,5]</a:t>
            </a:r>
            <a:endParaRPr lang="en-US" altLang="x-none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print(list(map(lambda x: x+10, L)))            </a:t>
            </a:r>
            <a:r>
              <a:rPr lang="en-US" altLang="x-none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模拟向量运算</a:t>
            </a:r>
            <a:endParaRPr lang="zh-CN" altLang="en-US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[11, 12, 13, 14, 15]</a:t>
            </a:r>
            <a:endParaRPr lang="en-US" altLang="x-none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11342" y="119545"/>
            <a:ext cx="7886700" cy="967286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dirty="0">
                <a:sym typeface="+mn-ea"/>
              </a:rPr>
              <a:t>lambda与</a:t>
            </a:r>
            <a:r>
              <a:rPr lang="en-US" altLang="zh-CN" dirty="0">
                <a:sym typeface="+mn-ea"/>
              </a:rPr>
              <a:t>map</a:t>
            </a:r>
            <a:r>
              <a:rPr lang="zh-CN" altLang="en-US" dirty="0">
                <a:sym typeface="+mn-ea"/>
              </a:rPr>
              <a:t>合用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 rot="20614876">
            <a:off x="5334114" y="383343"/>
            <a:ext cx="2845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map</a:t>
            </a: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不考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403B960-AEBD-4307-95B3-E4631459C2EA}"/>
              </a:ext>
            </a:extLst>
          </p:cNvPr>
          <p:cNvSpPr txBox="1"/>
          <p:nvPr/>
        </p:nvSpPr>
        <p:spPr>
          <a:xfrm>
            <a:off x="58722" y="1610028"/>
            <a:ext cx="89258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map(</a:t>
            </a:r>
            <a:r>
              <a:rPr lang="en-US" altLang="x-none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函数返回一个可迭代对象：遍历可迭代对象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的每个元素执行函数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</a:t>
            </a:r>
            <a:r>
              <a:rPr lang="en-US" altLang="x-non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= ['21', '18', '123']</a:t>
            </a:r>
          </a:p>
          <a:p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</a:t>
            </a:r>
            <a:r>
              <a:rPr lang="en-US" altLang="x-non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map(int , a)</a:t>
            </a:r>
          </a:p>
          <a:p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&lt;map object at 0x000002C1EED42800&gt;</a:t>
            </a:r>
          </a:p>
          <a:p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list(map(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</a:t>
            </a: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a))</a:t>
            </a:r>
          </a:p>
          <a:p>
            <a:r>
              <a:rPr lang="en-US" altLang="x-none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[21, 18, 123] </a:t>
            </a:r>
            <a:endParaRPr lang="zh-CN" altLang="en-US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DA4AF43-F36B-4EB2-A253-4C6FB3BE118D}"/>
              </a:ext>
            </a:extLst>
          </p:cNvPr>
          <p:cNvCxnSpPr>
            <a:cxnSpLocks/>
          </p:cNvCxnSpPr>
          <p:nvPr/>
        </p:nvCxnSpPr>
        <p:spPr>
          <a:xfrm>
            <a:off x="2231472" y="2994427"/>
            <a:ext cx="1077726" cy="522271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D8B6F1A-7CCC-4874-B36C-475DBE7B2A9B}"/>
              </a:ext>
            </a:extLst>
          </p:cNvPr>
          <p:cNvSpPr txBox="1"/>
          <p:nvPr/>
        </p:nvSpPr>
        <p:spPr>
          <a:xfrm>
            <a:off x="3203883" y="3657127"/>
            <a:ext cx="14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</a:t>
            </a:r>
            <a:r>
              <a:rPr lang="en-US" altLang="zh-CN" dirty="0"/>
              <a:t>, int(’21’)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D2D45EF-936A-4398-98D6-340374EAFB54}"/>
              </a:ext>
            </a:extLst>
          </p:cNvPr>
          <p:cNvCxnSpPr>
            <a:cxnSpLocks/>
          </p:cNvCxnSpPr>
          <p:nvPr/>
        </p:nvCxnSpPr>
        <p:spPr>
          <a:xfrm flipH="1" flipV="1">
            <a:off x="1837189" y="2993138"/>
            <a:ext cx="1472010" cy="81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5486BC7-0806-4376-B7D3-809969D9D4AA}"/>
              </a:ext>
            </a:extLst>
          </p:cNvPr>
          <p:cNvSpPr txBox="1"/>
          <p:nvPr/>
        </p:nvSpPr>
        <p:spPr>
          <a:xfrm>
            <a:off x="3203883" y="32985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可迭代对象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EE7447F-3629-4C39-94B8-8D12348D4CAC}"/>
              </a:ext>
            </a:extLst>
          </p:cNvPr>
          <p:cNvCxnSpPr>
            <a:cxnSpLocks/>
          </p:cNvCxnSpPr>
          <p:nvPr/>
        </p:nvCxnSpPr>
        <p:spPr>
          <a:xfrm flipH="1" flipV="1">
            <a:off x="4572001" y="2684477"/>
            <a:ext cx="1107346" cy="308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EA2DE98-2642-462B-9B55-998CB6F32A49}"/>
              </a:ext>
            </a:extLst>
          </p:cNvPr>
          <p:cNvSpPr txBox="1"/>
          <p:nvPr/>
        </p:nvSpPr>
        <p:spPr>
          <a:xfrm>
            <a:off x="5589767" y="2808472"/>
            <a:ext cx="25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map</a:t>
            </a:r>
            <a:r>
              <a:rPr lang="zh-CN" altLang="en-US" dirty="0"/>
              <a:t>对象是可迭代对象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DB22F44-D551-4F65-951E-D262615980A1}"/>
              </a:ext>
            </a:extLst>
          </p:cNvPr>
          <p:cNvCxnSpPr>
            <a:cxnSpLocks/>
          </p:cNvCxnSpPr>
          <p:nvPr/>
        </p:nvCxnSpPr>
        <p:spPr>
          <a:xfrm flipH="1" flipV="1">
            <a:off x="395178" y="1201830"/>
            <a:ext cx="353330" cy="484333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3DA5E0-B1D4-469B-8B57-ACE6CE4F99AD}"/>
              </a:ext>
            </a:extLst>
          </p:cNvPr>
          <p:cNvSpPr txBox="1"/>
          <p:nvPr/>
        </p:nvSpPr>
        <p:spPr>
          <a:xfrm>
            <a:off x="0" y="9021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52D765C-034A-46C0-AFFB-E404F29B7D89}"/>
              </a:ext>
            </a:extLst>
          </p:cNvPr>
          <p:cNvCxnSpPr>
            <a:cxnSpLocks/>
          </p:cNvCxnSpPr>
          <p:nvPr/>
        </p:nvCxnSpPr>
        <p:spPr>
          <a:xfrm flipH="1">
            <a:off x="983754" y="1391865"/>
            <a:ext cx="958751" cy="29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64633E8-23DC-4394-91FA-B2A29318D4ED}"/>
              </a:ext>
            </a:extLst>
          </p:cNvPr>
          <p:cNvSpPr txBox="1"/>
          <p:nvPr/>
        </p:nvSpPr>
        <p:spPr>
          <a:xfrm>
            <a:off x="1865055" y="12018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可迭代对象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342" y="119545"/>
            <a:ext cx="7886700" cy="967286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dirty="0">
                <a:sym typeface="+mn-ea"/>
              </a:rPr>
              <a:t>lambda与</a:t>
            </a:r>
            <a:r>
              <a:rPr lang="en-US" altLang="zh-CN" dirty="0">
                <a:sym typeface="+mn-ea"/>
              </a:rPr>
              <a:t>map</a:t>
            </a:r>
            <a:r>
              <a:rPr lang="zh-CN" altLang="en-US" dirty="0">
                <a:sym typeface="+mn-ea"/>
              </a:rPr>
              <a:t>合用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pt-BR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def demo(n):</a:t>
            </a:r>
            <a:endParaRPr lang="pt-BR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pt-BR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 n*n</a:t>
            </a:r>
            <a:endParaRPr lang="pt-BR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endParaRPr lang="pt-BR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pt-BR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demo(5)</a:t>
            </a:r>
            <a:endParaRPr lang="pt-BR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pt-BR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</a:t>
            </a:r>
            <a:endParaRPr lang="pt-BR" altLang="en-US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pt-BR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a_list = [1,2,3,4,5]</a:t>
            </a:r>
            <a:endParaRPr lang="pt-BR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list(map(lambda x: demo(x), a_list))         </a:t>
            </a:r>
            <a:r>
              <a:rPr lang="en-US" altLang="x-none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lambda</a:t>
            </a:r>
            <a:r>
              <a:rPr lang="zh-CN" altLang="en-US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表达式中调用函数</a:t>
            </a:r>
            <a:endParaRPr lang="zh-CN" altLang="en-US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  <a:buNone/>
            </a:pPr>
            <a:r>
              <a:rPr lang="en-US" altLang="x-none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 4, 9, 16, 25]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998</TotalTime>
  <Words>824</Words>
  <Application>Microsoft Office PowerPoint</Application>
  <PresentationFormat>全屏显示(4:3)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黑体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5.4  lambda表达式</vt:lpstr>
      <vt:lpstr>5.4  lambda表达式</vt:lpstr>
      <vt:lpstr>Lambda与sort合用</vt:lpstr>
      <vt:lpstr>PowerPoint 演示文稿</vt:lpstr>
      <vt:lpstr>lambda与map合用</vt:lpstr>
      <vt:lpstr>lambda与map合用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函数</dc:title>
  <dc:creator>Dong</dc:creator>
  <cp:lastModifiedBy>cyj</cp:lastModifiedBy>
  <cp:revision>426</cp:revision>
  <dcterms:created xsi:type="dcterms:W3CDTF">2015-05-05T08:02:00Z</dcterms:created>
  <dcterms:modified xsi:type="dcterms:W3CDTF">2024-12-10T05:26:32Z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